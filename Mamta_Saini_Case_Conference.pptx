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60"/>
  </p:notesMasterIdLst>
  <p:sldIdLst>
    <p:sldId id="257" r:id="rIdS1"/>
    <p:sldId id="258" r:id="rIdS2"/>
    <p:sldId id="259" r:id="rIdS3"/>
    <p:sldId id="260" r:id="rIdS4"/>
    <p:sldId id="261" r:id="rIdS5"/>
    <p:sldId id="262" r:id="rIdS6"/>
    <p:sldId id="263" r:id="rIdS7"/>
    <p:sldId id="264" r:id="rIdS8"/>
    <p:sldId id="265" r:id="rIdS9"/>
    <p:sldId id="266" r:id="rIdS10"/>
    <p:sldId id="267" r:id="rIdS11"/>
    <p:sldId id="268" r:id="rIdS12"/>
    <p:sldId id="269" r:id="rIdS13"/>
    <p:sldId id="270" r:id="rIdS14"/>
    <p:sldId id="271" r:id="rIdS15"/>
    <p:sldId id="272" r:id="rIdS16"/>
    <p:sldId id="273" r:id="rIdS17"/>
    <p:sldId id="274" r:id="rIdS18"/>
    <p:sldId id="275" r:id="rIdS19"/>
    <p:sldId id="276" r:id="rIdS20"/>
    <p:sldId id="277" r:id="rIdS21"/>
    <p:sldId id="278" r:id="rIdS22"/>
    <p:sldId id="279" r:id="rIdS23"/>
    <p:sldId id="280" r:id="rIdS24"/>
    <p:sldId id="281" r:id="rIdS25"/>
    <p:sldId id="282" r:id="rIdS26"/>
    <p:sldId id="283" r:id="rIdS27"/>
    <p:sldId id="284" r:id="rIdS28"/>
    <p:sldId id="285" r:id="rIdS29"/>
    <p:sldId id="286" r:id="rIdS30"/>
    <p:sldId id="287" r:id="rIdS31"/>
    <p:sldId id="288" r:id="rIdS32"/>
    <p:sldId id="289" r:id="rIdS33"/>
    <p:sldId id="290" r:id="rIdS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660"/>
  </p:normalViewPr>
  <p:slideViewPr>
    <p:cSldViewPr snapToGrid="0">
      <p:cViewPr varScale="1">
        <p:scale>
          <a:sx n="107" d="100"/>
          <a:sy n="107" d="100"/>
        </p:scale>
        <p:origin x="138"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63" Type="http://schemas.openxmlformats.org/officeDocument/2006/relationships/theme" Target="theme/theme1.xml"/><Relationship Id="rId61" Type="http://schemas.openxmlformats.org/officeDocument/2006/relationships/presProps" Target="presProps.xml"/><Relationship Id="rId64" Type="http://schemas.openxmlformats.org/officeDocument/2006/relationships/tableStyles" Target="tableStyles.xml"/><Relationship Id="rId62" Type="http://schemas.openxmlformats.org/officeDocument/2006/relationships/viewProps" Target="viewProps.xml"/><Relationship Id="rId1" Type="http://schemas.openxmlformats.org/officeDocument/2006/relationships/slideMaster" Target="slideMasters/slideMaster1.xml"/><Relationship Id="rId60" Type="http://schemas.openxmlformats.org/officeDocument/2006/relationships/notesMaster" Target="notesMasters/notesMaster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 Id="rIdS32" Type="http://schemas.openxmlformats.org/officeDocument/2006/relationships/slide" Target="slides/slide32.xml"/><Relationship Id="rIdS33" Type="http://schemas.openxmlformats.org/officeDocument/2006/relationships/slide" Target="slides/slide33.xml"/><Relationship Id="rIdS34"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6F049-3F11-4709-A2DA-CDCE7193CBCC}" type="datetimeFigureOut">
              <a:rPr lang="en-IN" smtClean="0"/>
              <a:t>30-08-2026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59B105-FFBF-4AF4-8644-1AE3037EEAC7}" type="slidenum">
              <a:rPr lang="en-IN" smtClean="0"/>
              <a:t>‹#›</a:t>
            </a:fld>
            <a:endParaRPr lang="en-IN"/>
          </a:p>
        </p:txBody>
      </p:sp>
    </p:spTree>
    <p:extLst>
      <p:ext uri="{BB962C8B-B14F-4D97-AF65-F5344CB8AC3E}">
        <p14:creationId xmlns:p14="http://schemas.microsoft.com/office/powerpoint/2010/main" val="121544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7</a:t>
            </a:fld>
            <a:endParaRPr lang="en-IN"/>
          </a:p>
        </p:txBody>
      </p:sp>
    </p:spTree>
    <p:extLst>
      <p:ext uri="{BB962C8B-B14F-4D97-AF65-F5344CB8AC3E}">
        <p14:creationId xmlns:p14="http://schemas.microsoft.com/office/powerpoint/2010/main" val="809755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8</a:t>
            </a:fld>
            <a:endParaRPr lang="en-IN"/>
          </a:p>
        </p:txBody>
      </p:sp>
    </p:spTree>
    <p:extLst>
      <p:ext uri="{BB962C8B-B14F-4D97-AF65-F5344CB8AC3E}">
        <p14:creationId xmlns:p14="http://schemas.microsoft.com/office/powerpoint/2010/main" val="4091015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41B43-A8CD-5457-6A14-398A22855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59144-F172-99C4-26AF-C594BBB65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74AC1-590A-5167-1719-B94D0623D1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5258A8-F487-2275-2820-2DCE7451892B}"/>
              </a:ext>
            </a:extLst>
          </p:cNvPr>
          <p:cNvSpPr>
            <a:spLocks noGrp="1"/>
          </p:cNvSpPr>
          <p:nvPr>
            <p:ph type="sldNum" sz="quarter" idx="5"/>
          </p:nvPr>
        </p:nvSpPr>
        <p:spPr/>
        <p:txBody>
          <a:bodyPr/>
          <a:lstStyle/>
          <a:p>
            <a:fld id="{6459B105-FFBF-4AF4-8644-1AE3037EEAC7}" type="slidenum">
              <a:rPr lang="en-IN" smtClean="0"/>
              <a:t>10</a:t>
            </a:fld>
            <a:endParaRPr lang="en-IN"/>
          </a:p>
        </p:txBody>
      </p:sp>
    </p:spTree>
    <p:extLst>
      <p:ext uri="{BB962C8B-B14F-4D97-AF65-F5344CB8AC3E}">
        <p14:creationId xmlns:p14="http://schemas.microsoft.com/office/powerpoint/2010/main" val="1679280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45DED-915F-763A-0759-1B4DE456A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926F1-3184-A6D3-6D71-F06DFC33B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EB87B-C722-061A-2D10-D783A98BFAE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30434DE-7B5C-908D-656C-DE6AFA3D9E32}"/>
              </a:ext>
            </a:extLst>
          </p:cNvPr>
          <p:cNvSpPr>
            <a:spLocks noGrp="1"/>
          </p:cNvSpPr>
          <p:nvPr>
            <p:ph type="sldNum" sz="quarter" idx="5"/>
          </p:nvPr>
        </p:nvSpPr>
        <p:spPr/>
        <p:txBody>
          <a:bodyPr/>
          <a:lstStyle/>
          <a:p>
            <a:fld id="{6459B105-FFBF-4AF4-8644-1AE3037EEAC7}" type="slidenum">
              <a:rPr lang="en-IN" smtClean="0"/>
              <a:t>11</a:t>
            </a:fld>
            <a:endParaRPr lang="en-IN"/>
          </a:p>
        </p:txBody>
      </p:sp>
    </p:spTree>
    <p:extLst>
      <p:ext uri="{BB962C8B-B14F-4D97-AF65-F5344CB8AC3E}">
        <p14:creationId xmlns:p14="http://schemas.microsoft.com/office/powerpoint/2010/main" val="3284597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12</a:t>
            </a:fld>
            <a:endParaRPr lang="en-IN"/>
          </a:p>
        </p:txBody>
      </p:sp>
    </p:spTree>
    <p:extLst>
      <p:ext uri="{BB962C8B-B14F-4D97-AF65-F5344CB8AC3E}">
        <p14:creationId xmlns:p14="http://schemas.microsoft.com/office/powerpoint/2010/main" val="4136449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27</a:t>
            </a:fld>
            <a:endParaRPr lang="en-IN"/>
          </a:p>
        </p:txBody>
      </p:sp>
    </p:spTree>
    <p:extLst>
      <p:ext uri="{BB962C8B-B14F-4D97-AF65-F5344CB8AC3E}">
        <p14:creationId xmlns:p14="http://schemas.microsoft.com/office/powerpoint/2010/main" val="1460184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38</a:t>
            </a:fld>
            <a:endParaRPr lang="en-IN"/>
          </a:p>
        </p:txBody>
      </p:sp>
    </p:spTree>
    <p:extLst>
      <p:ext uri="{BB962C8B-B14F-4D97-AF65-F5344CB8AC3E}">
        <p14:creationId xmlns:p14="http://schemas.microsoft.com/office/powerpoint/2010/main" val="1046523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41</a:t>
            </a:fld>
            <a:endParaRPr lang="en-IN"/>
          </a:p>
        </p:txBody>
      </p:sp>
    </p:spTree>
    <p:extLst>
      <p:ext uri="{BB962C8B-B14F-4D97-AF65-F5344CB8AC3E}">
        <p14:creationId xmlns:p14="http://schemas.microsoft.com/office/powerpoint/2010/main" val="1484977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59B105-FFBF-4AF4-8644-1AE3037EEAC7}" type="slidenum">
              <a:rPr lang="en-IN" smtClean="0"/>
              <a:t>46</a:t>
            </a:fld>
            <a:endParaRPr lang="en-IN"/>
          </a:p>
        </p:txBody>
      </p:sp>
    </p:spTree>
    <p:extLst>
      <p:ext uri="{BB962C8B-B14F-4D97-AF65-F5344CB8AC3E}">
        <p14:creationId xmlns:p14="http://schemas.microsoft.com/office/powerpoint/2010/main" val="2262685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4855-FA82-9A62-C8F9-196D4909B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FEC8C-4A44-192E-6B61-0DAF373BEE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9A331-429F-ECCC-7B2D-00F66E517C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0901428-6738-6619-CD32-464E60F7CB39}"/>
              </a:ext>
            </a:extLst>
          </p:cNvPr>
          <p:cNvSpPr>
            <a:spLocks noGrp="1"/>
          </p:cNvSpPr>
          <p:nvPr>
            <p:ph type="sldNum" sz="quarter" idx="5"/>
          </p:nvPr>
        </p:nvSpPr>
        <p:spPr/>
        <p:txBody>
          <a:bodyPr/>
          <a:lstStyle/>
          <a:p>
            <a:fld id="{6459B105-FFBF-4AF4-8644-1AE3037EEAC7}" type="slidenum">
              <a:rPr lang="en-IN" smtClean="0"/>
              <a:t>47</a:t>
            </a:fld>
            <a:endParaRPr lang="en-IN"/>
          </a:p>
        </p:txBody>
      </p:sp>
    </p:spTree>
    <p:extLst>
      <p:ext uri="{BB962C8B-B14F-4D97-AF65-F5344CB8AC3E}">
        <p14:creationId xmlns:p14="http://schemas.microsoft.com/office/powerpoint/2010/main" val="464183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E6408-29DC-8BEC-17D8-05F60C2DA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E4A71-137B-E0A1-27FF-9053EB149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0E6D0-A699-B3A0-136A-3EF7F24BFBA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AECAF3-6F4E-6747-772F-12DCC848DD37}"/>
              </a:ext>
            </a:extLst>
          </p:cNvPr>
          <p:cNvSpPr>
            <a:spLocks noGrp="1"/>
          </p:cNvSpPr>
          <p:nvPr>
            <p:ph type="sldNum" sz="quarter" idx="5"/>
          </p:nvPr>
        </p:nvSpPr>
        <p:spPr/>
        <p:txBody>
          <a:bodyPr/>
          <a:lstStyle/>
          <a:p>
            <a:fld id="{6459B105-FFBF-4AF4-8644-1AE3037EEAC7}" type="slidenum">
              <a:rPr lang="en-IN" smtClean="0"/>
              <a:t>48</a:t>
            </a:fld>
            <a:endParaRPr lang="en-IN"/>
          </a:p>
        </p:txBody>
      </p:sp>
    </p:spTree>
    <p:extLst>
      <p:ext uri="{BB962C8B-B14F-4D97-AF65-F5344CB8AC3E}">
        <p14:creationId xmlns:p14="http://schemas.microsoft.com/office/powerpoint/2010/main" val="3815867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30243-37BA-924B-2353-F7C1FA052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33F50-9EC7-DF27-8E32-28385B3292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F725E-1996-6557-DD14-ABAD42AC46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F9B7831-A879-3614-C5F6-53B55C9D1E39}"/>
              </a:ext>
            </a:extLst>
          </p:cNvPr>
          <p:cNvSpPr>
            <a:spLocks noGrp="1"/>
          </p:cNvSpPr>
          <p:nvPr>
            <p:ph type="sldNum" sz="quarter" idx="5"/>
          </p:nvPr>
        </p:nvSpPr>
        <p:spPr/>
        <p:txBody>
          <a:bodyPr/>
          <a:lstStyle/>
          <a:p>
            <a:fld id="{6459B105-FFBF-4AF4-8644-1AE3037EEAC7}" type="slidenum">
              <a:rPr lang="en-IN" smtClean="0"/>
              <a:t>49</a:t>
            </a:fld>
            <a:endParaRPr lang="en-IN"/>
          </a:p>
        </p:txBody>
      </p:sp>
    </p:spTree>
    <p:extLst>
      <p:ext uri="{BB962C8B-B14F-4D97-AF65-F5344CB8AC3E}">
        <p14:creationId xmlns:p14="http://schemas.microsoft.com/office/powerpoint/2010/main" val="2378898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20A8-8E09-D178-BD0A-0D684B45C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BDA4F-0C7C-8554-5F4A-F434DE0D8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F66D23-5C29-A03A-37C2-788B8EBE6F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DA91FB-637D-B38D-6BC7-04AD347D4129}"/>
              </a:ext>
            </a:extLst>
          </p:cNvPr>
          <p:cNvSpPr>
            <a:spLocks noGrp="1"/>
          </p:cNvSpPr>
          <p:nvPr>
            <p:ph type="sldNum" sz="quarter" idx="5"/>
          </p:nvPr>
        </p:nvSpPr>
        <p:spPr/>
        <p:txBody>
          <a:bodyPr/>
          <a:lstStyle/>
          <a:p>
            <a:fld id="{6459B105-FFBF-4AF4-8644-1AE3037EEAC7}" type="slidenum">
              <a:rPr lang="en-IN" smtClean="0"/>
              <a:t>50</a:t>
            </a:fld>
            <a:endParaRPr lang="en-IN"/>
          </a:p>
        </p:txBody>
      </p:sp>
    </p:spTree>
    <p:extLst>
      <p:ext uri="{BB962C8B-B14F-4D97-AF65-F5344CB8AC3E}">
        <p14:creationId xmlns:p14="http://schemas.microsoft.com/office/powerpoint/2010/main" val="2952204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586D-91B0-9832-83A5-DCA125565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92F9B-F40C-4ACC-B772-384DF4066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D59D7F-9C13-03D7-2D17-BED43F4BFC2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0092CBB-949B-7F60-572D-71136AECB883}"/>
              </a:ext>
            </a:extLst>
          </p:cNvPr>
          <p:cNvSpPr>
            <a:spLocks noGrp="1"/>
          </p:cNvSpPr>
          <p:nvPr>
            <p:ph type="sldNum" sz="quarter" idx="5"/>
          </p:nvPr>
        </p:nvSpPr>
        <p:spPr/>
        <p:txBody>
          <a:bodyPr/>
          <a:lstStyle/>
          <a:p>
            <a:fld id="{6459B105-FFBF-4AF4-8644-1AE3037EEAC7}" type="slidenum">
              <a:rPr lang="en-IN" smtClean="0"/>
              <a:t>51</a:t>
            </a:fld>
            <a:endParaRPr lang="en-IN"/>
          </a:p>
        </p:txBody>
      </p:sp>
    </p:spTree>
    <p:extLst>
      <p:ext uri="{BB962C8B-B14F-4D97-AF65-F5344CB8AC3E}">
        <p14:creationId xmlns:p14="http://schemas.microsoft.com/office/powerpoint/2010/main" val="2608966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A4FB5-97E1-171B-BEF8-39036D404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5E4F0-A4ED-5DB3-8869-DFB31EBD5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053F5-A78E-98AB-467F-7460391214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56FEDCA-99E1-653A-741A-0B23339C677A}"/>
              </a:ext>
            </a:extLst>
          </p:cNvPr>
          <p:cNvSpPr>
            <a:spLocks noGrp="1"/>
          </p:cNvSpPr>
          <p:nvPr>
            <p:ph type="sldNum" sz="quarter" idx="5"/>
          </p:nvPr>
        </p:nvSpPr>
        <p:spPr/>
        <p:txBody>
          <a:bodyPr/>
          <a:lstStyle/>
          <a:p>
            <a:fld id="{6459B105-FFBF-4AF4-8644-1AE3037EEAC7}" type="slidenum">
              <a:rPr lang="en-IN" smtClean="0"/>
              <a:t>52</a:t>
            </a:fld>
            <a:endParaRPr lang="en-IN"/>
          </a:p>
        </p:txBody>
      </p:sp>
    </p:spTree>
    <p:extLst>
      <p:ext uri="{BB962C8B-B14F-4D97-AF65-F5344CB8AC3E}">
        <p14:creationId xmlns:p14="http://schemas.microsoft.com/office/powerpoint/2010/main" val="2411623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3B6B1-052E-9586-4636-A91BC3159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A82F3-84A0-5CBE-08CB-730B3BBA8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CDEC4-E917-192C-E2B3-B528656A934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82ED0D-DD6E-2E50-1699-4C540C5E9AFA}"/>
              </a:ext>
            </a:extLst>
          </p:cNvPr>
          <p:cNvSpPr>
            <a:spLocks noGrp="1"/>
          </p:cNvSpPr>
          <p:nvPr>
            <p:ph type="sldNum" sz="quarter" idx="5"/>
          </p:nvPr>
        </p:nvSpPr>
        <p:spPr/>
        <p:txBody>
          <a:bodyPr/>
          <a:lstStyle/>
          <a:p>
            <a:fld id="{6459B105-FFBF-4AF4-8644-1AE3037EEAC7}" type="slidenum">
              <a:rPr lang="en-IN" smtClean="0"/>
              <a:t>54</a:t>
            </a:fld>
            <a:endParaRPr lang="en-IN"/>
          </a:p>
        </p:txBody>
      </p:sp>
    </p:spTree>
    <p:extLst>
      <p:ext uri="{BB962C8B-B14F-4D97-AF65-F5344CB8AC3E}">
        <p14:creationId xmlns:p14="http://schemas.microsoft.com/office/powerpoint/2010/main" val="3107546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479400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3819061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11196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BE98AF0-50E2-4AAD-95FF-EEFA43D6C4AC}"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428484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BE98AF0-50E2-4AAD-95FF-EEFA43D6C4AC}" type="datetimeFigureOut">
              <a:rPr lang="en-IN" smtClean="0"/>
              <a:t>30-08-2026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609686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BE98AF0-50E2-4AAD-95FF-EEFA43D6C4AC}" type="datetimeFigureOut">
              <a:rPr lang="en-IN" smtClean="0"/>
              <a:t>30-08-2026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3788259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E98AF0-50E2-4AAD-95FF-EEFA43D6C4AC}" type="datetimeFigureOut">
              <a:rPr lang="en-IN" smtClean="0"/>
              <a:t>30-08-2026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1494418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E98AF0-50E2-4AAD-95FF-EEFA43D6C4AC}"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1500392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E98AF0-50E2-4AAD-95FF-EEFA43D6C4AC}"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2500508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2174110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E98AF0-50E2-4AAD-95FF-EEFA43D6C4AC}"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5186C9-9030-4CC4-AE7D-BFB84663E096}" type="slidenum">
              <a:rPr lang="en-IN" smtClean="0"/>
              <a:t>‹#›</a:t>
            </a:fld>
            <a:endParaRPr lang="en-IN"/>
          </a:p>
        </p:txBody>
      </p:sp>
    </p:spTree>
    <p:extLst>
      <p:ext uri="{BB962C8B-B14F-4D97-AF65-F5344CB8AC3E}">
        <p14:creationId xmlns:p14="http://schemas.microsoft.com/office/powerpoint/2010/main" val="3038188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E98AF0-50E2-4AAD-95FF-EEFA43D6C4AC}" type="datetimeFigureOut">
              <a:rPr lang="en-IN" smtClean="0"/>
              <a:t>30-08-2026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5186C9-9030-4CC4-AE7D-BFB84663E096}" type="slidenum">
              <a:rPr lang="en-IN" smtClean="0"/>
              <a:t>‹#›</a:t>
            </a:fld>
            <a:endParaRPr lang="en-IN"/>
          </a:p>
        </p:txBody>
      </p:sp>
    </p:spTree>
    <p:extLst>
      <p:ext uri="{BB962C8B-B14F-4D97-AF65-F5344CB8AC3E}">
        <p14:creationId xmlns:p14="http://schemas.microsoft.com/office/powerpoint/2010/main" val="250423786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1" name="TitleBlock"/>
          <p:cNvSpPr>
            <a:spLocks noGrp="1"/>
          </p:cNvSpPr>
          <p:nvPr/>
        </p:nvSpPr>
        <p:spPr>
          <a:xfrm>
            <a:off x="800000" y="1500000"/>
            <a:ext cx="10592000" cy="1500000"/>
          </a:xfrm>
          <a:prstGeom prst="rect">
            <a:avLst/>
          </a:prstGeom>
          <a:noFill/>
        </p:spPr>
        <p:txBody>
          <a:bodyPr wrap="square" anchor="ctr">
            <a:normAutofit/>
          </a:bodyPr>
          <a:lstStyle/>
          <a:p>
            <a:pPr lvl="0" algn="ctr">
              <a:spcAft>
                <a:spcPts val="200"/>
              </a:spcAft>
              <a:buNone/>
            </a:pPr>
            <a:r>
              <a:rPr lang="en-US" sz="2800" b="1" u="sng" dirty="0">
                <a:solidFill>
                  <a:srgbClr val="000000"/>
                </a:solidFill>
                <a:latin typeface="Times New Roman" pitchFamily="18" charset="0"/>
                <a:cs typeface="Times New Roman" pitchFamily="18" charset="0"/>
              </a:rPr>
              <a:t>CASE CONFERENCE</a:t>
            </a:r>
          </a:p>
        </p:txBody>
      </p:sp>
      <p:sp>
        <p:nvSpPr>
          <p:cNvPr id="12" name="Sub"/>
          <p:cNvSpPr>
            <a:spLocks noGrp="1"/>
          </p:cNvSpPr>
          <p:nvPr/>
        </p:nvSpPr>
        <p:spPr>
          <a:xfrm>
            <a:off x="1200000" y="3200000"/>
            <a:ext cx="9792000" cy="3000000"/>
          </a:xfrm>
          <a:prstGeom prst="rect">
            <a:avLst/>
          </a:prstGeom>
          <a:noFill/>
        </p:spPr>
        <p:txBody>
          <a:bodyPr wrap="square" anchor="t">
            <a:normAutofit/>
          </a:bodyPr>
          <a:lstStyle/>
          <a:p>
            <a:pPr lvl="0" algn="ctr">
              <a:spcAft>
                <a:spcPts val="300"/>
              </a:spcAft>
              <a:buNone/>
            </a:pPr>
            <a:r>
              <a:rPr lang="en-US" sz="2000" b="1" dirty="0">
                <a:solidFill>
                  <a:srgbClr val="000000"/>
                </a:solidFill>
                <a:latin typeface="Times New Roman" pitchFamily="18" charset="0"/>
                <a:cs typeface="Times New Roman" pitchFamily="18" charset="0"/>
              </a:rPr>
              <a:t>A Clinical Case of Dissociative (Trance and Possession) Disorder</a:t>
            </a:r>
          </a:p>
          <a:p>
            <a:pPr lvl="0" algn="ctr">
              <a:spcAft>
                <a:spcPts val="300"/>
              </a:spcAft>
              <a:buNone/>
            </a:pPr>
            <a:r>
              <a:rPr lang="en-US" sz="1400" dirty="0">
                <a:solidFill>
                  <a:srgbClr val="000000"/>
                </a:solidFill>
                <a:latin typeface="Times New Roman" pitchFamily="18" charset="0"/>
                <a:cs typeface="Times New Roman" pitchFamily="18" charset="0"/>
              </a:rPr>
              <a:t>M.Phil. Clinical Psychology — Case Conference</a:t>
            </a:r>
          </a:p>
          <a:p>
            <a:pPr lvl="0" algn="ctr">
              <a:spcAft>
                <a:spcPts val="300"/>
              </a:spcAft>
              <a:buNone/>
            </a:pPr>
            <a:r>
              <a:rPr lang="en-US" sz="1400" dirty="0">
                <a:solidFill>
                  <a:srgbClr val="000000"/>
                </a:solidFill>
                <a:latin typeface="Times New Roman" pitchFamily="18" charset="0"/>
                <a:cs typeface="Times New Roman" pitchFamily="18" charset="0"/>
              </a:rPr>
              <a:t>Presented by: [Trainee Name], M.Phil. Clinical Psychology Trainee, Year II</a:t>
            </a:r>
          </a:p>
          <a:p>
            <a:pPr lvl="0" algn="ctr">
              <a:spcAft>
                <a:spcPts val="300"/>
              </a:spcAft>
              <a:buNone/>
            </a:pPr>
            <a:r>
              <a:rPr lang="en-US" sz="1400" dirty="0">
                <a:solidFill>
                  <a:srgbClr val="000000"/>
                </a:solidFill>
                <a:latin typeface="Times New Roman" pitchFamily="18" charset="0"/>
                <a:cs typeface="Times New Roman" pitchFamily="18" charset="0"/>
              </a:rPr>
              <a:t>Supervised by: [Supervisor Name]</a:t>
            </a:r>
          </a:p>
          <a:p>
            <a:pPr lvl="0" algn="ctr">
              <a:spcAft>
                <a:spcPts val="300"/>
              </a:spcAft>
              <a:buNone/>
            </a:pPr>
            <a:r>
              <a:rPr lang="en-US" sz="1400" dirty="0">
                <a:solidFill>
                  <a:srgbClr val="000000"/>
                </a:solidFill>
                <a:latin typeface="Times New Roman" pitchFamily="18" charset="0"/>
                <a:cs typeface="Times New Roman" pitchFamily="18" charset="0"/>
              </a:rPr>
              <a:t>Department of Clinical Psychology</a:t>
            </a:r>
          </a:p>
          <a:p>
            <a:pPr lvl="0" algn="ctr">
              <a:spcAft>
                <a:spcPts val="300"/>
              </a:spcAft>
              <a:buNone/>
            </a:pPr>
            <a:r>
              <a:rPr lang="en-US" sz="1400" dirty="0">
                <a:solidFill>
                  <a:srgbClr val="000000"/>
                </a:solidFill>
                <a:latin typeface="Times New Roman" pitchFamily="18" charset="0"/>
                <a:cs typeface="Times New Roman" pitchFamily="18" charset="0"/>
              </a:rPr>
              <a:t>[Institution Name]</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Socio-Demographic Details</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b="1" dirty="0">
                <a:solidFill>
                  <a:srgbClr val="000000"/>
                </a:solidFill>
                <a:latin typeface="Times New Roman" pitchFamily="18" charset="0"/>
                <a:cs typeface="Times New Roman" pitchFamily="18" charset="0"/>
              </a:rPr>
              <a:t>Name: </a:t>
            </a:r>
            <a:r>
              <a:rPr lang="en-US" sz="1400" dirty="0">
                <a:solidFill>
                  <a:srgbClr val="000000"/>
                </a:solidFill>
                <a:latin typeface="Times New Roman" pitchFamily="18" charset="0"/>
                <a:cs typeface="Times New Roman" pitchFamily="18" charset="0"/>
              </a:rPr>
              <a:t>MS (initials used for confidentiality)</a:t>
            </a:r>
          </a:p>
          <a:p>
            <a:pPr lvl="0">
              <a:spcAft>
                <a:spcPts val="600"/>
              </a:spcAft>
              <a:buNone/>
            </a:pPr>
            <a:r>
              <a:rPr lang="en-US" sz="1400" b="1" dirty="0">
                <a:solidFill>
                  <a:srgbClr val="000000"/>
                </a:solidFill>
                <a:latin typeface="Times New Roman" pitchFamily="18" charset="0"/>
                <a:cs typeface="Times New Roman" pitchFamily="18" charset="0"/>
              </a:rPr>
              <a:t>Age: </a:t>
            </a:r>
            <a:r>
              <a:rPr lang="en-US" sz="1400" dirty="0">
                <a:solidFill>
                  <a:srgbClr val="000000"/>
                </a:solidFill>
                <a:latin typeface="Times New Roman" pitchFamily="18" charset="0"/>
                <a:cs typeface="Times New Roman" pitchFamily="18" charset="0"/>
              </a:rPr>
              <a:t>30 years</a:t>
            </a:r>
          </a:p>
          <a:p>
            <a:pPr lvl="0">
              <a:spcAft>
                <a:spcPts val="600"/>
              </a:spcAft>
              <a:buNone/>
            </a:pPr>
            <a:r>
              <a:rPr lang="en-US" sz="1400" b="1" dirty="0">
                <a:solidFill>
                  <a:srgbClr val="000000"/>
                </a:solidFill>
                <a:latin typeface="Times New Roman" pitchFamily="18" charset="0"/>
                <a:cs typeface="Times New Roman" pitchFamily="18" charset="0"/>
              </a:rPr>
              <a:t>Gender: </a:t>
            </a:r>
            <a:r>
              <a:rPr lang="en-US" sz="1400" dirty="0">
                <a:solidFill>
                  <a:srgbClr val="000000"/>
                </a:solidFill>
                <a:latin typeface="Times New Roman" pitchFamily="18" charset="0"/>
                <a:cs typeface="Times New Roman" pitchFamily="18" charset="0"/>
              </a:rPr>
              <a:t>Female</a:t>
            </a:r>
          </a:p>
          <a:p>
            <a:pPr lvl="0">
              <a:spcAft>
                <a:spcPts val="600"/>
              </a:spcAft>
              <a:buNone/>
            </a:pPr>
            <a:r>
              <a:rPr lang="en-US" sz="1400" b="1" dirty="0">
                <a:solidFill>
                  <a:srgbClr val="000000"/>
                </a:solidFill>
                <a:latin typeface="Times New Roman" pitchFamily="18" charset="0"/>
                <a:cs typeface="Times New Roman" pitchFamily="18" charset="0"/>
              </a:rPr>
              <a:t>Guardian's Name: </a:t>
            </a:r>
            <a:r>
              <a:rPr lang="en-US" sz="1400" dirty="0">
                <a:solidFill>
                  <a:srgbClr val="000000"/>
                </a:solidFill>
                <a:latin typeface="Times New Roman" pitchFamily="18" charset="0"/>
                <a:cs typeface="Times New Roman" pitchFamily="18" charset="0"/>
              </a:rPr>
              <a:t>Hemraj Saini</a:t>
            </a:r>
          </a:p>
          <a:p>
            <a:pPr lvl="0">
              <a:spcAft>
                <a:spcPts val="600"/>
              </a:spcAft>
              <a:buNone/>
            </a:pPr>
            <a:r>
              <a:rPr lang="en-US" sz="1400" b="1" dirty="0">
                <a:solidFill>
                  <a:srgbClr val="000000"/>
                </a:solidFill>
                <a:latin typeface="Times New Roman" pitchFamily="18" charset="0"/>
                <a:cs typeface="Times New Roman" pitchFamily="18" charset="0"/>
              </a:rPr>
              <a:t>Marital Status: </a:t>
            </a:r>
            <a:r>
              <a:rPr lang="en-US" sz="1400" dirty="0">
                <a:solidFill>
                  <a:srgbClr val="000000"/>
                </a:solidFill>
                <a:latin typeface="Times New Roman" pitchFamily="18" charset="0"/>
                <a:cs typeface="Times New Roman" pitchFamily="18" charset="0"/>
              </a:rPr>
              <a:t>Married</a:t>
            </a:r>
          </a:p>
          <a:p>
            <a:pPr lvl="0">
              <a:spcAft>
                <a:spcPts val="600"/>
              </a:spcAft>
              <a:buNone/>
            </a:pPr>
            <a:r>
              <a:rPr lang="en-US" sz="1400" b="1" dirty="0">
                <a:solidFill>
                  <a:srgbClr val="000000"/>
                </a:solidFill>
                <a:latin typeface="Times New Roman" pitchFamily="18" charset="0"/>
                <a:cs typeface="Times New Roman" pitchFamily="18" charset="0"/>
              </a:rPr>
              <a:t>Religion: </a:t>
            </a:r>
            <a:r>
              <a:rPr lang="en-US" sz="1400" dirty="0">
                <a:solidFill>
                  <a:srgbClr val="000000"/>
                </a:solidFill>
                <a:latin typeface="Times New Roman" pitchFamily="18" charset="0"/>
                <a:cs typeface="Times New Roman" pitchFamily="18" charset="0"/>
              </a:rPr>
              <a:t>Hindu</a:t>
            </a:r>
          </a:p>
          <a:p>
            <a:pPr lvl="0">
              <a:spcAft>
                <a:spcPts val="600"/>
              </a:spcAft>
              <a:buNone/>
            </a:pPr>
            <a:r>
              <a:rPr lang="en-US" sz="1400" b="1" dirty="0">
                <a:solidFill>
                  <a:srgbClr val="000000"/>
                </a:solidFill>
                <a:latin typeface="Times New Roman" pitchFamily="18" charset="0"/>
                <a:cs typeface="Times New Roman" pitchFamily="18" charset="0"/>
              </a:rPr>
              <a:t>Education: </a:t>
            </a:r>
            <a:r>
              <a:rPr lang="en-US" sz="1400" dirty="0">
                <a:solidFill>
                  <a:srgbClr val="000000"/>
                </a:solidFill>
                <a:latin typeface="Times New Roman" pitchFamily="18" charset="0"/>
                <a:cs typeface="Times New Roman" pitchFamily="18" charset="0"/>
              </a:rPr>
              <a:t>Studied up to 8th grade</a:t>
            </a:r>
          </a:p>
          <a:p>
            <a:pPr lvl="0">
              <a:spcAft>
                <a:spcPts val="600"/>
              </a:spcAft>
              <a:buNone/>
            </a:pPr>
            <a:r>
              <a:rPr lang="en-US" sz="1400" b="1" dirty="0">
                <a:solidFill>
                  <a:srgbClr val="000000"/>
                </a:solidFill>
                <a:latin typeface="Times New Roman" pitchFamily="18" charset="0"/>
                <a:cs typeface="Times New Roman" pitchFamily="18" charset="0"/>
              </a:rPr>
              <a:t>Occupation: </a:t>
            </a:r>
            <a:r>
              <a:rPr lang="en-US" sz="1400" dirty="0">
                <a:solidFill>
                  <a:srgbClr val="000000"/>
                </a:solidFill>
                <a:latin typeface="Times New Roman" pitchFamily="18" charset="0"/>
                <a:cs typeface="Times New Roman" pitchFamily="18" charset="0"/>
              </a:rPr>
              <a:t>Housewife</a:t>
            </a:r>
          </a:p>
          <a:p>
            <a:pPr lvl="0">
              <a:spcAft>
                <a:spcPts val="600"/>
              </a:spcAft>
              <a:buNone/>
            </a:pPr>
            <a:r>
              <a:rPr lang="en-US" sz="1400" b="1" dirty="0">
                <a:solidFill>
                  <a:srgbClr val="000000"/>
                </a:solidFill>
                <a:latin typeface="Times New Roman" pitchFamily="18" charset="0"/>
                <a:cs typeface="Times New Roman" pitchFamily="18" charset="0"/>
              </a:rPr>
              <a:t>Socio-economic Strata: </a:t>
            </a:r>
            <a:r>
              <a:rPr lang="en-US" sz="1400" dirty="0">
                <a:solidFill>
                  <a:srgbClr val="000000"/>
                </a:solidFill>
                <a:latin typeface="Times New Roman" pitchFamily="18" charset="0"/>
                <a:cs typeface="Times New Roman" pitchFamily="18" charset="0"/>
              </a:rPr>
              <a:t>Middle SES</a:t>
            </a:r>
          </a:p>
          <a:p>
            <a:pPr lvl="0">
              <a:spcAft>
                <a:spcPts val="600"/>
              </a:spcAft>
              <a:buNone/>
            </a:pPr>
            <a:r>
              <a:rPr lang="en-US" sz="1400" b="1" dirty="0">
                <a:solidFill>
                  <a:srgbClr val="000000"/>
                </a:solidFill>
                <a:latin typeface="Times New Roman" pitchFamily="18" charset="0"/>
                <a:cs typeface="Times New Roman" pitchFamily="18" charset="0"/>
              </a:rPr>
              <a:t>Residence: </a:t>
            </a:r>
            <a:r>
              <a:rPr lang="en-US" sz="1400" dirty="0">
                <a:solidFill>
                  <a:srgbClr val="000000"/>
                </a:solidFill>
                <a:latin typeface="Times New Roman" pitchFamily="18" charset="0"/>
                <a:cs typeface="Times New Roman" pitchFamily="18" charset="0"/>
              </a:rPr>
              <a:t>Raugarh</a:t>
            </a:r>
          </a:p>
          <a:p>
            <a:pPr lvl="0">
              <a:spcAft>
                <a:spcPts val="600"/>
              </a:spcAft>
              <a:buNone/>
            </a:pPr>
            <a:r>
              <a:rPr lang="en-US" sz="1400" b="1" dirty="0">
                <a:solidFill>
                  <a:srgbClr val="000000"/>
                </a:solidFill>
                <a:latin typeface="Times New Roman" pitchFamily="18" charset="0"/>
                <a:cs typeface="Times New Roman" pitchFamily="18" charset="0"/>
              </a:rPr>
              <a:t>Language (Mother tongue): </a:t>
            </a:r>
            <a:r>
              <a:rPr lang="en-US" sz="1400" dirty="0">
                <a:solidFill>
                  <a:srgbClr val="000000"/>
                </a:solidFill>
                <a:latin typeface="Times New Roman" pitchFamily="18" charset="0"/>
                <a:cs typeface="Times New Roman" pitchFamily="18" charset="0"/>
              </a:rPr>
              <a:t>Hindi</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Informant Details &amp; Reason for Consultation</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Informant Details</a:t>
            </a:r>
          </a:p>
          <a:p>
            <a:pPr lvl="0">
              <a:spcAft>
                <a:spcPts val="600"/>
              </a:spcAft>
              <a:buNone/>
            </a:pPr>
            <a:r>
              <a:rPr lang="en-US" sz="1400" b="1" dirty="0">
                <a:solidFill>
                  <a:srgbClr val="000000"/>
                </a:solidFill>
                <a:latin typeface="Times New Roman" pitchFamily="18" charset="0"/>
                <a:cs typeface="Times New Roman" pitchFamily="18" charset="0"/>
              </a:rPr>
              <a:t>Name: </a:t>
            </a:r>
            <a:r>
              <a:rPr lang="en-US" sz="1400" dirty="0">
                <a:solidFill>
                  <a:srgbClr val="000000"/>
                </a:solidFill>
                <a:latin typeface="Times New Roman" pitchFamily="18" charset="0"/>
                <a:cs typeface="Times New Roman" pitchFamily="18" charset="0"/>
              </a:rPr>
              <a:t>Dharmendra Saini</a:t>
            </a:r>
          </a:p>
          <a:p>
            <a:pPr lvl="0">
              <a:spcAft>
                <a:spcPts val="600"/>
              </a:spcAft>
              <a:buNone/>
            </a:pPr>
            <a:r>
              <a:rPr lang="en-US" sz="1400" b="1" dirty="0">
                <a:solidFill>
                  <a:srgbClr val="000000"/>
                </a:solidFill>
                <a:latin typeface="Times New Roman" pitchFamily="18" charset="0"/>
                <a:cs typeface="Times New Roman" pitchFamily="18" charset="0"/>
              </a:rPr>
              <a:t>Relationship: </a:t>
            </a:r>
            <a:r>
              <a:rPr lang="en-US" sz="1400" dirty="0">
                <a:solidFill>
                  <a:srgbClr val="000000"/>
                </a:solidFill>
                <a:latin typeface="Times New Roman" pitchFamily="18" charset="0"/>
                <a:cs typeface="Times New Roman" pitchFamily="18" charset="0"/>
              </a:rPr>
              <a:t>Husband</a:t>
            </a:r>
          </a:p>
          <a:p>
            <a:pPr lvl="0">
              <a:spcAft>
                <a:spcPts val="600"/>
              </a:spcAft>
              <a:buNone/>
            </a:pPr>
            <a:r>
              <a:rPr lang="en-US" sz="1400" b="1" dirty="0">
                <a:solidFill>
                  <a:srgbClr val="000000"/>
                </a:solidFill>
                <a:latin typeface="Times New Roman" pitchFamily="18" charset="0"/>
                <a:cs typeface="Times New Roman" pitchFamily="18" charset="0"/>
              </a:rPr>
              <a:t>Duration of acquaintance: </a:t>
            </a:r>
            <a:r>
              <a:rPr lang="en-US" sz="1400" dirty="0">
                <a:solidFill>
                  <a:srgbClr val="000000"/>
                </a:solidFill>
                <a:latin typeface="Times New Roman" pitchFamily="18" charset="0"/>
                <a:cs typeface="Times New Roman" pitchFamily="18" charset="0"/>
              </a:rPr>
              <a:t>4 years</a:t>
            </a:r>
          </a:p>
          <a:p>
            <a:pPr lvl="0">
              <a:spcAft>
                <a:spcPts val="600"/>
              </a:spcAft>
              <a:buNone/>
            </a:pPr>
            <a:r>
              <a:rPr lang="en-US" sz="1400" dirty="0">
                <a:solidFill>
                  <a:srgbClr val="000000"/>
                </a:solidFill>
                <a:latin typeface="Times New Roman" pitchFamily="18" charset="0"/>
                <a:cs typeface="Times New Roman" pitchFamily="18" charset="0"/>
              </a:rPr>
              <a:t>Information provided by the informant was reliable and adequate.</a:t>
            </a:r>
          </a:p>
          <a:p>
            <a:pPr lvl="0">
              <a:spcAft>
                <a:spcPts val="300"/>
              </a:spcAft>
              <a:buNone/>
            </a:pPr>
            <a:r>
              <a:rPr lang="en-US" sz="2000" b="1" dirty="0">
                <a:solidFill>
                  <a:srgbClr val="000000"/>
                </a:solidFill>
                <a:latin typeface="Times New Roman" pitchFamily="18" charset="0"/>
                <a:cs typeface="Times New Roman" pitchFamily="18" charset="0"/>
              </a:rPr>
              <a:t>Reason for Consultation</a:t>
            </a:r>
          </a:p>
          <a:p>
            <a:pPr lvl="0">
              <a:spcAft>
                <a:spcPts val="600"/>
              </a:spcAft>
              <a:buNone/>
            </a:pPr>
            <a:r>
              <a:rPr lang="en-US" sz="1400" dirty="0">
                <a:solidFill>
                  <a:srgbClr val="000000"/>
                </a:solidFill>
                <a:latin typeface="Times New Roman" pitchFamily="18" charset="0"/>
                <a:cs typeface="Times New Roman" pitchFamily="18" charset="0"/>
              </a:rPr>
              <a:t>Frequent dissociation episodes; brought for psychological evaluation and management.</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Chief Complaints</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dirty="0">
                <a:solidFill>
                  <a:srgbClr val="000000"/>
                </a:solidFill>
                <a:latin typeface="Times New Roman" pitchFamily="18" charset="0"/>
                <a:cs typeface="Times New Roman" pitchFamily="18" charset="0"/>
              </a:rPr>
              <a:t>(In order of appearance; patient's own words retained where given)</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1 year: </a:t>
            </a:r>
            <a:r>
              <a:rPr lang="en-US" sz="1400" dirty="0">
                <a:solidFill>
                  <a:srgbClr val="000000"/>
                </a:solidFill>
                <a:latin typeface="Times New Roman" pitchFamily="18" charset="0"/>
                <a:cs typeface="Times New Roman" pitchFamily="18" charset="0"/>
              </a:rPr>
              <a:t>Seeing two dead females who call her — “तू हमारे साथ चल”</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1 year: </a:t>
            </a:r>
            <a:r>
              <a:rPr lang="en-US" sz="1400" dirty="0">
                <a:solidFill>
                  <a:srgbClr val="000000"/>
                </a:solidFill>
                <a:latin typeface="Times New Roman" pitchFamily="18" charset="0"/>
                <a:cs typeface="Times New Roman" pitchFamily="18" charset="0"/>
              </a:rPr>
              <a:t>Suspiciousness — feeling people speak against her; “ये मेरा घर नहीं है”</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1 year: </a:t>
            </a:r>
            <a:r>
              <a:rPr lang="en-US" sz="1400" dirty="0">
                <a:solidFill>
                  <a:srgbClr val="000000"/>
                </a:solidFill>
                <a:latin typeface="Times New Roman" pitchFamily="18" charset="0"/>
                <a:cs typeface="Times New Roman" pitchFamily="18" charset="0"/>
              </a:rPr>
              <a:t>Restlessness and inability to relax</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Since Jan 12: </a:t>
            </a:r>
            <a:r>
              <a:rPr lang="en-US" sz="1400" dirty="0">
                <a:solidFill>
                  <a:srgbClr val="000000"/>
                </a:solidFill>
                <a:latin typeface="Times New Roman" pitchFamily="18" charset="0"/>
                <a:cs typeface="Times New Roman" pitchFamily="18" charset="0"/>
              </a:rPr>
              <a:t>Sudden falling while walking; voice becoming heavy; body “not in her control”</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Recent: </a:t>
            </a:r>
            <a:r>
              <a:rPr lang="en-US" sz="1400" dirty="0">
                <a:solidFill>
                  <a:srgbClr val="000000"/>
                </a:solidFill>
                <a:latin typeface="Times New Roman" pitchFamily="18" charset="0"/>
                <a:cs typeface="Times New Roman" pitchFamily="18" charset="0"/>
              </a:rPr>
              <a:t>Hand tremors</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History of Present Illness (HOPI)</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b="1" dirty="0">
                <a:solidFill>
                  <a:srgbClr val="000000"/>
                </a:solidFill>
                <a:latin typeface="Times New Roman" pitchFamily="18" charset="0"/>
                <a:cs typeface="Times New Roman" pitchFamily="18" charset="0"/>
              </a:rPr>
              <a:t>Total Duration: </a:t>
            </a:r>
            <a:r>
              <a:rPr lang="en-US" sz="1400" dirty="0">
                <a:solidFill>
                  <a:srgbClr val="000000"/>
                </a:solidFill>
                <a:latin typeface="Times New Roman" pitchFamily="18" charset="0"/>
                <a:cs typeface="Times New Roman" pitchFamily="18" charset="0"/>
              </a:rPr>
              <a:t>Approximately 2 years.</a:t>
            </a:r>
          </a:p>
          <a:p>
            <a:pPr lvl="0">
              <a:spcAft>
                <a:spcPts val="600"/>
              </a:spcAft>
              <a:buNone/>
            </a:pPr>
            <a:r>
              <a:rPr lang="en-US" sz="1400" b="1" dirty="0">
                <a:solidFill>
                  <a:srgbClr val="000000"/>
                </a:solidFill>
                <a:latin typeface="Times New Roman" pitchFamily="18" charset="0"/>
                <a:cs typeface="Times New Roman" pitchFamily="18" charset="0"/>
              </a:rPr>
              <a:t>Onset: </a:t>
            </a:r>
            <a:r>
              <a:rPr lang="en-US" sz="1400" dirty="0">
                <a:solidFill>
                  <a:srgbClr val="000000"/>
                </a:solidFill>
                <a:latin typeface="Times New Roman" pitchFamily="18" charset="0"/>
                <a:cs typeface="Times New Roman" pitchFamily="18" charset="0"/>
              </a:rPr>
              <a:t>Insidious.</a:t>
            </a:r>
          </a:p>
          <a:p>
            <a:pPr lvl="0">
              <a:spcAft>
                <a:spcPts val="600"/>
              </a:spcAft>
              <a:buNone/>
            </a:pPr>
            <a:r>
              <a:rPr lang="en-US" sz="1400" b="1" dirty="0">
                <a:solidFill>
                  <a:srgbClr val="000000"/>
                </a:solidFill>
                <a:latin typeface="Times New Roman" pitchFamily="18" charset="0"/>
                <a:cs typeface="Times New Roman" pitchFamily="18" charset="0"/>
              </a:rPr>
              <a:t>Course: </a:t>
            </a:r>
            <a:r>
              <a:rPr lang="en-US" sz="1400" dirty="0">
                <a:solidFill>
                  <a:srgbClr val="000000"/>
                </a:solidFill>
                <a:latin typeface="Times New Roman" pitchFamily="18" charset="0"/>
                <a:cs typeface="Times New Roman" pitchFamily="18" charset="0"/>
              </a:rPr>
              <a:t>Episodic.</a:t>
            </a:r>
          </a:p>
          <a:p>
            <a:pPr lvl="0">
              <a:spcAft>
                <a:spcPts val="600"/>
              </a:spcAft>
              <a:buNone/>
            </a:pPr>
            <a:r>
              <a:rPr lang="en-US" sz="1400" b="1" dirty="0">
                <a:solidFill>
                  <a:srgbClr val="000000"/>
                </a:solidFill>
                <a:latin typeface="Times New Roman" pitchFamily="18" charset="0"/>
                <a:cs typeface="Times New Roman" pitchFamily="18" charset="0"/>
              </a:rPr>
              <a:t>Progress: </a:t>
            </a:r>
            <a:r>
              <a:rPr lang="en-US" sz="1400" dirty="0">
                <a:solidFill>
                  <a:srgbClr val="000000"/>
                </a:solidFill>
                <a:latin typeface="Times New Roman" pitchFamily="18" charset="0"/>
                <a:cs typeface="Times New Roman" pitchFamily="18" charset="0"/>
              </a:rPr>
              <a:t>Deteriorating.</a:t>
            </a:r>
          </a:p>
          <a:p>
            <a:pPr lvl="0">
              <a:spcAft>
                <a:spcPts val="300"/>
              </a:spcAft>
              <a:buNone/>
            </a:pPr>
            <a:r>
              <a:rPr lang="en-US" sz="2000" b="1" dirty="0">
                <a:solidFill>
                  <a:srgbClr val="000000"/>
                </a:solidFill>
                <a:latin typeface="Times New Roman" pitchFamily="18" charset="0"/>
                <a:cs typeface="Times New Roman" pitchFamily="18" charset="0"/>
              </a:rPr>
              <a:t>The Three P's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Predisposing: </a:t>
            </a:r>
            <a:r>
              <a:rPr lang="en-US" sz="1400" dirty="0">
                <a:solidFill>
                  <a:srgbClr val="000000"/>
                </a:solidFill>
                <a:latin typeface="Times New Roman" pitchFamily="18" charset="0"/>
                <a:cs typeface="Times New Roman" pitchFamily="18" charset="0"/>
              </a:rPr>
              <a:t>Complicated relationship with sister-in-law and mother-in-law; strict, controlling upbringing; non-consensual marriage.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Precipitating: </a:t>
            </a:r>
            <a:r>
              <a:rPr lang="en-US" sz="1400" dirty="0">
                <a:solidFill>
                  <a:srgbClr val="000000"/>
                </a:solidFill>
                <a:latin typeface="Times New Roman" pitchFamily="18" charset="0"/>
                <a:cs typeface="Times New Roman" pitchFamily="18" charset="0"/>
              </a:rPr>
              <a:t>Involvement of faith healers whose reassurance reinforced a “possession” model.</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Perpetuating: </a:t>
            </a:r>
            <a:r>
              <a:rPr lang="en-US" sz="1400" dirty="0">
                <a:solidFill>
                  <a:srgbClr val="000000"/>
                </a:solidFill>
                <a:latin typeface="Times New Roman" pitchFamily="18" charset="0"/>
                <a:cs typeface="Times New Roman" pitchFamily="18" charset="0"/>
              </a:rPr>
              <a:t>Secondary gains — increased attention from husband; legitimate withdrawal from conflictual in-laws.</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HOPI — Narrative (1/2)</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dirty="0">
                <a:solidFill>
                  <a:srgbClr val="000000"/>
                </a:solidFill>
                <a:latin typeface="Times New Roman" pitchFamily="18" charset="0"/>
                <a:cs typeface="Times New Roman" pitchFamily="18" charset="0"/>
              </a:rPr>
              <a:t>Index patient MS, a 30-year-old married Hindu female, educated up to grade 8, housewife, of middle SES, residing in Raugarh, presented with seeing two dead females, suspiciousness, restlessness, sudden falling, deepening of voice with loss of body control, and hand tremors over ~1–2 years, with insidious onset and an episodic, deteriorating course.</a:t>
            </a:r>
          </a:p>
          <a:p>
            <a:pPr lvl="0">
              <a:spcAft>
                <a:spcPts val="600"/>
              </a:spcAft>
              <a:buNone/>
            </a:pPr>
            <a:r>
              <a:rPr lang="en-US" sz="1400" dirty="0">
                <a:solidFill>
                  <a:srgbClr val="000000"/>
                </a:solidFill>
                <a:latin typeface="Times New Roman" pitchFamily="18" charset="0"/>
                <a:cs typeface="Times New Roman" pitchFamily="18" charset="0"/>
              </a:rPr>
              <a:t>From January 2025 she experienced episodes of intense anger outbursts, memory forgetfulness, severe numbness and tingling, inability to relax, change in voice depth, and a feeling that someone was speaking through her. Episodes were triggered when she was upset, scolded, or not listened to. She preferred staying alone, had reduced appetite with ~10 kg weight loss, persistent low mood, and reduced energy — yet continued full care of her children and self. Episodes rose from ~2/week to ~2/day.</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HOPI — Narrative (2/2)</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dirty="0">
                <a:solidFill>
                  <a:srgbClr val="000000"/>
                </a:solidFill>
                <a:latin typeface="Times New Roman" pitchFamily="18" charset="0"/>
                <a:cs typeface="Times New Roman" pitchFamily="18" charset="0"/>
              </a:rPr>
              <a:t>March 2025: Family consulted a faith healer, who said two neighbourhood women who died by self-immolation years earlier were “possessing” her. She then had episodes in which her voice uttered the names Sita, Iqbal, and Sakeen, with a conviction she had become them — “मेरे दिमाग में जो चल रहा है, वो मेरे thoughts नहीं.” Rituals reduced intensity.</a:t>
            </a:r>
          </a:p>
          <a:p>
            <a:pPr lvl="0">
              <a:spcAft>
                <a:spcPts val="600"/>
              </a:spcAft>
              <a:buNone/>
            </a:pPr>
            <a:r>
              <a:rPr lang="en-US" sz="1400" dirty="0">
                <a:solidFill>
                  <a:srgbClr val="000000"/>
                </a:solidFill>
                <a:latin typeface="Times New Roman" pitchFamily="18" charset="0"/>
                <a:cs typeface="Times New Roman" pitchFamily="18" charset="0"/>
              </a:rPr>
              <a:t>November 2025: Returning from Ujjain she developed intense anger, repetitive head-rotating, a sense of a ghost behind her, marked fear, and a sensation that someone talks to her and lies on her / presses her neck while she sleeps, with disturbed sleep and dreams of ghosts. The healer attributed this to spirits following her; the family shifted her to a house ~500 m away.</a:t>
            </a:r>
          </a:p>
          <a:p>
            <a:pPr lvl="0">
              <a:spcAft>
                <a:spcPts val="600"/>
              </a:spcAft>
              <a:buNone/>
            </a:pPr>
            <a:r>
              <a:rPr lang="en-US" sz="1400" dirty="0">
                <a:solidFill>
                  <a:srgbClr val="000000"/>
                </a:solidFill>
                <a:latin typeface="Times New Roman" pitchFamily="18" charset="0"/>
                <a:cs typeface="Times New Roman" pitchFamily="18" charset="0"/>
              </a:rPr>
              <a:t>No episode has occurred at the new residence over ~6 months; however, mention of the first house triggers anger and anticipation of an episode.</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Biological Functioning &amp; Negative History</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Biological Functioning</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Sleep: </a:t>
            </a:r>
            <a:r>
              <a:rPr lang="en-US" sz="1400" dirty="0">
                <a:solidFill>
                  <a:srgbClr val="000000"/>
                </a:solidFill>
                <a:latin typeface="Times New Roman" pitchFamily="18" charset="0"/>
                <a:cs typeface="Times New Roman" pitchFamily="18" charset="0"/>
              </a:rPr>
              <a:t>Difficulty initiating and maintaining sleep for ≥ 15 days during episode periods (“आँख ही नहीं लगती”).</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Appetite: </a:t>
            </a:r>
            <a:r>
              <a:rPr lang="en-US" sz="1400" dirty="0">
                <a:solidFill>
                  <a:srgbClr val="000000"/>
                </a:solidFill>
                <a:latin typeface="Times New Roman" pitchFamily="18" charset="0"/>
                <a:cs typeface="Times New Roman" pitchFamily="18" charset="0"/>
              </a:rPr>
              <a:t>Reduced, with ~10 kg weight loss.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Self-care: </a:t>
            </a:r>
            <a:r>
              <a:rPr lang="en-US" sz="1400" dirty="0">
                <a:solidFill>
                  <a:srgbClr val="000000"/>
                </a:solidFill>
                <a:latin typeface="Times New Roman" pitchFamily="18" charset="0"/>
                <a:cs typeface="Times New Roman" pitchFamily="18" charset="0"/>
              </a:rPr>
              <a:t>Preserved; childcare maintained even when unwell.</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Occupational (household): </a:t>
            </a:r>
            <a:r>
              <a:rPr lang="en-US" sz="1400" dirty="0">
                <a:solidFill>
                  <a:srgbClr val="000000"/>
                </a:solidFill>
                <a:latin typeface="Times New Roman" pitchFamily="18" charset="0"/>
                <a:cs typeface="Times New Roman" pitchFamily="18" charset="0"/>
              </a:rPr>
              <a:t>Regular.</a:t>
            </a:r>
          </a:p>
          <a:p>
            <a:pPr lvl="0">
              <a:spcAft>
                <a:spcPts val="300"/>
              </a:spcAft>
              <a:buNone/>
            </a:pPr>
            <a:r>
              <a:rPr lang="en-US" sz="2000" b="1" dirty="0">
                <a:solidFill>
                  <a:srgbClr val="000000"/>
                </a:solidFill>
                <a:latin typeface="Times New Roman" pitchFamily="18" charset="0"/>
                <a:cs typeface="Times New Roman" pitchFamily="18" charset="0"/>
              </a:rPr>
              <a:t>Negative History</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No head injury, seizures, or neurological illness.</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No substance use, dependence, or withdrawal.</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No true hallucinations, thought insertion / broadcast / withdrawal.</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No persistent pervasive mood disturbance, elevated mood, or anhedonia.</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No suicidal ideation, self-harm, or homicidal ideation.</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Treatment History &amp; Past History</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Treatment History</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Medical: </a:t>
            </a:r>
            <a:r>
              <a:rPr lang="en-US" sz="1400" dirty="0">
                <a:solidFill>
                  <a:srgbClr val="000000"/>
                </a:solidFill>
                <a:latin typeface="Times New Roman" pitchFamily="18" charset="0"/>
                <a:cs typeface="Times New Roman" pitchFamily="18" charset="0"/>
              </a:rPr>
              <a:t>No prior formal medical/psychiatric treatment.</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Past psychiatric: </a:t>
            </a:r>
            <a:r>
              <a:rPr lang="en-US" sz="1400" dirty="0">
                <a:solidFill>
                  <a:srgbClr val="000000"/>
                </a:solidFill>
                <a:latin typeface="Times New Roman" pitchFamily="18" charset="0"/>
                <a:cs typeface="Times New Roman" pitchFamily="18" charset="0"/>
              </a:rPr>
              <a:t>Faith healers repeatedly consulted (March 2025 and November 2025); no formal psychiatric consultation before current presentation.</a:t>
            </a:r>
          </a:p>
          <a:p>
            <a:pPr lvl="0">
              <a:spcAft>
                <a:spcPts val="300"/>
              </a:spcAft>
              <a:buNone/>
            </a:pPr>
            <a:r>
              <a:rPr lang="en-US" sz="2000" b="1" dirty="0">
                <a:solidFill>
                  <a:srgbClr val="000000"/>
                </a:solidFill>
                <a:latin typeface="Times New Roman" pitchFamily="18" charset="0"/>
                <a:cs typeface="Times New Roman" pitchFamily="18" charset="0"/>
              </a:rPr>
              <a:t>Past Medical &amp; Psychiatric History</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CT scan, MRI, and basic medical profiling done — no significant correlate with her symptoms.</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No past organic or psychiatric illness identified.</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Family History</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Family history of illness: </a:t>
            </a:r>
            <a:r>
              <a:rPr lang="en-US" sz="1400" dirty="0">
                <a:solidFill>
                  <a:srgbClr val="000000"/>
                </a:solidFill>
                <a:latin typeface="Times New Roman" pitchFamily="18" charset="0"/>
                <a:cs typeface="Times New Roman" pitchFamily="18" charset="0"/>
              </a:rPr>
              <a:t>Sister-in-law has dissociative episodes (“माता आती है”) for ~10 years.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Living arrangement: </a:t>
            </a:r>
            <a:r>
              <a:rPr lang="en-US" sz="1400" dirty="0">
                <a:solidFill>
                  <a:srgbClr val="000000"/>
                </a:solidFill>
                <a:latin typeface="Times New Roman" pitchFamily="18" charset="0"/>
                <a:cs typeface="Times New Roman" pitchFamily="18" charset="0"/>
              </a:rPr>
              <a:t>Currently lives alone with her husband.</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Primary caregiver: </a:t>
            </a:r>
            <a:r>
              <a:rPr lang="en-US" sz="1400" dirty="0">
                <a:solidFill>
                  <a:srgbClr val="000000"/>
                </a:solidFill>
                <a:latin typeface="Times New Roman" pitchFamily="18" charset="0"/>
                <a:cs typeface="Times New Roman" pitchFamily="18" charset="0"/>
              </a:rPr>
              <a:t>Husband.</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Communication pattern: </a:t>
            </a:r>
            <a:r>
              <a:rPr lang="en-US" sz="1400" dirty="0">
                <a:solidFill>
                  <a:srgbClr val="000000"/>
                </a:solidFill>
                <a:latin typeface="Times New Roman" pitchFamily="18" charset="0"/>
                <a:cs typeface="Times New Roman" pitchFamily="18" charset="0"/>
              </a:rPr>
              <a:t>Open and honest.</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Family understanding of illness: </a:t>
            </a:r>
            <a:r>
              <a:rPr lang="en-US" sz="1400" dirty="0">
                <a:solidFill>
                  <a:srgbClr val="000000"/>
                </a:solidFill>
                <a:latin typeface="Times New Roman" pitchFamily="18" charset="0"/>
                <a:cs typeface="Times New Roman" pitchFamily="18" charset="0"/>
              </a:rPr>
              <a:t>Partial and limited.</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Family attitude: </a:t>
            </a:r>
            <a:r>
              <a:rPr lang="en-US" sz="1400" dirty="0">
                <a:solidFill>
                  <a:srgbClr val="000000"/>
                </a:solidFill>
                <a:latin typeface="Times New Roman" pitchFamily="18" charset="0"/>
                <a:cs typeface="Times New Roman" pitchFamily="18" charset="0"/>
              </a:rPr>
              <a:t>Supportive and caring.</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Family stressors: </a:t>
            </a:r>
            <a:r>
              <a:rPr lang="en-US" sz="1400" dirty="0">
                <a:solidFill>
                  <a:srgbClr val="000000"/>
                </a:solidFill>
                <a:latin typeface="Times New Roman" pitchFamily="18" charset="0"/>
                <a:cs typeface="Times New Roman" pitchFamily="18" charset="0"/>
              </a:rPr>
              <a:t>Husband gives more attention to his immediate family (mother, sister) than to her.</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Personal History</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Medical (personal): </a:t>
            </a:r>
            <a:r>
              <a:rPr lang="en-US" sz="1400" dirty="0">
                <a:solidFill>
                  <a:srgbClr val="000000"/>
                </a:solidFill>
                <a:latin typeface="Times New Roman" pitchFamily="18" charset="0"/>
                <a:cs typeface="Times New Roman" pitchFamily="18" charset="0"/>
              </a:rPr>
              <a:t>CT, MRI, basic profiling — no significant medical correlate.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Childhood &amp; upbringing: </a:t>
            </a:r>
            <a:r>
              <a:rPr lang="en-US" sz="1400" dirty="0">
                <a:solidFill>
                  <a:srgbClr val="000000"/>
                </a:solidFill>
                <a:latin typeface="Times New Roman" pitchFamily="18" charset="0"/>
                <a:cs typeface="Times New Roman" pitchFamily="18" charset="0"/>
              </a:rPr>
              <a:t>Strict parents; a quiet child; allowed to study only up to 8th grade, then required to do household work; opinions rarely valued; four siblings.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Menstrual history: </a:t>
            </a:r>
            <a:r>
              <a:rPr lang="en-US" sz="1400" dirty="0">
                <a:solidFill>
                  <a:srgbClr val="000000"/>
                </a:solidFill>
                <a:latin typeface="Times New Roman" pitchFamily="18" charset="0"/>
                <a:cs typeface="Times New Roman" pitchFamily="18" charset="0"/>
              </a:rPr>
              <a:t>Regular, 4-day cycles, usually painful.</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Sexual history: </a:t>
            </a:r>
            <a:r>
              <a:rPr lang="en-US" sz="1400" dirty="0">
                <a:solidFill>
                  <a:srgbClr val="000000"/>
                </a:solidFill>
                <a:latin typeface="Times New Roman" pitchFamily="18" charset="0"/>
                <a:cs typeface="Times New Roman" pitchFamily="18" charset="0"/>
              </a:rPr>
              <a:t>Reported satisfactory; limited attention from husband (busy with shop/work); intimacy ~once a month.</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Marital history: </a:t>
            </a:r>
            <a:r>
              <a:rPr lang="en-US" sz="1400" dirty="0">
                <a:solidFill>
                  <a:srgbClr val="000000"/>
                </a:solidFill>
                <a:latin typeface="Times New Roman" pitchFamily="18" charset="0"/>
                <a:cs typeface="Times New Roman" pitchFamily="18" charset="0"/>
              </a:rPr>
              <a:t>Married at 18; arranged marriage without her consent; frequent conflict with sister-in-law and mother-in-law; feels less valued than her sister-in-law.</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Substance / forensic: </a:t>
            </a:r>
            <a:r>
              <a:rPr lang="en-US" sz="1400" dirty="0">
                <a:solidFill>
                  <a:srgbClr val="000000"/>
                </a:solidFill>
                <a:latin typeface="Times New Roman" pitchFamily="18" charset="0"/>
                <a:cs typeface="Times New Roman" pitchFamily="18" charset="0"/>
              </a:rPr>
              <a:t>Nil.</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Premorbid Personality</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Social relationships: </a:t>
            </a:r>
            <a:r>
              <a:rPr lang="en-US" sz="1400" dirty="0">
                <a:solidFill>
                  <a:srgbClr val="000000"/>
                </a:solidFill>
                <a:latin typeface="Times New Roman" pitchFamily="18" charset="0"/>
                <a:cs typeface="Times New Roman" pitchFamily="18" charset="0"/>
              </a:rPr>
              <a:t>Maintained; frequent friction with mother-in-law.</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Work &amp; responsibility: </a:t>
            </a:r>
            <a:r>
              <a:rPr lang="en-US" sz="1400" dirty="0">
                <a:solidFill>
                  <a:srgbClr val="000000"/>
                </a:solidFill>
                <a:latin typeface="Times New Roman" pitchFamily="18" charset="0"/>
                <a:cs typeface="Times New Roman" pitchFamily="18" charset="0"/>
              </a:rPr>
              <a:t>Responsible; frequent feuds with sister-in-law.</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Reaction to stress: </a:t>
            </a:r>
            <a:r>
              <a:rPr lang="en-US" sz="1400" dirty="0">
                <a:solidFill>
                  <a:srgbClr val="000000"/>
                </a:solidFill>
                <a:latin typeface="Times New Roman" pitchFamily="18" charset="0"/>
                <a:cs typeface="Times New Roman" pitchFamily="18" charset="0"/>
              </a:rPr>
              <a:t>Emotion-focused.</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Hobbies / interests: </a:t>
            </a:r>
            <a:r>
              <a:rPr lang="en-US" sz="1400" dirty="0">
                <a:solidFill>
                  <a:srgbClr val="000000"/>
                </a:solidFill>
                <a:latin typeface="Times New Roman" pitchFamily="18" charset="0"/>
                <a:cs typeface="Times New Roman" pitchFamily="18" charset="0"/>
              </a:rPr>
              <a:t>Cooking.</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Premorbid mood: </a:t>
            </a:r>
            <a:r>
              <a:rPr lang="en-US" sz="1400" dirty="0">
                <a:solidFill>
                  <a:srgbClr val="000000"/>
                </a:solidFill>
                <a:latin typeface="Times New Roman" pitchFamily="18" charset="0"/>
                <a:cs typeface="Times New Roman" pitchFamily="18" charset="0"/>
              </a:rPr>
              <a:t>Dysphoric.</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Interpersonal relations: </a:t>
            </a:r>
            <a:r>
              <a:rPr lang="en-US" sz="1400" dirty="0">
                <a:solidFill>
                  <a:srgbClr val="000000"/>
                </a:solidFill>
                <a:latin typeface="Times New Roman" pitchFamily="18" charset="0"/>
                <a:cs typeface="Times New Roman" pitchFamily="18" charset="0"/>
              </a:rPr>
              <a:t>Adequate; observed to be energetic.</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Fantasy life: </a:t>
            </a:r>
            <a:r>
              <a:rPr lang="en-US" sz="1400" dirty="0">
                <a:solidFill>
                  <a:srgbClr val="000000"/>
                </a:solidFill>
                <a:latin typeface="Times New Roman" pitchFamily="18" charset="0"/>
                <a:cs typeface="Times New Roman" pitchFamily="18" charset="0"/>
              </a:rPr>
              <a:t>Higher fantasy life.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Attitude to self: </a:t>
            </a:r>
            <a:r>
              <a:rPr lang="en-US" sz="1400" dirty="0">
                <a:solidFill>
                  <a:srgbClr val="000000"/>
                </a:solidFill>
                <a:latin typeface="Times New Roman" pitchFamily="18" charset="0"/>
                <a:cs typeface="Times New Roman" pitchFamily="18" charset="0"/>
              </a:rPr>
              <a:t>Self-critical.</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Religiosity: </a:t>
            </a:r>
            <a:r>
              <a:rPr lang="en-US" sz="1400" dirty="0">
                <a:solidFill>
                  <a:srgbClr val="000000"/>
                </a:solidFill>
                <a:latin typeface="Times New Roman" pitchFamily="18" charset="0"/>
                <a:cs typeface="Times New Roman" pitchFamily="18" charset="0"/>
              </a:rPr>
              <a:t>Overly religious within the family.</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Behavioural Observations</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dirty="0">
                <a:solidFill>
                  <a:srgbClr val="000000"/>
                </a:solidFill>
                <a:latin typeface="Times New Roman" pitchFamily="18" charset="0"/>
                <a:cs typeface="Times New Roman" pitchFamily="18" charset="0"/>
              </a:rPr>
              <a:t>The patient entered the interview room voluntarily and appeared interested in the interview, with body language suggestive of engagement. Physical appearance was well-kept, and grooming and personal hygiene were adequately maintained. Eye contact was established and maintained. Her attitude towards the examiner was cooperative, though rapport was established with difficulty. Psychomotor activity was goal-directed and normal. Speech was spontaneous, logical, consistent, coherent, understandable, and relevant, with normal reaction time. Thought process showed formal derangement with derailment and perseveration on the same episodes; content revealed preoccupation with dissociative symptoms. Subjective mood was reported to be euthymic. Higher cognitive functions were grossly intact, and insight was graded at Grade II, with the patient attributing her difficulties to stress rather than mental illness.</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Mental Status Examination (MSE)</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Appearance &amp; behaviour: </a:t>
            </a:r>
            <a:r>
              <a:rPr lang="en-US" sz="1400" dirty="0">
                <a:solidFill>
                  <a:srgbClr val="000000"/>
                </a:solidFill>
                <a:latin typeface="Times New Roman" pitchFamily="18" charset="0"/>
                <a:cs typeface="Times New Roman" pitchFamily="18" charset="0"/>
              </a:rPr>
              <a:t>Well-kept; entered voluntarily; cooperative; interested; rapport with difficulty.</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Psychomotor activity: </a:t>
            </a:r>
            <a:r>
              <a:rPr lang="en-US" sz="1400" dirty="0">
                <a:solidFill>
                  <a:srgbClr val="000000"/>
                </a:solidFill>
                <a:latin typeface="Times New Roman" pitchFamily="18" charset="0"/>
                <a:cs typeface="Times New Roman" pitchFamily="18" charset="0"/>
              </a:rPr>
              <a:t>Goal-directed, normal.</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Speech: </a:t>
            </a:r>
            <a:r>
              <a:rPr lang="en-US" sz="1400" dirty="0">
                <a:solidFill>
                  <a:srgbClr val="000000"/>
                </a:solidFill>
                <a:latin typeface="Times New Roman" pitchFamily="18" charset="0"/>
                <a:cs typeface="Times New Roman" pitchFamily="18" charset="0"/>
              </a:rPr>
              <a:t>Logical, consistent, coherent, relevant; normal reaction time.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Thought — form: </a:t>
            </a:r>
            <a:r>
              <a:rPr lang="en-US" sz="1400" dirty="0">
                <a:solidFill>
                  <a:srgbClr val="000000"/>
                </a:solidFill>
                <a:latin typeface="Times New Roman" pitchFamily="18" charset="0"/>
                <a:cs typeface="Times New Roman" pitchFamily="18" charset="0"/>
              </a:rPr>
              <a:t>Derangement with derailment.</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Thought — stream: </a:t>
            </a:r>
            <a:r>
              <a:rPr lang="en-US" sz="1400" dirty="0">
                <a:solidFill>
                  <a:srgbClr val="000000"/>
                </a:solidFill>
                <a:latin typeface="Times New Roman" pitchFamily="18" charset="0"/>
                <a:cs typeface="Times New Roman" pitchFamily="18" charset="0"/>
              </a:rPr>
              <a:t>Perseveration on episodes.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Thought — content: </a:t>
            </a:r>
            <a:r>
              <a:rPr lang="en-US" sz="1400" dirty="0">
                <a:solidFill>
                  <a:srgbClr val="000000"/>
                </a:solidFill>
                <a:latin typeface="Times New Roman" pitchFamily="18" charset="0"/>
                <a:cs typeface="Times New Roman" pitchFamily="18" charset="0"/>
              </a:rPr>
              <a:t>Preoccupation with dissociative symptoms.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Mood &amp; affect: </a:t>
            </a:r>
            <a:r>
              <a:rPr lang="en-US" sz="1400" dirty="0">
                <a:solidFill>
                  <a:srgbClr val="000000"/>
                </a:solidFill>
                <a:latin typeface="Times New Roman" pitchFamily="18" charset="0"/>
                <a:cs typeface="Times New Roman" pitchFamily="18" charset="0"/>
              </a:rPr>
              <a:t>Reported euthymic.</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Higher cognitive functions: </a:t>
            </a:r>
            <a:r>
              <a:rPr lang="en-US" sz="1400" dirty="0">
                <a:solidFill>
                  <a:srgbClr val="000000"/>
                </a:solidFill>
                <a:latin typeface="Times New Roman" pitchFamily="18" charset="0"/>
                <a:cs typeface="Times New Roman" pitchFamily="18" charset="0"/>
              </a:rPr>
              <a:t>Grossly intact / adequate.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Insight: </a:t>
            </a:r>
            <a:r>
              <a:rPr lang="en-US" sz="1400" dirty="0">
                <a:solidFill>
                  <a:srgbClr val="000000"/>
                </a:solidFill>
                <a:latin typeface="Times New Roman" pitchFamily="18" charset="0"/>
                <a:cs typeface="Times New Roman" pitchFamily="18" charset="0"/>
              </a:rPr>
              <a:t>Grade II — attributes difficulties to stress, not mental illness.</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Tests Administered &amp; Rationale</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DES (Dissociative Experiences Scale): </a:t>
            </a:r>
            <a:r>
              <a:rPr lang="en-US" sz="1400" dirty="0">
                <a:solidFill>
                  <a:srgbClr val="000000"/>
                </a:solidFill>
                <a:latin typeface="Times New Roman" pitchFamily="18" charset="0"/>
                <a:cs typeface="Times New Roman" pitchFamily="18" charset="0"/>
              </a:rPr>
              <a:t>to quantify severity and pervasiveness of dissociative experiences (identity alteration, depersonalisation, amnesia).</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BAI (Beck Anxiety Inventory): </a:t>
            </a:r>
            <a:r>
              <a:rPr lang="en-US" sz="1400" dirty="0">
                <a:solidFill>
                  <a:srgbClr val="000000"/>
                </a:solidFill>
                <a:latin typeface="Times New Roman" pitchFamily="18" charset="0"/>
                <a:cs typeface="Times New Roman" pitchFamily="18" charset="0"/>
              </a:rPr>
              <a:t>to assess prominent somatic-autonomic anxiety (tremors, palpitations, restlessness).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BDRS (depression rating): </a:t>
            </a:r>
            <a:r>
              <a:rPr lang="en-US" sz="1400" dirty="0">
                <a:solidFill>
                  <a:srgbClr val="000000"/>
                </a:solidFill>
                <a:latin typeface="Times New Roman" pitchFamily="18" charset="0"/>
                <a:cs typeface="Times New Roman" pitchFamily="18" charset="0"/>
              </a:rPr>
              <a:t>to quantify the depressive component (low mood, energy, appetite, withdrawal).</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BPRS (Brief Psychiatric Rating Scale): </a:t>
            </a:r>
            <a:r>
              <a:rPr lang="en-US" sz="1400" dirty="0">
                <a:solidFill>
                  <a:srgbClr val="000000"/>
                </a:solidFill>
                <a:latin typeface="Times New Roman" pitchFamily="18" charset="0"/>
                <a:cs typeface="Times New Roman" pitchFamily="18" charset="0"/>
              </a:rPr>
              <a:t>broad-band screen for overall psychopathology and to help differentiate a primary psychotic process from dissociation.</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TAT (Thematic Apperception Test): </a:t>
            </a:r>
            <a:r>
              <a:rPr lang="en-US" sz="1400" dirty="0">
                <a:solidFill>
                  <a:srgbClr val="000000"/>
                </a:solidFill>
                <a:latin typeface="Times New Roman" pitchFamily="18" charset="0"/>
                <a:cs typeface="Times New Roman" pitchFamily="18" charset="0"/>
              </a:rPr>
              <a:t>projective exploration of underlying needs, conflicts, defences, and ego strength to inform formulation.</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Test Findings &amp; Interpretation</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b="1" dirty="0">
                <a:solidFill>
                  <a:srgbClr val="000000"/>
                </a:solidFill>
                <a:latin typeface="Times New Roman" pitchFamily="18" charset="0"/>
                <a:cs typeface="Times New Roman" pitchFamily="18" charset="0"/>
              </a:rPr>
              <a:t>BAI = 36: </a:t>
            </a:r>
            <a:r>
              <a:rPr lang="en-US" sz="1400" dirty="0">
                <a:solidFill>
                  <a:srgbClr val="000000"/>
                </a:solidFill>
                <a:latin typeface="Times New Roman" pitchFamily="18" charset="0"/>
                <a:cs typeface="Times New Roman" pitchFamily="18" charset="0"/>
              </a:rPr>
              <a:t>Severe anxiety — consistent with restlessness, tremors, palpitations, breathlessness, numbness.</a:t>
            </a:r>
          </a:p>
          <a:p>
            <a:pPr lvl="0">
              <a:spcAft>
                <a:spcPts val="600"/>
              </a:spcAft>
              <a:buNone/>
            </a:pPr>
            <a:r>
              <a:rPr lang="en-US" sz="1400" b="1" dirty="0">
                <a:solidFill>
                  <a:srgbClr val="000000"/>
                </a:solidFill>
                <a:latin typeface="Times New Roman" pitchFamily="18" charset="0"/>
                <a:cs typeface="Times New Roman" pitchFamily="18" charset="0"/>
              </a:rPr>
              <a:t>BDRS = 20: </a:t>
            </a:r>
            <a:r>
              <a:rPr lang="en-US" sz="1400" dirty="0">
                <a:solidFill>
                  <a:srgbClr val="000000"/>
                </a:solidFill>
                <a:latin typeface="Times New Roman" pitchFamily="18" charset="0"/>
                <a:cs typeface="Times New Roman" pitchFamily="18" charset="0"/>
              </a:rPr>
              <a:t>Moderate depression — reactive to chronic interpersonal stress; self-care preserved.</a:t>
            </a:r>
          </a:p>
          <a:p>
            <a:pPr lvl="0">
              <a:spcAft>
                <a:spcPts val="600"/>
              </a:spcAft>
              <a:buNone/>
            </a:pPr>
            <a:r>
              <a:rPr lang="en-US" sz="1400" b="1" dirty="0">
                <a:solidFill>
                  <a:srgbClr val="000000"/>
                </a:solidFill>
                <a:latin typeface="Times New Roman" pitchFamily="18" charset="0"/>
                <a:cs typeface="Times New Roman" pitchFamily="18" charset="0"/>
              </a:rPr>
              <a:t>BPRS = 22: </a:t>
            </a:r>
            <a:r>
              <a:rPr lang="en-US" sz="1400" dirty="0">
                <a:solidFill>
                  <a:srgbClr val="000000"/>
                </a:solidFill>
                <a:latin typeface="Times New Roman" pitchFamily="18" charset="0"/>
                <a:cs typeface="Times New Roman" pitchFamily="18" charset="0"/>
              </a:rPr>
              <a:t>Mild overall psychopathology — no strong evidence of a primary psychotic process.</a:t>
            </a:r>
          </a:p>
          <a:p>
            <a:pPr lvl="0">
              <a:spcAft>
                <a:spcPts val="600"/>
              </a:spcAft>
              <a:buNone/>
            </a:pPr>
            <a:r>
              <a:rPr lang="en-US" sz="1400" b="1" dirty="0">
                <a:solidFill>
                  <a:srgbClr val="000000"/>
                </a:solidFill>
                <a:latin typeface="Times New Roman" pitchFamily="18" charset="0"/>
                <a:cs typeface="Times New Roman" pitchFamily="18" charset="0"/>
              </a:rPr>
              <a:t>DES = 125: </a:t>
            </a:r>
            <a:r>
              <a:rPr lang="en-US" sz="1400" dirty="0">
                <a:solidFill>
                  <a:srgbClr val="000000"/>
                </a:solidFill>
                <a:latin typeface="Times New Roman" pitchFamily="18" charset="0"/>
                <a:cs typeface="Times New Roman" pitchFamily="18" charset="0"/>
              </a:rPr>
              <a:t>Markedly elevated — clinically significant, pervasive dissociation supporting the primacy of dissociation.</a:t>
            </a:r>
          </a:p>
          <a:p>
            <a:pPr lvl="0">
              <a:spcAft>
                <a:spcPts val="600"/>
              </a:spcAft>
              <a:buNone/>
            </a:pPr>
            <a:r>
              <a:rPr lang="en-US" sz="1400" dirty="0">
                <a:solidFill>
                  <a:srgbClr val="000000"/>
                </a:solidFill>
                <a:latin typeface="Times New Roman" pitchFamily="18" charset="0"/>
                <a:cs typeface="Times New Roman" pitchFamily="18" charset="0"/>
              </a:rPr>
              <a:t>Brief summary: The profile shows severe anxiety and moderate reactive depression against a background of marked dissociation, with low psychotic-spectrum loading — supporting a dissociative (trance-possession) picture rather than a primary psychotic or mood disorder. (Note: DES conventionally reported as a 0–100 mean; raw total recorded transparently for supervision.)</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TAT — Overall Impression</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dirty="0">
                <a:solidFill>
                  <a:srgbClr val="000000"/>
                </a:solidFill>
                <a:latin typeface="Times New Roman" pitchFamily="18" charset="0"/>
                <a:cs typeface="Times New Roman" pitchFamily="18" charset="0"/>
              </a:rPr>
              <a:t>The subject comprehended the task well and produced coherent, meaningful stories, indicating adequate intellectual functioning. The dominant pattern is of an emotionally sensitive woman who longs for closeness, security, and validation, yet suppresses her needs and complies with others. A strong pull toward affiliation and being cared for coexists with an inability to express anger or assert herself — creating tension between wanting to be heard and feeling burdened and silenced.</a:t>
            </a:r>
          </a:p>
          <a:p>
            <a:pPr lvl="0">
              <a:spcAft>
                <a:spcPts val="600"/>
              </a:spcAft>
              <a:buNone/>
            </a:pPr>
            <a:r>
              <a:rPr lang="en-US" sz="1400" dirty="0">
                <a:solidFill>
                  <a:srgbClr val="000000"/>
                </a:solidFill>
                <a:latin typeface="Times New Roman" pitchFamily="18" charset="0"/>
                <a:cs typeface="Times New Roman" pitchFamily="18" charset="0"/>
              </a:rPr>
              <a:t>The world is seen in a divided way: family and nurturing settings are idealised as safe, while the marital/interpersonal world is experienced as demanding, dismissive, and betraying. Coping relies on compliance, emotional suppression, self-blame, and a wish to be rescued. Reality testing and ego strength are adequate, with vulnerability in emotionally charged interpersonal situations.</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TAT — Thematic Analysis (1/2)</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Main theme: </a:t>
            </a:r>
            <a:r>
              <a:rPr lang="en-US" sz="1400" dirty="0">
                <a:solidFill>
                  <a:srgbClr val="000000"/>
                </a:solidFill>
                <a:latin typeface="Times New Roman" pitchFamily="18" charset="0"/>
                <a:cs typeface="Times New Roman" pitchFamily="18" charset="0"/>
              </a:rPr>
              <a:t>Seeking approval and connection; overcoming adversity through togetherness; coping with betrayal, unfairness, and being disbelieved.</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Main hero: </a:t>
            </a:r>
            <a:r>
              <a:rPr lang="en-US" sz="1400" dirty="0">
                <a:solidFill>
                  <a:srgbClr val="000000"/>
                </a:solidFill>
                <a:latin typeface="Times New Roman" pitchFamily="18" charset="0"/>
                <a:cs typeface="Times New Roman" pitchFamily="18" charset="0"/>
              </a:rPr>
              <a:t>Usually an emotionally sensitive, dutiful female resembling the subject; split between nurturing guide and hurt victim; grievances projected onto other characters.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Needs &amp; drives: </a:t>
            </a:r>
            <a:r>
              <a:rPr lang="en-US" sz="1400" dirty="0">
                <a:solidFill>
                  <a:srgbClr val="000000"/>
                </a:solidFill>
                <a:latin typeface="Times New Roman" pitchFamily="18" charset="0"/>
                <a:cs typeface="Times New Roman" pitchFamily="18" charset="0"/>
              </a:rPr>
              <a:t>Strongest: Affiliation and Nurturance; prominent Succorance (wish to be helped/rescued); Achievement/Counteraction in socially prescribed form; over-controlled Aggression.</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Conception of environment: </a:t>
            </a:r>
            <a:r>
              <a:rPr lang="en-US" sz="1400" dirty="0">
                <a:solidFill>
                  <a:srgbClr val="000000"/>
                </a:solidFill>
                <a:latin typeface="Times New Roman" pitchFamily="18" charset="0"/>
                <a:cs typeface="Times New Roman" pitchFamily="18" charset="0"/>
              </a:rPr>
              <a:t>Black-and-white — family/nature safe and restorative; marital/interpersonal world unfair, rejecting, betraying; at times empty and threatening.</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TAT — Thematic Analysis (2/2)</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Significant conflicts: </a:t>
            </a:r>
            <a:r>
              <a:rPr lang="en-US" sz="1400" dirty="0">
                <a:solidFill>
                  <a:srgbClr val="000000"/>
                </a:solidFill>
                <a:latin typeface="Times New Roman" pitchFamily="18" charset="0"/>
                <a:cs typeface="Times New Roman" pitchFamily="18" charset="0"/>
              </a:rPr>
              <a:t>Longing for closeness vs. fear of abandonment; anger vs. compliance; being believed vs. being dismissed; fidelity vs. betrayal; desire vs. discipline.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Nature of anxieties: </a:t>
            </a:r>
            <a:r>
              <a:rPr lang="en-US" sz="1400" dirty="0">
                <a:solidFill>
                  <a:srgbClr val="000000"/>
                </a:solidFill>
                <a:latin typeface="Times New Roman" pitchFamily="18" charset="0"/>
                <a:cs typeface="Times New Roman" pitchFamily="18" charset="0"/>
              </a:rPr>
              <a:t>Fear of betrayal and abandonment; of being disbelieved and unheard; of loneliness and an unsafe world; of unfair burdening.</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Main defences: </a:t>
            </a:r>
            <a:r>
              <a:rPr lang="en-US" sz="1400" dirty="0">
                <a:solidFill>
                  <a:srgbClr val="000000"/>
                </a:solidFill>
                <a:latin typeface="Times New Roman" pitchFamily="18" charset="0"/>
                <a:cs typeface="Times New Roman" pitchFamily="18" charset="0"/>
              </a:rPr>
              <a:t>Predominantly passive and inhibiting — suppression of anger, compliance, idealisation of an intact family, projection of blame, fantasy of rescue, and escalation of distress to elicit care.</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Diagnostic Formulation</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dirty="0">
                <a:solidFill>
                  <a:srgbClr val="000000"/>
                </a:solidFill>
                <a:latin typeface="Times New Roman" pitchFamily="18" charset="0"/>
                <a:cs typeface="Times New Roman" pitchFamily="18" charset="0"/>
              </a:rPr>
              <a:t>Index patient MS, a 30-year-old married female, educated up to 8th grade, presented with a dissociative picture: conviction of being “taken away” by spirits, with anger outbursts, trembling, deepened voice, palpitations, breathlessness, dizziness, derealisation, numbness, inability to relax, initial insomnia, and appetite disturbance.</a:t>
            </a:r>
          </a:p>
          <a:p>
            <a:pPr lvl="0">
              <a:spcAft>
                <a:spcPts val="600"/>
              </a:spcAft>
              <a:buNone/>
            </a:pPr>
            <a:r>
              <a:rPr lang="en-US" sz="1400" dirty="0">
                <a:solidFill>
                  <a:srgbClr val="000000"/>
                </a:solidFill>
                <a:latin typeface="Times New Roman" pitchFamily="18" charset="0"/>
                <a:cs typeface="Times New Roman" pitchFamily="18" charset="0"/>
              </a:rPr>
              <a:t>Episodes are unwanted, involuntary, and involve a change in identity attributed to spirits. There is a convincing temporal association between onset and psychosocial stressors (in-law conflict, non-consensual marriage, spousal neglect, faith-healer reinforcement). There is no organic basis (normal CT/MRI/profiling), no substance cause, and low BPRS with markedly elevated DES — arguing against a primary psychotic disorder.</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Provisional Diagnosis &amp; Points in Favour</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Provisional Diagnosis</a:t>
            </a:r>
          </a:p>
          <a:p>
            <a:pPr lvl="0">
              <a:spcAft>
                <a:spcPts val="300"/>
              </a:spcAft>
              <a:buNone/>
            </a:pPr>
            <a:r>
              <a:rPr lang="en-US" sz="2000" b="1" dirty="0">
                <a:solidFill>
                  <a:srgbClr val="000000"/>
                </a:solidFill>
                <a:latin typeface="Times New Roman" pitchFamily="18" charset="0"/>
                <a:cs typeface="Times New Roman" pitchFamily="18" charset="0"/>
              </a:rPr>
              <a:t>Trance and Possession Disorder — ICD-10 F44.3</a:t>
            </a:r>
          </a:p>
          <a:p>
            <a:pPr lvl="0">
              <a:spcAft>
                <a:spcPts val="600"/>
              </a:spcAft>
              <a:buNone/>
            </a:pPr>
            <a:r>
              <a:rPr lang="en-US" sz="1400" dirty="0">
                <a:solidFill>
                  <a:srgbClr val="000000"/>
                </a:solidFill>
                <a:latin typeface="Times New Roman" pitchFamily="18" charset="0"/>
                <a:cs typeface="Times New Roman" pitchFamily="18" charset="0"/>
              </a:rPr>
              <a:t>With severe secondary anxiety (BAI 36) and moderate reactive depression (BDRS 20).</a:t>
            </a:r>
          </a:p>
          <a:p>
            <a:pPr lvl="0">
              <a:spcAft>
                <a:spcPts val="300"/>
              </a:spcAft>
              <a:buNone/>
            </a:pPr>
            <a:r>
              <a:rPr lang="en-US" sz="2000" b="1" dirty="0">
                <a:solidFill>
                  <a:srgbClr val="000000"/>
                </a:solidFill>
                <a:latin typeface="Times New Roman" pitchFamily="18" charset="0"/>
                <a:cs typeface="Times New Roman" pitchFamily="18" charset="0"/>
              </a:rPr>
              <a:t>Points in Favour</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Insidious onset, episodic deteriorating course, temporally linked to stressors.</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Transient identity alteration attributed to spirits; involuntary loss of control of voice/body.</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No organic correlate; no primary psychosis (low BPRS); markedly elevated DES (125).</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Culturally embedded onset via faith-healing; clear secondary gains; symptom-free at new residence.</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Differential Diagnoses Considered</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Primary psychotic disorder: </a:t>
            </a:r>
            <a:r>
              <a:rPr lang="en-US" sz="1400" dirty="0">
                <a:solidFill>
                  <a:srgbClr val="000000"/>
                </a:solidFill>
                <a:latin typeface="Times New Roman" pitchFamily="18" charset="0"/>
                <a:cs typeface="Times New Roman" pitchFamily="18" charset="0"/>
              </a:rPr>
              <a:t>argued against by low BPRS, absence of first-rank symptoms/true hallucinations, and culturally patterned, dissociative-form symptoms.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Organic / neurological disorder: </a:t>
            </a:r>
            <a:r>
              <a:rPr lang="en-US" sz="1400" dirty="0">
                <a:solidFill>
                  <a:srgbClr val="000000"/>
                </a:solidFill>
                <a:latin typeface="Times New Roman" pitchFamily="18" charset="0"/>
                <a:cs typeface="Times New Roman" pitchFamily="18" charset="0"/>
              </a:rPr>
              <a:t>excluded by normal CT, MRI, and medical profiling.</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Substance-related disorder: </a:t>
            </a:r>
            <a:r>
              <a:rPr lang="en-US" sz="1400" dirty="0">
                <a:solidFill>
                  <a:srgbClr val="000000"/>
                </a:solidFill>
                <a:latin typeface="Times New Roman" pitchFamily="18" charset="0"/>
                <a:cs typeface="Times New Roman" pitchFamily="18" charset="0"/>
              </a:rPr>
              <a:t>excluded by a nil substance-use history.</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Primary mood disorder: </a:t>
            </a:r>
            <a:r>
              <a:rPr lang="en-US" sz="1400" dirty="0">
                <a:solidFill>
                  <a:srgbClr val="000000"/>
                </a:solidFill>
                <a:latin typeface="Times New Roman" pitchFamily="18" charset="0"/>
                <a:cs typeface="Times New Roman" pitchFamily="18" charset="0"/>
              </a:rPr>
              <a:t>argued against by the absence of an independent, pervasive mood syndrome; depressive features appear reactive.</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Case Conceptualisation (4-P Model)</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Predisposing: </a:t>
            </a:r>
            <a:r>
              <a:rPr lang="en-US" sz="1400" dirty="0">
                <a:solidFill>
                  <a:srgbClr val="000000"/>
                </a:solidFill>
                <a:latin typeface="Times New Roman" pitchFamily="18" charset="0"/>
                <a:cs typeface="Times New Roman" pitchFamily="18" charset="0"/>
              </a:rPr>
              <a:t>Strict, controlling upbringing; suppression of autonomy; self-critical, emotion-inhibited style; non-consensual marriage; high fantasy proneness; strong religiosity; low status in marital family.</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Precipitating: </a:t>
            </a:r>
            <a:r>
              <a:rPr lang="en-US" sz="1400" dirty="0">
                <a:solidFill>
                  <a:srgbClr val="000000"/>
                </a:solidFill>
                <a:latin typeface="Times New Roman" pitchFamily="18" charset="0"/>
                <a:cs typeface="Times New Roman" pitchFamily="18" charset="0"/>
              </a:rPr>
              <a:t>Ongoing in-law conflict and perceived favouritism; spousal emotional neglect; faith-healer “possession” model; triggering Ujjain trip.</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Perpetuating: </a:t>
            </a:r>
            <a:r>
              <a:rPr lang="en-US" sz="1400" dirty="0">
                <a:solidFill>
                  <a:srgbClr val="000000"/>
                </a:solidFill>
                <a:latin typeface="Times New Roman" pitchFamily="18" charset="0"/>
                <a:cs typeface="Times New Roman" pitchFamily="18" charset="0"/>
              </a:rPr>
              <a:t>Secondary gains (spousal attention; withdrawal from conflict); family/healer framework validating symptoms; anxiety–arousal–dissociation cycle; relief on relocation reinforcing avoidance.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Protective: </a:t>
            </a:r>
            <a:r>
              <a:rPr lang="en-US" sz="1400" dirty="0">
                <a:solidFill>
                  <a:srgbClr val="000000"/>
                </a:solidFill>
                <a:latin typeface="Times New Roman" pitchFamily="18" charset="0"/>
                <a:cs typeface="Times New Roman" pitchFamily="18" charset="0"/>
              </a:rPr>
              <a:t>Adequate ego strength and intelligence; preserved self-care/childcare; supportive husband; open communication; strong nurturant capacity; symptom-free periods; no substance use/suicidality.</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Working Mechanism (Formulation Summary)</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dirty="0">
                <a:solidFill>
                  <a:srgbClr val="000000"/>
                </a:solidFill>
                <a:latin typeface="Times New Roman" pitchFamily="18" charset="0"/>
                <a:cs typeface="Times New Roman" pitchFamily="18" charset="0"/>
              </a:rPr>
              <a:t>In a woman for whom direct expression of anger and distress is neither permitted nor validated, chronic interpersonal stress and emotional inhibition generate high autonomic arousal (severe anxiety) and low mood.</a:t>
            </a:r>
          </a:p>
          <a:p>
            <a:pPr lvl="0">
              <a:spcAft>
                <a:spcPts val="600"/>
              </a:spcAft>
              <a:buNone/>
            </a:pPr>
            <a:r>
              <a:rPr lang="en-US" sz="1400" dirty="0">
                <a:solidFill>
                  <a:srgbClr val="000000"/>
                </a:solidFill>
                <a:latin typeface="Times New Roman" pitchFamily="18" charset="0"/>
                <a:cs typeface="Times New Roman" pitchFamily="18" charset="0"/>
              </a:rPr>
              <a:t>Distress that cannot be expressed or “heard” is channelled, through a culturally available idiom, into dissociative / trance-possession episodes.</a:t>
            </a:r>
          </a:p>
          <a:p>
            <a:pPr lvl="0">
              <a:spcAft>
                <a:spcPts val="600"/>
              </a:spcAft>
              <a:buNone/>
            </a:pPr>
            <a:r>
              <a:rPr lang="en-US" sz="1400" dirty="0">
                <a:solidFill>
                  <a:srgbClr val="000000"/>
                </a:solidFill>
                <a:latin typeface="Times New Roman" pitchFamily="18" charset="0"/>
                <a:cs typeface="Times New Roman" pitchFamily="18" charset="0"/>
              </a:rPr>
              <a:t>These episodes communicate distress, discharge over-controlled affect, elicit care, and legitimise withdrawal from conflict — and are thereby negatively and positively reinforced, so they recur.</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Rationale for Therapy</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Phase-Oriented, CBT-Informed Integrative &amp; Culturally Sensitive Therapy</a:t>
            </a:r>
          </a:p>
          <a:p>
            <a:pPr lvl="0">
              <a:spcAft>
                <a:spcPts val="600"/>
              </a:spcAft>
              <a:buNone/>
            </a:pPr>
            <a:r>
              <a:rPr lang="en-US" sz="1400" dirty="0">
                <a:solidFill>
                  <a:srgbClr val="000000"/>
                </a:solidFill>
                <a:latin typeface="Times New Roman" pitchFamily="18" charset="0"/>
                <a:cs typeface="Times New Roman" pitchFamily="18" charset="0"/>
              </a:rPr>
              <a:t>Psychotherapy is the cornerstone of treatment for dissociative disorders; the evidence base supports a phased approach (stabilisation → processing → integration), with grounding and affect-regulation before any exploratory work, and explicit cultural formulation in the Indian context. (Content rephrased from Indian J. Psychiatry review of psychological interventions for dissociative disorders, 2020, and phase-oriented treatment literature.)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Why appropriate here: </a:t>
            </a:r>
            <a:r>
              <a:rPr lang="en-US" sz="1400" dirty="0">
                <a:solidFill>
                  <a:srgbClr val="000000"/>
                </a:solidFill>
                <a:latin typeface="Times New Roman" pitchFamily="18" charset="0"/>
                <a:cs typeface="Times New Roman" pitchFamily="18" charset="0"/>
              </a:rPr>
              <a:t>the patient shows dissociative episodes driven by severe anxiety, suppressed anger, self-blame, and interpersonal stress within a possession framework — all directly addressable by grounding, arousal reduction, cognitive restructuring, assertiveness, and family/systemic work.</a:t>
            </a:r>
          </a:p>
          <a:p>
            <a:pPr lvl="0">
              <a:spcAft>
                <a:spcPts val="600"/>
              </a:spcAft>
              <a:buNone/>
            </a:pPr>
            <a:r>
              <a:rPr lang="en-US" sz="1400" dirty="0">
                <a:solidFill>
                  <a:srgbClr val="000000"/>
                </a:solidFill>
                <a:latin typeface="Times New Roman" pitchFamily="18" charset="0"/>
                <a:cs typeface="Times New Roman" pitchFamily="18" charset="0"/>
              </a:rPr>
              <a:t>A respectful bridge from her “stress/spirit” model to a mind–body model, rather than direct confrontation of beliefs, is used.</a:t>
            </a: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Goals of Therapy</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Short-Term Goals</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Establish rapport, safety, and a collaborative, non-stigmatising formulation.</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Psychoeducation on the stress–body–dissociation link (bridging from her model).</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Reduce acute anxiety/arousal; stabilise sleep; teach grounding for early episode signs.</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Begin an episode/emotion diary linking episodes to interpersonal triggers.</a:t>
            </a:r>
          </a:p>
          <a:p>
            <a:pPr lvl="0">
              <a:spcAft>
                <a:spcPts val="300"/>
              </a:spcAft>
              <a:buNone/>
            </a:pPr>
            <a:r>
              <a:rPr lang="en-US" sz="2000" b="1" dirty="0">
                <a:solidFill>
                  <a:srgbClr val="000000"/>
                </a:solidFill>
                <a:latin typeface="Times New Roman" pitchFamily="18" charset="0"/>
                <a:cs typeface="Times New Roman" pitchFamily="18" charset="0"/>
              </a:rPr>
              <a:t>Long-Term Goals</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Build adaptive emotional expression and assertiveness (esp. anger and needs).</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Restructure self-blame, invalidation, and rigid role beliefs.</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Improve interpersonal boundaries; involve family to reduce symptom reinforcement.</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Relapse prevention and graded re-engagement with avoided situations.</a:t>
            </a: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Therapy Planning — Overview</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1. Engagement &amp; psychoeducation: </a:t>
            </a:r>
            <a:r>
              <a:rPr lang="en-US" sz="1400" dirty="0">
                <a:solidFill>
                  <a:srgbClr val="000000"/>
                </a:solidFill>
                <a:latin typeface="Times New Roman" pitchFamily="18" charset="0"/>
                <a:cs typeface="Times New Roman" pitchFamily="18" charset="0"/>
              </a:rPr>
              <a:t>collaborative formulation; validate distress; introduce stress–body–dissociation link.</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2. Arousal reduction &amp; stabilisation: </a:t>
            </a:r>
            <a:r>
              <a:rPr lang="en-US" sz="1400" dirty="0">
                <a:solidFill>
                  <a:srgbClr val="000000"/>
                </a:solidFill>
                <a:latin typeface="Times New Roman" pitchFamily="18" charset="0"/>
                <a:cs typeface="Times New Roman" pitchFamily="18" charset="0"/>
              </a:rPr>
              <a:t>diaphragmatic breathing, PMR, sleep hygiene; grounding (5-4-3-2-1).</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3. Self-monitoring: </a:t>
            </a:r>
            <a:r>
              <a:rPr lang="en-US" sz="1400" dirty="0">
                <a:solidFill>
                  <a:srgbClr val="000000"/>
                </a:solidFill>
                <a:latin typeface="Times New Roman" pitchFamily="18" charset="0"/>
                <a:cs typeface="Times New Roman" pitchFamily="18" charset="0"/>
              </a:rPr>
              <a:t>diary of episodes, triggers, emotions, and consequences.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4. Cognitive work: </a:t>
            </a:r>
            <a:r>
              <a:rPr lang="en-US" sz="1400" dirty="0">
                <a:solidFill>
                  <a:srgbClr val="000000"/>
                </a:solidFill>
                <a:latin typeface="Times New Roman" pitchFamily="18" charset="0"/>
                <a:cs typeface="Times New Roman" pitchFamily="18" charset="0"/>
              </a:rPr>
              <a:t>restructure self-blame, invalidation, and rigid role beliefs.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5. Affect regulation &amp; assertiveness: </a:t>
            </a:r>
            <a:r>
              <a:rPr lang="en-US" sz="1400" dirty="0">
                <a:solidFill>
                  <a:srgbClr val="000000"/>
                </a:solidFill>
                <a:latin typeface="Times New Roman" pitchFamily="18" charset="0"/>
                <a:cs typeface="Times New Roman" pitchFamily="18" charset="0"/>
              </a:rPr>
              <a:t>safe expression of anger/needs; graded assertiveness.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6. Systemic / family sessions: </a:t>
            </a:r>
            <a:r>
              <a:rPr lang="en-US" sz="1400" dirty="0">
                <a:solidFill>
                  <a:srgbClr val="000000"/>
                </a:solidFill>
                <a:latin typeface="Times New Roman" pitchFamily="18" charset="0"/>
                <a:cs typeface="Times New Roman" pitchFamily="18" charset="0"/>
              </a:rPr>
              <a:t>psychoeducation; reduce reinforcement; renegotiate roles.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7. Graded exposure: </a:t>
            </a:r>
            <a:r>
              <a:rPr lang="en-US" sz="1400" dirty="0">
                <a:solidFill>
                  <a:srgbClr val="000000"/>
                </a:solidFill>
                <a:latin typeface="Times New Roman" pitchFamily="18" charset="0"/>
                <a:cs typeface="Times New Roman" pitchFamily="18" charset="0"/>
              </a:rPr>
              <a:t>to avoided cues (e.g., the first house) once coping is robust.</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8. Relapse prevention: </a:t>
            </a:r>
            <a:r>
              <a:rPr lang="en-US" sz="1400" dirty="0">
                <a:solidFill>
                  <a:srgbClr val="000000"/>
                </a:solidFill>
                <a:latin typeface="Times New Roman" pitchFamily="18" charset="0"/>
                <a:cs typeface="Times New Roman" pitchFamily="18" charset="0"/>
              </a:rPr>
              <a:t>consolidate skills; coordinate with psychiatry as needed.</a:t>
            </a: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Sessions Done — Session 1</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Assessment, Rapport &amp; Psychoeducation</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Goals: </a:t>
            </a:r>
            <a:r>
              <a:rPr lang="en-US" sz="1400" dirty="0">
                <a:solidFill>
                  <a:srgbClr val="000000"/>
                </a:solidFill>
                <a:latin typeface="Times New Roman" pitchFamily="18" charset="0"/>
                <a:cs typeface="Times New Roman" pitchFamily="18" charset="0"/>
              </a:rPr>
              <a:t>build rapport; complete history; explain plan and confidentiality; introduce stress–body–mind link.</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Intervention: </a:t>
            </a:r>
            <a:r>
              <a:rPr lang="en-US" sz="1400" dirty="0">
                <a:solidFill>
                  <a:srgbClr val="000000"/>
                </a:solidFill>
                <a:latin typeface="Times New Roman" pitchFamily="18" charset="0"/>
                <a:cs typeface="Times New Roman" pitchFamily="18" charset="0"/>
              </a:rPr>
              <a:t>encouraged the patient to describe her experiences in her own words; validated and normalised her distress; explained the therapeutic frame; respectfully introduced the idea that stress can affect the body without dismissing her beliefs.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Outcome: </a:t>
            </a:r>
            <a:r>
              <a:rPr lang="en-US" sz="1400" dirty="0">
                <a:solidFill>
                  <a:srgbClr val="000000"/>
                </a:solidFill>
                <a:latin typeface="Times New Roman" pitchFamily="18" charset="0"/>
                <a:cs typeface="Times New Roman" pitchFamily="18" charset="0"/>
              </a:rPr>
              <a:t>cooperative; rapport established with some difficulty; no acute risk.</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Homework: </a:t>
            </a:r>
            <a:r>
              <a:rPr lang="en-US" sz="1400" dirty="0">
                <a:solidFill>
                  <a:srgbClr val="000000"/>
                </a:solidFill>
                <a:latin typeface="Times New Roman" pitchFamily="18" charset="0"/>
                <a:cs typeface="Times New Roman" pitchFamily="18" charset="0"/>
              </a:rPr>
              <a:t>begin an episode/emotion diary; husband advised to observe episodes neutrally (not reinforce).</a:t>
            </a:r>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Sessions Done — Session 2</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Arousal Reduction &amp; Grounding</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Goals: </a:t>
            </a:r>
            <a:r>
              <a:rPr lang="en-US" sz="1400" dirty="0">
                <a:solidFill>
                  <a:srgbClr val="000000"/>
                </a:solidFill>
                <a:latin typeface="Times New Roman" pitchFamily="18" charset="0"/>
                <a:cs typeface="Times New Roman" pitchFamily="18" charset="0"/>
              </a:rPr>
              <a:t>reduce autonomic arousal; teach grounding; stabilise sleep.</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Intervention: </a:t>
            </a:r>
            <a:r>
              <a:rPr lang="en-US" sz="1400" dirty="0">
                <a:solidFill>
                  <a:srgbClr val="000000"/>
                </a:solidFill>
                <a:latin typeface="Times New Roman" pitchFamily="18" charset="0"/>
                <a:cs typeface="Times New Roman" pitchFamily="18" charset="0"/>
              </a:rPr>
              <a:t>reviewed the diary collaboratively — a clear link emerged between interpersonal upset and episodes; taught diaphragmatic breathing and progressive muscle relaxation; introduced 5-4-3-2-1 grounding for early episode signs; reviewed sleep hygiene.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Outcome: </a:t>
            </a:r>
            <a:r>
              <a:rPr lang="en-US" sz="1400" dirty="0">
                <a:solidFill>
                  <a:srgbClr val="000000"/>
                </a:solidFill>
                <a:latin typeface="Times New Roman" pitchFamily="18" charset="0"/>
                <a:cs typeface="Times New Roman" pitchFamily="18" charset="0"/>
              </a:rPr>
              <a:t>engaged; validated the trigger–emotion pattern; reported willingness to practise.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Homework: </a:t>
            </a:r>
            <a:r>
              <a:rPr lang="en-US" sz="1400" dirty="0">
                <a:solidFill>
                  <a:srgbClr val="000000"/>
                </a:solidFill>
                <a:latin typeface="Times New Roman" pitchFamily="18" charset="0"/>
                <a:cs typeface="Times New Roman" pitchFamily="18" charset="0"/>
              </a:rPr>
              <a:t>daily breathing/relaxation practice; continue the diary noting triggers and feelings.</a:t>
            </a:r>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Sessions Done — Session 3</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Linking Emotions, Cognitive Work &amp; Assertiveness (introduction)</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Goals: </a:t>
            </a:r>
            <a:r>
              <a:rPr lang="en-US" sz="1400" dirty="0">
                <a:solidFill>
                  <a:srgbClr val="000000"/>
                </a:solidFill>
                <a:latin typeface="Times New Roman" pitchFamily="18" charset="0"/>
                <a:cs typeface="Times New Roman" pitchFamily="18" charset="0"/>
              </a:rPr>
              <a:t>connect suppressed emotion to symptoms; begin restructuring self-blame; introduce assertiveness.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Intervention: </a:t>
            </a:r>
            <a:r>
              <a:rPr lang="en-US" sz="1400" dirty="0">
                <a:solidFill>
                  <a:srgbClr val="000000"/>
                </a:solidFill>
                <a:latin typeface="Times New Roman" pitchFamily="18" charset="0"/>
                <a:cs typeface="Times New Roman" pitchFamily="18" charset="0"/>
              </a:rPr>
              <a:t>reinforced grounding successes (one aborted episode); introduced emotion labelling and the idea that unexpressed feelings can emerge through the body; began gentle cognitive restructuring of self-blame; introduced the concept of expressing needs directly.</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Outcome: </a:t>
            </a:r>
            <a:r>
              <a:rPr lang="en-US" sz="1400" dirty="0">
                <a:solidFill>
                  <a:srgbClr val="000000"/>
                </a:solidFill>
                <a:latin typeface="Times New Roman" pitchFamily="18" charset="0"/>
                <a:cs typeface="Times New Roman" pitchFamily="18" charset="0"/>
              </a:rPr>
              <a:t>more open; able to name anger and hurt when guided; self-critical statements identified as targets.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Homework: </a:t>
            </a:r>
            <a:r>
              <a:rPr lang="en-US" sz="1400" dirty="0">
                <a:solidFill>
                  <a:srgbClr val="000000"/>
                </a:solidFill>
                <a:latin typeface="Times New Roman" pitchFamily="18" charset="0"/>
                <a:cs typeface="Times New Roman" pitchFamily="18" charset="0"/>
              </a:rPr>
              <a:t>continue skills; note one situation of direct expression of a feeling/need; plan a family/psychoeducation session next.</a:t>
            </a:r>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Further (Planned) Sessions</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600"/>
              </a:spcAft>
              <a:buNone/>
            </a:pPr>
            <a:r>
              <a:rPr lang="en-US" sz="1400" dirty="0">
                <a:solidFill>
                  <a:srgbClr val="000000"/>
                </a:solidFill>
                <a:latin typeface="Times New Roman" pitchFamily="18" charset="0"/>
                <a:cs typeface="Times New Roman" pitchFamily="18" charset="0"/>
              </a:rPr>
              <a:t>The patient has completed 3 sessions. Subsequent sessions are a tentative, proposed structure and may be modified by clinical progress, risk, and treatment response.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Sessions 4–5: </a:t>
            </a:r>
            <a:r>
              <a:rPr lang="en-US" sz="1400" dirty="0">
                <a:solidFill>
                  <a:srgbClr val="000000"/>
                </a:solidFill>
                <a:latin typeface="Times New Roman" pitchFamily="18" charset="0"/>
                <a:cs typeface="Times New Roman" pitchFamily="18" charset="0"/>
              </a:rPr>
              <a:t>cognitive restructuring of invalidation/role beliefs; structured assertiveness training and role-play (in-laws, husband).</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Session 6: </a:t>
            </a:r>
            <a:r>
              <a:rPr lang="en-US" sz="1400" dirty="0">
                <a:solidFill>
                  <a:srgbClr val="000000"/>
                </a:solidFill>
                <a:latin typeface="Times New Roman" pitchFamily="18" charset="0"/>
                <a:cs typeface="Times New Roman" pitchFamily="18" charset="0"/>
              </a:rPr>
              <a:t>family / couple session — psychoeducation for husband/family; reduce symptom reinforcement; renegotiate workload and roles.</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Sessions 7–8: </a:t>
            </a:r>
            <a:r>
              <a:rPr lang="en-US" sz="1400" dirty="0">
                <a:solidFill>
                  <a:srgbClr val="000000"/>
                </a:solidFill>
                <a:latin typeface="Times New Roman" pitchFamily="18" charset="0"/>
                <a:cs typeface="Times New Roman" pitchFamily="18" charset="0"/>
              </a:rPr>
              <a:t>graded behavioural experiments toward avoided cues (e.g., the first house).</a:t>
            </a:r>
          </a:p>
          <a:p>
            <a:pPr marL="285750" indent="-285750" lvl="0">
              <a:spcAft>
                <a:spcPts val="600"/>
              </a:spcAft>
              <a:buFont typeface="Arial" pitchFamily="34" charset="0"/>
              <a:buChar char="•"/>
            </a:pPr>
            <a:r>
              <a:rPr lang="en-US" sz="1400" b="1" dirty="0">
                <a:solidFill>
                  <a:srgbClr val="000000"/>
                </a:solidFill>
                <a:latin typeface="Times New Roman" pitchFamily="18" charset="0"/>
                <a:cs typeface="Times New Roman" pitchFamily="18" charset="0"/>
              </a:rPr>
              <a:t>Sessions 9–10: </a:t>
            </a:r>
            <a:r>
              <a:rPr lang="en-US" sz="1400" dirty="0">
                <a:solidFill>
                  <a:srgbClr val="000000"/>
                </a:solidFill>
                <a:latin typeface="Times New Roman" pitchFamily="18" charset="0"/>
                <a:cs typeface="Times New Roman" pitchFamily="18" charset="0"/>
              </a:rPr>
              <a:t>consolidation; relapse-prevention plan; repeat DES/BAI/BDRS; coordinate with psychiatry.</a:t>
            </a:r>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Prognosis &amp; Recommendations</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spcAft>
                <a:spcPts val="300"/>
              </a:spcAft>
              <a:buNone/>
            </a:pPr>
            <a:r>
              <a:rPr lang="en-US" sz="2000" b="1" dirty="0">
                <a:solidFill>
                  <a:srgbClr val="000000"/>
                </a:solidFill>
                <a:latin typeface="Times New Roman" pitchFamily="18" charset="0"/>
                <a:cs typeface="Times New Roman" pitchFamily="18" charset="0"/>
              </a:rPr>
              <a:t>Prognosis</a:t>
            </a:r>
          </a:p>
          <a:p>
            <a:pPr lvl="0">
              <a:spcAft>
                <a:spcPts val="600"/>
              </a:spcAft>
              <a:buNone/>
            </a:pPr>
            <a:r>
              <a:rPr lang="en-US" sz="1400" dirty="0">
                <a:solidFill>
                  <a:srgbClr val="000000"/>
                </a:solidFill>
                <a:latin typeface="Times New Roman" pitchFamily="18" charset="0"/>
                <a:cs typeface="Times New Roman" pitchFamily="18" charset="0"/>
              </a:rPr>
              <a:t>Guarded to favourable, given adequate ego strength, preserved functioning, symptom-free periods, and a supportive (if partially understanding) husband; maintained by modifiable secondary-gain and systemic factors.</a:t>
            </a:r>
          </a:p>
          <a:p>
            <a:pPr lvl="0">
              <a:spcAft>
                <a:spcPts val="300"/>
              </a:spcAft>
              <a:buNone/>
            </a:pPr>
            <a:r>
              <a:rPr lang="en-US" sz="2000" b="1" dirty="0">
                <a:solidFill>
                  <a:srgbClr val="000000"/>
                </a:solidFill>
                <a:latin typeface="Times New Roman" pitchFamily="18" charset="0"/>
                <a:cs typeface="Times New Roman" pitchFamily="18" charset="0"/>
              </a:rPr>
              <a:t>Recommendations</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Continue phase-oriented CBT-informed therapy with cultural sensitivity.</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Liaison with psychiatry for adjunctive pharmacotherapy for severe anxiety / depression if indicated.</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Active family involvement to reduce symptom reinforcement.</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Outcome monitoring with repeat DES / BAI / BDRS.</a:t>
            </a:r>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References (selected)</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Psychological Interventions for Dissociative Disorders. Indian Journal of Psychiatry, 2020;62(Suppl 2):S280–S289.</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Clinical Practice Guidelines for Assessment and Management of Dissociative Disorders (Indian context).</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Phase-oriented treatment of trauma-related dissociative disorders — systematic review (2025).</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Dissociative Disorders in India: Cultural Influence on Psychopathology and Treatment (2024).</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WHO ICD-10 Classification of Mental and Behavioural Disorders (F44.3).</a:t>
            </a:r>
          </a:p>
          <a:p>
            <a:pPr marL="285750" indent="-285750" lvl="0">
              <a:spcAft>
                <a:spcPts val="600"/>
              </a:spcAft>
              <a:buFont typeface="Arial" pitchFamily="34" charset="0"/>
              <a:buChar char="•"/>
            </a:pPr>
            <a:r>
              <a:rPr lang="en-US" sz="1400" dirty="0">
                <a:solidFill>
                  <a:srgbClr val="000000"/>
                </a:solidFill>
                <a:latin typeface="Times New Roman" pitchFamily="18" charset="0"/>
                <a:cs typeface="Times New Roman" pitchFamily="18" charset="0"/>
              </a:rPr>
              <a:t>Bellak, L. — The TAT, CAT and SAT in Clinical Use; Murray's Needs &amp; Presses framework.</a:t>
            </a:r>
          </a:p>
          <a:p>
            <a:pPr lvl="0">
              <a:spcAft>
                <a:spcPts val="600"/>
              </a:spcAft>
              <a:buNone/>
            </a:pPr>
            <a:r>
              <a:rPr lang="en-US" sz="1400" dirty="0">
                <a:solidFill>
                  <a:srgbClr val="000000"/>
                </a:solidFill>
                <a:latin typeface="Times New Roman" pitchFamily="18" charset="0"/>
                <a:cs typeface="Times New Roman" pitchFamily="18" charset="0"/>
              </a:rPr>
              <a:t>Content from web sources was rephrased for compliance with licensing restrictions.</a:t>
            </a:r>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iteBG"/>
          <p:cNvSpPr>
            <a:spLocks noGrp="1"/>
          </p:cNvSpPr>
          <p:nvPr/>
        </p:nvSpPr>
        <p:spPr>
          <a:xfrm>
            <a:off x="0" y="0"/>
            <a:ext cx="12192000" cy="6858000"/>
          </a:xfrm>
          <a:prstGeom prst="rect">
            <a:avLst/>
          </a:prstGeom>
          <a:solidFill>
            <a:srgbClr val="FFFFFF"/>
          </a:solidFill>
        </p:spPr>
        <p:txBody>
          <a:bodyPr wrap="square" anchor="t">
            <a:normAutofit/>
          </a:bodyPr>
          <a:lstStyle/>
        </p:txBody>
      </p:sp>
      <p:sp>
        <p:nvSpPr>
          <p:cNvPr id="10" name="Heading"/>
          <p:cNvSpPr>
            <a:spLocks noGrp="1"/>
          </p:cNvSpPr>
          <p:nvPr/>
        </p:nvSpPr>
        <p:spPr>
          <a:xfrm>
            <a:off x="610000" y="300000"/>
            <a:ext cx="10972000" cy="900000"/>
          </a:xfrm>
          <a:prstGeom prst="rect">
            <a:avLst/>
          </a:prstGeom>
          <a:noFill/>
        </p:spPr>
        <p:txBody>
          <a:bodyPr wrap="square" anchor="t">
            <a:normAutofit/>
          </a:bodyPr>
          <a:lstStyle/>
          <a:p>
            <a:pPr lvl="0" algn="l">
              <a:spcAft>
                <a:spcPts val="0"/>
              </a:spcAft>
              <a:buNone/>
            </a:pPr>
            <a:r>
              <a:rPr lang="en-US" sz="2800" b="1" u="sng" dirty="0">
                <a:solidFill>
                  <a:srgbClr val="000000"/>
                </a:solidFill>
                <a:latin typeface="Times New Roman" pitchFamily="18" charset="0"/>
                <a:cs typeface="Times New Roman" pitchFamily="18" charset="0"/>
              </a:rPr>
              <a:t>Thank You</a:t>
            </a:r>
          </a:p>
        </p:txBody>
      </p:sp>
      <p:sp>
        <p:nvSpPr>
          <p:cNvPr id="11" name="Body"/>
          <p:cNvSpPr>
            <a:spLocks noGrp="1"/>
          </p:cNvSpPr>
          <p:nvPr/>
        </p:nvSpPr>
        <p:spPr>
          <a:xfrm>
            <a:off x="610000" y="1250000"/>
            <a:ext cx="10972000" cy="5358000"/>
          </a:xfrm>
          <a:prstGeom prst="rect">
            <a:avLst/>
          </a:prstGeom>
          <a:noFill/>
        </p:spPr>
        <p:txBody>
          <a:bodyPr wrap="square" anchor="t">
            <a:normAutofit/>
          </a:bodyPr>
          <a:lstStyle/>
          <a:p>
            <a:pPr lvl="0" algn="ctr">
              <a:spcAft>
                <a:spcPts val="400"/>
              </a:spcAft>
              <a:buNone/>
            </a:pPr>
            <a:r>
              <a:rPr lang="en-US" sz="2800" b="1" u="sng" dirty="0">
                <a:solidFill>
                  <a:srgbClr val="000000"/>
                </a:solidFill>
                <a:latin typeface="Times New Roman" pitchFamily="18" charset="0"/>
                <a:cs typeface="Times New Roman" pitchFamily="18" charset="0"/>
              </a:rPr>
              <a:t>Thank You</a:t>
            </a:r>
          </a:p>
          <a:p>
            <a:pPr lvl="0" algn="ctr">
              <a:spcAft>
                <a:spcPts val="600"/>
              </a:spcAft>
              <a:buNone/>
            </a:pPr>
            <a:r>
              <a:rPr lang="en-US" sz="2000" b="1" dirty="0">
                <a:solidFill>
                  <a:srgbClr val="000000"/>
                </a:solidFill>
                <a:latin typeface="Times New Roman" pitchFamily="18" charset="0"/>
                <a:cs typeface="Times New Roman" pitchFamily="18" charset="0"/>
              </a:rPr>
              <a:t>Questions &amp; Discussion</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5126</TotalTime>
  <Words>5075</Words>
  <Application>Microsoft Office PowerPoint</Application>
  <PresentationFormat>Widescreen</PresentationFormat>
  <Paragraphs>455</Paragraphs>
  <Slides>58</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Calibri Light</vt:lpstr>
      <vt:lpstr>Times New Roman</vt:lpstr>
      <vt:lpstr>Office Theme</vt:lpstr>
      <vt:lpstr>Case Conference </vt:lpstr>
      <vt:lpstr>Demographic Details</vt:lpstr>
      <vt:lpstr>Demographic Details</vt:lpstr>
      <vt:lpstr>Chief Complaints </vt:lpstr>
      <vt:lpstr>HOPI</vt:lpstr>
      <vt:lpstr>HOPI</vt:lpstr>
      <vt:lpstr>History of Present Illness</vt:lpstr>
      <vt:lpstr>History of Present Illness</vt:lpstr>
      <vt:lpstr>History of Present Illness</vt:lpstr>
      <vt:lpstr>Biological Functioning </vt:lpstr>
      <vt:lpstr>Negative History</vt:lpstr>
      <vt:lpstr>Treatment History</vt:lpstr>
      <vt:lpstr>Family History</vt:lpstr>
      <vt:lpstr>Family History</vt:lpstr>
      <vt:lpstr>Personal History</vt:lpstr>
      <vt:lpstr>Personal History</vt:lpstr>
      <vt:lpstr>Personal History</vt:lpstr>
      <vt:lpstr>Premorbid Personality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Mental Status Examination (MSE) </vt:lpstr>
      <vt:lpstr>TESTS ADMINISTERED</vt:lpstr>
      <vt:lpstr>TESTS ADMINISTERED</vt:lpstr>
      <vt:lpstr>Overall Interpretation</vt:lpstr>
      <vt:lpstr>DIAGNOSTIC FORMULATION</vt:lpstr>
      <vt:lpstr>PROVISIONAL DIAGNOSIS </vt:lpstr>
      <vt:lpstr>PowerPoint Presentation</vt:lpstr>
      <vt:lpstr>Rationale for Therapy </vt:lpstr>
      <vt:lpstr>Goals for Therapy </vt:lpstr>
      <vt:lpstr>Goals for Therapy </vt:lpstr>
      <vt:lpstr>Initial Phase (Session 1-5) </vt:lpstr>
      <vt:lpstr>Initial Phase (Session 1-5)</vt:lpstr>
      <vt:lpstr>Initial Phase (Session 1-5)</vt:lpstr>
      <vt:lpstr>Initial Phase (Session 1-5)</vt:lpstr>
      <vt:lpstr>Initial Phase (Session 1-5)</vt:lpstr>
      <vt:lpstr>PowerPoint Presentation</vt:lpstr>
      <vt:lpstr>Note </vt:lpstr>
      <vt:lpstr>Middle Phase (Session 6-8)</vt:lpstr>
      <vt:lpstr>Middle Phase (Session 6-8)</vt:lpstr>
      <vt:lpstr>Middle Phase (Session 6-8)</vt:lpstr>
      <vt:lpstr>Middle Phase (Session 9-11)</vt:lpstr>
      <vt:lpstr>Middle Phase (Session 9-11)</vt:lpstr>
      <vt:lpstr>Middle Phase (Session 9-11)</vt:lpstr>
      <vt:lpstr>Middle Phase (Session 12-14)</vt:lpstr>
      <vt:lpstr>Middle Phase (Session 12-14)</vt:lpstr>
      <vt:lpstr>Middle Phase (Session 12-14)</vt:lpstr>
      <vt:lpstr>Termination Phase (Session 15-16)</vt:lpstr>
      <vt:lpstr>Termination Phase (Session 15-16)</vt:lpstr>
      <vt:lpstr>Termination Phase (Session 15-16)</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ANUJA VIKAS PATANKAR</dc:creator>
  <cp:lastModifiedBy>Anukruti Rohini</cp:lastModifiedBy>
  <cp:revision>68</cp:revision>
  <dcterms:created xsi:type="dcterms:W3CDTF">2025-09-08T02:56:16Z</dcterms:created>
  <dcterms:modified xsi:type="dcterms:W3CDTF">2026-08-30T09:40:02Z</dcterms:modified>
</cp:coreProperties>
</file>