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9"/>
  </p:notesMasterIdLst>
  <p:sldIdLst>
    <p:sldId id="257" r:id="rId2"/>
    <p:sldId id="259" r:id="rId3"/>
    <p:sldId id="339" r:id="rId4"/>
    <p:sldId id="262" r:id="rId5"/>
    <p:sldId id="439" r:id="rId6"/>
    <p:sldId id="260" r:id="rId7"/>
    <p:sldId id="296" r:id="rId8"/>
    <p:sldId id="387" r:id="rId9"/>
    <p:sldId id="342" r:id="rId10"/>
    <p:sldId id="344" r:id="rId11"/>
    <p:sldId id="340" r:id="rId12"/>
    <p:sldId id="345" r:id="rId13"/>
    <p:sldId id="451" r:id="rId14"/>
    <p:sldId id="443" r:id="rId15"/>
    <p:sldId id="444" r:id="rId16"/>
    <p:sldId id="445" r:id="rId17"/>
    <p:sldId id="441" r:id="rId18"/>
    <p:sldId id="446" r:id="rId19"/>
    <p:sldId id="457" r:id="rId20"/>
    <p:sldId id="362" r:id="rId21"/>
    <p:sldId id="413" r:id="rId22"/>
    <p:sldId id="449" r:id="rId23"/>
    <p:sldId id="361" r:id="rId24"/>
    <p:sldId id="365" r:id="rId25"/>
    <p:sldId id="436" r:id="rId26"/>
    <p:sldId id="414" r:id="rId27"/>
    <p:sldId id="273" r:id="rId28"/>
    <p:sldId id="454" r:id="rId29"/>
    <p:sldId id="453" r:id="rId30"/>
    <p:sldId id="432" r:id="rId31"/>
    <p:sldId id="403" r:id="rId32"/>
    <p:sldId id="455" r:id="rId33"/>
    <p:sldId id="364" r:id="rId34"/>
    <p:sldId id="395" r:id="rId35"/>
    <p:sldId id="458" r:id="rId36"/>
    <p:sldId id="459" r:id="rId37"/>
    <p:sldId id="404" r:id="rId38"/>
    <p:sldId id="467" r:id="rId39"/>
    <p:sldId id="466" r:id="rId40"/>
    <p:sldId id="377" r:id="rId41"/>
    <p:sldId id="461" r:id="rId42"/>
    <p:sldId id="460" r:id="rId43"/>
    <p:sldId id="375" r:id="rId44"/>
    <p:sldId id="376" r:id="rId45"/>
    <p:sldId id="462" r:id="rId46"/>
    <p:sldId id="463" r:id="rId47"/>
    <p:sldId id="397" r:id="rId48"/>
    <p:sldId id="465" r:id="rId49"/>
    <p:sldId id="479" r:id="rId50"/>
    <p:sldId id="371" r:id="rId51"/>
    <p:sldId id="434" r:id="rId52"/>
    <p:sldId id="368" r:id="rId53"/>
    <p:sldId id="379" r:id="rId54"/>
    <p:sldId id="410" r:id="rId55"/>
    <p:sldId id="437" r:id="rId56"/>
    <p:sldId id="469" r:id="rId57"/>
    <p:sldId id="470" r:id="rId58"/>
    <p:sldId id="471" r:id="rId59"/>
    <p:sldId id="472" r:id="rId60"/>
    <p:sldId id="402" r:id="rId61"/>
    <p:sldId id="475" r:id="rId62"/>
    <p:sldId id="476" r:id="rId63"/>
    <p:sldId id="474" r:id="rId64"/>
    <p:sldId id="425" r:id="rId65"/>
    <p:sldId id="382" r:id="rId66"/>
    <p:sldId id="448" r:id="rId67"/>
    <p:sldId id="381" r:id="rId68"/>
    <p:sldId id="477" r:id="rId69"/>
    <p:sldId id="394" r:id="rId70"/>
    <p:sldId id="478" r:id="rId71"/>
    <p:sldId id="482" r:id="rId72"/>
    <p:sldId id="480" r:id="rId73"/>
    <p:sldId id="481" r:id="rId74"/>
    <p:sldId id="483" r:id="rId75"/>
    <p:sldId id="484" r:id="rId76"/>
    <p:sldId id="406" r:id="rId77"/>
    <p:sldId id="486" r:id="rId78"/>
    <p:sldId id="270" r:id="rId79"/>
    <p:sldId id="369" r:id="rId80"/>
    <p:sldId id="370" r:id="rId81"/>
    <p:sldId id="488" r:id="rId82"/>
    <p:sldId id="285" r:id="rId83"/>
    <p:sldId id="485" r:id="rId84"/>
    <p:sldId id="407" r:id="rId85"/>
    <p:sldId id="291" r:id="rId86"/>
    <p:sldId id="292" r:id="rId87"/>
    <p:sldId id="431" r:id="rId8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084"/>
    <p:restoredTop sz="81354"/>
  </p:normalViewPr>
  <p:slideViewPr>
    <p:cSldViewPr snapToGrid="0" snapToObjects="1">
      <p:cViewPr varScale="1">
        <p:scale>
          <a:sx n="101" d="100"/>
          <a:sy n="101" d="100"/>
        </p:scale>
        <p:origin x="143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CC0731-BA04-614C-B8EB-0B2F94205F58}" type="doc">
      <dgm:prSet loTypeId="urn:microsoft.com/office/officeart/2008/layout/HorizontalMultiLevelHierarchy" loCatId="" qsTypeId="urn:microsoft.com/office/officeart/2005/8/quickstyle/simple1" qsCatId="simple" csTypeId="urn:microsoft.com/office/officeart/2005/8/colors/colorful3" csCatId="colorful" phldr="1"/>
      <dgm:spPr/>
      <dgm:t>
        <a:bodyPr/>
        <a:lstStyle/>
        <a:p>
          <a:endParaRPr lang="en-US"/>
        </a:p>
      </dgm:t>
    </dgm:pt>
    <dgm:pt modelId="{243C6B67-81C1-6340-BB1B-1D1CCA153F57}">
      <dgm:prSet phldrT="[Text]" custT="1"/>
      <dgm:spPr>
        <a:solidFill>
          <a:schemeClr val="accent2"/>
        </a:solidFill>
      </dgm:spPr>
      <dgm:t>
        <a:bodyPr/>
        <a:lstStyle/>
        <a:p>
          <a:r>
            <a:rPr lang="en-US" sz="4000" dirty="0"/>
            <a:t>FRONTAL LOBE</a:t>
          </a:r>
        </a:p>
      </dgm:t>
    </dgm:pt>
    <dgm:pt modelId="{F0518EC0-B08D-9F4A-B7B1-CAE21C42E4BE}" type="parTrans" cxnId="{4B338951-FD64-DF47-BB37-D2FD6CE4FDA1}">
      <dgm:prSet/>
      <dgm:spPr/>
      <dgm:t>
        <a:bodyPr/>
        <a:lstStyle/>
        <a:p>
          <a:endParaRPr lang="en-US"/>
        </a:p>
      </dgm:t>
    </dgm:pt>
    <dgm:pt modelId="{58636217-80CD-9F44-A56D-45730CD6710F}" type="sibTrans" cxnId="{4B338951-FD64-DF47-BB37-D2FD6CE4FDA1}">
      <dgm:prSet/>
      <dgm:spPr/>
      <dgm:t>
        <a:bodyPr/>
        <a:lstStyle/>
        <a:p>
          <a:endParaRPr lang="en-US"/>
        </a:p>
      </dgm:t>
    </dgm:pt>
    <dgm:pt modelId="{203CC558-1C06-F042-8B4C-8944EF2B5EDB}">
      <dgm:prSet phldrT="[Text]" custT="1"/>
      <dgm:spPr>
        <a:solidFill>
          <a:schemeClr val="accent1"/>
        </a:solidFill>
      </dgm:spPr>
      <dgm:t>
        <a:bodyPr/>
        <a:lstStyle/>
        <a:p>
          <a:r>
            <a:rPr lang="en-US" sz="2600" dirty="0"/>
            <a:t>MOTOR</a:t>
          </a:r>
        </a:p>
      </dgm:t>
    </dgm:pt>
    <dgm:pt modelId="{9C8AD87B-DAD0-1545-B1E1-370AE2BCF5F5}" type="parTrans" cxnId="{79C4A589-1A31-1045-A643-732E82FCD49A}">
      <dgm:prSet/>
      <dgm:spPr/>
      <dgm:t>
        <a:bodyPr/>
        <a:lstStyle/>
        <a:p>
          <a:endParaRPr lang="en-US"/>
        </a:p>
      </dgm:t>
    </dgm:pt>
    <dgm:pt modelId="{5F604880-E5EE-7A4F-96C5-FAD7AFD8C90A}" type="sibTrans" cxnId="{79C4A589-1A31-1045-A643-732E82FCD49A}">
      <dgm:prSet/>
      <dgm:spPr/>
      <dgm:t>
        <a:bodyPr/>
        <a:lstStyle/>
        <a:p>
          <a:endParaRPr lang="en-US"/>
        </a:p>
      </dgm:t>
    </dgm:pt>
    <dgm:pt modelId="{375E3AA1-041B-894C-944C-1DA5DDF6CE92}">
      <dgm:prSet phldrT="[Text]" custT="1"/>
      <dgm:spPr>
        <a:solidFill>
          <a:schemeClr val="accent1"/>
        </a:solidFill>
      </dgm:spPr>
      <dgm:t>
        <a:bodyPr/>
        <a:lstStyle/>
        <a:p>
          <a:r>
            <a:rPr lang="en-US" sz="2600" dirty="0"/>
            <a:t>SPEECH &amp; LANGUAGE</a:t>
          </a:r>
        </a:p>
      </dgm:t>
    </dgm:pt>
    <dgm:pt modelId="{154C981A-C5E7-0642-A5D8-D9CA0C35BE93}" type="parTrans" cxnId="{9B5C81EF-C9D1-4349-9540-774BF9850DC8}">
      <dgm:prSet/>
      <dgm:spPr/>
      <dgm:t>
        <a:bodyPr/>
        <a:lstStyle/>
        <a:p>
          <a:endParaRPr lang="en-US"/>
        </a:p>
      </dgm:t>
    </dgm:pt>
    <dgm:pt modelId="{8B5422D3-E293-6B43-A155-2C31B78D6C7E}" type="sibTrans" cxnId="{9B5C81EF-C9D1-4349-9540-774BF9850DC8}">
      <dgm:prSet/>
      <dgm:spPr/>
      <dgm:t>
        <a:bodyPr/>
        <a:lstStyle/>
        <a:p>
          <a:endParaRPr lang="en-US"/>
        </a:p>
      </dgm:t>
    </dgm:pt>
    <dgm:pt modelId="{FEACD93F-92B9-3F4F-A34C-CBE35C9DC390}">
      <dgm:prSet phldrT="[Text]" custT="1"/>
      <dgm:spPr>
        <a:solidFill>
          <a:schemeClr val="accent1"/>
        </a:solidFill>
      </dgm:spPr>
      <dgm:t>
        <a:bodyPr/>
        <a:lstStyle/>
        <a:p>
          <a:r>
            <a:rPr lang="en-US" sz="2600" dirty="0"/>
            <a:t>COGNITIVE </a:t>
          </a:r>
          <a:br>
            <a:rPr lang="en-US" sz="2600" dirty="0"/>
          </a:br>
          <a:r>
            <a:rPr lang="en-US" sz="2600" dirty="0"/>
            <a:t>&amp; EXECUTIVE FUNCTIONING</a:t>
          </a:r>
        </a:p>
      </dgm:t>
    </dgm:pt>
    <dgm:pt modelId="{BC60B9D6-1501-4B4D-99EE-3BFCE2B93D64}" type="parTrans" cxnId="{2630ACE4-80D1-F442-BEA9-513AE8160C90}">
      <dgm:prSet/>
      <dgm:spPr/>
      <dgm:t>
        <a:bodyPr/>
        <a:lstStyle/>
        <a:p>
          <a:endParaRPr lang="en-US"/>
        </a:p>
      </dgm:t>
    </dgm:pt>
    <dgm:pt modelId="{0E4A035A-522E-B84D-8D69-39BF7B3922B5}" type="sibTrans" cxnId="{2630ACE4-80D1-F442-BEA9-513AE8160C90}">
      <dgm:prSet/>
      <dgm:spPr/>
      <dgm:t>
        <a:bodyPr/>
        <a:lstStyle/>
        <a:p>
          <a:endParaRPr lang="en-US"/>
        </a:p>
      </dgm:t>
    </dgm:pt>
    <dgm:pt modelId="{B6CED2DD-3844-C849-8B68-0BCA60F5E353}">
      <dgm:prSet phldrT="[Text]" custT="1"/>
      <dgm:spPr>
        <a:solidFill>
          <a:schemeClr val="accent1"/>
        </a:solidFill>
      </dgm:spPr>
      <dgm:t>
        <a:bodyPr/>
        <a:lstStyle/>
        <a:p>
          <a:r>
            <a:rPr lang="en-US" sz="2600" dirty="0"/>
            <a:t>PERSONALITY </a:t>
          </a:r>
          <a:br>
            <a:rPr lang="en-US" sz="2600" dirty="0"/>
          </a:br>
          <a:r>
            <a:rPr lang="en-US" sz="2600" dirty="0"/>
            <a:t>&amp; BEHAVIOUR</a:t>
          </a:r>
        </a:p>
      </dgm:t>
    </dgm:pt>
    <dgm:pt modelId="{82EFB5DF-D35E-2240-9F57-B1B23F29CA50}" type="parTrans" cxnId="{8EF42CC4-C4B4-654C-998B-D031FD21BEFB}">
      <dgm:prSet/>
      <dgm:spPr/>
      <dgm:t>
        <a:bodyPr/>
        <a:lstStyle/>
        <a:p>
          <a:endParaRPr lang="en-US"/>
        </a:p>
      </dgm:t>
    </dgm:pt>
    <dgm:pt modelId="{DB577BA8-D700-0142-99B5-28AAEDFDFF9C}" type="sibTrans" cxnId="{8EF42CC4-C4B4-654C-998B-D031FD21BEFB}">
      <dgm:prSet/>
      <dgm:spPr/>
      <dgm:t>
        <a:bodyPr/>
        <a:lstStyle/>
        <a:p>
          <a:endParaRPr lang="en-US"/>
        </a:p>
      </dgm:t>
    </dgm:pt>
    <dgm:pt modelId="{73DB3562-01A3-A244-9591-B4CEF09129A1}">
      <dgm:prSet phldrT="[Text]" custT="1"/>
      <dgm:spPr>
        <a:solidFill>
          <a:schemeClr val="accent1"/>
        </a:solidFill>
      </dgm:spPr>
      <dgm:t>
        <a:bodyPr/>
        <a:lstStyle/>
        <a:p>
          <a:r>
            <a:rPr lang="en-US" sz="2600" dirty="0"/>
            <a:t>SENSORY-</a:t>
          </a:r>
          <a:br>
            <a:rPr lang="en-US" sz="2600" dirty="0"/>
          </a:br>
          <a:r>
            <a:rPr lang="en-US" sz="2600" dirty="0"/>
            <a:t>PERCEPTUAL JUDGEMENT</a:t>
          </a:r>
        </a:p>
      </dgm:t>
    </dgm:pt>
    <dgm:pt modelId="{A0CCAB34-E1C6-A742-971E-9BE713A11748}" type="parTrans" cxnId="{9B0DB6AD-7B8B-0B4C-825A-32BF652E2D4F}">
      <dgm:prSet/>
      <dgm:spPr/>
      <dgm:t>
        <a:bodyPr/>
        <a:lstStyle/>
        <a:p>
          <a:endParaRPr lang="en-US"/>
        </a:p>
      </dgm:t>
    </dgm:pt>
    <dgm:pt modelId="{9C44F0F2-AE2C-5B40-B386-2029A528BCC7}" type="sibTrans" cxnId="{9B0DB6AD-7B8B-0B4C-825A-32BF652E2D4F}">
      <dgm:prSet/>
      <dgm:spPr/>
      <dgm:t>
        <a:bodyPr/>
        <a:lstStyle/>
        <a:p>
          <a:endParaRPr lang="en-US"/>
        </a:p>
      </dgm:t>
    </dgm:pt>
    <dgm:pt modelId="{061A4355-E694-984A-9087-845F03E2AE76}" type="pres">
      <dgm:prSet presAssocID="{F0CC0731-BA04-614C-B8EB-0B2F94205F58}" presName="Name0" presStyleCnt="0">
        <dgm:presLayoutVars>
          <dgm:chPref val="1"/>
          <dgm:dir/>
          <dgm:animOne val="branch"/>
          <dgm:animLvl val="lvl"/>
          <dgm:resizeHandles val="exact"/>
        </dgm:presLayoutVars>
      </dgm:prSet>
      <dgm:spPr/>
    </dgm:pt>
    <dgm:pt modelId="{43C5FA87-D314-1E4B-957C-58CD87B66AF7}" type="pres">
      <dgm:prSet presAssocID="{243C6B67-81C1-6340-BB1B-1D1CCA153F57}" presName="root1" presStyleCnt="0"/>
      <dgm:spPr/>
    </dgm:pt>
    <dgm:pt modelId="{01138176-4A0A-9641-AAC4-DCC12EF51AB1}" type="pres">
      <dgm:prSet presAssocID="{243C6B67-81C1-6340-BB1B-1D1CCA153F57}" presName="LevelOneTextNode" presStyleLbl="node0" presStyleIdx="0" presStyleCnt="1">
        <dgm:presLayoutVars>
          <dgm:chPref val="3"/>
        </dgm:presLayoutVars>
      </dgm:prSet>
      <dgm:spPr/>
    </dgm:pt>
    <dgm:pt modelId="{BAC2C744-3D0D-D843-8D74-BD35B7C8BDF6}" type="pres">
      <dgm:prSet presAssocID="{243C6B67-81C1-6340-BB1B-1D1CCA153F57}" presName="level2hierChild" presStyleCnt="0"/>
      <dgm:spPr/>
    </dgm:pt>
    <dgm:pt modelId="{910458B1-7AE9-DC43-9B9B-AF7EF703A14F}" type="pres">
      <dgm:prSet presAssocID="{9C8AD87B-DAD0-1545-B1E1-370AE2BCF5F5}" presName="conn2-1" presStyleLbl="parChTrans1D2" presStyleIdx="0" presStyleCnt="5"/>
      <dgm:spPr/>
    </dgm:pt>
    <dgm:pt modelId="{83F5DD7E-AEC5-B34F-911F-1E2025570AEF}" type="pres">
      <dgm:prSet presAssocID="{9C8AD87B-DAD0-1545-B1E1-370AE2BCF5F5}" presName="connTx" presStyleLbl="parChTrans1D2" presStyleIdx="0" presStyleCnt="5"/>
      <dgm:spPr/>
    </dgm:pt>
    <dgm:pt modelId="{74DF22A9-E7D3-C24E-96DD-12AEDB4E0247}" type="pres">
      <dgm:prSet presAssocID="{203CC558-1C06-F042-8B4C-8944EF2B5EDB}" presName="root2" presStyleCnt="0"/>
      <dgm:spPr/>
    </dgm:pt>
    <dgm:pt modelId="{B16C6A68-274A-E041-A11D-076783421CEF}" type="pres">
      <dgm:prSet presAssocID="{203CC558-1C06-F042-8B4C-8944EF2B5EDB}" presName="LevelTwoTextNode" presStyleLbl="node2" presStyleIdx="0" presStyleCnt="5" custLinFactNeighborY="-1539">
        <dgm:presLayoutVars>
          <dgm:chPref val="3"/>
        </dgm:presLayoutVars>
      </dgm:prSet>
      <dgm:spPr/>
    </dgm:pt>
    <dgm:pt modelId="{C4207373-E038-CE4E-9435-805E97537929}" type="pres">
      <dgm:prSet presAssocID="{203CC558-1C06-F042-8B4C-8944EF2B5EDB}" presName="level3hierChild" presStyleCnt="0"/>
      <dgm:spPr/>
    </dgm:pt>
    <dgm:pt modelId="{62141315-9005-1B4B-A491-F2C47C9AF8D2}" type="pres">
      <dgm:prSet presAssocID="{154C981A-C5E7-0642-A5D8-D9CA0C35BE93}" presName="conn2-1" presStyleLbl="parChTrans1D2" presStyleIdx="1" presStyleCnt="5"/>
      <dgm:spPr/>
    </dgm:pt>
    <dgm:pt modelId="{D64BE809-776E-9E41-BF5B-D24762823987}" type="pres">
      <dgm:prSet presAssocID="{154C981A-C5E7-0642-A5D8-D9CA0C35BE93}" presName="connTx" presStyleLbl="parChTrans1D2" presStyleIdx="1" presStyleCnt="5"/>
      <dgm:spPr/>
    </dgm:pt>
    <dgm:pt modelId="{96C4E0E2-29E9-0D49-88A2-0A17E818826C}" type="pres">
      <dgm:prSet presAssocID="{375E3AA1-041B-894C-944C-1DA5DDF6CE92}" presName="root2" presStyleCnt="0"/>
      <dgm:spPr/>
    </dgm:pt>
    <dgm:pt modelId="{4061DBD8-5F33-2C4C-9C1B-785893A279B9}" type="pres">
      <dgm:prSet presAssocID="{375E3AA1-041B-894C-944C-1DA5DDF6CE92}" presName="LevelTwoTextNode" presStyleLbl="node2" presStyleIdx="1" presStyleCnt="5">
        <dgm:presLayoutVars>
          <dgm:chPref val="3"/>
        </dgm:presLayoutVars>
      </dgm:prSet>
      <dgm:spPr/>
    </dgm:pt>
    <dgm:pt modelId="{4942E066-2B3A-664D-B445-657CCB5E8623}" type="pres">
      <dgm:prSet presAssocID="{375E3AA1-041B-894C-944C-1DA5DDF6CE92}" presName="level3hierChild" presStyleCnt="0"/>
      <dgm:spPr/>
    </dgm:pt>
    <dgm:pt modelId="{3E334741-A7A0-7843-B2FC-3D3DA75ED2AC}" type="pres">
      <dgm:prSet presAssocID="{BC60B9D6-1501-4B4D-99EE-3BFCE2B93D64}" presName="conn2-1" presStyleLbl="parChTrans1D2" presStyleIdx="2" presStyleCnt="5"/>
      <dgm:spPr/>
    </dgm:pt>
    <dgm:pt modelId="{80FF4136-2007-8644-85DE-C06402420C8C}" type="pres">
      <dgm:prSet presAssocID="{BC60B9D6-1501-4B4D-99EE-3BFCE2B93D64}" presName="connTx" presStyleLbl="parChTrans1D2" presStyleIdx="2" presStyleCnt="5"/>
      <dgm:spPr/>
    </dgm:pt>
    <dgm:pt modelId="{24C2D4F1-156F-9746-A43F-F0C0E978583C}" type="pres">
      <dgm:prSet presAssocID="{FEACD93F-92B9-3F4F-A34C-CBE35C9DC390}" presName="root2" presStyleCnt="0"/>
      <dgm:spPr/>
    </dgm:pt>
    <dgm:pt modelId="{165AAAB8-6C18-FE42-921C-0B137D55FFF8}" type="pres">
      <dgm:prSet presAssocID="{FEACD93F-92B9-3F4F-A34C-CBE35C9DC390}" presName="LevelTwoTextNode" presStyleLbl="node2" presStyleIdx="2" presStyleCnt="5">
        <dgm:presLayoutVars>
          <dgm:chPref val="3"/>
        </dgm:presLayoutVars>
      </dgm:prSet>
      <dgm:spPr/>
    </dgm:pt>
    <dgm:pt modelId="{2CE44684-E3D7-CF4D-9D58-8EFB16AEE32F}" type="pres">
      <dgm:prSet presAssocID="{FEACD93F-92B9-3F4F-A34C-CBE35C9DC390}" presName="level3hierChild" presStyleCnt="0"/>
      <dgm:spPr/>
    </dgm:pt>
    <dgm:pt modelId="{A126BFCC-BDDA-BE4A-863A-34996B8AB4A6}" type="pres">
      <dgm:prSet presAssocID="{82EFB5DF-D35E-2240-9F57-B1B23F29CA50}" presName="conn2-1" presStyleLbl="parChTrans1D2" presStyleIdx="3" presStyleCnt="5"/>
      <dgm:spPr/>
    </dgm:pt>
    <dgm:pt modelId="{92399A7F-A18E-AD46-9F1B-AA2BAEC83ED0}" type="pres">
      <dgm:prSet presAssocID="{82EFB5DF-D35E-2240-9F57-B1B23F29CA50}" presName="connTx" presStyleLbl="parChTrans1D2" presStyleIdx="3" presStyleCnt="5"/>
      <dgm:spPr/>
    </dgm:pt>
    <dgm:pt modelId="{8A507A55-30A7-F749-A70C-A5433A631D2D}" type="pres">
      <dgm:prSet presAssocID="{B6CED2DD-3844-C849-8B68-0BCA60F5E353}" presName="root2" presStyleCnt="0"/>
      <dgm:spPr/>
    </dgm:pt>
    <dgm:pt modelId="{67BB5717-6CD8-0743-8961-91DB40EF9A20}" type="pres">
      <dgm:prSet presAssocID="{B6CED2DD-3844-C849-8B68-0BCA60F5E353}" presName="LevelTwoTextNode" presStyleLbl="node2" presStyleIdx="3" presStyleCnt="5">
        <dgm:presLayoutVars>
          <dgm:chPref val="3"/>
        </dgm:presLayoutVars>
      </dgm:prSet>
      <dgm:spPr/>
    </dgm:pt>
    <dgm:pt modelId="{5C14EF8C-F352-0D4B-94A0-BDB3190A03FA}" type="pres">
      <dgm:prSet presAssocID="{B6CED2DD-3844-C849-8B68-0BCA60F5E353}" presName="level3hierChild" presStyleCnt="0"/>
      <dgm:spPr/>
    </dgm:pt>
    <dgm:pt modelId="{C49C31A7-EE81-7441-912F-821D238C4311}" type="pres">
      <dgm:prSet presAssocID="{A0CCAB34-E1C6-A742-971E-9BE713A11748}" presName="conn2-1" presStyleLbl="parChTrans1D2" presStyleIdx="4" presStyleCnt="5"/>
      <dgm:spPr/>
    </dgm:pt>
    <dgm:pt modelId="{4E7C1E7B-FD6B-1146-8ED1-FFC34ED5879B}" type="pres">
      <dgm:prSet presAssocID="{A0CCAB34-E1C6-A742-971E-9BE713A11748}" presName="connTx" presStyleLbl="parChTrans1D2" presStyleIdx="4" presStyleCnt="5"/>
      <dgm:spPr/>
    </dgm:pt>
    <dgm:pt modelId="{7D3A8F63-F709-8B42-B331-FAE53549D3B1}" type="pres">
      <dgm:prSet presAssocID="{73DB3562-01A3-A244-9591-B4CEF09129A1}" presName="root2" presStyleCnt="0"/>
      <dgm:spPr/>
    </dgm:pt>
    <dgm:pt modelId="{94DAB6C5-4764-1241-9452-493EEB1B64D6}" type="pres">
      <dgm:prSet presAssocID="{73DB3562-01A3-A244-9591-B4CEF09129A1}" presName="LevelTwoTextNode" presStyleLbl="node2" presStyleIdx="4" presStyleCnt="5">
        <dgm:presLayoutVars>
          <dgm:chPref val="3"/>
        </dgm:presLayoutVars>
      </dgm:prSet>
      <dgm:spPr/>
    </dgm:pt>
    <dgm:pt modelId="{15200A4C-7596-6145-BD3B-DB92D3C586A3}" type="pres">
      <dgm:prSet presAssocID="{73DB3562-01A3-A244-9591-B4CEF09129A1}" presName="level3hierChild" presStyleCnt="0"/>
      <dgm:spPr/>
    </dgm:pt>
  </dgm:ptLst>
  <dgm:cxnLst>
    <dgm:cxn modelId="{17E01808-3322-7946-AA6A-E455DFD00AB4}" type="presOf" srcId="{9C8AD87B-DAD0-1545-B1E1-370AE2BCF5F5}" destId="{910458B1-7AE9-DC43-9B9B-AF7EF703A14F}" srcOrd="0" destOrd="0" presId="urn:microsoft.com/office/officeart/2008/layout/HorizontalMultiLevelHierarchy"/>
    <dgm:cxn modelId="{E4D5EF11-742B-D14C-9F42-7DDAC0C102A4}" type="presOf" srcId="{82EFB5DF-D35E-2240-9F57-B1B23F29CA50}" destId="{92399A7F-A18E-AD46-9F1B-AA2BAEC83ED0}" srcOrd="1" destOrd="0" presId="urn:microsoft.com/office/officeart/2008/layout/HorizontalMultiLevelHierarchy"/>
    <dgm:cxn modelId="{BC1D1635-9917-714A-A314-1CE69A7DC5E5}" type="presOf" srcId="{A0CCAB34-E1C6-A742-971E-9BE713A11748}" destId="{C49C31A7-EE81-7441-912F-821D238C4311}" srcOrd="0" destOrd="0" presId="urn:microsoft.com/office/officeart/2008/layout/HorizontalMultiLevelHierarchy"/>
    <dgm:cxn modelId="{59431147-1D15-254B-9789-42C355853525}" type="presOf" srcId="{BC60B9D6-1501-4B4D-99EE-3BFCE2B93D64}" destId="{80FF4136-2007-8644-85DE-C06402420C8C}" srcOrd="1" destOrd="0" presId="urn:microsoft.com/office/officeart/2008/layout/HorizontalMultiLevelHierarchy"/>
    <dgm:cxn modelId="{C4C5E04F-EBF8-8449-8B54-E096EFB85D33}" type="presOf" srcId="{F0CC0731-BA04-614C-B8EB-0B2F94205F58}" destId="{061A4355-E694-984A-9087-845F03E2AE76}" srcOrd="0" destOrd="0" presId="urn:microsoft.com/office/officeart/2008/layout/HorizontalMultiLevelHierarchy"/>
    <dgm:cxn modelId="{4B338951-FD64-DF47-BB37-D2FD6CE4FDA1}" srcId="{F0CC0731-BA04-614C-B8EB-0B2F94205F58}" destId="{243C6B67-81C1-6340-BB1B-1D1CCA153F57}" srcOrd="0" destOrd="0" parTransId="{F0518EC0-B08D-9F4A-B7B1-CAE21C42E4BE}" sibTransId="{58636217-80CD-9F44-A56D-45730CD6710F}"/>
    <dgm:cxn modelId="{76618852-8704-334E-9615-976386D5EB56}" type="presOf" srcId="{154C981A-C5E7-0642-A5D8-D9CA0C35BE93}" destId="{D64BE809-776E-9E41-BF5B-D24762823987}" srcOrd="1" destOrd="0" presId="urn:microsoft.com/office/officeart/2008/layout/HorizontalMultiLevelHierarchy"/>
    <dgm:cxn modelId="{B8383C56-EB26-1D4F-A3F1-5FCB4C68BFD2}" type="presOf" srcId="{9C8AD87B-DAD0-1545-B1E1-370AE2BCF5F5}" destId="{83F5DD7E-AEC5-B34F-911F-1E2025570AEF}" srcOrd="1" destOrd="0" presId="urn:microsoft.com/office/officeart/2008/layout/HorizontalMultiLevelHierarchy"/>
    <dgm:cxn modelId="{DD8AF560-EB87-6E4B-AD6F-829635CF3C8B}" type="presOf" srcId="{243C6B67-81C1-6340-BB1B-1D1CCA153F57}" destId="{01138176-4A0A-9641-AAC4-DCC12EF51AB1}" srcOrd="0" destOrd="0" presId="urn:microsoft.com/office/officeart/2008/layout/HorizontalMultiLevelHierarchy"/>
    <dgm:cxn modelId="{A9087A6D-0A67-3940-8E82-7F4979B7B1AA}" type="presOf" srcId="{375E3AA1-041B-894C-944C-1DA5DDF6CE92}" destId="{4061DBD8-5F33-2C4C-9C1B-785893A279B9}" srcOrd="0" destOrd="0" presId="urn:microsoft.com/office/officeart/2008/layout/HorizontalMultiLevelHierarchy"/>
    <dgm:cxn modelId="{FA267D87-15CC-9C44-B19F-17EAB373C915}" type="presOf" srcId="{73DB3562-01A3-A244-9591-B4CEF09129A1}" destId="{94DAB6C5-4764-1241-9452-493EEB1B64D6}" srcOrd="0" destOrd="0" presId="urn:microsoft.com/office/officeart/2008/layout/HorizontalMultiLevelHierarchy"/>
    <dgm:cxn modelId="{79C4A589-1A31-1045-A643-732E82FCD49A}" srcId="{243C6B67-81C1-6340-BB1B-1D1CCA153F57}" destId="{203CC558-1C06-F042-8B4C-8944EF2B5EDB}" srcOrd="0" destOrd="0" parTransId="{9C8AD87B-DAD0-1545-B1E1-370AE2BCF5F5}" sibTransId="{5F604880-E5EE-7A4F-96C5-FAD7AFD8C90A}"/>
    <dgm:cxn modelId="{57ACCAA4-4118-2941-8822-48E9C694E055}" type="presOf" srcId="{FEACD93F-92B9-3F4F-A34C-CBE35C9DC390}" destId="{165AAAB8-6C18-FE42-921C-0B137D55FFF8}" srcOrd="0" destOrd="0" presId="urn:microsoft.com/office/officeart/2008/layout/HorizontalMultiLevelHierarchy"/>
    <dgm:cxn modelId="{9B0DB6AD-7B8B-0B4C-825A-32BF652E2D4F}" srcId="{243C6B67-81C1-6340-BB1B-1D1CCA153F57}" destId="{73DB3562-01A3-A244-9591-B4CEF09129A1}" srcOrd="4" destOrd="0" parTransId="{A0CCAB34-E1C6-A742-971E-9BE713A11748}" sibTransId="{9C44F0F2-AE2C-5B40-B386-2029A528BCC7}"/>
    <dgm:cxn modelId="{A5FE43B9-9B19-504E-AA9D-DE75D18E617F}" type="presOf" srcId="{203CC558-1C06-F042-8B4C-8944EF2B5EDB}" destId="{B16C6A68-274A-E041-A11D-076783421CEF}" srcOrd="0" destOrd="0" presId="urn:microsoft.com/office/officeart/2008/layout/HorizontalMultiLevelHierarchy"/>
    <dgm:cxn modelId="{8EF42CC4-C4B4-654C-998B-D031FD21BEFB}" srcId="{243C6B67-81C1-6340-BB1B-1D1CCA153F57}" destId="{B6CED2DD-3844-C849-8B68-0BCA60F5E353}" srcOrd="3" destOrd="0" parTransId="{82EFB5DF-D35E-2240-9F57-B1B23F29CA50}" sibTransId="{DB577BA8-D700-0142-99B5-28AAEDFDFF9C}"/>
    <dgm:cxn modelId="{0576A1C7-D53E-A84D-A9E2-6912EFE9F67D}" type="presOf" srcId="{82EFB5DF-D35E-2240-9F57-B1B23F29CA50}" destId="{A126BFCC-BDDA-BE4A-863A-34996B8AB4A6}" srcOrd="0" destOrd="0" presId="urn:microsoft.com/office/officeart/2008/layout/HorizontalMultiLevelHierarchy"/>
    <dgm:cxn modelId="{2630ACE4-80D1-F442-BEA9-513AE8160C90}" srcId="{243C6B67-81C1-6340-BB1B-1D1CCA153F57}" destId="{FEACD93F-92B9-3F4F-A34C-CBE35C9DC390}" srcOrd="2" destOrd="0" parTransId="{BC60B9D6-1501-4B4D-99EE-3BFCE2B93D64}" sibTransId="{0E4A035A-522E-B84D-8D69-39BF7B3922B5}"/>
    <dgm:cxn modelId="{6543B7EA-D1EF-624E-B9EE-3B45869F8E4C}" type="presOf" srcId="{B6CED2DD-3844-C849-8B68-0BCA60F5E353}" destId="{67BB5717-6CD8-0743-8961-91DB40EF9A20}" srcOrd="0" destOrd="0" presId="urn:microsoft.com/office/officeart/2008/layout/HorizontalMultiLevelHierarchy"/>
    <dgm:cxn modelId="{9B5C81EF-C9D1-4349-9540-774BF9850DC8}" srcId="{243C6B67-81C1-6340-BB1B-1D1CCA153F57}" destId="{375E3AA1-041B-894C-944C-1DA5DDF6CE92}" srcOrd="1" destOrd="0" parTransId="{154C981A-C5E7-0642-A5D8-D9CA0C35BE93}" sibTransId="{8B5422D3-E293-6B43-A155-2C31B78D6C7E}"/>
    <dgm:cxn modelId="{3B5E5AF1-644D-BF4C-99D8-DABC81EFADA5}" type="presOf" srcId="{154C981A-C5E7-0642-A5D8-D9CA0C35BE93}" destId="{62141315-9005-1B4B-A491-F2C47C9AF8D2}" srcOrd="0" destOrd="0" presId="urn:microsoft.com/office/officeart/2008/layout/HorizontalMultiLevelHierarchy"/>
    <dgm:cxn modelId="{E5CEBEF2-F4DE-734C-874E-C2A66F407B54}" type="presOf" srcId="{A0CCAB34-E1C6-A742-971E-9BE713A11748}" destId="{4E7C1E7B-FD6B-1146-8ED1-FFC34ED5879B}" srcOrd="1" destOrd="0" presId="urn:microsoft.com/office/officeart/2008/layout/HorizontalMultiLevelHierarchy"/>
    <dgm:cxn modelId="{588FA2F6-61D3-014C-863C-F6CC01ED0574}" type="presOf" srcId="{BC60B9D6-1501-4B4D-99EE-3BFCE2B93D64}" destId="{3E334741-A7A0-7843-B2FC-3D3DA75ED2AC}" srcOrd="0" destOrd="0" presId="urn:microsoft.com/office/officeart/2008/layout/HorizontalMultiLevelHierarchy"/>
    <dgm:cxn modelId="{44AB7DA6-347B-6A4A-AC10-317CDE4741A8}" type="presParOf" srcId="{061A4355-E694-984A-9087-845F03E2AE76}" destId="{43C5FA87-D314-1E4B-957C-58CD87B66AF7}" srcOrd="0" destOrd="0" presId="urn:microsoft.com/office/officeart/2008/layout/HorizontalMultiLevelHierarchy"/>
    <dgm:cxn modelId="{4B1EEB45-5BDF-C04F-A125-CA81066099A9}" type="presParOf" srcId="{43C5FA87-D314-1E4B-957C-58CD87B66AF7}" destId="{01138176-4A0A-9641-AAC4-DCC12EF51AB1}" srcOrd="0" destOrd="0" presId="urn:microsoft.com/office/officeart/2008/layout/HorizontalMultiLevelHierarchy"/>
    <dgm:cxn modelId="{D0E64B5F-C86B-EE4B-A8F7-9C0F4CF8BB21}" type="presParOf" srcId="{43C5FA87-D314-1E4B-957C-58CD87B66AF7}" destId="{BAC2C744-3D0D-D843-8D74-BD35B7C8BDF6}" srcOrd="1" destOrd="0" presId="urn:microsoft.com/office/officeart/2008/layout/HorizontalMultiLevelHierarchy"/>
    <dgm:cxn modelId="{8CC60035-1AD6-2847-82C0-BEF1A5649CF6}" type="presParOf" srcId="{BAC2C744-3D0D-D843-8D74-BD35B7C8BDF6}" destId="{910458B1-7AE9-DC43-9B9B-AF7EF703A14F}" srcOrd="0" destOrd="0" presId="urn:microsoft.com/office/officeart/2008/layout/HorizontalMultiLevelHierarchy"/>
    <dgm:cxn modelId="{D698155E-4CD7-BC43-B9AC-E7B890BC0219}" type="presParOf" srcId="{910458B1-7AE9-DC43-9B9B-AF7EF703A14F}" destId="{83F5DD7E-AEC5-B34F-911F-1E2025570AEF}" srcOrd="0" destOrd="0" presId="urn:microsoft.com/office/officeart/2008/layout/HorizontalMultiLevelHierarchy"/>
    <dgm:cxn modelId="{BB9C2F66-8F30-E14D-8C61-A0FA51DB0DDF}" type="presParOf" srcId="{BAC2C744-3D0D-D843-8D74-BD35B7C8BDF6}" destId="{74DF22A9-E7D3-C24E-96DD-12AEDB4E0247}" srcOrd="1" destOrd="0" presId="urn:microsoft.com/office/officeart/2008/layout/HorizontalMultiLevelHierarchy"/>
    <dgm:cxn modelId="{8935FFCE-1F6B-9345-9799-68F5CF7917E5}" type="presParOf" srcId="{74DF22A9-E7D3-C24E-96DD-12AEDB4E0247}" destId="{B16C6A68-274A-E041-A11D-076783421CEF}" srcOrd="0" destOrd="0" presId="urn:microsoft.com/office/officeart/2008/layout/HorizontalMultiLevelHierarchy"/>
    <dgm:cxn modelId="{41F27EB3-F6F6-2C48-B6B4-FD035E2CC4E2}" type="presParOf" srcId="{74DF22A9-E7D3-C24E-96DD-12AEDB4E0247}" destId="{C4207373-E038-CE4E-9435-805E97537929}" srcOrd="1" destOrd="0" presId="urn:microsoft.com/office/officeart/2008/layout/HorizontalMultiLevelHierarchy"/>
    <dgm:cxn modelId="{7D5994E1-9740-0A49-BEBD-E95EB47C1E7B}" type="presParOf" srcId="{BAC2C744-3D0D-D843-8D74-BD35B7C8BDF6}" destId="{62141315-9005-1B4B-A491-F2C47C9AF8D2}" srcOrd="2" destOrd="0" presId="urn:microsoft.com/office/officeart/2008/layout/HorizontalMultiLevelHierarchy"/>
    <dgm:cxn modelId="{17CC0BB1-83D3-EB4F-99BA-CA93E607C863}" type="presParOf" srcId="{62141315-9005-1B4B-A491-F2C47C9AF8D2}" destId="{D64BE809-776E-9E41-BF5B-D24762823987}" srcOrd="0" destOrd="0" presId="urn:microsoft.com/office/officeart/2008/layout/HorizontalMultiLevelHierarchy"/>
    <dgm:cxn modelId="{BF0ECBFA-ED74-1641-A6C4-2A690D58DE75}" type="presParOf" srcId="{BAC2C744-3D0D-D843-8D74-BD35B7C8BDF6}" destId="{96C4E0E2-29E9-0D49-88A2-0A17E818826C}" srcOrd="3" destOrd="0" presId="urn:microsoft.com/office/officeart/2008/layout/HorizontalMultiLevelHierarchy"/>
    <dgm:cxn modelId="{6E40572A-9ED9-8347-B3A5-7AF1C1857D82}" type="presParOf" srcId="{96C4E0E2-29E9-0D49-88A2-0A17E818826C}" destId="{4061DBD8-5F33-2C4C-9C1B-785893A279B9}" srcOrd="0" destOrd="0" presId="urn:microsoft.com/office/officeart/2008/layout/HorizontalMultiLevelHierarchy"/>
    <dgm:cxn modelId="{2A6D5C79-C4A1-424A-AECC-4BE4B317BB47}" type="presParOf" srcId="{96C4E0E2-29E9-0D49-88A2-0A17E818826C}" destId="{4942E066-2B3A-664D-B445-657CCB5E8623}" srcOrd="1" destOrd="0" presId="urn:microsoft.com/office/officeart/2008/layout/HorizontalMultiLevelHierarchy"/>
    <dgm:cxn modelId="{94B98756-8FFA-1949-94AE-5334292CD680}" type="presParOf" srcId="{BAC2C744-3D0D-D843-8D74-BD35B7C8BDF6}" destId="{3E334741-A7A0-7843-B2FC-3D3DA75ED2AC}" srcOrd="4" destOrd="0" presId="urn:microsoft.com/office/officeart/2008/layout/HorizontalMultiLevelHierarchy"/>
    <dgm:cxn modelId="{1067DF36-9E84-384D-BD17-156A03876DFD}" type="presParOf" srcId="{3E334741-A7A0-7843-B2FC-3D3DA75ED2AC}" destId="{80FF4136-2007-8644-85DE-C06402420C8C}" srcOrd="0" destOrd="0" presId="urn:microsoft.com/office/officeart/2008/layout/HorizontalMultiLevelHierarchy"/>
    <dgm:cxn modelId="{D881C063-930F-B545-8EFD-D84A2EBE9F10}" type="presParOf" srcId="{BAC2C744-3D0D-D843-8D74-BD35B7C8BDF6}" destId="{24C2D4F1-156F-9746-A43F-F0C0E978583C}" srcOrd="5" destOrd="0" presId="urn:microsoft.com/office/officeart/2008/layout/HorizontalMultiLevelHierarchy"/>
    <dgm:cxn modelId="{1DDF0C06-E5F9-BA40-BF95-139CE496AEF5}" type="presParOf" srcId="{24C2D4F1-156F-9746-A43F-F0C0E978583C}" destId="{165AAAB8-6C18-FE42-921C-0B137D55FFF8}" srcOrd="0" destOrd="0" presId="urn:microsoft.com/office/officeart/2008/layout/HorizontalMultiLevelHierarchy"/>
    <dgm:cxn modelId="{76489CA1-35DD-314E-946D-AD2C0EDC28A3}" type="presParOf" srcId="{24C2D4F1-156F-9746-A43F-F0C0E978583C}" destId="{2CE44684-E3D7-CF4D-9D58-8EFB16AEE32F}" srcOrd="1" destOrd="0" presId="urn:microsoft.com/office/officeart/2008/layout/HorizontalMultiLevelHierarchy"/>
    <dgm:cxn modelId="{D61D07A4-E111-6B42-9307-10BC86075D64}" type="presParOf" srcId="{BAC2C744-3D0D-D843-8D74-BD35B7C8BDF6}" destId="{A126BFCC-BDDA-BE4A-863A-34996B8AB4A6}" srcOrd="6" destOrd="0" presId="urn:microsoft.com/office/officeart/2008/layout/HorizontalMultiLevelHierarchy"/>
    <dgm:cxn modelId="{24067995-D205-CC4E-8A8E-F1F4FB542CB0}" type="presParOf" srcId="{A126BFCC-BDDA-BE4A-863A-34996B8AB4A6}" destId="{92399A7F-A18E-AD46-9F1B-AA2BAEC83ED0}" srcOrd="0" destOrd="0" presId="urn:microsoft.com/office/officeart/2008/layout/HorizontalMultiLevelHierarchy"/>
    <dgm:cxn modelId="{CF56D074-2EE2-2742-8B45-04D0C77AC9AF}" type="presParOf" srcId="{BAC2C744-3D0D-D843-8D74-BD35B7C8BDF6}" destId="{8A507A55-30A7-F749-A70C-A5433A631D2D}" srcOrd="7" destOrd="0" presId="urn:microsoft.com/office/officeart/2008/layout/HorizontalMultiLevelHierarchy"/>
    <dgm:cxn modelId="{FCB1D9E0-FE81-3242-BCD5-F8F75E0EC604}" type="presParOf" srcId="{8A507A55-30A7-F749-A70C-A5433A631D2D}" destId="{67BB5717-6CD8-0743-8961-91DB40EF9A20}" srcOrd="0" destOrd="0" presId="urn:microsoft.com/office/officeart/2008/layout/HorizontalMultiLevelHierarchy"/>
    <dgm:cxn modelId="{B659E3E4-AF15-BC41-AF64-707DEFD8FF20}" type="presParOf" srcId="{8A507A55-30A7-F749-A70C-A5433A631D2D}" destId="{5C14EF8C-F352-0D4B-94A0-BDB3190A03FA}" srcOrd="1" destOrd="0" presId="urn:microsoft.com/office/officeart/2008/layout/HorizontalMultiLevelHierarchy"/>
    <dgm:cxn modelId="{DA2675B6-D9FE-8A44-93D6-4457D2296187}" type="presParOf" srcId="{BAC2C744-3D0D-D843-8D74-BD35B7C8BDF6}" destId="{C49C31A7-EE81-7441-912F-821D238C4311}" srcOrd="8" destOrd="0" presId="urn:microsoft.com/office/officeart/2008/layout/HorizontalMultiLevelHierarchy"/>
    <dgm:cxn modelId="{687DD494-C70D-B34B-9B3A-1380DE7903AE}" type="presParOf" srcId="{C49C31A7-EE81-7441-912F-821D238C4311}" destId="{4E7C1E7B-FD6B-1146-8ED1-FFC34ED5879B}" srcOrd="0" destOrd="0" presId="urn:microsoft.com/office/officeart/2008/layout/HorizontalMultiLevelHierarchy"/>
    <dgm:cxn modelId="{E1D49261-F84A-6643-83CF-53E89840BC38}" type="presParOf" srcId="{BAC2C744-3D0D-D843-8D74-BD35B7C8BDF6}" destId="{7D3A8F63-F709-8B42-B331-FAE53549D3B1}" srcOrd="9" destOrd="0" presId="urn:microsoft.com/office/officeart/2008/layout/HorizontalMultiLevelHierarchy"/>
    <dgm:cxn modelId="{CFBDF29C-A644-8648-AF66-A272B6448EEF}" type="presParOf" srcId="{7D3A8F63-F709-8B42-B331-FAE53549D3B1}" destId="{94DAB6C5-4764-1241-9452-493EEB1B64D6}" srcOrd="0" destOrd="0" presId="urn:microsoft.com/office/officeart/2008/layout/HorizontalMultiLevelHierarchy"/>
    <dgm:cxn modelId="{237464C6-1B5B-9941-9909-51C2B4A65695}" type="presParOf" srcId="{7D3A8F63-F709-8B42-B331-FAE53549D3B1}" destId="{15200A4C-7596-6145-BD3B-DB92D3C586A3}"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9C31A7-EE81-7441-912F-821D238C4311}">
      <dsp:nvSpPr>
        <dsp:cNvPr id="0" name=""/>
        <dsp:cNvSpPr/>
      </dsp:nvSpPr>
      <dsp:spPr>
        <a:xfrm>
          <a:off x="3467166" y="3254644"/>
          <a:ext cx="711487" cy="2711462"/>
        </a:xfrm>
        <a:custGeom>
          <a:avLst/>
          <a:gdLst/>
          <a:ahLst/>
          <a:cxnLst/>
          <a:rect l="0" t="0" r="0" b="0"/>
          <a:pathLst>
            <a:path>
              <a:moveTo>
                <a:pt x="0" y="0"/>
              </a:moveTo>
              <a:lnTo>
                <a:pt x="355743" y="0"/>
              </a:lnTo>
              <a:lnTo>
                <a:pt x="355743" y="2711462"/>
              </a:lnTo>
              <a:lnTo>
                <a:pt x="711487" y="2711462"/>
              </a:lnTo>
            </a:path>
          </a:pathLst>
        </a:custGeom>
        <a:noFill/>
        <a:ln w="22225" cap="rnd"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752828" y="4540294"/>
        <a:ext cx="140162" cy="140162"/>
      </dsp:txXfrm>
    </dsp:sp>
    <dsp:sp modelId="{A126BFCC-BDDA-BE4A-863A-34996B8AB4A6}">
      <dsp:nvSpPr>
        <dsp:cNvPr id="0" name=""/>
        <dsp:cNvSpPr/>
      </dsp:nvSpPr>
      <dsp:spPr>
        <a:xfrm>
          <a:off x="3467166" y="3254644"/>
          <a:ext cx="711487" cy="1355731"/>
        </a:xfrm>
        <a:custGeom>
          <a:avLst/>
          <a:gdLst/>
          <a:ahLst/>
          <a:cxnLst/>
          <a:rect l="0" t="0" r="0" b="0"/>
          <a:pathLst>
            <a:path>
              <a:moveTo>
                <a:pt x="0" y="0"/>
              </a:moveTo>
              <a:lnTo>
                <a:pt x="355743" y="0"/>
              </a:lnTo>
              <a:lnTo>
                <a:pt x="355743" y="1355731"/>
              </a:lnTo>
              <a:lnTo>
                <a:pt x="711487" y="1355731"/>
              </a:lnTo>
            </a:path>
          </a:pathLst>
        </a:custGeom>
        <a:noFill/>
        <a:ln w="22225" cap="rnd"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84632" y="3894233"/>
        <a:ext cx="76554" cy="76554"/>
      </dsp:txXfrm>
    </dsp:sp>
    <dsp:sp modelId="{3E334741-A7A0-7843-B2FC-3D3DA75ED2AC}">
      <dsp:nvSpPr>
        <dsp:cNvPr id="0" name=""/>
        <dsp:cNvSpPr/>
      </dsp:nvSpPr>
      <dsp:spPr>
        <a:xfrm>
          <a:off x="3467166" y="3208925"/>
          <a:ext cx="711487" cy="91440"/>
        </a:xfrm>
        <a:custGeom>
          <a:avLst/>
          <a:gdLst/>
          <a:ahLst/>
          <a:cxnLst/>
          <a:rect l="0" t="0" r="0" b="0"/>
          <a:pathLst>
            <a:path>
              <a:moveTo>
                <a:pt x="0" y="45720"/>
              </a:moveTo>
              <a:lnTo>
                <a:pt x="711487" y="45720"/>
              </a:lnTo>
            </a:path>
          </a:pathLst>
        </a:custGeom>
        <a:noFill/>
        <a:ln w="22225" cap="rnd"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05122" y="3236857"/>
        <a:ext cx="35574" cy="35574"/>
      </dsp:txXfrm>
    </dsp:sp>
    <dsp:sp modelId="{62141315-9005-1B4B-A491-F2C47C9AF8D2}">
      <dsp:nvSpPr>
        <dsp:cNvPr id="0" name=""/>
        <dsp:cNvSpPr/>
      </dsp:nvSpPr>
      <dsp:spPr>
        <a:xfrm>
          <a:off x="3467166" y="1898913"/>
          <a:ext cx="711487" cy="1355731"/>
        </a:xfrm>
        <a:custGeom>
          <a:avLst/>
          <a:gdLst/>
          <a:ahLst/>
          <a:cxnLst/>
          <a:rect l="0" t="0" r="0" b="0"/>
          <a:pathLst>
            <a:path>
              <a:moveTo>
                <a:pt x="0" y="1355731"/>
              </a:moveTo>
              <a:lnTo>
                <a:pt x="355743" y="1355731"/>
              </a:lnTo>
              <a:lnTo>
                <a:pt x="355743" y="0"/>
              </a:lnTo>
              <a:lnTo>
                <a:pt x="711487" y="0"/>
              </a:lnTo>
            </a:path>
          </a:pathLst>
        </a:custGeom>
        <a:noFill/>
        <a:ln w="22225" cap="rnd"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84632" y="2538502"/>
        <a:ext cx="76554" cy="76554"/>
      </dsp:txXfrm>
    </dsp:sp>
    <dsp:sp modelId="{910458B1-7AE9-DC43-9B9B-AF7EF703A14F}">
      <dsp:nvSpPr>
        <dsp:cNvPr id="0" name=""/>
        <dsp:cNvSpPr/>
      </dsp:nvSpPr>
      <dsp:spPr>
        <a:xfrm>
          <a:off x="3467166" y="542292"/>
          <a:ext cx="711487" cy="2712352"/>
        </a:xfrm>
        <a:custGeom>
          <a:avLst/>
          <a:gdLst/>
          <a:ahLst/>
          <a:cxnLst/>
          <a:rect l="0" t="0" r="0" b="0"/>
          <a:pathLst>
            <a:path>
              <a:moveTo>
                <a:pt x="0" y="2712352"/>
              </a:moveTo>
              <a:lnTo>
                <a:pt x="355743" y="2712352"/>
              </a:lnTo>
              <a:lnTo>
                <a:pt x="355743" y="0"/>
              </a:lnTo>
              <a:lnTo>
                <a:pt x="711487" y="0"/>
              </a:lnTo>
            </a:path>
          </a:pathLst>
        </a:custGeom>
        <a:noFill/>
        <a:ln w="22225" cap="rnd"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752807" y="1828365"/>
        <a:ext cx="140205" cy="140205"/>
      </dsp:txXfrm>
    </dsp:sp>
    <dsp:sp modelId="{01138176-4A0A-9641-AAC4-DCC12EF51AB1}">
      <dsp:nvSpPr>
        <dsp:cNvPr id="0" name=""/>
        <dsp:cNvSpPr/>
      </dsp:nvSpPr>
      <dsp:spPr>
        <a:xfrm rot="16200000">
          <a:off x="70702" y="2712352"/>
          <a:ext cx="5708342" cy="1084585"/>
        </a:xfrm>
        <a:prstGeom prst="rect">
          <a:avLst/>
        </a:prstGeom>
        <a:solidFill>
          <a:schemeClr val="accent2"/>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kern="1200" dirty="0"/>
            <a:t>FRONTAL LOBE</a:t>
          </a:r>
        </a:p>
      </dsp:txBody>
      <dsp:txXfrm>
        <a:off x="70702" y="2712352"/>
        <a:ext cx="5708342" cy="1084585"/>
      </dsp:txXfrm>
    </dsp:sp>
    <dsp:sp modelId="{B16C6A68-274A-E041-A11D-076783421CEF}">
      <dsp:nvSpPr>
        <dsp:cNvPr id="0" name=""/>
        <dsp:cNvSpPr/>
      </dsp:nvSpPr>
      <dsp:spPr>
        <a:xfrm>
          <a:off x="4178653" y="0"/>
          <a:ext cx="3557438" cy="1084585"/>
        </a:xfrm>
        <a:prstGeom prst="rect">
          <a:avLst/>
        </a:prstGeom>
        <a:solidFill>
          <a:schemeClr val="accent1"/>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MOTOR</a:t>
          </a:r>
        </a:p>
      </dsp:txBody>
      <dsp:txXfrm>
        <a:off x="4178653" y="0"/>
        <a:ext cx="3557438" cy="1084585"/>
      </dsp:txXfrm>
    </dsp:sp>
    <dsp:sp modelId="{4061DBD8-5F33-2C4C-9C1B-785893A279B9}">
      <dsp:nvSpPr>
        <dsp:cNvPr id="0" name=""/>
        <dsp:cNvSpPr/>
      </dsp:nvSpPr>
      <dsp:spPr>
        <a:xfrm>
          <a:off x="4178653" y="1356621"/>
          <a:ext cx="3557438" cy="1084585"/>
        </a:xfrm>
        <a:prstGeom prst="rect">
          <a:avLst/>
        </a:prstGeom>
        <a:solidFill>
          <a:schemeClr val="accent1"/>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SPEECH &amp; LANGUAGE</a:t>
          </a:r>
        </a:p>
      </dsp:txBody>
      <dsp:txXfrm>
        <a:off x="4178653" y="1356621"/>
        <a:ext cx="3557438" cy="1084585"/>
      </dsp:txXfrm>
    </dsp:sp>
    <dsp:sp modelId="{165AAAB8-6C18-FE42-921C-0B137D55FFF8}">
      <dsp:nvSpPr>
        <dsp:cNvPr id="0" name=""/>
        <dsp:cNvSpPr/>
      </dsp:nvSpPr>
      <dsp:spPr>
        <a:xfrm>
          <a:off x="4178653" y="2712352"/>
          <a:ext cx="3557438" cy="1084585"/>
        </a:xfrm>
        <a:prstGeom prst="rect">
          <a:avLst/>
        </a:prstGeom>
        <a:solidFill>
          <a:schemeClr val="accent1"/>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COGNITIVE </a:t>
          </a:r>
          <a:br>
            <a:rPr lang="en-US" sz="2600" kern="1200" dirty="0"/>
          </a:br>
          <a:r>
            <a:rPr lang="en-US" sz="2600" kern="1200" dirty="0"/>
            <a:t>&amp; EXECUTIVE FUNCTIONING</a:t>
          </a:r>
        </a:p>
      </dsp:txBody>
      <dsp:txXfrm>
        <a:off x="4178653" y="2712352"/>
        <a:ext cx="3557438" cy="1084585"/>
      </dsp:txXfrm>
    </dsp:sp>
    <dsp:sp modelId="{67BB5717-6CD8-0743-8961-91DB40EF9A20}">
      <dsp:nvSpPr>
        <dsp:cNvPr id="0" name=""/>
        <dsp:cNvSpPr/>
      </dsp:nvSpPr>
      <dsp:spPr>
        <a:xfrm>
          <a:off x="4178653" y="4068083"/>
          <a:ext cx="3557438" cy="1084585"/>
        </a:xfrm>
        <a:prstGeom prst="rect">
          <a:avLst/>
        </a:prstGeom>
        <a:solidFill>
          <a:schemeClr val="accent1"/>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PERSONALITY </a:t>
          </a:r>
          <a:br>
            <a:rPr lang="en-US" sz="2600" kern="1200" dirty="0"/>
          </a:br>
          <a:r>
            <a:rPr lang="en-US" sz="2600" kern="1200" dirty="0"/>
            <a:t>&amp; BEHAVIOUR</a:t>
          </a:r>
        </a:p>
      </dsp:txBody>
      <dsp:txXfrm>
        <a:off x="4178653" y="4068083"/>
        <a:ext cx="3557438" cy="1084585"/>
      </dsp:txXfrm>
    </dsp:sp>
    <dsp:sp modelId="{94DAB6C5-4764-1241-9452-493EEB1B64D6}">
      <dsp:nvSpPr>
        <dsp:cNvPr id="0" name=""/>
        <dsp:cNvSpPr/>
      </dsp:nvSpPr>
      <dsp:spPr>
        <a:xfrm>
          <a:off x="4178653" y="5423815"/>
          <a:ext cx="3557438" cy="1084585"/>
        </a:xfrm>
        <a:prstGeom prst="rect">
          <a:avLst/>
        </a:prstGeom>
        <a:solidFill>
          <a:schemeClr val="accent1"/>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SENSORY-</a:t>
          </a:r>
          <a:br>
            <a:rPr lang="en-US" sz="2600" kern="1200" dirty="0"/>
          </a:br>
          <a:r>
            <a:rPr lang="en-US" sz="2600" kern="1200" dirty="0"/>
            <a:t>PERCEPTUAL JUDGEMENT</a:t>
          </a:r>
        </a:p>
      </dsp:txBody>
      <dsp:txXfrm>
        <a:off x="4178653" y="5423815"/>
        <a:ext cx="3557438" cy="1084585"/>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C4730-C9E7-1D4F-8443-B53005749B0F}" type="datetimeFigureOut">
              <a:rPr lang="en-US" smtClean="0"/>
              <a:t>8/29/19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E402A6-E45B-C946-B802-3CD036AAC941}" type="slidenum">
              <a:rPr lang="en-US" smtClean="0"/>
              <a:t>‹#›</a:t>
            </a:fld>
            <a:endParaRPr lang="en-US"/>
          </a:p>
        </p:txBody>
      </p:sp>
    </p:spTree>
    <p:extLst>
      <p:ext uri="{BB962C8B-B14F-4D97-AF65-F5344CB8AC3E}">
        <p14:creationId xmlns:p14="http://schemas.microsoft.com/office/powerpoint/2010/main" val="387916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en.wikipedia.org/wiki/Impulse_(psychology)" TargetMode="External"/><Relationship Id="rId2" Type="http://schemas.openxmlformats.org/officeDocument/2006/relationships/slide" Target="../slides/slide44.xml"/><Relationship Id="rId1" Type="http://schemas.openxmlformats.org/officeDocument/2006/relationships/notesMaster" Target="../notesMasters/notesMaster1.xml"/><Relationship Id="rId4" Type="http://schemas.openxmlformats.org/officeDocument/2006/relationships/hyperlink" Target="https://en.wikipedia.org/wiki/Visual_field"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1</a:t>
            </a:fld>
            <a:endParaRPr lang="en-US"/>
          </a:p>
        </p:txBody>
      </p:sp>
    </p:spTree>
    <p:extLst>
      <p:ext uri="{BB962C8B-B14F-4D97-AF65-F5344CB8AC3E}">
        <p14:creationId xmlns:p14="http://schemas.microsoft.com/office/powerpoint/2010/main" val="34097379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2</a:t>
            </a:fld>
            <a:endParaRPr lang="en-US"/>
          </a:p>
        </p:txBody>
      </p:sp>
    </p:spTree>
    <p:extLst>
      <p:ext uri="{BB962C8B-B14F-4D97-AF65-F5344CB8AC3E}">
        <p14:creationId xmlns:p14="http://schemas.microsoft.com/office/powerpoint/2010/main" val="7759790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Superficial or outer layer of the brain; makes up 83% of its mass. Constitutes what is known as the grey matter and is responsible for higher order functions.</a:t>
            </a:r>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4</a:t>
            </a:fld>
            <a:endParaRPr lang="en-US"/>
          </a:p>
        </p:txBody>
      </p:sp>
    </p:spTree>
    <p:extLst>
      <p:ext uri="{BB962C8B-B14F-4D97-AF65-F5344CB8AC3E}">
        <p14:creationId xmlns:p14="http://schemas.microsoft.com/office/powerpoint/2010/main" val="1867736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Body awareness – identifying location, position and movement of body parts.</a:t>
            </a:r>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5</a:t>
            </a:fld>
            <a:endParaRPr lang="en-US"/>
          </a:p>
        </p:txBody>
      </p:sp>
    </p:spTree>
    <p:extLst>
      <p:ext uri="{BB962C8B-B14F-4D97-AF65-F5344CB8AC3E}">
        <p14:creationId xmlns:p14="http://schemas.microsoft.com/office/powerpoint/2010/main" val="3677937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 structurally connected to all major cortical and subcortical regions; majority of the brain activity is mediated via the frontal lobe</a:t>
            </a:r>
          </a:p>
        </p:txBody>
      </p:sp>
      <p:sp>
        <p:nvSpPr>
          <p:cNvPr id="4" name="Slide Number Placeholder 3"/>
          <p:cNvSpPr>
            <a:spLocks noGrp="1"/>
          </p:cNvSpPr>
          <p:nvPr>
            <p:ph type="sldNum" sz="quarter" idx="5"/>
          </p:nvPr>
        </p:nvSpPr>
        <p:spPr/>
        <p:txBody>
          <a:bodyPr/>
          <a:lstStyle/>
          <a:p>
            <a:fld id="{5AE402A6-E45B-C946-B802-3CD036AAC941}" type="slidenum">
              <a:rPr lang="en-US" smtClean="0"/>
              <a:t>12</a:t>
            </a:fld>
            <a:endParaRPr lang="en-US"/>
          </a:p>
        </p:txBody>
      </p:sp>
    </p:spTree>
    <p:extLst>
      <p:ext uri="{BB962C8B-B14F-4D97-AF65-F5344CB8AC3E}">
        <p14:creationId xmlns:p14="http://schemas.microsoft.com/office/powerpoint/2010/main" val="2574600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13</a:t>
            </a:fld>
            <a:endParaRPr lang="en-US"/>
          </a:p>
        </p:txBody>
      </p:sp>
    </p:spTree>
    <p:extLst>
      <p:ext uri="{BB962C8B-B14F-4D97-AF65-F5344CB8AC3E}">
        <p14:creationId xmlns:p14="http://schemas.microsoft.com/office/powerpoint/2010/main" val="1979771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ability to guide its behaviour by internal representations and also to ‘‘switch gears’’ when something unanticipated happens [3]. To deal with such transitions effectively, a particular ability is needed - mental flexibility, that is, the capacity to respond rapidly to unanticipated environmental contingencies. Sometimes this capacity is referred to as the ability to shift cognitive set.</a:t>
            </a:r>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17</a:t>
            </a:fld>
            <a:endParaRPr lang="en-US"/>
          </a:p>
        </p:txBody>
      </p:sp>
    </p:spTree>
    <p:extLst>
      <p:ext uri="{BB962C8B-B14F-4D97-AF65-F5344CB8AC3E}">
        <p14:creationId xmlns:p14="http://schemas.microsoft.com/office/powerpoint/2010/main" val="3919200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Emotional regulation &amp; expression – INCLUDING MOOD AND AFFECT</a:t>
            </a:r>
          </a:p>
          <a:p>
            <a:endParaRPr lang="en-US" dirty="0"/>
          </a:p>
          <a:p>
            <a:r>
              <a:rPr lang="en-IN" sz="1200" dirty="0"/>
              <a:t>Refers to </a:t>
            </a:r>
            <a:r>
              <a:rPr lang="en-IN" sz="1200" b="1" dirty="0"/>
              <a:t>autobiographical knowledge</a:t>
            </a:r>
            <a:r>
              <a:rPr lang="en-IN" sz="1200" dirty="0"/>
              <a:t>.</a:t>
            </a:r>
          </a:p>
          <a:p>
            <a:r>
              <a:rPr lang="en-IN" sz="1200" dirty="0"/>
              <a:t>According to </a:t>
            </a:r>
            <a:r>
              <a:rPr lang="en-IN" sz="1200" b="1" dirty="0"/>
              <a:t>Tulving</a:t>
            </a:r>
            <a:r>
              <a:rPr lang="en-IN" sz="1200" dirty="0"/>
              <a:t>, autonoetic awareness makes it possible to </a:t>
            </a:r>
            <a:br>
              <a:rPr lang="en-IN" sz="1200" dirty="0"/>
            </a:br>
            <a:r>
              <a:rPr lang="en-IN" sz="1200" b="1" dirty="0"/>
              <a:t>bind together the awareness of oneself as a continuous entity </a:t>
            </a:r>
            <a:r>
              <a:rPr lang="en-IN" sz="1200" dirty="0"/>
              <a:t>through time. </a:t>
            </a:r>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18</a:t>
            </a:fld>
            <a:endParaRPr lang="en-US"/>
          </a:p>
        </p:txBody>
      </p:sp>
    </p:spTree>
    <p:extLst>
      <p:ext uri="{BB962C8B-B14F-4D97-AF65-F5344CB8AC3E}">
        <p14:creationId xmlns:p14="http://schemas.microsoft.com/office/powerpoint/2010/main" val="1111866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19</a:t>
            </a:fld>
            <a:endParaRPr lang="en-US"/>
          </a:p>
        </p:txBody>
      </p:sp>
    </p:spTree>
    <p:extLst>
      <p:ext uri="{BB962C8B-B14F-4D97-AF65-F5344CB8AC3E}">
        <p14:creationId xmlns:p14="http://schemas.microsoft.com/office/powerpoint/2010/main" val="464934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21</a:t>
            </a:fld>
            <a:endParaRPr lang="en-US"/>
          </a:p>
        </p:txBody>
      </p:sp>
    </p:spTree>
    <p:extLst>
      <p:ext uri="{BB962C8B-B14F-4D97-AF65-F5344CB8AC3E}">
        <p14:creationId xmlns:p14="http://schemas.microsoft.com/office/powerpoint/2010/main" val="3713958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22</a:t>
            </a:fld>
            <a:endParaRPr lang="en-US"/>
          </a:p>
        </p:txBody>
      </p:sp>
    </p:spTree>
    <p:extLst>
      <p:ext uri="{BB962C8B-B14F-4D97-AF65-F5344CB8AC3E}">
        <p14:creationId xmlns:p14="http://schemas.microsoft.com/office/powerpoint/2010/main" val="312578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 to the broad functions of the FL</a:t>
            </a:r>
          </a:p>
          <a:p>
            <a:endParaRPr lang="en-US" dirty="0"/>
          </a:p>
          <a:p>
            <a:r>
              <a:rPr lang="en-US" dirty="0"/>
              <a:t>no singular clinical presentation</a:t>
            </a:r>
          </a:p>
          <a:p>
            <a:endParaRPr lang="en-US" dirty="0"/>
          </a:p>
          <a:p>
            <a:r>
              <a:rPr lang="en-US" dirty="0"/>
              <a:t>any number and combination of these symptoms may appear in a person with frontal lobe damage depending on</a:t>
            </a:r>
          </a:p>
        </p:txBody>
      </p:sp>
      <p:sp>
        <p:nvSpPr>
          <p:cNvPr id="4" name="Slide Number Placeholder 3"/>
          <p:cNvSpPr>
            <a:spLocks noGrp="1"/>
          </p:cNvSpPr>
          <p:nvPr>
            <p:ph type="sldNum" sz="quarter" idx="5"/>
          </p:nvPr>
        </p:nvSpPr>
        <p:spPr/>
        <p:txBody>
          <a:bodyPr/>
          <a:lstStyle/>
          <a:p>
            <a:fld id="{5AE402A6-E45B-C946-B802-3CD036AAC941}" type="slidenum">
              <a:rPr lang="en-US" smtClean="0"/>
              <a:t>23</a:t>
            </a:fld>
            <a:endParaRPr lang="en-US"/>
          </a:p>
        </p:txBody>
      </p:sp>
    </p:spTree>
    <p:extLst>
      <p:ext uri="{BB962C8B-B14F-4D97-AF65-F5344CB8AC3E}">
        <p14:creationId xmlns:p14="http://schemas.microsoft.com/office/powerpoint/2010/main" val="2409321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25</a:t>
            </a:fld>
            <a:endParaRPr lang="en-US"/>
          </a:p>
        </p:txBody>
      </p:sp>
    </p:spTree>
    <p:extLst>
      <p:ext uri="{BB962C8B-B14F-4D97-AF65-F5344CB8AC3E}">
        <p14:creationId xmlns:p14="http://schemas.microsoft.com/office/powerpoint/2010/main" val="237199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Apraxia – difficulty in motor planning to perform tasks; </a:t>
            </a:r>
            <a:r>
              <a:rPr lang="en-IN" sz="1200" b="0" i="0" kern="1200" dirty="0">
                <a:solidFill>
                  <a:schemeClr val="tx1"/>
                </a:solidFill>
                <a:effectLst/>
                <a:latin typeface="+mn-lt"/>
                <a:ea typeface="+mn-ea"/>
                <a:cs typeface="+mn-cs"/>
              </a:rPr>
              <a:t>despite having the desire and physical capability to carry it out.</a:t>
            </a:r>
            <a:endParaRPr lang="en-US" dirty="0"/>
          </a:p>
          <a:p>
            <a:endParaRPr lang="en-IN" sz="1200" dirty="0"/>
          </a:p>
          <a:p>
            <a:r>
              <a:rPr lang="en-IN" sz="1200" dirty="0"/>
              <a:t>Patients with left and right frontal lobe damage were poor at copying a series of facial (but not arm) movements, making more errors of sequence than did controls and other patients</a:t>
            </a:r>
            <a:endParaRPr lang="en-US" dirty="0"/>
          </a:p>
          <a:p>
            <a:r>
              <a:rPr lang="en-US" dirty="0"/>
              <a:t> E.g. cooking</a:t>
            </a:r>
          </a:p>
        </p:txBody>
      </p:sp>
      <p:sp>
        <p:nvSpPr>
          <p:cNvPr id="4" name="Slide Number Placeholder 3"/>
          <p:cNvSpPr>
            <a:spLocks noGrp="1"/>
          </p:cNvSpPr>
          <p:nvPr>
            <p:ph type="sldNum" sz="quarter" idx="5"/>
          </p:nvPr>
        </p:nvSpPr>
        <p:spPr/>
        <p:txBody>
          <a:bodyPr/>
          <a:lstStyle/>
          <a:p>
            <a:fld id="{5AE402A6-E45B-C946-B802-3CD036AAC941}" type="slidenum">
              <a:rPr lang="en-US" smtClean="0"/>
              <a:t>27</a:t>
            </a:fld>
            <a:endParaRPr lang="en-US"/>
          </a:p>
        </p:txBody>
      </p:sp>
    </p:spTree>
    <p:extLst>
      <p:ext uri="{BB962C8B-B14F-4D97-AF65-F5344CB8AC3E}">
        <p14:creationId xmlns:p14="http://schemas.microsoft.com/office/powerpoint/2010/main" val="2115269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Intended eye movement. CD sent before the eyes actually move, Get info about eye movement before it happens, helps prepare and interpret the movement. </a:t>
            </a:r>
          </a:p>
          <a:p>
            <a:endParaRPr lang="en-US" dirty="0"/>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28</a:t>
            </a:fld>
            <a:endParaRPr lang="en-US"/>
          </a:p>
        </p:txBody>
      </p:sp>
    </p:spTree>
    <p:extLst>
      <p:ext uri="{BB962C8B-B14F-4D97-AF65-F5344CB8AC3E}">
        <p14:creationId xmlns:p14="http://schemas.microsoft.com/office/powerpoint/2010/main" val="40818971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olidFill>
                  <a:srgbClr val="FF0000"/>
                </a:solidFill>
              </a:rPr>
              <a:t>Task</a:t>
            </a:r>
            <a:r>
              <a:rPr lang="en-US" dirty="0"/>
              <a:t>- recorded patients’ eye movements as they examined a picture of a complex scene.</a:t>
            </a:r>
          </a:p>
          <a:p>
            <a:r>
              <a:rPr lang="en-US" b="1" dirty="0">
                <a:solidFill>
                  <a:srgbClr val="FF0000"/>
                </a:solidFill>
              </a:rPr>
              <a:t>Normal subjects</a:t>
            </a:r>
            <a:r>
              <a:rPr lang="en-US" dirty="0"/>
              <a:t>- if asked about age of the people in a picture,  eyes were fixed on the heads; if asked about </a:t>
            </a:r>
            <a:r>
              <a:rPr lang="en-US" dirty="0" err="1"/>
              <a:t>dressing,eyes</a:t>
            </a:r>
            <a:r>
              <a:rPr lang="en-US" dirty="0"/>
              <a:t> fixed on the clothing</a:t>
            </a:r>
          </a:p>
          <a:p>
            <a:r>
              <a:rPr lang="en-US" b="1" dirty="0">
                <a:solidFill>
                  <a:srgbClr val="FF0000"/>
                </a:solidFill>
              </a:rPr>
              <a:t>Large frontal lobe lesions</a:t>
            </a:r>
          </a:p>
          <a:p>
            <a:pPr lvl="1"/>
            <a:r>
              <a:rPr lang="en-US" dirty="0"/>
              <a:t> glance over the picture more or less at random </a:t>
            </a:r>
          </a:p>
          <a:p>
            <a:pPr lvl="1"/>
            <a:r>
              <a:rPr lang="en-US" dirty="0"/>
              <a:t>change in the question about the picture failed to alter the direction or the pattern of eye movements.</a:t>
            </a:r>
          </a:p>
          <a:p>
            <a:endParaRPr lang="en-US" dirty="0"/>
          </a:p>
          <a:p>
            <a:r>
              <a:rPr lang="en-IN" sz="1200" kern="1200" dirty="0" err="1">
                <a:solidFill>
                  <a:schemeClr val="tx1"/>
                </a:solidFill>
                <a:effectLst/>
                <a:latin typeface="+mn-lt"/>
                <a:ea typeface="+mn-ea"/>
                <a:cs typeface="+mn-cs"/>
              </a:rPr>
              <a:t>Teuber</a:t>
            </a:r>
            <a:r>
              <a:rPr lang="en-IN" sz="1200" kern="1200" dirty="0">
                <a:solidFill>
                  <a:schemeClr val="tx1"/>
                </a:solidFill>
                <a:effectLst/>
                <a:latin typeface="+mn-lt"/>
                <a:ea typeface="+mn-ea"/>
                <a:cs typeface="+mn-cs"/>
              </a:rPr>
              <a:t> presented patients with an array of 48 patterns on a screen. The patterns could be distinguished by shape or </a:t>
            </a:r>
            <a:r>
              <a:rPr lang="en-IN" sz="1200" kern="1200" dirty="0" err="1">
                <a:solidFill>
                  <a:schemeClr val="tx1"/>
                </a:solidFill>
                <a:effectLst/>
                <a:latin typeface="+mn-lt"/>
                <a:ea typeface="+mn-ea"/>
                <a:cs typeface="+mn-cs"/>
              </a:rPr>
              <a:t>color</a:t>
            </a:r>
            <a:r>
              <a:rPr lang="en-IN" sz="1200" kern="1200" dirty="0">
                <a:solidFill>
                  <a:schemeClr val="tx1"/>
                </a:solidFill>
                <a:effectLst/>
                <a:latin typeface="+mn-lt"/>
                <a:ea typeface="+mn-ea"/>
                <a:cs typeface="+mn-cs"/>
              </a:rPr>
              <a:t> or both (Figure 16.5). At a warning signal, a duplicate of one of the 48 patterns appeared in the </a:t>
            </a:r>
            <a:r>
              <a:rPr lang="en-IN" sz="1200" kern="1200" dirty="0" err="1">
                <a:solidFill>
                  <a:schemeClr val="tx1"/>
                </a:solidFill>
                <a:effectLst/>
                <a:latin typeface="+mn-lt"/>
                <a:ea typeface="+mn-ea"/>
                <a:cs typeface="+mn-cs"/>
              </a:rPr>
              <a:t>center</a:t>
            </a:r>
            <a:r>
              <a:rPr lang="en-IN" sz="1200" kern="1200" dirty="0">
                <a:solidFill>
                  <a:schemeClr val="tx1"/>
                </a:solidFill>
                <a:effectLst/>
                <a:latin typeface="+mn-lt"/>
                <a:ea typeface="+mn-ea"/>
                <a:cs typeface="+mn-cs"/>
              </a:rPr>
              <a:t> of the array, and the subject’s task was to identify the matching pattern by pointing to it. Patients with frontal-lobe lesions were impaired at finding the duplicate pattern.</a:t>
            </a:r>
          </a:p>
          <a:p>
            <a:pPr marL="0" indent="0">
              <a:buNone/>
            </a:pPr>
            <a:endParaRPr lang="en-US" sz="1200" dirty="0"/>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29</a:t>
            </a:fld>
            <a:endParaRPr lang="en-US"/>
          </a:p>
        </p:txBody>
      </p:sp>
    </p:spTree>
    <p:extLst>
      <p:ext uri="{BB962C8B-B14F-4D97-AF65-F5344CB8AC3E}">
        <p14:creationId xmlns:p14="http://schemas.microsoft.com/office/powerpoint/2010/main" val="10218407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When asked to copy a circle, the movement is completed correctly but cannot be inhibited; a series of repetitive circular movements ensue.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Abnormal repetition of a specific behaviour.</a:t>
            </a:r>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30</a:t>
            </a:fld>
            <a:endParaRPr lang="en-US"/>
          </a:p>
        </p:txBody>
      </p:sp>
    </p:spTree>
    <p:extLst>
      <p:ext uri="{BB962C8B-B14F-4D97-AF65-F5344CB8AC3E}">
        <p14:creationId xmlns:p14="http://schemas.microsoft.com/office/powerpoint/2010/main" val="28799022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31</a:t>
            </a:fld>
            <a:endParaRPr lang="en-US"/>
          </a:p>
        </p:txBody>
      </p:sp>
    </p:spTree>
    <p:extLst>
      <p:ext uri="{BB962C8B-B14F-4D97-AF65-F5344CB8AC3E}">
        <p14:creationId xmlns:p14="http://schemas.microsoft.com/office/powerpoint/2010/main" val="13646685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32</a:t>
            </a:fld>
            <a:endParaRPr lang="en-US"/>
          </a:p>
        </p:txBody>
      </p:sp>
    </p:spTree>
    <p:extLst>
      <p:ext uri="{BB962C8B-B14F-4D97-AF65-F5344CB8AC3E}">
        <p14:creationId xmlns:p14="http://schemas.microsoft.com/office/powerpoint/2010/main" val="34715812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33</a:t>
            </a:fld>
            <a:endParaRPr lang="en-US"/>
          </a:p>
        </p:txBody>
      </p:sp>
    </p:spTree>
    <p:extLst>
      <p:ext uri="{BB962C8B-B14F-4D97-AF65-F5344CB8AC3E}">
        <p14:creationId xmlns:p14="http://schemas.microsoft.com/office/powerpoint/2010/main" val="8095587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Aphasia – an acquired loss of or deficit in speech/language; brain damage; both expressive and receptive language</a:t>
            </a:r>
          </a:p>
          <a:p>
            <a:endParaRPr lang="en-US" dirty="0"/>
          </a:p>
          <a:p>
            <a:r>
              <a:rPr lang="en-IN" sz="1200" b="0" i="0" kern="1200" dirty="0">
                <a:solidFill>
                  <a:schemeClr val="tx1"/>
                </a:solidFill>
                <a:effectLst/>
                <a:latin typeface="+mn-lt"/>
                <a:ea typeface="+mn-ea"/>
                <a:cs typeface="+mn-cs"/>
              </a:rPr>
              <a:t>Dysarthria often is characterized by slurred or slow speech that can be difficult to understand. </a:t>
            </a:r>
          </a:p>
          <a:p>
            <a:endParaRPr lang="en-IN" sz="1200" b="0" i="0" kern="1200" dirty="0">
              <a:solidFill>
                <a:schemeClr val="tx1"/>
              </a:solidFill>
              <a:effectLst/>
              <a:latin typeface="+mn-lt"/>
              <a:ea typeface="+mn-ea"/>
              <a:cs typeface="+mn-cs"/>
            </a:endParaRPr>
          </a:p>
          <a:p>
            <a:r>
              <a:rPr lang="en-IN" sz="1200" b="1" i="0" kern="1200" dirty="0">
                <a:solidFill>
                  <a:schemeClr val="tx1"/>
                </a:solidFill>
                <a:effectLst/>
                <a:latin typeface="+mn-lt"/>
                <a:ea typeface="+mn-ea"/>
                <a:cs typeface="+mn-cs"/>
              </a:rPr>
              <a:t>Dysprosody</a:t>
            </a:r>
            <a:r>
              <a:rPr lang="en-IN" sz="1200" b="0" i="0" kern="1200" dirty="0">
                <a:solidFill>
                  <a:schemeClr val="tx1"/>
                </a:solidFill>
                <a:effectLst/>
                <a:latin typeface="+mn-lt"/>
                <a:ea typeface="+mn-ea"/>
                <a:cs typeface="+mn-cs"/>
              </a:rPr>
              <a:t>, which may manifest as pseudo-foreign accent syndrome, refers to a disorder in which one or more of the prosodic functions are either compromised or eliminated completely. Prosody refers to the variations in melody, intonation, pauses, stresses, intensity, vocal quality, and accents of speech.</a:t>
            </a:r>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34</a:t>
            </a:fld>
            <a:endParaRPr lang="en-US"/>
          </a:p>
        </p:txBody>
      </p:sp>
    </p:spTree>
    <p:extLst>
      <p:ext uri="{BB962C8B-B14F-4D97-AF65-F5344CB8AC3E}">
        <p14:creationId xmlns:p14="http://schemas.microsoft.com/office/powerpoint/2010/main" val="26172240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an isolated disorder of coordinated speech articulation that results in severe affection of verbal motor output</a:t>
            </a:r>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35</a:t>
            </a:fld>
            <a:endParaRPr lang="en-US"/>
          </a:p>
        </p:txBody>
      </p:sp>
    </p:spTree>
    <p:extLst>
      <p:ext uri="{BB962C8B-B14F-4D97-AF65-F5344CB8AC3E}">
        <p14:creationId xmlns:p14="http://schemas.microsoft.com/office/powerpoint/2010/main" val="14064919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36</a:t>
            </a:fld>
            <a:endParaRPr lang="en-US"/>
          </a:p>
        </p:txBody>
      </p:sp>
    </p:spTree>
    <p:extLst>
      <p:ext uri="{BB962C8B-B14F-4D97-AF65-F5344CB8AC3E}">
        <p14:creationId xmlns:p14="http://schemas.microsoft.com/office/powerpoint/2010/main" val="17480555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Boston Naming Test – name objects from pictures/line drawings</a:t>
            </a:r>
          </a:p>
          <a:p>
            <a:r>
              <a:rPr lang="en-US" dirty="0"/>
              <a:t>EVT – 152 synonym items and 38 labeling items which require subject to name the picture or body part</a:t>
            </a:r>
          </a:p>
          <a:p>
            <a:r>
              <a:rPr lang="en-US" dirty="0"/>
              <a:t>Token Test – presented with 20 tokens that vary in shape, size and color . Given 62 oral commands to follow – place white square beneath the red circle. </a:t>
            </a:r>
          </a:p>
        </p:txBody>
      </p:sp>
      <p:sp>
        <p:nvSpPr>
          <p:cNvPr id="4" name="Slide Number Placeholder 3"/>
          <p:cNvSpPr>
            <a:spLocks noGrp="1"/>
          </p:cNvSpPr>
          <p:nvPr>
            <p:ph type="sldNum" sz="quarter" idx="5"/>
          </p:nvPr>
        </p:nvSpPr>
        <p:spPr/>
        <p:txBody>
          <a:bodyPr/>
          <a:lstStyle/>
          <a:p>
            <a:fld id="{5AE402A6-E45B-C946-B802-3CD036AAC941}" type="slidenum">
              <a:rPr lang="en-US" smtClean="0"/>
              <a:t>37</a:t>
            </a:fld>
            <a:endParaRPr lang="en-US"/>
          </a:p>
        </p:txBody>
      </p:sp>
    </p:spTree>
    <p:extLst>
      <p:ext uri="{BB962C8B-B14F-4D97-AF65-F5344CB8AC3E}">
        <p14:creationId xmlns:p14="http://schemas.microsoft.com/office/powerpoint/2010/main" val="6697209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WAB – uses four oral language subtests. Also has tests for reading, writing, calculation and nonverbal skill</a:t>
            </a:r>
          </a:p>
          <a:p>
            <a:r>
              <a:rPr lang="en-US" dirty="0"/>
              <a:t>BDAB – qualitative assessment of language difficulties</a:t>
            </a:r>
          </a:p>
        </p:txBody>
      </p:sp>
      <p:sp>
        <p:nvSpPr>
          <p:cNvPr id="4" name="Slide Number Placeholder 3"/>
          <p:cNvSpPr>
            <a:spLocks noGrp="1"/>
          </p:cNvSpPr>
          <p:nvPr>
            <p:ph type="sldNum" sz="quarter" idx="5"/>
          </p:nvPr>
        </p:nvSpPr>
        <p:spPr/>
        <p:txBody>
          <a:bodyPr/>
          <a:lstStyle/>
          <a:p>
            <a:fld id="{5AE402A6-E45B-C946-B802-3CD036AAC941}" type="slidenum">
              <a:rPr lang="en-US" smtClean="0"/>
              <a:t>38</a:t>
            </a:fld>
            <a:endParaRPr lang="en-US"/>
          </a:p>
        </p:txBody>
      </p:sp>
    </p:spTree>
    <p:extLst>
      <p:ext uri="{BB962C8B-B14F-4D97-AF65-F5344CB8AC3E}">
        <p14:creationId xmlns:p14="http://schemas.microsoft.com/office/powerpoint/2010/main" val="20820004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impairment in all of these domains.</a:t>
            </a:r>
          </a:p>
        </p:txBody>
      </p:sp>
      <p:sp>
        <p:nvSpPr>
          <p:cNvPr id="4" name="Slide Number Placeholder 3"/>
          <p:cNvSpPr>
            <a:spLocks noGrp="1"/>
          </p:cNvSpPr>
          <p:nvPr>
            <p:ph type="sldNum" sz="quarter" idx="5"/>
          </p:nvPr>
        </p:nvSpPr>
        <p:spPr/>
        <p:txBody>
          <a:bodyPr/>
          <a:lstStyle/>
          <a:p>
            <a:fld id="{5AE402A6-E45B-C946-B802-3CD036AAC941}" type="slidenum">
              <a:rPr lang="en-US" smtClean="0"/>
              <a:t>39</a:t>
            </a:fld>
            <a:endParaRPr lang="en-US"/>
          </a:p>
        </p:txBody>
      </p:sp>
    </p:spTree>
    <p:extLst>
      <p:ext uri="{BB962C8B-B14F-4D97-AF65-F5344CB8AC3E}">
        <p14:creationId xmlns:p14="http://schemas.microsoft.com/office/powerpoint/2010/main" val="143130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Selective attention – perceive and analyse data from one source of information while excluding other irrelevant or interfering sources of information.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IN" sz="1200" kern="1200" dirty="0">
                <a:solidFill>
                  <a:schemeClr val="tx1"/>
                </a:solidFill>
                <a:effectLst/>
                <a:latin typeface="+mn-lt"/>
                <a:ea typeface="+mn-ea"/>
                <a:cs typeface="+mn-cs"/>
              </a:rPr>
              <a:t>However, Duncan and his colleagues (Duncan, 1995; Duncan et al. 1995) propose that</a:t>
            </a:r>
          </a:p>
          <a:p>
            <a:r>
              <a:rPr lang="en-IN" sz="1200" kern="1200" dirty="0">
                <a:solidFill>
                  <a:schemeClr val="tx1"/>
                </a:solidFill>
                <a:effectLst/>
                <a:latin typeface="+mn-lt"/>
                <a:ea typeface="+mn-ea"/>
                <a:cs typeface="+mn-cs"/>
              </a:rPr>
              <a:t>frontal lobe function is related to intelligence but not to conventional, general intelligence,</a:t>
            </a:r>
          </a:p>
          <a:p>
            <a:r>
              <a:rPr lang="en-IN" sz="1200" kern="1200" dirty="0">
                <a:solidFill>
                  <a:schemeClr val="tx1"/>
                </a:solidFill>
                <a:effectLst/>
                <a:latin typeface="+mn-lt"/>
                <a:ea typeface="+mn-ea"/>
                <a:cs typeface="+mn-cs"/>
              </a:rPr>
              <a:t>or g. Instead, Duncan proposes that the frontal lobes might be involved in the</a:t>
            </a:r>
          </a:p>
          <a:p>
            <a:r>
              <a:rPr lang="en-IN" sz="1200" kern="1200" dirty="0">
                <a:solidFill>
                  <a:schemeClr val="tx1"/>
                </a:solidFill>
                <a:effectLst/>
                <a:latin typeface="+mn-lt"/>
                <a:ea typeface="+mn-ea"/>
                <a:cs typeface="+mn-cs"/>
              </a:rPr>
              <a:t>execution of tests of fluid intelligence: that is, tests that do not require the subject to use</a:t>
            </a:r>
          </a:p>
          <a:p>
            <a:r>
              <a:rPr lang="en-IN" sz="1200" kern="1200" dirty="0">
                <a:solidFill>
                  <a:schemeClr val="tx1"/>
                </a:solidFill>
                <a:effectLst/>
                <a:latin typeface="+mn-lt"/>
                <a:ea typeface="+mn-ea"/>
                <a:cs typeface="+mn-cs"/>
              </a:rPr>
              <a:t>prior information explicitly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40</a:t>
            </a:fld>
            <a:endParaRPr lang="en-US"/>
          </a:p>
        </p:txBody>
      </p:sp>
    </p:spTree>
    <p:extLst>
      <p:ext uri="{BB962C8B-B14F-4D97-AF65-F5344CB8AC3E}">
        <p14:creationId xmlns:p14="http://schemas.microsoft.com/office/powerpoint/2010/main" val="41647393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The most important part of working memory is the central executive, which is thought to control resources and monitor information processing. It is served by two other processes, the phonological loop, which stores and rehearses verbal information, and the visuospatial sketchpad, which is concerned with visuospatial information and imagery. An example of the type of operation carried out by working memory is finding a number in the telephone directory and holding it in mental space until the number is dialled.</a:t>
            </a:r>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41</a:t>
            </a:fld>
            <a:endParaRPr lang="en-US"/>
          </a:p>
        </p:txBody>
      </p:sp>
    </p:spTree>
    <p:extLst>
      <p:ext uri="{BB962C8B-B14F-4D97-AF65-F5344CB8AC3E}">
        <p14:creationId xmlns:p14="http://schemas.microsoft.com/office/powerpoint/2010/main" val="40527442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It is our hypothesis that patients with frontal lobe damage have an </a:t>
            </a:r>
            <a:r>
              <a:rPr lang="en-IN" b="1" dirty="0"/>
              <a:t>impoverished ability to consciously recollect the past, even when they know about their past, and that such a deficit is related to other problems, such as failures of self-awareness and insight.</a:t>
            </a:r>
            <a:r>
              <a:rPr lang="en-IN" dirty="0"/>
              <a:t> seem unwilling or unable to become intimately aware of their prior experiences, despite good knowledge about the experiences.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recall “facts of memory”, yet without the self-continuity that would be expected of people who were recollecting their own past. </a:t>
            </a:r>
            <a:r>
              <a:rPr lang="en-IN" dirty="0"/>
              <a:t>The patients were said to have a </a:t>
            </a:r>
            <a:r>
              <a:rPr lang="en-IN" b="1" dirty="0"/>
              <a:t>detached attitude about things that had happened to them, and would often discuss incidents from their past as if they were describing someone else. </a:t>
            </a:r>
            <a:r>
              <a:rPr lang="en-IN" dirty="0"/>
              <a:t>Squire (1987) associated frontal pathology with </a:t>
            </a:r>
            <a:r>
              <a:rPr lang="en-IN" b="1" dirty="0"/>
              <a:t>a loss of “personal familiarity and connectedness” to recent events that could be recalled or recognized</a:t>
            </a:r>
            <a:r>
              <a:rPr lang="en-IN" dirty="0"/>
              <a:t>. There is also evidence that such patients can readily update their knowledge (i.e., learn from the past), yet fail to recollect the source of their knowledge </a:t>
            </a:r>
            <a:endParaRPr lang="en-I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In time-based experiments, the participant engages in a task and has to inform the experimenter when a certain time has elapsed (Einstein et al. 1998). This may be analogous to </a:t>
            </a:r>
            <a:r>
              <a:rPr lang="en-IN" sz="1200" b="1" kern="1200" dirty="0">
                <a:solidFill>
                  <a:schemeClr val="tx1"/>
                </a:solidFill>
                <a:effectLst/>
                <a:latin typeface="+mn-lt"/>
                <a:ea typeface="+mn-ea"/>
                <a:cs typeface="+mn-cs"/>
              </a:rPr>
              <a:t>remembering to telephone someone in an hour’s time </a:t>
            </a:r>
            <a:r>
              <a:rPr lang="en-IN" sz="1200" kern="1200" dirty="0">
                <a:solidFill>
                  <a:schemeClr val="tx1"/>
                </a:solidFill>
                <a:effectLst/>
                <a:latin typeface="+mn-lt"/>
                <a:ea typeface="+mn-ea"/>
                <a:cs typeface="+mn-cs"/>
              </a:rPr>
              <a:t>(Maylor 1996). In event-based experiments, participants must make a response when a particular event occurs in a sequence of events. Fortin et al. (2003) examined the effect of confirmed or suspected frontal lobe damage on the execution of what they call daily living scripts: ‘mental’ schemata that outline the steps in a task, such as preparing a meal. Whereas there was no difference between the patient and control group when each had to prepare a menu, the frontal lobe group was significantly impaired at meal preparation and poor at grocery shopping.</a:t>
            </a:r>
          </a:p>
          <a:p>
            <a:endParaRPr lang="en-US" dirty="0"/>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42</a:t>
            </a:fld>
            <a:endParaRPr lang="en-US"/>
          </a:p>
        </p:txBody>
      </p:sp>
    </p:spTree>
    <p:extLst>
      <p:ext uri="{BB962C8B-B14F-4D97-AF65-F5344CB8AC3E}">
        <p14:creationId xmlns:p14="http://schemas.microsoft.com/office/powerpoint/2010/main" val="42880551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dirty="0"/>
              <a:t>Comportment – behaviour/bearing</a:t>
            </a:r>
          </a:p>
          <a:p>
            <a:r>
              <a:rPr lang="en-IN" sz="1200" dirty="0"/>
              <a:t>Appropriate use of an object in an inappropriate situation.</a:t>
            </a:r>
          </a:p>
          <a:p>
            <a:endParaRPr lang="en-IN" sz="1200" dirty="0"/>
          </a:p>
          <a:p>
            <a:r>
              <a:rPr lang="en-IN" sz="1200" dirty="0"/>
              <a:t>Induced - </a:t>
            </a:r>
            <a:r>
              <a:rPr lang="en-IN" sz="1200" b="0" i="0" kern="1200" dirty="0">
                <a:solidFill>
                  <a:schemeClr val="tx1"/>
                </a:solidFill>
                <a:effectLst/>
                <a:latin typeface="+mn-lt"/>
                <a:ea typeface="+mn-ea"/>
                <a:cs typeface="+mn-cs"/>
              </a:rPr>
              <a:t>For </a:t>
            </a:r>
            <a:r>
              <a:rPr lang="en-IN" sz="1200" b="1" i="0" kern="1200" dirty="0">
                <a:solidFill>
                  <a:schemeClr val="tx1"/>
                </a:solidFill>
                <a:effectLst/>
                <a:latin typeface="+mn-lt"/>
                <a:ea typeface="+mn-ea"/>
                <a:cs typeface="+mn-cs"/>
              </a:rPr>
              <a:t>example</a:t>
            </a:r>
            <a:r>
              <a:rPr lang="en-IN" sz="1200" b="0" i="0" kern="1200" dirty="0">
                <a:solidFill>
                  <a:schemeClr val="tx1"/>
                </a:solidFill>
                <a:effectLst/>
                <a:latin typeface="+mn-lt"/>
                <a:ea typeface="+mn-ea"/>
                <a:cs typeface="+mn-cs"/>
              </a:rPr>
              <a:t>, when shown a pair of glasses, a patient is likely to put on the glasses.</a:t>
            </a:r>
          </a:p>
          <a:p>
            <a:r>
              <a:rPr lang="en-IN" sz="1200" b="0" i="0" kern="1200" dirty="0">
                <a:solidFill>
                  <a:schemeClr val="tx1"/>
                </a:solidFill>
                <a:effectLst/>
                <a:latin typeface="+mn-lt"/>
                <a:ea typeface="+mn-ea"/>
                <a:cs typeface="+mn-cs"/>
              </a:rPr>
              <a:t>Incidental – the patient will use an object if it catches his attention, whether relevant or not.</a:t>
            </a:r>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43</a:t>
            </a:fld>
            <a:endParaRPr lang="en-US"/>
          </a:p>
        </p:txBody>
      </p:sp>
    </p:spTree>
    <p:extLst>
      <p:ext uri="{BB962C8B-B14F-4D97-AF65-F5344CB8AC3E}">
        <p14:creationId xmlns:p14="http://schemas.microsoft.com/office/powerpoint/2010/main" val="40759244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kern="1200" dirty="0">
                <a:solidFill>
                  <a:schemeClr val="tx1"/>
                </a:solidFill>
                <a:effectLst/>
                <a:latin typeface="+mn-lt"/>
                <a:ea typeface="+mn-ea"/>
                <a:cs typeface="+mn-cs"/>
              </a:rPr>
              <a:t>difficulty resisting the </a:t>
            </a:r>
            <a:r>
              <a:rPr lang="en-IN" sz="1200" b="0" i="0" u="none" strike="noStrike" kern="1200" dirty="0">
                <a:solidFill>
                  <a:schemeClr val="tx1"/>
                </a:solidFill>
                <a:effectLst/>
                <a:latin typeface="+mn-lt"/>
                <a:ea typeface="+mn-ea"/>
                <a:cs typeface="+mn-cs"/>
                <a:hlinkClick r:id="rId3" tooltip="Impulse (psychology)"/>
              </a:rPr>
              <a:t>impulse</a:t>
            </a:r>
            <a:r>
              <a:rPr lang="en-IN" sz="1200" b="0" i="0" kern="1200" dirty="0">
                <a:solidFill>
                  <a:schemeClr val="tx1"/>
                </a:solidFill>
                <a:effectLst/>
                <a:latin typeface="+mn-lt"/>
                <a:ea typeface="+mn-ea"/>
                <a:cs typeface="+mn-cs"/>
              </a:rPr>
              <a:t> to operate or manipulate objects which are in their </a:t>
            </a:r>
            <a:r>
              <a:rPr lang="en-IN" sz="1200" b="0" i="0" u="none" strike="noStrike" kern="1200" dirty="0">
                <a:solidFill>
                  <a:schemeClr val="tx1"/>
                </a:solidFill>
                <a:effectLst/>
                <a:latin typeface="+mn-lt"/>
                <a:ea typeface="+mn-ea"/>
                <a:cs typeface="+mn-cs"/>
                <a:hlinkClick r:id="rId4" tooltip="Visual field"/>
              </a:rPr>
              <a:t>visual field</a:t>
            </a:r>
            <a:r>
              <a:rPr lang="en-IN" sz="1200" b="0" i="0" kern="1200" dirty="0">
                <a:solidFill>
                  <a:schemeClr val="tx1"/>
                </a:solidFill>
                <a:effectLst/>
                <a:latin typeface="+mn-lt"/>
                <a:ea typeface="+mn-ea"/>
                <a:cs typeface="+mn-cs"/>
              </a:rPr>
              <a:t> and within reach</a:t>
            </a:r>
            <a:endParaRPr lang="en-US" dirty="0"/>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44</a:t>
            </a:fld>
            <a:endParaRPr lang="en-US"/>
          </a:p>
        </p:txBody>
      </p:sp>
    </p:spTree>
    <p:extLst>
      <p:ext uri="{BB962C8B-B14F-4D97-AF65-F5344CB8AC3E}">
        <p14:creationId xmlns:p14="http://schemas.microsoft.com/office/powerpoint/2010/main" val="29359033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dirty="0"/>
              <a:t>In normal individuals, the parietal lobe integrates sensory information from the environment, while the frontal lobe inhibits some of the parietal lobe’s activity. This relationship ensures the relative dependence on or independence from the external environment, making sure that the quality of external stimuli is examined. </a:t>
            </a:r>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45</a:t>
            </a:fld>
            <a:endParaRPr lang="en-US"/>
          </a:p>
        </p:txBody>
      </p:sp>
    </p:spTree>
    <p:extLst>
      <p:ext uri="{BB962C8B-B14F-4D97-AF65-F5344CB8AC3E}">
        <p14:creationId xmlns:p14="http://schemas.microsoft.com/office/powerpoint/2010/main" val="20347800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46</a:t>
            </a:fld>
            <a:endParaRPr lang="en-US"/>
          </a:p>
        </p:txBody>
      </p:sp>
    </p:spTree>
    <p:extLst>
      <p:ext uri="{BB962C8B-B14F-4D97-AF65-F5344CB8AC3E}">
        <p14:creationId xmlns:p14="http://schemas.microsoft.com/office/powerpoint/2010/main" val="28901202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47</a:t>
            </a:fld>
            <a:endParaRPr lang="en-US"/>
          </a:p>
        </p:txBody>
      </p:sp>
    </p:spTree>
    <p:extLst>
      <p:ext uri="{BB962C8B-B14F-4D97-AF65-F5344CB8AC3E}">
        <p14:creationId xmlns:p14="http://schemas.microsoft.com/office/powerpoint/2010/main" val="15473558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48</a:t>
            </a:fld>
            <a:endParaRPr lang="en-US"/>
          </a:p>
        </p:txBody>
      </p:sp>
    </p:spTree>
    <p:extLst>
      <p:ext uri="{BB962C8B-B14F-4D97-AF65-F5344CB8AC3E}">
        <p14:creationId xmlns:p14="http://schemas.microsoft.com/office/powerpoint/2010/main" val="24287605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49</a:t>
            </a:fld>
            <a:endParaRPr lang="en-US"/>
          </a:p>
        </p:txBody>
      </p:sp>
    </p:spTree>
    <p:extLst>
      <p:ext uri="{BB962C8B-B14F-4D97-AF65-F5344CB8AC3E}">
        <p14:creationId xmlns:p14="http://schemas.microsoft.com/office/powerpoint/2010/main" val="18259288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sequencing – the organization of stimuli in the correct, logical or learned order – is a function of rule learning. We learn to do things in a</a:t>
            </a:r>
          </a:p>
          <a:p>
            <a:r>
              <a:rPr lang="en-IN" sz="1200" kern="1200" dirty="0">
                <a:solidFill>
                  <a:schemeClr val="tx1"/>
                </a:solidFill>
                <a:effectLst/>
                <a:latin typeface="+mn-lt"/>
                <a:ea typeface="+mn-ea"/>
                <a:cs typeface="+mn-cs"/>
              </a:rPr>
              <a:t>certain way in order to make them work, writing a letter on a computer entails enacting a sequence of behaviour such as plugging in the computer and switching on the hard disk and monitor, opening up the word-processing application, opening a folder and file and starting to write.</a:t>
            </a:r>
          </a:p>
          <a:p>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Picture ordering tasks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50</a:t>
            </a:fld>
            <a:endParaRPr lang="en-US"/>
          </a:p>
        </p:txBody>
      </p:sp>
    </p:spTree>
    <p:extLst>
      <p:ext uri="{BB962C8B-B14F-4D97-AF65-F5344CB8AC3E}">
        <p14:creationId xmlns:p14="http://schemas.microsoft.com/office/powerpoint/2010/main" val="16984075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51</a:t>
            </a:fld>
            <a:endParaRPr lang="en-US"/>
          </a:p>
        </p:txBody>
      </p:sp>
    </p:spTree>
    <p:extLst>
      <p:ext uri="{BB962C8B-B14F-4D97-AF65-F5344CB8AC3E}">
        <p14:creationId xmlns:p14="http://schemas.microsoft.com/office/powerpoint/2010/main" val="38315398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52</a:t>
            </a:fld>
            <a:endParaRPr lang="en-US"/>
          </a:p>
        </p:txBody>
      </p:sp>
    </p:spTree>
    <p:extLst>
      <p:ext uri="{BB962C8B-B14F-4D97-AF65-F5344CB8AC3E}">
        <p14:creationId xmlns:p14="http://schemas.microsoft.com/office/powerpoint/2010/main" val="25377261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53</a:t>
            </a:fld>
            <a:endParaRPr lang="en-US"/>
          </a:p>
        </p:txBody>
      </p:sp>
    </p:spTree>
    <p:extLst>
      <p:ext uri="{BB962C8B-B14F-4D97-AF65-F5344CB8AC3E}">
        <p14:creationId xmlns:p14="http://schemas.microsoft.com/office/powerpoint/2010/main" val="14507050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Cognitive flexibility is the human ability to adapt the cognitive processing strategies to face new and unexpected conditions in the environment (</a:t>
            </a:r>
            <a:r>
              <a:rPr lang="en-IN" dirty="0" err="1"/>
              <a:t>Cañas</a:t>
            </a:r>
            <a:r>
              <a:rPr lang="en-IN" dirty="0"/>
              <a:t>, Quesada, </a:t>
            </a:r>
            <a:r>
              <a:rPr lang="en-IN" dirty="0" err="1"/>
              <a:t>Antolí</a:t>
            </a:r>
            <a:r>
              <a:rPr lang="en-IN" dirty="0"/>
              <a:t> and Fajardo, 2003). </a:t>
            </a:r>
          </a:p>
          <a:p>
            <a:r>
              <a:rPr lang="en-IN" dirty="0"/>
              <a:t>When a person performs a complex task her/his </a:t>
            </a:r>
            <a:r>
              <a:rPr lang="en-IN" dirty="0" err="1"/>
              <a:t>behavior</a:t>
            </a:r>
            <a:r>
              <a:rPr lang="en-IN" dirty="0"/>
              <a:t> needs to be adapted to the environmental conditions in which the task is being performed. However, these conditions continue to change as the task develops, therefore in order to be flexible a person has to focus attention on these conditions on a regular basis. In addition to this, in order to adapt her/his </a:t>
            </a:r>
            <a:r>
              <a:rPr lang="en-IN" dirty="0" err="1"/>
              <a:t>behavior</a:t>
            </a:r>
            <a:r>
              <a:rPr lang="en-IN" dirty="0"/>
              <a:t> to the new conditions the person needs to restructure her/his knowledge so as to effectively interpret the new situation and the new task requirements. Cognitive flexibility, therefore, depends on attentional processes and knowledge representation. </a:t>
            </a:r>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54</a:t>
            </a:fld>
            <a:endParaRPr lang="en-US"/>
          </a:p>
        </p:txBody>
      </p:sp>
    </p:spTree>
    <p:extLst>
      <p:ext uri="{BB962C8B-B14F-4D97-AF65-F5344CB8AC3E}">
        <p14:creationId xmlns:p14="http://schemas.microsoft.com/office/powerpoint/2010/main" val="41343074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CPT – respond only if a particular letter is present in a series of letters or if a letter follows another specific letter.</a:t>
            </a:r>
          </a:p>
          <a:p>
            <a:r>
              <a:rPr lang="en-US" dirty="0"/>
              <a:t>BTA – A series of numbers and letters presented on audiotape. In the first half, disregard the letters and count the numbers in each series. In the second half, other way round.</a:t>
            </a:r>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55</a:t>
            </a:fld>
            <a:endParaRPr lang="en-US"/>
          </a:p>
        </p:txBody>
      </p:sp>
    </p:spTree>
    <p:extLst>
      <p:ext uri="{BB962C8B-B14F-4D97-AF65-F5344CB8AC3E}">
        <p14:creationId xmlns:p14="http://schemas.microsoft.com/office/powerpoint/2010/main" val="14699182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Trail Making – Number sequencing, letter and number sequencing; join the numbered dots</a:t>
            </a:r>
          </a:p>
        </p:txBody>
      </p:sp>
      <p:sp>
        <p:nvSpPr>
          <p:cNvPr id="4" name="Slide Number Placeholder 3"/>
          <p:cNvSpPr>
            <a:spLocks noGrp="1"/>
          </p:cNvSpPr>
          <p:nvPr>
            <p:ph type="sldNum" sz="quarter" idx="5"/>
          </p:nvPr>
        </p:nvSpPr>
        <p:spPr/>
        <p:txBody>
          <a:bodyPr/>
          <a:lstStyle/>
          <a:p>
            <a:fld id="{5AE402A6-E45B-C946-B802-3CD036AAC941}" type="slidenum">
              <a:rPr lang="en-US" smtClean="0"/>
              <a:t>56</a:t>
            </a:fld>
            <a:endParaRPr lang="en-US"/>
          </a:p>
        </p:txBody>
      </p:sp>
    </p:spTree>
    <p:extLst>
      <p:ext uri="{BB962C8B-B14F-4D97-AF65-F5344CB8AC3E}">
        <p14:creationId xmlns:p14="http://schemas.microsoft.com/office/powerpoint/2010/main" val="5559202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CVLT – 16 words to be learned over five trials, interference list, delayed recall. Recognition trial </a:t>
            </a:r>
          </a:p>
        </p:txBody>
      </p:sp>
      <p:sp>
        <p:nvSpPr>
          <p:cNvPr id="4" name="Slide Number Placeholder 3"/>
          <p:cNvSpPr>
            <a:spLocks noGrp="1"/>
          </p:cNvSpPr>
          <p:nvPr>
            <p:ph type="sldNum" sz="quarter" idx="5"/>
          </p:nvPr>
        </p:nvSpPr>
        <p:spPr/>
        <p:txBody>
          <a:bodyPr/>
          <a:lstStyle/>
          <a:p>
            <a:fld id="{5AE402A6-E45B-C946-B802-3CD036AAC941}" type="slidenum">
              <a:rPr lang="en-US" smtClean="0"/>
              <a:t>57</a:t>
            </a:fld>
            <a:endParaRPr lang="en-US"/>
          </a:p>
        </p:txBody>
      </p:sp>
    </p:spTree>
    <p:extLst>
      <p:ext uri="{BB962C8B-B14F-4D97-AF65-F5344CB8AC3E}">
        <p14:creationId xmlns:p14="http://schemas.microsoft.com/office/powerpoint/2010/main" val="39269335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RAVLT – learn 15 words over 5 trials; interference, delayed recall, recognition.</a:t>
            </a:r>
          </a:p>
        </p:txBody>
      </p:sp>
      <p:sp>
        <p:nvSpPr>
          <p:cNvPr id="4" name="Slide Number Placeholder 3"/>
          <p:cNvSpPr>
            <a:spLocks noGrp="1"/>
          </p:cNvSpPr>
          <p:nvPr>
            <p:ph type="sldNum" sz="quarter" idx="5"/>
          </p:nvPr>
        </p:nvSpPr>
        <p:spPr/>
        <p:txBody>
          <a:bodyPr/>
          <a:lstStyle/>
          <a:p>
            <a:fld id="{5AE402A6-E45B-C946-B802-3CD036AAC941}" type="slidenum">
              <a:rPr lang="en-US" smtClean="0"/>
              <a:t>58</a:t>
            </a:fld>
            <a:endParaRPr lang="en-US"/>
          </a:p>
        </p:txBody>
      </p:sp>
    </p:spTree>
    <p:extLst>
      <p:ext uri="{BB962C8B-B14F-4D97-AF65-F5344CB8AC3E}">
        <p14:creationId xmlns:p14="http://schemas.microsoft.com/office/powerpoint/2010/main" val="25871275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COWA Requires the patient to name as many items, as possible, beginning with a given letter (F, A &amp; 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DFT </a:t>
            </a:r>
            <a:r>
              <a:rPr lang="en-IN" sz="1200" dirty="0"/>
              <a:t>Subjects are asked to draw as many unnameable, abstract drawings as they can in 5 minutes. </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59</a:t>
            </a:fld>
            <a:endParaRPr lang="en-US"/>
          </a:p>
        </p:txBody>
      </p:sp>
    </p:spTree>
    <p:extLst>
      <p:ext uri="{BB962C8B-B14F-4D97-AF65-F5344CB8AC3E}">
        <p14:creationId xmlns:p14="http://schemas.microsoft.com/office/powerpoint/2010/main" val="172556448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2400" dirty="0"/>
              <a:t>Subjects required to build a tower or pyramid according to a specified arrangement </a:t>
            </a:r>
            <a:br>
              <a:rPr lang="en-US" sz="2400" dirty="0"/>
            </a:br>
            <a:r>
              <a:rPr lang="en-US" sz="2400" dirty="0"/>
              <a:t>of pieces.</a:t>
            </a:r>
          </a:p>
          <a:p>
            <a:pPr lvl="1"/>
            <a:r>
              <a:rPr lang="en-US" sz="2400" dirty="0"/>
              <a:t>The solution to the puzzle must be found in the fewest number of moves possible under such constraints as using only one hand, moving only one piece at a time and not placing a larger piece on top of a smaller piece.</a:t>
            </a:r>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60</a:t>
            </a:fld>
            <a:endParaRPr lang="en-US"/>
          </a:p>
        </p:txBody>
      </p:sp>
    </p:spTree>
    <p:extLst>
      <p:ext uri="{BB962C8B-B14F-4D97-AF65-F5344CB8AC3E}">
        <p14:creationId xmlns:p14="http://schemas.microsoft.com/office/powerpoint/2010/main" val="6433218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61</a:t>
            </a:fld>
            <a:endParaRPr lang="en-US"/>
          </a:p>
        </p:txBody>
      </p:sp>
    </p:spTree>
    <p:extLst>
      <p:ext uri="{BB962C8B-B14F-4D97-AF65-F5344CB8AC3E}">
        <p14:creationId xmlns:p14="http://schemas.microsoft.com/office/powerpoint/2010/main" val="9087923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62</a:t>
            </a:fld>
            <a:endParaRPr lang="en-US"/>
          </a:p>
        </p:txBody>
      </p:sp>
    </p:spTree>
    <p:extLst>
      <p:ext uri="{BB962C8B-B14F-4D97-AF65-F5344CB8AC3E}">
        <p14:creationId xmlns:p14="http://schemas.microsoft.com/office/powerpoint/2010/main" val="248824857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1" indent="0" algn="l" defTabSz="914400" rtl="0" eaLnBrk="1" fontAlgn="auto" latinLnBrk="0" hangingPunct="1">
              <a:lnSpc>
                <a:spcPct val="100000"/>
              </a:lnSpc>
              <a:spcBef>
                <a:spcPts val="0"/>
              </a:spcBef>
              <a:spcAft>
                <a:spcPts val="0"/>
              </a:spcAft>
              <a:buClrTx/>
              <a:buSzTx/>
              <a:buFont typeface="Wingdings" pitchFamily="2" charset="2"/>
              <a:buChar char="§"/>
              <a:tabLst/>
              <a:defRPr/>
            </a:pPr>
            <a:r>
              <a:rPr lang="en-IN" sz="2600" dirty="0"/>
              <a:t>Involves the completion of a number of everyday errands such as shopping in </a:t>
            </a:r>
            <a:br>
              <a:rPr lang="en-IN" sz="2600" dirty="0"/>
            </a:br>
            <a:r>
              <a:rPr lang="en-IN" sz="2600" dirty="0"/>
              <a:t>an unfamiliar street according to a given but arbitrary set of rules. </a:t>
            </a:r>
          </a:p>
          <a:p>
            <a:pPr lvl="1">
              <a:buFont typeface="Wingdings" pitchFamily="2" charset="2"/>
              <a:buChar char="§"/>
            </a:pPr>
            <a:endParaRPr lang="en-IN" sz="2600" dirty="0"/>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63</a:t>
            </a:fld>
            <a:endParaRPr lang="en-US"/>
          </a:p>
        </p:txBody>
      </p:sp>
    </p:spTree>
    <p:extLst>
      <p:ext uri="{BB962C8B-B14F-4D97-AF65-F5344CB8AC3E}">
        <p14:creationId xmlns:p14="http://schemas.microsoft.com/office/powerpoint/2010/main" val="13813503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Category Test - 208 pictures geometric figures, what number does each picture look like, 1, 2, 3, or 4.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Proverb – Free recall phase (oral/verbal interpretation) and multiple choice (choose an interpretation)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Patients must draw a route on the plan of a field to show how they would search the field to be sure to find keys they had lost somewhere in the field.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Patients must estimate quantities, which they are unlikely to know, by reasoning from their real world experience.</a:t>
            </a:r>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64</a:t>
            </a:fld>
            <a:endParaRPr lang="en-US"/>
          </a:p>
        </p:txBody>
      </p:sp>
    </p:spTree>
    <p:extLst>
      <p:ext uri="{BB962C8B-B14F-4D97-AF65-F5344CB8AC3E}">
        <p14:creationId xmlns:p14="http://schemas.microsoft.com/office/powerpoint/2010/main" val="3544166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IN" sz="1200" dirty="0"/>
              <a:t>Gage’s injury primarily affected the</a:t>
            </a:r>
            <a:r>
              <a:rPr lang="en-IN" sz="1200" b="1" dirty="0"/>
              <a:t> left frontal lobe from the medial orbital region upward to the precentral region.</a:t>
            </a:r>
          </a:p>
          <a:p>
            <a:endParaRPr lang="en-IN" dirty="0"/>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65</a:t>
            </a:fld>
            <a:endParaRPr lang="en-US"/>
          </a:p>
        </p:txBody>
      </p:sp>
    </p:spTree>
    <p:extLst>
      <p:ext uri="{BB962C8B-B14F-4D97-AF65-F5344CB8AC3E}">
        <p14:creationId xmlns:p14="http://schemas.microsoft.com/office/powerpoint/2010/main" val="26822813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contravening - violating</a:t>
            </a:r>
          </a:p>
        </p:txBody>
      </p:sp>
      <p:sp>
        <p:nvSpPr>
          <p:cNvPr id="4" name="Slide Number Placeholder 3"/>
          <p:cNvSpPr>
            <a:spLocks noGrp="1"/>
          </p:cNvSpPr>
          <p:nvPr>
            <p:ph type="sldNum" sz="quarter" idx="5"/>
          </p:nvPr>
        </p:nvSpPr>
        <p:spPr/>
        <p:txBody>
          <a:bodyPr/>
          <a:lstStyle/>
          <a:p>
            <a:fld id="{5AE402A6-E45B-C946-B802-3CD036AAC941}" type="slidenum">
              <a:rPr lang="en-US" smtClean="0"/>
              <a:t>66</a:t>
            </a:fld>
            <a:endParaRPr lang="en-US"/>
          </a:p>
        </p:txBody>
      </p:sp>
    </p:spTree>
    <p:extLst>
      <p:ext uri="{BB962C8B-B14F-4D97-AF65-F5344CB8AC3E}">
        <p14:creationId xmlns:p14="http://schemas.microsoft.com/office/powerpoint/2010/main" val="211651686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67</a:t>
            </a:fld>
            <a:endParaRPr lang="en-US"/>
          </a:p>
        </p:txBody>
      </p:sp>
    </p:spTree>
    <p:extLst>
      <p:ext uri="{BB962C8B-B14F-4D97-AF65-F5344CB8AC3E}">
        <p14:creationId xmlns:p14="http://schemas.microsoft.com/office/powerpoint/2010/main" val="412428281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Our behaviour is under the influence of our personal past experiences and life goals for the future such that we interpret the world in our daily life within our own frames </a:t>
            </a:r>
            <a:r>
              <a:rPr lang="en-IN" sz="1200"/>
              <a:t>of reference</a:t>
            </a:r>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68</a:t>
            </a:fld>
            <a:endParaRPr lang="en-US"/>
          </a:p>
        </p:txBody>
      </p:sp>
    </p:spTree>
    <p:extLst>
      <p:ext uri="{BB962C8B-B14F-4D97-AF65-F5344CB8AC3E}">
        <p14:creationId xmlns:p14="http://schemas.microsoft.com/office/powerpoint/2010/main" val="55828367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69</a:t>
            </a:fld>
            <a:endParaRPr lang="en-US"/>
          </a:p>
        </p:txBody>
      </p:sp>
    </p:spTree>
    <p:extLst>
      <p:ext uri="{BB962C8B-B14F-4D97-AF65-F5344CB8AC3E}">
        <p14:creationId xmlns:p14="http://schemas.microsoft.com/office/powerpoint/2010/main" val="78865097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70</a:t>
            </a:fld>
            <a:endParaRPr lang="en-US"/>
          </a:p>
        </p:txBody>
      </p:sp>
    </p:spTree>
    <p:extLst>
      <p:ext uri="{BB962C8B-B14F-4D97-AF65-F5344CB8AC3E}">
        <p14:creationId xmlns:p14="http://schemas.microsoft.com/office/powerpoint/2010/main" val="25138166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(inability to move and speak)</a:t>
            </a:r>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71</a:t>
            </a:fld>
            <a:endParaRPr lang="en-US"/>
          </a:p>
        </p:txBody>
      </p:sp>
    </p:spTree>
    <p:extLst>
      <p:ext uri="{BB962C8B-B14F-4D97-AF65-F5344CB8AC3E}">
        <p14:creationId xmlns:p14="http://schemas.microsoft.com/office/powerpoint/2010/main" val="34865458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The neuroimaging research on </a:t>
            </a:r>
            <a:r>
              <a:rPr lang="en-IN" sz="1200" dirty="0" err="1"/>
              <a:t>ToM</a:t>
            </a:r>
            <a:r>
              <a:rPr lang="en-IN" sz="1200" dirty="0"/>
              <a:t> suggests that the frontal lobe is involved in the ability to ascribe motives and beliefs to others. However, not all studies support this link between </a:t>
            </a:r>
            <a:r>
              <a:rPr lang="en-IN" sz="1200" dirty="0" err="1"/>
              <a:t>ToM</a:t>
            </a:r>
            <a:r>
              <a:rPr lang="en-IN" sz="1200" dirty="0"/>
              <a:t> performance and frontal cortex involvement.</a:t>
            </a:r>
          </a:p>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72</a:t>
            </a:fld>
            <a:endParaRPr lang="en-US"/>
          </a:p>
        </p:txBody>
      </p:sp>
    </p:spTree>
    <p:extLst>
      <p:ext uri="{BB962C8B-B14F-4D97-AF65-F5344CB8AC3E}">
        <p14:creationId xmlns:p14="http://schemas.microsoft.com/office/powerpoint/2010/main" val="53666579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Interaction with friends vs family/grandparents</a:t>
            </a:r>
          </a:p>
        </p:txBody>
      </p:sp>
      <p:sp>
        <p:nvSpPr>
          <p:cNvPr id="4" name="Slide Number Placeholder 3"/>
          <p:cNvSpPr>
            <a:spLocks noGrp="1"/>
          </p:cNvSpPr>
          <p:nvPr>
            <p:ph type="sldNum" sz="quarter" idx="5"/>
          </p:nvPr>
        </p:nvSpPr>
        <p:spPr/>
        <p:txBody>
          <a:bodyPr/>
          <a:lstStyle/>
          <a:p>
            <a:fld id="{5AE402A6-E45B-C946-B802-3CD036AAC941}" type="slidenum">
              <a:rPr lang="en-US" smtClean="0"/>
              <a:t>73</a:t>
            </a:fld>
            <a:endParaRPr lang="en-US"/>
          </a:p>
        </p:txBody>
      </p:sp>
    </p:spTree>
    <p:extLst>
      <p:ext uri="{BB962C8B-B14F-4D97-AF65-F5344CB8AC3E}">
        <p14:creationId xmlns:p14="http://schemas.microsoft.com/office/powerpoint/2010/main" val="294977335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Blunder/faux pas</a:t>
            </a:r>
          </a:p>
          <a:p>
            <a:r>
              <a:rPr lang="en-IN" sz="1200" b="0" i="0" kern="1200" dirty="0">
                <a:solidFill>
                  <a:schemeClr val="tx1"/>
                </a:solidFill>
                <a:effectLst/>
                <a:latin typeface="+mn-lt"/>
                <a:ea typeface="+mn-ea"/>
                <a:cs typeface="+mn-cs"/>
              </a:rPr>
              <a:t>joking around, or treating serious subjects in a humorous way. </a:t>
            </a:r>
          </a:p>
          <a:p>
            <a:r>
              <a:rPr lang="en-IN" sz="1200" b="0" i="0" kern="1200" dirty="0">
                <a:solidFill>
                  <a:schemeClr val="tx1"/>
                </a:solidFill>
                <a:effectLst/>
                <a:latin typeface="+mn-lt"/>
                <a:ea typeface="+mn-ea"/>
                <a:cs typeface="+mn-cs"/>
              </a:rPr>
              <a:t>having little or no regard for interests, beliefs, or attitudes other than one's own; </a:t>
            </a:r>
            <a:r>
              <a:rPr lang="en-IN" sz="1200" b="0" i="0" kern="1200" dirty="0" err="1">
                <a:solidFill>
                  <a:schemeClr val="tx1"/>
                </a:solidFill>
                <a:effectLst/>
                <a:latin typeface="+mn-lt"/>
                <a:ea typeface="+mn-ea"/>
                <a:cs typeface="+mn-cs"/>
              </a:rPr>
              <a:t>self-centered</a:t>
            </a:r>
            <a:r>
              <a:rPr lang="en-IN" sz="1200" b="0" i="0" kern="1200" dirty="0">
                <a:solidFill>
                  <a:schemeClr val="tx1"/>
                </a:solidFill>
                <a:effectLst/>
                <a:latin typeface="+mn-lt"/>
                <a:ea typeface="+mn-ea"/>
                <a:cs typeface="+mn-cs"/>
              </a:rPr>
              <a:t>: an egocentric person; egocentric demands upon the time and patience of others</a:t>
            </a:r>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74</a:t>
            </a:fld>
            <a:endParaRPr lang="en-US"/>
          </a:p>
        </p:txBody>
      </p:sp>
    </p:spTree>
    <p:extLst>
      <p:ext uri="{BB962C8B-B14F-4D97-AF65-F5344CB8AC3E}">
        <p14:creationId xmlns:p14="http://schemas.microsoft.com/office/powerpoint/2010/main" val="33784537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Wingdings" pitchFamily="2" charset="2"/>
              <a:buChar char="§"/>
            </a:pPr>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75</a:t>
            </a:fld>
            <a:endParaRPr lang="en-US"/>
          </a:p>
        </p:txBody>
      </p:sp>
    </p:spTree>
    <p:extLst>
      <p:ext uri="{BB962C8B-B14F-4D97-AF65-F5344CB8AC3E}">
        <p14:creationId xmlns:p14="http://schemas.microsoft.com/office/powerpoint/2010/main" val="177356479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typical </a:t>
            </a:r>
            <a:r>
              <a:rPr lang="en-US" dirty="0" err="1"/>
              <a:t>presenations</a:t>
            </a:r>
            <a:r>
              <a:rPr lang="en-US" dirty="0"/>
              <a:t> - frontal lobe personalities</a:t>
            </a:r>
          </a:p>
        </p:txBody>
      </p:sp>
      <p:sp>
        <p:nvSpPr>
          <p:cNvPr id="4" name="Slide Number Placeholder 3"/>
          <p:cNvSpPr>
            <a:spLocks noGrp="1"/>
          </p:cNvSpPr>
          <p:nvPr>
            <p:ph type="sldNum" sz="quarter" idx="5"/>
          </p:nvPr>
        </p:nvSpPr>
        <p:spPr/>
        <p:txBody>
          <a:bodyPr/>
          <a:lstStyle/>
          <a:p>
            <a:fld id="{5AE402A6-E45B-C946-B802-3CD036AAC941}" type="slidenum">
              <a:rPr lang="en-US" smtClean="0"/>
              <a:t>76</a:t>
            </a:fld>
            <a:endParaRPr lang="en-US"/>
          </a:p>
        </p:txBody>
      </p:sp>
    </p:spTree>
    <p:extLst>
      <p:ext uri="{BB962C8B-B14F-4D97-AF65-F5344CB8AC3E}">
        <p14:creationId xmlns:p14="http://schemas.microsoft.com/office/powerpoint/2010/main" val="64028239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
              <a:tabLst/>
              <a:defRPr/>
            </a:pPr>
            <a:r>
              <a:rPr lang="en-IN" dirty="0"/>
              <a:t>Descriptions of frontal lobe personality, therefore, cover a vast variety of symptomatology and there is considerable variation among patients.</a:t>
            </a:r>
          </a:p>
          <a:p>
            <a:pPr>
              <a:buFont typeface="Wingdings" pitchFamily="2" charset="2"/>
              <a:buChar char="§"/>
            </a:pPr>
            <a:endParaRPr lang="en-US" dirty="0"/>
          </a:p>
          <a:p>
            <a:pPr>
              <a:buFont typeface="Wingdings" pitchFamily="2" charset="2"/>
              <a:buChar char="§"/>
            </a:pPr>
            <a:endParaRPr lang="en-US" dirty="0"/>
          </a:p>
          <a:p>
            <a:pPr>
              <a:buFont typeface="Wingdings" pitchFamily="2" charset="2"/>
              <a:buChar char="§"/>
            </a:pPr>
            <a:r>
              <a:rPr lang="en-US" dirty="0"/>
              <a:t>REGIONS IMPLICATED IN MOOD DISORDERS  and negative symptoms of </a:t>
            </a:r>
            <a:r>
              <a:rPr lang="en-US" dirty="0" err="1"/>
              <a:t>schiz</a:t>
            </a:r>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77</a:t>
            </a:fld>
            <a:endParaRPr lang="en-US"/>
          </a:p>
        </p:txBody>
      </p:sp>
    </p:spTree>
    <p:extLst>
      <p:ext uri="{BB962C8B-B14F-4D97-AF65-F5344CB8AC3E}">
        <p14:creationId xmlns:p14="http://schemas.microsoft.com/office/powerpoint/2010/main" val="94365327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Instruments used to assess personality in frontal disorder patients yield data on premorbid versus current changes in personality and quantitative comparisons of </a:t>
            </a:r>
            <a:r>
              <a:rPr lang="en-IN" sz="1200" b="0" i="0" kern="1200" dirty="0" err="1">
                <a:solidFill>
                  <a:schemeClr val="tx1"/>
                </a:solidFill>
                <a:effectLst/>
                <a:latin typeface="+mn-lt"/>
                <a:ea typeface="+mn-ea"/>
                <a:cs typeface="+mn-cs"/>
              </a:rPr>
              <a:t>behavioral</a:t>
            </a:r>
            <a:r>
              <a:rPr lang="en-IN" sz="1200" b="0" i="0" kern="1200" dirty="0">
                <a:solidFill>
                  <a:schemeClr val="tx1"/>
                </a:solidFill>
                <a:effectLst/>
                <a:latin typeface="+mn-lt"/>
                <a:ea typeface="+mn-ea"/>
                <a:cs typeface="+mn-cs"/>
              </a:rPr>
              <a:t> disturbances among different frontal lobe disorders, but none of the instruments has proven useful for predicting real-life performance.</a:t>
            </a:r>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78</a:t>
            </a:fld>
            <a:endParaRPr lang="en-US"/>
          </a:p>
        </p:txBody>
      </p:sp>
    </p:spTree>
    <p:extLst>
      <p:ext uri="{BB962C8B-B14F-4D97-AF65-F5344CB8AC3E}">
        <p14:creationId xmlns:p14="http://schemas.microsoft.com/office/powerpoint/2010/main" val="220708568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79</a:t>
            </a:fld>
            <a:endParaRPr lang="en-US"/>
          </a:p>
        </p:txBody>
      </p:sp>
    </p:spTree>
    <p:extLst>
      <p:ext uri="{BB962C8B-B14F-4D97-AF65-F5344CB8AC3E}">
        <p14:creationId xmlns:p14="http://schemas.microsoft.com/office/powerpoint/2010/main" val="268969630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dirty="0"/>
              <a:t>because the patient is normally presented with a single, well-defined problem that has to be solved in a short period of time, often prompted by the examiner.  This is very different from the planning and cognition necessary in day-to-day life. </a:t>
            </a:r>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80</a:t>
            </a:fld>
            <a:endParaRPr lang="en-US"/>
          </a:p>
        </p:txBody>
      </p:sp>
    </p:spTree>
    <p:extLst>
      <p:ext uri="{BB962C8B-B14F-4D97-AF65-F5344CB8AC3E}">
        <p14:creationId xmlns:p14="http://schemas.microsoft.com/office/powerpoint/2010/main" val="260327671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dirty="0"/>
              <a:t>because the patient is normally presented with a single, well-defined problem that has to be solved in a short period of time, often prompted by the examiner.  This is very different from the planning and cognition necessary in day-to-day life. </a:t>
            </a:r>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81</a:t>
            </a:fld>
            <a:endParaRPr lang="en-US"/>
          </a:p>
        </p:txBody>
      </p:sp>
    </p:spTree>
    <p:extLst>
      <p:ext uri="{BB962C8B-B14F-4D97-AF65-F5344CB8AC3E}">
        <p14:creationId xmlns:p14="http://schemas.microsoft.com/office/powerpoint/2010/main" val="352152900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82</a:t>
            </a:fld>
            <a:endParaRPr lang="en-US"/>
          </a:p>
        </p:txBody>
      </p:sp>
    </p:spTree>
    <p:extLst>
      <p:ext uri="{BB962C8B-B14F-4D97-AF65-F5344CB8AC3E}">
        <p14:creationId xmlns:p14="http://schemas.microsoft.com/office/powerpoint/2010/main" val="412371279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83</a:t>
            </a:fld>
            <a:endParaRPr lang="en-US"/>
          </a:p>
        </p:txBody>
      </p:sp>
    </p:spTree>
    <p:extLst>
      <p:ext uri="{BB962C8B-B14F-4D97-AF65-F5344CB8AC3E}">
        <p14:creationId xmlns:p14="http://schemas.microsoft.com/office/powerpoint/2010/main" val="291831320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LOOK PERFECTLY NORMAL BUT REALLY STRUGGLE IN THEIR DAILY LIVING</a:t>
            </a:r>
          </a:p>
          <a:p>
            <a:endParaRPr lang="en-US" dirty="0"/>
          </a:p>
          <a:p>
            <a:r>
              <a:rPr lang="en-US" dirty="0"/>
              <a:t>damage = wide variety of symptoms = affects most areas of daily functioning</a:t>
            </a:r>
          </a:p>
        </p:txBody>
      </p:sp>
      <p:sp>
        <p:nvSpPr>
          <p:cNvPr id="4" name="Slide Number Placeholder 3"/>
          <p:cNvSpPr>
            <a:spLocks noGrp="1"/>
          </p:cNvSpPr>
          <p:nvPr>
            <p:ph type="sldNum" sz="quarter" idx="5"/>
          </p:nvPr>
        </p:nvSpPr>
        <p:spPr/>
        <p:txBody>
          <a:bodyPr/>
          <a:lstStyle/>
          <a:p>
            <a:fld id="{5AE402A6-E45B-C946-B802-3CD036AAC941}" type="slidenum">
              <a:rPr lang="en-US" smtClean="0"/>
              <a:t>84</a:t>
            </a:fld>
            <a:endParaRPr lang="en-US"/>
          </a:p>
        </p:txBody>
      </p:sp>
    </p:spTree>
    <p:extLst>
      <p:ext uri="{BB962C8B-B14F-4D97-AF65-F5344CB8AC3E}">
        <p14:creationId xmlns:p14="http://schemas.microsoft.com/office/powerpoint/2010/main" val="35582476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402A6-E45B-C946-B802-3CD036AAC941}" type="slidenum">
              <a:rPr lang="en-US" smtClean="0"/>
              <a:t>86</a:t>
            </a:fld>
            <a:endParaRPr lang="en-US"/>
          </a:p>
        </p:txBody>
      </p:sp>
    </p:spTree>
    <p:extLst>
      <p:ext uri="{BB962C8B-B14F-4D97-AF65-F5344CB8AC3E}">
        <p14:creationId xmlns:p14="http://schemas.microsoft.com/office/powerpoint/2010/main" val="1404864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8/29/19</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8/29/19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8/29/19</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8/29/19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8/29/19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8/29/19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8/29/19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8/29/19</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8/29/19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8/29/19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8/29/19</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8/29/19</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4BC36B6-9F79-A946-864D-8C5F608111B8}"/>
              </a:ext>
            </a:extLst>
          </p:cNvPr>
          <p:cNvSpPr txBox="1">
            <a:spLocks/>
          </p:cNvSpPr>
          <p:nvPr/>
        </p:nvSpPr>
        <p:spPr>
          <a:xfrm>
            <a:off x="3223007" y="4187055"/>
            <a:ext cx="5487040" cy="1402904"/>
          </a:xfrm>
          <a:prstGeom prst="rect">
            <a:avLst/>
          </a:prstGeom>
        </p:spPr>
        <p:txBody>
          <a:bodyPr>
            <a:normAutofit fontScale="85000"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pPr>
            <a:r>
              <a:rPr lang="en-US" sz="3300" dirty="0" err="1">
                <a:solidFill>
                  <a:schemeClr val="tx1"/>
                </a:solidFill>
              </a:rPr>
              <a:t>Vidushi</a:t>
            </a:r>
            <a:r>
              <a:rPr lang="en-US" sz="3300" dirty="0">
                <a:solidFill>
                  <a:schemeClr val="tx1"/>
                </a:solidFill>
              </a:rPr>
              <a:t> Duggal</a:t>
            </a:r>
          </a:p>
          <a:p>
            <a:pPr marL="0" indent="0" algn="ctr">
              <a:buNone/>
            </a:pPr>
            <a:r>
              <a:rPr lang="en-US" sz="3300" dirty="0">
                <a:solidFill>
                  <a:schemeClr val="tx1"/>
                </a:solidFill>
              </a:rPr>
              <a:t>M.Phil. Clinical Psychology (II year) </a:t>
            </a:r>
          </a:p>
          <a:p>
            <a:endParaRPr lang="en-US" dirty="0"/>
          </a:p>
        </p:txBody>
      </p:sp>
      <p:sp>
        <p:nvSpPr>
          <p:cNvPr id="4" name="Subtitle 2">
            <a:extLst>
              <a:ext uri="{FF2B5EF4-FFF2-40B4-BE49-F238E27FC236}">
                <a16:creationId xmlns:a16="http://schemas.microsoft.com/office/drawing/2014/main" id="{13B849AC-DEA6-9B46-A5D4-4173C0EE4C69}"/>
              </a:ext>
            </a:extLst>
          </p:cNvPr>
          <p:cNvSpPr txBox="1">
            <a:spLocks/>
          </p:cNvSpPr>
          <p:nvPr/>
        </p:nvSpPr>
        <p:spPr>
          <a:xfrm>
            <a:off x="3724937" y="5424407"/>
            <a:ext cx="4163699" cy="126310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600" dirty="0"/>
              <a:t>DATE: 30</a:t>
            </a:r>
            <a:r>
              <a:rPr lang="en-US" sz="2600" baseline="30000" dirty="0"/>
              <a:t>th</a:t>
            </a:r>
            <a:r>
              <a:rPr lang="en-US" sz="2600" dirty="0"/>
              <a:t> August 2019</a:t>
            </a:r>
          </a:p>
          <a:p>
            <a:r>
              <a:rPr lang="en-US" sz="2600" dirty="0"/>
              <a:t>CHAIR: Ms. </a:t>
            </a:r>
            <a:r>
              <a:rPr lang="en-US" sz="2600" dirty="0" err="1"/>
              <a:t>Swasti</a:t>
            </a:r>
            <a:r>
              <a:rPr lang="en-US" sz="2600" dirty="0"/>
              <a:t> Bansal</a:t>
            </a:r>
          </a:p>
        </p:txBody>
      </p:sp>
      <p:sp>
        <p:nvSpPr>
          <p:cNvPr id="5" name="TextBox 4">
            <a:extLst>
              <a:ext uri="{FF2B5EF4-FFF2-40B4-BE49-F238E27FC236}">
                <a16:creationId xmlns:a16="http://schemas.microsoft.com/office/drawing/2014/main" id="{CF9A6B99-483A-EA41-8D69-6A8AC62D26C9}"/>
              </a:ext>
            </a:extLst>
          </p:cNvPr>
          <p:cNvSpPr txBox="1"/>
          <p:nvPr/>
        </p:nvSpPr>
        <p:spPr>
          <a:xfrm>
            <a:off x="1447767" y="739956"/>
            <a:ext cx="8793434" cy="1107996"/>
          </a:xfrm>
          <a:prstGeom prst="rect">
            <a:avLst/>
          </a:prstGeom>
          <a:noFill/>
        </p:spPr>
        <p:txBody>
          <a:bodyPr wrap="none" rtlCol="0">
            <a:spAutoFit/>
          </a:bodyPr>
          <a:lstStyle/>
          <a:p>
            <a:pPr algn="ctr"/>
            <a:r>
              <a:rPr lang="en-IN" sz="2400" dirty="0">
                <a:latin typeface="Times New Roman" panose="02020603050405020304" pitchFamily="18" charset="0"/>
                <a:cs typeface="Times New Roman" panose="02020603050405020304" pitchFamily="18" charset="0"/>
              </a:rPr>
              <a:t>Amity Institute of Behavioural Health and Allied Sciences (AIBHAS)</a:t>
            </a:r>
          </a:p>
          <a:p>
            <a:pPr algn="ctr"/>
            <a:r>
              <a:rPr lang="en-IN" sz="2400" dirty="0">
                <a:latin typeface="Times New Roman" panose="02020603050405020304" pitchFamily="18" charset="0"/>
                <a:cs typeface="Times New Roman" panose="02020603050405020304" pitchFamily="18" charset="0"/>
              </a:rPr>
              <a:t>Amity University, Uttar Pradesh</a:t>
            </a:r>
          </a:p>
          <a:p>
            <a:pPr algn="ctr"/>
            <a:endParaRPr lang="en-US" dirty="0"/>
          </a:p>
        </p:txBody>
      </p:sp>
      <p:sp>
        <p:nvSpPr>
          <p:cNvPr id="6" name="TextBox 5">
            <a:extLst>
              <a:ext uri="{FF2B5EF4-FFF2-40B4-BE49-F238E27FC236}">
                <a16:creationId xmlns:a16="http://schemas.microsoft.com/office/drawing/2014/main" id="{F11D1D3B-6FEC-AE4A-936C-AA6B5F5B670A}"/>
              </a:ext>
            </a:extLst>
          </p:cNvPr>
          <p:cNvSpPr txBox="1"/>
          <p:nvPr/>
        </p:nvSpPr>
        <p:spPr>
          <a:xfrm>
            <a:off x="614305" y="2709727"/>
            <a:ext cx="10993820" cy="1477328"/>
          </a:xfrm>
          <a:prstGeom prst="rect">
            <a:avLst/>
          </a:prstGeom>
          <a:noFill/>
        </p:spPr>
        <p:txBody>
          <a:bodyPr wrap="square" rtlCol="0">
            <a:spAutoFit/>
          </a:bodyPr>
          <a:lstStyle/>
          <a:p>
            <a:pPr algn="ctr"/>
            <a:r>
              <a:rPr lang="en-IN" sz="3600" dirty="0"/>
              <a:t>Frontal Lobe Syndromes: </a:t>
            </a:r>
          </a:p>
          <a:p>
            <a:pPr algn="ctr"/>
            <a:r>
              <a:rPr lang="en-IN" sz="3600" dirty="0"/>
              <a:t>Clinical Features and Assessment</a:t>
            </a:r>
          </a:p>
          <a:p>
            <a:endParaRPr lang="en-US" dirty="0"/>
          </a:p>
        </p:txBody>
      </p:sp>
      <p:sp>
        <p:nvSpPr>
          <p:cNvPr id="7" name="Title 1">
            <a:extLst>
              <a:ext uri="{FF2B5EF4-FFF2-40B4-BE49-F238E27FC236}">
                <a16:creationId xmlns:a16="http://schemas.microsoft.com/office/drawing/2014/main" id="{252A945E-2A52-2F42-BC0B-520FCCA23A51}"/>
              </a:ext>
            </a:extLst>
          </p:cNvPr>
          <p:cNvSpPr txBox="1">
            <a:spLocks/>
          </p:cNvSpPr>
          <p:nvPr/>
        </p:nvSpPr>
        <p:spPr>
          <a:xfrm>
            <a:off x="4561489" y="1847952"/>
            <a:ext cx="2269683" cy="650309"/>
          </a:xfrm>
          <a:prstGeom prst="rect">
            <a:avLst/>
          </a:prstGeom>
        </p:spPr>
        <p:txBody>
          <a:bodyPr>
            <a:normAutofit fontScale="82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dirty="0">
                <a:solidFill>
                  <a:schemeClr val="tx1"/>
                </a:solidFill>
                <a:latin typeface="Times New Roman" panose="02020603050405020304" pitchFamily="18" charset="0"/>
                <a:cs typeface="Times New Roman" panose="02020603050405020304" pitchFamily="18" charset="0"/>
              </a:rPr>
              <a:t>SEMINAR</a:t>
            </a:r>
          </a:p>
        </p:txBody>
      </p:sp>
    </p:spTree>
    <p:extLst>
      <p:ext uri="{BB962C8B-B14F-4D97-AF65-F5344CB8AC3E}">
        <p14:creationId xmlns:p14="http://schemas.microsoft.com/office/powerpoint/2010/main" val="1333006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B0C59-4D6F-494E-B502-BF9E7242FFE3}"/>
              </a:ext>
            </a:extLst>
          </p:cNvPr>
          <p:cNvSpPr>
            <a:spLocks noGrp="1"/>
          </p:cNvSpPr>
          <p:nvPr>
            <p:ph type="title"/>
          </p:nvPr>
        </p:nvSpPr>
        <p:spPr/>
        <p:txBody>
          <a:bodyPr anchor="ctr">
            <a:normAutofit/>
          </a:bodyPr>
          <a:lstStyle/>
          <a:p>
            <a:r>
              <a:rPr lang="en-US" sz="3200" dirty="0"/>
              <a:t>OVERVIEW</a:t>
            </a:r>
          </a:p>
        </p:txBody>
      </p:sp>
      <p:sp>
        <p:nvSpPr>
          <p:cNvPr id="3" name="Content Placeholder 2">
            <a:extLst>
              <a:ext uri="{FF2B5EF4-FFF2-40B4-BE49-F238E27FC236}">
                <a16:creationId xmlns:a16="http://schemas.microsoft.com/office/drawing/2014/main" id="{6504C446-0A71-874B-95FC-A9494533FB31}"/>
              </a:ext>
            </a:extLst>
          </p:cNvPr>
          <p:cNvSpPr>
            <a:spLocks noGrp="1"/>
          </p:cNvSpPr>
          <p:nvPr>
            <p:ph sz="half" idx="1"/>
          </p:nvPr>
        </p:nvSpPr>
        <p:spPr>
          <a:xfrm>
            <a:off x="410169" y="2074768"/>
            <a:ext cx="5821173" cy="4474343"/>
          </a:xfrm>
        </p:spPr>
        <p:txBody>
          <a:bodyPr>
            <a:normAutofit/>
          </a:bodyPr>
          <a:lstStyle/>
          <a:p>
            <a:pPr lvl="0"/>
            <a:r>
              <a:rPr lang="en-US" sz="2800" dirty="0"/>
              <a:t>INTRODUCTION</a:t>
            </a:r>
          </a:p>
          <a:p>
            <a:pPr lvl="1">
              <a:buFont typeface="Arial" panose="020B0604020202020204" pitchFamily="34" charset="0"/>
              <a:buChar char="•"/>
            </a:pPr>
            <a:r>
              <a:rPr lang="en-US" sz="2800" dirty="0"/>
              <a:t>The cerebral cortex </a:t>
            </a:r>
          </a:p>
          <a:p>
            <a:pPr lvl="1">
              <a:buFont typeface="Arial" panose="020B0604020202020204" pitchFamily="34" charset="0"/>
              <a:buChar char="•"/>
            </a:pPr>
            <a:r>
              <a:rPr lang="en-US" sz="2800" dirty="0"/>
              <a:t>Frontal lobe features &amp; anatomy</a:t>
            </a:r>
          </a:p>
          <a:p>
            <a:pPr lvl="1">
              <a:buFont typeface="Arial" panose="020B0604020202020204" pitchFamily="34" charset="0"/>
              <a:buChar char="•"/>
            </a:pPr>
            <a:r>
              <a:rPr lang="en-US" sz="2800" dirty="0"/>
              <a:t>Functions of the frontal lobe</a:t>
            </a:r>
          </a:p>
          <a:p>
            <a:pPr lvl="0"/>
            <a:endParaRPr lang="en-US" sz="2800" dirty="0"/>
          </a:p>
          <a:p>
            <a:pPr marL="324000" lvl="1" indent="0">
              <a:buNone/>
            </a:pPr>
            <a:endParaRPr lang="en-IN" sz="2800" dirty="0"/>
          </a:p>
          <a:p>
            <a:pPr lvl="0"/>
            <a:endParaRPr lang="en-US" sz="3100" dirty="0"/>
          </a:p>
          <a:p>
            <a:endParaRPr lang="en-US" dirty="0"/>
          </a:p>
        </p:txBody>
      </p:sp>
      <p:sp>
        <p:nvSpPr>
          <p:cNvPr id="4" name="Content Placeholder 2">
            <a:extLst>
              <a:ext uri="{FF2B5EF4-FFF2-40B4-BE49-F238E27FC236}">
                <a16:creationId xmlns:a16="http://schemas.microsoft.com/office/drawing/2014/main" id="{F8C240EB-D69A-BA41-84D7-B2A1A151D53A}"/>
              </a:ext>
            </a:extLst>
          </p:cNvPr>
          <p:cNvSpPr txBox="1">
            <a:spLocks/>
          </p:cNvSpPr>
          <p:nvPr/>
        </p:nvSpPr>
        <p:spPr>
          <a:xfrm>
            <a:off x="6231342" y="2617208"/>
            <a:ext cx="5821173" cy="4474343"/>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800" dirty="0"/>
              <a:t>FRONTAL LOBE SYNDROME</a:t>
            </a:r>
          </a:p>
          <a:p>
            <a:pPr lvl="1">
              <a:buFont typeface="Arial" panose="020B0604020202020204" pitchFamily="34" charset="0"/>
              <a:buChar char="•"/>
            </a:pPr>
            <a:r>
              <a:rPr lang="en-US" sz="2800" dirty="0"/>
              <a:t>What is frontal lobe syndrome?</a:t>
            </a:r>
          </a:p>
          <a:p>
            <a:pPr lvl="1">
              <a:buFont typeface="Arial" panose="020B0604020202020204" pitchFamily="34" charset="0"/>
              <a:buChar char="•"/>
            </a:pPr>
            <a:r>
              <a:rPr lang="en-US" sz="2800" dirty="0"/>
              <a:t>Etiology</a:t>
            </a:r>
          </a:p>
          <a:p>
            <a:pPr lvl="1">
              <a:buFont typeface="Arial" panose="020B0604020202020204" pitchFamily="34" charset="0"/>
              <a:buChar char="•"/>
            </a:pPr>
            <a:r>
              <a:rPr lang="en-US" sz="2800" dirty="0"/>
              <a:t>Clinical features &amp; assessments</a:t>
            </a:r>
          </a:p>
          <a:p>
            <a:pPr lvl="1">
              <a:buFont typeface="Arial" panose="020B0604020202020204" pitchFamily="34" charset="0"/>
              <a:buChar char="•"/>
            </a:pPr>
            <a:r>
              <a:rPr lang="en-US" sz="2800" dirty="0"/>
              <a:t>Limitations of assessments</a:t>
            </a:r>
          </a:p>
          <a:p>
            <a:pPr lvl="1">
              <a:buFont typeface="Arial" panose="020B0604020202020204" pitchFamily="34" charset="0"/>
              <a:buChar char="•"/>
            </a:pPr>
            <a:r>
              <a:rPr lang="en-US" sz="2800" dirty="0"/>
              <a:t>Prognosis of FLS</a:t>
            </a:r>
          </a:p>
          <a:p>
            <a:endParaRPr lang="en-US" sz="2800" dirty="0"/>
          </a:p>
          <a:p>
            <a:pPr marL="324000" lvl="1" indent="0">
              <a:buFont typeface="Wingdings 2" panose="05020102010507070707" pitchFamily="18" charset="2"/>
              <a:buNone/>
            </a:pPr>
            <a:endParaRPr lang="en-IN" sz="2800" dirty="0"/>
          </a:p>
          <a:p>
            <a:endParaRPr lang="en-US" sz="3100" dirty="0"/>
          </a:p>
          <a:p>
            <a:endParaRPr lang="en-US" dirty="0"/>
          </a:p>
        </p:txBody>
      </p:sp>
    </p:spTree>
    <p:extLst>
      <p:ext uri="{BB962C8B-B14F-4D97-AF65-F5344CB8AC3E}">
        <p14:creationId xmlns:p14="http://schemas.microsoft.com/office/powerpoint/2010/main" val="983268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7BFE4-9012-AD48-9D25-A7668C073BED}"/>
              </a:ext>
            </a:extLst>
          </p:cNvPr>
          <p:cNvSpPr>
            <a:spLocks noGrp="1"/>
          </p:cNvSpPr>
          <p:nvPr>
            <p:ph type="ctrTitle"/>
          </p:nvPr>
        </p:nvSpPr>
        <p:spPr>
          <a:xfrm>
            <a:off x="581191" y="515935"/>
            <a:ext cx="10993549" cy="1475013"/>
          </a:xfrm>
        </p:spPr>
        <p:txBody>
          <a:bodyPr/>
          <a:lstStyle/>
          <a:p>
            <a:r>
              <a:rPr lang="en-US" dirty="0"/>
              <a:t>INTRODUCTION</a:t>
            </a:r>
          </a:p>
        </p:txBody>
      </p:sp>
      <p:sp>
        <p:nvSpPr>
          <p:cNvPr id="3" name="Subtitle 2">
            <a:extLst>
              <a:ext uri="{FF2B5EF4-FFF2-40B4-BE49-F238E27FC236}">
                <a16:creationId xmlns:a16="http://schemas.microsoft.com/office/drawing/2014/main" id="{7BFE0CF8-EDC9-4F44-A6C2-94A8B51EA560}"/>
              </a:ext>
            </a:extLst>
          </p:cNvPr>
          <p:cNvSpPr>
            <a:spLocks noGrp="1"/>
          </p:cNvSpPr>
          <p:nvPr>
            <p:ph type="subTitle" idx="1"/>
          </p:nvPr>
        </p:nvSpPr>
        <p:spPr>
          <a:xfrm>
            <a:off x="581191" y="1990948"/>
            <a:ext cx="10993546" cy="590321"/>
          </a:xfrm>
        </p:spPr>
        <p:txBody>
          <a:bodyPr>
            <a:normAutofit/>
          </a:bodyPr>
          <a:lstStyle/>
          <a:p>
            <a:r>
              <a:rPr lang="en-US" sz="2800" dirty="0"/>
              <a:t>THE CEREBRAL CORTEX</a:t>
            </a:r>
          </a:p>
        </p:txBody>
      </p:sp>
    </p:spTree>
    <p:extLst>
      <p:ext uri="{BB962C8B-B14F-4D97-AF65-F5344CB8AC3E}">
        <p14:creationId xmlns:p14="http://schemas.microsoft.com/office/powerpoint/2010/main" val="913990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F9A5F-C984-7B4B-9DD5-3034FDDA09A7}"/>
              </a:ext>
            </a:extLst>
          </p:cNvPr>
          <p:cNvSpPr>
            <a:spLocks noGrp="1"/>
          </p:cNvSpPr>
          <p:nvPr>
            <p:ph type="title"/>
          </p:nvPr>
        </p:nvSpPr>
        <p:spPr/>
        <p:txBody>
          <a:bodyPr anchor="ctr">
            <a:noAutofit/>
          </a:bodyPr>
          <a:lstStyle/>
          <a:p>
            <a:r>
              <a:rPr lang="en-US" sz="3000" dirty="0"/>
              <a:t>THE CEREBRAL CORTEX</a:t>
            </a:r>
          </a:p>
        </p:txBody>
      </p:sp>
      <p:pic>
        <p:nvPicPr>
          <p:cNvPr id="5" name="Content Placeholder 4">
            <a:extLst>
              <a:ext uri="{FF2B5EF4-FFF2-40B4-BE49-F238E27FC236}">
                <a16:creationId xmlns:a16="http://schemas.microsoft.com/office/drawing/2014/main" id="{2F1BBC09-2D21-2C43-9E9A-86215D250FFD}"/>
              </a:ext>
            </a:extLst>
          </p:cNvPr>
          <p:cNvPicPr>
            <a:picLocks noGrp="1" noChangeAspect="1"/>
          </p:cNvPicPr>
          <p:nvPr>
            <p:ph idx="1"/>
          </p:nvPr>
        </p:nvPicPr>
        <p:blipFill>
          <a:blip r:embed="rId3"/>
          <a:stretch>
            <a:fillRect/>
          </a:stretch>
        </p:blipFill>
        <p:spPr>
          <a:xfrm>
            <a:off x="2112935" y="1979341"/>
            <a:ext cx="8493071" cy="4632585"/>
          </a:xfrm>
        </p:spPr>
      </p:pic>
    </p:spTree>
    <p:extLst>
      <p:ext uri="{BB962C8B-B14F-4D97-AF65-F5344CB8AC3E}">
        <p14:creationId xmlns:p14="http://schemas.microsoft.com/office/powerpoint/2010/main" val="2856768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619B6B89-C593-4F48-AD60-F7C692CE7C74}"/>
              </a:ext>
            </a:extLst>
          </p:cNvPr>
          <p:cNvSpPr txBox="1">
            <a:spLocks/>
          </p:cNvSpPr>
          <p:nvPr/>
        </p:nvSpPr>
        <p:spPr>
          <a:xfrm>
            <a:off x="529239" y="867475"/>
            <a:ext cx="11035074"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dirty="0"/>
          </a:p>
          <a:p>
            <a:endParaRPr lang="en-IN" dirty="0"/>
          </a:p>
          <a:p>
            <a:endParaRPr lang="en-IN" dirty="0"/>
          </a:p>
          <a:p>
            <a:endParaRPr lang="en-IN" dirty="0"/>
          </a:p>
          <a:p>
            <a:endParaRPr lang="en-US" dirty="0"/>
          </a:p>
        </p:txBody>
      </p:sp>
      <p:graphicFrame>
        <p:nvGraphicFramePr>
          <p:cNvPr id="2" name="Table 1">
            <a:extLst>
              <a:ext uri="{FF2B5EF4-FFF2-40B4-BE49-F238E27FC236}">
                <a16:creationId xmlns:a16="http://schemas.microsoft.com/office/drawing/2014/main" id="{EA42FA89-EFF9-CD45-8420-89601993C136}"/>
              </a:ext>
            </a:extLst>
          </p:cNvPr>
          <p:cNvGraphicFramePr>
            <a:graphicFrameLocks noGrp="1"/>
          </p:cNvGraphicFramePr>
          <p:nvPr>
            <p:extLst>
              <p:ext uri="{D42A27DB-BD31-4B8C-83A1-F6EECF244321}">
                <p14:modId xmlns:p14="http://schemas.microsoft.com/office/powerpoint/2010/main" val="241647838"/>
              </p:ext>
            </p:extLst>
          </p:nvPr>
        </p:nvGraphicFramePr>
        <p:xfrm>
          <a:off x="453035" y="84238"/>
          <a:ext cx="11294680" cy="6618148"/>
        </p:xfrm>
        <a:graphic>
          <a:graphicData uri="http://schemas.openxmlformats.org/drawingml/2006/table">
            <a:tbl>
              <a:tblPr firstRow="1" bandRow="1">
                <a:tableStyleId>{5C22544A-7EE6-4342-B048-85BDC9FD1C3A}</a:tableStyleId>
              </a:tblPr>
              <a:tblGrid>
                <a:gridCol w="5647340">
                  <a:extLst>
                    <a:ext uri="{9D8B030D-6E8A-4147-A177-3AD203B41FA5}">
                      <a16:colId xmlns:a16="http://schemas.microsoft.com/office/drawing/2014/main" val="3839976003"/>
                    </a:ext>
                  </a:extLst>
                </a:gridCol>
                <a:gridCol w="5647340">
                  <a:extLst>
                    <a:ext uri="{9D8B030D-6E8A-4147-A177-3AD203B41FA5}">
                      <a16:colId xmlns:a16="http://schemas.microsoft.com/office/drawing/2014/main" val="1313384965"/>
                    </a:ext>
                  </a:extLst>
                </a:gridCol>
              </a:tblGrid>
              <a:tr h="474603">
                <a:tc>
                  <a:txBody>
                    <a:bodyPr/>
                    <a:lstStyle/>
                    <a:p>
                      <a:pPr algn="ctr"/>
                      <a:r>
                        <a:rPr lang="en-US" sz="2600" dirty="0"/>
                        <a:t>FRONTAL LOBE</a:t>
                      </a:r>
                    </a:p>
                  </a:txBody>
                  <a:tcPr/>
                </a:tc>
                <a:tc>
                  <a:txBody>
                    <a:bodyPr/>
                    <a:lstStyle/>
                    <a:p>
                      <a:pPr algn="ctr"/>
                      <a:r>
                        <a:rPr lang="en-US" sz="2600" dirty="0"/>
                        <a:t>PARIETAL LOBE</a:t>
                      </a:r>
                    </a:p>
                  </a:txBody>
                  <a:tcPr/>
                </a:tc>
                <a:extLst>
                  <a:ext uri="{0D108BD9-81ED-4DB2-BD59-A6C34878D82A}">
                    <a16:rowId xmlns:a16="http://schemas.microsoft.com/office/drawing/2014/main" val="598776777"/>
                  </a:ext>
                </a:extLst>
              </a:tr>
              <a:tr h="3173908">
                <a:tc>
                  <a:txBody>
                    <a:bodyPr/>
                    <a:lstStyle/>
                    <a:p>
                      <a:pPr marL="285750" indent="-285750">
                        <a:buFont typeface="Arial" panose="020B0604020202020204" pitchFamily="34" charset="0"/>
                        <a:buChar char="•"/>
                      </a:pPr>
                      <a:endParaRPr lang="en-IN" sz="2600" dirty="0"/>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2600" dirty="0"/>
                        <a:t>Motor planning and movement</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2600" dirty="0"/>
                        <a:t>Expressive speech</a:t>
                      </a:r>
                    </a:p>
                    <a:p>
                      <a:pPr marL="285750" indent="-285750">
                        <a:buFont typeface="Arial" panose="020B0604020202020204" pitchFamily="34" charset="0"/>
                        <a:buChar char="•"/>
                      </a:pPr>
                      <a:r>
                        <a:rPr lang="en-IN" sz="2600" dirty="0"/>
                        <a:t>Cognition and executive functioning</a:t>
                      </a:r>
                    </a:p>
                    <a:p>
                      <a:pPr marL="285750" indent="-285750">
                        <a:buFont typeface="Arial" panose="020B0604020202020204" pitchFamily="34" charset="0"/>
                        <a:buChar char="•"/>
                      </a:pPr>
                      <a:r>
                        <a:rPr lang="en-IN" sz="2600" dirty="0"/>
                        <a:t>Personality, behaviour and emotions</a:t>
                      </a:r>
                    </a:p>
                    <a:p>
                      <a:pPr marL="285750" indent="-285750">
                        <a:buFont typeface="Arial" panose="020B0604020202020204" pitchFamily="34" charset="0"/>
                        <a:buChar char="•"/>
                      </a:pPr>
                      <a:r>
                        <a:rPr lang="en-IN" sz="2600" dirty="0"/>
                        <a:t>Self-awareness and regulation</a:t>
                      </a:r>
                    </a:p>
                    <a:p>
                      <a:pPr marL="285750" indent="-285750">
                        <a:buFont typeface="Arial" panose="020B0604020202020204" pitchFamily="34" charset="0"/>
                        <a:buChar char="•"/>
                      </a:pPr>
                      <a:endParaRPr lang="en-IN" sz="2600" dirty="0"/>
                    </a:p>
                  </a:txBody>
                  <a:tcPr/>
                </a:tc>
                <a:tc>
                  <a:txBody>
                    <a:bodyPr/>
                    <a:lstStyle/>
                    <a:p>
                      <a:pPr marL="457200" indent="-457200">
                        <a:buFont typeface="Arial" panose="020B0604020202020204" pitchFamily="34" charset="0"/>
                        <a:buChar char="•"/>
                      </a:pPr>
                      <a:endParaRPr lang="en-US" sz="2600" dirty="0"/>
                    </a:p>
                    <a:p>
                      <a:pPr marL="457200" indent="-457200">
                        <a:buFont typeface="Arial" panose="020B0604020202020204" pitchFamily="34" charset="0"/>
                        <a:buChar char="•"/>
                      </a:pPr>
                      <a:r>
                        <a:rPr lang="en-US" sz="2600" dirty="0"/>
                        <a:t>Somatosensory perception</a:t>
                      </a:r>
                    </a:p>
                    <a:p>
                      <a:pPr marL="457200" indent="-457200">
                        <a:buFont typeface="Arial" panose="020B0604020202020204" pitchFamily="34" charset="0"/>
                        <a:buChar char="•"/>
                      </a:pPr>
                      <a:r>
                        <a:rPr lang="en-US" sz="2600" dirty="0"/>
                        <a:t>Visuospatial perception</a:t>
                      </a: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600" dirty="0"/>
                        <a:t>Visuomotor coordination</a:t>
                      </a:r>
                    </a:p>
                    <a:p>
                      <a:pPr marL="457200" indent="-457200">
                        <a:buFont typeface="Arial" panose="020B0604020202020204" pitchFamily="34" charset="0"/>
                        <a:buChar char="•"/>
                      </a:pPr>
                      <a:r>
                        <a:rPr lang="en-US" sz="2600" dirty="0"/>
                        <a:t>Body awareness </a:t>
                      </a:r>
                    </a:p>
                    <a:p>
                      <a:pPr marL="457200" indent="-457200">
                        <a:buFont typeface="Arial" panose="020B0604020202020204" pitchFamily="34" charset="0"/>
                        <a:buChar char="•"/>
                      </a:pPr>
                      <a:r>
                        <a:rPr lang="en-US" sz="2600" dirty="0"/>
                        <a:t>Arithmetic, reading, writing </a:t>
                      </a:r>
                      <a:br>
                        <a:rPr lang="en-US" sz="2600" dirty="0"/>
                      </a:br>
                      <a:r>
                        <a:rPr lang="en-US" sz="2600" dirty="0"/>
                        <a:t>and drawing</a:t>
                      </a:r>
                    </a:p>
                  </a:txBody>
                  <a:tcPr/>
                </a:tc>
                <a:extLst>
                  <a:ext uri="{0D108BD9-81ED-4DB2-BD59-A6C34878D82A}">
                    <a16:rowId xmlns:a16="http://schemas.microsoft.com/office/drawing/2014/main" val="1858582833"/>
                  </a:ext>
                </a:extLst>
              </a:tr>
              <a:tr h="474603">
                <a:tc>
                  <a:txBody>
                    <a:bodyPr/>
                    <a:lstStyle/>
                    <a:p>
                      <a:pPr algn="ctr"/>
                      <a:r>
                        <a:rPr lang="en-US" sz="2600" b="1" dirty="0">
                          <a:solidFill>
                            <a:schemeClr val="bg1"/>
                          </a:solidFill>
                        </a:rPr>
                        <a:t>TEMPORAL LOBE</a:t>
                      </a:r>
                    </a:p>
                  </a:txBody>
                  <a:tcPr>
                    <a:solidFill>
                      <a:schemeClr val="accent2"/>
                    </a:solidFill>
                  </a:tcPr>
                </a:tc>
                <a:tc>
                  <a:txBody>
                    <a:bodyPr/>
                    <a:lstStyle/>
                    <a:p>
                      <a:pPr algn="ctr"/>
                      <a:r>
                        <a:rPr lang="en-US" sz="2600" b="1" dirty="0">
                          <a:solidFill>
                            <a:schemeClr val="bg1"/>
                          </a:solidFill>
                        </a:rPr>
                        <a:t>OCCIPITAL LOBE</a:t>
                      </a:r>
                    </a:p>
                  </a:txBody>
                  <a:tcPr>
                    <a:solidFill>
                      <a:schemeClr val="accent2"/>
                    </a:solidFill>
                  </a:tcPr>
                </a:tc>
                <a:extLst>
                  <a:ext uri="{0D108BD9-81ED-4DB2-BD59-A6C34878D82A}">
                    <a16:rowId xmlns:a16="http://schemas.microsoft.com/office/drawing/2014/main" val="2041742861"/>
                  </a:ext>
                </a:extLst>
              </a:tr>
              <a:tr h="2402679">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600" dirty="0"/>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600" dirty="0"/>
                        <a:t>Auditory perception and processing</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600" dirty="0"/>
                        <a:t>Learning and memory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600" dirty="0"/>
                        <a:t>Receptive speech</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600" dirty="0"/>
                        <a:t>Emotional processing</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600" dirty="0"/>
                    </a:p>
                  </a:txBody>
                  <a:tcPr/>
                </a:tc>
                <a:tc>
                  <a:txBody>
                    <a:bodyPr/>
                    <a:lstStyle/>
                    <a:p>
                      <a:pPr marL="285750" indent="-285750">
                        <a:buFont typeface="Arial" panose="020B0604020202020204" pitchFamily="34" charset="0"/>
                        <a:buChar char="•"/>
                      </a:pPr>
                      <a:endParaRPr lang="en-US" sz="2600" dirty="0"/>
                    </a:p>
                    <a:p>
                      <a:pPr marL="285750" indent="-285750">
                        <a:buFont typeface="Arial" panose="020B0604020202020204" pitchFamily="34" charset="0"/>
                        <a:buChar char="•"/>
                      </a:pPr>
                      <a:r>
                        <a:rPr lang="en-US" sz="2600" dirty="0"/>
                        <a:t>Visual perception and processing</a:t>
                      </a:r>
                    </a:p>
                    <a:p>
                      <a:pPr marL="285750" indent="-285750">
                        <a:buFont typeface="Arial" panose="020B0604020202020204" pitchFamily="34" charset="0"/>
                        <a:buChar char="•"/>
                      </a:pPr>
                      <a:r>
                        <a:rPr lang="en-US" sz="2600" dirty="0"/>
                        <a:t>Color recognition and discrimination</a:t>
                      </a:r>
                    </a:p>
                    <a:p>
                      <a:pPr marL="285750" indent="-285750">
                        <a:buFont typeface="Arial" panose="020B0604020202020204" pitchFamily="34" charset="0"/>
                        <a:buChar char="•"/>
                      </a:pPr>
                      <a:r>
                        <a:rPr lang="en-US" sz="2600" dirty="0"/>
                        <a:t>Movement identification</a:t>
                      </a:r>
                    </a:p>
                  </a:txBody>
                  <a:tcPr/>
                </a:tc>
                <a:extLst>
                  <a:ext uri="{0D108BD9-81ED-4DB2-BD59-A6C34878D82A}">
                    <a16:rowId xmlns:a16="http://schemas.microsoft.com/office/drawing/2014/main" val="3547769016"/>
                  </a:ext>
                </a:extLst>
              </a:tr>
            </a:tbl>
          </a:graphicData>
        </a:graphic>
      </p:graphicFrame>
    </p:spTree>
    <p:extLst>
      <p:ext uri="{BB962C8B-B14F-4D97-AF65-F5344CB8AC3E}">
        <p14:creationId xmlns:p14="http://schemas.microsoft.com/office/powerpoint/2010/main" val="4177428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7BFE4-9012-AD48-9D25-A7668C073BED}"/>
              </a:ext>
            </a:extLst>
          </p:cNvPr>
          <p:cNvSpPr>
            <a:spLocks noGrp="1"/>
          </p:cNvSpPr>
          <p:nvPr>
            <p:ph type="ctrTitle"/>
          </p:nvPr>
        </p:nvSpPr>
        <p:spPr>
          <a:xfrm>
            <a:off x="581191" y="515935"/>
            <a:ext cx="10993549" cy="1475013"/>
          </a:xfrm>
        </p:spPr>
        <p:txBody>
          <a:bodyPr/>
          <a:lstStyle/>
          <a:p>
            <a:r>
              <a:rPr lang="en-US" dirty="0"/>
              <a:t>INTRODUCTION</a:t>
            </a:r>
          </a:p>
        </p:txBody>
      </p:sp>
      <p:sp>
        <p:nvSpPr>
          <p:cNvPr id="3" name="Subtitle 2">
            <a:extLst>
              <a:ext uri="{FF2B5EF4-FFF2-40B4-BE49-F238E27FC236}">
                <a16:creationId xmlns:a16="http://schemas.microsoft.com/office/drawing/2014/main" id="{7BFE0CF8-EDC9-4F44-A6C2-94A8B51EA560}"/>
              </a:ext>
            </a:extLst>
          </p:cNvPr>
          <p:cNvSpPr>
            <a:spLocks noGrp="1"/>
          </p:cNvSpPr>
          <p:nvPr>
            <p:ph type="subTitle" idx="1"/>
          </p:nvPr>
        </p:nvSpPr>
        <p:spPr>
          <a:xfrm>
            <a:off x="581191" y="1990948"/>
            <a:ext cx="10993546" cy="590321"/>
          </a:xfrm>
        </p:spPr>
        <p:txBody>
          <a:bodyPr>
            <a:normAutofit/>
          </a:bodyPr>
          <a:lstStyle/>
          <a:p>
            <a:r>
              <a:rPr lang="en-US" sz="2800" dirty="0"/>
              <a:t>FRONTAL LOBE FEATURES &amp; ANATOMY</a:t>
            </a:r>
          </a:p>
        </p:txBody>
      </p:sp>
    </p:spTree>
    <p:extLst>
      <p:ext uri="{BB962C8B-B14F-4D97-AF65-F5344CB8AC3E}">
        <p14:creationId xmlns:p14="http://schemas.microsoft.com/office/powerpoint/2010/main" val="1621466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529238" y="867475"/>
            <a:ext cx="11233975"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The </a:t>
            </a:r>
            <a:r>
              <a:rPr lang="en-IN" sz="2800" b="1" dirty="0"/>
              <a:t>most recently developed of the four lobes </a:t>
            </a:r>
            <a:r>
              <a:rPr lang="en-IN" sz="2800" dirty="0"/>
              <a:t>and comprises about </a:t>
            </a:r>
            <a:r>
              <a:rPr lang="en-IN" sz="2800" b="1" dirty="0"/>
              <a:t>one-third</a:t>
            </a:r>
            <a:r>
              <a:rPr lang="en-IN" sz="2800" dirty="0"/>
              <a:t> of the cerebral cortex </a:t>
            </a:r>
            <a:r>
              <a:rPr lang="en-IN" sz="2400" dirty="0"/>
              <a:t>(Goldman-</a:t>
            </a:r>
            <a:r>
              <a:rPr lang="en-IN" sz="2400" dirty="0" err="1"/>
              <a:t>Rakic</a:t>
            </a:r>
            <a:r>
              <a:rPr lang="en-IN" sz="2400" dirty="0"/>
              <a:t>, 1987).</a:t>
            </a:r>
          </a:p>
          <a:p>
            <a:r>
              <a:rPr lang="en-IN" sz="2800" dirty="0"/>
              <a:t>Regarded as the </a:t>
            </a:r>
            <a:r>
              <a:rPr lang="en-IN" sz="2800" b="1" dirty="0"/>
              <a:t>cortical locus of ‘higher learning’ </a:t>
            </a:r>
            <a:r>
              <a:rPr lang="en-IN" sz="2800" dirty="0"/>
              <a:t>and the structure that </a:t>
            </a:r>
            <a:r>
              <a:rPr lang="en-IN" sz="2800" b="1" dirty="0"/>
              <a:t>defines the self </a:t>
            </a:r>
            <a:r>
              <a:rPr lang="en-IN" sz="2400" dirty="0"/>
              <a:t>(Goldstein, 1936 &amp; Halstead, 1947).</a:t>
            </a:r>
          </a:p>
          <a:p>
            <a:r>
              <a:rPr lang="en-IN" sz="2800" dirty="0"/>
              <a:t>Several areas that are </a:t>
            </a:r>
            <a:r>
              <a:rPr lang="en-IN" sz="2800" b="1" dirty="0"/>
              <a:t>anatomically and functionally distinguishable; </a:t>
            </a:r>
            <a:r>
              <a:rPr lang="en-IN" sz="2800" dirty="0"/>
              <a:t>divided in a number of ways.</a:t>
            </a:r>
          </a:p>
          <a:p>
            <a:r>
              <a:rPr lang="en-IN" sz="2800" dirty="0"/>
              <a:t>Major divisions </a:t>
            </a:r>
            <a:r>
              <a:rPr lang="en-IN" sz="2400" dirty="0"/>
              <a:t>(Martin, 2006):</a:t>
            </a:r>
          </a:p>
          <a:p>
            <a:pPr lvl="2">
              <a:buFont typeface="Arial" panose="020B0604020202020204" pitchFamily="34" charset="0"/>
              <a:buChar char="•"/>
            </a:pPr>
            <a:r>
              <a:rPr lang="en-IN" sz="2800" dirty="0"/>
              <a:t>Precentral area</a:t>
            </a:r>
          </a:p>
          <a:p>
            <a:pPr lvl="2">
              <a:buFont typeface="Arial" panose="020B0604020202020204" pitchFamily="34" charset="0"/>
              <a:buChar char="•"/>
            </a:pPr>
            <a:r>
              <a:rPr lang="en-IN" sz="2800" dirty="0"/>
              <a:t>Premotor area</a:t>
            </a:r>
          </a:p>
          <a:p>
            <a:pPr lvl="2">
              <a:buFont typeface="Arial" panose="020B0604020202020204" pitchFamily="34" charset="0"/>
              <a:buChar char="•"/>
            </a:pPr>
            <a:r>
              <a:rPr lang="en-IN" sz="2800" dirty="0"/>
              <a:t>Prefrontal area – orbitofrontal and dorsolateral</a:t>
            </a:r>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2833812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575734" y="635001"/>
            <a:ext cx="11035074"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en-IN" sz="2400" dirty="0"/>
          </a:p>
          <a:p>
            <a:endParaRPr lang="en-IN" dirty="0"/>
          </a:p>
          <a:p>
            <a:endParaRPr lang="en-IN" dirty="0"/>
          </a:p>
          <a:p>
            <a:endParaRPr lang="en-IN" dirty="0"/>
          </a:p>
          <a:p>
            <a:endParaRPr lang="en-IN" dirty="0"/>
          </a:p>
          <a:p>
            <a:endParaRPr lang="en-US" dirty="0"/>
          </a:p>
        </p:txBody>
      </p:sp>
      <p:pic>
        <p:nvPicPr>
          <p:cNvPr id="5" name="Picture 4">
            <a:extLst>
              <a:ext uri="{FF2B5EF4-FFF2-40B4-BE49-F238E27FC236}">
                <a16:creationId xmlns:a16="http://schemas.microsoft.com/office/drawing/2014/main" id="{3105F379-C12A-684D-A2D0-722D28F1479D}"/>
              </a:ext>
            </a:extLst>
          </p:cNvPr>
          <p:cNvPicPr>
            <a:picLocks noChangeAspect="1"/>
          </p:cNvPicPr>
          <p:nvPr/>
        </p:nvPicPr>
        <p:blipFill>
          <a:blip r:embed="rId2"/>
          <a:stretch>
            <a:fillRect/>
          </a:stretch>
        </p:blipFill>
        <p:spPr>
          <a:xfrm>
            <a:off x="729065" y="635001"/>
            <a:ext cx="11046235" cy="5920782"/>
          </a:xfrm>
          <a:prstGeom prst="rect">
            <a:avLst/>
          </a:prstGeom>
        </p:spPr>
      </p:pic>
    </p:spTree>
    <p:extLst>
      <p:ext uri="{BB962C8B-B14F-4D97-AF65-F5344CB8AC3E}">
        <p14:creationId xmlns:p14="http://schemas.microsoft.com/office/powerpoint/2010/main" val="1776469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606730" y="898472"/>
            <a:ext cx="11035074"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Precentral area </a:t>
            </a:r>
          </a:p>
          <a:p>
            <a:pPr lvl="1">
              <a:buFont typeface="Arial" panose="020B0604020202020204" pitchFamily="34" charset="0"/>
              <a:buChar char="•"/>
            </a:pPr>
            <a:r>
              <a:rPr lang="en-IN" sz="2800" dirty="0"/>
              <a:t>contains the </a:t>
            </a:r>
            <a:r>
              <a:rPr lang="en-IN" sz="2800" b="1" dirty="0"/>
              <a:t>motor cortex</a:t>
            </a:r>
          </a:p>
          <a:p>
            <a:pPr lvl="1">
              <a:buFont typeface="Arial" panose="020B0604020202020204" pitchFamily="34" charset="0"/>
              <a:buChar char="•"/>
            </a:pPr>
            <a:r>
              <a:rPr lang="en-IN" sz="2800" dirty="0"/>
              <a:t>responsible for making </a:t>
            </a:r>
            <a:r>
              <a:rPr lang="en-IN" sz="2800" b="1" dirty="0"/>
              <a:t>movements</a:t>
            </a:r>
          </a:p>
          <a:p>
            <a:pPr marL="324000" lvl="1" indent="0">
              <a:buNone/>
            </a:pPr>
            <a:endParaRPr lang="en-IN" sz="2800" dirty="0"/>
          </a:p>
          <a:p>
            <a:r>
              <a:rPr lang="en-IN" sz="2800" dirty="0"/>
              <a:t>Premotor area</a:t>
            </a:r>
          </a:p>
          <a:p>
            <a:pPr lvl="1">
              <a:buFont typeface="Arial" panose="020B0604020202020204" pitchFamily="34" charset="0"/>
              <a:buChar char="•"/>
            </a:pPr>
            <a:r>
              <a:rPr lang="en-IN" sz="2800" b="1" dirty="0"/>
              <a:t>supplementary motor area </a:t>
            </a:r>
            <a:r>
              <a:rPr lang="en-IN" sz="2800" dirty="0"/>
              <a:t>or M-II, </a:t>
            </a:r>
            <a:r>
              <a:rPr lang="en-IN" sz="2800" b="1" dirty="0"/>
              <a:t>selection of movements</a:t>
            </a:r>
          </a:p>
          <a:p>
            <a:pPr lvl="1">
              <a:buFont typeface="Arial" panose="020B0604020202020204" pitchFamily="34" charset="0"/>
              <a:buChar char="•"/>
            </a:pPr>
            <a:r>
              <a:rPr lang="en-IN" sz="2800" b="1" dirty="0"/>
              <a:t>frontal eye field,</a:t>
            </a:r>
            <a:r>
              <a:rPr lang="en-IN" sz="2800" dirty="0"/>
              <a:t> controls aspects of </a:t>
            </a:r>
            <a:r>
              <a:rPr lang="en-IN" sz="2800" b="1" dirty="0"/>
              <a:t>eye movement</a:t>
            </a:r>
          </a:p>
          <a:p>
            <a:pPr lvl="1">
              <a:buFont typeface="Arial" panose="020B0604020202020204" pitchFamily="34" charset="0"/>
              <a:buChar char="•"/>
            </a:pPr>
            <a:r>
              <a:rPr lang="en-IN" sz="2800" b="1" dirty="0" err="1"/>
              <a:t>Broca’s</a:t>
            </a:r>
            <a:r>
              <a:rPr lang="en-IN" sz="2800" b="1" dirty="0"/>
              <a:t> area</a:t>
            </a:r>
            <a:r>
              <a:rPr lang="en-IN" sz="2800" dirty="0"/>
              <a:t>, controls the production of </a:t>
            </a:r>
            <a:r>
              <a:rPr lang="en-IN" sz="2800" b="1" dirty="0"/>
              <a:t>voluntary speech</a:t>
            </a:r>
          </a:p>
          <a:p>
            <a:endParaRPr lang="en-IN" sz="2800" dirty="0"/>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782746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591232" y="805483"/>
            <a:ext cx="11035074"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Prefrontal area</a:t>
            </a:r>
          </a:p>
          <a:p>
            <a:pPr lvl="1">
              <a:buFont typeface="Arial" panose="020B0604020202020204" pitchFamily="34" charset="0"/>
              <a:buChar char="•"/>
            </a:pPr>
            <a:r>
              <a:rPr lang="en-IN" sz="2800" dirty="0"/>
              <a:t>Controls </a:t>
            </a:r>
            <a:r>
              <a:rPr lang="en-IN" sz="2800" b="1" dirty="0"/>
              <a:t>cognitive processes </a:t>
            </a:r>
            <a:r>
              <a:rPr lang="en-IN" sz="2800" dirty="0"/>
              <a:t>so that </a:t>
            </a:r>
            <a:r>
              <a:rPr lang="en-IN" sz="2800" b="1" dirty="0"/>
              <a:t>appropriate movements </a:t>
            </a:r>
            <a:r>
              <a:rPr lang="en-IN" sz="2800" dirty="0"/>
              <a:t>are selected at the correct time and place.</a:t>
            </a:r>
          </a:p>
          <a:p>
            <a:pPr lvl="1">
              <a:buFont typeface="Arial" panose="020B0604020202020204" pitchFamily="34" charset="0"/>
              <a:buChar char="•"/>
            </a:pPr>
            <a:r>
              <a:rPr lang="en-IN" sz="2800" dirty="0"/>
              <a:t>Involved in maintenance and execution of </a:t>
            </a:r>
            <a:r>
              <a:rPr lang="en-IN" sz="2800" b="1" dirty="0"/>
              <a:t>abstract thought</a:t>
            </a:r>
            <a:r>
              <a:rPr lang="en-IN" sz="2800" dirty="0"/>
              <a:t>, </a:t>
            </a:r>
            <a:r>
              <a:rPr lang="en-IN" sz="2800" b="1" dirty="0"/>
              <a:t>reasoning</a:t>
            </a:r>
            <a:r>
              <a:rPr lang="en-IN" sz="2800" dirty="0"/>
              <a:t> and </a:t>
            </a:r>
            <a:r>
              <a:rPr lang="en-IN" sz="2800" b="1" dirty="0"/>
              <a:t>inhibition</a:t>
            </a:r>
            <a:r>
              <a:rPr lang="en-IN" sz="2800" dirty="0"/>
              <a:t> of responses.</a:t>
            </a:r>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251560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7BFE4-9012-AD48-9D25-A7668C073BED}"/>
              </a:ext>
            </a:extLst>
          </p:cNvPr>
          <p:cNvSpPr>
            <a:spLocks noGrp="1"/>
          </p:cNvSpPr>
          <p:nvPr>
            <p:ph type="ctrTitle"/>
          </p:nvPr>
        </p:nvSpPr>
        <p:spPr>
          <a:xfrm>
            <a:off x="581191" y="515935"/>
            <a:ext cx="10993549" cy="1475013"/>
          </a:xfrm>
        </p:spPr>
        <p:txBody>
          <a:bodyPr/>
          <a:lstStyle/>
          <a:p>
            <a:r>
              <a:rPr lang="en-US" dirty="0"/>
              <a:t>FRONTAL LOBE</a:t>
            </a:r>
          </a:p>
        </p:txBody>
      </p:sp>
      <p:sp>
        <p:nvSpPr>
          <p:cNvPr id="3" name="Subtitle 2">
            <a:extLst>
              <a:ext uri="{FF2B5EF4-FFF2-40B4-BE49-F238E27FC236}">
                <a16:creationId xmlns:a16="http://schemas.microsoft.com/office/drawing/2014/main" id="{7BFE0CF8-EDC9-4F44-A6C2-94A8B51EA560}"/>
              </a:ext>
            </a:extLst>
          </p:cNvPr>
          <p:cNvSpPr>
            <a:spLocks noGrp="1"/>
          </p:cNvSpPr>
          <p:nvPr>
            <p:ph type="subTitle" idx="1"/>
          </p:nvPr>
        </p:nvSpPr>
        <p:spPr>
          <a:xfrm>
            <a:off x="581191" y="1990948"/>
            <a:ext cx="10993546" cy="590321"/>
          </a:xfrm>
        </p:spPr>
        <p:txBody>
          <a:bodyPr>
            <a:normAutofit/>
          </a:bodyPr>
          <a:lstStyle/>
          <a:p>
            <a:r>
              <a:rPr lang="en-US" sz="2800" dirty="0"/>
              <a:t>FUNCTIONS</a:t>
            </a:r>
          </a:p>
        </p:txBody>
      </p:sp>
    </p:spTree>
    <p:extLst>
      <p:ext uri="{BB962C8B-B14F-4D97-AF65-F5344CB8AC3E}">
        <p14:creationId xmlns:p14="http://schemas.microsoft.com/office/powerpoint/2010/main" val="3993869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591232" y="805483"/>
            <a:ext cx="11035074"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r>
              <a:rPr lang="en-IN" sz="2800" b="1" dirty="0"/>
              <a:t>Multiplicity and complexity of functions</a:t>
            </a:r>
            <a:r>
              <a:rPr lang="en-IN" sz="2800" dirty="0"/>
              <a:t>, such that they seem </a:t>
            </a:r>
            <a:br>
              <a:rPr lang="en-IN" sz="2800" dirty="0"/>
            </a:br>
            <a:r>
              <a:rPr lang="en-IN" sz="2800" dirty="0"/>
              <a:t>to impinge on the </a:t>
            </a:r>
            <a:r>
              <a:rPr lang="en-IN" sz="2800" b="1" dirty="0"/>
              <a:t>whole repertoire of behaviour </a:t>
            </a:r>
            <a:r>
              <a:rPr lang="en-IN" sz="2800" dirty="0"/>
              <a:t>– from movement planning and motor movement to social behaviour and personality.</a:t>
            </a:r>
          </a:p>
          <a:p>
            <a:endParaRPr lang="en-IN" sz="2800" dirty="0"/>
          </a:p>
          <a:p>
            <a:r>
              <a:rPr lang="en-IN" sz="2800" dirty="0"/>
              <a:t>Described as the </a:t>
            </a:r>
            <a:r>
              <a:rPr lang="en-IN" sz="2800" b="1" dirty="0"/>
              <a:t>brain’s ‘orchestra leader’ </a:t>
            </a:r>
            <a:r>
              <a:rPr lang="en-IN" sz="2800" dirty="0"/>
              <a:t>that </a:t>
            </a:r>
            <a:r>
              <a:rPr lang="en-IN" sz="2800" b="1" dirty="0"/>
              <a:t>directs the activity of other sensory, motor and cognitive systems</a:t>
            </a:r>
            <a:r>
              <a:rPr lang="en-IN" sz="2800" dirty="0"/>
              <a:t> and </a:t>
            </a:r>
            <a:r>
              <a:rPr lang="en-IN" sz="2800" b="1" dirty="0"/>
              <a:t>coordinates </a:t>
            </a:r>
            <a:r>
              <a:rPr lang="en-IN" sz="2800" dirty="0"/>
              <a:t>inputs to and outputs from all major association sensory areas of the cortex and the limbic system.</a:t>
            </a:r>
          </a:p>
          <a:p>
            <a:endParaRPr lang="en-IN" sz="2600" dirty="0"/>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984002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191ABAE3-470B-4848-A109-F622D60465D7}"/>
              </a:ext>
            </a:extLst>
          </p:cNvPr>
          <p:cNvGraphicFramePr/>
          <p:nvPr>
            <p:extLst>
              <p:ext uri="{D42A27DB-BD31-4B8C-83A1-F6EECF244321}">
                <p14:modId xmlns:p14="http://schemas.microsoft.com/office/powerpoint/2010/main" val="2468655379"/>
              </p:ext>
            </p:extLst>
          </p:nvPr>
        </p:nvGraphicFramePr>
        <p:xfrm>
          <a:off x="141204" y="309966"/>
          <a:ext cx="10118674" cy="65092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98190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81BF2-6532-2946-9B59-9E4C4C6FF5F2}"/>
              </a:ext>
            </a:extLst>
          </p:cNvPr>
          <p:cNvSpPr>
            <a:spLocks noGrp="1"/>
          </p:cNvSpPr>
          <p:nvPr>
            <p:ph type="title"/>
          </p:nvPr>
        </p:nvSpPr>
        <p:spPr/>
        <p:txBody>
          <a:bodyPr anchor="ctr">
            <a:normAutofit/>
          </a:bodyPr>
          <a:lstStyle/>
          <a:p>
            <a:r>
              <a:rPr lang="en-US" sz="3000" dirty="0"/>
              <a:t>MOTOR FUNCTIONS (premotor &amp; motor cortex)</a:t>
            </a:r>
          </a:p>
        </p:txBody>
      </p:sp>
      <p:sp>
        <p:nvSpPr>
          <p:cNvPr id="5" name="Content Placeholder 2">
            <a:extLst>
              <a:ext uri="{FF2B5EF4-FFF2-40B4-BE49-F238E27FC236}">
                <a16:creationId xmlns:a16="http://schemas.microsoft.com/office/drawing/2014/main" id="{F46CAB4A-CFF1-F943-8D22-D0FF26C60A4A}"/>
              </a:ext>
            </a:extLst>
          </p:cNvPr>
          <p:cNvSpPr txBox="1">
            <a:spLocks/>
          </p:cNvSpPr>
          <p:nvPr/>
        </p:nvSpPr>
        <p:spPr>
          <a:xfrm>
            <a:off x="162738" y="1908139"/>
            <a:ext cx="6768269" cy="5624038"/>
          </a:xfrm>
          <a:prstGeom prst="rect">
            <a:avLst/>
          </a:prstGeom>
        </p:spPr>
        <p:txBody>
          <a:bodyPr numCol="1">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1">
              <a:buFont typeface="Wingdings" pitchFamily="2" charset="2"/>
              <a:buChar char="§"/>
            </a:pPr>
            <a:r>
              <a:rPr lang="en-IN" sz="2700" b="1" dirty="0"/>
              <a:t>Voluntary movement programming </a:t>
            </a:r>
            <a:r>
              <a:rPr lang="en-IN" sz="2700" dirty="0"/>
              <a:t>– planning, preparation and selection </a:t>
            </a:r>
            <a:br>
              <a:rPr lang="en-IN" sz="2700" dirty="0"/>
            </a:br>
            <a:r>
              <a:rPr lang="en-IN" sz="2700" dirty="0"/>
              <a:t>of movements</a:t>
            </a:r>
          </a:p>
          <a:p>
            <a:pPr lvl="1">
              <a:buFont typeface="Wingdings" pitchFamily="2" charset="2"/>
              <a:buChar char="§"/>
            </a:pPr>
            <a:r>
              <a:rPr lang="en-IN" sz="2700" b="1" dirty="0"/>
              <a:t>Fine movements </a:t>
            </a:r>
            <a:r>
              <a:rPr lang="en-IN" sz="2700" dirty="0"/>
              <a:t>– speed and </a:t>
            </a:r>
            <a:br>
              <a:rPr lang="en-IN" sz="2700" dirty="0"/>
            </a:br>
            <a:r>
              <a:rPr lang="en-IN" sz="2700" dirty="0"/>
              <a:t>strength</a:t>
            </a:r>
          </a:p>
          <a:p>
            <a:pPr lvl="1">
              <a:buFont typeface="Wingdings" pitchFamily="2" charset="2"/>
              <a:buChar char="§"/>
            </a:pPr>
            <a:r>
              <a:rPr lang="en-IN" sz="2700" dirty="0"/>
              <a:t>Voluntary </a:t>
            </a:r>
            <a:r>
              <a:rPr lang="en-IN" sz="2700" b="1" dirty="0"/>
              <a:t>eye gaze</a:t>
            </a:r>
          </a:p>
          <a:p>
            <a:pPr lvl="1">
              <a:buFont typeface="Wingdings" pitchFamily="2" charset="2"/>
              <a:buChar char="§"/>
            </a:pPr>
            <a:r>
              <a:rPr lang="en-IN" sz="2700" b="1" dirty="0"/>
              <a:t>Corollary discharge </a:t>
            </a:r>
            <a:r>
              <a:rPr lang="en-IN" sz="2700" dirty="0"/>
              <a:t>– transmission </a:t>
            </a:r>
            <a:br>
              <a:rPr lang="en-IN" sz="2700" dirty="0"/>
            </a:br>
            <a:r>
              <a:rPr lang="en-IN" sz="2700" dirty="0"/>
              <a:t>of information from one brain region </a:t>
            </a:r>
            <a:br>
              <a:rPr lang="en-IN" sz="2700" dirty="0"/>
            </a:br>
            <a:r>
              <a:rPr lang="en-IN" sz="2700" dirty="0"/>
              <a:t>to the other so that the one informs </a:t>
            </a:r>
            <a:br>
              <a:rPr lang="en-IN" sz="2700" dirty="0"/>
            </a:br>
            <a:r>
              <a:rPr lang="en-IN" sz="2700" dirty="0"/>
              <a:t>the other of its intended action</a:t>
            </a:r>
          </a:p>
          <a:p>
            <a:pPr lvl="1"/>
            <a:endParaRPr lang="en-IN" sz="2400" dirty="0"/>
          </a:p>
          <a:p>
            <a:endParaRPr lang="en-IN" sz="2800" dirty="0"/>
          </a:p>
        </p:txBody>
      </p:sp>
      <p:pic>
        <p:nvPicPr>
          <p:cNvPr id="9" name="Picture 8">
            <a:extLst>
              <a:ext uri="{FF2B5EF4-FFF2-40B4-BE49-F238E27FC236}">
                <a16:creationId xmlns:a16="http://schemas.microsoft.com/office/drawing/2014/main" id="{994079EA-747D-1640-9449-93B09D9D4F34}"/>
              </a:ext>
            </a:extLst>
          </p:cNvPr>
          <p:cNvPicPr>
            <a:picLocks noChangeAspect="1"/>
          </p:cNvPicPr>
          <p:nvPr/>
        </p:nvPicPr>
        <p:blipFill>
          <a:blip r:embed="rId2"/>
          <a:stretch>
            <a:fillRect/>
          </a:stretch>
        </p:blipFill>
        <p:spPr>
          <a:xfrm>
            <a:off x="6729530" y="1908139"/>
            <a:ext cx="5408872" cy="4949862"/>
          </a:xfrm>
          <a:prstGeom prst="rect">
            <a:avLst/>
          </a:prstGeom>
        </p:spPr>
      </p:pic>
    </p:spTree>
    <p:extLst>
      <p:ext uri="{BB962C8B-B14F-4D97-AF65-F5344CB8AC3E}">
        <p14:creationId xmlns:p14="http://schemas.microsoft.com/office/powerpoint/2010/main" val="3504711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81BF2-6532-2946-9B59-9E4C4C6FF5F2}"/>
              </a:ext>
            </a:extLst>
          </p:cNvPr>
          <p:cNvSpPr>
            <a:spLocks noGrp="1"/>
          </p:cNvSpPr>
          <p:nvPr>
            <p:ph type="title"/>
          </p:nvPr>
        </p:nvSpPr>
        <p:spPr/>
        <p:txBody>
          <a:bodyPr anchor="ctr">
            <a:normAutofit/>
          </a:bodyPr>
          <a:lstStyle/>
          <a:p>
            <a:r>
              <a:rPr lang="en-US" sz="3000" dirty="0"/>
              <a:t>SPEECH &amp; LANGUAGE FUNCTIONS (BROCA’S AREA)</a:t>
            </a:r>
          </a:p>
        </p:txBody>
      </p:sp>
      <p:sp>
        <p:nvSpPr>
          <p:cNvPr id="5" name="Content Placeholder 2">
            <a:extLst>
              <a:ext uri="{FF2B5EF4-FFF2-40B4-BE49-F238E27FC236}">
                <a16:creationId xmlns:a16="http://schemas.microsoft.com/office/drawing/2014/main" id="{F46CAB4A-CFF1-F943-8D22-D0FF26C60A4A}"/>
              </a:ext>
            </a:extLst>
          </p:cNvPr>
          <p:cNvSpPr txBox="1">
            <a:spLocks/>
          </p:cNvSpPr>
          <p:nvPr/>
        </p:nvSpPr>
        <p:spPr>
          <a:xfrm>
            <a:off x="240229" y="1535255"/>
            <a:ext cx="6768269" cy="5624038"/>
          </a:xfrm>
          <a:prstGeom prst="rect">
            <a:avLst/>
          </a:prstGeom>
        </p:spPr>
        <p:txBody>
          <a:bodyPr numCol="1">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1"/>
            <a:endParaRPr lang="en-IN" sz="2800" dirty="0"/>
          </a:p>
          <a:p>
            <a:pPr lvl="1"/>
            <a:r>
              <a:rPr lang="en-IN" sz="2800" dirty="0"/>
              <a:t>Production of speech </a:t>
            </a:r>
            <a:br>
              <a:rPr lang="en-IN" sz="2800" dirty="0"/>
            </a:br>
            <a:r>
              <a:rPr lang="en-IN" sz="2800" dirty="0"/>
              <a:t>and verbal expression</a:t>
            </a:r>
          </a:p>
          <a:p>
            <a:pPr lvl="1"/>
            <a:r>
              <a:rPr lang="en-IN" sz="2800" dirty="0"/>
              <a:t>Written expression</a:t>
            </a:r>
          </a:p>
          <a:p>
            <a:pPr lvl="1"/>
            <a:endParaRPr lang="en-IN" sz="2400" dirty="0"/>
          </a:p>
          <a:p>
            <a:endParaRPr lang="en-IN" sz="2800" dirty="0"/>
          </a:p>
        </p:txBody>
      </p:sp>
      <p:pic>
        <p:nvPicPr>
          <p:cNvPr id="4" name="Picture 3">
            <a:extLst>
              <a:ext uri="{FF2B5EF4-FFF2-40B4-BE49-F238E27FC236}">
                <a16:creationId xmlns:a16="http://schemas.microsoft.com/office/drawing/2014/main" id="{A0C3C02D-91DB-A84A-B684-F5A80C80C709}"/>
              </a:ext>
            </a:extLst>
          </p:cNvPr>
          <p:cNvPicPr>
            <a:picLocks noChangeAspect="1"/>
          </p:cNvPicPr>
          <p:nvPr/>
        </p:nvPicPr>
        <p:blipFill>
          <a:blip r:embed="rId2"/>
          <a:stretch>
            <a:fillRect/>
          </a:stretch>
        </p:blipFill>
        <p:spPr>
          <a:xfrm>
            <a:off x="6022779" y="2154264"/>
            <a:ext cx="6169221" cy="4169044"/>
          </a:xfrm>
          <a:prstGeom prst="rect">
            <a:avLst/>
          </a:prstGeom>
        </p:spPr>
      </p:pic>
    </p:spTree>
    <p:extLst>
      <p:ext uri="{BB962C8B-B14F-4D97-AF65-F5344CB8AC3E}">
        <p14:creationId xmlns:p14="http://schemas.microsoft.com/office/powerpoint/2010/main" val="1576585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81BF2-6532-2946-9B59-9E4C4C6FF5F2}"/>
              </a:ext>
            </a:extLst>
          </p:cNvPr>
          <p:cNvSpPr>
            <a:spLocks noGrp="1"/>
          </p:cNvSpPr>
          <p:nvPr>
            <p:ph type="title"/>
          </p:nvPr>
        </p:nvSpPr>
        <p:spPr/>
        <p:txBody>
          <a:bodyPr anchor="ctr">
            <a:normAutofit/>
          </a:bodyPr>
          <a:lstStyle/>
          <a:p>
            <a:r>
              <a:rPr lang="en-US" sz="3000" dirty="0"/>
              <a:t>COGNITIVE &amp; EXECUTIVE FUNCTIONS (prefrontal cortex)</a:t>
            </a:r>
          </a:p>
        </p:txBody>
      </p:sp>
      <p:sp>
        <p:nvSpPr>
          <p:cNvPr id="5" name="Content Placeholder 2">
            <a:extLst>
              <a:ext uri="{FF2B5EF4-FFF2-40B4-BE49-F238E27FC236}">
                <a16:creationId xmlns:a16="http://schemas.microsoft.com/office/drawing/2014/main" id="{F46CAB4A-CFF1-F943-8D22-D0FF26C60A4A}"/>
              </a:ext>
            </a:extLst>
          </p:cNvPr>
          <p:cNvSpPr txBox="1">
            <a:spLocks/>
          </p:cNvSpPr>
          <p:nvPr/>
        </p:nvSpPr>
        <p:spPr>
          <a:xfrm>
            <a:off x="240229" y="1535255"/>
            <a:ext cx="6768269" cy="5624038"/>
          </a:xfrm>
          <a:prstGeom prst="rect">
            <a:avLst/>
          </a:prstGeom>
        </p:spPr>
        <p:txBody>
          <a:bodyPr numCol="1">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1"/>
            <a:endParaRPr lang="en-IN" sz="2800" dirty="0"/>
          </a:p>
          <a:p>
            <a:pPr lvl="1"/>
            <a:r>
              <a:rPr lang="en-IN" sz="2800" dirty="0"/>
              <a:t>Attention &amp; concentration</a:t>
            </a:r>
          </a:p>
          <a:p>
            <a:pPr lvl="1"/>
            <a:r>
              <a:rPr lang="en-IN" sz="2800" dirty="0"/>
              <a:t>Working memory</a:t>
            </a:r>
          </a:p>
          <a:p>
            <a:pPr lvl="1"/>
            <a:r>
              <a:rPr lang="en-IN" sz="2800" dirty="0"/>
              <a:t>Intelligence</a:t>
            </a:r>
          </a:p>
          <a:p>
            <a:pPr lvl="1"/>
            <a:r>
              <a:rPr lang="en-IN" sz="2800" dirty="0"/>
              <a:t>Creativity</a:t>
            </a:r>
          </a:p>
          <a:p>
            <a:pPr lvl="1"/>
            <a:r>
              <a:rPr lang="en-IN" sz="2800" dirty="0"/>
              <a:t>Higher order executive functions</a:t>
            </a:r>
          </a:p>
          <a:p>
            <a:pPr lvl="1"/>
            <a:endParaRPr lang="en-IN" sz="2800" dirty="0"/>
          </a:p>
          <a:p>
            <a:pPr lvl="1"/>
            <a:endParaRPr lang="en-IN" sz="2400" dirty="0"/>
          </a:p>
          <a:p>
            <a:endParaRPr lang="en-IN" sz="2800" dirty="0"/>
          </a:p>
        </p:txBody>
      </p:sp>
      <p:pic>
        <p:nvPicPr>
          <p:cNvPr id="12" name="Picture 11">
            <a:extLst>
              <a:ext uri="{FF2B5EF4-FFF2-40B4-BE49-F238E27FC236}">
                <a16:creationId xmlns:a16="http://schemas.microsoft.com/office/drawing/2014/main" id="{6F7961B7-2109-9242-875C-CB7536438EFD}"/>
              </a:ext>
            </a:extLst>
          </p:cNvPr>
          <p:cNvPicPr>
            <a:picLocks noChangeAspect="1"/>
          </p:cNvPicPr>
          <p:nvPr/>
        </p:nvPicPr>
        <p:blipFill>
          <a:blip r:embed="rId2"/>
          <a:stretch>
            <a:fillRect/>
          </a:stretch>
        </p:blipFill>
        <p:spPr>
          <a:xfrm>
            <a:off x="6096000" y="2089711"/>
            <a:ext cx="5380172" cy="4515125"/>
          </a:xfrm>
          <a:prstGeom prst="rect">
            <a:avLst/>
          </a:prstGeom>
        </p:spPr>
      </p:pic>
    </p:spTree>
    <p:extLst>
      <p:ext uri="{BB962C8B-B14F-4D97-AF65-F5344CB8AC3E}">
        <p14:creationId xmlns:p14="http://schemas.microsoft.com/office/powerpoint/2010/main" val="2913984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4236FFAB-A114-BD48-8B56-2B287143651C}"/>
              </a:ext>
            </a:extLst>
          </p:cNvPr>
          <p:cNvSpPr txBox="1">
            <a:spLocks/>
          </p:cNvSpPr>
          <p:nvPr/>
        </p:nvSpPr>
        <p:spPr>
          <a:xfrm>
            <a:off x="581192" y="635000"/>
            <a:ext cx="11610808" cy="6108700"/>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dirty="0"/>
          </a:p>
          <a:p>
            <a:endParaRPr lang="en-IN" dirty="0"/>
          </a:p>
          <a:p>
            <a:endParaRPr lang="en-US" dirty="0"/>
          </a:p>
        </p:txBody>
      </p:sp>
      <p:sp>
        <p:nvSpPr>
          <p:cNvPr id="4" name="Content Placeholder 2">
            <a:extLst>
              <a:ext uri="{FF2B5EF4-FFF2-40B4-BE49-F238E27FC236}">
                <a16:creationId xmlns:a16="http://schemas.microsoft.com/office/drawing/2014/main" id="{D5A9D366-017B-2249-B2FF-9E2ACA0F8382}"/>
              </a:ext>
            </a:extLst>
          </p:cNvPr>
          <p:cNvSpPr txBox="1">
            <a:spLocks/>
          </p:cNvSpPr>
          <p:nvPr/>
        </p:nvSpPr>
        <p:spPr>
          <a:xfrm>
            <a:off x="457205" y="916246"/>
            <a:ext cx="11460991" cy="866059"/>
          </a:xfrm>
          <a:prstGeom prst="rect">
            <a:avLst/>
          </a:prstGeom>
        </p:spPr>
        <p:txBody>
          <a:bodyPr numCol="1">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Higher order executive functions – essential for planning, making goals,  </a:t>
            </a:r>
            <a:br>
              <a:rPr lang="en-IN" sz="2800" dirty="0"/>
            </a:br>
            <a:r>
              <a:rPr lang="en-IN" sz="2800" dirty="0"/>
              <a:t>and regulating and verifying behaviour:</a:t>
            </a:r>
          </a:p>
          <a:p>
            <a:pPr lvl="1"/>
            <a:endParaRPr lang="en-IN" sz="2600" dirty="0"/>
          </a:p>
          <a:p>
            <a:pPr lvl="1"/>
            <a:endParaRPr lang="en-IN" sz="2600" dirty="0"/>
          </a:p>
          <a:p>
            <a:endParaRPr lang="en-IN" sz="2800" dirty="0"/>
          </a:p>
        </p:txBody>
      </p:sp>
      <p:sp>
        <p:nvSpPr>
          <p:cNvPr id="5" name="Content Placeholder 2">
            <a:extLst>
              <a:ext uri="{FF2B5EF4-FFF2-40B4-BE49-F238E27FC236}">
                <a16:creationId xmlns:a16="http://schemas.microsoft.com/office/drawing/2014/main" id="{69550911-A7D8-624C-9A23-77800013ADEB}"/>
              </a:ext>
            </a:extLst>
          </p:cNvPr>
          <p:cNvSpPr txBox="1">
            <a:spLocks/>
          </p:cNvSpPr>
          <p:nvPr/>
        </p:nvSpPr>
        <p:spPr>
          <a:xfrm>
            <a:off x="670163" y="2109615"/>
            <a:ext cx="11035074" cy="3828511"/>
          </a:xfrm>
          <a:prstGeom prst="rect">
            <a:avLst/>
          </a:prstGeom>
        </p:spPr>
        <p:txBody>
          <a:bodyPr numCol="2"/>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1">
              <a:buFont typeface="Arial" panose="020B0604020202020204" pitchFamily="34" charset="0"/>
              <a:buChar char="•"/>
            </a:pPr>
            <a:r>
              <a:rPr lang="en-IN" sz="2800" dirty="0"/>
              <a:t>Planning</a:t>
            </a:r>
          </a:p>
          <a:p>
            <a:pPr lvl="1">
              <a:buFont typeface="Arial" panose="020B0604020202020204" pitchFamily="34" charset="0"/>
              <a:buChar char="•"/>
            </a:pPr>
            <a:r>
              <a:rPr lang="en-IN" sz="2800" dirty="0"/>
              <a:t>Organization</a:t>
            </a:r>
          </a:p>
          <a:p>
            <a:pPr lvl="1">
              <a:buFont typeface="Arial" panose="020B0604020202020204" pitchFamily="34" charset="0"/>
              <a:buChar char="•"/>
            </a:pPr>
            <a:r>
              <a:rPr lang="en-IN" sz="2800" dirty="0"/>
              <a:t>Initiation</a:t>
            </a:r>
          </a:p>
          <a:p>
            <a:pPr lvl="1">
              <a:buFont typeface="Arial" panose="020B0604020202020204" pitchFamily="34" charset="0"/>
              <a:buChar char="•"/>
            </a:pPr>
            <a:r>
              <a:rPr lang="en-IN" sz="2800" dirty="0"/>
              <a:t>Reasoning</a:t>
            </a:r>
          </a:p>
          <a:p>
            <a:pPr lvl="1">
              <a:buFont typeface="Arial" panose="020B0604020202020204" pitchFamily="34" charset="0"/>
              <a:buChar char="•"/>
            </a:pPr>
            <a:r>
              <a:rPr lang="en-IN" sz="2800" dirty="0"/>
              <a:t>Judgement</a:t>
            </a:r>
          </a:p>
          <a:p>
            <a:pPr lvl="1">
              <a:buFont typeface="Arial" panose="020B0604020202020204" pitchFamily="34" charset="0"/>
              <a:buChar char="•"/>
            </a:pPr>
            <a:r>
              <a:rPr lang="en-IN" sz="2800" dirty="0"/>
              <a:t>Decision-making</a:t>
            </a:r>
          </a:p>
          <a:p>
            <a:pPr lvl="1">
              <a:buFont typeface="Arial" panose="020B0604020202020204" pitchFamily="34" charset="0"/>
              <a:buChar char="•"/>
            </a:pPr>
            <a:endParaRPr lang="en-IN" sz="2800" dirty="0"/>
          </a:p>
          <a:p>
            <a:pPr lvl="1">
              <a:buFont typeface="Arial" panose="020B0604020202020204" pitchFamily="34" charset="0"/>
              <a:buChar char="•"/>
            </a:pPr>
            <a:endParaRPr lang="en-IN" sz="2800" dirty="0"/>
          </a:p>
          <a:p>
            <a:pPr marL="324000" lvl="1" indent="0">
              <a:buNone/>
            </a:pPr>
            <a:endParaRPr lang="en-IN" sz="2800" dirty="0"/>
          </a:p>
          <a:p>
            <a:pPr lvl="1">
              <a:buFont typeface="Arial" panose="020B0604020202020204" pitchFamily="34" charset="0"/>
              <a:buChar char="•"/>
            </a:pPr>
            <a:r>
              <a:rPr lang="en-IN" sz="2800" dirty="0"/>
              <a:t>Abstract thinking </a:t>
            </a:r>
          </a:p>
          <a:p>
            <a:pPr lvl="1">
              <a:buFont typeface="Arial" panose="020B0604020202020204" pitchFamily="34" charset="0"/>
              <a:buChar char="•"/>
            </a:pPr>
            <a:r>
              <a:rPr lang="en-IN" sz="2800" dirty="0"/>
              <a:t>Problem solving</a:t>
            </a:r>
          </a:p>
          <a:p>
            <a:pPr lvl="1">
              <a:buFont typeface="Arial" panose="020B0604020202020204" pitchFamily="34" charset="0"/>
              <a:buChar char="•"/>
            </a:pPr>
            <a:r>
              <a:rPr lang="en-IN" sz="2800" dirty="0"/>
              <a:t>Sequencing</a:t>
            </a:r>
          </a:p>
          <a:p>
            <a:pPr lvl="1">
              <a:buFont typeface="Arial" panose="020B0604020202020204" pitchFamily="34" charset="0"/>
              <a:buChar char="•"/>
            </a:pPr>
            <a:r>
              <a:rPr lang="en-IN" sz="2800" dirty="0"/>
              <a:t>Set-shifting/cognitive flexibility</a:t>
            </a:r>
          </a:p>
          <a:p>
            <a:endParaRPr lang="en-IN" sz="2800" dirty="0"/>
          </a:p>
          <a:p>
            <a:endParaRPr lang="en-IN" sz="2800"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785202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81BF2-6532-2946-9B59-9E4C4C6FF5F2}"/>
              </a:ext>
            </a:extLst>
          </p:cNvPr>
          <p:cNvSpPr>
            <a:spLocks noGrp="1"/>
          </p:cNvSpPr>
          <p:nvPr>
            <p:ph type="title"/>
          </p:nvPr>
        </p:nvSpPr>
        <p:spPr/>
        <p:txBody>
          <a:bodyPr anchor="ctr">
            <a:normAutofit/>
          </a:bodyPr>
          <a:lstStyle/>
          <a:p>
            <a:r>
              <a:rPr lang="en-US" sz="3000" dirty="0"/>
              <a:t>PERSONALITY &amp; behavior (PREFRONTAL CORTEX)</a:t>
            </a:r>
          </a:p>
        </p:txBody>
      </p:sp>
      <p:sp>
        <p:nvSpPr>
          <p:cNvPr id="5" name="Content Placeholder 2">
            <a:extLst>
              <a:ext uri="{FF2B5EF4-FFF2-40B4-BE49-F238E27FC236}">
                <a16:creationId xmlns:a16="http://schemas.microsoft.com/office/drawing/2014/main" id="{F46CAB4A-CFF1-F943-8D22-D0FF26C60A4A}"/>
              </a:ext>
            </a:extLst>
          </p:cNvPr>
          <p:cNvSpPr txBox="1">
            <a:spLocks/>
          </p:cNvSpPr>
          <p:nvPr/>
        </p:nvSpPr>
        <p:spPr>
          <a:xfrm>
            <a:off x="581192" y="1543928"/>
            <a:ext cx="6145073" cy="5624038"/>
          </a:xfrm>
          <a:prstGeom prst="rect">
            <a:avLst/>
          </a:prstGeom>
        </p:spPr>
        <p:txBody>
          <a:bodyPr numCol="1">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1"/>
            <a:endParaRPr lang="en-IN" sz="2800" dirty="0"/>
          </a:p>
          <a:p>
            <a:r>
              <a:rPr lang="en-IN" sz="2700" dirty="0"/>
              <a:t>Personality traits</a:t>
            </a:r>
          </a:p>
          <a:p>
            <a:r>
              <a:rPr lang="en-IN" sz="2700" dirty="0"/>
              <a:t>Autonoetic awareness</a:t>
            </a:r>
          </a:p>
          <a:p>
            <a:r>
              <a:rPr lang="en-IN" sz="2700" dirty="0"/>
              <a:t>Emotional regulation </a:t>
            </a:r>
            <a:br>
              <a:rPr lang="en-IN" sz="2700" dirty="0"/>
            </a:br>
            <a:r>
              <a:rPr lang="en-IN" sz="2700" dirty="0"/>
              <a:t>&amp; expression</a:t>
            </a:r>
          </a:p>
          <a:p>
            <a:r>
              <a:rPr lang="en-IN" sz="2700" dirty="0"/>
              <a:t>Self-regulation &amp; impulse control</a:t>
            </a:r>
          </a:p>
          <a:p>
            <a:r>
              <a:rPr lang="en-IN" sz="2700" dirty="0"/>
              <a:t>Theory of mind</a:t>
            </a:r>
          </a:p>
          <a:p>
            <a:r>
              <a:rPr lang="en-IN" sz="2700" dirty="0"/>
              <a:t>Social behaviour </a:t>
            </a:r>
          </a:p>
          <a:p>
            <a:r>
              <a:rPr lang="en-IN" sz="2700" dirty="0"/>
              <a:t>Sexual behaviour</a:t>
            </a:r>
          </a:p>
          <a:p>
            <a:pPr lvl="1"/>
            <a:endParaRPr lang="en-IN" sz="2400" dirty="0"/>
          </a:p>
          <a:p>
            <a:endParaRPr lang="en-IN" sz="2800" dirty="0"/>
          </a:p>
        </p:txBody>
      </p:sp>
      <p:pic>
        <p:nvPicPr>
          <p:cNvPr id="7" name="Picture 6">
            <a:extLst>
              <a:ext uri="{FF2B5EF4-FFF2-40B4-BE49-F238E27FC236}">
                <a16:creationId xmlns:a16="http://schemas.microsoft.com/office/drawing/2014/main" id="{1BCF2090-71F4-AB4A-89BF-46DD69B14873}"/>
              </a:ext>
            </a:extLst>
          </p:cNvPr>
          <p:cNvPicPr>
            <a:picLocks noChangeAspect="1"/>
          </p:cNvPicPr>
          <p:nvPr/>
        </p:nvPicPr>
        <p:blipFill>
          <a:blip r:embed="rId3"/>
          <a:stretch>
            <a:fillRect/>
          </a:stretch>
        </p:blipFill>
        <p:spPr>
          <a:xfrm>
            <a:off x="5589286" y="2201835"/>
            <a:ext cx="6346517" cy="4074978"/>
          </a:xfrm>
          <a:prstGeom prst="rect">
            <a:avLst/>
          </a:prstGeom>
        </p:spPr>
      </p:pic>
    </p:spTree>
    <p:extLst>
      <p:ext uri="{BB962C8B-B14F-4D97-AF65-F5344CB8AC3E}">
        <p14:creationId xmlns:p14="http://schemas.microsoft.com/office/powerpoint/2010/main" val="1739473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81BF2-6532-2946-9B59-9E4C4C6FF5F2}"/>
              </a:ext>
            </a:extLst>
          </p:cNvPr>
          <p:cNvSpPr>
            <a:spLocks noGrp="1"/>
          </p:cNvSpPr>
          <p:nvPr>
            <p:ph type="title"/>
          </p:nvPr>
        </p:nvSpPr>
        <p:spPr/>
        <p:txBody>
          <a:bodyPr anchor="ctr">
            <a:normAutofit/>
          </a:bodyPr>
          <a:lstStyle/>
          <a:p>
            <a:r>
              <a:rPr lang="en-US" sz="3000" dirty="0"/>
              <a:t>SENSORY-PERCEPTUAL JUDGEMENT (</a:t>
            </a:r>
            <a:r>
              <a:rPr lang="en-US" sz="3000" dirty="0" err="1"/>
              <a:t>ofc</a:t>
            </a:r>
            <a:r>
              <a:rPr lang="en-US" sz="3000" dirty="0"/>
              <a:t>)</a:t>
            </a:r>
          </a:p>
        </p:txBody>
      </p:sp>
      <p:sp>
        <p:nvSpPr>
          <p:cNvPr id="5" name="Content Placeholder 2">
            <a:extLst>
              <a:ext uri="{FF2B5EF4-FFF2-40B4-BE49-F238E27FC236}">
                <a16:creationId xmlns:a16="http://schemas.microsoft.com/office/drawing/2014/main" id="{F46CAB4A-CFF1-F943-8D22-D0FF26C60A4A}"/>
              </a:ext>
            </a:extLst>
          </p:cNvPr>
          <p:cNvSpPr txBox="1">
            <a:spLocks/>
          </p:cNvSpPr>
          <p:nvPr/>
        </p:nvSpPr>
        <p:spPr>
          <a:xfrm>
            <a:off x="581192" y="1543928"/>
            <a:ext cx="6145073" cy="5624038"/>
          </a:xfrm>
          <a:prstGeom prst="rect">
            <a:avLst/>
          </a:prstGeom>
        </p:spPr>
        <p:txBody>
          <a:bodyPr numCol="1">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1"/>
            <a:endParaRPr lang="en-IN" sz="2800" dirty="0"/>
          </a:p>
          <a:p>
            <a:r>
              <a:rPr lang="en-IN" sz="2800" dirty="0"/>
              <a:t>Odour memory</a:t>
            </a:r>
          </a:p>
          <a:p>
            <a:r>
              <a:rPr lang="en-IN" sz="2800" dirty="0"/>
              <a:t>Odour discrimination</a:t>
            </a:r>
          </a:p>
          <a:p>
            <a:r>
              <a:rPr lang="en-IN" sz="2800" dirty="0"/>
              <a:t>Flavour perception</a:t>
            </a:r>
          </a:p>
          <a:p>
            <a:r>
              <a:rPr lang="en-IN" sz="2800" dirty="0"/>
              <a:t>Affective value of food </a:t>
            </a:r>
            <a:br>
              <a:rPr lang="en-IN" sz="2800" dirty="0"/>
            </a:br>
            <a:r>
              <a:rPr lang="en-IN" sz="2800" dirty="0"/>
              <a:t>and food reward</a:t>
            </a:r>
            <a:br>
              <a:rPr lang="en-IN" sz="2700" dirty="0"/>
            </a:br>
            <a:r>
              <a:rPr lang="en-IN" sz="2400" dirty="0"/>
              <a:t>(Small et al., 2007)</a:t>
            </a:r>
          </a:p>
          <a:p>
            <a:endParaRPr lang="en-IN" sz="2800" dirty="0"/>
          </a:p>
        </p:txBody>
      </p:sp>
      <p:pic>
        <p:nvPicPr>
          <p:cNvPr id="4" name="Picture 3">
            <a:extLst>
              <a:ext uri="{FF2B5EF4-FFF2-40B4-BE49-F238E27FC236}">
                <a16:creationId xmlns:a16="http://schemas.microsoft.com/office/drawing/2014/main" id="{B7329507-6AA9-644D-AE87-2E93A051A62E}"/>
              </a:ext>
            </a:extLst>
          </p:cNvPr>
          <p:cNvPicPr>
            <a:picLocks noChangeAspect="1"/>
          </p:cNvPicPr>
          <p:nvPr/>
        </p:nvPicPr>
        <p:blipFill>
          <a:blip r:embed="rId3"/>
          <a:stretch>
            <a:fillRect/>
          </a:stretch>
        </p:blipFill>
        <p:spPr>
          <a:xfrm>
            <a:off x="4295003" y="2020591"/>
            <a:ext cx="7182997" cy="4411205"/>
          </a:xfrm>
          <a:prstGeom prst="rect">
            <a:avLst/>
          </a:prstGeom>
        </p:spPr>
      </p:pic>
    </p:spTree>
    <p:extLst>
      <p:ext uri="{BB962C8B-B14F-4D97-AF65-F5344CB8AC3E}">
        <p14:creationId xmlns:p14="http://schemas.microsoft.com/office/powerpoint/2010/main" val="3782293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7BFE4-9012-AD48-9D25-A7668C073BED}"/>
              </a:ext>
            </a:extLst>
          </p:cNvPr>
          <p:cNvSpPr>
            <a:spLocks noGrp="1"/>
          </p:cNvSpPr>
          <p:nvPr>
            <p:ph type="ctrTitle"/>
          </p:nvPr>
        </p:nvSpPr>
        <p:spPr>
          <a:xfrm>
            <a:off x="581191" y="515935"/>
            <a:ext cx="10993549" cy="1475013"/>
          </a:xfrm>
        </p:spPr>
        <p:txBody>
          <a:bodyPr/>
          <a:lstStyle/>
          <a:p>
            <a:r>
              <a:rPr lang="en-US" dirty="0"/>
              <a:t>FRONTAL LOBE SYNDROME</a:t>
            </a:r>
          </a:p>
        </p:txBody>
      </p:sp>
      <p:sp>
        <p:nvSpPr>
          <p:cNvPr id="3" name="Subtitle 2">
            <a:extLst>
              <a:ext uri="{FF2B5EF4-FFF2-40B4-BE49-F238E27FC236}">
                <a16:creationId xmlns:a16="http://schemas.microsoft.com/office/drawing/2014/main" id="{7BFE0CF8-EDC9-4F44-A6C2-94A8B51EA560}"/>
              </a:ext>
            </a:extLst>
          </p:cNvPr>
          <p:cNvSpPr>
            <a:spLocks noGrp="1"/>
          </p:cNvSpPr>
          <p:nvPr>
            <p:ph type="subTitle" idx="1"/>
          </p:nvPr>
        </p:nvSpPr>
        <p:spPr>
          <a:xfrm>
            <a:off x="581191" y="1990948"/>
            <a:ext cx="10993546" cy="590321"/>
          </a:xfrm>
        </p:spPr>
        <p:txBody>
          <a:bodyPr>
            <a:noAutofit/>
          </a:bodyPr>
          <a:lstStyle/>
          <a:p>
            <a:r>
              <a:rPr lang="en-US" sz="2800" dirty="0"/>
              <a:t>WHAT IS FRONTAL LOBE SYNDROME?</a:t>
            </a:r>
          </a:p>
        </p:txBody>
      </p:sp>
    </p:spTree>
    <p:extLst>
      <p:ext uri="{BB962C8B-B14F-4D97-AF65-F5344CB8AC3E}">
        <p14:creationId xmlns:p14="http://schemas.microsoft.com/office/powerpoint/2010/main" val="1962381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560235" y="851977"/>
            <a:ext cx="11035074"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b="1" dirty="0"/>
              <a:t>Neuropsychological consequences of frontal lobe injury </a:t>
            </a:r>
            <a:r>
              <a:rPr lang="en-IN" sz="2800" dirty="0"/>
              <a:t>have been characterized as a syndrome, i.e., a </a:t>
            </a:r>
            <a:r>
              <a:rPr lang="en-IN" sz="2800" b="1" dirty="0"/>
              <a:t>cluster of behavioural symptoms </a:t>
            </a:r>
            <a:r>
              <a:rPr lang="en-IN" sz="2800" dirty="0"/>
              <a:t>that reliably appear.</a:t>
            </a:r>
          </a:p>
          <a:p>
            <a:r>
              <a:rPr lang="en-IN" sz="2800" dirty="0"/>
              <a:t>Refers to a </a:t>
            </a:r>
            <a:r>
              <a:rPr lang="en-IN" sz="2800" b="1" dirty="0"/>
              <a:t>clinical syndrome </a:t>
            </a:r>
            <a:r>
              <a:rPr lang="en-IN" sz="2800" dirty="0"/>
              <a:t>resulting from </a:t>
            </a:r>
            <a:r>
              <a:rPr lang="en-IN" sz="2800" b="1" dirty="0"/>
              <a:t>damage and impaired function</a:t>
            </a:r>
            <a:r>
              <a:rPr lang="en-IN" sz="2800" dirty="0"/>
              <a:t> of the frontal cortex resulting in </a:t>
            </a:r>
            <a:r>
              <a:rPr lang="en-IN" sz="2800" b="1" dirty="0"/>
              <a:t>the damage of higher functioning processes </a:t>
            </a:r>
            <a:r>
              <a:rPr lang="en-IN" sz="2800" dirty="0"/>
              <a:t>of the brain such as motivation, planning, social behaviour and language/speech production </a:t>
            </a:r>
            <a:r>
              <a:rPr lang="en-IN" sz="2400" dirty="0"/>
              <a:t>(</a:t>
            </a:r>
            <a:r>
              <a:rPr lang="en-IN" sz="2400" dirty="0" err="1"/>
              <a:t>Pirau</a:t>
            </a:r>
            <a:r>
              <a:rPr lang="en-IN" sz="2400" dirty="0"/>
              <a:t> &amp; </a:t>
            </a:r>
            <a:r>
              <a:rPr lang="en-IN" sz="2400" dirty="0" err="1"/>
              <a:t>Lui</a:t>
            </a:r>
            <a:r>
              <a:rPr lang="en-IN" sz="2400" dirty="0"/>
              <a:t>, 2018).</a:t>
            </a:r>
          </a:p>
          <a:p>
            <a:r>
              <a:rPr lang="en-IN" sz="2800" dirty="0"/>
              <a:t>Because these </a:t>
            </a:r>
            <a:r>
              <a:rPr lang="en-IN" sz="2800" b="1" dirty="0"/>
              <a:t>deficits cannot be subclassified</a:t>
            </a:r>
            <a:r>
              <a:rPr lang="en-IN" sz="2800" dirty="0"/>
              <a:t>, the term frontal lobe syndrome is used to refer to an </a:t>
            </a:r>
            <a:r>
              <a:rPr lang="en-IN" sz="2800" b="1" dirty="0"/>
              <a:t>amorphous, varied group of deficits resulting from diverse </a:t>
            </a:r>
            <a:r>
              <a:rPr lang="en-IN" sz="2800" b="1" dirty="0" err="1"/>
              <a:t>etiologies</a:t>
            </a:r>
            <a:r>
              <a:rPr lang="en-IN" sz="2800" b="1" dirty="0"/>
              <a:t>, different locations and variable extents of abnormalities</a:t>
            </a:r>
            <a:r>
              <a:rPr lang="en-IN" sz="2800" dirty="0"/>
              <a:t> </a:t>
            </a:r>
            <a:r>
              <a:rPr lang="en-IN" sz="2400" dirty="0"/>
              <a:t>(</a:t>
            </a:r>
            <a:r>
              <a:rPr lang="en-IN" sz="2400" dirty="0" err="1"/>
              <a:t>Stuss</a:t>
            </a:r>
            <a:r>
              <a:rPr lang="en-IN" sz="2400" dirty="0"/>
              <a:t> &amp; Benson, 1984).</a:t>
            </a:r>
          </a:p>
          <a:p>
            <a:endParaRPr lang="en-IN" sz="2800" dirty="0"/>
          </a:p>
          <a:p>
            <a:endParaRPr lang="en-IN" sz="2800" dirty="0"/>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2196824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0" y="960466"/>
            <a:ext cx="11631765"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1">
              <a:buFont typeface="Wingdings" pitchFamily="2" charset="2"/>
              <a:buChar char="§"/>
            </a:pPr>
            <a:r>
              <a:rPr lang="en-IN" sz="2800" dirty="0"/>
              <a:t>Considerable </a:t>
            </a:r>
            <a:r>
              <a:rPr lang="en-IN" sz="2800" b="1" dirty="0"/>
              <a:t>variation in the types and manifestation</a:t>
            </a:r>
            <a:r>
              <a:rPr lang="en-IN" sz="2800" dirty="0"/>
              <a:t> of symptoms.</a:t>
            </a:r>
          </a:p>
          <a:p>
            <a:pPr lvl="1">
              <a:buFont typeface="Wingdings" pitchFamily="2" charset="2"/>
              <a:buChar char="§"/>
            </a:pPr>
            <a:endParaRPr lang="en-IN" sz="2800" dirty="0"/>
          </a:p>
          <a:p>
            <a:pPr lvl="1">
              <a:buFont typeface="Wingdings" pitchFamily="2" charset="2"/>
              <a:buChar char="§"/>
            </a:pPr>
            <a:r>
              <a:rPr lang="en-IN" sz="2800" dirty="0"/>
              <a:t>All frontal lobe patients </a:t>
            </a:r>
            <a:r>
              <a:rPr lang="en-IN" sz="2800" b="1" dirty="0"/>
              <a:t>do no show all symptoms</a:t>
            </a:r>
            <a:r>
              <a:rPr lang="en-IN" sz="2800" dirty="0"/>
              <a:t>; variation in severity.</a:t>
            </a:r>
          </a:p>
          <a:p>
            <a:pPr lvl="1">
              <a:buFont typeface="Wingdings" pitchFamily="2" charset="2"/>
              <a:buChar char="§"/>
            </a:pPr>
            <a:endParaRPr lang="en-IN" sz="2800" dirty="0"/>
          </a:p>
          <a:p>
            <a:pPr lvl="1">
              <a:buFont typeface="Wingdings" pitchFamily="2" charset="2"/>
              <a:buChar char="§"/>
            </a:pPr>
            <a:r>
              <a:rPr lang="en-IN" sz="2800" dirty="0"/>
              <a:t>Symptom </a:t>
            </a:r>
            <a:r>
              <a:rPr lang="en-IN" sz="2800" b="1" dirty="0"/>
              <a:t>presentation is complicated </a:t>
            </a:r>
            <a:r>
              <a:rPr lang="en-IN" sz="2800" dirty="0"/>
              <a:t>by the specific region and hemisphere of the prefrontal cortex damage.</a:t>
            </a:r>
          </a:p>
          <a:p>
            <a:pPr lvl="1">
              <a:buFont typeface="Wingdings" pitchFamily="2" charset="2"/>
              <a:buChar char="§"/>
            </a:pPr>
            <a:endParaRPr lang="en-IN" sz="2800" dirty="0"/>
          </a:p>
          <a:p>
            <a:pPr lvl="1">
              <a:buFont typeface="Wingdings" pitchFamily="2" charset="2"/>
              <a:buChar char="§"/>
            </a:pPr>
            <a:r>
              <a:rPr lang="en-IN" sz="2800" b="1" dirty="0"/>
              <a:t>Variable test performance </a:t>
            </a:r>
            <a:r>
              <a:rPr lang="en-IN" sz="2800" dirty="0"/>
              <a:t>between individuals with frontal damage.</a:t>
            </a:r>
          </a:p>
          <a:p>
            <a:pPr lvl="1">
              <a:buFont typeface="Arial" panose="020B0604020202020204" pitchFamily="34" charset="0"/>
              <a:buChar char="•"/>
            </a:pPr>
            <a:endParaRPr lang="en-IN" sz="2800" dirty="0"/>
          </a:p>
          <a:p>
            <a:pPr lvl="1">
              <a:buFont typeface="Arial" panose="020B0604020202020204" pitchFamily="34" charset="0"/>
              <a:buChar char="•"/>
            </a:pPr>
            <a:endParaRPr lang="en-IN" sz="2800" dirty="0"/>
          </a:p>
          <a:p>
            <a:pPr lvl="1"/>
            <a:endParaRPr lang="en-IN" sz="2600" dirty="0"/>
          </a:p>
          <a:p>
            <a:endParaRPr lang="en-IN" sz="2800" dirty="0"/>
          </a:p>
          <a:p>
            <a:endParaRPr lang="en-IN" sz="2800" dirty="0"/>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1041160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575733" y="944967"/>
            <a:ext cx="11264971"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Broad categories of symptoms:</a:t>
            </a:r>
          </a:p>
          <a:p>
            <a:pPr lvl="1">
              <a:buFont typeface="Arial" panose="020B0604020202020204" pitchFamily="34" charset="0"/>
              <a:buChar char="•"/>
            </a:pPr>
            <a:r>
              <a:rPr lang="en-IN" sz="2800" dirty="0"/>
              <a:t>Motor symptoms – damage to premotor and precentral cortex </a:t>
            </a:r>
            <a:br>
              <a:rPr lang="en-IN" sz="2800" dirty="0"/>
            </a:br>
            <a:r>
              <a:rPr lang="en-IN" sz="2800" dirty="0"/>
              <a:t>(motor strip)</a:t>
            </a:r>
          </a:p>
          <a:p>
            <a:pPr lvl="1">
              <a:buFont typeface="Arial" panose="020B0604020202020204" pitchFamily="34" charset="0"/>
              <a:buChar char="•"/>
            </a:pPr>
            <a:r>
              <a:rPr lang="en-IN" sz="2800" dirty="0"/>
              <a:t>Sensory-perceptual symptoms – damage to orbitofrontal cortex</a:t>
            </a:r>
          </a:p>
          <a:p>
            <a:pPr lvl="1">
              <a:buFont typeface="Arial" panose="020B0604020202020204" pitchFamily="34" charset="0"/>
              <a:buChar char="•"/>
            </a:pPr>
            <a:r>
              <a:rPr lang="en-IN" sz="2800" dirty="0"/>
              <a:t>Speech &amp; language symptoms – </a:t>
            </a:r>
            <a:r>
              <a:rPr lang="en-IN" sz="2800" dirty="0" err="1"/>
              <a:t>Broca’s</a:t>
            </a:r>
            <a:r>
              <a:rPr lang="en-IN" sz="2800" dirty="0"/>
              <a:t> area</a:t>
            </a:r>
          </a:p>
          <a:p>
            <a:pPr lvl="1">
              <a:buFont typeface="Arial" panose="020B0604020202020204" pitchFamily="34" charset="0"/>
              <a:buChar char="•"/>
            </a:pPr>
            <a:r>
              <a:rPr lang="en-IN" sz="2800" dirty="0"/>
              <a:t>Cognitive symptoms – damage to dorsolateral prefrontal cortex</a:t>
            </a:r>
          </a:p>
          <a:p>
            <a:pPr lvl="1">
              <a:buFont typeface="Arial" panose="020B0604020202020204" pitchFamily="34" charset="0"/>
              <a:buChar char="•"/>
            </a:pPr>
            <a:r>
              <a:rPr lang="en-IN" sz="2800" dirty="0"/>
              <a:t>Personality changes and behavioural &amp; emotional symptoms – </a:t>
            </a:r>
            <a:br>
              <a:rPr lang="en-IN" sz="2800" dirty="0"/>
            </a:br>
            <a:r>
              <a:rPr lang="en-IN" sz="2800" dirty="0"/>
              <a:t>damage to orbitofrontal cortex</a:t>
            </a:r>
          </a:p>
          <a:p>
            <a:endParaRPr lang="en-IN" dirty="0"/>
          </a:p>
          <a:p>
            <a:endParaRPr lang="en-IN" dirty="0"/>
          </a:p>
          <a:p>
            <a:endParaRPr lang="en-US" dirty="0"/>
          </a:p>
        </p:txBody>
      </p:sp>
    </p:spTree>
    <p:extLst>
      <p:ext uri="{BB962C8B-B14F-4D97-AF65-F5344CB8AC3E}">
        <p14:creationId xmlns:p14="http://schemas.microsoft.com/office/powerpoint/2010/main" val="4793784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7BFE4-9012-AD48-9D25-A7668C073BED}"/>
              </a:ext>
            </a:extLst>
          </p:cNvPr>
          <p:cNvSpPr>
            <a:spLocks noGrp="1"/>
          </p:cNvSpPr>
          <p:nvPr>
            <p:ph type="ctrTitle"/>
          </p:nvPr>
        </p:nvSpPr>
        <p:spPr>
          <a:xfrm>
            <a:off x="581191" y="515935"/>
            <a:ext cx="10993549" cy="1475013"/>
          </a:xfrm>
        </p:spPr>
        <p:txBody>
          <a:bodyPr/>
          <a:lstStyle/>
          <a:p>
            <a:r>
              <a:rPr lang="en-US" dirty="0"/>
              <a:t>FRONTAL LOBE SYNDROME</a:t>
            </a:r>
          </a:p>
        </p:txBody>
      </p:sp>
      <p:sp>
        <p:nvSpPr>
          <p:cNvPr id="3" name="Subtitle 2">
            <a:extLst>
              <a:ext uri="{FF2B5EF4-FFF2-40B4-BE49-F238E27FC236}">
                <a16:creationId xmlns:a16="http://schemas.microsoft.com/office/drawing/2014/main" id="{7BFE0CF8-EDC9-4F44-A6C2-94A8B51EA560}"/>
              </a:ext>
            </a:extLst>
          </p:cNvPr>
          <p:cNvSpPr>
            <a:spLocks noGrp="1"/>
          </p:cNvSpPr>
          <p:nvPr>
            <p:ph type="subTitle" idx="1"/>
          </p:nvPr>
        </p:nvSpPr>
        <p:spPr>
          <a:xfrm>
            <a:off x="581191" y="1990948"/>
            <a:ext cx="10993546" cy="590321"/>
          </a:xfrm>
        </p:spPr>
        <p:txBody>
          <a:bodyPr>
            <a:noAutofit/>
          </a:bodyPr>
          <a:lstStyle/>
          <a:p>
            <a:r>
              <a:rPr lang="en-US" sz="2800" dirty="0"/>
              <a:t>ETIOLOGY</a:t>
            </a:r>
          </a:p>
        </p:txBody>
      </p:sp>
    </p:spTree>
    <p:extLst>
      <p:ext uri="{BB962C8B-B14F-4D97-AF65-F5344CB8AC3E}">
        <p14:creationId xmlns:p14="http://schemas.microsoft.com/office/powerpoint/2010/main" val="1615316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637727" y="1409917"/>
            <a:ext cx="11035074"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Closed-head trauma</a:t>
            </a:r>
          </a:p>
          <a:p>
            <a:r>
              <a:rPr lang="en-IN" sz="2800" dirty="0"/>
              <a:t>Neurodegenerative disease (dementias)</a:t>
            </a:r>
          </a:p>
          <a:p>
            <a:r>
              <a:rPr lang="en-IN" sz="2800" dirty="0"/>
              <a:t>Tumours compressing the frontal lobe</a:t>
            </a:r>
          </a:p>
          <a:p>
            <a:r>
              <a:rPr lang="en-IN" sz="2800" dirty="0"/>
              <a:t>Stroke</a:t>
            </a:r>
          </a:p>
          <a:p>
            <a:r>
              <a:rPr lang="en-IN" sz="2800" dirty="0"/>
              <a:t>Epilepsy with frontal lobe foci</a:t>
            </a:r>
          </a:p>
          <a:p>
            <a:r>
              <a:rPr lang="en-IN" sz="2800" dirty="0"/>
              <a:t>HIV</a:t>
            </a:r>
          </a:p>
          <a:p>
            <a:r>
              <a:rPr lang="en-IN" sz="2800" dirty="0"/>
              <a:t>Multiple sclerosis</a:t>
            </a:r>
          </a:p>
          <a:p>
            <a:endParaRPr lang="en-IN" sz="2800" dirty="0"/>
          </a:p>
          <a:p>
            <a:endParaRPr lang="en-IN" sz="2800" dirty="0"/>
          </a:p>
          <a:p>
            <a:endParaRPr lang="en-IN" sz="2800" dirty="0"/>
          </a:p>
          <a:p>
            <a:endParaRPr lang="en-IN" dirty="0"/>
          </a:p>
          <a:p>
            <a:endParaRPr lang="en-IN" dirty="0"/>
          </a:p>
          <a:p>
            <a:endParaRPr lang="en-US" dirty="0"/>
          </a:p>
        </p:txBody>
      </p:sp>
    </p:spTree>
    <p:extLst>
      <p:ext uri="{BB962C8B-B14F-4D97-AF65-F5344CB8AC3E}">
        <p14:creationId xmlns:p14="http://schemas.microsoft.com/office/powerpoint/2010/main" val="25465485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7BFE4-9012-AD48-9D25-A7668C073BED}"/>
              </a:ext>
            </a:extLst>
          </p:cNvPr>
          <p:cNvSpPr>
            <a:spLocks noGrp="1"/>
          </p:cNvSpPr>
          <p:nvPr>
            <p:ph type="ctrTitle"/>
          </p:nvPr>
        </p:nvSpPr>
        <p:spPr>
          <a:xfrm>
            <a:off x="581191" y="515935"/>
            <a:ext cx="10993549" cy="1475013"/>
          </a:xfrm>
        </p:spPr>
        <p:txBody>
          <a:bodyPr/>
          <a:lstStyle/>
          <a:p>
            <a:r>
              <a:rPr lang="en-US" dirty="0"/>
              <a:t>FRONTAL LOBE SYNDROME</a:t>
            </a:r>
          </a:p>
        </p:txBody>
      </p:sp>
      <p:sp>
        <p:nvSpPr>
          <p:cNvPr id="3" name="Subtitle 2">
            <a:extLst>
              <a:ext uri="{FF2B5EF4-FFF2-40B4-BE49-F238E27FC236}">
                <a16:creationId xmlns:a16="http://schemas.microsoft.com/office/drawing/2014/main" id="{7BFE0CF8-EDC9-4F44-A6C2-94A8B51EA560}"/>
              </a:ext>
            </a:extLst>
          </p:cNvPr>
          <p:cNvSpPr>
            <a:spLocks noGrp="1"/>
          </p:cNvSpPr>
          <p:nvPr>
            <p:ph type="subTitle" idx="1"/>
          </p:nvPr>
        </p:nvSpPr>
        <p:spPr>
          <a:xfrm>
            <a:off x="581191" y="1990948"/>
            <a:ext cx="10993546" cy="590321"/>
          </a:xfrm>
        </p:spPr>
        <p:txBody>
          <a:bodyPr>
            <a:noAutofit/>
          </a:bodyPr>
          <a:lstStyle/>
          <a:p>
            <a:r>
              <a:rPr lang="en-US" sz="2800" dirty="0"/>
              <a:t>CLINICAL FEATURES &amp; ASSESSMENT  </a:t>
            </a:r>
          </a:p>
        </p:txBody>
      </p:sp>
    </p:spTree>
    <p:extLst>
      <p:ext uri="{BB962C8B-B14F-4D97-AF65-F5344CB8AC3E}">
        <p14:creationId xmlns:p14="http://schemas.microsoft.com/office/powerpoint/2010/main" val="86427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C4C60-7C93-904F-B213-193EF1E4C2F0}"/>
              </a:ext>
            </a:extLst>
          </p:cNvPr>
          <p:cNvSpPr>
            <a:spLocks noGrp="1"/>
          </p:cNvSpPr>
          <p:nvPr>
            <p:ph type="title"/>
          </p:nvPr>
        </p:nvSpPr>
        <p:spPr/>
        <p:txBody>
          <a:bodyPr anchor="ctr">
            <a:normAutofit/>
          </a:bodyPr>
          <a:lstStyle/>
          <a:p>
            <a:r>
              <a:rPr lang="en-US" sz="3000" dirty="0"/>
              <a:t>MOTOR SYMPTOMS </a:t>
            </a:r>
          </a:p>
        </p:txBody>
      </p:sp>
      <p:sp>
        <p:nvSpPr>
          <p:cNvPr id="5" name="Content Placeholder 4">
            <a:extLst>
              <a:ext uri="{FF2B5EF4-FFF2-40B4-BE49-F238E27FC236}">
                <a16:creationId xmlns:a16="http://schemas.microsoft.com/office/drawing/2014/main" id="{C9F75E06-9F91-7540-8E13-F0660F08E518}"/>
              </a:ext>
            </a:extLst>
          </p:cNvPr>
          <p:cNvSpPr>
            <a:spLocks noGrp="1"/>
          </p:cNvSpPr>
          <p:nvPr>
            <p:ph idx="1"/>
          </p:nvPr>
        </p:nvSpPr>
        <p:spPr>
          <a:xfrm>
            <a:off x="416092" y="2071556"/>
            <a:ext cx="11509208" cy="5142044"/>
          </a:xfrm>
        </p:spPr>
        <p:txBody>
          <a:bodyPr anchor="t">
            <a:normAutofit/>
          </a:bodyPr>
          <a:lstStyle/>
          <a:p>
            <a:endParaRPr lang="en-IN" sz="2800" b="1" dirty="0"/>
          </a:p>
          <a:p>
            <a:pPr lvl="1"/>
            <a:endParaRPr lang="en-IN" sz="2800" dirty="0"/>
          </a:p>
          <a:p>
            <a:pPr lvl="1"/>
            <a:endParaRPr lang="en-IN" sz="2800" dirty="0"/>
          </a:p>
          <a:p>
            <a:endParaRPr lang="en-IN" sz="2800" dirty="0"/>
          </a:p>
          <a:p>
            <a:pPr lvl="1"/>
            <a:endParaRPr lang="en-IN" dirty="0"/>
          </a:p>
          <a:p>
            <a:endParaRPr lang="en-US" dirty="0"/>
          </a:p>
        </p:txBody>
      </p:sp>
      <p:sp>
        <p:nvSpPr>
          <p:cNvPr id="6" name="Content Placeholder 2">
            <a:extLst>
              <a:ext uri="{FF2B5EF4-FFF2-40B4-BE49-F238E27FC236}">
                <a16:creationId xmlns:a16="http://schemas.microsoft.com/office/drawing/2014/main" id="{31688DB8-6C89-054D-A127-96D08B4C0251}"/>
              </a:ext>
            </a:extLst>
          </p:cNvPr>
          <p:cNvSpPr txBox="1">
            <a:spLocks/>
          </p:cNvSpPr>
          <p:nvPr/>
        </p:nvSpPr>
        <p:spPr>
          <a:xfrm>
            <a:off x="494509" y="1921360"/>
            <a:ext cx="11609665"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Impairment in </a:t>
            </a:r>
            <a:r>
              <a:rPr lang="en-IN" sz="2800" b="1" dirty="0"/>
              <a:t>movement programming</a:t>
            </a:r>
            <a:endParaRPr lang="en-IN" sz="2800" dirty="0">
              <a:solidFill>
                <a:srgbClr val="FF0000"/>
              </a:solidFill>
            </a:endParaRPr>
          </a:p>
          <a:p>
            <a:pPr lvl="1">
              <a:buFont typeface="Arial" panose="020B0604020202020204" pitchFamily="34" charset="0"/>
              <a:buChar char="•"/>
            </a:pPr>
            <a:r>
              <a:rPr lang="en-IN" sz="2800" dirty="0"/>
              <a:t>Difficulty </a:t>
            </a:r>
            <a:r>
              <a:rPr lang="en-IN" sz="2800" b="1" dirty="0"/>
              <a:t>planning, preparing and selecting </a:t>
            </a:r>
            <a:r>
              <a:rPr lang="en-IN" sz="2800" dirty="0"/>
              <a:t>movements.</a:t>
            </a:r>
          </a:p>
          <a:p>
            <a:pPr lvl="1">
              <a:buFont typeface="Arial" panose="020B0604020202020204" pitchFamily="34" charset="0"/>
              <a:buChar char="•"/>
            </a:pPr>
            <a:r>
              <a:rPr lang="en-IN" sz="2800" dirty="0"/>
              <a:t>Difficulty </a:t>
            </a:r>
            <a:r>
              <a:rPr lang="en-IN" sz="2800" b="1" dirty="0"/>
              <a:t>serially ordering complex chains of behaviour </a:t>
            </a:r>
            <a:br>
              <a:rPr lang="en-IN" sz="2800" b="1" dirty="0"/>
            </a:br>
            <a:r>
              <a:rPr lang="en-IN" sz="2800" dirty="0"/>
              <a:t>in relation to varying stimuli. </a:t>
            </a:r>
          </a:p>
          <a:p>
            <a:pPr lvl="1">
              <a:buFont typeface="Arial" panose="020B0604020202020204" pitchFamily="34" charset="0"/>
              <a:buChar char="•"/>
            </a:pPr>
            <a:r>
              <a:rPr lang="en-IN" sz="2800" dirty="0"/>
              <a:t>Inability </a:t>
            </a:r>
            <a:r>
              <a:rPr lang="en-IN" sz="2800" b="1" dirty="0"/>
              <a:t>to undertake a behaviour or response in a particular order </a:t>
            </a:r>
            <a:r>
              <a:rPr lang="en-IN" sz="2400" dirty="0"/>
              <a:t>(Luria, 1966) </a:t>
            </a:r>
            <a:r>
              <a:rPr lang="en-IN" sz="2800" dirty="0"/>
              <a:t>– a </a:t>
            </a:r>
            <a:r>
              <a:rPr lang="en-IN" sz="2800" b="1" dirty="0"/>
              <a:t>disintegration in learned sequential actions </a:t>
            </a:r>
            <a:r>
              <a:rPr lang="en-IN" sz="2800" dirty="0"/>
              <a:t>such that learned behaviour had become ‘series of isolated fragments’. </a:t>
            </a:r>
          </a:p>
          <a:p>
            <a:pPr lvl="1">
              <a:buFont typeface="Arial" panose="020B0604020202020204" pitchFamily="34" charset="0"/>
              <a:buChar char="•"/>
            </a:pPr>
            <a:r>
              <a:rPr lang="en-IN" sz="2800" b="1" dirty="0" err="1"/>
              <a:t>Buccofacial</a:t>
            </a:r>
            <a:r>
              <a:rPr lang="en-IN" sz="2800" b="1" dirty="0"/>
              <a:t> apraxia </a:t>
            </a:r>
            <a:r>
              <a:rPr lang="en-IN" sz="2800" dirty="0"/>
              <a:t>– difficulty </a:t>
            </a:r>
            <a:r>
              <a:rPr lang="en-IN" sz="2800" b="1" dirty="0"/>
              <a:t>copying simple gestures </a:t>
            </a:r>
            <a:br>
              <a:rPr lang="en-IN" sz="2800" b="1" dirty="0"/>
            </a:br>
            <a:r>
              <a:rPr lang="en-IN" sz="2400" dirty="0"/>
              <a:t>(Kolb and Milner, 1981)</a:t>
            </a:r>
          </a:p>
          <a:p>
            <a:pPr lvl="1">
              <a:buFont typeface="Arial" panose="020B0604020202020204" pitchFamily="34" charset="0"/>
              <a:buChar char="•"/>
            </a:pPr>
            <a:endParaRPr lang="en-IN" sz="2800" dirty="0"/>
          </a:p>
          <a:p>
            <a:pPr marL="324000" lvl="1" indent="0">
              <a:buNone/>
            </a:pPr>
            <a:endParaRPr lang="en-IN" sz="2800" dirty="0"/>
          </a:p>
          <a:p>
            <a:endParaRPr lang="en-IN" dirty="0"/>
          </a:p>
          <a:p>
            <a:endParaRPr lang="en-US" dirty="0"/>
          </a:p>
        </p:txBody>
      </p:sp>
    </p:spTree>
    <p:extLst>
      <p:ext uri="{BB962C8B-B14F-4D97-AF65-F5344CB8AC3E}">
        <p14:creationId xmlns:p14="http://schemas.microsoft.com/office/powerpoint/2010/main" val="1627500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374254" y="789984"/>
            <a:ext cx="11497445"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Impaired </a:t>
            </a:r>
            <a:r>
              <a:rPr lang="en-IN" sz="2800" b="1" dirty="0"/>
              <a:t>corollary discharge </a:t>
            </a:r>
            <a:r>
              <a:rPr lang="en-IN" sz="2400" dirty="0"/>
              <a:t>(</a:t>
            </a:r>
            <a:r>
              <a:rPr lang="en-IN" sz="2400" dirty="0" err="1"/>
              <a:t>Teuber</a:t>
            </a:r>
            <a:r>
              <a:rPr lang="en-IN" sz="2400" dirty="0"/>
              <a:t> &amp; Mishkin, 1954</a:t>
            </a:r>
            <a:r>
              <a:rPr lang="en-IN" sz="2400" dirty="0">
                <a:solidFill>
                  <a:schemeClr val="tx1"/>
                </a:solidFill>
              </a:rPr>
              <a:t>)</a:t>
            </a:r>
            <a:r>
              <a:rPr lang="en-IN" sz="2400" dirty="0"/>
              <a:t>.</a:t>
            </a:r>
          </a:p>
          <a:p>
            <a:pPr lvl="1">
              <a:buFont typeface="Arial" panose="020B0604020202020204" pitchFamily="34" charset="0"/>
              <a:buChar char="•"/>
            </a:pPr>
            <a:r>
              <a:rPr lang="en-US" sz="2800" dirty="0"/>
              <a:t>For a movement to take place:</a:t>
            </a:r>
          </a:p>
          <a:p>
            <a:pPr marL="1108350" lvl="2" indent="-514350">
              <a:buAutoNum type="arabicParenR"/>
            </a:pPr>
            <a:r>
              <a:rPr lang="en-US" sz="2800" dirty="0"/>
              <a:t>a neural signal must produce the movement </a:t>
            </a:r>
          </a:p>
          <a:p>
            <a:pPr marL="1108350" lvl="2" indent="-514350">
              <a:buAutoNum type="arabicParenR"/>
            </a:pPr>
            <a:r>
              <a:rPr lang="en-US" sz="2800" dirty="0"/>
              <a:t>a signal that the movement is going to take place</a:t>
            </a:r>
          </a:p>
          <a:p>
            <a:pPr marL="0" indent="0">
              <a:buNone/>
            </a:pPr>
            <a:endParaRPr lang="en-US" sz="2800" dirty="0"/>
          </a:p>
          <a:p>
            <a:pPr lvl="1">
              <a:buFont typeface="Arial" panose="020B0604020202020204" pitchFamily="34" charset="0"/>
              <a:buChar char="•"/>
            </a:pPr>
            <a:r>
              <a:rPr lang="en-US" sz="2800" dirty="0"/>
              <a:t>A person’s sensory system </a:t>
            </a:r>
            <a:r>
              <a:rPr lang="en-US" sz="2800" b="1" dirty="0"/>
              <a:t>can interpret changes </a:t>
            </a:r>
            <a:r>
              <a:rPr lang="en-US" sz="2800" dirty="0"/>
              <a:t>in the external world in light of </a:t>
            </a:r>
            <a:r>
              <a:rPr lang="en-US" sz="2800" b="1" dirty="0"/>
              <a:t>information about his or her movement</a:t>
            </a:r>
            <a:r>
              <a:rPr lang="en-US" sz="2800" dirty="0"/>
              <a:t>. E.g. running</a:t>
            </a:r>
          </a:p>
          <a:p>
            <a:pPr lvl="1">
              <a:buFont typeface="Arial" panose="020B0604020202020204" pitchFamily="34" charset="0"/>
              <a:buChar char="•"/>
            </a:pPr>
            <a:endParaRPr lang="en-US" sz="2800" dirty="0"/>
          </a:p>
          <a:p>
            <a:pPr lvl="1">
              <a:buFont typeface="Arial" panose="020B0604020202020204" pitchFamily="34" charset="0"/>
              <a:buChar char="•"/>
            </a:pPr>
            <a:r>
              <a:rPr lang="en-US" sz="2800" dirty="0"/>
              <a:t>A frontal lesion can therefore not only </a:t>
            </a:r>
            <a:r>
              <a:rPr lang="en-US" sz="2800" b="1" dirty="0"/>
              <a:t>disturb production of movement</a:t>
            </a:r>
            <a:r>
              <a:rPr lang="en-US" sz="2800" dirty="0"/>
              <a:t>, but also </a:t>
            </a:r>
            <a:r>
              <a:rPr lang="en-US" sz="2800" b="1" dirty="0"/>
              <a:t>interfere with the message </a:t>
            </a:r>
            <a:r>
              <a:rPr lang="en-US" sz="2800" dirty="0"/>
              <a:t>to the rest of </a:t>
            </a:r>
            <a:br>
              <a:rPr lang="en-US" sz="2800" dirty="0"/>
            </a:br>
            <a:r>
              <a:rPr lang="en-US" sz="2800" dirty="0"/>
              <a:t>the brain that a movement is taking place.</a:t>
            </a:r>
          </a:p>
          <a:p>
            <a:pPr marL="324000" lvl="1" indent="0">
              <a:buNone/>
            </a:pPr>
            <a:endParaRPr lang="en-US" sz="2800" dirty="0"/>
          </a:p>
          <a:p>
            <a:pPr marL="0" indent="0">
              <a:buNone/>
            </a:pPr>
            <a:endParaRPr lang="en-US" sz="2800" dirty="0"/>
          </a:p>
          <a:p>
            <a:endParaRPr lang="en-IN" sz="2800" b="1" dirty="0"/>
          </a:p>
          <a:p>
            <a:pPr marL="324000" lvl="1" indent="0">
              <a:buNone/>
            </a:pPr>
            <a:endParaRPr lang="en-IN" sz="2800" dirty="0"/>
          </a:p>
          <a:p>
            <a:endParaRPr lang="en-IN" dirty="0"/>
          </a:p>
          <a:p>
            <a:endParaRPr lang="en-US" dirty="0"/>
          </a:p>
        </p:txBody>
      </p:sp>
    </p:spTree>
    <p:extLst>
      <p:ext uri="{BB962C8B-B14F-4D97-AF65-F5344CB8AC3E}">
        <p14:creationId xmlns:p14="http://schemas.microsoft.com/office/powerpoint/2010/main" val="25221490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560236" y="820980"/>
            <a:ext cx="11295968"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Impairment in </a:t>
            </a:r>
            <a:r>
              <a:rPr lang="en-IN" sz="2800" b="1" dirty="0"/>
              <a:t>fine movement </a:t>
            </a:r>
          </a:p>
          <a:p>
            <a:pPr lvl="1">
              <a:buFont typeface="Arial" panose="020B0604020202020204" pitchFamily="34" charset="0"/>
              <a:buChar char="•"/>
            </a:pPr>
            <a:r>
              <a:rPr lang="en-IN" sz="2800" dirty="0"/>
              <a:t>chronic loss of the ability of to </a:t>
            </a:r>
            <a:br>
              <a:rPr lang="en-IN" sz="2800" dirty="0"/>
            </a:br>
            <a:r>
              <a:rPr lang="en-IN" sz="2800" dirty="0"/>
              <a:t>make fine, independent movements </a:t>
            </a:r>
            <a:br>
              <a:rPr lang="en-IN" sz="2800" dirty="0"/>
            </a:br>
            <a:r>
              <a:rPr lang="en-IN" sz="2800" dirty="0"/>
              <a:t>in the hands, fingers and face</a:t>
            </a:r>
          </a:p>
          <a:p>
            <a:pPr lvl="1">
              <a:buFont typeface="Arial" panose="020B0604020202020204" pitchFamily="34" charset="0"/>
              <a:buChar char="•"/>
            </a:pPr>
            <a:r>
              <a:rPr lang="en-IN" sz="2800" dirty="0"/>
              <a:t>reduction in fine motor speed </a:t>
            </a:r>
            <a:br>
              <a:rPr lang="en-IN" sz="2800" dirty="0"/>
            </a:br>
            <a:r>
              <a:rPr lang="en-IN" sz="2800" dirty="0"/>
              <a:t>and strength</a:t>
            </a:r>
          </a:p>
          <a:p>
            <a:pPr marL="324000" lvl="1" indent="0">
              <a:buNone/>
            </a:pPr>
            <a:endParaRPr lang="en-IN" sz="2800" dirty="0"/>
          </a:p>
          <a:p>
            <a:r>
              <a:rPr lang="en-IN" sz="2800" dirty="0"/>
              <a:t>Poor </a:t>
            </a:r>
            <a:r>
              <a:rPr lang="en-IN" sz="2800" b="1" dirty="0"/>
              <a:t>voluntary eye gaze</a:t>
            </a:r>
          </a:p>
          <a:p>
            <a:pPr lvl="1">
              <a:buFont typeface="Arial" panose="020B0604020202020204" pitchFamily="34" charset="0"/>
              <a:buChar char="•"/>
            </a:pPr>
            <a:r>
              <a:rPr lang="en-IN" sz="2800" dirty="0"/>
              <a:t>Disorganized visual scanning </a:t>
            </a:r>
            <a:br>
              <a:rPr lang="en-IN" sz="2800" dirty="0"/>
            </a:br>
            <a:r>
              <a:rPr lang="en-IN" sz="2800" dirty="0"/>
              <a:t>and search </a:t>
            </a:r>
            <a:r>
              <a:rPr lang="en-IN" sz="2400" dirty="0"/>
              <a:t>(Luria, 1973).</a:t>
            </a:r>
          </a:p>
          <a:p>
            <a:pPr marL="324000" lvl="1" indent="0">
              <a:buNone/>
            </a:pPr>
            <a:endParaRPr lang="en-IN" sz="2800" dirty="0"/>
          </a:p>
          <a:p>
            <a:endParaRPr lang="en-IN" dirty="0"/>
          </a:p>
          <a:p>
            <a:endParaRPr lang="en-US" dirty="0"/>
          </a:p>
        </p:txBody>
      </p:sp>
      <p:pic>
        <p:nvPicPr>
          <p:cNvPr id="3" name="Picture 2">
            <a:extLst>
              <a:ext uri="{FF2B5EF4-FFF2-40B4-BE49-F238E27FC236}">
                <a16:creationId xmlns:a16="http://schemas.microsoft.com/office/drawing/2014/main" id="{F02A062E-6107-4041-B760-3375261E53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6861" y="971982"/>
            <a:ext cx="3694427" cy="5430064"/>
          </a:xfrm>
          <a:prstGeom prst="rect">
            <a:avLst/>
          </a:prstGeom>
        </p:spPr>
      </p:pic>
    </p:spTree>
    <p:extLst>
      <p:ext uri="{BB962C8B-B14F-4D97-AF65-F5344CB8AC3E}">
        <p14:creationId xmlns:p14="http://schemas.microsoft.com/office/powerpoint/2010/main" val="33829898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575734" y="944967"/>
            <a:ext cx="11218476"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b="1" dirty="0"/>
              <a:t>Compulsive repetition</a:t>
            </a:r>
            <a:r>
              <a:rPr lang="en-IN" sz="2800" dirty="0"/>
              <a:t> or </a:t>
            </a:r>
            <a:r>
              <a:rPr lang="en-IN" sz="2800" b="1" dirty="0"/>
              <a:t>perseveration</a:t>
            </a:r>
            <a:r>
              <a:rPr lang="en-IN" sz="2800" dirty="0"/>
              <a:t> of an initiated action </a:t>
            </a:r>
          </a:p>
          <a:p>
            <a:pPr lvl="1">
              <a:buFont typeface="Arial" panose="020B0604020202020204" pitchFamily="34" charset="0"/>
              <a:buChar char="•"/>
            </a:pPr>
            <a:r>
              <a:rPr lang="en-IN" sz="2800" dirty="0"/>
              <a:t>When lesion extends to the basal ganglia</a:t>
            </a:r>
          </a:p>
          <a:p>
            <a:pPr lvl="1">
              <a:buFont typeface="Arial" panose="020B0604020202020204" pitchFamily="34" charset="0"/>
              <a:buChar char="•"/>
            </a:pPr>
            <a:r>
              <a:rPr lang="en-IN" sz="2800" dirty="0"/>
              <a:t>May be present in motor acts, speech/verbalization, drawing, writing, etc</a:t>
            </a:r>
            <a:r>
              <a:rPr lang="en-IN" sz="2600" dirty="0"/>
              <a:t>.</a:t>
            </a:r>
          </a:p>
          <a:p>
            <a:pPr lvl="1">
              <a:buFont typeface="Arial" panose="020B0604020202020204" pitchFamily="34" charset="0"/>
              <a:buChar char="•"/>
            </a:pPr>
            <a:endParaRPr lang="en-IN" sz="2600" dirty="0"/>
          </a:p>
          <a:p>
            <a:r>
              <a:rPr lang="en-IN" sz="2800" b="1" dirty="0"/>
              <a:t>Dysfunctional reflexes </a:t>
            </a:r>
          </a:p>
          <a:p>
            <a:pPr lvl="1">
              <a:buFont typeface="Arial" panose="020B0604020202020204" pitchFamily="34" charset="0"/>
              <a:buChar char="•"/>
            </a:pPr>
            <a:r>
              <a:rPr lang="en-IN" sz="2800" dirty="0"/>
              <a:t>Involuntary resistance to movement</a:t>
            </a:r>
          </a:p>
          <a:p>
            <a:pPr lvl="1">
              <a:buFont typeface="Arial" panose="020B0604020202020204" pitchFamily="34" charset="0"/>
              <a:buChar char="•"/>
            </a:pPr>
            <a:r>
              <a:rPr lang="en-IN" sz="2800" dirty="0"/>
              <a:t>Involuntary grasp of an object placed on the hand despite conscious attempts </a:t>
            </a:r>
          </a:p>
          <a:p>
            <a:pPr marL="324000" lvl="1" indent="0">
              <a:buNone/>
            </a:pPr>
            <a:endParaRPr lang="en-IN" sz="2600" dirty="0"/>
          </a:p>
          <a:p>
            <a:r>
              <a:rPr lang="en-IN" sz="2800" dirty="0"/>
              <a:t>Changes/abnormalities in </a:t>
            </a:r>
            <a:r>
              <a:rPr lang="en-IN" sz="2800" b="1" dirty="0"/>
              <a:t>gait.</a:t>
            </a:r>
          </a:p>
          <a:p>
            <a:pPr lvl="2">
              <a:buFont typeface="Arial" panose="020B0604020202020204" pitchFamily="34" charset="0"/>
              <a:buChar char="•"/>
            </a:pPr>
            <a:endParaRPr lang="en-IN" sz="2800" dirty="0"/>
          </a:p>
        </p:txBody>
      </p:sp>
    </p:spTree>
    <p:extLst>
      <p:ext uri="{BB962C8B-B14F-4D97-AF65-F5344CB8AC3E}">
        <p14:creationId xmlns:p14="http://schemas.microsoft.com/office/powerpoint/2010/main" val="39762589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7FFB0-53CF-E04A-8C1A-290C20709AF7}"/>
              </a:ext>
            </a:extLst>
          </p:cNvPr>
          <p:cNvSpPr>
            <a:spLocks noGrp="1"/>
          </p:cNvSpPr>
          <p:nvPr>
            <p:ph type="title"/>
          </p:nvPr>
        </p:nvSpPr>
        <p:spPr/>
        <p:txBody>
          <a:bodyPr anchor="ctr">
            <a:normAutofit/>
          </a:bodyPr>
          <a:lstStyle/>
          <a:p>
            <a:r>
              <a:rPr lang="en-US" sz="3000" dirty="0"/>
              <a:t>ASSESSMENT OF MOTOR FUNCTION</a:t>
            </a:r>
          </a:p>
        </p:txBody>
      </p:sp>
      <p:sp>
        <p:nvSpPr>
          <p:cNvPr id="3" name="Content Placeholder 2">
            <a:extLst>
              <a:ext uri="{FF2B5EF4-FFF2-40B4-BE49-F238E27FC236}">
                <a16:creationId xmlns:a16="http://schemas.microsoft.com/office/drawing/2014/main" id="{7225FF24-92A6-B945-A685-324E3E9B47EB}"/>
              </a:ext>
            </a:extLst>
          </p:cNvPr>
          <p:cNvSpPr>
            <a:spLocks noGrp="1"/>
          </p:cNvSpPr>
          <p:nvPr>
            <p:ph idx="1"/>
          </p:nvPr>
        </p:nvSpPr>
        <p:spPr>
          <a:xfrm>
            <a:off x="581192" y="1926261"/>
            <a:ext cx="11546237" cy="5370644"/>
          </a:xfrm>
        </p:spPr>
        <p:txBody>
          <a:bodyPr anchor="t">
            <a:normAutofit/>
          </a:bodyPr>
          <a:lstStyle/>
          <a:p>
            <a:r>
              <a:rPr lang="en-US" sz="2800" dirty="0"/>
              <a:t>Hand Dynamometry/Grip Strength</a:t>
            </a:r>
          </a:p>
          <a:p>
            <a:pPr lvl="2">
              <a:buFont typeface="Arial" panose="020B0604020202020204" pitchFamily="34" charset="0"/>
              <a:buChar char="•"/>
            </a:pPr>
            <a:r>
              <a:rPr lang="en-US" sz="2800" dirty="0"/>
              <a:t>Assesses motor strength.</a:t>
            </a:r>
          </a:p>
          <a:p>
            <a:pPr lvl="2">
              <a:buFont typeface="Arial" panose="020B0604020202020204" pitchFamily="34" charset="0"/>
              <a:buChar char="•"/>
            </a:pPr>
            <a:endParaRPr lang="en-US" sz="2800" dirty="0"/>
          </a:p>
          <a:p>
            <a:r>
              <a:rPr lang="en-US" sz="2800" dirty="0"/>
              <a:t>Finger Tapping</a:t>
            </a:r>
          </a:p>
          <a:p>
            <a:pPr lvl="2">
              <a:buFont typeface="Arial" panose="020B0604020202020204" pitchFamily="34" charset="0"/>
              <a:buChar char="•"/>
            </a:pPr>
            <a:r>
              <a:rPr lang="en-US" sz="2800" dirty="0"/>
              <a:t>Assesses motor speed.</a:t>
            </a:r>
          </a:p>
          <a:p>
            <a:pPr lvl="2">
              <a:buFont typeface="Arial" panose="020B0604020202020204" pitchFamily="34" charset="0"/>
              <a:buChar char="•"/>
            </a:pPr>
            <a:endParaRPr lang="en-US" sz="2800" dirty="0"/>
          </a:p>
          <a:p>
            <a:r>
              <a:rPr lang="en-US" sz="2800" dirty="0"/>
              <a:t>Facial Sequence Test</a:t>
            </a:r>
          </a:p>
          <a:p>
            <a:pPr lvl="2">
              <a:buFont typeface="Arial" panose="020B0604020202020204" pitchFamily="34" charset="0"/>
              <a:buChar char="•"/>
            </a:pPr>
            <a:r>
              <a:rPr lang="en-US" sz="2800" dirty="0"/>
              <a:t>Assesses motor sequencing.</a:t>
            </a:r>
          </a:p>
          <a:p>
            <a:pPr lvl="2"/>
            <a:endParaRPr lang="en-US" sz="2800" dirty="0"/>
          </a:p>
          <a:p>
            <a:pPr marL="571500" indent="-571500">
              <a:buAutoNum type="romanUcPeriod"/>
            </a:pPr>
            <a:endParaRPr lang="en-IN" sz="2600" dirty="0"/>
          </a:p>
          <a:p>
            <a:endParaRPr lang="en-US" sz="2800" dirty="0"/>
          </a:p>
          <a:p>
            <a:endParaRPr lang="en-US" sz="2800" dirty="0"/>
          </a:p>
          <a:p>
            <a:pPr marL="514350" indent="-514350">
              <a:buFont typeface="+mj-lt"/>
              <a:buAutoNum type="arabicPeriod"/>
            </a:pPr>
            <a:endParaRPr lang="en-US" sz="2800" dirty="0"/>
          </a:p>
          <a:p>
            <a:pPr lvl="1">
              <a:buFont typeface="Wingdings" pitchFamily="2" charset="2"/>
              <a:buChar char="§"/>
            </a:pPr>
            <a:endParaRPr lang="en-IN" dirty="0"/>
          </a:p>
          <a:p>
            <a:pPr marL="285750" indent="-285750">
              <a:buFont typeface="Wingdings" pitchFamily="2" charset="2"/>
              <a:buChar char="§"/>
            </a:pPr>
            <a:endParaRPr lang="en-US" dirty="0"/>
          </a:p>
          <a:p>
            <a:pPr marL="0" indent="0">
              <a:buNone/>
            </a:pPr>
            <a:endParaRPr lang="en-US" dirty="0"/>
          </a:p>
        </p:txBody>
      </p:sp>
    </p:spTree>
    <p:extLst>
      <p:ext uri="{BB962C8B-B14F-4D97-AF65-F5344CB8AC3E}">
        <p14:creationId xmlns:p14="http://schemas.microsoft.com/office/powerpoint/2010/main" val="302741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575734" y="944967"/>
            <a:ext cx="11218476"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800" dirty="0"/>
              <a:t>Bender Visual Motor Gestalt Test</a:t>
            </a:r>
          </a:p>
          <a:p>
            <a:pPr lvl="2">
              <a:buFont typeface="Arial" panose="020B0604020202020204" pitchFamily="34" charset="0"/>
              <a:buChar char="•"/>
            </a:pPr>
            <a:r>
              <a:rPr lang="en-US" sz="2800" dirty="0"/>
              <a:t>Visuomotor integration</a:t>
            </a:r>
          </a:p>
          <a:p>
            <a:pPr lvl="2">
              <a:buFont typeface="Arial" panose="020B0604020202020204" pitchFamily="34" charset="0"/>
              <a:buChar char="•"/>
            </a:pPr>
            <a:r>
              <a:rPr lang="en-US" sz="2800" dirty="0"/>
              <a:t>Fine motor skills </a:t>
            </a:r>
          </a:p>
          <a:p>
            <a:pPr marL="630000" lvl="2" indent="0">
              <a:buNone/>
            </a:pPr>
            <a:endParaRPr lang="en-US" sz="2800" dirty="0"/>
          </a:p>
          <a:p>
            <a:r>
              <a:rPr lang="en-US" sz="2800" dirty="0"/>
              <a:t>Finger gaze test</a:t>
            </a:r>
          </a:p>
          <a:p>
            <a:pPr lvl="2">
              <a:buFont typeface="Arial" panose="020B0604020202020204" pitchFamily="34" charset="0"/>
              <a:buChar char="•"/>
            </a:pPr>
            <a:r>
              <a:rPr lang="en-US" sz="2800" dirty="0"/>
              <a:t>Assesses voluntary eye gaze.</a:t>
            </a:r>
          </a:p>
          <a:p>
            <a:pPr marL="0" indent="0">
              <a:buNone/>
            </a:pPr>
            <a:endParaRPr lang="en-US" sz="2800" dirty="0"/>
          </a:p>
          <a:p>
            <a:r>
              <a:rPr lang="en-US" sz="2800" dirty="0"/>
              <a:t>To test for apraxia – simple tasks such as making certain facial gestures or demonstrating the use of an object (e.g. toothbrush, comb)</a:t>
            </a:r>
          </a:p>
          <a:p>
            <a:pPr lvl="2">
              <a:buFont typeface="Arial" panose="020B0604020202020204" pitchFamily="34" charset="0"/>
              <a:buChar char="•"/>
            </a:pPr>
            <a:endParaRPr lang="en-IN" sz="2800" dirty="0"/>
          </a:p>
        </p:txBody>
      </p:sp>
    </p:spTree>
    <p:extLst>
      <p:ext uri="{BB962C8B-B14F-4D97-AF65-F5344CB8AC3E}">
        <p14:creationId xmlns:p14="http://schemas.microsoft.com/office/powerpoint/2010/main" val="22928007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C4C60-7C93-904F-B213-193EF1E4C2F0}"/>
              </a:ext>
            </a:extLst>
          </p:cNvPr>
          <p:cNvSpPr>
            <a:spLocks noGrp="1"/>
          </p:cNvSpPr>
          <p:nvPr>
            <p:ph type="title"/>
          </p:nvPr>
        </p:nvSpPr>
        <p:spPr/>
        <p:txBody>
          <a:bodyPr anchor="ctr">
            <a:normAutofit/>
          </a:bodyPr>
          <a:lstStyle/>
          <a:p>
            <a:r>
              <a:rPr lang="en-US" sz="3000" dirty="0"/>
              <a:t>SENSORY-PERCEPTUAL SYMPTOMS</a:t>
            </a:r>
          </a:p>
        </p:txBody>
      </p:sp>
      <p:sp>
        <p:nvSpPr>
          <p:cNvPr id="5" name="Content Placeholder 4">
            <a:extLst>
              <a:ext uri="{FF2B5EF4-FFF2-40B4-BE49-F238E27FC236}">
                <a16:creationId xmlns:a16="http://schemas.microsoft.com/office/drawing/2014/main" id="{C9F75E06-9F91-7540-8E13-F0660F08E518}"/>
              </a:ext>
            </a:extLst>
          </p:cNvPr>
          <p:cNvSpPr>
            <a:spLocks noGrp="1"/>
          </p:cNvSpPr>
          <p:nvPr>
            <p:ph idx="1"/>
          </p:nvPr>
        </p:nvSpPr>
        <p:spPr>
          <a:xfrm>
            <a:off x="416092" y="2071556"/>
            <a:ext cx="11509208" cy="5142044"/>
          </a:xfrm>
        </p:spPr>
        <p:txBody>
          <a:bodyPr anchor="t">
            <a:normAutofit/>
          </a:bodyPr>
          <a:lstStyle/>
          <a:p>
            <a:r>
              <a:rPr lang="en-IN" sz="2800" dirty="0"/>
              <a:t>Disturbance in the </a:t>
            </a:r>
            <a:r>
              <a:rPr lang="en-IN" sz="2800" b="1" dirty="0"/>
              <a:t>perception of taste and smell </a:t>
            </a:r>
            <a:r>
              <a:rPr lang="en-IN" sz="2400" dirty="0"/>
              <a:t>(Martin, 2004).</a:t>
            </a:r>
          </a:p>
          <a:p>
            <a:r>
              <a:rPr lang="en-IN" sz="2800" dirty="0"/>
              <a:t>Gustatory disturbance</a:t>
            </a:r>
          </a:p>
          <a:p>
            <a:pPr lvl="1">
              <a:buFont typeface="Arial" panose="020B0604020202020204" pitchFamily="34" charset="0"/>
              <a:buChar char="•"/>
            </a:pPr>
            <a:r>
              <a:rPr lang="en-IN" sz="2800" dirty="0"/>
              <a:t>Disturbance in the </a:t>
            </a:r>
            <a:r>
              <a:rPr lang="en-IN" sz="2800" b="1" dirty="0"/>
              <a:t>perception and mediation of food flavour </a:t>
            </a:r>
            <a:br>
              <a:rPr lang="en-IN" sz="2800" b="1" dirty="0"/>
            </a:br>
            <a:r>
              <a:rPr lang="en-IN" sz="2400" dirty="0"/>
              <a:t>(Martin, 2004). </a:t>
            </a:r>
            <a:endParaRPr lang="en-IN" sz="2400" dirty="0">
              <a:solidFill>
                <a:srgbClr val="FF0000"/>
              </a:solidFill>
            </a:endParaRPr>
          </a:p>
          <a:p>
            <a:r>
              <a:rPr lang="en-IN" sz="2800" dirty="0"/>
              <a:t>Olfactory disturbance:</a:t>
            </a:r>
          </a:p>
          <a:p>
            <a:pPr lvl="1">
              <a:buFont typeface="Arial" panose="020B0604020202020204" pitchFamily="34" charset="0"/>
              <a:buChar char="•"/>
            </a:pPr>
            <a:r>
              <a:rPr lang="en-IN" sz="2800" dirty="0"/>
              <a:t>Damage to the </a:t>
            </a:r>
            <a:r>
              <a:rPr lang="en-IN" sz="2800" b="1" dirty="0"/>
              <a:t>orbitofrontal</a:t>
            </a:r>
            <a:r>
              <a:rPr lang="en-IN" sz="2800" dirty="0"/>
              <a:t>, as well as </a:t>
            </a:r>
            <a:r>
              <a:rPr lang="en-IN" sz="2800" b="1" dirty="0"/>
              <a:t>right temporal </a:t>
            </a:r>
            <a:r>
              <a:rPr lang="en-IN" sz="2800" dirty="0"/>
              <a:t>cortices results in </a:t>
            </a:r>
            <a:r>
              <a:rPr lang="en-IN" sz="2800" b="1" dirty="0"/>
              <a:t>impaired odour memory </a:t>
            </a:r>
            <a:r>
              <a:rPr lang="en-IN" sz="2400" dirty="0"/>
              <a:t>(Jones-</a:t>
            </a:r>
            <a:r>
              <a:rPr lang="en-IN" sz="2400" dirty="0" err="1"/>
              <a:t>Gotman</a:t>
            </a:r>
            <a:r>
              <a:rPr lang="en-IN" sz="2400" dirty="0"/>
              <a:t> &amp; </a:t>
            </a:r>
            <a:r>
              <a:rPr lang="en-IN" sz="2400" dirty="0" err="1"/>
              <a:t>Zatorre</a:t>
            </a:r>
            <a:r>
              <a:rPr lang="en-IN" sz="2400" dirty="0"/>
              <a:t>, 1993).</a:t>
            </a:r>
          </a:p>
          <a:p>
            <a:pPr lvl="1">
              <a:buFont typeface="Arial" panose="020B0604020202020204" pitchFamily="34" charset="0"/>
              <a:buChar char="•"/>
            </a:pPr>
            <a:r>
              <a:rPr lang="en-IN" sz="2800" dirty="0"/>
              <a:t>Difficulty in </a:t>
            </a:r>
            <a:r>
              <a:rPr lang="en-IN" sz="2800" b="1" dirty="0"/>
              <a:t>discriminating between odours</a:t>
            </a:r>
            <a:r>
              <a:rPr lang="en-IN" sz="2800" dirty="0"/>
              <a:t>.</a:t>
            </a:r>
          </a:p>
          <a:p>
            <a:pPr marL="879750" lvl="2" indent="-285750">
              <a:buFont typeface="Arial" panose="020B0604020202020204" pitchFamily="34" charset="0"/>
              <a:buChar char="•"/>
            </a:pPr>
            <a:endParaRPr lang="en-IN" dirty="0"/>
          </a:p>
          <a:p>
            <a:endParaRPr lang="en-US" dirty="0"/>
          </a:p>
        </p:txBody>
      </p:sp>
    </p:spTree>
    <p:extLst>
      <p:ext uri="{BB962C8B-B14F-4D97-AF65-F5344CB8AC3E}">
        <p14:creationId xmlns:p14="http://schemas.microsoft.com/office/powerpoint/2010/main" val="18363485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C4C60-7C93-904F-B213-193EF1E4C2F0}"/>
              </a:ext>
            </a:extLst>
          </p:cNvPr>
          <p:cNvSpPr>
            <a:spLocks noGrp="1"/>
          </p:cNvSpPr>
          <p:nvPr>
            <p:ph type="title"/>
          </p:nvPr>
        </p:nvSpPr>
        <p:spPr/>
        <p:txBody>
          <a:bodyPr anchor="ctr">
            <a:normAutofit/>
          </a:bodyPr>
          <a:lstStyle/>
          <a:p>
            <a:r>
              <a:rPr lang="en-US" sz="3000" dirty="0"/>
              <a:t>SPEECH AND LANGUAGE SYMPTOMS</a:t>
            </a:r>
          </a:p>
        </p:txBody>
      </p:sp>
      <p:sp>
        <p:nvSpPr>
          <p:cNvPr id="5" name="Content Placeholder 4">
            <a:extLst>
              <a:ext uri="{FF2B5EF4-FFF2-40B4-BE49-F238E27FC236}">
                <a16:creationId xmlns:a16="http://schemas.microsoft.com/office/drawing/2014/main" id="{C9F75E06-9F91-7540-8E13-F0660F08E518}"/>
              </a:ext>
            </a:extLst>
          </p:cNvPr>
          <p:cNvSpPr>
            <a:spLocks noGrp="1"/>
          </p:cNvSpPr>
          <p:nvPr>
            <p:ph idx="1"/>
          </p:nvPr>
        </p:nvSpPr>
        <p:spPr>
          <a:xfrm>
            <a:off x="416092" y="2071556"/>
            <a:ext cx="11509208" cy="5142044"/>
          </a:xfrm>
        </p:spPr>
        <p:txBody>
          <a:bodyPr anchor="t">
            <a:normAutofit/>
          </a:bodyPr>
          <a:lstStyle/>
          <a:p>
            <a:r>
              <a:rPr lang="en-IN" sz="2800" dirty="0" err="1"/>
              <a:t>Broca’s</a:t>
            </a:r>
            <a:r>
              <a:rPr lang="en-IN" sz="2800" dirty="0"/>
              <a:t> aphasia</a:t>
            </a:r>
          </a:p>
          <a:p>
            <a:pPr lvl="1">
              <a:buFont typeface="Arial" panose="020B0604020202020204" pitchFamily="34" charset="0"/>
              <a:buChar char="•"/>
            </a:pPr>
            <a:r>
              <a:rPr lang="en-IN" sz="2800" dirty="0"/>
              <a:t>associated with lesions in </a:t>
            </a:r>
            <a:r>
              <a:rPr lang="en-IN" sz="2800" dirty="0" err="1"/>
              <a:t>Broca’s</a:t>
            </a:r>
            <a:r>
              <a:rPr lang="en-IN" sz="2800" dirty="0"/>
              <a:t> area</a:t>
            </a:r>
          </a:p>
          <a:p>
            <a:pPr lvl="1">
              <a:buFont typeface="Arial" panose="020B0604020202020204" pitchFamily="34" charset="0"/>
              <a:buChar char="•"/>
            </a:pPr>
            <a:r>
              <a:rPr lang="en-IN" sz="2800" dirty="0"/>
              <a:t>non-fluent speech (sparse, effortful, dysarthric, </a:t>
            </a:r>
            <a:r>
              <a:rPr lang="en-IN" sz="2800" dirty="0" err="1"/>
              <a:t>dysprosodic</a:t>
            </a:r>
            <a:r>
              <a:rPr lang="en-IN" sz="2800" dirty="0"/>
              <a:t>, </a:t>
            </a:r>
            <a:br>
              <a:rPr lang="en-IN" sz="2800" dirty="0"/>
            </a:br>
            <a:r>
              <a:rPr lang="en-IN" sz="2800" dirty="0"/>
              <a:t>and agrammatic) </a:t>
            </a:r>
          </a:p>
          <a:p>
            <a:pPr lvl="1">
              <a:buFont typeface="Arial" panose="020B0604020202020204" pitchFamily="34" charset="0"/>
              <a:buChar char="•"/>
            </a:pPr>
            <a:r>
              <a:rPr lang="en-IN" sz="2800" dirty="0"/>
              <a:t>poor repetition</a:t>
            </a:r>
          </a:p>
          <a:p>
            <a:pPr lvl="1">
              <a:buFont typeface="Arial" panose="020B0604020202020204" pitchFamily="34" charset="0"/>
              <a:buChar char="•"/>
            </a:pPr>
            <a:r>
              <a:rPr lang="en-IN" sz="2800" dirty="0"/>
              <a:t>relatively good comprehension</a:t>
            </a:r>
          </a:p>
          <a:p>
            <a:pPr lvl="1">
              <a:buFont typeface="Arial" panose="020B0604020202020204" pitchFamily="34" charset="0"/>
              <a:buChar char="•"/>
            </a:pPr>
            <a:r>
              <a:rPr lang="en-IN" sz="2800" dirty="0"/>
              <a:t>difficulty with word naming, reading, and writing</a:t>
            </a:r>
          </a:p>
          <a:p>
            <a:endParaRPr lang="en-US" dirty="0"/>
          </a:p>
        </p:txBody>
      </p:sp>
    </p:spTree>
    <p:extLst>
      <p:ext uri="{BB962C8B-B14F-4D97-AF65-F5344CB8AC3E}">
        <p14:creationId xmlns:p14="http://schemas.microsoft.com/office/powerpoint/2010/main" val="41200039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94467" y="743489"/>
            <a:ext cx="11654725"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Transcortical Motor Aphasia </a:t>
            </a:r>
          </a:p>
          <a:p>
            <a:pPr lvl="1">
              <a:buFont typeface="Arial" panose="020B0604020202020204" pitchFamily="34" charset="0"/>
              <a:buChar char="•"/>
            </a:pPr>
            <a:r>
              <a:rPr lang="en-IN" sz="2800" dirty="0"/>
              <a:t>associated with left-hemisphere lesions in medial frontal cortex (supplementary motor area)</a:t>
            </a:r>
          </a:p>
          <a:p>
            <a:pPr lvl="1">
              <a:buFont typeface="Arial" panose="020B0604020202020204" pitchFamily="34" charset="0"/>
              <a:buChar char="•"/>
            </a:pPr>
            <a:r>
              <a:rPr lang="en-IN" sz="2800" dirty="0"/>
              <a:t>an inability to initiate spontaneous speech and writing</a:t>
            </a:r>
          </a:p>
          <a:p>
            <a:pPr lvl="1">
              <a:buFont typeface="Arial" panose="020B0604020202020204" pitchFamily="34" charset="0"/>
              <a:buChar char="•"/>
            </a:pPr>
            <a:r>
              <a:rPr lang="en-IN" sz="2800" dirty="0"/>
              <a:t>repetition is comparatively intact</a:t>
            </a:r>
          </a:p>
          <a:p>
            <a:pPr lvl="1">
              <a:buFont typeface="Arial" panose="020B0604020202020204" pitchFamily="34" charset="0"/>
              <a:buChar char="•"/>
            </a:pPr>
            <a:r>
              <a:rPr lang="en-IN" sz="2800" dirty="0"/>
              <a:t>comprehension intact</a:t>
            </a:r>
          </a:p>
          <a:p>
            <a:pPr lvl="1">
              <a:buFont typeface="Arial" panose="020B0604020202020204" pitchFamily="34" charset="0"/>
              <a:buChar char="•"/>
            </a:pPr>
            <a:endParaRPr lang="en-IN" sz="2800" dirty="0"/>
          </a:p>
          <a:p>
            <a:r>
              <a:rPr lang="en-IN" sz="2800" dirty="0" err="1"/>
              <a:t>Aphemia</a:t>
            </a:r>
            <a:r>
              <a:rPr lang="en-IN" sz="2800" dirty="0"/>
              <a:t>  </a:t>
            </a:r>
          </a:p>
          <a:p>
            <a:pPr lvl="1">
              <a:buFont typeface="Arial" panose="020B0604020202020204" pitchFamily="34" charset="0"/>
              <a:buChar char="•"/>
            </a:pPr>
            <a:r>
              <a:rPr lang="en-IN" sz="2600" dirty="0"/>
              <a:t>an apraxia of speech; isolated disorder of coordinated speech articulation</a:t>
            </a:r>
          </a:p>
          <a:p>
            <a:pPr lvl="1">
              <a:buFont typeface="Arial" panose="020B0604020202020204" pitchFamily="34" charset="0"/>
              <a:buChar char="•"/>
            </a:pPr>
            <a:r>
              <a:rPr lang="en-IN" sz="2600" dirty="0"/>
              <a:t>characterized by </a:t>
            </a:r>
            <a:r>
              <a:rPr lang="en-IN" sz="2600" b="1" dirty="0"/>
              <a:t>complete articulatory failure</a:t>
            </a:r>
            <a:r>
              <a:rPr lang="en-IN" sz="2600" dirty="0"/>
              <a:t> in the presence of </a:t>
            </a:r>
            <a:r>
              <a:rPr lang="en-IN" sz="2600" b="1" dirty="0"/>
              <a:t>preserved comprehension and writing</a:t>
            </a:r>
            <a:r>
              <a:rPr lang="en-IN" sz="2600" dirty="0"/>
              <a:t>.</a:t>
            </a:r>
          </a:p>
          <a:p>
            <a:pPr lvl="1">
              <a:buFont typeface="Arial" panose="020B0604020202020204" pitchFamily="34" charset="0"/>
              <a:buChar char="•"/>
            </a:pPr>
            <a:endParaRPr lang="en-IN" sz="2800" dirty="0"/>
          </a:p>
          <a:p>
            <a:endParaRPr lang="en-IN" sz="2800"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35864558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94468" y="743489"/>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1"/>
            <a:endParaRPr lang="en-IN" dirty="0"/>
          </a:p>
          <a:p>
            <a:endParaRPr lang="en-IN" sz="2800" dirty="0"/>
          </a:p>
          <a:p>
            <a:endParaRPr lang="en-IN" sz="2800"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
        <p:nvSpPr>
          <p:cNvPr id="4" name="Content Placeholder 2">
            <a:extLst>
              <a:ext uri="{FF2B5EF4-FFF2-40B4-BE49-F238E27FC236}">
                <a16:creationId xmlns:a16="http://schemas.microsoft.com/office/drawing/2014/main" id="{4CA8F2D3-3D23-FB4C-88BB-1F87F7833106}"/>
              </a:ext>
            </a:extLst>
          </p:cNvPr>
          <p:cNvSpPr txBox="1">
            <a:spLocks/>
          </p:cNvSpPr>
          <p:nvPr/>
        </p:nvSpPr>
        <p:spPr>
          <a:xfrm>
            <a:off x="294467" y="743489"/>
            <a:ext cx="11654725"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Agrammatism – inability to use verbs and produce </a:t>
            </a:r>
            <a:r>
              <a:rPr lang="en-IN" sz="2800" b="1" dirty="0"/>
              <a:t>appropriate grammar</a:t>
            </a:r>
            <a:r>
              <a:rPr lang="en-IN" sz="2800" dirty="0"/>
              <a:t>.</a:t>
            </a:r>
          </a:p>
          <a:p>
            <a:endParaRPr lang="en-IN" sz="2800" dirty="0"/>
          </a:p>
          <a:p>
            <a:r>
              <a:rPr lang="en-IN" sz="2800" dirty="0"/>
              <a:t>The </a:t>
            </a:r>
            <a:r>
              <a:rPr lang="en-IN" sz="2800" b="1" dirty="0"/>
              <a:t>ability to maintain a sequence</a:t>
            </a:r>
            <a:r>
              <a:rPr lang="en-IN" sz="2800" dirty="0"/>
              <a:t>, either verbal or nonverbal also </a:t>
            </a:r>
            <a:r>
              <a:rPr lang="en-IN" sz="2800" b="1" dirty="0"/>
              <a:t>affects the comprehension of language</a:t>
            </a:r>
            <a:r>
              <a:rPr lang="en-IN" sz="2400" b="1" dirty="0"/>
              <a:t> </a:t>
            </a:r>
            <a:r>
              <a:rPr lang="en-IN" sz="2400" dirty="0"/>
              <a:t>(Albert, 1972)</a:t>
            </a:r>
            <a:r>
              <a:rPr lang="en-IN" sz="2800" dirty="0"/>
              <a:t>. Thus, many patients with frontal pathology will comprehend individual words well, but </a:t>
            </a:r>
            <a:r>
              <a:rPr lang="en-IN" sz="2800" b="1" dirty="0"/>
              <a:t>if given </a:t>
            </a:r>
            <a:br>
              <a:rPr lang="en-IN" sz="2800" b="1" dirty="0"/>
            </a:br>
            <a:r>
              <a:rPr lang="en-IN" sz="2800" b="1" dirty="0"/>
              <a:t>a sequence of words, will appear to comprehend only a few </a:t>
            </a:r>
            <a:r>
              <a:rPr lang="en-IN" sz="2800" dirty="0"/>
              <a:t>(either the first or the last).</a:t>
            </a:r>
          </a:p>
          <a:p>
            <a:endParaRPr lang="en-IN" sz="2800" dirty="0"/>
          </a:p>
          <a:p>
            <a:r>
              <a:rPr lang="en-IN" sz="2800" dirty="0"/>
              <a:t>Loss of the </a:t>
            </a:r>
            <a:r>
              <a:rPr lang="en-IN" sz="2800" b="1" dirty="0"/>
              <a:t>regulatory power of language </a:t>
            </a:r>
            <a:r>
              <a:rPr lang="en-IN" sz="2400" dirty="0"/>
              <a:t>(Luria, 1966). </a:t>
            </a:r>
            <a:r>
              <a:rPr lang="en-IN" sz="2800" dirty="0"/>
              <a:t>Thus, </a:t>
            </a:r>
            <a:br>
              <a:rPr lang="en-IN" sz="2800" dirty="0"/>
            </a:br>
            <a:r>
              <a:rPr lang="en-IN" sz="2800" dirty="0"/>
              <a:t>frontal patients </a:t>
            </a:r>
            <a:r>
              <a:rPr lang="en-IN" sz="2800" b="1" dirty="0"/>
              <a:t>may verbalize a task correctly </a:t>
            </a:r>
            <a:r>
              <a:rPr lang="en-IN" sz="2800" dirty="0"/>
              <a:t>but </a:t>
            </a:r>
            <a:r>
              <a:rPr lang="en-IN" sz="2800" b="1" dirty="0"/>
              <a:t>cannot use </a:t>
            </a:r>
            <a:br>
              <a:rPr lang="en-IN" sz="2800" b="1" dirty="0"/>
            </a:br>
            <a:r>
              <a:rPr lang="en-IN" sz="2800" b="1" dirty="0"/>
              <a:t>the verbalization to direct </a:t>
            </a:r>
            <a:r>
              <a:rPr lang="en-IN" sz="2800" b="1" dirty="0" err="1"/>
              <a:t>behavior</a:t>
            </a:r>
            <a:r>
              <a:rPr lang="en-IN" sz="2800" dirty="0"/>
              <a:t>.</a:t>
            </a:r>
          </a:p>
          <a:p>
            <a:endParaRPr lang="en-IN" dirty="0"/>
          </a:p>
          <a:p>
            <a:endParaRPr lang="en-IN" sz="2800" dirty="0"/>
          </a:p>
          <a:p>
            <a:endParaRPr lang="en-IN" sz="2800" dirty="0"/>
          </a:p>
          <a:p>
            <a:pPr marL="324000" lvl="1" indent="0">
              <a:buNone/>
            </a:pPr>
            <a:r>
              <a:rPr lang="en-IN" sz="2800" dirty="0"/>
              <a:t>.</a:t>
            </a:r>
          </a:p>
          <a:p>
            <a:pPr lvl="1">
              <a:buFont typeface="Arial" panose="020B0604020202020204" pitchFamily="34" charset="0"/>
              <a:buChar char="•"/>
            </a:pPr>
            <a:endParaRPr lang="en-IN" sz="2800" dirty="0"/>
          </a:p>
          <a:p>
            <a:endParaRPr lang="en-IN" sz="2800"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8971710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7FFB0-53CF-E04A-8C1A-290C20709AF7}"/>
              </a:ext>
            </a:extLst>
          </p:cNvPr>
          <p:cNvSpPr>
            <a:spLocks noGrp="1"/>
          </p:cNvSpPr>
          <p:nvPr>
            <p:ph type="title"/>
          </p:nvPr>
        </p:nvSpPr>
        <p:spPr/>
        <p:txBody>
          <a:bodyPr anchor="ctr">
            <a:normAutofit/>
          </a:bodyPr>
          <a:lstStyle/>
          <a:p>
            <a:r>
              <a:rPr lang="en-US" sz="3000" dirty="0"/>
              <a:t>ASSESSMENT OF SPEECH/LANGUAGE FUNCTION</a:t>
            </a:r>
          </a:p>
        </p:txBody>
      </p:sp>
      <p:sp>
        <p:nvSpPr>
          <p:cNvPr id="3" name="Content Placeholder 2">
            <a:extLst>
              <a:ext uri="{FF2B5EF4-FFF2-40B4-BE49-F238E27FC236}">
                <a16:creationId xmlns:a16="http://schemas.microsoft.com/office/drawing/2014/main" id="{7225FF24-92A6-B945-A685-324E3E9B47EB}"/>
              </a:ext>
            </a:extLst>
          </p:cNvPr>
          <p:cNvSpPr>
            <a:spLocks noGrp="1"/>
          </p:cNvSpPr>
          <p:nvPr>
            <p:ph idx="1"/>
          </p:nvPr>
        </p:nvSpPr>
        <p:spPr>
          <a:xfrm>
            <a:off x="448160" y="2003751"/>
            <a:ext cx="11546237" cy="5370644"/>
          </a:xfrm>
        </p:spPr>
        <p:txBody>
          <a:bodyPr anchor="t">
            <a:normAutofit/>
          </a:bodyPr>
          <a:lstStyle/>
          <a:p>
            <a:r>
              <a:rPr lang="en-US" sz="2800" dirty="0"/>
              <a:t>Boston Naming Test</a:t>
            </a:r>
          </a:p>
          <a:p>
            <a:pPr lvl="1">
              <a:buFont typeface="Arial" panose="020B0604020202020204" pitchFamily="34" charset="0"/>
              <a:buChar char="•"/>
            </a:pPr>
            <a:r>
              <a:rPr lang="en-US" sz="2800" dirty="0"/>
              <a:t>Assesses word retrieval and naming.</a:t>
            </a:r>
          </a:p>
          <a:p>
            <a:pPr lvl="2">
              <a:buFont typeface="Arial" panose="020B0604020202020204" pitchFamily="34" charset="0"/>
              <a:buChar char="•"/>
            </a:pPr>
            <a:endParaRPr lang="en-US" sz="2800" dirty="0"/>
          </a:p>
          <a:p>
            <a:r>
              <a:rPr lang="en-US" sz="2800" dirty="0"/>
              <a:t>Expressive Vocabulary Test</a:t>
            </a:r>
          </a:p>
          <a:p>
            <a:pPr lvl="1">
              <a:buFont typeface="Arial" panose="020B0604020202020204" pitchFamily="34" charset="0"/>
              <a:buChar char="•"/>
            </a:pPr>
            <a:r>
              <a:rPr lang="en-US" sz="2800" dirty="0"/>
              <a:t>Assesses expressive vocabulary and word retrieval.</a:t>
            </a:r>
          </a:p>
          <a:p>
            <a:pPr marL="0" indent="0">
              <a:buNone/>
            </a:pPr>
            <a:endParaRPr lang="en-US" sz="2600" dirty="0"/>
          </a:p>
          <a:p>
            <a:r>
              <a:rPr lang="en-US" sz="2800" dirty="0"/>
              <a:t>Token Test </a:t>
            </a:r>
            <a:endParaRPr lang="en-US" sz="2800" dirty="0">
              <a:solidFill>
                <a:srgbClr val="FF0000"/>
              </a:solidFill>
            </a:endParaRPr>
          </a:p>
          <a:p>
            <a:pPr lvl="1">
              <a:buFont typeface="Arial" panose="020B0604020202020204" pitchFamily="34" charset="0"/>
              <a:buChar char="•"/>
            </a:pPr>
            <a:r>
              <a:rPr lang="en-US" sz="2800" dirty="0"/>
              <a:t>Assesses verbal comprehension.</a:t>
            </a:r>
          </a:p>
          <a:p>
            <a:pPr marL="0" indent="0">
              <a:buNone/>
            </a:pPr>
            <a:endParaRPr lang="en-US" sz="2800" dirty="0"/>
          </a:p>
          <a:p>
            <a:endParaRPr lang="en-US" sz="2800" dirty="0"/>
          </a:p>
          <a:p>
            <a:pPr marL="514350" indent="-514350">
              <a:buFont typeface="+mj-lt"/>
              <a:buAutoNum type="arabicPeriod"/>
            </a:pPr>
            <a:endParaRPr lang="en-US" sz="2800" dirty="0"/>
          </a:p>
          <a:p>
            <a:pPr lvl="1">
              <a:buFont typeface="Wingdings" pitchFamily="2" charset="2"/>
              <a:buChar char="§"/>
            </a:pPr>
            <a:endParaRPr lang="en-IN" dirty="0"/>
          </a:p>
          <a:p>
            <a:pPr marL="285750" indent="-285750">
              <a:buFont typeface="Wingdings" pitchFamily="2" charset="2"/>
              <a:buChar char="§"/>
            </a:pPr>
            <a:endParaRPr lang="en-US" dirty="0"/>
          </a:p>
          <a:p>
            <a:pPr marL="0" indent="0">
              <a:buNone/>
            </a:pPr>
            <a:endParaRPr lang="en-US" dirty="0"/>
          </a:p>
        </p:txBody>
      </p:sp>
    </p:spTree>
    <p:extLst>
      <p:ext uri="{BB962C8B-B14F-4D97-AF65-F5344CB8AC3E}">
        <p14:creationId xmlns:p14="http://schemas.microsoft.com/office/powerpoint/2010/main" val="42655335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94468" y="743489"/>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1"/>
            <a:endParaRPr lang="en-IN" dirty="0"/>
          </a:p>
          <a:p>
            <a:endParaRPr lang="en-IN" sz="2800" dirty="0"/>
          </a:p>
          <a:p>
            <a:endParaRPr lang="en-IN" sz="2800"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
        <p:nvSpPr>
          <p:cNvPr id="4" name="Content Placeholder 2">
            <a:extLst>
              <a:ext uri="{FF2B5EF4-FFF2-40B4-BE49-F238E27FC236}">
                <a16:creationId xmlns:a16="http://schemas.microsoft.com/office/drawing/2014/main" id="{4CA8F2D3-3D23-FB4C-88BB-1F87F7833106}"/>
              </a:ext>
            </a:extLst>
          </p:cNvPr>
          <p:cNvSpPr txBox="1">
            <a:spLocks/>
          </p:cNvSpPr>
          <p:nvPr/>
        </p:nvSpPr>
        <p:spPr>
          <a:xfrm>
            <a:off x="294467" y="743489"/>
            <a:ext cx="11654725"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Western Aphasia Battery</a:t>
            </a:r>
          </a:p>
          <a:p>
            <a:pPr lvl="1">
              <a:buFont typeface="Arial" panose="020B0604020202020204" pitchFamily="34" charset="0"/>
              <a:buChar char="•"/>
            </a:pPr>
            <a:r>
              <a:rPr lang="en-IN" sz="2800" dirty="0"/>
              <a:t>Assesses different types of aphasias</a:t>
            </a:r>
            <a:r>
              <a:rPr lang="en-IN" sz="2200" dirty="0"/>
              <a:t>.</a:t>
            </a:r>
          </a:p>
          <a:p>
            <a:endParaRPr lang="en-IN" sz="2800" dirty="0"/>
          </a:p>
          <a:p>
            <a:r>
              <a:rPr lang="en-IN" sz="2800" dirty="0"/>
              <a:t>Boston Diagnostic Aphasia Battery</a:t>
            </a:r>
          </a:p>
          <a:p>
            <a:pPr lvl="1">
              <a:buFont typeface="Arial" panose="020B0604020202020204" pitchFamily="34" charset="0"/>
              <a:buChar char="•"/>
            </a:pPr>
            <a:r>
              <a:rPr lang="en-IN" sz="2800" dirty="0"/>
              <a:t>Assesses different types of aphasias, verbal comprehension and writing.</a:t>
            </a:r>
          </a:p>
          <a:p>
            <a:pPr lvl="2"/>
            <a:endParaRPr lang="en-IN" sz="2800" dirty="0"/>
          </a:p>
          <a:p>
            <a:pPr marL="324000" lvl="1" indent="0">
              <a:buNone/>
            </a:pPr>
            <a:r>
              <a:rPr lang="en-IN" sz="2800" dirty="0"/>
              <a:t>.</a:t>
            </a:r>
          </a:p>
          <a:p>
            <a:pPr lvl="1">
              <a:buFont typeface="Arial" panose="020B0604020202020204" pitchFamily="34" charset="0"/>
              <a:buChar char="•"/>
            </a:pPr>
            <a:endParaRPr lang="en-IN" sz="2800" dirty="0"/>
          </a:p>
          <a:p>
            <a:endParaRPr lang="en-IN" sz="2800"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1983131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C4C60-7C93-904F-B213-193EF1E4C2F0}"/>
              </a:ext>
            </a:extLst>
          </p:cNvPr>
          <p:cNvSpPr>
            <a:spLocks noGrp="1"/>
          </p:cNvSpPr>
          <p:nvPr>
            <p:ph type="title"/>
          </p:nvPr>
        </p:nvSpPr>
        <p:spPr/>
        <p:txBody>
          <a:bodyPr anchor="ctr">
            <a:normAutofit/>
          </a:bodyPr>
          <a:lstStyle/>
          <a:p>
            <a:r>
              <a:rPr lang="en-US" sz="3000" dirty="0"/>
              <a:t>COGNITIVE SYMPTOMS</a:t>
            </a:r>
          </a:p>
        </p:txBody>
      </p:sp>
      <p:sp>
        <p:nvSpPr>
          <p:cNvPr id="5" name="Content Placeholder 4">
            <a:extLst>
              <a:ext uri="{FF2B5EF4-FFF2-40B4-BE49-F238E27FC236}">
                <a16:creationId xmlns:a16="http://schemas.microsoft.com/office/drawing/2014/main" id="{C9F75E06-9F91-7540-8E13-F0660F08E518}"/>
              </a:ext>
            </a:extLst>
          </p:cNvPr>
          <p:cNvSpPr>
            <a:spLocks noGrp="1"/>
          </p:cNvSpPr>
          <p:nvPr>
            <p:ph idx="1"/>
          </p:nvPr>
        </p:nvSpPr>
        <p:spPr>
          <a:xfrm>
            <a:off x="416092" y="2040560"/>
            <a:ext cx="11509208" cy="5142044"/>
          </a:xfrm>
        </p:spPr>
        <p:txBody>
          <a:bodyPr anchor="t">
            <a:normAutofit/>
          </a:bodyPr>
          <a:lstStyle/>
          <a:p>
            <a:pPr lvl="1"/>
            <a:endParaRPr lang="en-IN" dirty="0"/>
          </a:p>
          <a:p>
            <a:endParaRPr lang="en-US" dirty="0"/>
          </a:p>
          <a:p>
            <a:endParaRPr lang="en-US" dirty="0"/>
          </a:p>
        </p:txBody>
      </p:sp>
      <p:sp>
        <p:nvSpPr>
          <p:cNvPr id="4" name="Content Placeholder 2">
            <a:extLst>
              <a:ext uri="{FF2B5EF4-FFF2-40B4-BE49-F238E27FC236}">
                <a16:creationId xmlns:a16="http://schemas.microsoft.com/office/drawing/2014/main" id="{0B3F0512-E763-8442-9AEF-FFF6D112A00C}"/>
              </a:ext>
            </a:extLst>
          </p:cNvPr>
          <p:cNvSpPr txBox="1">
            <a:spLocks/>
          </p:cNvSpPr>
          <p:nvPr/>
        </p:nvSpPr>
        <p:spPr>
          <a:xfrm>
            <a:off x="-174569" y="1932073"/>
            <a:ext cx="5932838" cy="5445121"/>
          </a:xfrm>
          <a:prstGeom prst="rect">
            <a:avLst/>
          </a:prstGeom>
        </p:spPr>
        <p:txBody>
          <a:bodyPr vert="horz" lIns="91440" tIns="45720" rIns="91440" bIns="45720" numCol="1" rtlCol="0" anchor="t">
            <a:normAutofit fontScale="475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2">
              <a:lnSpc>
                <a:spcPct val="170000"/>
              </a:lnSpc>
            </a:pPr>
            <a:r>
              <a:rPr lang="en-US" sz="5900" dirty="0"/>
              <a:t>Attention &amp; concentration</a:t>
            </a:r>
          </a:p>
          <a:p>
            <a:pPr lvl="2">
              <a:lnSpc>
                <a:spcPct val="170000"/>
              </a:lnSpc>
            </a:pPr>
            <a:r>
              <a:rPr lang="en-US" sz="5900" dirty="0"/>
              <a:t>Memory</a:t>
            </a:r>
          </a:p>
          <a:p>
            <a:pPr lvl="2">
              <a:lnSpc>
                <a:spcPct val="170000"/>
              </a:lnSpc>
            </a:pPr>
            <a:r>
              <a:rPr lang="en-US" sz="5900" dirty="0"/>
              <a:t>Utilization behavior</a:t>
            </a:r>
          </a:p>
          <a:p>
            <a:pPr lvl="2">
              <a:lnSpc>
                <a:spcPct val="170000"/>
              </a:lnSpc>
            </a:pPr>
            <a:r>
              <a:rPr lang="en-US" sz="5900" dirty="0"/>
              <a:t>Associative learning</a:t>
            </a:r>
          </a:p>
          <a:p>
            <a:pPr lvl="2">
              <a:lnSpc>
                <a:spcPct val="170000"/>
              </a:lnSpc>
            </a:pPr>
            <a:r>
              <a:rPr lang="en-US" sz="5900" dirty="0"/>
              <a:t>Planning, sequencing, strategy formation and goal formulation</a:t>
            </a:r>
          </a:p>
          <a:p>
            <a:pPr lvl="2"/>
            <a:endParaRPr lang="en-US" sz="8300" dirty="0"/>
          </a:p>
          <a:p>
            <a:pPr lvl="2"/>
            <a:endParaRPr lang="en-US" sz="8300" dirty="0"/>
          </a:p>
          <a:p>
            <a:pPr lvl="2"/>
            <a:endParaRPr lang="en-US" sz="8300" dirty="0"/>
          </a:p>
          <a:p>
            <a:pPr lvl="2"/>
            <a:endParaRPr lang="en-US" sz="8300" dirty="0"/>
          </a:p>
          <a:p>
            <a:pPr marL="571500" indent="-571500">
              <a:buFont typeface="Wingdings 2" panose="05020102010507070707" pitchFamily="18" charset="2"/>
              <a:buAutoNum type="romanUcPeriod"/>
            </a:pPr>
            <a:endParaRPr lang="en-IN" sz="2600" dirty="0"/>
          </a:p>
          <a:p>
            <a:endParaRPr lang="en-US" sz="2800" dirty="0"/>
          </a:p>
          <a:p>
            <a:endParaRPr lang="en-US" sz="2800" dirty="0"/>
          </a:p>
          <a:p>
            <a:pPr marL="514350" indent="-514350">
              <a:buFont typeface="+mj-lt"/>
              <a:buAutoNum type="arabicPeriod"/>
            </a:pPr>
            <a:endParaRPr lang="en-US" sz="2800" dirty="0"/>
          </a:p>
          <a:p>
            <a:pPr lvl="1">
              <a:buFont typeface="Wingdings" pitchFamily="2" charset="2"/>
              <a:buChar char="§"/>
            </a:pPr>
            <a:endParaRPr lang="en-IN" dirty="0"/>
          </a:p>
          <a:p>
            <a:pPr marL="285750" indent="-285750">
              <a:buFont typeface="Wingdings" pitchFamily="2" charset="2"/>
              <a:buChar char="§"/>
            </a:pPr>
            <a:endParaRPr lang="en-US" dirty="0"/>
          </a:p>
          <a:p>
            <a:pPr marL="0" indent="0">
              <a:buFont typeface="Wingdings 2" panose="05020102010507070707" pitchFamily="18" charset="2"/>
              <a:buNone/>
            </a:pPr>
            <a:endParaRPr lang="en-US" dirty="0"/>
          </a:p>
        </p:txBody>
      </p:sp>
      <p:sp>
        <p:nvSpPr>
          <p:cNvPr id="6" name="Content Placeholder 2">
            <a:extLst>
              <a:ext uri="{FF2B5EF4-FFF2-40B4-BE49-F238E27FC236}">
                <a16:creationId xmlns:a16="http://schemas.microsoft.com/office/drawing/2014/main" id="{0421E1DB-E0FB-954A-97C2-3DA2743B81E7}"/>
              </a:ext>
            </a:extLst>
          </p:cNvPr>
          <p:cNvSpPr txBox="1">
            <a:spLocks/>
          </p:cNvSpPr>
          <p:nvPr/>
        </p:nvSpPr>
        <p:spPr>
          <a:xfrm>
            <a:off x="5579391" y="1859798"/>
            <a:ext cx="6364639" cy="5641382"/>
          </a:xfrm>
          <a:prstGeom prst="rect">
            <a:avLst/>
          </a:prstGeom>
        </p:spPr>
        <p:txBody>
          <a:bodyPr vert="horz" lIns="91440" tIns="45720" rIns="91440" bIns="45720" numCol="1" rtlCol="0" anchor="t">
            <a:normAutofit fontScale="625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2">
              <a:lnSpc>
                <a:spcPct val="170000"/>
              </a:lnSpc>
            </a:pPr>
            <a:r>
              <a:rPr lang="en-US" sz="4500" dirty="0"/>
              <a:t>Rule deduction and rule following</a:t>
            </a:r>
          </a:p>
          <a:p>
            <a:pPr lvl="2">
              <a:lnSpc>
                <a:spcPct val="170000"/>
              </a:lnSpc>
            </a:pPr>
            <a:r>
              <a:rPr lang="en-US" sz="4500" dirty="0"/>
              <a:t>Decision-making</a:t>
            </a:r>
          </a:p>
          <a:p>
            <a:pPr lvl="2">
              <a:lnSpc>
                <a:spcPct val="170000"/>
              </a:lnSpc>
            </a:pPr>
            <a:r>
              <a:rPr lang="en-US" sz="4500" dirty="0"/>
              <a:t>Response initiation and suppression</a:t>
            </a:r>
          </a:p>
          <a:p>
            <a:pPr lvl="2">
              <a:lnSpc>
                <a:spcPct val="170000"/>
              </a:lnSpc>
            </a:pPr>
            <a:r>
              <a:rPr lang="en-US" sz="4500" dirty="0"/>
              <a:t>Abstract thinking</a:t>
            </a:r>
          </a:p>
          <a:p>
            <a:pPr lvl="2">
              <a:lnSpc>
                <a:spcPct val="170000"/>
              </a:lnSpc>
            </a:pPr>
            <a:r>
              <a:rPr lang="en-US" sz="4500" dirty="0"/>
              <a:t>Cognitive flexibility</a:t>
            </a:r>
          </a:p>
          <a:p>
            <a:pPr lvl="2">
              <a:lnSpc>
                <a:spcPct val="170000"/>
              </a:lnSpc>
            </a:pPr>
            <a:r>
              <a:rPr lang="en-US" sz="4500" dirty="0"/>
              <a:t>Problem solving</a:t>
            </a:r>
          </a:p>
          <a:p>
            <a:pPr lvl="2"/>
            <a:endParaRPr lang="en-US" sz="8300" dirty="0"/>
          </a:p>
          <a:p>
            <a:pPr lvl="2"/>
            <a:endParaRPr lang="en-US" sz="8300" dirty="0"/>
          </a:p>
          <a:p>
            <a:pPr lvl="2"/>
            <a:endParaRPr lang="en-US" sz="8300" dirty="0"/>
          </a:p>
          <a:p>
            <a:pPr lvl="2"/>
            <a:endParaRPr lang="en-US" sz="8300" dirty="0"/>
          </a:p>
          <a:p>
            <a:pPr marL="571500" indent="-571500">
              <a:buFont typeface="Wingdings 2" panose="05020102010507070707" pitchFamily="18" charset="2"/>
              <a:buAutoNum type="romanUcPeriod"/>
            </a:pPr>
            <a:endParaRPr lang="en-IN" sz="2600" dirty="0"/>
          </a:p>
          <a:p>
            <a:endParaRPr lang="en-US" sz="2800" dirty="0"/>
          </a:p>
          <a:p>
            <a:endParaRPr lang="en-US" sz="2800" dirty="0"/>
          </a:p>
          <a:p>
            <a:pPr marL="514350" indent="-514350">
              <a:buFont typeface="+mj-lt"/>
              <a:buAutoNum type="arabicPeriod"/>
            </a:pPr>
            <a:endParaRPr lang="en-US" sz="2800" dirty="0"/>
          </a:p>
          <a:p>
            <a:pPr lvl="1">
              <a:buFont typeface="Wingdings" pitchFamily="2" charset="2"/>
              <a:buChar char="§"/>
            </a:pPr>
            <a:endParaRPr lang="en-IN" dirty="0"/>
          </a:p>
          <a:p>
            <a:pPr marL="285750" indent="-285750">
              <a:buFont typeface="Wingdings" pitchFamily="2" charset="2"/>
              <a:buChar char="§"/>
            </a:pPr>
            <a:endParaRPr lang="en-US" dirty="0"/>
          </a:p>
          <a:p>
            <a:pPr marL="0" indent="0">
              <a:buFont typeface="Wingdings 2" panose="05020102010507070707" pitchFamily="18" charset="2"/>
              <a:buNone/>
            </a:pPr>
            <a:endParaRPr lang="en-US" dirty="0"/>
          </a:p>
        </p:txBody>
      </p:sp>
    </p:spTree>
    <p:extLst>
      <p:ext uri="{BB962C8B-B14F-4D97-AF65-F5344CB8AC3E}">
        <p14:creationId xmlns:p14="http://schemas.microsoft.com/office/powerpoint/2010/main" val="4618938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402956" y="867475"/>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sz="2800" u="sng" dirty="0"/>
              <a:t>Attention &amp; Concentration</a:t>
            </a:r>
          </a:p>
          <a:p>
            <a:r>
              <a:rPr lang="en-IN" sz="2800" dirty="0"/>
              <a:t>Difficulty with </a:t>
            </a:r>
            <a:r>
              <a:rPr lang="en-IN" sz="2800" b="1" dirty="0"/>
              <a:t>selective attention</a:t>
            </a:r>
            <a:r>
              <a:rPr lang="en-IN" sz="2800" dirty="0"/>
              <a:t>.</a:t>
            </a:r>
          </a:p>
          <a:p>
            <a:endParaRPr lang="en-IN" sz="2800" dirty="0"/>
          </a:p>
          <a:p>
            <a:r>
              <a:rPr lang="en-IN" sz="2800" dirty="0"/>
              <a:t>Frontal lobe patients appear to have </a:t>
            </a:r>
            <a:r>
              <a:rPr lang="en-IN" sz="2800" b="1" dirty="0"/>
              <a:t>impaired attentional capacity </a:t>
            </a:r>
            <a:br>
              <a:rPr lang="en-IN" sz="2800" b="1" dirty="0"/>
            </a:br>
            <a:r>
              <a:rPr lang="en-IN" sz="2800" dirty="0"/>
              <a:t>in that they </a:t>
            </a:r>
            <a:r>
              <a:rPr lang="en-IN" sz="2800" b="1" dirty="0"/>
              <a:t>show poor concentration </a:t>
            </a:r>
            <a:r>
              <a:rPr lang="en-IN" sz="2800" dirty="0"/>
              <a:t>and are </a:t>
            </a:r>
            <a:r>
              <a:rPr lang="en-IN" sz="2800" b="1" dirty="0"/>
              <a:t>highly distractible </a:t>
            </a:r>
            <a:r>
              <a:rPr lang="en-IN" sz="2400" dirty="0"/>
              <a:t>(</a:t>
            </a:r>
            <a:r>
              <a:rPr lang="en-IN" sz="2400" dirty="0" err="1"/>
              <a:t>Mesulam</a:t>
            </a:r>
            <a:r>
              <a:rPr lang="en-IN" sz="2400" dirty="0"/>
              <a:t> 1986; </a:t>
            </a:r>
            <a:r>
              <a:rPr lang="en-IN" sz="2400" dirty="0" err="1"/>
              <a:t>Janowsky</a:t>
            </a:r>
            <a:r>
              <a:rPr lang="en-IN" sz="2400" dirty="0"/>
              <a:t> et al. 1989).</a:t>
            </a:r>
            <a:r>
              <a:rPr lang="en-IN" sz="2800" dirty="0"/>
              <a:t> </a:t>
            </a:r>
          </a:p>
          <a:p>
            <a:endParaRPr lang="en-IN" sz="2800" dirty="0"/>
          </a:p>
          <a:p>
            <a:pPr marL="0" indent="0">
              <a:buNone/>
            </a:pPr>
            <a:endParaRPr lang="en-IN" sz="2800" b="1" dirty="0"/>
          </a:p>
          <a:p>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10798279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402956" y="588075"/>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sz="2800" u="sng" dirty="0"/>
              <a:t>Memory</a:t>
            </a:r>
          </a:p>
          <a:p>
            <a:r>
              <a:rPr lang="en-IN" sz="2800" b="1" dirty="0"/>
              <a:t>Baddeley (1986) </a:t>
            </a:r>
            <a:r>
              <a:rPr lang="en-IN" sz="2800" dirty="0"/>
              <a:t>has characterized frontal (specifically, prefrontal) dysfunction as a </a:t>
            </a:r>
            <a:r>
              <a:rPr lang="en-IN" sz="2800" b="1" dirty="0"/>
              <a:t>‘dysexecutive’ syndrome </a:t>
            </a:r>
            <a:r>
              <a:rPr lang="en-IN" sz="2800" dirty="0"/>
              <a:t>involving the </a:t>
            </a:r>
            <a:r>
              <a:rPr lang="en-IN" sz="2800" b="1" dirty="0"/>
              <a:t>disruption </a:t>
            </a:r>
            <a:br>
              <a:rPr lang="en-IN" sz="2800" b="1" dirty="0"/>
            </a:br>
            <a:r>
              <a:rPr lang="en-IN" sz="2800" b="1" dirty="0"/>
              <a:t>of working memory.</a:t>
            </a:r>
          </a:p>
          <a:p>
            <a:endParaRPr lang="en-IN" sz="2800" b="1" dirty="0"/>
          </a:p>
          <a:p>
            <a:r>
              <a:rPr lang="en-IN" sz="2800" dirty="0"/>
              <a:t>Baddeley suggested that the impairments seen after frontal damage are </a:t>
            </a:r>
            <a:r>
              <a:rPr lang="en-IN" sz="2800" b="1" dirty="0"/>
              <a:t>malfunctions of the central executive</a:t>
            </a:r>
            <a:r>
              <a:rPr lang="en-IN" sz="2800" dirty="0"/>
              <a:t>, which is a component of working memory and is thought to </a:t>
            </a:r>
            <a:r>
              <a:rPr lang="en-IN" sz="2800" b="1" dirty="0"/>
              <a:t>control resources and monitor information processing</a:t>
            </a:r>
            <a:r>
              <a:rPr lang="en-IN" sz="2800" dirty="0"/>
              <a:t>.</a:t>
            </a:r>
          </a:p>
          <a:p>
            <a:endParaRPr lang="en-IN" sz="2800" dirty="0"/>
          </a:p>
          <a:p>
            <a:r>
              <a:rPr lang="en-IN" sz="2800" dirty="0"/>
              <a:t>Frontal lobe patients </a:t>
            </a:r>
            <a:r>
              <a:rPr lang="en-IN" sz="2800" b="1" dirty="0"/>
              <a:t>exhibit memory deficits </a:t>
            </a:r>
            <a:r>
              <a:rPr lang="en-IN" sz="2800" dirty="0"/>
              <a:t>on tasks of </a:t>
            </a:r>
            <a:r>
              <a:rPr lang="en-IN" sz="2800" b="1" dirty="0"/>
              <a:t>free recall, interference and working memory </a:t>
            </a:r>
            <a:r>
              <a:rPr lang="en-IN" sz="2400" dirty="0"/>
              <a:t>(Martin, 2006).</a:t>
            </a:r>
          </a:p>
          <a:p>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6344247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340962" y="929469"/>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Inability to </a:t>
            </a:r>
            <a:r>
              <a:rPr lang="en-IN" sz="2800" b="1" dirty="0"/>
              <a:t>retrieve episodic memories </a:t>
            </a:r>
            <a:r>
              <a:rPr lang="en-IN" sz="2800" dirty="0"/>
              <a:t>despite </a:t>
            </a:r>
            <a:r>
              <a:rPr lang="en-IN" sz="2800" b="1" dirty="0"/>
              <a:t>intact semantic retrieval</a:t>
            </a:r>
            <a:r>
              <a:rPr lang="en-IN" sz="2800" dirty="0"/>
              <a:t> </a:t>
            </a:r>
            <a:r>
              <a:rPr lang="en-IN" sz="2400" dirty="0"/>
              <a:t>(Wheeler &amp; </a:t>
            </a:r>
            <a:r>
              <a:rPr lang="en-IN" sz="2400" dirty="0" err="1"/>
              <a:t>Stuss</a:t>
            </a:r>
            <a:r>
              <a:rPr lang="en-IN" sz="2400" dirty="0"/>
              <a:t>, 2003). </a:t>
            </a:r>
            <a:r>
              <a:rPr lang="en-IN" sz="2800" b="1" dirty="0"/>
              <a:t>Claim to know</a:t>
            </a:r>
            <a:r>
              <a:rPr lang="en-IN" sz="2800" dirty="0"/>
              <a:t> this information, </a:t>
            </a:r>
            <a:br>
              <a:rPr lang="en-IN" sz="2800" dirty="0"/>
            </a:br>
            <a:r>
              <a:rPr lang="en-IN" sz="2800" dirty="0"/>
              <a:t>but are </a:t>
            </a:r>
            <a:r>
              <a:rPr lang="en-IN" sz="2800" b="1" dirty="0"/>
              <a:t>unable to remember </a:t>
            </a:r>
            <a:r>
              <a:rPr lang="en-IN" sz="2800" dirty="0"/>
              <a:t>it, suggesting that such patients have </a:t>
            </a:r>
            <a:br>
              <a:rPr lang="en-IN" sz="2800" dirty="0"/>
            </a:br>
            <a:r>
              <a:rPr lang="en-IN" sz="2800" dirty="0"/>
              <a:t>an </a:t>
            </a:r>
            <a:r>
              <a:rPr lang="en-IN" sz="2800" b="1" dirty="0"/>
              <a:t>‘impoverished ability’ </a:t>
            </a:r>
            <a:r>
              <a:rPr lang="en-IN" sz="2800" dirty="0"/>
              <a:t>to recollect past autobiographical events consciously. </a:t>
            </a:r>
          </a:p>
          <a:p>
            <a:endParaRPr lang="en-IN" sz="2800" dirty="0"/>
          </a:p>
          <a:p>
            <a:r>
              <a:rPr lang="en-IN" sz="2800" dirty="0"/>
              <a:t>Difficulty with </a:t>
            </a:r>
            <a:r>
              <a:rPr lang="en-IN" sz="2800" b="1" dirty="0"/>
              <a:t>“prospective memory”: </a:t>
            </a:r>
            <a:r>
              <a:rPr lang="en-IN" sz="2800" dirty="0"/>
              <a:t>remembering to perform an activity in the future </a:t>
            </a:r>
            <a:r>
              <a:rPr lang="en-IN" sz="2400" dirty="0"/>
              <a:t>(Maylor, 1996). </a:t>
            </a:r>
          </a:p>
          <a:p>
            <a:endParaRPr lang="en-IN" sz="2800"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19056926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94468" y="743489"/>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sz="2800" u="sng" dirty="0"/>
              <a:t>Utilization Behaviour</a:t>
            </a:r>
          </a:p>
          <a:p>
            <a:r>
              <a:rPr lang="en-IN" sz="2800" dirty="0"/>
              <a:t>Unilateral or bilateral lesions.</a:t>
            </a:r>
          </a:p>
          <a:p>
            <a:r>
              <a:rPr lang="en-IN" sz="2800" dirty="0"/>
              <a:t>Utilization behaviour (UB) describes a behavioural disturbance in which the patient </a:t>
            </a:r>
            <a:r>
              <a:rPr lang="en-IN" sz="2800" b="1" dirty="0"/>
              <a:t>uses objects, prompted or unprompted, in his or her environment</a:t>
            </a:r>
            <a:r>
              <a:rPr lang="en-IN" sz="2800" dirty="0"/>
              <a:t>.</a:t>
            </a:r>
          </a:p>
          <a:p>
            <a:endParaRPr lang="en-IN" sz="2800" dirty="0"/>
          </a:p>
          <a:p>
            <a:r>
              <a:rPr lang="en-IN" sz="2800" b="1" dirty="0"/>
              <a:t>Two types of UB </a:t>
            </a:r>
            <a:r>
              <a:rPr lang="en-IN" sz="2800" dirty="0"/>
              <a:t>have been identified </a:t>
            </a:r>
            <a:r>
              <a:rPr lang="en-IN" sz="2400" dirty="0"/>
              <a:t>(Shallice et al. 1989)</a:t>
            </a:r>
            <a:r>
              <a:rPr lang="en-IN" sz="2800" dirty="0"/>
              <a:t>. </a:t>
            </a:r>
          </a:p>
          <a:p>
            <a:pPr lvl="1">
              <a:buFont typeface="Arial" panose="020B0604020202020204" pitchFamily="34" charset="0"/>
              <a:buChar char="•"/>
            </a:pPr>
            <a:r>
              <a:rPr lang="en-IN" sz="2800" b="1" dirty="0"/>
              <a:t>‘Induced’ UB – </a:t>
            </a:r>
            <a:r>
              <a:rPr lang="en-IN" sz="2800" dirty="0"/>
              <a:t>where the </a:t>
            </a:r>
            <a:r>
              <a:rPr lang="en-IN" sz="2800" b="1" dirty="0"/>
              <a:t>others’</a:t>
            </a:r>
            <a:r>
              <a:rPr lang="en-IN" sz="2800" dirty="0"/>
              <a:t> (e.g. experimenter’s) </a:t>
            </a:r>
            <a:r>
              <a:rPr lang="en-IN" sz="2800" b="1" dirty="0"/>
              <a:t>comportment appears to prompt</a:t>
            </a:r>
            <a:r>
              <a:rPr lang="en-IN" sz="2800" dirty="0"/>
              <a:t> the use of objects </a:t>
            </a:r>
            <a:r>
              <a:rPr lang="en-IN" sz="2400" dirty="0"/>
              <a:t>(Lhermitte 1983).</a:t>
            </a:r>
          </a:p>
          <a:p>
            <a:pPr lvl="1">
              <a:buFont typeface="Arial" panose="020B0604020202020204" pitchFamily="34" charset="0"/>
              <a:buChar char="•"/>
            </a:pPr>
            <a:r>
              <a:rPr lang="en-IN" sz="2800" b="1" dirty="0"/>
              <a:t>Incidental UB – </a:t>
            </a:r>
            <a:r>
              <a:rPr lang="en-IN" sz="2800" dirty="0"/>
              <a:t>describes behaviour where the </a:t>
            </a:r>
            <a:r>
              <a:rPr lang="en-IN" sz="2800" b="1" dirty="0"/>
              <a:t>patient uses objects nearby when performing other tasks</a:t>
            </a:r>
            <a:r>
              <a:rPr lang="en-IN" sz="2800" dirty="0"/>
              <a:t>.</a:t>
            </a:r>
          </a:p>
          <a:p>
            <a:pPr>
              <a:buFont typeface="Arial" panose="020B0604020202020204" pitchFamily="34" charset="0"/>
              <a:buChar char="•"/>
            </a:pPr>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37789823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94468" y="743489"/>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According to Lhermitte et al. (1986), frontal lobe patients </a:t>
            </a:r>
            <a:r>
              <a:rPr lang="en-IN" sz="2800" b="1" dirty="0"/>
              <a:t>may also exhibit imitation behaviour (IB)</a:t>
            </a:r>
            <a:r>
              <a:rPr lang="en-IN" sz="2800" dirty="0"/>
              <a:t>, i.e. they </a:t>
            </a:r>
            <a:r>
              <a:rPr lang="en-IN" sz="2800" b="1" dirty="0"/>
              <a:t>imitate the examiner’s gestures even though they are instructed not to</a:t>
            </a:r>
            <a:r>
              <a:rPr lang="en-IN" sz="2800" dirty="0"/>
              <a:t>. This behaviour precedes UB.</a:t>
            </a:r>
          </a:p>
          <a:p>
            <a:endParaRPr lang="en-IN" sz="2800" dirty="0"/>
          </a:p>
          <a:p>
            <a:r>
              <a:rPr lang="en-IN" sz="2800" dirty="0"/>
              <a:t>The sight of the movement is </a:t>
            </a:r>
            <a:r>
              <a:rPr lang="en-IN" sz="2800" b="1" dirty="0"/>
              <a:t>perceived in the patient’s mind as </a:t>
            </a:r>
            <a:br>
              <a:rPr lang="en-IN" sz="2800" b="1" dirty="0"/>
            </a:br>
            <a:r>
              <a:rPr lang="en-IN" sz="2800" b="1" dirty="0"/>
              <a:t>an order to imitate.</a:t>
            </a:r>
          </a:p>
          <a:p>
            <a:endParaRPr lang="en-IN" sz="2800" b="1" dirty="0"/>
          </a:p>
          <a:p>
            <a:r>
              <a:rPr lang="en-IN" sz="2800" dirty="0"/>
              <a:t>Similarly in UB, the </a:t>
            </a:r>
            <a:r>
              <a:rPr lang="en-IN" sz="2800" b="1" dirty="0"/>
              <a:t>sight</a:t>
            </a:r>
            <a:r>
              <a:rPr lang="en-IN" sz="2800" dirty="0"/>
              <a:t> of an object </a:t>
            </a:r>
            <a:r>
              <a:rPr lang="en-IN" sz="2800" b="1" dirty="0"/>
              <a:t>implies the order </a:t>
            </a:r>
            <a:r>
              <a:rPr lang="en-IN" sz="2800" dirty="0"/>
              <a:t>to use it. </a:t>
            </a:r>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23646734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94468" y="743489"/>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At the cortical level, UB is the result of </a:t>
            </a:r>
            <a:r>
              <a:rPr lang="en-IN" sz="2800" b="1" dirty="0"/>
              <a:t>impaired inhibitory action of the frontal lobe on the parietal lobe</a:t>
            </a:r>
            <a:r>
              <a:rPr lang="en-IN" sz="2800" dirty="0"/>
              <a:t> </a:t>
            </a:r>
            <a:r>
              <a:rPr lang="en-IN" sz="2400" dirty="0"/>
              <a:t>(Lhermitte,1983). </a:t>
            </a:r>
          </a:p>
          <a:p>
            <a:endParaRPr lang="en-IN" sz="2800" dirty="0"/>
          </a:p>
          <a:p>
            <a:pPr>
              <a:lnSpc>
                <a:spcPct val="150000"/>
              </a:lnSpc>
            </a:pPr>
            <a:r>
              <a:rPr lang="en-IN" sz="2800" dirty="0"/>
              <a:t>Sensory information – integration by parietal lobe – frontal lobe inhibition of parietal activity = relative dependence or independence from the external environment = suitable response</a:t>
            </a:r>
          </a:p>
          <a:p>
            <a:endParaRPr lang="en-IN" sz="2800" dirty="0"/>
          </a:p>
          <a:p>
            <a:r>
              <a:rPr lang="en-IN" sz="2800" dirty="0"/>
              <a:t>Frontal lobe patients are thought to have </a:t>
            </a:r>
            <a:r>
              <a:rPr lang="en-IN" sz="2800" b="1" dirty="0"/>
              <a:t>‘released’ parietal lobe activit</a:t>
            </a:r>
            <a:r>
              <a:rPr lang="en-IN" sz="2800" dirty="0"/>
              <a:t>y, which leaves the patient exposed to all external stimuli.</a:t>
            </a:r>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14911037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94468" y="743489"/>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sz="2800" u="sng" dirty="0"/>
              <a:t>Learning</a:t>
            </a:r>
          </a:p>
          <a:p>
            <a:r>
              <a:rPr lang="en-IN" sz="2800" dirty="0"/>
              <a:t>Impaired </a:t>
            </a:r>
            <a:r>
              <a:rPr lang="en-IN" sz="2800" b="1" dirty="0"/>
              <a:t>associative learning</a:t>
            </a:r>
            <a:r>
              <a:rPr lang="en-IN" sz="2800" dirty="0"/>
              <a:t>.</a:t>
            </a:r>
          </a:p>
          <a:p>
            <a:pPr marL="0" indent="0">
              <a:buNone/>
            </a:pPr>
            <a:endParaRPr lang="en-IN" sz="2800" dirty="0"/>
          </a:p>
          <a:p>
            <a:r>
              <a:rPr lang="en-IN" sz="2800" dirty="0"/>
              <a:t>Unable to regulate behaviour in response to external stimuli or </a:t>
            </a:r>
            <a:r>
              <a:rPr lang="en-IN" sz="2800" b="1" dirty="0"/>
              <a:t>learn from experience.</a:t>
            </a:r>
          </a:p>
          <a:p>
            <a:endParaRPr lang="en-IN" sz="2800" b="1" dirty="0"/>
          </a:p>
          <a:p>
            <a:r>
              <a:rPr lang="en-IN" sz="2800" b="1" dirty="0"/>
              <a:t>Luria and </a:t>
            </a:r>
            <a:r>
              <a:rPr lang="en-IN" sz="2800" b="1" dirty="0" err="1"/>
              <a:t>Homskaya</a:t>
            </a:r>
            <a:r>
              <a:rPr lang="en-IN" sz="2800" b="1" dirty="0"/>
              <a:t> (1964) </a:t>
            </a:r>
            <a:r>
              <a:rPr lang="en-IN" sz="2800" dirty="0"/>
              <a:t>described patients with massive frontal-lobe </a:t>
            </a:r>
            <a:r>
              <a:rPr lang="en-IN" sz="2800" dirty="0" err="1"/>
              <a:t>tumors</a:t>
            </a:r>
            <a:r>
              <a:rPr lang="en-IN" sz="2800" dirty="0"/>
              <a:t> who </a:t>
            </a:r>
            <a:r>
              <a:rPr lang="en-IN" sz="2800" b="1" dirty="0"/>
              <a:t>could not be trained to respond consistently </a:t>
            </a:r>
            <a:r>
              <a:rPr lang="en-IN" sz="2800" dirty="0"/>
              <a:t>with</a:t>
            </a:r>
            <a:br>
              <a:rPr lang="en-IN" sz="2800" dirty="0"/>
            </a:br>
            <a:r>
              <a:rPr lang="en-IN" sz="2800" dirty="0"/>
              <a:t> the right hand to a red light and with the left hand to a green light, </a:t>
            </a:r>
            <a:br>
              <a:rPr lang="en-IN" sz="2800" dirty="0"/>
            </a:br>
            <a:r>
              <a:rPr lang="en-IN" sz="2800" dirty="0"/>
              <a:t>even though the patients could indicate which hand was which and </a:t>
            </a:r>
            <a:br>
              <a:rPr lang="en-IN" sz="2800" dirty="0"/>
            </a:br>
            <a:r>
              <a:rPr lang="en-IN" sz="2800" dirty="0"/>
              <a:t>could repeat the instructions.</a:t>
            </a:r>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5207908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94468" y="743489"/>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
        <p:nvSpPr>
          <p:cNvPr id="3" name="Content Placeholder 2">
            <a:extLst>
              <a:ext uri="{FF2B5EF4-FFF2-40B4-BE49-F238E27FC236}">
                <a16:creationId xmlns:a16="http://schemas.microsoft.com/office/drawing/2014/main" id="{F2920E80-F581-D643-BFBE-014D2562BED7}"/>
              </a:ext>
            </a:extLst>
          </p:cNvPr>
          <p:cNvSpPr txBox="1">
            <a:spLocks/>
          </p:cNvSpPr>
          <p:nvPr/>
        </p:nvSpPr>
        <p:spPr>
          <a:xfrm>
            <a:off x="109777" y="743489"/>
            <a:ext cx="11685722"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24000" lvl="1" indent="0">
              <a:buNone/>
            </a:pPr>
            <a:r>
              <a:rPr lang="en-IN" sz="2800" u="sng" dirty="0"/>
              <a:t>Rule deduction and rule following</a:t>
            </a:r>
          </a:p>
          <a:p>
            <a:pPr lvl="1"/>
            <a:r>
              <a:rPr lang="en-IN" sz="2800" b="1" dirty="0"/>
              <a:t>Frequently noticed </a:t>
            </a:r>
            <a:r>
              <a:rPr lang="en-IN" sz="2800" dirty="0"/>
              <a:t>in frontal-damaged patients when they make </a:t>
            </a:r>
            <a:r>
              <a:rPr lang="en-IN" sz="2800" b="1" dirty="0"/>
              <a:t>perseverations</a:t>
            </a:r>
            <a:r>
              <a:rPr lang="en-IN" sz="2800" dirty="0"/>
              <a:t> (especially if they repeatedly use the same rules), </a:t>
            </a:r>
            <a:br>
              <a:rPr lang="en-IN" sz="2800" dirty="0"/>
            </a:br>
            <a:r>
              <a:rPr lang="en-IN" sz="2800" dirty="0"/>
              <a:t>or use </a:t>
            </a:r>
            <a:r>
              <a:rPr lang="en-IN" sz="2800" b="1" dirty="0"/>
              <a:t>inappropriate rules</a:t>
            </a:r>
            <a:r>
              <a:rPr lang="en-IN" sz="2800" dirty="0"/>
              <a:t>.</a:t>
            </a:r>
          </a:p>
          <a:p>
            <a:pPr lvl="1"/>
            <a:endParaRPr lang="en-IN" sz="2800" dirty="0"/>
          </a:p>
          <a:p>
            <a:pPr lvl="1"/>
            <a:r>
              <a:rPr lang="en-IN" sz="2800" dirty="0"/>
              <a:t>The </a:t>
            </a:r>
            <a:r>
              <a:rPr lang="en-IN" sz="2800" b="1" dirty="0"/>
              <a:t>nature of impairment </a:t>
            </a:r>
            <a:r>
              <a:rPr lang="en-IN" sz="2800" dirty="0"/>
              <a:t>on such complex tasks remains unclear </a:t>
            </a:r>
            <a:br>
              <a:rPr lang="en-IN" sz="2800" dirty="0"/>
            </a:br>
            <a:r>
              <a:rPr lang="en-IN" sz="2800" dirty="0"/>
              <a:t>and may involve the </a:t>
            </a:r>
            <a:r>
              <a:rPr lang="en-IN" sz="2800" b="1" dirty="0"/>
              <a:t>failure to identify rules, inability to use </a:t>
            </a:r>
            <a:br>
              <a:rPr lang="en-IN" sz="2800" b="1" dirty="0"/>
            </a:br>
            <a:r>
              <a:rPr lang="en-IN" sz="2800" b="1" dirty="0"/>
              <a:t>feedback and inflexibility in switching cognitive sets</a:t>
            </a:r>
          </a:p>
          <a:p>
            <a:pPr lvl="1"/>
            <a:endParaRPr lang="en-IN" sz="2800" dirty="0"/>
          </a:p>
          <a:p>
            <a:pPr lvl="1"/>
            <a:r>
              <a:rPr lang="en-IN" sz="2800" dirty="0"/>
              <a:t>Evidenced by </a:t>
            </a:r>
            <a:r>
              <a:rPr lang="en-IN" sz="2800" b="1" dirty="0"/>
              <a:t>poor performance </a:t>
            </a:r>
            <a:r>
              <a:rPr lang="en-IN" sz="2800" dirty="0"/>
              <a:t>on </a:t>
            </a:r>
            <a:r>
              <a:rPr lang="en-IN" sz="2800" b="1" dirty="0"/>
              <a:t>Wisconsin Card Sorting Test</a:t>
            </a:r>
            <a:r>
              <a:rPr lang="en-IN" sz="2800" dirty="0"/>
              <a:t>.</a:t>
            </a:r>
          </a:p>
          <a:p>
            <a:pPr lvl="1"/>
            <a:endParaRPr lang="en-IN" sz="2800" dirty="0"/>
          </a:p>
          <a:p>
            <a:endParaRPr lang="en-IN" dirty="0"/>
          </a:p>
          <a:p>
            <a:pPr>
              <a:buFont typeface="Arial" panose="020B0604020202020204" pitchFamily="34" charset="0"/>
              <a:buChar char="•"/>
            </a:pPr>
            <a:endParaRPr lang="en-IN" dirty="0"/>
          </a:p>
          <a:p>
            <a:endParaRPr lang="en-IN" sz="2800"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25276461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94468" y="743489"/>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
        <p:nvSpPr>
          <p:cNvPr id="3" name="Content Placeholder 2">
            <a:extLst>
              <a:ext uri="{FF2B5EF4-FFF2-40B4-BE49-F238E27FC236}">
                <a16:creationId xmlns:a16="http://schemas.microsoft.com/office/drawing/2014/main" id="{F2920E80-F581-D643-BFBE-014D2562BED7}"/>
              </a:ext>
            </a:extLst>
          </p:cNvPr>
          <p:cNvSpPr txBox="1">
            <a:spLocks/>
          </p:cNvSpPr>
          <p:nvPr/>
        </p:nvSpPr>
        <p:spPr>
          <a:xfrm>
            <a:off x="109777" y="743489"/>
            <a:ext cx="11685722"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1"/>
            <a:r>
              <a:rPr lang="en-IN" sz="2800" dirty="0"/>
              <a:t>Shallice and </a:t>
            </a:r>
            <a:r>
              <a:rPr lang="en-IN" sz="2800" dirty="0" err="1"/>
              <a:t>Burgesse</a:t>
            </a:r>
            <a:r>
              <a:rPr lang="en-IN" sz="2800" dirty="0"/>
              <a:t> (1991)</a:t>
            </a:r>
            <a:r>
              <a:rPr lang="en-IN" sz="2800" dirty="0">
                <a:solidFill>
                  <a:srgbClr val="FF0000"/>
                </a:solidFill>
              </a:rPr>
              <a:t> </a:t>
            </a:r>
            <a:r>
              <a:rPr lang="en-IN" sz="2800" dirty="0"/>
              <a:t>study:</a:t>
            </a:r>
          </a:p>
          <a:p>
            <a:pPr lvl="1"/>
            <a:endParaRPr lang="en-IN" sz="2800" dirty="0"/>
          </a:p>
          <a:p>
            <a:pPr lvl="1">
              <a:buFont typeface="Arial" panose="020B0604020202020204" pitchFamily="34" charset="0"/>
              <a:buChar char="•"/>
            </a:pPr>
            <a:r>
              <a:rPr lang="en-IN" sz="2800" u="sng" dirty="0"/>
              <a:t>Task: </a:t>
            </a:r>
            <a:r>
              <a:rPr lang="en-IN" sz="2800" dirty="0"/>
              <a:t>list of six errands (buy a loaf of bread, etc.) + get answers to four questions (price of a pound of tomatoes) + regroup at a given location </a:t>
            </a:r>
            <a:br>
              <a:rPr lang="en-IN" sz="2800" dirty="0"/>
            </a:br>
            <a:r>
              <a:rPr lang="en-IN" sz="2800" dirty="0"/>
              <a:t>in 15 min.</a:t>
            </a:r>
          </a:p>
          <a:p>
            <a:pPr lvl="1">
              <a:buFont typeface="Arial" panose="020B0604020202020204" pitchFamily="34" charset="0"/>
              <a:buChar char="•"/>
            </a:pPr>
            <a:r>
              <a:rPr lang="en-IN" sz="2800" u="sng" dirty="0"/>
              <a:t>Instruction: </a:t>
            </a:r>
            <a:r>
              <a:rPr lang="en-IN" sz="2800" dirty="0"/>
              <a:t>complete tasks as quickly without rushing + not to enter  </a:t>
            </a:r>
            <a:br>
              <a:rPr lang="en-IN" sz="2800" dirty="0"/>
            </a:br>
            <a:r>
              <a:rPr lang="en-IN" sz="2800" dirty="0"/>
              <a:t>any unnecessary shops</a:t>
            </a:r>
          </a:p>
          <a:p>
            <a:pPr lvl="1">
              <a:buFont typeface="Arial" panose="020B0604020202020204" pitchFamily="34" charset="0"/>
              <a:buChar char="•"/>
            </a:pPr>
            <a:r>
              <a:rPr lang="en-IN" sz="2800" u="sng" dirty="0"/>
              <a:t>Results: </a:t>
            </a:r>
            <a:r>
              <a:rPr lang="en-IN" sz="2800" dirty="0"/>
              <a:t>frontal lobe patients found to be inefficient; broke rules </a:t>
            </a:r>
            <a:br>
              <a:rPr lang="en-IN" sz="2800" dirty="0"/>
            </a:br>
            <a:r>
              <a:rPr lang="en-IN" sz="2800" dirty="0"/>
              <a:t>(e.g. entered unnecessary shops). Yet, when quizzed all patients </a:t>
            </a:r>
            <a:br>
              <a:rPr lang="en-IN" sz="2800" dirty="0"/>
            </a:br>
            <a:r>
              <a:rPr lang="en-IN" sz="2800" dirty="0"/>
              <a:t>understood the tasks and attempted to comply.</a:t>
            </a:r>
          </a:p>
          <a:p>
            <a:pPr>
              <a:buFont typeface="Arial" panose="020B0604020202020204" pitchFamily="34" charset="0"/>
              <a:buChar char="•"/>
            </a:pPr>
            <a:endParaRPr lang="en-IN" dirty="0"/>
          </a:p>
          <a:p>
            <a:endParaRPr lang="en-IN" sz="2800"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26279492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63471" y="681496"/>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
        <p:nvSpPr>
          <p:cNvPr id="3" name="TextBox 2">
            <a:extLst>
              <a:ext uri="{FF2B5EF4-FFF2-40B4-BE49-F238E27FC236}">
                <a16:creationId xmlns:a16="http://schemas.microsoft.com/office/drawing/2014/main" id="{0C54AD5D-6A57-7249-A52A-368D5C33666E}"/>
              </a:ext>
            </a:extLst>
          </p:cNvPr>
          <p:cNvSpPr txBox="1"/>
          <p:nvPr/>
        </p:nvSpPr>
        <p:spPr>
          <a:xfrm>
            <a:off x="7222210" y="1239864"/>
            <a:ext cx="184731" cy="369332"/>
          </a:xfrm>
          <a:prstGeom prst="rect">
            <a:avLst/>
          </a:prstGeom>
          <a:noFill/>
        </p:spPr>
        <p:txBody>
          <a:bodyPr wrap="none" rtlCol="0">
            <a:spAutoFit/>
          </a:bodyPr>
          <a:lstStyle/>
          <a:p>
            <a:endParaRPr lang="en-US"/>
          </a:p>
        </p:txBody>
      </p:sp>
      <p:sp>
        <p:nvSpPr>
          <p:cNvPr id="6" name="Content Placeholder 4">
            <a:extLst>
              <a:ext uri="{FF2B5EF4-FFF2-40B4-BE49-F238E27FC236}">
                <a16:creationId xmlns:a16="http://schemas.microsoft.com/office/drawing/2014/main" id="{E02E7EDF-842C-634E-A030-9BA608BAA7E9}"/>
              </a:ext>
            </a:extLst>
          </p:cNvPr>
          <p:cNvSpPr txBox="1">
            <a:spLocks/>
          </p:cNvSpPr>
          <p:nvPr/>
        </p:nvSpPr>
        <p:spPr>
          <a:xfrm>
            <a:off x="390687" y="770249"/>
            <a:ext cx="11661829" cy="6206213"/>
          </a:xfrm>
          <a:prstGeom prst="rect">
            <a:avLst/>
          </a:prstGeom>
        </p:spPr>
        <p:txBody>
          <a:bodyPr anchor="t">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b="1" dirty="0"/>
              <a:t>Inability to follow rules </a:t>
            </a:r>
            <a:r>
              <a:rPr lang="en-IN" sz="2800" dirty="0"/>
              <a:t>or </a:t>
            </a:r>
            <a:r>
              <a:rPr lang="en-IN" sz="2800" b="1" dirty="0"/>
              <a:t>use knowledge of incorrect performance </a:t>
            </a:r>
            <a:r>
              <a:rPr lang="en-IN" sz="2800" dirty="0"/>
              <a:t>to alter behaviour, despite being able to understand and repeat rules if asked verbally </a:t>
            </a:r>
            <a:r>
              <a:rPr lang="en-IN" sz="2400" dirty="0"/>
              <a:t>(Benton, </a:t>
            </a:r>
            <a:r>
              <a:rPr lang="en-IN" sz="2400" dirty="0" err="1"/>
              <a:t>Elithorn</a:t>
            </a:r>
            <a:r>
              <a:rPr lang="en-IN" sz="2400" dirty="0"/>
              <a:t>, Fogel, &amp; Kerr, 1963; Milner, 1964; Walsh, 1960).</a:t>
            </a:r>
          </a:p>
          <a:p>
            <a:endParaRPr lang="en-IN" sz="2600" dirty="0"/>
          </a:p>
          <a:p>
            <a:r>
              <a:rPr lang="en-IN" sz="2800" dirty="0"/>
              <a:t>According to Luria (1973), “there is a curious dissociation between knowing and doing, such that verbalization no longer controls active behaviour.”</a:t>
            </a:r>
          </a:p>
          <a:p>
            <a:endParaRPr lang="en-IN" sz="2800" dirty="0"/>
          </a:p>
          <a:p>
            <a:r>
              <a:rPr lang="en-IN" sz="2800" dirty="0"/>
              <a:t>Frontal lobe patients </a:t>
            </a:r>
            <a:r>
              <a:rPr lang="en-IN" sz="2800" b="1" dirty="0"/>
              <a:t>know their errors </a:t>
            </a:r>
            <a:r>
              <a:rPr lang="en-IN" sz="2800" dirty="0"/>
              <a:t>but are </a:t>
            </a:r>
            <a:r>
              <a:rPr lang="en-IN" sz="2800" b="1" dirty="0"/>
              <a:t>unable to use that knowledge</a:t>
            </a:r>
            <a:r>
              <a:rPr lang="en-IN" sz="2800" dirty="0"/>
              <a:t> to modify behaviour.</a:t>
            </a:r>
          </a:p>
          <a:p>
            <a:endParaRPr lang="en-IN" sz="2800" dirty="0"/>
          </a:p>
          <a:p>
            <a:endParaRPr lang="en-IN" sz="2800" dirty="0"/>
          </a:p>
          <a:p>
            <a:endParaRPr lang="en-IN" dirty="0"/>
          </a:p>
          <a:p>
            <a:endParaRPr lang="en-IN" dirty="0"/>
          </a:p>
          <a:p>
            <a:endParaRPr lang="en-IN" dirty="0"/>
          </a:p>
          <a:p>
            <a:endParaRPr lang="en-IN" dirty="0"/>
          </a:p>
          <a:p>
            <a:endParaRPr lang="en-IN" sz="2800" dirty="0"/>
          </a:p>
          <a:p>
            <a:endParaRPr lang="en-IN" dirty="0"/>
          </a:p>
          <a:p>
            <a:pPr marL="0" indent="0">
              <a:buFont typeface="Wingdings 2" panose="05020102010507070707" pitchFamily="18" charset="2"/>
              <a:buNone/>
            </a:pPr>
            <a:endParaRPr lang="en-IN" sz="2800" dirty="0"/>
          </a:p>
          <a:p>
            <a:pPr lvl="1"/>
            <a:endParaRPr lang="en-IN" dirty="0"/>
          </a:p>
          <a:p>
            <a:endParaRPr lang="en-US" dirty="0"/>
          </a:p>
        </p:txBody>
      </p:sp>
    </p:spTree>
    <p:extLst>
      <p:ext uri="{BB962C8B-B14F-4D97-AF65-F5344CB8AC3E}">
        <p14:creationId xmlns:p14="http://schemas.microsoft.com/office/powerpoint/2010/main" val="34367803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94468" y="743489"/>
            <a:ext cx="11685722"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sz="2800" u="sng" dirty="0"/>
              <a:t>Planning, sequencing, strategy formation and goal formulation</a:t>
            </a:r>
          </a:p>
          <a:p>
            <a:pPr marL="0" indent="0">
              <a:buNone/>
            </a:pPr>
            <a:endParaRPr lang="en-IN" sz="2800" u="sng" dirty="0"/>
          </a:p>
          <a:p>
            <a:r>
              <a:rPr lang="en-IN" sz="2800" dirty="0"/>
              <a:t>Especially impaired at </a:t>
            </a:r>
            <a:r>
              <a:rPr lang="en-IN" sz="2800" b="1" dirty="0"/>
              <a:t>developing novel cognitive plans or strategies </a:t>
            </a:r>
            <a:br>
              <a:rPr lang="en-IN" sz="2800" b="1" dirty="0"/>
            </a:br>
            <a:r>
              <a:rPr lang="en-IN" sz="2800" dirty="0"/>
              <a:t>for solving problems. </a:t>
            </a:r>
          </a:p>
          <a:p>
            <a:endParaRPr lang="en-IN" sz="2800" dirty="0"/>
          </a:p>
          <a:p>
            <a:r>
              <a:rPr lang="en-IN" sz="2800" b="1" dirty="0"/>
              <a:t>Sequencing</a:t>
            </a:r>
            <a:r>
              <a:rPr lang="en-IN" sz="2800" dirty="0"/>
              <a:t> is perhaps the behaviour that may be most clearly affected </a:t>
            </a:r>
            <a:br>
              <a:rPr lang="en-IN" sz="2800" dirty="0"/>
            </a:br>
            <a:r>
              <a:rPr lang="en-IN" sz="2800" dirty="0"/>
              <a:t>in frontal lobe patients </a:t>
            </a:r>
            <a:r>
              <a:rPr lang="en-IN" sz="2400" dirty="0"/>
              <a:t>(</a:t>
            </a:r>
            <a:r>
              <a:rPr lang="en-IN" sz="2400" dirty="0" err="1"/>
              <a:t>Sirigu</a:t>
            </a:r>
            <a:r>
              <a:rPr lang="en-IN" sz="2400" dirty="0"/>
              <a:t> et al. 1995).</a:t>
            </a:r>
          </a:p>
          <a:p>
            <a:endParaRPr lang="en-IN" sz="2400" dirty="0"/>
          </a:p>
          <a:p>
            <a:r>
              <a:rPr lang="en-IN" sz="2800" dirty="0"/>
              <a:t>Evidenced by </a:t>
            </a:r>
            <a:r>
              <a:rPr lang="en-IN" sz="2800" b="1" dirty="0"/>
              <a:t>performance on tasks </a:t>
            </a:r>
            <a:r>
              <a:rPr lang="en-IN" sz="2800" dirty="0"/>
              <a:t>requiring planning and strategy such </a:t>
            </a:r>
            <a:br>
              <a:rPr lang="en-IN" sz="2800" dirty="0"/>
            </a:br>
            <a:r>
              <a:rPr lang="en-IN" sz="2800" dirty="0"/>
              <a:t>as </a:t>
            </a:r>
            <a:r>
              <a:rPr lang="en-IN" sz="2800" b="1" dirty="0" err="1"/>
              <a:t>Porteus</a:t>
            </a:r>
            <a:r>
              <a:rPr lang="en-IN" sz="2800" b="1" dirty="0"/>
              <a:t> Maze Test </a:t>
            </a:r>
            <a:r>
              <a:rPr lang="en-IN" sz="2800" dirty="0"/>
              <a:t>and </a:t>
            </a:r>
            <a:r>
              <a:rPr lang="en-IN" sz="2800" b="1" dirty="0"/>
              <a:t>Koh’s Block Design Test</a:t>
            </a:r>
            <a:r>
              <a:rPr lang="en-IN" sz="2800" dirty="0"/>
              <a:t>.</a:t>
            </a:r>
          </a:p>
          <a:p>
            <a:endParaRPr lang="en-IN" dirty="0"/>
          </a:p>
          <a:p>
            <a:endParaRPr lang="en-IN" sz="2800"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23866723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94468" y="743489"/>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sz="2800" u="sng" dirty="0"/>
              <a:t>Initiation and spontaneous behaviour</a:t>
            </a:r>
          </a:p>
          <a:p>
            <a:pPr marL="0" indent="0">
              <a:buNone/>
            </a:pPr>
            <a:endParaRPr lang="en-IN" sz="2800" u="sng" dirty="0"/>
          </a:p>
          <a:p>
            <a:r>
              <a:rPr lang="en-IN" sz="2800" dirty="0"/>
              <a:t>Some frontal lobe patients characterized by </a:t>
            </a:r>
            <a:r>
              <a:rPr lang="en-IN" sz="2800" b="1" dirty="0"/>
              <a:t>lack of spontaneity</a:t>
            </a:r>
            <a:r>
              <a:rPr lang="en-IN" sz="2800" dirty="0"/>
              <a:t>.</a:t>
            </a:r>
          </a:p>
          <a:p>
            <a:endParaRPr lang="en-IN" sz="2800" dirty="0"/>
          </a:p>
          <a:p>
            <a:r>
              <a:rPr lang="en-IN" sz="2800" b="1" dirty="0"/>
              <a:t>Loss of spontaneous speech</a:t>
            </a:r>
            <a:r>
              <a:rPr lang="en-IN" sz="2800" dirty="0"/>
              <a:t> – speak very little.</a:t>
            </a:r>
          </a:p>
          <a:p>
            <a:endParaRPr lang="en-IN" sz="2800" dirty="0"/>
          </a:p>
          <a:p>
            <a:r>
              <a:rPr lang="en-IN" sz="2800" b="1" dirty="0"/>
              <a:t>Poor performance on tests of verbal fluency</a:t>
            </a:r>
            <a:r>
              <a:rPr lang="en-IN" sz="2800" dirty="0"/>
              <a:t>, such as a verbal fluency task </a:t>
            </a:r>
            <a:r>
              <a:rPr lang="en-IN" sz="2400" dirty="0"/>
              <a:t>(Eslinger &amp; Grattan, 1993; </a:t>
            </a:r>
            <a:r>
              <a:rPr lang="en-IN" sz="2400" dirty="0" err="1"/>
              <a:t>Janowsky</a:t>
            </a:r>
            <a:r>
              <a:rPr lang="en-IN" sz="2400" dirty="0"/>
              <a:t> et al., 1989).</a:t>
            </a:r>
          </a:p>
          <a:p>
            <a:pPr marL="0" indent="0">
              <a:buNone/>
            </a:pPr>
            <a:endParaRPr lang="en-IN" sz="2800" b="1"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42231133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94468" y="944967"/>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This impairment also has a </a:t>
            </a:r>
            <a:r>
              <a:rPr lang="en-IN" sz="2800" b="1" dirty="0"/>
              <a:t>nonverbal form</a:t>
            </a:r>
            <a:r>
              <a:rPr lang="en-IN" sz="2800" dirty="0"/>
              <a:t>. </a:t>
            </a:r>
          </a:p>
          <a:p>
            <a:pPr lvl="1">
              <a:buFont typeface="Arial" panose="020B0604020202020204" pitchFamily="34" charset="0"/>
              <a:buChar char="•"/>
            </a:pPr>
            <a:r>
              <a:rPr lang="en-IN" sz="2800" dirty="0"/>
              <a:t>Patients with </a:t>
            </a:r>
            <a:r>
              <a:rPr lang="en-IN" sz="2800" b="1" dirty="0"/>
              <a:t>right frontal damage</a:t>
            </a:r>
            <a:r>
              <a:rPr lang="en-IN" sz="2800" dirty="0"/>
              <a:t>, for example, </a:t>
            </a:r>
            <a:r>
              <a:rPr lang="en-IN" sz="2800" b="1" dirty="0"/>
              <a:t>complete fewer drawings using four lines</a:t>
            </a:r>
            <a:r>
              <a:rPr lang="en-IN" sz="2800" dirty="0"/>
              <a:t> than do those with left frontal damage or control subjects </a:t>
            </a:r>
            <a:r>
              <a:rPr lang="en-IN" sz="2400" dirty="0"/>
              <a:t>(Jones-</a:t>
            </a:r>
            <a:r>
              <a:rPr lang="en-IN" sz="2400" dirty="0" err="1"/>
              <a:t>Gotman</a:t>
            </a:r>
            <a:r>
              <a:rPr lang="en-IN" sz="2400" dirty="0"/>
              <a:t> &amp; Milner, 1977).</a:t>
            </a:r>
          </a:p>
          <a:p>
            <a:pPr lvl="1">
              <a:buFont typeface="Arial" panose="020B0604020202020204" pitchFamily="34" charset="0"/>
              <a:buChar char="•"/>
            </a:pPr>
            <a:r>
              <a:rPr lang="en-IN" sz="2800" dirty="0"/>
              <a:t>Characteristically appear </a:t>
            </a:r>
            <a:r>
              <a:rPr lang="en-IN" sz="2800" b="1" dirty="0"/>
              <a:t>lethargic or lazy </a:t>
            </a:r>
            <a:r>
              <a:rPr lang="en-IN" sz="2800" dirty="0"/>
              <a:t>– often have difficulty getting out of bed in the morning, getting dressed or initiating other </a:t>
            </a:r>
            <a:br>
              <a:rPr lang="en-IN" sz="2800" dirty="0"/>
            </a:br>
            <a:r>
              <a:rPr lang="en-IN" sz="2800" dirty="0"/>
              <a:t>daily activities such as going to work. </a:t>
            </a:r>
          </a:p>
          <a:p>
            <a:endParaRPr lang="en-IN" sz="2800" u="sng" dirty="0"/>
          </a:p>
          <a:p>
            <a:endParaRPr lang="en-US" dirty="0"/>
          </a:p>
        </p:txBody>
      </p:sp>
    </p:spTree>
    <p:extLst>
      <p:ext uri="{BB962C8B-B14F-4D97-AF65-F5344CB8AC3E}">
        <p14:creationId xmlns:p14="http://schemas.microsoft.com/office/powerpoint/2010/main" val="19774172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63471" y="681496"/>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sz="2800" u="sng" dirty="0"/>
              <a:t>Other cognitive deficits:</a:t>
            </a:r>
          </a:p>
          <a:p>
            <a:pPr marL="0" indent="0">
              <a:buNone/>
            </a:pPr>
            <a:endParaRPr lang="en-IN" sz="2800" u="sng" dirty="0"/>
          </a:p>
          <a:p>
            <a:r>
              <a:rPr lang="en-IN" sz="2800" b="1" dirty="0"/>
              <a:t>Impaired</a:t>
            </a:r>
            <a:r>
              <a:rPr lang="en-IN" sz="2800" dirty="0"/>
              <a:t> </a:t>
            </a:r>
            <a:r>
              <a:rPr lang="en-IN" sz="2800" b="1" dirty="0"/>
              <a:t>decision-making: </a:t>
            </a:r>
            <a:r>
              <a:rPr lang="en-IN" sz="2800" dirty="0"/>
              <a:t>studies suggest that patients with frontal </a:t>
            </a:r>
            <a:br>
              <a:rPr lang="en-IN" sz="2800" dirty="0"/>
            </a:br>
            <a:r>
              <a:rPr lang="en-IN" sz="2800" dirty="0"/>
              <a:t>lobe damage have great </a:t>
            </a:r>
            <a:r>
              <a:rPr lang="en-IN" sz="2800" b="1" dirty="0"/>
              <a:t>difficulty in making correct decisions </a:t>
            </a:r>
            <a:br>
              <a:rPr lang="en-IN" sz="2800" dirty="0"/>
            </a:br>
            <a:r>
              <a:rPr lang="en-IN" sz="2400" dirty="0"/>
              <a:t>(Damasio 1995; </a:t>
            </a:r>
            <a:r>
              <a:rPr lang="en-IN" sz="2400" dirty="0" err="1"/>
              <a:t>Bechara</a:t>
            </a:r>
            <a:r>
              <a:rPr lang="en-IN" sz="2400" dirty="0"/>
              <a:t> el al., 1996, 1997).</a:t>
            </a:r>
          </a:p>
          <a:p>
            <a:pPr marL="0" indent="0">
              <a:buNone/>
            </a:pPr>
            <a:endParaRPr lang="en-IN" sz="2400" dirty="0"/>
          </a:p>
          <a:p>
            <a:r>
              <a:rPr lang="en-IN" sz="2800" b="1" dirty="0"/>
              <a:t>Impaired response initiation and suppression: </a:t>
            </a:r>
            <a:r>
              <a:rPr lang="en-IN" sz="2800" dirty="0"/>
              <a:t>frequently observed during clinical examination; </a:t>
            </a:r>
            <a:r>
              <a:rPr lang="en-IN" sz="2800" b="1" dirty="0"/>
              <a:t>patient is slow to answer or to initiate action or provides a wrong answer </a:t>
            </a:r>
            <a:r>
              <a:rPr lang="en-IN" sz="2800" dirty="0"/>
              <a:t>indicating that he is </a:t>
            </a:r>
            <a:r>
              <a:rPr lang="en-IN" sz="2800" b="1" dirty="0"/>
              <a:t>unable to suppress an automatic response; </a:t>
            </a:r>
            <a:r>
              <a:rPr lang="en-IN" sz="2800" dirty="0"/>
              <a:t>evidenced in poor performance </a:t>
            </a:r>
            <a:br>
              <a:rPr lang="en-IN" sz="2800" dirty="0"/>
            </a:br>
            <a:r>
              <a:rPr lang="en-IN" sz="2800" dirty="0"/>
              <a:t>on verbal fluency and Stroop tests.</a:t>
            </a:r>
          </a:p>
          <a:p>
            <a:endParaRPr lang="en-IN" sz="2400" dirty="0"/>
          </a:p>
          <a:p>
            <a:pPr marL="0" indent="0">
              <a:buNone/>
            </a:pPr>
            <a:endParaRPr lang="en-IN" sz="2800" dirty="0"/>
          </a:p>
          <a:p>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41551353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63471" y="681496"/>
            <a:ext cx="11602464"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b="1" dirty="0"/>
              <a:t>Impaired abstract thought: </a:t>
            </a:r>
            <a:r>
              <a:rPr lang="en-IN" sz="2800" dirty="0"/>
              <a:t>loss of abstract thought was considered </a:t>
            </a:r>
            <a:br>
              <a:rPr lang="en-IN" sz="2800" dirty="0"/>
            </a:br>
            <a:r>
              <a:rPr lang="en-IN" sz="2800" dirty="0"/>
              <a:t>to be </a:t>
            </a:r>
            <a:r>
              <a:rPr lang="en-IN" sz="2800" b="1" dirty="0"/>
              <a:t>an early sign of frontal lobe damage </a:t>
            </a:r>
            <a:r>
              <a:rPr lang="en-IN" sz="2400" dirty="0"/>
              <a:t>(Goldstein &amp; Gelb, 1918).</a:t>
            </a:r>
          </a:p>
          <a:p>
            <a:pPr marL="0" indent="0">
              <a:buNone/>
            </a:pPr>
            <a:endParaRPr lang="en-IN" sz="2800" u="sng" dirty="0"/>
          </a:p>
          <a:p>
            <a:r>
              <a:rPr lang="en-IN" sz="2800" dirty="0"/>
              <a:t>Impaired </a:t>
            </a:r>
            <a:r>
              <a:rPr lang="en-IN" sz="2800" b="1" dirty="0"/>
              <a:t>cognitive flexibility </a:t>
            </a:r>
            <a:r>
              <a:rPr lang="en-IN" sz="2400" dirty="0"/>
              <a:t>(Eslinger &amp; Grattan,1993). </a:t>
            </a:r>
          </a:p>
          <a:p>
            <a:endParaRPr lang="en-IN" sz="2400" dirty="0"/>
          </a:p>
          <a:p>
            <a:r>
              <a:rPr lang="en-IN" sz="2800" dirty="0"/>
              <a:t>Impaired </a:t>
            </a:r>
            <a:r>
              <a:rPr lang="en-IN" sz="2800" b="1" dirty="0"/>
              <a:t>problem-solving ability.</a:t>
            </a:r>
            <a:endParaRPr lang="en-IN" sz="2800" u="sng"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29237510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7FFB0-53CF-E04A-8C1A-290C20709AF7}"/>
              </a:ext>
            </a:extLst>
          </p:cNvPr>
          <p:cNvSpPr>
            <a:spLocks noGrp="1"/>
          </p:cNvSpPr>
          <p:nvPr>
            <p:ph type="title"/>
          </p:nvPr>
        </p:nvSpPr>
        <p:spPr/>
        <p:txBody>
          <a:bodyPr anchor="ctr">
            <a:normAutofit/>
          </a:bodyPr>
          <a:lstStyle/>
          <a:p>
            <a:r>
              <a:rPr lang="en-US" sz="3000" dirty="0"/>
              <a:t>ASSESSMENT of COGNTIVE &amp; EXECUTIVE FUNCTIONS</a:t>
            </a:r>
          </a:p>
        </p:txBody>
      </p:sp>
      <p:sp>
        <p:nvSpPr>
          <p:cNvPr id="3" name="Content Placeholder 2">
            <a:extLst>
              <a:ext uri="{FF2B5EF4-FFF2-40B4-BE49-F238E27FC236}">
                <a16:creationId xmlns:a16="http://schemas.microsoft.com/office/drawing/2014/main" id="{7225FF24-92A6-B945-A685-324E3E9B47EB}"/>
              </a:ext>
            </a:extLst>
          </p:cNvPr>
          <p:cNvSpPr>
            <a:spLocks noGrp="1"/>
          </p:cNvSpPr>
          <p:nvPr>
            <p:ph idx="1"/>
          </p:nvPr>
        </p:nvSpPr>
        <p:spPr>
          <a:xfrm>
            <a:off x="432661" y="1957256"/>
            <a:ext cx="11546237" cy="5370644"/>
          </a:xfrm>
        </p:spPr>
        <p:txBody>
          <a:bodyPr anchor="t">
            <a:normAutofit/>
          </a:bodyPr>
          <a:lstStyle/>
          <a:p>
            <a:pPr marL="0" indent="0">
              <a:buNone/>
            </a:pPr>
            <a:r>
              <a:rPr lang="en-US" sz="2800" u="sng" dirty="0"/>
              <a:t>Attention</a:t>
            </a:r>
          </a:p>
          <a:p>
            <a:r>
              <a:rPr lang="en-US" sz="2800" dirty="0"/>
              <a:t>Digit Span</a:t>
            </a:r>
          </a:p>
          <a:p>
            <a:endParaRPr lang="en-US" sz="2800" dirty="0"/>
          </a:p>
          <a:p>
            <a:r>
              <a:rPr lang="en-US" sz="2800" dirty="0"/>
              <a:t>Continuous Performance Test </a:t>
            </a:r>
          </a:p>
          <a:p>
            <a:pPr lvl="1">
              <a:buFont typeface="Arial" panose="020B0604020202020204" pitchFamily="34" charset="0"/>
              <a:buChar char="•"/>
            </a:pPr>
            <a:r>
              <a:rPr lang="en-US" sz="2600" dirty="0"/>
              <a:t>Assesses sustained attention</a:t>
            </a:r>
          </a:p>
          <a:p>
            <a:pPr lvl="1">
              <a:buFont typeface="Arial" panose="020B0604020202020204" pitchFamily="34" charset="0"/>
              <a:buChar char="•"/>
            </a:pPr>
            <a:endParaRPr lang="en-US" sz="2600" dirty="0"/>
          </a:p>
          <a:p>
            <a:r>
              <a:rPr lang="en-US" sz="2800" dirty="0"/>
              <a:t>Brief Test of Attention</a:t>
            </a:r>
          </a:p>
          <a:p>
            <a:pPr lvl="1">
              <a:buFont typeface="Arial" panose="020B0604020202020204" pitchFamily="34" charset="0"/>
              <a:buChar char="•"/>
            </a:pPr>
            <a:r>
              <a:rPr lang="en-US" sz="2600" dirty="0"/>
              <a:t>Assesses divided auditory attention</a:t>
            </a:r>
          </a:p>
          <a:p>
            <a:pPr marL="0" indent="0">
              <a:buNone/>
            </a:pPr>
            <a:endParaRPr lang="en-US" dirty="0"/>
          </a:p>
        </p:txBody>
      </p:sp>
    </p:spTree>
    <p:extLst>
      <p:ext uri="{BB962C8B-B14F-4D97-AF65-F5344CB8AC3E}">
        <p14:creationId xmlns:p14="http://schemas.microsoft.com/office/powerpoint/2010/main" val="42389683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63471" y="681496"/>
            <a:ext cx="11602464"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800" dirty="0"/>
              <a:t>Test of Everyday Attention</a:t>
            </a:r>
          </a:p>
          <a:p>
            <a:pPr lvl="1">
              <a:buFont typeface="Arial" panose="020B0604020202020204" pitchFamily="34" charset="0"/>
              <a:buChar char="•"/>
            </a:pPr>
            <a:r>
              <a:rPr lang="en-US" sz="2800" dirty="0"/>
              <a:t>Assesses selective, sustained, divided attention and attentional switching.</a:t>
            </a:r>
          </a:p>
          <a:p>
            <a:pPr lvl="1">
              <a:buFont typeface="Arial" panose="020B0604020202020204" pitchFamily="34" charset="0"/>
              <a:buChar char="•"/>
            </a:pPr>
            <a:endParaRPr lang="en-US" sz="2800" dirty="0"/>
          </a:p>
          <a:p>
            <a:r>
              <a:rPr lang="en-US" sz="2800" dirty="0"/>
              <a:t>Trail Making Test</a:t>
            </a:r>
          </a:p>
          <a:p>
            <a:pPr lvl="1">
              <a:buFont typeface="Arial" panose="020B0604020202020204" pitchFamily="34" charset="0"/>
              <a:buChar char="•"/>
            </a:pPr>
            <a:r>
              <a:rPr lang="en-US" sz="2800" dirty="0"/>
              <a:t>Assesses sustained attention, visual scanning and executive functioning.</a:t>
            </a:r>
          </a:p>
          <a:p>
            <a:endParaRPr lang="en-US" sz="2800" u="sng" dirty="0"/>
          </a:p>
          <a:p>
            <a:pPr marL="0" indent="0">
              <a:buNone/>
            </a:pPr>
            <a:endParaRPr lang="en-IN" sz="2800" u="sng" dirty="0"/>
          </a:p>
          <a:p>
            <a:pPr lvl="1"/>
            <a:endParaRPr lang="en-IN" sz="2800" dirty="0"/>
          </a:p>
          <a:p>
            <a:pPr lvl="1"/>
            <a:endParaRPr lang="en-IN" sz="2800" dirty="0"/>
          </a:p>
          <a:p>
            <a:endParaRPr lang="en-IN" sz="2800" dirty="0"/>
          </a:p>
          <a:p>
            <a:pPr marL="0" indent="0">
              <a:buNone/>
            </a:pPr>
            <a:endParaRPr lang="en-IN" sz="2800" u="sng" dirty="0"/>
          </a:p>
          <a:p>
            <a:endParaRPr lang="en-US" sz="2800" dirty="0"/>
          </a:p>
        </p:txBody>
      </p:sp>
    </p:spTree>
    <p:extLst>
      <p:ext uri="{BB962C8B-B14F-4D97-AF65-F5344CB8AC3E}">
        <p14:creationId xmlns:p14="http://schemas.microsoft.com/office/powerpoint/2010/main" val="36026917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63471" y="681496"/>
            <a:ext cx="11602464"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sz="2800" u="sng" dirty="0"/>
              <a:t>Learning and Memory</a:t>
            </a:r>
          </a:p>
          <a:p>
            <a:r>
              <a:rPr lang="en-US" sz="2800" dirty="0"/>
              <a:t>Weschler Memory Scale – Revised</a:t>
            </a:r>
          </a:p>
          <a:p>
            <a:pPr lvl="1">
              <a:buFont typeface="Arial" panose="020B0604020202020204" pitchFamily="34" charset="0"/>
              <a:buChar char="•"/>
            </a:pPr>
            <a:r>
              <a:rPr lang="en-US" sz="2800" dirty="0"/>
              <a:t>Assesses verbal, visual and general memory, delayed recall, attention and concentration.</a:t>
            </a:r>
          </a:p>
          <a:p>
            <a:pPr lvl="1">
              <a:buFont typeface="Arial" panose="020B0604020202020204" pitchFamily="34" charset="0"/>
              <a:buChar char="•"/>
            </a:pPr>
            <a:endParaRPr lang="en-US" sz="2800" dirty="0"/>
          </a:p>
          <a:p>
            <a:r>
              <a:rPr lang="en-US" sz="2700" dirty="0"/>
              <a:t>Benton Visual Retention Test</a:t>
            </a:r>
          </a:p>
          <a:p>
            <a:pPr lvl="1">
              <a:buFont typeface="Arial" panose="020B0604020202020204" pitchFamily="34" charset="0"/>
              <a:buChar char="•"/>
            </a:pPr>
            <a:r>
              <a:rPr lang="en-US" sz="2800" dirty="0"/>
              <a:t>Assesses visual memory.</a:t>
            </a:r>
          </a:p>
          <a:p>
            <a:pPr lvl="1">
              <a:buFont typeface="Arial" panose="020B0604020202020204" pitchFamily="34" charset="0"/>
              <a:buChar char="•"/>
            </a:pPr>
            <a:endParaRPr lang="en-US" sz="2800" dirty="0"/>
          </a:p>
          <a:p>
            <a:r>
              <a:rPr lang="en-US" sz="2700" dirty="0"/>
              <a:t>California Verbal Learning Test</a:t>
            </a:r>
          </a:p>
          <a:p>
            <a:pPr lvl="1">
              <a:buFont typeface="Arial" panose="020B0604020202020204" pitchFamily="34" charset="0"/>
              <a:buChar char="•"/>
            </a:pPr>
            <a:r>
              <a:rPr lang="en-US" sz="2800" dirty="0"/>
              <a:t>Assesses verbal learning and memory.</a:t>
            </a:r>
          </a:p>
          <a:p>
            <a:pPr marL="0" indent="0">
              <a:buNone/>
            </a:pPr>
            <a:endParaRPr lang="en-IN" sz="2800" u="sng"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19786208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63471" y="681496"/>
            <a:ext cx="11602464"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800" dirty="0"/>
              <a:t>Rey Auditory Verbal Learning Test</a:t>
            </a:r>
          </a:p>
          <a:p>
            <a:pPr lvl="1">
              <a:buFont typeface="Arial" panose="020B0604020202020204" pitchFamily="34" charset="0"/>
              <a:buChar char="•"/>
            </a:pPr>
            <a:r>
              <a:rPr lang="en-US" sz="2800" dirty="0"/>
              <a:t>Assesses verbal learning, memory, proactive and retroactive interference and retention.</a:t>
            </a:r>
          </a:p>
          <a:p>
            <a:pPr lvl="1">
              <a:buFont typeface="Arial" panose="020B0604020202020204" pitchFamily="34" charset="0"/>
              <a:buChar char="•"/>
            </a:pPr>
            <a:endParaRPr lang="en-US" sz="2800" dirty="0"/>
          </a:p>
          <a:p>
            <a:r>
              <a:rPr lang="en-US" sz="2800" dirty="0" err="1"/>
              <a:t>Rivermead</a:t>
            </a:r>
            <a:r>
              <a:rPr lang="en-US" sz="2800" dirty="0"/>
              <a:t> Behavioral Memory Test</a:t>
            </a:r>
          </a:p>
          <a:p>
            <a:pPr lvl="1">
              <a:buFont typeface="Arial" panose="020B0604020202020204" pitchFamily="34" charset="0"/>
              <a:buChar char="•"/>
            </a:pPr>
            <a:r>
              <a:rPr lang="en-US" sz="2800" dirty="0"/>
              <a:t>Assesses everyday memory problems, such as, remembering an appointment, a name, a message to deliver, story recall, etc.</a:t>
            </a:r>
          </a:p>
          <a:p>
            <a:pPr marL="0" indent="0">
              <a:buNone/>
            </a:pPr>
            <a:endParaRPr lang="en-IN" sz="2800" u="sng" dirty="0"/>
          </a:p>
          <a:p>
            <a:pPr lvl="1"/>
            <a:endParaRPr lang="en-IN" sz="2800" dirty="0"/>
          </a:p>
          <a:p>
            <a:pPr lvl="1"/>
            <a:endParaRPr lang="en-IN" sz="2800" dirty="0"/>
          </a:p>
          <a:p>
            <a:endParaRPr lang="en-IN" sz="2800" dirty="0"/>
          </a:p>
          <a:p>
            <a:pPr marL="0" indent="0">
              <a:buNone/>
            </a:pPr>
            <a:endParaRPr lang="en-IN" sz="2800" u="sng" dirty="0"/>
          </a:p>
          <a:p>
            <a:endParaRPr lang="en-US" sz="2800" dirty="0"/>
          </a:p>
        </p:txBody>
      </p:sp>
    </p:spTree>
    <p:extLst>
      <p:ext uri="{BB962C8B-B14F-4D97-AF65-F5344CB8AC3E}">
        <p14:creationId xmlns:p14="http://schemas.microsoft.com/office/powerpoint/2010/main" val="30649931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63471" y="681496"/>
            <a:ext cx="11602464"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sz="2800" u="sng" dirty="0"/>
              <a:t>Executive Functioning</a:t>
            </a:r>
          </a:p>
          <a:p>
            <a:r>
              <a:rPr lang="en-US" sz="2800" dirty="0"/>
              <a:t>Controlled Oral Word Association</a:t>
            </a:r>
          </a:p>
          <a:p>
            <a:pPr lvl="1">
              <a:buFont typeface="Arial" panose="020B0604020202020204" pitchFamily="34" charset="0"/>
              <a:buChar char="•"/>
            </a:pPr>
            <a:r>
              <a:rPr lang="en-US" sz="2800" dirty="0"/>
              <a:t>Assesses</a:t>
            </a:r>
            <a:r>
              <a:rPr lang="en-US" sz="2800" b="1" dirty="0"/>
              <a:t> verbal fluency.</a:t>
            </a:r>
          </a:p>
          <a:p>
            <a:pPr lvl="1">
              <a:buFont typeface="Arial" panose="020B0604020202020204" pitchFamily="34" charset="0"/>
              <a:buChar char="•"/>
            </a:pPr>
            <a:r>
              <a:rPr lang="en-US" sz="2800" dirty="0"/>
              <a:t>Frontal lobe patients </a:t>
            </a:r>
            <a:r>
              <a:rPr lang="en-US" sz="2800" b="1" dirty="0"/>
              <a:t>perform poorly, naming significantly fewer words </a:t>
            </a:r>
            <a:r>
              <a:rPr lang="en-US" sz="2800" dirty="0"/>
              <a:t>than do controls and those with brain lesions other than frontal.</a:t>
            </a:r>
          </a:p>
          <a:p>
            <a:pPr lvl="1">
              <a:buFont typeface="Arial" panose="020B0604020202020204" pitchFamily="34" charset="0"/>
              <a:buChar char="•"/>
            </a:pPr>
            <a:endParaRPr lang="en-US" sz="2800" dirty="0"/>
          </a:p>
          <a:p>
            <a:r>
              <a:rPr lang="en-IN" sz="2800" dirty="0" err="1"/>
              <a:t>Gotman</a:t>
            </a:r>
            <a:r>
              <a:rPr lang="en-IN" sz="2800" dirty="0"/>
              <a:t>-Milner Design-Fluency Test</a:t>
            </a:r>
          </a:p>
          <a:p>
            <a:pPr lvl="1">
              <a:buFont typeface="Arial" panose="020B0604020202020204" pitchFamily="34" charset="0"/>
              <a:buChar char="•"/>
            </a:pPr>
            <a:r>
              <a:rPr lang="en-IN" sz="2800" dirty="0"/>
              <a:t>Assesses </a:t>
            </a:r>
            <a:r>
              <a:rPr lang="en-IN" sz="2800" b="1" dirty="0"/>
              <a:t>non-verbal fluency.</a:t>
            </a:r>
          </a:p>
          <a:p>
            <a:pPr lvl="1">
              <a:buFont typeface="Arial" panose="020B0604020202020204" pitchFamily="34" charset="0"/>
              <a:buChar char="•"/>
            </a:pPr>
            <a:r>
              <a:rPr lang="en-IN" sz="2800" dirty="0"/>
              <a:t>Frontal-lobe patients </a:t>
            </a:r>
            <a:r>
              <a:rPr lang="en-IN" sz="2800" b="1" dirty="0"/>
              <a:t>will draw very few items</a:t>
            </a:r>
            <a:r>
              <a:rPr lang="en-IN" sz="2800" dirty="0"/>
              <a:t>, draw nameable objects, </a:t>
            </a:r>
            <a:br>
              <a:rPr lang="en-IN" sz="2800" dirty="0"/>
            </a:br>
            <a:r>
              <a:rPr lang="en-IN" sz="2800" dirty="0"/>
              <a:t>or draw the same figure </a:t>
            </a:r>
            <a:r>
              <a:rPr lang="en-IN" sz="2800" b="1" dirty="0"/>
              <a:t>repeatedly. </a:t>
            </a:r>
          </a:p>
          <a:p>
            <a:endParaRPr lang="en-IN" sz="2800" dirty="0"/>
          </a:p>
          <a:p>
            <a:endParaRPr lang="en-US" sz="2800" dirty="0"/>
          </a:p>
          <a:p>
            <a:endParaRPr lang="en-US" sz="2800" dirty="0"/>
          </a:p>
          <a:p>
            <a:endParaRPr lang="en-US" sz="2800" dirty="0"/>
          </a:p>
          <a:p>
            <a:endParaRPr lang="en-US" sz="2800" u="sng" dirty="0"/>
          </a:p>
          <a:p>
            <a:endParaRPr lang="en-IN" sz="2800" u="sng" dirty="0"/>
          </a:p>
          <a:p>
            <a:pPr lvl="1"/>
            <a:endParaRPr lang="en-IN" sz="2800" dirty="0"/>
          </a:p>
          <a:p>
            <a:pPr lvl="1"/>
            <a:endParaRPr lang="en-IN" sz="2800" dirty="0"/>
          </a:p>
          <a:p>
            <a:endParaRPr lang="en-IN" sz="2800" dirty="0"/>
          </a:p>
          <a:p>
            <a:pPr marL="0" indent="0">
              <a:buNone/>
            </a:pPr>
            <a:endParaRPr lang="en-IN" sz="2800" u="sng" dirty="0"/>
          </a:p>
          <a:p>
            <a:endParaRPr lang="en-US" sz="2800" dirty="0"/>
          </a:p>
        </p:txBody>
      </p:sp>
    </p:spTree>
    <p:extLst>
      <p:ext uri="{BB962C8B-B14F-4D97-AF65-F5344CB8AC3E}">
        <p14:creationId xmlns:p14="http://schemas.microsoft.com/office/powerpoint/2010/main" val="22106970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2234E38-E2B0-6F42-B54E-ABB5D58901EA}"/>
              </a:ext>
            </a:extLst>
          </p:cNvPr>
          <p:cNvSpPr txBox="1">
            <a:spLocks/>
          </p:cNvSpPr>
          <p:nvPr/>
        </p:nvSpPr>
        <p:spPr>
          <a:xfrm>
            <a:off x="466892" y="834296"/>
            <a:ext cx="11455637" cy="5858604"/>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dirty="0"/>
          </a:p>
          <a:p>
            <a:endParaRPr lang="en-IN" dirty="0"/>
          </a:p>
          <a:p>
            <a:endParaRPr lang="en-IN" dirty="0"/>
          </a:p>
          <a:p>
            <a:endParaRPr lang="en-IN" dirty="0"/>
          </a:p>
          <a:p>
            <a:endParaRPr lang="en-US" dirty="0"/>
          </a:p>
        </p:txBody>
      </p:sp>
      <p:sp>
        <p:nvSpPr>
          <p:cNvPr id="5" name="Content Placeholder 2">
            <a:extLst>
              <a:ext uri="{FF2B5EF4-FFF2-40B4-BE49-F238E27FC236}">
                <a16:creationId xmlns:a16="http://schemas.microsoft.com/office/drawing/2014/main" id="{2F144602-3581-784F-9F79-3DA0165935CD}"/>
              </a:ext>
            </a:extLst>
          </p:cNvPr>
          <p:cNvSpPr txBox="1">
            <a:spLocks/>
          </p:cNvSpPr>
          <p:nvPr/>
        </p:nvSpPr>
        <p:spPr>
          <a:xfrm>
            <a:off x="250269" y="692199"/>
            <a:ext cx="1167226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800" dirty="0"/>
              <a:t>Wisconsin Card Sorting Test</a:t>
            </a:r>
          </a:p>
          <a:p>
            <a:pPr lvl="1">
              <a:buFont typeface="Arial" panose="020B0604020202020204" pitchFamily="34" charset="0"/>
              <a:buChar char="•"/>
            </a:pPr>
            <a:r>
              <a:rPr lang="en-US" sz="2800" dirty="0"/>
              <a:t>Assesses </a:t>
            </a:r>
            <a:r>
              <a:rPr lang="en-US" sz="2800" b="1" dirty="0"/>
              <a:t>mental flexibility, response inhibition, set shifting, goal-directed behavior</a:t>
            </a:r>
            <a:r>
              <a:rPr lang="en-US" sz="2800" dirty="0"/>
              <a:t> and </a:t>
            </a:r>
            <a:r>
              <a:rPr lang="en-US" sz="2800" b="1" dirty="0"/>
              <a:t>problem solving </a:t>
            </a:r>
            <a:r>
              <a:rPr lang="en-US" sz="2800" dirty="0"/>
              <a:t>strategy.</a:t>
            </a:r>
          </a:p>
          <a:p>
            <a:pPr lvl="1">
              <a:buFont typeface="Arial" panose="020B0604020202020204" pitchFamily="34" charset="0"/>
              <a:buChar char="•"/>
            </a:pPr>
            <a:r>
              <a:rPr lang="en-IN" sz="2800" dirty="0"/>
              <a:t>Some frontal lobe patients </a:t>
            </a:r>
            <a:r>
              <a:rPr lang="en-IN" sz="2800" b="1" dirty="0"/>
              <a:t>perform poorly </a:t>
            </a:r>
            <a:r>
              <a:rPr lang="en-IN" sz="2800" dirty="0"/>
              <a:t>on this task, making significantly more </a:t>
            </a:r>
            <a:r>
              <a:rPr lang="en-IN" sz="2800" b="1" dirty="0"/>
              <a:t>perseverative errors </a:t>
            </a:r>
            <a:r>
              <a:rPr lang="en-IN" sz="2800" dirty="0"/>
              <a:t>and failing to complete sorts.</a:t>
            </a:r>
          </a:p>
          <a:p>
            <a:pPr marL="0" indent="0">
              <a:buNone/>
            </a:pPr>
            <a:endParaRPr lang="en-US" sz="2800" dirty="0"/>
          </a:p>
          <a:p>
            <a:r>
              <a:rPr lang="en-US" sz="2800" dirty="0"/>
              <a:t>Tower Tests</a:t>
            </a:r>
            <a:endParaRPr lang="en-IN" sz="2800" dirty="0"/>
          </a:p>
          <a:p>
            <a:pPr lvl="1">
              <a:buFont typeface="Arial" panose="020B0604020202020204" pitchFamily="34" charset="0"/>
              <a:buChar char="•"/>
            </a:pPr>
            <a:r>
              <a:rPr lang="en-US" sz="2800" dirty="0"/>
              <a:t>Tower of Hanoi, Tower of London, Tower of Toronto</a:t>
            </a:r>
          </a:p>
          <a:p>
            <a:pPr lvl="1">
              <a:buFont typeface="Arial" panose="020B0604020202020204" pitchFamily="34" charset="0"/>
              <a:buChar char="•"/>
            </a:pPr>
            <a:r>
              <a:rPr lang="en-US" sz="2800" dirty="0"/>
              <a:t>Assesses </a:t>
            </a:r>
            <a:r>
              <a:rPr lang="en-US" sz="2800" b="1" dirty="0"/>
              <a:t>planning and sequencing.</a:t>
            </a:r>
          </a:p>
          <a:p>
            <a:pPr lvl="1">
              <a:buFont typeface="Arial" panose="020B0604020202020204" pitchFamily="34" charset="0"/>
              <a:buChar char="•"/>
            </a:pPr>
            <a:r>
              <a:rPr lang="en-IN" sz="2800" dirty="0"/>
              <a:t>Damage to either the left or the right prefrontal cortex produces </a:t>
            </a:r>
            <a:r>
              <a:rPr lang="en-IN" sz="2800" b="1" dirty="0"/>
              <a:t>impairments on these tasks</a:t>
            </a:r>
            <a:r>
              <a:rPr lang="en-IN" sz="2800" dirty="0"/>
              <a:t>.</a:t>
            </a:r>
          </a:p>
          <a:p>
            <a:pPr lvl="1">
              <a:buFont typeface="Arial" panose="020B0604020202020204" pitchFamily="34" charset="0"/>
              <a:buChar char="•"/>
            </a:pPr>
            <a:endParaRPr lang="en-IN" dirty="0"/>
          </a:p>
          <a:p>
            <a:pPr marL="895500" lvl="1" indent="-571500">
              <a:buAutoNum type="romanUcPeriod" startAt="2"/>
            </a:pPr>
            <a:endParaRPr lang="en-IN" sz="2800" dirty="0"/>
          </a:p>
          <a:p>
            <a:pPr lvl="1">
              <a:buFont typeface="Wingdings" pitchFamily="2" charset="2"/>
              <a:buChar char="§"/>
            </a:pPr>
            <a:endParaRPr lang="en-IN" sz="2600" dirty="0"/>
          </a:p>
          <a:p>
            <a:pPr marL="0" indent="0">
              <a:buNone/>
            </a:pPr>
            <a:endParaRPr lang="en-IN" sz="2800" dirty="0"/>
          </a:p>
          <a:p>
            <a:endParaRPr lang="en-IN" sz="2600" dirty="0"/>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36291936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2234E38-E2B0-6F42-B54E-ABB5D58901EA}"/>
              </a:ext>
            </a:extLst>
          </p:cNvPr>
          <p:cNvSpPr txBox="1">
            <a:spLocks/>
          </p:cNvSpPr>
          <p:nvPr/>
        </p:nvSpPr>
        <p:spPr>
          <a:xfrm>
            <a:off x="466892" y="834296"/>
            <a:ext cx="11455637" cy="5858604"/>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dirty="0"/>
          </a:p>
          <a:p>
            <a:endParaRPr lang="en-IN" dirty="0"/>
          </a:p>
          <a:p>
            <a:endParaRPr lang="en-IN" dirty="0"/>
          </a:p>
          <a:p>
            <a:endParaRPr lang="en-IN" dirty="0"/>
          </a:p>
          <a:p>
            <a:endParaRPr lang="en-US" dirty="0"/>
          </a:p>
        </p:txBody>
      </p:sp>
      <p:sp>
        <p:nvSpPr>
          <p:cNvPr id="5" name="Content Placeholder 2">
            <a:extLst>
              <a:ext uri="{FF2B5EF4-FFF2-40B4-BE49-F238E27FC236}">
                <a16:creationId xmlns:a16="http://schemas.microsoft.com/office/drawing/2014/main" id="{2F144602-3581-784F-9F79-3DA0165935CD}"/>
              </a:ext>
            </a:extLst>
          </p:cNvPr>
          <p:cNvSpPr txBox="1">
            <a:spLocks/>
          </p:cNvSpPr>
          <p:nvPr/>
        </p:nvSpPr>
        <p:spPr>
          <a:xfrm>
            <a:off x="250269" y="692199"/>
            <a:ext cx="1167226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1"/>
            <a:r>
              <a:rPr lang="en-IN" sz="2800" dirty="0" err="1"/>
              <a:t>Porteus</a:t>
            </a:r>
            <a:r>
              <a:rPr lang="en-IN" sz="2800" dirty="0"/>
              <a:t> Maze Test</a:t>
            </a:r>
          </a:p>
          <a:p>
            <a:pPr lvl="2">
              <a:buFont typeface="Arial" panose="020B0604020202020204" pitchFamily="34" charset="0"/>
              <a:buChar char="•"/>
            </a:pPr>
            <a:r>
              <a:rPr lang="en-IN" sz="2800" dirty="0"/>
              <a:t>Measures </a:t>
            </a:r>
            <a:r>
              <a:rPr lang="en-IN" sz="2800" b="1" dirty="0"/>
              <a:t>planning and rule adherence</a:t>
            </a:r>
            <a:r>
              <a:rPr lang="en-IN" sz="2800" dirty="0"/>
              <a:t>.</a:t>
            </a:r>
          </a:p>
          <a:p>
            <a:pPr lvl="2">
              <a:buFont typeface="Arial" panose="020B0604020202020204" pitchFamily="34" charset="0"/>
              <a:buChar char="•"/>
            </a:pPr>
            <a:r>
              <a:rPr lang="en-IN" sz="2800" b="1" dirty="0"/>
              <a:t>Unable to build up a sequence of moves </a:t>
            </a:r>
            <a:r>
              <a:rPr lang="en-IN" sz="2800" dirty="0"/>
              <a:t>that will get them to </a:t>
            </a:r>
            <a:br>
              <a:rPr lang="en-IN" sz="2800" dirty="0"/>
            </a:br>
            <a:r>
              <a:rPr lang="en-IN" sz="2800" dirty="0"/>
              <a:t>the goal. May simply </a:t>
            </a:r>
            <a:r>
              <a:rPr lang="en-IN" sz="2800" b="1" dirty="0"/>
              <a:t>go through the walls of the maze</a:t>
            </a:r>
            <a:r>
              <a:rPr lang="en-IN" sz="2800" dirty="0"/>
              <a:t>, failing to </a:t>
            </a:r>
            <a:br>
              <a:rPr lang="en-IN" sz="2800" dirty="0"/>
            </a:br>
            <a:r>
              <a:rPr lang="en-IN" sz="2800" dirty="0"/>
              <a:t>pay attention to the rules governing performance (</a:t>
            </a:r>
            <a:r>
              <a:rPr lang="en-IN" sz="2800" dirty="0" err="1"/>
              <a:t>Porteus</a:t>
            </a:r>
            <a:r>
              <a:rPr lang="en-IN" sz="2800" dirty="0"/>
              <a:t>, 1965)</a:t>
            </a:r>
          </a:p>
          <a:p>
            <a:pPr lvl="1"/>
            <a:endParaRPr lang="en-IN" sz="2800" dirty="0"/>
          </a:p>
          <a:p>
            <a:pPr lvl="1"/>
            <a:endParaRPr lang="en-IN" sz="2600" dirty="0"/>
          </a:p>
          <a:p>
            <a:pPr marL="324000" lvl="1" indent="0">
              <a:buNone/>
            </a:pPr>
            <a:endParaRPr lang="en-IN" sz="2600" dirty="0"/>
          </a:p>
          <a:p>
            <a:endParaRPr lang="en-US" sz="2800" dirty="0"/>
          </a:p>
          <a:p>
            <a:endParaRPr lang="en-US" sz="2800" dirty="0"/>
          </a:p>
          <a:p>
            <a:endParaRPr lang="en-US" sz="2800" dirty="0"/>
          </a:p>
          <a:p>
            <a:pPr marL="895500" lvl="1" indent="-571500">
              <a:buAutoNum type="romanUcPeriod" startAt="2"/>
            </a:pPr>
            <a:endParaRPr lang="en-IN" sz="2800" dirty="0"/>
          </a:p>
          <a:p>
            <a:pPr lvl="1">
              <a:buFont typeface="Wingdings" pitchFamily="2" charset="2"/>
              <a:buChar char="§"/>
            </a:pPr>
            <a:endParaRPr lang="en-IN" sz="2600" dirty="0"/>
          </a:p>
          <a:p>
            <a:pPr marL="0" indent="0">
              <a:buNone/>
            </a:pPr>
            <a:endParaRPr lang="en-IN" sz="2800" dirty="0"/>
          </a:p>
          <a:p>
            <a:endParaRPr lang="en-IN" sz="2600" dirty="0"/>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38646673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2234E38-E2B0-6F42-B54E-ABB5D58901EA}"/>
              </a:ext>
            </a:extLst>
          </p:cNvPr>
          <p:cNvSpPr txBox="1">
            <a:spLocks/>
          </p:cNvSpPr>
          <p:nvPr/>
        </p:nvSpPr>
        <p:spPr>
          <a:xfrm>
            <a:off x="466892" y="834296"/>
            <a:ext cx="11455637" cy="5858604"/>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dirty="0"/>
          </a:p>
          <a:p>
            <a:endParaRPr lang="en-IN" dirty="0"/>
          </a:p>
          <a:p>
            <a:endParaRPr lang="en-IN" dirty="0"/>
          </a:p>
          <a:p>
            <a:endParaRPr lang="en-IN" dirty="0"/>
          </a:p>
          <a:p>
            <a:endParaRPr lang="en-US" dirty="0"/>
          </a:p>
        </p:txBody>
      </p:sp>
      <p:sp>
        <p:nvSpPr>
          <p:cNvPr id="5" name="Content Placeholder 2">
            <a:extLst>
              <a:ext uri="{FF2B5EF4-FFF2-40B4-BE49-F238E27FC236}">
                <a16:creationId xmlns:a16="http://schemas.microsoft.com/office/drawing/2014/main" id="{2F144602-3581-784F-9F79-3DA0165935CD}"/>
              </a:ext>
            </a:extLst>
          </p:cNvPr>
          <p:cNvSpPr txBox="1">
            <a:spLocks/>
          </p:cNvSpPr>
          <p:nvPr/>
        </p:nvSpPr>
        <p:spPr>
          <a:xfrm>
            <a:off x="250269" y="692199"/>
            <a:ext cx="1167226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Koh’s Block Design Test</a:t>
            </a:r>
          </a:p>
          <a:p>
            <a:pPr lvl="1">
              <a:buFont typeface="Arial" panose="020B0604020202020204" pitchFamily="34" charset="0"/>
              <a:buChar char="•"/>
            </a:pPr>
            <a:r>
              <a:rPr lang="en-IN" sz="2800" dirty="0"/>
              <a:t>Assessed </a:t>
            </a:r>
            <a:r>
              <a:rPr lang="en-IN" sz="2800" b="1" dirty="0"/>
              <a:t>planning and sequencing</a:t>
            </a:r>
            <a:r>
              <a:rPr lang="en-IN" sz="2800" dirty="0"/>
              <a:t>.</a:t>
            </a:r>
          </a:p>
          <a:p>
            <a:pPr lvl="1">
              <a:buFont typeface="Arial" panose="020B0604020202020204" pitchFamily="34" charset="0"/>
              <a:buChar char="•"/>
            </a:pPr>
            <a:r>
              <a:rPr lang="en-IN" sz="2800" dirty="0"/>
              <a:t>Frontal lobe patients </a:t>
            </a:r>
            <a:r>
              <a:rPr lang="en-IN" sz="2800" b="1" dirty="0"/>
              <a:t>may not correct their errors</a:t>
            </a:r>
            <a:r>
              <a:rPr lang="en-IN" sz="2800" dirty="0"/>
              <a:t> or may </a:t>
            </a:r>
            <a:r>
              <a:rPr lang="en-IN" sz="2800" b="1" dirty="0"/>
              <a:t>attend </a:t>
            </a:r>
            <a:br>
              <a:rPr lang="en-IN" sz="2800" b="1" dirty="0"/>
            </a:br>
            <a:r>
              <a:rPr lang="en-IN" sz="2800" b="1" dirty="0"/>
              <a:t>to only a small area of the design</a:t>
            </a:r>
            <a:r>
              <a:rPr lang="en-IN" sz="2800" dirty="0"/>
              <a:t> or </a:t>
            </a:r>
            <a:r>
              <a:rPr lang="en-IN" sz="2800" b="1" dirty="0"/>
              <a:t>may not be able to plan </a:t>
            </a:r>
            <a:r>
              <a:rPr lang="en-IN" sz="2800" dirty="0"/>
              <a:t>such </a:t>
            </a:r>
            <a:br>
              <a:rPr lang="en-IN" sz="2800" dirty="0"/>
            </a:br>
            <a:r>
              <a:rPr lang="en-IN" sz="2800" dirty="0"/>
              <a:t>a reconstruction.</a:t>
            </a:r>
          </a:p>
          <a:p>
            <a:pPr marL="0" indent="0">
              <a:buNone/>
            </a:pPr>
            <a:endParaRPr lang="en-US" sz="2800" dirty="0"/>
          </a:p>
          <a:p>
            <a:r>
              <a:rPr lang="en-US" sz="2800" dirty="0"/>
              <a:t>Stroop Test</a:t>
            </a:r>
          </a:p>
          <a:p>
            <a:pPr lvl="1">
              <a:buFont typeface="Arial" panose="020B0604020202020204" pitchFamily="34" charset="0"/>
              <a:buChar char="•"/>
            </a:pPr>
            <a:r>
              <a:rPr lang="en-IN" sz="2800" dirty="0"/>
              <a:t>Measures freedom from </a:t>
            </a:r>
            <a:r>
              <a:rPr lang="en-IN" sz="2800" b="1" dirty="0"/>
              <a:t>distractibility, selective attention, ability </a:t>
            </a:r>
            <a:br>
              <a:rPr lang="en-IN" sz="2800" b="1" dirty="0"/>
            </a:br>
            <a:r>
              <a:rPr lang="en-IN" sz="2800" b="1" dirty="0"/>
              <a:t>to resolve response conflict</a:t>
            </a:r>
            <a:r>
              <a:rPr lang="en-IN" sz="2800" dirty="0"/>
              <a:t> and </a:t>
            </a:r>
            <a:r>
              <a:rPr lang="en-IN" sz="2800" b="1" dirty="0"/>
              <a:t>response inhibition.</a:t>
            </a:r>
            <a:endParaRPr lang="en-US" sz="2800" b="1" dirty="0"/>
          </a:p>
          <a:p>
            <a:pPr lvl="1">
              <a:buFont typeface="Arial" panose="020B0604020202020204" pitchFamily="34" charset="0"/>
              <a:buChar char="•"/>
            </a:pPr>
            <a:r>
              <a:rPr lang="en-IN" sz="2800" dirty="0"/>
              <a:t>Patients with frontal lobe lesions </a:t>
            </a:r>
            <a:r>
              <a:rPr lang="en-IN" sz="2800" b="1" dirty="0"/>
              <a:t>perform worse </a:t>
            </a:r>
            <a:r>
              <a:rPr lang="en-IN" sz="2800" dirty="0"/>
              <a:t>than those with </a:t>
            </a:r>
            <a:br>
              <a:rPr lang="en-IN" sz="2800" dirty="0"/>
            </a:br>
            <a:r>
              <a:rPr lang="en-IN" sz="2800" dirty="0"/>
              <a:t>posterior lesions </a:t>
            </a:r>
            <a:r>
              <a:rPr lang="en-IN" sz="2400" dirty="0"/>
              <a:t>(</a:t>
            </a:r>
            <a:r>
              <a:rPr lang="en-IN" sz="2400" dirty="0" err="1"/>
              <a:t>Stuss</a:t>
            </a:r>
            <a:r>
              <a:rPr lang="en-IN" sz="2400" dirty="0"/>
              <a:t> et al., 2001).</a:t>
            </a:r>
            <a:endParaRPr lang="en-US" sz="2400" dirty="0"/>
          </a:p>
          <a:p>
            <a:pPr lvl="2">
              <a:buFont typeface="Arial" panose="020B0604020202020204" pitchFamily="34" charset="0"/>
              <a:buChar char="•"/>
            </a:pPr>
            <a:endParaRPr lang="en-IN" sz="2800" dirty="0"/>
          </a:p>
          <a:p>
            <a:pPr marL="324000" lvl="1" indent="0">
              <a:buNone/>
            </a:pPr>
            <a:endParaRPr lang="en-IN" sz="2600" dirty="0"/>
          </a:p>
          <a:p>
            <a:endParaRPr lang="en-US" sz="2800" dirty="0"/>
          </a:p>
          <a:p>
            <a:endParaRPr lang="en-US" sz="2800" dirty="0"/>
          </a:p>
          <a:p>
            <a:endParaRPr lang="en-US" sz="2800" dirty="0"/>
          </a:p>
          <a:p>
            <a:pPr marL="895500" lvl="1" indent="-571500">
              <a:buAutoNum type="romanUcPeriod" startAt="2"/>
            </a:pPr>
            <a:endParaRPr lang="en-IN" sz="2800" dirty="0"/>
          </a:p>
          <a:p>
            <a:pPr lvl="1">
              <a:buFont typeface="Wingdings" pitchFamily="2" charset="2"/>
              <a:buChar char="§"/>
            </a:pPr>
            <a:endParaRPr lang="en-IN" sz="2600" dirty="0"/>
          </a:p>
          <a:p>
            <a:pPr marL="0" indent="0">
              <a:buNone/>
            </a:pPr>
            <a:endParaRPr lang="en-IN" sz="2800" dirty="0"/>
          </a:p>
          <a:p>
            <a:endParaRPr lang="en-IN" sz="2600" dirty="0"/>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214737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2234E38-E2B0-6F42-B54E-ABB5D58901EA}"/>
              </a:ext>
            </a:extLst>
          </p:cNvPr>
          <p:cNvSpPr txBox="1">
            <a:spLocks/>
          </p:cNvSpPr>
          <p:nvPr/>
        </p:nvSpPr>
        <p:spPr>
          <a:xfrm>
            <a:off x="466892" y="834296"/>
            <a:ext cx="11455637" cy="5858604"/>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dirty="0"/>
          </a:p>
          <a:p>
            <a:endParaRPr lang="en-IN" dirty="0"/>
          </a:p>
          <a:p>
            <a:endParaRPr lang="en-IN" dirty="0"/>
          </a:p>
          <a:p>
            <a:endParaRPr lang="en-IN" dirty="0"/>
          </a:p>
          <a:p>
            <a:endParaRPr lang="en-US" dirty="0"/>
          </a:p>
        </p:txBody>
      </p:sp>
      <p:sp>
        <p:nvSpPr>
          <p:cNvPr id="5" name="Content Placeholder 2">
            <a:extLst>
              <a:ext uri="{FF2B5EF4-FFF2-40B4-BE49-F238E27FC236}">
                <a16:creationId xmlns:a16="http://schemas.microsoft.com/office/drawing/2014/main" id="{2F144602-3581-784F-9F79-3DA0165935CD}"/>
              </a:ext>
            </a:extLst>
          </p:cNvPr>
          <p:cNvSpPr txBox="1">
            <a:spLocks/>
          </p:cNvSpPr>
          <p:nvPr/>
        </p:nvSpPr>
        <p:spPr>
          <a:xfrm>
            <a:off x="250269" y="692199"/>
            <a:ext cx="11807412"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800" dirty="0"/>
              <a:t>Six Elements Test and </a:t>
            </a:r>
            <a:r>
              <a:rPr lang="en-IN" sz="2800" dirty="0"/>
              <a:t>Multiple Errands Task </a:t>
            </a:r>
            <a:endParaRPr lang="en-US" sz="2800" dirty="0"/>
          </a:p>
          <a:p>
            <a:pPr lvl="1">
              <a:buFont typeface="Arial" panose="020B0604020202020204" pitchFamily="34" charset="0"/>
              <a:buChar char="•"/>
            </a:pPr>
            <a:r>
              <a:rPr lang="en-US" sz="2800" dirty="0"/>
              <a:t>A “realistic” test of </a:t>
            </a:r>
            <a:r>
              <a:rPr lang="en-US" sz="2800" b="1" dirty="0"/>
              <a:t>frontal lobe function in everyday life</a:t>
            </a:r>
            <a:r>
              <a:rPr lang="en-US" sz="2800" dirty="0"/>
              <a:t>.</a:t>
            </a:r>
          </a:p>
          <a:p>
            <a:pPr lvl="1">
              <a:buFont typeface="Arial" panose="020B0604020202020204" pitchFamily="34" charset="0"/>
              <a:buChar char="•"/>
            </a:pPr>
            <a:r>
              <a:rPr lang="en-US" sz="2800" dirty="0"/>
              <a:t>Tests the ability of the patient to </a:t>
            </a:r>
            <a:r>
              <a:rPr lang="en-US" sz="2800" b="1" dirty="0"/>
              <a:t>plan and undertake sequences of events in real life.</a:t>
            </a:r>
          </a:p>
          <a:p>
            <a:pPr lvl="1">
              <a:buFont typeface="Arial" panose="020B0604020202020204" pitchFamily="34" charset="0"/>
              <a:buChar char="•"/>
            </a:pPr>
            <a:r>
              <a:rPr lang="en-US" sz="2800" dirty="0"/>
              <a:t>Frontal lobe patients show significant impairments of the test – </a:t>
            </a:r>
            <a:r>
              <a:rPr lang="en-IN" sz="2800" b="1" dirty="0"/>
              <a:t>more impulsive</a:t>
            </a:r>
            <a:r>
              <a:rPr lang="en-IN" sz="2800" dirty="0"/>
              <a:t>, beginning their chores immediately </a:t>
            </a:r>
            <a:r>
              <a:rPr lang="en-IN" sz="2800" b="1" dirty="0"/>
              <a:t>without planning </a:t>
            </a:r>
            <a:r>
              <a:rPr lang="en-IN" sz="2800" dirty="0"/>
              <a:t>how </a:t>
            </a:r>
            <a:br>
              <a:rPr lang="en-IN" sz="2800" dirty="0"/>
            </a:br>
            <a:r>
              <a:rPr lang="en-IN" sz="2800" dirty="0"/>
              <a:t>to undertake them. </a:t>
            </a:r>
          </a:p>
          <a:p>
            <a:pPr lvl="1">
              <a:buFont typeface="Arial" panose="020B0604020202020204" pitchFamily="34" charset="0"/>
              <a:buChar char="•"/>
            </a:pPr>
            <a:r>
              <a:rPr lang="en-IN" sz="2800" dirty="0"/>
              <a:t>The sample also </a:t>
            </a:r>
            <a:r>
              <a:rPr lang="en-IN" sz="2800" b="1" dirty="0"/>
              <a:t>appeared to ‘know’ what to do </a:t>
            </a:r>
            <a:r>
              <a:rPr lang="en-IN" sz="2800" dirty="0"/>
              <a:t>– its strategy to complete a task could be verbalized – but it </a:t>
            </a:r>
            <a:r>
              <a:rPr lang="en-IN" sz="2800" b="1" dirty="0"/>
              <a:t>did not carry this strategy through.</a:t>
            </a:r>
          </a:p>
          <a:p>
            <a:endParaRPr lang="en-IN" sz="2800" dirty="0"/>
          </a:p>
          <a:p>
            <a:endParaRPr lang="en-US" sz="2800" dirty="0"/>
          </a:p>
          <a:p>
            <a:pPr marL="895500" lvl="1" indent="-571500">
              <a:buAutoNum type="romanUcPeriod" startAt="2"/>
            </a:pPr>
            <a:endParaRPr lang="en-IN" sz="2800" dirty="0"/>
          </a:p>
          <a:p>
            <a:pPr lvl="1">
              <a:buFont typeface="Wingdings" pitchFamily="2" charset="2"/>
              <a:buChar char="§"/>
            </a:pPr>
            <a:endParaRPr lang="en-IN" sz="2600" dirty="0"/>
          </a:p>
          <a:p>
            <a:pPr marL="0" indent="0">
              <a:buNone/>
            </a:pPr>
            <a:endParaRPr lang="en-IN" sz="2800" dirty="0"/>
          </a:p>
          <a:p>
            <a:endParaRPr lang="en-IN" sz="2600" dirty="0"/>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5180753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2234E38-E2B0-6F42-B54E-ABB5D58901EA}"/>
              </a:ext>
            </a:extLst>
          </p:cNvPr>
          <p:cNvSpPr txBox="1">
            <a:spLocks/>
          </p:cNvSpPr>
          <p:nvPr/>
        </p:nvSpPr>
        <p:spPr>
          <a:xfrm>
            <a:off x="466892" y="834296"/>
            <a:ext cx="11455637" cy="5858604"/>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dirty="0"/>
          </a:p>
          <a:p>
            <a:endParaRPr lang="en-IN" dirty="0"/>
          </a:p>
          <a:p>
            <a:endParaRPr lang="en-IN" dirty="0"/>
          </a:p>
          <a:p>
            <a:endParaRPr lang="en-IN" dirty="0"/>
          </a:p>
          <a:p>
            <a:endParaRPr lang="en-US" dirty="0"/>
          </a:p>
        </p:txBody>
      </p:sp>
      <p:sp>
        <p:nvSpPr>
          <p:cNvPr id="5" name="Content Placeholder 2">
            <a:extLst>
              <a:ext uri="{FF2B5EF4-FFF2-40B4-BE49-F238E27FC236}">
                <a16:creationId xmlns:a16="http://schemas.microsoft.com/office/drawing/2014/main" id="{2F144602-3581-784F-9F79-3DA0165935CD}"/>
              </a:ext>
            </a:extLst>
          </p:cNvPr>
          <p:cNvSpPr txBox="1">
            <a:spLocks/>
          </p:cNvSpPr>
          <p:nvPr/>
        </p:nvSpPr>
        <p:spPr>
          <a:xfrm>
            <a:off x="466892" y="834296"/>
            <a:ext cx="1167226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800" dirty="0"/>
              <a:t>Category Test </a:t>
            </a:r>
            <a:endParaRPr lang="en-US" sz="2800" dirty="0">
              <a:solidFill>
                <a:srgbClr val="FF0000"/>
              </a:solidFill>
            </a:endParaRPr>
          </a:p>
          <a:p>
            <a:pPr lvl="1">
              <a:buFont typeface="Arial" panose="020B0604020202020204" pitchFamily="34" charset="0"/>
              <a:buChar char="•"/>
            </a:pPr>
            <a:r>
              <a:rPr lang="en-IN" sz="2800" dirty="0"/>
              <a:t>Assesses concept formation and abstract reasoning.</a:t>
            </a:r>
          </a:p>
          <a:p>
            <a:pPr lvl="1">
              <a:buFont typeface="Arial" panose="020B0604020202020204" pitchFamily="34" charset="0"/>
              <a:buChar char="•"/>
            </a:pPr>
            <a:endParaRPr lang="en-IN" sz="2800" dirty="0"/>
          </a:p>
          <a:p>
            <a:r>
              <a:rPr lang="en-IN" sz="2800" dirty="0"/>
              <a:t>Proverb Test</a:t>
            </a:r>
          </a:p>
          <a:p>
            <a:pPr lvl="1">
              <a:buFont typeface="Arial" panose="020B0604020202020204" pitchFamily="34" charset="0"/>
              <a:buChar char="•"/>
            </a:pPr>
            <a:r>
              <a:rPr lang="en-IN" sz="2800" dirty="0"/>
              <a:t>Assesses abstract thinking.</a:t>
            </a:r>
          </a:p>
          <a:p>
            <a:pPr lvl="1">
              <a:buFont typeface="Arial" panose="020B0604020202020204" pitchFamily="34" charset="0"/>
              <a:buChar char="•"/>
            </a:pPr>
            <a:endParaRPr lang="en-IN" sz="2800" dirty="0"/>
          </a:p>
          <a:p>
            <a:r>
              <a:rPr lang="en-IN" sz="2800" dirty="0"/>
              <a:t>Other tests:</a:t>
            </a:r>
          </a:p>
          <a:p>
            <a:pPr lvl="1">
              <a:buFont typeface="Arial" panose="020B0604020202020204" pitchFamily="34" charset="0"/>
              <a:buChar char="•"/>
            </a:pPr>
            <a:r>
              <a:rPr lang="en-US" sz="2800" dirty="0"/>
              <a:t>Key Search Test</a:t>
            </a:r>
          </a:p>
          <a:p>
            <a:pPr lvl="1">
              <a:buFont typeface="Arial" panose="020B0604020202020204" pitchFamily="34" charset="0"/>
              <a:buChar char="•"/>
            </a:pPr>
            <a:r>
              <a:rPr lang="en-IN" sz="2800" dirty="0"/>
              <a:t>Cognitive Estimates Test</a:t>
            </a:r>
            <a:endParaRPr lang="en-US" sz="2800" dirty="0"/>
          </a:p>
          <a:p>
            <a:endParaRPr lang="en-US" sz="2400" dirty="0"/>
          </a:p>
          <a:p>
            <a:pPr marL="1165500" lvl="2" indent="-571500">
              <a:buFont typeface="Wingdings" pitchFamily="2" charset="2"/>
              <a:buChar char="§"/>
            </a:pPr>
            <a:endParaRPr lang="en-US" sz="2600" dirty="0"/>
          </a:p>
          <a:p>
            <a:pPr marL="324000" lvl="1" indent="0">
              <a:buNone/>
            </a:pPr>
            <a:endParaRPr lang="en-US" sz="2800" dirty="0"/>
          </a:p>
          <a:p>
            <a:pPr lvl="1">
              <a:buFont typeface="Wingdings" pitchFamily="2" charset="2"/>
              <a:buChar char="§"/>
            </a:pPr>
            <a:endParaRPr lang="en-IN" sz="2600" dirty="0"/>
          </a:p>
          <a:p>
            <a:pPr marL="324000" lvl="1" indent="0">
              <a:buNone/>
            </a:pPr>
            <a:endParaRPr lang="en-US" sz="2400" dirty="0"/>
          </a:p>
          <a:p>
            <a:pPr marL="324000" lvl="1" indent="0">
              <a:buNone/>
            </a:pPr>
            <a:endParaRPr lang="en-IN" sz="2600" dirty="0"/>
          </a:p>
          <a:p>
            <a:pPr marL="0" indent="0">
              <a:buNone/>
            </a:pPr>
            <a:endParaRPr lang="en-IN" sz="2800" dirty="0"/>
          </a:p>
          <a:p>
            <a:endParaRPr lang="en-IN" sz="2600" dirty="0"/>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4572549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C4C60-7C93-904F-B213-193EF1E4C2F0}"/>
              </a:ext>
            </a:extLst>
          </p:cNvPr>
          <p:cNvSpPr>
            <a:spLocks noGrp="1"/>
          </p:cNvSpPr>
          <p:nvPr>
            <p:ph type="title"/>
          </p:nvPr>
        </p:nvSpPr>
        <p:spPr/>
        <p:txBody>
          <a:bodyPr anchor="ctr">
            <a:normAutofit/>
          </a:bodyPr>
          <a:lstStyle/>
          <a:p>
            <a:r>
              <a:rPr lang="en-US" sz="3000" dirty="0"/>
              <a:t>DISTURBANCE IN PERSONALITY AND BEHAVIOR</a:t>
            </a:r>
          </a:p>
        </p:txBody>
      </p:sp>
      <p:sp>
        <p:nvSpPr>
          <p:cNvPr id="5" name="Content Placeholder 4">
            <a:extLst>
              <a:ext uri="{FF2B5EF4-FFF2-40B4-BE49-F238E27FC236}">
                <a16:creationId xmlns:a16="http://schemas.microsoft.com/office/drawing/2014/main" id="{C9F75E06-9F91-7540-8E13-F0660F08E518}"/>
              </a:ext>
            </a:extLst>
          </p:cNvPr>
          <p:cNvSpPr>
            <a:spLocks noGrp="1"/>
          </p:cNvSpPr>
          <p:nvPr>
            <p:ph idx="1"/>
          </p:nvPr>
        </p:nvSpPr>
        <p:spPr>
          <a:xfrm>
            <a:off x="416092" y="1932074"/>
            <a:ext cx="6713128" cy="5142044"/>
          </a:xfrm>
        </p:spPr>
        <p:txBody>
          <a:bodyPr anchor="t">
            <a:normAutofit/>
          </a:bodyPr>
          <a:lstStyle/>
          <a:p>
            <a:r>
              <a:rPr lang="en-IN" sz="2800" b="1" dirty="0"/>
              <a:t>Phineas Gage </a:t>
            </a:r>
            <a:r>
              <a:rPr lang="en-IN" sz="2800" dirty="0"/>
              <a:t>– the </a:t>
            </a:r>
            <a:r>
              <a:rPr lang="en-IN" sz="2800" b="1" dirty="0"/>
              <a:t>first report of behaviour change</a:t>
            </a:r>
            <a:r>
              <a:rPr lang="en-IN" sz="2800" dirty="0"/>
              <a:t> following frontal lobe damage </a:t>
            </a:r>
            <a:r>
              <a:rPr lang="en-IN" sz="2400" dirty="0"/>
              <a:t>(Harlow, 1848, 1868).</a:t>
            </a:r>
          </a:p>
          <a:p>
            <a:r>
              <a:rPr lang="en-IN" sz="2800" dirty="0"/>
              <a:t>In 1848, Gage was a 25-year-old construction foreman for a railroad company in New England.</a:t>
            </a:r>
          </a:p>
          <a:p>
            <a:r>
              <a:rPr lang="en-IN" sz="2800" b="1" dirty="0"/>
              <a:t>Bizarre accident </a:t>
            </a:r>
            <a:r>
              <a:rPr lang="en-IN" sz="2800" dirty="0"/>
              <a:t>– a fine-pointed, </a:t>
            </a:r>
            <a:br>
              <a:rPr lang="en-IN" sz="2800" dirty="0"/>
            </a:br>
            <a:r>
              <a:rPr lang="en-IN" sz="2800" dirty="0"/>
              <a:t>3-cm thick, 109-cm-long tamping iron</a:t>
            </a:r>
            <a:r>
              <a:rPr lang="en-IN" sz="2800" b="1" dirty="0"/>
              <a:t> </a:t>
            </a:r>
            <a:br>
              <a:rPr lang="en-IN" sz="2800" b="1" dirty="0"/>
            </a:br>
            <a:r>
              <a:rPr lang="en-IN" sz="2800" dirty="0"/>
              <a:t>was hurled, rocket-like, through </a:t>
            </a:r>
            <a:r>
              <a:rPr lang="en-IN" sz="2800" b="1" dirty="0"/>
              <a:t>his </a:t>
            </a:r>
            <a:br>
              <a:rPr lang="en-IN" sz="2800" b="1" dirty="0"/>
            </a:br>
            <a:r>
              <a:rPr lang="en-IN" sz="2800" b="1" dirty="0"/>
              <a:t>face, skull, brain</a:t>
            </a:r>
            <a:r>
              <a:rPr lang="en-IN" sz="2800" dirty="0"/>
              <a:t>, and then into the sky.</a:t>
            </a:r>
          </a:p>
          <a:p>
            <a:endParaRPr lang="en-IN" dirty="0"/>
          </a:p>
          <a:p>
            <a:endParaRPr lang="en-IN" sz="2800" dirty="0"/>
          </a:p>
          <a:p>
            <a:endParaRPr lang="en-IN" dirty="0"/>
          </a:p>
          <a:p>
            <a:pPr marL="0" indent="0">
              <a:buNone/>
            </a:pPr>
            <a:endParaRPr lang="en-IN" sz="2800" dirty="0"/>
          </a:p>
          <a:p>
            <a:pPr lvl="1"/>
            <a:endParaRPr lang="en-IN" dirty="0"/>
          </a:p>
          <a:p>
            <a:endParaRPr lang="en-US" dirty="0"/>
          </a:p>
        </p:txBody>
      </p:sp>
      <p:pic>
        <p:nvPicPr>
          <p:cNvPr id="4" name="Picture 3">
            <a:extLst>
              <a:ext uri="{FF2B5EF4-FFF2-40B4-BE49-F238E27FC236}">
                <a16:creationId xmlns:a16="http://schemas.microsoft.com/office/drawing/2014/main" id="{21EF74E1-DE9E-F042-BA6E-42D9EB970FE6}"/>
              </a:ext>
            </a:extLst>
          </p:cNvPr>
          <p:cNvPicPr>
            <a:picLocks noChangeAspect="1"/>
          </p:cNvPicPr>
          <p:nvPr/>
        </p:nvPicPr>
        <p:blipFill>
          <a:blip r:embed="rId3"/>
          <a:stretch>
            <a:fillRect/>
          </a:stretch>
        </p:blipFill>
        <p:spPr>
          <a:xfrm>
            <a:off x="7647915" y="1824015"/>
            <a:ext cx="3962893" cy="4707193"/>
          </a:xfrm>
          <a:prstGeom prst="rect">
            <a:avLst/>
          </a:prstGeom>
        </p:spPr>
      </p:pic>
      <p:sp>
        <p:nvSpPr>
          <p:cNvPr id="6" name="Content Placeholder 2">
            <a:extLst>
              <a:ext uri="{FF2B5EF4-FFF2-40B4-BE49-F238E27FC236}">
                <a16:creationId xmlns:a16="http://schemas.microsoft.com/office/drawing/2014/main" id="{975F1A7D-F79C-FC4F-9EAD-26D1103E43DA}"/>
              </a:ext>
            </a:extLst>
          </p:cNvPr>
          <p:cNvSpPr txBox="1">
            <a:spLocks/>
          </p:cNvSpPr>
          <p:nvPr/>
        </p:nvSpPr>
        <p:spPr>
          <a:xfrm>
            <a:off x="6772759" y="6639267"/>
            <a:ext cx="6063483" cy="1642854"/>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dirty="0"/>
          </a:p>
          <a:p>
            <a:endParaRPr lang="en-IN" dirty="0"/>
          </a:p>
          <a:p>
            <a:endParaRPr lang="en-US" dirty="0"/>
          </a:p>
        </p:txBody>
      </p:sp>
    </p:spTree>
    <p:extLst>
      <p:ext uri="{BB962C8B-B14F-4D97-AF65-F5344CB8AC3E}">
        <p14:creationId xmlns:p14="http://schemas.microsoft.com/office/powerpoint/2010/main" val="30331004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575734" y="774485"/>
            <a:ext cx="11035074"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Gage was </a:t>
            </a:r>
            <a:r>
              <a:rPr lang="en-IN" sz="2800" b="1" dirty="0"/>
              <a:t>momentarily stunned </a:t>
            </a:r>
            <a:r>
              <a:rPr lang="en-IN" sz="2800" dirty="0"/>
              <a:t>but </a:t>
            </a:r>
            <a:r>
              <a:rPr lang="en-IN" sz="2800" b="1" dirty="0"/>
              <a:t>regained full consciousness immediately</a:t>
            </a:r>
            <a:r>
              <a:rPr lang="en-IN" sz="2800" dirty="0"/>
              <a:t> thereafter;  was</a:t>
            </a:r>
            <a:r>
              <a:rPr lang="en-IN" sz="2800" b="1" dirty="0"/>
              <a:t> able to talk and even walk </a:t>
            </a:r>
            <a:r>
              <a:rPr lang="en-IN" sz="2800" dirty="0"/>
              <a:t>with the help of his men.</a:t>
            </a:r>
          </a:p>
          <a:p>
            <a:r>
              <a:rPr lang="en-IN" sz="2800" dirty="0"/>
              <a:t>Good </a:t>
            </a:r>
            <a:r>
              <a:rPr lang="en-IN" sz="2800" b="1" dirty="0"/>
              <a:t>physical recovery </a:t>
            </a:r>
            <a:r>
              <a:rPr lang="en-IN" sz="2800" dirty="0"/>
              <a:t>and many </a:t>
            </a:r>
            <a:r>
              <a:rPr lang="en-IN" sz="2800" b="1" dirty="0"/>
              <a:t>cognitive abilities remained intact</a:t>
            </a:r>
            <a:r>
              <a:rPr lang="en-IN" sz="2800" dirty="0"/>
              <a:t>.</a:t>
            </a:r>
          </a:p>
          <a:p>
            <a:r>
              <a:rPr lang="en-IN" sz="2800" dirty="0"/>
              <a:t>However, gradually his </a:t>
            </a:r>
            <a:r>
              <a:rPr lang="en-IN" sz="2800" b="1" dirty="0"/>
              <a:t>personality appeared to change</a:t>
            </a:r>
            <a:r>
              <a:rPr lang="en-IN" sz="2800" dirty="0"/>
              <a:t>.</a:t>
            </a:r>
          </a:p>
          <a:p>
            <a:r>
              <a:rPr lang="en-IN" sz="2800" dirty="0"/>
              <a:t>He became “profane, irreverent, capricious, lost all sense of responsibility, lost his job and thought nothing of contravening social niceties. His acquaintances remarked that he was</a:t>
            </a:r>
            <a:r>
              <a:rPr lang="en-IN" sz="2800" b="1" dirty="0"/>
              <a:t> ‘no longer Gage’</a:t>
            </a:r>
            <a:r>
              <a:rPr lang="en-IN" sz="2800" dirty="0"/>
              <a:t>”</a:t>
            </a:r>
            <a:r>
              <a:rPr lang="en-IN" sz="2800" b="1" dirty="0"/>
              <a:t>. </a:t>
            </a:r>
          </a:p>
          <a:p>
            <a:r>
              <a:rPr lang="en-IN" sz="2800" dirty="0"/>
              <a:t>As Harlow (1868) observed, ‘the equilibrium between his intellectual faculty and animal propensities had disappeared’.</a:t>
            </a:r>
          </a:p>
          <a:p>
            <a:endParaRPr lang="en-IN" dirty="0"/>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17525229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356461" y="805482"/>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Drastic personality change, as in the case of Phineas Gage, generally </a:t>
            </a:r>
            <a:br>
              <a:rPr lang="en-IN" sz="2800" dirty="0"/>
            </a:br>
            <a:r>
              <a:rPr lang="en-IN" sz="2800" dirty="0"/>
              <a:t>follows only </a:t>
            </a:r>
            <a:r>
              <a:rPr lang="en-IN" sz="2800" b="1" dirty="0"/>
              <a:t>large and usually bilateral frontal injuries</a:t>
            </a:r>
            <a:r>
              <a:rPr lang="en-IN" sz="2800" dirty="0"/>
              <a:t>. </a:t>
            </a:r>
          </a:p>
          <a:p>
            <a:endParaRPr lang="en-IN" sz="2800" dirty="0"/>
          </a:p>
          <a:p>
            <a:r>
              <a:rPr lang="en-IN" sz="2800" dirty="0"/>
              <a:t>A number of studies of frontal cortex damage suggest that damage to various parts of the cortex </a:t>
            </a:r>
            <a:r>
              <a:rPr lang="en-IN" sz="2800" b="1" dirty="0"/>
              <a:t>produce significant disturbances in personality </a:t>
            </a:r>
            <a:r>
              <a:rPr lang="en-IN" sz="2400" dirty="0"/>
              <a:t>(</a:t>
            </a:r>
            <a:r>
              <a:rPr lang="en-IN" sz="2400" dirty="0" err="1"/>
              <a:t>Stuss</a:t>
            </a:r>
            <a:r>
              <a:rPr lang="en-IN" sz="2400" dirty="0"/>
              <a:t> &amp; Benson, 1986). </a:t>
            </a:r>
          </a:p>
          <a:p>
            <a:endParaRPr lang="en-IN" sz="2800" dirty="0"/>
          </a:p>
          <a:p>
            <a:r>
              <a:rPr lang="en-IN" sz="2800" dirty="0" err="1"/>
              <a:t>Brazzelli</a:t>
            </a:r>
            <a:r>
              <a:rPr lang="en-IN" sz="2800" dirty="0"/>
              <a:t> et al. (1994) suggest that ‘one of the possible consequences </a:t>
            </a:r>
            <a:br>
              <a:rPr lang="en-IN" sz="2800" dirty="0"/>
            </a:br>
            <a:r>
              <a:rPr lang="en-IN" sz="2800" dirty="0"/>
              <a:t>of severe “frontal” derangement is </a:t>
            </a:r>
            <a:r>
              <a:rPr lang="en-IN" sz="2800" b="1" dirty="0"/>
              <a:t>social inadequacy</a:t>
            </a:r>
            <a:r>
              <a:rPr lang="en-IN" sz="2800" dirty="0"/>
              <a:t>’.</a:t>
            </a:r>
          </a:p>
          <a:p>
            <a:endParaRPr lang="en-IN" sz="2800" dirty="0"/>
          </a:p>
          <a:p>
            <a:endParaRPr lang="en-IN" sz="2800" dirty="0"/>
          </a:p>
          <a:p>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825720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387458" y="820982"/>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sz="2800" u="sng" dirty="0"/>
              <a:t>Autonoetic Awareness</a:t>
            </a:r>
          </a:p>
          <a:p>
            <a:r>
              <a:rPr lang="en-IN" sz="2800" dirty="0"/>
              <a:t>Refers to </a:t>
            </a:r>
            <a:r>
              <a:rPr lang="en-IN" sz="2800" b="1" dirty="0"/>
              <a:t>autobiographical knowledge</a:t>
            </a:r>
            <a:r>
              <a:rPr lang="en-IN" sz="2800" dirty="0"/>
              <a:t>.</a:t>
            </a:r>
          </a:p>
          <a:p>
            <a:r>
              <a:rPr lang="en-IN" sz="2800" dirty="0"/>
              <a:t>According to </a:t>
            </a:r>
            <a:r>
              <a:rPr lang="en-IN" sz="2800" b="1" dirty="0"/>
              <a:t>Tulving</a:t>
            </a:r>
            <a:r>
              <a:rPr lang="en-IN" sz="2800" dirty="0"/>
              <a:t>, autonoetic awareness makes it possible to </a:t>
            </a:r>
            <a:br>
              <a:rPr lang="en-IN" sz="2800" dirty="0"/>
            </a:br>
            <a:r>
              <a:rPr lang="en-IN" sz="2800" b="1" dirty="0"/>
              <a:t>bind together the awareness of oneself as a continuous entity </a:t>
            </a:r>
            <a:r>
              <a:rPr lang="en-IN" sz="2800" dirty="0"/>
              <a:t>through time. </a:t>
            </a:r>
          </a:p>
          <a:p>
            <a:r>
              <a:rPr lang="en-IN" sz="2800" dirty="0"/>
              <a:t>Patients with </a:t>
            </a:r>
            <a:r>
              <a:rPr lang="en-IN" sz="2800" b="1" dirty="0"/>
              <a:t>orbital frontal injury </a:t>
            </a:r>
            <a:r>
              <a:rPr lang="en-IN" sz="2800" dirty="0"/>
              <a:t>often </a:t>
            </a:r>
            <a:r>
              <a:rPr lang="en-IN" sz="2800" b="1" dirty="0"/>
              <a:t>lose this self-knowledge </a:t>
            </a:r>
            <a:br>
              <a:rPr lang="en-IN" sz="2800" b="1" dirty="0"/>
            </a:br>
            <a:r>
              <a:rPr lang="en-IN" sz="2800" dirty="0"/>
              <a:t>and have </a:t>
            </a:r>
            <a:r>
              <a:rPr lang="en-IN" sz="2800" b="1" dirty="0"/>
              <a:t>difficulty in daily living</a:t>
            </a:r>
            <a:r>
              <a:rPr lang="en-IN" sz="2800" dirty="0"/>
              <a:t>.</a:t>
            </a:r>
          </a:p>
          <a:p>
            <a:r>
              <a:rPr lang="en-IN" sz="2800" dirty="0"/>
              <a:t>Impairment in autonoetic awareness results in a </a:t>
            </a:r>
            <a:r>
              <a:rPr lang="en-IN" sz="2800" b="1" dirty="0"/>
              <a:t>deficit in the self-regulation of behaviour</a:t>
            </a:r>
            <a:r>
              <a:rPr lang="en-IN" sz="2800" dirty="0"/>
              <a:t>.</a:t>
            </a:r>
          </a:p>
          <a:p>
            <a:pPr lvl="1"/>
            <a:endParaRPr lang="en-IN" sz="2800" dirty="0"/>
          </a:p>
          <a:p>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37453863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63471" y="681496"/>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
        <p:nvSpPr>
          <p:cNvPr id="3" name="TextBox 2">
            <a:extLst>
              <a:ext uri="{FF2B5EF4-FFF2-40B4-BE49-F238E27FC236}">
                <a16:creationId xmlns:a16="http://schemas.microsoft.com/office/drawing/2014/main" id="{0C54AD5D-6A57-7249-A52A-368D5C33666E}"/>
              </a:ext>
            </a:extLst>
          </p:cNvPr>
          <p:cNvSpPr txBox="1"/>
          <p:nvPr/>
        </p:nvSpPr>
        <p:spPr>
          <a:xfrm>
            <a:off x="7222210" y="1239864"/>
            <a:ext cx="184731" cy="369332"/>
          </a:xfrm>
          <a:prstGeom prst="rect">
            <a:avLst/>
          </a:prstGeom>
          <a:noFill/>
        </p:spPr>
        <p:txBody>
          <a:bodyPr wrap="none" rtlCol="0">
            <a:spAutoFit/>
          </a:bodyPr>
          <a:lstStyle/>
          <a:p>
            <a:endParaRPr lang="en-US"/>
          </a:p>
        </p:txBody>
      </p:sp>
      <p:sp>
        <p:nvSpPr>
          <p:cNvPr id="6" name="Content Placeholder 4">
            <a:extLst>
              <a:ext uri="{FF2B5EF4-FFF2-40B4-BE49-F238E27FC236}">
                <a16:creationId xmlns:a16="http://schemas.microsoft.com/office/drawing/2014/main" id="{E02E7EDF-842C-634E-A030-9BA608BAA7E9}"/>
              </a:ext>
            </a:extLst>
          </p:cNvPr>
          <p:cNvSpPr txBox="1">
            <a:spLocks/>
          </p:cNvSpPr>
          <p:nvPr/>
        </p:nvSpPr>
        <p:spPr>
          <a:xfrm>
            <a:off x="263471" y="867905"/>
            <a:ext cx="11661829" cy="6206213"/>
          </a:xfrm>
          <a:prstGeom prst="rect">
            <a:avLst/>
          </a:prstGeom>
        </p:spPr>
        <p:txBody>
          <a:bodyPr anchor="t">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The case of M. L., a salesman whose orbital frontal injury resulted from </a:t>
            </a:r>
            <a:br>
              <a:rPr lang="en-IN" sz="2800" dirty="0"/>
            </a:br>
            <a:r>
              <a:rPr lang="en-IN" sz="2800" dirty="0"/>
              <a:t>a closed-head injury:</a:t>
            </a:r>
          </a:p>
          <a:p>
            <a:pPr marL="324000" lvl="1" indent="0">
              <a:buNone/>
            </a:pPr>
            <a:r>
              <a:rPr lang="en-IN" sz="2800" dirty="0"/>
              <a:t>M. L. noted that maintaining a close relation with his wife of 10 years was very difficult. </a:t>
            </a:r>
            <a:r>
              <a:rPr lang="en-IN" sz="2800" b="1" i="1" dirty="0"/>
              <a:t>“I have a hard time relating to my wife. I don’t know why </a:t>
            </a:r>
            <a:br>
              <a:rPr lang="en-IN" sz="2800" b="1" i="1" dirty="0"/>
            </a:br>
            <a:r>
              <a:rPr lang="en-IN" sz="2800" b="1" i="1" dirty="0"/>
              <a:t>I married this person. . . . I told myself I must have been happy, and </a:t>
            </a:r>
            <a:br>
              <a:rPr lang="en-IN" sz="2800" b="1" i="1" dirty="0"/>
            </a:br>
            <a:r>
              <a:rPr lang="en-IN" sz="2800" b="1" i="1" dirty="0"/>
              <a:t>they said I was.”</a:t>
            </a:r>
          </a:p>
          <a:p>
            <a:endParaRPr lang="en-IN" dirty="0"/>
          </a:p>
          <a:p>
            <a:endParaRPr lang="en-IN" dirty="0"/>
          </a:p>
          <a:p>
            <a:endParaRPr lang="en-IN" dirty="0"/>
          </a:p>
          <a:p>
            <a:endParaRPr lang="en-IN" sz="2800" dirty="0"/>
          </a:p>
          <a:p>
            <a:endParaRPr lang="en-IN" dirty="0"/>
          </a:p>
          <a:p>
            <a:pPr marL="0" indent="0">
              <a:buFont typeface="Wingdings 2" panose="05020102010507070707" pitchFamily="18" charset="2"/>
              <a:buNone/>
            </a:pPr>
            <a:endParaRPr lang="en-IN" sz="2800" dirty="0"/>
          </a:p>
          <a:p>
            <a:pPr lvl="1"/>
            <a:endParaRPr lang="en-IN" dirty="0"/>
          </a:p>
          <a:p>
            <a:endParaRPr lang="en-US" dirty="0"/>
          </a:p>
        </p:txBody>
      </p:sp>
    </p:spTree>
    <p:extLst>
      <p:ext uri="{BB962C8B-B14F-4D97-AF65-F5344CB8AC3E}">
        <p14:creationId xmlns:p14="http://schemas.microsoft.com/office/powerpoint/2010/main" val="13595953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63471" y="681496"/>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
        <p:nvSpPr>
          <p:cNvPr id="3" name="TextBox 2">
            <a:extLst>
              <a:ext uri="{FF2B5EF4-FFF2-40B4-BE49-F238E27FC236}">
                <a16:creationId xmlns:a16="http://schemas.microsoft.com/office/drawing/2014/main" id="{0C54AD5D-6A57-7249-A52A-368D5C33666E}"/>
              </a:ext>
            </a:extLst>
          </p:cNvPr>
          <p:cNvSpPr txBox="1"/>
          <p:nvPr/>
        </p:nvSpPr>
        <p:spPr>
          <a:xfrm>
            <a:off x="7222210" y="1239864"/>
            <a:ext cx="184731" cy="369332"/>
          </a:xfrm>
          <a:prstGeom prst="rect">
            <a:avLst/>
          </a:prstGeom>
          <a:noFill/>
        </p:spPr>
        <p:txBody>
          <a:bodyPr wrap="none" rtlCol="0">
            <a:spAutoFit/>
          </a:bodyPr>
          <a:lstStyle/>
          <a:p>
            <a:endParaRPr lang="en-US"/>
          </a:p>
        </p:txBody>
      </p:sp>
      <p:sp>
        <p:nvSpPr>
          <p:cNvPr id="6" name="Content Placeholder 4">
            <a:extLst>
              <a:ext uri="{FF2B5EF4-FFF2-40B4-BE49-F238E27FC236}">
                <a16:creationId xmlns:a16="http://schemas.microsoft.com/office/drawing/2014/main" id="{E02E7EDF-842C-634E-A030-9BA608BAA7E9}"/>
              </a:ext>
            </a:extLst>
          </p:cNvPr>
          <p:cNvSpPr txBox="1">
            <a:spLocks/>
          </p:cNvSpPr>
          <p:nvPr/>
        </p:nvSpPr>
        <p:spPr>
          <a:xfrm>
            <a:off x="530171" y="770249"/>
            <a:ext cx="11661829" cy="6206213"/>
          </a:xfrm>
          <a:prstGeom prst="rect">
            <a:avLst/>
          </a:prstGeom>
        </p:spPr>
        <p:txBody>
          <a:bodyPr anchor="t">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sz="2800" u="sng" dirty="0"/>
              <a:t>Emotional regulation and expression</a:t>
            </a:r>
          </a:p>
          <a:p>
            <a:r>
              <a:rPr lang="en-IN" sz="2800" dirty="0"/>
              <a:t>Ventromedial prefrontal cortex implicated. </a:t>
            </a:r>
          </a:p>
          <a:p>
            <a:r>
              <a:rPr lang="en-IN" sz="2800" dirty="0"/>
              <a:t>Difficulty understanding the emotional consequences of behaviour</a:t>
            </a:r>
            <a:br>
              <a:rPr lang="en-IN" sz="2800" dirty="0"/>
            </a:br>
            <a:r>
              <a:rPr lang="en-IN" sz="2800" dirty="0"/>
              <a:t> </a:t>
            </a:r>
            <a:r>
              <a:rPr lang="en-IN" sz="2400" dirty="0"/>
              <a:t>(</a:t>
            </a:r>
            <a:r>
              <a:rPr lang="en-IN" sz="2400" dirty="0" err="1"/>
              <a:t>Stuss</a:t>
            </a:r>
            <a:r>
              <a:rPr lang="en-IN" sz="2400" dirty="0"/>
              <a:t> &amp; Alexander, 2009).</a:t>
            </a:r>
          </a:p>
          <a:p>
            <a:r>
              <a:rPr lang="en-IN" sz="2800" dirty="0"/>
              <a:t>Lability of mood and affect</a:t>
            </a:r>
          </a:p>
          <a:p>
            <a:r>
              <a:rPr lang="en-IN" sz="2800" dirty="0"/>
              <a:t>Exhilaration</a:t>
            </a:r>
          </a:p>
          <a:p>
            <a:r>
              <a:rPr lang="en-IN" sz="2800" dirty="0"/>
              <a:t>Depression </a:t>
            </a:r>
          </a:p>
          <a:p>
            <a:r>
              <a:rPr lang="en-IN" sz="2800" dirty="0"/>
              <a:t>Anxiety</a:t>
            </a:r>
          </a:p>
          <a:p>
            <a:r>
              <a:rPr lang="en-IN" sz="2800" dirty="0"/>
              <a:t>Irritability</a:t>
            </a:r>
          </a:p>
          <a:p>
            <a:endParaRPr lang="en-IN" dirty="0"/>
          </a:p>
          <a:p>
            <a:endParaRPr lang="en-IN" dirty="0"/>
          </a:p>
          <a:p>
            <a:endParaRPr lang="en-IN" dirty="0"/>
          </a:p>
          <a:p>
            <a:endParaRPr lang="en-IN" dirty="0"/>
          </a:p>
          <a:p>
            <a:endParaRPr lang="en-IN" sz="2800" dirty="0"/>
          </a:p>
          <a:p>
            <a:endParaRPr lang="en-IN" dirty="0"/>
          </a:p>
          <a:p>
            <a:pPr marL="0" indent="0">
              <a:buFont typeface="Wingdings 2" panose="05020102010507070707" pitchFamily="18" charset="2"/>
              <a:buNone/>
            </a:pPr>
            <a:endParaRPr lang="en-IN" sz="2800" dirty="0"/>
          </a:p>
          <a:p>
            <a:pPr lvl="1"/>
            <a:endParaRPr lang="en-IN" dirty="0"/>
          </a:p>
          <a:p>
            <a:endParaRPr lang="en-US" dirty="0"/>
          </a:p>
        </p:txBody>
      </p:sp>
    </p:spTree>
    <p:extLst>
      <p:ext uri="{BB962C8B-B14F-4D97-AF65-F5344CB8AC3E}">
        <p14:creationId xmlns:p14="http://schemas.microsoft.com/office/powerpoint/2010/main" val="42068425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63471" y="681496"/>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
        <p:nvSpPr>
          <p:cNvPr id="3" name="TextBox 2">
            <a:extLst>
              <a:ext uri="{FF2B5EF4-FFF2-40B4-BE49-F238E27FC236}">
                <a16:creationId xmlns:a16="http://schemas.microsoft.com/office/drawing/2014/main" id="{0C54AD5D-6A57-7249-A52A-368D5C33666E}"/>
              </a:ext>
            </a:extLst>
          </p:cNvPr>
          <p:cNvSpPr txBox="1"/>
          <p:nvPr/>
        </p:nvSpPr>
        <p:spPr>
          <a:xfrm>
            <a:off x="7222210" y="1239864"/>
            <a:ext cx="184731" cy="369332"/>
          </a:xfrm>
          <a:prstGeom prst="rect">
            <a:avLst/>
          </a:prstGeom>
          <a:noFill/>
        </p:spPr>
        <p:txBody>
          <a:bodyPr wrap="none" rtlCol="0">
            <a:spAutoFit/>
          </a:bodyPr>
          <a:lstStyle/>
          <a:p>
            <a:endParaRPr lang="en-US"/>
          </a:p>
        </p:txBody>
      </p:sp>
      <p:sp>
        <p:nvSpPr>
          <p:cNvPr id="6" name="Content Placeholder 4">
            <a:extLst>
              <a:ext uri="{FF2B5EF4-FFF2-40B4-BE49-F238E27FC236}">
                <a16:creationId xmlns:a16="http://schemas.microsoft.com/office/drawing/2014/main" id="{E02E7EDF-842C-634E-A030-9BA608BAA7E9}"/>
              </a:ext>
            </a:extLst>
          </p:cNvPr>
          <p:cNvSpPr txBox="1">
            <a:spLocks/>
          </p:cNvSpPr>
          <p:nvPr/>
        </p:nvSpPr>
        <p:spPr>
          <a:xfrm>
            <a:off x="530172" y="770249"/>
            <a:ext cx="5514168" cy="6206213"/>
          </a:xfrm>
          <a:prstGeom prst="rect">
            <a:avLst/>
          </a:prstGeom>
        </p:spPr>
        <p:txBody>
          <a:bodyPr anchor="t">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sz="2800" u="sng" dirty="0"/>
              <a:t>Self-regulation and impulse control</a:t>
            </a:r>
            <a:endParaRPr lang="en-IN" sz="2800" dirty="0"/>
          </a:p>
          <a:p>
            <a:r>
              <a:rPr lang="en-IN" sz="2800" b="1" dirty="0"/>
              <a:t>Orbitofrontal cortex</a:t>
            </a:r>
          </a:p>
          <a:p>
            <a:r>
              <a:rPr lang="en-IN" sz="2800" dirty="0"/>
              <a:t>Restlessness</a:t>
            </a:r>
          </a:p>
          <a:p>
            <a:r>
              <a:rPr lang="en-IN" sz="2800" dirty="0"/>
              <a:t>Impulsivity</a:t>
            </a:r>
          </a:p>
          <a:p>
            <a:r>
              <a:rPr lang="en-IN" sz="2800" dirty="0"/>
              <a:t>Disinhibition/lack of restraint</a:t>
            </a:r>
          </a:p>
          <a:p>
            <a:r>
              <a:rPr lang="en-IN" sz="2800" dirty="0"/>
              <a:t>Lack of judgement</a:t>
            </a:r>
          </a:p>
          <a:p>
            <a:r>
              <a:rPr lang="en-IN" sz="2800" dirty="0"/>
              <a:t>Risk-taking and rule-breaking</a:t>
            </a:r>
          </a:p>
          <a:p>
            <a:endParaRPr lang="en-IN" sz="2800" dirty="0"/>
          </a:p>
          <a:p>
            <a:endParaRPr lang="en-IN" sz="2800" dirty="0"/>
          </a:p>
          <a:p>
            <a:endParaRPr lang="en-IN" sz="2800" dirty="0"/>
          </a:p>
          <a:p>
            <a:endParaRPr lang="en-IN" sz="2800" dirty="0"/>
          </a:p>
          <a:p>
            <a:endParaRPr lang="en-IN" dirty="0"/>
          </a:p>
          <a:p>
            <a:endParaRPr lang="en-IN" dirty="0"/>
          </a:p>
          <a:p>
            <a:endParaRPr lang="en-IN" dirty="0"/>
          </a:p>
          <a:p>
            <a:endParaRPr lang="en-IN" dirty="0"/>
          </a:p>
          <a:p>
            <a:endParaRPr lang="en-IN" sz="2800" dirty="0"/>
          </a:p>
          <a:p>
            <a:endParaRPr lang="en-IN" dirty="0"/>
          </a:p>
          <a:p>
            <a:pPr marL="0" indent="0">
              <a:buFont typeface="Wingdings 2" panose="05020102010507070707" pitchFamily="18" charset="2"/>
              <a:buNone/>
            </a:pPr>
            <a:endParaRPr lang="en-IN" sz="2800" dirty="0"/>
          </a:p>
          <a:p>
            <a:pPr lvl="1"/>
            <a:endParaRPr lang="en-IN" dirty="0"/>
          </a:p>
          <a:p>
            <a:endParaRPr lang="en-US" dirty="0"/>
          </a:p>
        </p:txBody>
      </p:sp>
      <p:sp>
        <p:nvSpPr>
          <p:cNvPr id="5" name="Content Placeholder 2">
            <a:extLst>
              <a:ext uri="{FF2B5EF4-FFF2-40B4-BE49-F238E27FC236}">
                <a16:creationId xmlns:a16="http://schemas.microsoft.com/office/drawing/2014/main" id="{34CB3F28-D03B-1841-80E2-EB613DF2F3E1}"/>
              </a:ext>
            </a:extLst>
          </p:cNvPr>
          <p:cNvSpPr txBox="1">
            <a:spLocks/>
          </p:cNvSpPr>
          <p:nvPr/>
        </p:nvSpPr>
        <p:spPr>
          <a:xfrm>
            <a:off x="6555783" y="1270860"/>
            <a:ext cx="6292314" cy="7036231"/>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b="1" dirty="0"/>
              <a:t>Dorsolateral cortex</a:t>
            </a:r>
          </a:p>
          <a:p>
            <a:r>
              <a:rPr lang="en-IN" sz="2800" dirty="0"/>
              <a:t>Pseudo-depression</a:t>
            </a:r>
          </a:p>
          <a:p>
            <a:r>
              <a:rPr lang="en-IN" sz="2800" dirty="0"/>
              <a:t>Apathy and indifference</a:t>
            </a:r>
          </a:p>
          <a:p>
            <a:r>
              <a:rPr lang="en-IN" sz="2800" dirty="0"/>
              <a:t>Inertia</a:t>
            </a:r>
          </a:p>
          <a:p>
            <a:r>
              <a:rPr lang="en-IN" sz="2800" dirty="0"/>
              <a:t>Decreased self-concern</a:t>
            </a:r>
          </a:p>
          <a:p>
            <a:r>
              <a:rPr lang="en-IN" sz="2800" dirty="0"/>
              <a:t>Aspontaneity </a:t>
            </a:r>
          </a:p>
          <a:p>
            <a:r>
              <a:rPr lang="en-IN" sz="2800" dirty="0"/>
              <a:t>Akinetic mutism </a:t>
            </a:r>
          </a:p>
          <a:p>
            <a:r>
              <a:rPr lang="en-IN" sz="2800" dirty="0"/>
              <a:t>Poor motivation</a:t>
            </a:r>
          </a:p>
          <a:p>
            <a:r>
              <a:rPr lang="en-IN" sz="2800" dirty="0"/>
              <a:t>Slowness in thinking</a:t>
            </a:r>
          </a:p>
          <a:p>
            <a:pPr lvl="1"/>
            <a:endParaRPr lang="en-IN" sz="2600" dirty="0"/>
          </a:p>
          <a:p>
            <a:pPr lvl="1"/>
            <a:endParaRPr lang="en-IN" sz="2800" dirty="0"/>
          </a:p>
          <a:p>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34929170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63471" y="681496"/>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
        <p:nvSpPr>
          <p:cNvPr id="3" name="TextBox 2">
            <a:extLst>
              <a:ext uri="{FF2B5EF4-FFF2-40B4-BE49-F238E27FC236}">
                <a16:creationId xmlns:a16="http://schemas.microsoft.com/office/drawing/2014/main" id="{0C54AD5D-6A57-7249-A52A-368D5C33666E}"/>
              </a:ext>
            </a:extLst>
          </p:cNvPr>
          <p:cNvSpPr txBox="1"/>
          <p:nvPr/>
        </p:nvSpPr>
        <p:spPr>
          <a:xfrm>
            <a:off x="7222210" y="1239864"/>
            <a:ext cx="184731" cy="369332"/>
          </a:xfrm>
          <a:prstGeom prst="rect">
            <a:avLst/>
          </a:prstGeom>
          <a:noFill/>
        </p:spPr>
        <p:txBody>
          <a:bodyPr wrap="none" rtlCol="0">
            <a:spAutoFit/>
          </a:bodyPr>
          <a:lstStyle/>
          <a:p>
            <a:endParaRPr lang="en-US"/>
          </a:p>
        </p:txBody>
      </p:sp>
      <p:sp>
        <p:nvSpPr>
          <p:cNvPr id="6" name="Content Placeholder 4">
            <a:extLst>
              <a:ext uri="{FF2B5EF4-FFF2-40B4-BE49-F238E27FC236}">
                <a16:creationId xmlns:a16="http://schemas.microsoft.com/office/drawing/2014/main" id="{E02E7EDF-842C-634E-A030-9BA608BAA7E9}"/>
              </a:ext>
            </a:extLst>
          </p:cNvPr>
          <p:cNvSpPr txBox="1">
            <a:spLocks/>
          </p:cNvSpPr>
          <p:nvPr/>
        </p:nvSpPr>
        <p:spPr>
          <a:xfrm>
            <a:off x="406186" y="770249"/>
            <a:ext cx="11419022" cy="6206213"/>
          </a:xfrm>
          <a:prstGeom prst="rect">
            <a:avLst/>
          </a:prstGeom>
        </p:spPr>
        <p:txBody>
          <a:bodyPr anchor="t">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sz="2800" u="sng" dirty="0"/>
              <a:t>Theory of Mind</a:t>
            </a:r>
          </a:p>
          <a:p>
            <a:r>
              <a:rPr lang="en-IN" sz="2800" dirty="0"/>
              <a:t>Ability to infer the intentions and mental states of others </a:t>
            </a:r>
            <a:r>
              <a:rPr lang="en-IN" sz="2400" dirty="0"/>
              <a:t>(Leslie 1987).</a:t>
            </a:r>
          </a:p>
          <a:p>
            <a:r>
              <a:rPr lang="en-IN" sz="2800" dirty="0"/>
              <a:t>Individuals with damage to the </a:t>
            </a:r>
            <a:r>
              <a:rPr lang="en-IN" sz="2800" b="1" dirty="0"/>
              <a:t>right hemisphere show impaired </a:t>
            </a:r>
            <a:r>
              <a:rPr lang="en-IN" sz="2800" b="1" dirty="0" err="1"/>
              <a:t>ToM</a:t>
            </a:r>
            <a:r>
              <a:rPr lang="en-IN" sz="2800" b="1" dirty="0"/>
              <a:t> but good reasoning</a:t>
            </a:r>
            <a:r>
              <a:rPr lang="en-IN" sz="2800" dirty="0"/>
              <a:t>, because damage to the right hemisphere causes </a:t>
            </a:r>
            <a:r>
              <a:rPr lang="en-IN" sz="2800" b="1" dirty="0"/>
              <a:t>impairments in social behaviour and thinking </a:t>
            </a:r>
            <a:r>
              <a:rPr lang="en-IN" sz="2800" dirty="0"/>
              <a:t>similar to those seen </a:t>
            </a:r>
            <a:br>
              <a:rPr lang="en-IN" sz="2800" dirty="0"/>
            </a:br>
            <a:r>
              <a:rPr lang="en-IN" sz="2800" dirty="0"/>
              <a:t>in children with impaired theory of mind </a:t>
            </a:r>
            <a:r>
              <a:rPr lang="en-IN" sz="2400" dirty="0"/>
              <a:t>(</a:t>
            </a:r>
            <a:r>
              <a:rPr lang="en-IN" sz="2400" dirty="0" err="1"/>
              <a:t>Happe</a:t>
            </a:r>
            <a:r>
              <a:rPr lang="en-IN" sz="2400" dirty="0"/>
              <a:t> et al. 1999).</a:t>
            </a:r>
          </a:p>
          <a:p>
            <a:r>
              <a:rPr lang="en-IN" sz="2800" dirty="0"/>
              <a:t>Frontal lobe patients were poorer than patients with damage to other </a:t>
            </a:r>
            <a:br>
              <a:rPr lang="en-IN" sz="2800" dirty="0"/>
            </a:br>
            <a:r>
              <a:rPr lang="en-IN" sz="2800" dirty="0"/>
              <a:t>brain areas when </a:t>
            </a:r>
            <a:r>
              <a:rPr lang="en-IN" sz="2800" b="1" dirty="0"/>
              <a:t>making inferences about other people’s points </a:t>
            </a:r>
            <a:br>
              <a:rPr lang="en-IN" sz="2800" b="1" dirty="0"/>
            </a:br>
            <a:r>
              <a:rPr lang="en-IN" sz="2800" b="1" dirty="0"/>
              <a:t>of view and at detecting deception </a:t>
            </a:r>
            <a:r>
              <a:rPr lang="en-IN" sz="2800" dirty="0"/>
              <a:t>(i.e. uncovering people’s real motives)(</a:t>
            </a:r>
            <a:r>
              <a:rPr lang="en-IN" sz="2400" dirty="0" err="1"/>
              <a:t>Stuss</a:t>
            </a:r>
            <a:r>
              <a:rPr lang="en-IN" sz="2400" dirty="0"/>
              <a:t> et al. 2001)</a:t>
            </a:r>
            <a:r>
              <a:rPr lang="en-IN" sz="2800" dirty="0"/>
              <a:t>.  </a:t>
            </a:r>
          </a:p>
          <a:p>
            <a:endParaRPr lang="en-IN" dirty="0"/>
          </a:p>
          <a:p>
            <a:endParaRPr lang="en-IN" dirty="0"/>
          </a:p>
          <a:p>
            <a:endParaRPr lang="en-IN" dirty="0"/>
          </a:p>
          <a:p>
            <a:endParaRPr lang="en-IN" dirty="0"/>
          </a:p>
          <a:p>
            <a:endParaRPr lang="en-IN" sz="2800" dirty="0"/>
          </a:p>
          <a:p>
            <a:endParaRPr lang="en-IN" dirty="0"/>
          </a:p>
          <a:p>
            <a:pPr marL="0" indent="0">
              <a:buFont typeface="Wingdings 2" panose="05020102010507070707" pitchFamily="18" charset="2"/>
              <a:buNone/>
            </a:pPr>
            <a:endParaRPr lang="en-IN" sz="2800" dirty="0"/>
          </a:p>
          <a:p>
            <a:pPr lvl="1"/>
            <a:endParaRPr lang="en-IN" dirty="0"/>
          </a:p>
          <a:p>
            <a:endParaRPr lang="en-US" dirty="0"/>
          </a:p>
        </p:txBody>
      </p:sp>
    </p:spTree>
    <p:extLst>
      <p:ext uri="{BB962C8B-B14F-4D97-AF65-F5344CB8AC3E}">
        <p14:creationId xmlns:p14="http://schemas.microsoft.com/office/powerpoint/2010/main" val="28534488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63471" y="681496"/>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
        <p:nvSpPr>
          <p:cNvPr id="3" name="TextBox 2">
            <a:extLst>
              <a:ext uri="{FF2B5EF4-FFF2-40B4-BE49-F238E27FC236}">
                <a16:creationId xmlns:a16="http://schemas.microsoft.com/office/drawing/2014/main" id="{0C54AD5D-6A57-7249-A52A-368D5C33666E}"/>
              </a:ext>
            </a:extLst>
          </p:cNvPr>
          <p:cNvSpPr txBox="1"/>
          <p:nvPr/>
        </p:nvSpPr>
        <p:spPr>
          <a:xfrm>
            <a:off x="7222210" y="1239864"/>
            <a:ext cx="184731" cy="369332"/>
          </a:xfrm>
          <a:prstGeom prst="rect">
            <a:avLst/>
          </a:prstGeom>
          <a:noFill/>
        </p:spPr>
        <p:txBody>
          <a:bodyPr wrap="none" rtlCol="0">
            <a:spAutoFit/>
          </a:bodyPr>
          <a:lstStyle/>
          <a:p>
            <a:endParaRPr lang="en-US"/>
          </a:p>
        </p:txBody>
      </p:sp>
      <p:sp>
        <p:nvSpPr>
          <p:cNvPr id="6" name="Content Placeholder 4">
            <a:extLst>
              <a:ext uri="{FF2B5EF4-FFF2-40B4-BE49-F238E27FC236}">
                <a16:creationId xmlns:a16="http://schemas.microsoft.com/office/drawing/2014/main" id="{E02E7EDF-842C-634E-A030-9BA608BAA7E9}"/>
              </a:ext>
            </a:extLst>
          </p:cNvPr>
          <p:cNvSpPr txBox="1">
            <a:spLocks/>
          </p:cNvSpPr>
          <p:nvPr/>
        </p:nvSpPr>
        <p:spPr>
          <a:xfrm>
            <a:off x="406186" y="770249"/>
            <a:ext cx="11419022" cy="6206213"/>
          </a:xfrm>
          <a:prstGeom prst="rect">
            <a:avLst/>
          </a:prstGeom>
        </p:spPr>
        <p:txBody>
          <a:bodyPr anchor="t">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sz="2800" u="sng" dirty="0"/>
              <a:t>Social Behaviour</a:t>
            </a:r>
          </a:p>
          <a:p>
            <a:r>
              <a:rPr lang="en-IN" sz="2800" dirty="0"/>
              <a:t>Orbitofrontal damage.</a:t>
            </a:r>
          </a:p>
          <a:p>
            <a:endParaRPr lang="en-IN" sz="2800" dirty="0"/>
          </a:p>
          <a:p>
            <a:r>
              <a:rPr lang="en-IN" sz="2800" dirty="0"/>
              <a:t>Deficits in </a:t>
            </a:r>
            <a:r>
              <a:rPr lang="en-IN" sz="2800" b="1" dirty="0"/>
              <a:t>context dependent behaviour </a:t>
            </a:r>
            <a:r>
              <a:rPr lang="en-IN" sz="2800" dirty="0"/>
              <a:t>– choosing appropriate behaviours based on subtle changes in context, </a:t>
            </a:r>
            <a:r>
              <a:rPr lang="en-IN" sz="2800" b="1" dirty="0"/>
              <a:t>especially in social situations; </a:t>
            </a:r>
            <a:r>
              <a:rPr lang="en-IN" sz="2800" dirty="0"/>
              <a:t>notorious for making </a:t>
            </a:r>
            <a:r>
              <a:rPr lang="en-IN" sz="2800" b="1" dirty="0"/>
              <a:t>social gaffes</a:t>
            </a:r>
            <a:r>
              <a:rPr lang="en-IN" sz="2800" dirty="0"/>
              <a:t>.</a:t>
            </a:r>
          </a:p>
          <a:p>
            <a:endParaRPr lang="en-IN" sz="2800" dirty="0"/>
          </a:p>
          <a:p>
            <a:r>
              <a:rPr lang="en-IN" sz="2800" dirty="0"/>
              <a:t>Difficulty in </a:t>
            </a:r>
            <a:r>
              <a:rPr lang="en-IN" sz="2800" b="1" dirty="0"/>
              <a:t>using information from environmental cues (feedback) </a:t>
            </a:r>
            <a:r>
              <a:rPr lang="en-IN" sz="2800" dirty="0"/>
              <a:t>to regulate or change behaviour. </a:t>
            </a:r>
          </a:p>
          <a:p>
            <a:endParaRPr lang="en-IN" sz="2800" dirty="0"/>
          </a:p>
          <a:p>
            <a:endParaRPr lang="en-IN" sz="2800" dirty="0"/>
          </a:p>
          <a:p>
            <a:endParaRPr lang="en-IN" dirty="0"/>
          </a:p>
          <a:p>
            <a:endParaRPr lang="en-IN" dirty="0"/>
          </a:p>
          <a:p>
            <a:endParaRPr lang="en-IN" sz="2800" dirty="0"/>
          </a:p>
          <a:p>
            <a:endParaRPr lang="en-IN" dirty="0"/>
          </a:p>
          <a:p>
            <a:pPr marL="0" indent="0">
              <a:buFont typeface="Wingdings 2" panose="05020102010507070707" pitchFamily="18" charset="2"/>
              <a:buNone/>
            </a:pPr>
            <a:endParaRPr lang="en-IN" sz="2800" dirty="0"/>
          </a:p>
          <a:p>
            <a:pPr lvl="1"/>
            <a:endParaRPr lang="en-IN" dirty="0"/>
          </a:p>
          <a:p>
            <a:endParaRPr lang="en-US" dirty="0"/>
          </a:p>
        </p:txBody>
      </p:sp>
    </p:spTree>
    <p:extLst>
      <p:ext uri="{BB962C8B-B14F-4D97-AF65-F5344CB8AC3E}">
        <p14:creationId xmlns:p14="http://schemas.microsoft.com/office/powerpoint/2010/main" val="18828329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63471" y="681496"/>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
        <p:nvSpPr>
          <p:cNvPr id="3" name="TextBox 2">
            <a:extLst>
              <a:ext uri="{FF2B5EF4-FFF2-40B4-BE49-F238E27FC236}">
                <a16:creationId xmlns:a16="http://schemas.microsoft.com/office/drawing/2014/main" id="{0C54AD5D-6A57-7249-A52A-368D5C33666E}"/>
              </a:ext>
            </a:extLst>
          </p:cNvPr>
          <p:cNvSpPr txBox="1"/>
          <p:nvPr/>
        </p:nvSpPr>
        <p:spPr>
          <a:xfrm>
            <a:off x="7222210" y="1239864"/>
            <a:ext cx="184731" cy="369332"/>
          </a:xfrm>
          <a:prstGeom prst="rect">
            <a:avLst/>
          </a:prstGeom>
          <a:noFill/>
        </p:spPr>
        <p:txBody>
          <a:bodyPr wrap="none" rtlCol="0">
            <a:spAutoFit/>
          </a:bodyPr>
          <a:lstStyle/>
          <a:p>
            <a:endParaRPr lang="en-US"/>
          </a:p>
        </p:txBody>
      </p:sp>
      <p:sp>
        <p:nvSpPr>
          <p:cNvPr id="6" name="Content Placeholder 4">
            <a:extLst>
              <a:ext uri="{FF2B5EF4-FFF2-40B4-BE49-F238E27FC236}">
                <a16:creationId xmlns:a16="http://schemas.microsoft.com/office/drawing/2014/main" id="{E02E7EDF-842C-634E-A030-9BA608BAA7E9}"/>
              </a:ext>
            </a:extLst>
          </p:cNvPr>
          <p:cNvSpPr txBox="1">
            <a:spLocks/>
          </p:cNvSpPr>
          <p:nvPr/>
        </p:nvSpPr>
        <p:spPr>
          <a:xfrm>
            <a:off x="406186" y="770249"/>
            <a:ext cx="11419022" cy="6206213"/>
          </a:xfrm>
          <a:prstGeom prst="rect">
            <a:avLst/>
          </a:prstGeom>
        </p:spPr>
        <p:txBody>
          <a:bodyPr anchor="t">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sz="2800" dirty="0"/>
              <a:t>Manifested as:</a:t>
            </a:r>
          </a:p>
          <a:p>
            <a:r>
              <a:rPr lang="en-IN" sz="2800" dirty="0"/>
              <a:t>Decreased concern with propriety</a:t>
            </a:r>
          </a:p>
          <a:p>
            <a:r>
              <a:rPr lang="en-IN" sz="2800" dirty="0"/>
              <a:t>Facetiousness</a:t>
            </a:r>
          </a:p>
          <a:p>
            <a:r>
              <a:rPr lang="en-IN" sz="2800" dirty="0"/>
              <a:t>Egocentricity</a:t>
            </a:r>
          </a:p>
          <a:p>
            <a:r>
              <a:rPr lang="en-IN" sz="2800" dirty="0"/>
              <a:t>Disinhibition</a:t>
            </a:r>
          </a:p>
          <a:p>
            <a:r>
              <a:rPr lang="en-IN" sz="2800" dirty="0"/>
              <a:t>Inappropriate social interactions</a:t>
            </a:r>
          </a:p>
          <a:p>
            <a:r>
              <a:rPr lang="en-IN" sz="2800" dirty="0"/>
              <a:t>Inappropriate comments, remarks, jokes.</a:t>
            </a:r>
          </a:p>
          <a:p>
            <a:endParaRPr lang="en-IN" sz="2800" dirty="0"/>
          </a:p>
          <a:p>
            <a:endParaRPr lang="en-IN" sz="2800" dirty="0"/>
          </a:p>
          <a:p>
            <a:endParaRPr lang="en-IN" dirty="0"/>
          </a:p>
          <a:p>
            <a:endParaRPr lang="en-IN" dirty="0"/>
          </a:p>
          <a:p>
            <a:endParaRPr lang="en-IN" sz="2800" dirty="0"/>
          </a:p>
          <a:p>
            <a:endParaRPr lang="en-IN" dirty="0"/>
          </a:p>
          <a:p>
            <a:pPr marL="0" indent="0">
              <a:buFont typeface="Wingdings 2" panose="05020102010507070707" pitchFamily="18" charset="2"/>
              <a:buNone/>
            </a:pPr>
            <a:endParaRPr lang="en-IN" sz="2800" dirty="0"/>
          </a:p>
          <a:p>
            <a:pPr lvl="1"/>
            <a:endParaRPr lang="en-IN" dirty="0"/>
          </a:p>
          <a:p>
            <a:endParaRPr lang="en-US" dirty="0"/>
          </a:p>
        </p:txBody>
      </p:sp>
    </p:spTree>
    <p:extLst>
      <p:ext uri="{BB962C8B-B14F-4D97-AF65-F5344CB8AC3E}">
        <p14:creationId xmlns:p14="http://schemas.microsoft.com/office/powerpoint/2010/main" val="35419431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63471" y="681496"/>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
        <p:nvSpPr>
          <p:cNvPr id="3" name="TextBox 2">
            <a:extLst>
              <a:ext uri="{FF2B5EF4-FFF2-40B4-BE49-F238E27FC236}">
                <a16:creationId xmlns:a16="http://schemas.microsoft.com/office/drawing/2014/main" id="{0C54AD5D-6A57-7249-A52A-368D5C33666E}"/>
              </a:ext>
            </a:extLst>
          </p:cNvPr>
          <p:cNvSpPr txBox="1"/>
          <p:nvPr/>
        </p:nvSpPr>
        <p:spPr>
          <a:xfrm>
            <a:off x="7222210" y="1239864"/>
            <a:ext cx="184731" cy="369332"/>
          </a:xfrm>
          <a:prstGeom prst="rect">
            <a:avLst/>
          </a:prstGeom>
          <a:noFill/>
        </p:spPr>
        <p:txBody>
          <a:bodyPr wrap="none" rtlCol="0">
            <a:spAutoFit/>
          </a:bodyPr>
          <a:lstStyle/>
          <a:p>
            <a:endParaRPr lang="en-US"/>
          </a:p>
        </p:txBody>
      </p:sp>
      <p:sp>
        <p:nvSpPr>
          <p:cNvPr id="6" name="Content Placeholder 4">
            <a:extLst>
              <a:ext uri="{FF2B5EF4-FFF2-40B4-BE49-F238E27FC236}">
                <a16:creationId xmlns:a16="http://schemas.microsoft.com/office/drawing/2014/main" id="{E02E7EDF-842C-634E-A030-9BA608BAA7E9}"/>
              </a:ext>
            </a:extLst>
          </p:cNvPr>
          <p:cNvSpPr txBox="1">
            <a:spLocks/>
          </p:cNvSpPr>
          <p:nvPr/>
        </p:nvSpPr>
        <p:spPr>
          <a:xfrm>
            <a:off x="406186" y="770249"/>
            <a:ext cx="11419022" cy="6206213"/>
          </a:xfrm>
          <a:prstGeom prst="rect">
            <a:avLst/>
          </a:prstGeom>
        </p:spPr>
        <p:txBody>
          <a:bodyPr anchor="t">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sz="2800" u="sng" dirty="0"/>
              <a:t>Sexual Behaviour</a:t>
            </a:r>
          </a:p>
          <a:p>
            <a:endParaRPr lang="en-IN" sz="2800" dirty="0"/>
          </a:p>
          <a:p>
            <a:endParaRPr lang="en-IN" sz="2800" dirty="0"/>
          </a:p>
          <a:p>
            <a:endParaRPr lang="en-IN" dirty="0"/>
          </a:p>
          <a:p>
            <a:endParaRPr lang="en-IN" dirty="0"/>
          </a:p>
          <a:p>
            <a:endParaRPr lang="en-IN" sz="2800" dirty="0"/>
          </a:p>
          <a:p>
            <a:endParaRPr lang="en-IN" dirty="0"/>
          </a:p>
          <a:p>
            <a:pPr marL="0" indent="0">
              <a:buFont typeface="Wingdings 2" panose="05020102010507070707" pitchFamily="18" charset="2"/>
              <a:buNone/>
            </a:pPr>
            <a:endParaRPr lang="en-IN" sz="2800" dirty="0"/>
          </a:p>
          <a:p>
            <a:pPr lvl="1"/>
            <a:endParaRPr lang="en-IN" dirty="0"/>
          </a:p>
          <a:p>
            <a:endParaRPr lang="en-US" dirty="0"/>
          </a:p>
        </p:txBody>
      </p:sp>
      <p:graphicFrame>
        <p:nvGraphicFramePr>
          <p:cNvPr id="5" name="Table 4">
            <a:extLst>
              <a:ext uri="{FF2B5EF4-FFF2-40B4-BE49-F238E27FC236}">
                <a16:creationId xmlns:a16="http://schemas.microsoft.com/office/drawing/2014/main" id="{E947ADD9-78E9-BF42-9FDC-7E56A964DCD3}"/>
              </a:ext>
            </a:extLst>
          </p:cNvPr>
          <p:cNvGraphicFramePr>
            <a:graphicFrameLocks noGrp="1"/>
          </p:cNvGraphicFramePr>
          <p:nvPr>
            <p:extLst>
              <p:ext uri="{D42A27DB-BD31-4B8C-83A1-F6EECF244321}">
                <p14:modId xmlns:p14="http://schemas.microsoft.com/office/powerpoint/2010/main" val="585361624"/>
              </p:ext>
            </p:extLst>
          </p:nvPr>
        </p:nvGraphicFramePr>
        <p:xfrm>
          <a:off x="406186" y="1413864"/>
          <a:ext cx="11419022" cy="5259976"/>
        </p:xfrm>
        <a:graphic>
          <a:graphicData uri="http://schemas.openxmlformats.org/drawingml/2006/table">
            <a:tbl>
              <a:tblPr firstRow="1" bandRow="1">
                <a:tableStyleId>{21E4AEA4-8DFA-4A89-87EB-49C32662AFE0}</a:tableStyleId>
              </a:tblPr>
              <a:tblGrid>
                <a:gridCol w="3344404">
                  <a:extLst>
                    <a:ext uri="{9D8B030D-6E8A-4147-A177-3AD203B41FA5}">
                      <a16:colId xmlns:a16="http://schemas.microsoft.com/office/drawing/2014/main" val="20000"/>
                    </a:ext>
                  </a:extLst>
                </a:gridCol>
                <a:gridCol w="8074618">
                  <a:extLst>
                    <a:ext uri="{9D8B030D-6E8A-4147-A177-3AD203B41FA5}">
                      <a16:colId xmlns:a16="http://schemas.microsoft.com/office/drawing/2014/main" val="20001"/>
                    </a:ext>
                  </a:extLst>
                </a:gridCol>
              </a:tblGrid>
              <a:tr h="493095">
                <a:tc>
                  <a:txBody>
                    <a:bodyPr/>
                    <a:lstStyle/>
                    <a:p>
                      <a:pPr algn="ctr"/>
                      <a:r>
                        <a:rPr lang="en-US" sz="2800" dirty="0"/>
                        <a:t>SITE OF LEISION</a:t>
                      </a:r>
                      <a:endParaRPr lang="en-US" sz="2800" b="1" dirty="0"/>
                    </a:p>
                  </a:txBody>
                  <a:tcPr/>
                </a:tc>
                <a:tc>
                  <a:txBody>
                    <a:bodyPr/>
                    <a:lstStyle/>
                    <a:p>
                      <a:pPr algn="ctr"/>
                      <a:r>
                        <a:rPr lang="en-US" sz="2800" dirty="0"/>
                        <a:t>EFFECT</a:t>
                      </a:r>
                      <a:endParaRPr lang="en-US" sz="2800" b="1" dirty="0"/>
                    </a:p>
                  </a:txBody>
                  <a:tcPr/>
                </a:tc>
                <a:extLst>
                  <a:ext uri="{0D108BD9-81ED-4DB2-BD59-A6C34878D82A}">
                    <a16:rowId xmlns:a16="http://schemas.microsoft.com/office/drawing/2014/main" val="10000"/>
                  </a:ext>
                </a:extLst>
              </a:tr>
              <a:tr h="851094">
                <a:tc>
                  <a:txBody>
                    <a:bodyPr/>
                    <a:lstStyle/>
                    <a:p>
                      <a:pPr algn="l"/>
                      <a:r>
                        <a:rPr lang="en-US" sz="2800" dirty="0"/>
                        <a:t>Frontal lesions</a:t>
                      </a:r>
                    </a:p>
                  </a:txBody>
                  <a:tcPr/>
                </a:tc>
                <a:tc>
                  <a:txBody>
                    <a:bodyPr/>
                    <a:lstStyle/>
                    <a:p>
                      <a:pPr algn="l"/>
                      <a:r>
                        <a:rPr lang="en-US" sz="2800" dirty="0"/>
                        <a:t>Altered libido and related sexual behavior</a:t>
                      </a:r>
                    </a:p>
                  </a:txBody>
                  <a:tcPr/>
                </a:tc>
                <a:extLst>
                  <a:ext uri="{0D108BD9-81ED-4DB2-BD59-A6C34878D82A}">
                    <a16:rowId xmlns:a16="http://schemas.microsoft.com/office/drawing/2014/main" val="10001"/>
                  </a:ext>
                </a:extLst>
              </a:tr>
              <a:tr h="1945361">
                <a:tc>
                  <a:txBody>
                    <a:bodyPr/>
                    <a:lstStyle/>
                    <a:p>
                      <a:pPr algn="l"/>
                      <a:r>
                        <a:rPr lang="en-US" sz="2800" dirty="0"/>
                        <a:t>Orbital frontal lesions</a:t>
                      </a:r>
                    </a:p>
                  </a:txBody>
                  <a:tcPr/>
                </a:tc>
                <a:tc>
                  <a:txBody>
                    <a:bodyPr/>
                    <a:lstStyle/>
                    <a:p>
                      <a:pPr marL="285750" indent="-285750" algn="l">
                        <a:buFont typeface="Arial" pitchFamily="34" charset="0"/>
                        <a:buChar char="•"/>
                      </a:pPr>
                      <a:r>
                        <a:rPr lang="en-US" sz="2800" dirty="0"/>
                        <a:t>Abnormal</a:t>
                      </a:r>
                      <a:r>
                        <a:rPr lang="en-US" sz="2800" baseline="0" dirty="0"/>
                        <a:t> sexual behavior - reduced inhibitions</a:t>
                      </a:r>
                      <a:br>
                        <a:rPr lang="en-US" sz="2800" baseline="0" dirty="0"/>
                      </a:br>
                      <a:r>
                        <a:rPr lang="en-US" sz="2800" baseline="0" dirty="0"/>
                        <a:t>(exhibitionism, public masturbation, etc.)</a:t>
                      </a:r>
                    </a:p>
                    <a:p>
                      <a:pPr marL="285750" indent="-285750" algn="l">
                        <a:buFont typeface="Arial" pitchFamily="34" charset="0"/>
                        <a:buChar char="•"/>
                      </a:pPr>
                      <a:endParaRPr lang="en-US" sz="2800" baseline="0" dirty="0"/>
                    </a:p>
                    <a:p>
                      <a:pPr marL="285750" indent="-285750" algn="l">
                        <a:buFont typeface="Arial" pitchFamily="34" charset="0"/>
                        <a:buChar char="•"/>
                      </a:pPr>
                      <a:r>
                        <a:rPr lang="en-US" sz="2800" baseline="0" dirty="0"/>
                        <a:t>Frequency of sexual behavior not affected</a:t>
                      </a:r>
                      <a:endParaRPr lang="en-US" sz="2800" dirty="0"/>
                    </a:p>
                  </a:txBody>
                  <a:tcPr/>
                </a:tc>
                <a:extLst>
                  <a:ext uri="{0D108BD9-81ED-4DB2-BD59-A6C34878D82A}">
                    <a16:rowId xmlns:a16="http://schemas.microsoft.com/office/drawing/2014/main" val="10002"/>
                  </a:ext>
                </a:extLst>
              </a:tr>
              <a:tr h="1945361">
                <a:tc>
                  <a:txBody>
                    <a:bodyPr/>
                    <a:lstStyle/>
                    <a:p>
                      <a:pPr algn="l"/>
                      <a:r>
                        <a:rPr lang="en-US" sz="2800" u="none" strike="noStrike" kern="1200" baseline="0" dirty="0"/>
                        <a:t>Dorsolateral lesions</a:t>
                      </a:r>
                      <a:endParaRPr lang="en-US" sz="2800" dirty="0"/>
                    </a:p>
                  </a:txBody>
                  <a:tcPr/>
                </a:tc>
                <a:tc>
                  <a:txBody>
                    <a:bodyPr/>
                    <a:lstStyle/>
                    <a:p>
                      <a:pPr marL="285750" indent="-285750" algn="l">
                        <a:buFont typeface="Arial" pitchFamily="34" charset="0"/>
                        <a:buChar char="•"/>
                      </a:pPr>
                      <a:r>
                        <a:rPr lang="en-US" sz="2800" u="none" strike="noStrike" kern="1200" baseline="0" dirty="0"/>
                        <a:t>Reduced sexual interest</a:t>
                      </a:r>
                    </a:p>
                    <a:p>
                      <a:pPr marL="285750" indent="-285750" algn="l">
                        <a:buFont typeface="Arial" pitchFamily="34" charset="0"/>
                        <a:buChar char="•"/>
                      </a:pPr>
                      <a:endParaRPr lang="en-US" sz="2800" u="none" strike="noStrike" kern="1200" baseline="0" dirty="0"/>
                    </a:p>
                    <a:p>
                      <a:pPr marL="285750" indent="-285750" algn="l">
                        <a:buFont typeface="Arial" pitchFamily="34" charset="0"/>
                        <a:buChar char="•"/>
                      </a:pPr>
                      <a:r>
                        <a:rPr lang="en-US" sz="2800" u="none" strike="noStrike" kern="1200" baseline="0" dirty="0"/>
                        <a:t>Can perform sexually if led through the activity “step by step.”</a:t>
                      </a:r>
                      <a:endParaRPr lang="en-US" sz="28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803597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63471" y="681496"/>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
        <p:nvSpPr>
          <p:cNvPr id="3" name="TextBox 2">
            <a:extLst>
              <a:ext uri="{FF2B5EF4-FFF2-40B4-BE49-F238E27FC236}">
                <a16:creationId xmlns:a16="http://schemas.microsoft.com/office/drawing/2014/main" id="{0C54AD5D-6A57-7249-A52A-368D5C33666E}"/>
              </a:ext>
            </a:extLst>
          </p:cNvPr>
          <p:cNvSpPr txBox="1"/>
          <p:nvPr/>
        </p:nvSpPr>
        <p:spPr>
          <a:xfrm>
            <a:off x="7222210" y="1239864"/>
            <a:ext cx="184731" cy="369332"/>
          </a:xfrm>
          <a:prstGeom prst="rect">
            <a:avLst/>
          </a:prstGeom>
          <a:noFill/>
        </p:spPr>
        <p:txBody>
          <a:bodyPr wrap="none" rtlCol="0">
            <a:spAutoFit/>
          </a:bodyPr>
          <a:lstStyle/>
          <a:p>
            <a:endParaRPr lang="en-US"/>
          </a:p>
        </p:txBody>
      </p:sp>
      <p:sp>
        <p:nvSpPr>
          <p:cNvPr id="6" name="Content Placeholder 2">
            <a:extLst>
              <a:ext uri="{FF2B5EF4-FFF2-40B4-BE49-F238E27FC236}">
                <a16:creationId xmlns:a16="http://schemas.microsoft.com/office/drawing/2014/main" id="{DF439400-40A0-DF41-8DC9-F5452509B536}"/>
              </a:ext>
            </a:extLst>
          </p:cNvPr>
          <p:cNvSpPr txBox="1">
            <a:spLocks/>
          </p:cNvSpPr>
          <p:nvPr/>
        </p:nvSpPr>
        <p:spPr>
          <a:xfrm>
            <a:off x="415871" y="833896"/>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sz="2800" b="1" dirty="0"/>
              <a:t>Two types of personality change </a:t>
            </a:r>
            <a:r>
              <a:rPr lang="en-IN" sz="2800" dirty="0"/>
              <a:t>clinically observed in frontal lobe patients depending on site of lesion </a:t>
            </a:r>
            <a:r>
              <a:rPr lang="en-IN" sz="2400" dirty="0"/>
              <a:t>(Blumer &amp; Benson, 1975).</a:t>
            </a:r>
          </a:p>
          <a:p>
            <a:pPr marL="0" indent="0">
              <a:buNone/>
            </a:pPr>
            <a:endParaRPr lang="en-IN" sz="2400" dirty="0">
              <a:solidFill>
                <a:srgbClr val="FF0000"/>
              </a:solidFill>
            </a:endParaRPr>
          </a:p>
          <a:p>
            <a:pPr marL="0" indent="0">
              <a:buNone/>
            </a:pPr>
            <a:r>
              <a:rPr lang="en-IN" sz="2800" b="1" dirty="0"/>
              <a:t>Two typical presentations – “frontal lobe personalities”</a:t>
            </a:r>
          </a:p>
          <a:p>
            <a:pPr marL="0" indent="0">
              <a:buNone/>
            </a:pPr>
            <a:endParaRPr lang="en-IN" sz="2800" dirty="0"/>
          </a:p>
          <a:p>
            <a:r>
              <a:rPr lang="en-IN" sz="2800" dirty="0"/>
              <a:t>Orbitofrontal lesion – impulsivity and/or pseudo-psychopathy</a:t>
            </a:r>
          </a:p>
          <a:p>
            <a:endParaRPr lang="en-IN" sz="2800" dirty="0"/>
          </a:p>
          <a:p>
            <a:r>
              <a:rPr lang="en-IN" sz="2800" dirty="0"/>
              <a:t>Dorsolateral lesion – pseudo-depression</a:t>
            </a:r>
            <a:br>
              <a:rPr lang="en-IN" sz="2800" dirty="0"/>
            </a:br>
            <a:endParaRPr lang="en-IN" sz="2800" dirty="0"/>
          </a:p>
          <a:p>
            <a:pPr marL="0" indent="0">
              <a:buNone/>
            </a:pPr>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18357459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63471" y="681496"/>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
        <p:nvSpPr>
          <p:cNvPr id="3" name="TextBox 2">
            <a:extLst>
              <a:ext uri="{FF2B5EF4-FFF2-40B4-BE49-F238E27FC236}">
                <a16:creationId xmlns:a16="http://schemas.microsoft.com/office/drawing/2014/main" id="{0C54AD5D-6A57-7249-A52A-368D5C33666E}"/>
              </a:ext>
            </a:extLst>
          </p:cNvPr>
          <p:cNvSpPr txBox="1"/>
          <p:nvPr/>
        </p:nvSpPr>
        <p:spPr>
          <a:xfrm>
            <a:off x="7222210" y="1239864"/>
            <a:ext cx="184731" cy="369332"/>
          </a:xfrm>
          <a:prstGeom prst="rect">
            <a:avLst/>
          </a:prstGeom>
          <a:noFill/>
        </p:spPr>
        <p:txBody>
          <a:bodyPr wrap="none" rtlCol="0">
            <a:spAutoFit/>
          </a:bodyPr>
          <a:lstStyle/>
          <a:p>
            <a:endParaRPr lang="en-US"/>
          </a:p>
        </p:txBody>
      </p:sp>
      <p:sp>
        <p:nvSpPr>
          <p:cNvPr id="6" name="Content Placeholder 4">
            <a:extLst>
              <a:ext uri="{FF2B5EF4-FFF2-40B4-BE49-F238E27FC236}">
                <a16:creationId xmlns:a16="http://schemas.microsoft.com/office/drawing/2014/main" id="{E02E7EDF-842C-634E-A030-9BA608BAA7E9}"/>
              </a:ext>
            </a:extLst>
          </p:cNvPr>
          <p:cNvSpPr txBox="1">
            <a:spLocks/>
          </p:cNvSpPr>
          <p:nvPr/>
        </p:nvSpPr>
        <p:spPr>
          <a:xfrm>
            <a:off x="406186" y="770249"/>
            <a:ext cx="11419022" cy="6206213"/>
          </a:xfrm>
          <a:prstGeom prst="rect">
            <a:avLst/>
          </a:prstGeom>
        </p:spPr>
        <p:txBody>
          <a:bodyPr anchor="t">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en-IN" sz="2800" dirty="0"/>
          </a:p>
          <a:p>
            <a:endParaRPr lang="en-IN" sz="2800" dirty="0"/>
          </a:p>
          <a:p>
            <a:endParaRPr lang="en-IN" dirty="0"/>
          </a:p>
          <a:p>
            <a:endParaRPr lang="en-IN" dirty="0"/>
          </a:p>
          <a:p>
            <a:endParaRPr lang="en-IN" sz="2800" dirty="0"/>
          </a:p>
          <a:p>
            <a:endParaRPr lang="en-IN" dirty="0"/>
          </a:p>
          <a:p>
            <a:pPr marL="0" indent="0">
              <a:buFont typeface="Wingdings 2" panose="05020102010507070707" pitchFamily="18" charset="2"/>
              <a:buNone/>
            </a:pPr>
            <a:endParaRPr lang="en-IN" sz="2800" dirty="0"/>
          </a:p>
          <a:p>
            <a:pPr lvl="1"/>
            <a:endParaRPr lang="en-IN" dirty="0"/>
          </a:p>
          <a:p>
            <a:endParaRPr lang="en-US" dirty="0"/>
          </a:p>
        </p:txBody>
      </p:sp>
      <p:graphicFrame>
        <p:nvGraphicFramePr>
          <p:cNvPr id="5" name="Table 4">
            <a:extLst>
              <a:ext uri="{FF2B5EF4-FFF2-40B4-BE49-F238E27FC236}">
                <a16:creationId xmlns:a16="http://schemas.microsoft.com/office/drawing/2014/main" id="{E947ADD9-78E9-BF42-9FDC-7E56A964DCD3}"/>
              </a:ext>
            </a:extLst>
          </p:cNvPr>
          <p:cNvGraphicFramePr>
            <a:graphicFrameLocks noGrp="1"/>
          </p:cNvGraphicFramePr>
          <p:nvPr>
            <p:extLst>
              <p:ext uri="{D42A27DB-BD31-4B8C-83A1-F6EECF244321}">
                <p14:modId xmlns:p14="http://schemas.microsoft.com/office/powerpoint/2010/main" val="355447123"/>
              </p:ext>
            </p:extLst>
          </p:nvPr>
        </p:nvGraphicFramePr>
        <p:xfrm>
          <a:off x="303504" y="196812"/>
          <a:ext cx="11419022" cy="6553200"/>
        </p:xfrm>
        <a:graphic>
          <a:graphicData uri="http://schemas.openxmlformats.org/drawingml/2006/table">
            <a:tbl>
              <a:tblPr firstRow="1" bandRow="1">
                <a:tableStyleId>{21E4AEA4-8DFA-4A89-87EB-49C32662AFE0}</a:tableStyleId>
              </a:tblPr>
              <a:tblGrid>
                <a:gridCol w="5715645">
                  <a:extLst>
                    <a:ext uri="{9D8B030D-6E8A-4147-A177-3AD203B41FA5}">
                      <a16:colId xmlns:a16="http://schemas.microsoft.com/office/drawing/2014/main" val="20000"/>
                    </a:ext>
                  </a:extLst>
                </a:gridCol>
                <a:gridCol w="5703377">
                  <a:extLst>
                    <a:ext uri="{9D8B030D-6E8A-4147-A177-3AD203B41FA5}">
                      <a16:colId xmlns:a16="http://schemas.microsoft.com/office/drawing/2014/main" val="20001"/>
                    </a:ext>
                  </a:extLst>
                </a:gridCol>
              </a:tblGrid>
              <a:tr h="510233">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800" dirty="0"/>
                        <a:t>ORBITOFRONTAL LESION</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800" dirty="0"/>
                        <a:t>DORSOLATERAL LESION</a:t>
                      </a:r>
                      <a:endParaRPr lang="en-US" sz="2800" b="1" dirty="0"/>
                    </a:p>
                  </a:txBody>
                  <a:tcPr/>
                </a:tc>
                <a:extLst>
                  <a:ext uri="{0D108BD9-81ED-4DB2-BD59-A6C34878D82A}">
                    <a16:rowId xmlns:a16="http://schemas.microsoft.com/office/drawing/2014/main" val="10000"/>
                  </a:ext>
                </a:extLst>
              </a:tr>
              <a:tr h="5972724">
                <a:tc>
                  <a:txBody>
                    <a:bodyPr/>
                    <a:lstStyle/>
                    <a:p>
                      <a:pPr marL="457200" indent="-457200" algn="l">
                        <a:buFont typeface="Arial" panose="020B0604020202020204" pitchFamily="34" charset="0"/>
                        <a:buChar char="•"/>
                      </a:pPr>
                      <a:r>
                        <a:rPr lang="en-US" sz="2600" dirty="0"/>
                        <a:t>Pseudo-psychopathy</a:t>
                      </a:r>
                    </a:p>
                    <a:p>
                      <a:pPr marL="457200" indent="-457200" algn="l">
                        <a:buFont typeface="Arial" panose="020B0604020202020204" pitchFamily="34" charset="0"/>
                        <a:buChar char="•"/>
                      </a:pPr>
                      <a:r>
                        <a:rPr lang="en-US" sz="2600" dirty="0"/>
                        <a:t>Emotional lability – irritability, aggression</a:t>
                      </a: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600" dirty="0"/>
                        <a:t>Increased motor activity</a:t>
                      </a:r>
                    </a:p>
                    <a:p>
                      <a:pPr marL="457200" indent="-457200" algn="l">
                        <a:buFont typeface="Arial" panose="020B0604020202020204" pitchFamily="34" charset="0"/>
                        <a:buChar char="•"/>
                      </a:pPr>
                      <a:r>
                        <a:rPr lang="en-US" sz="2600" dirty="0"/>
                        <a:t>Impulsivity</a:t>
                      </a:r>
                    </a:p>
                    <a:p>
                      <a:pPr marL="457200" indent="-457200" algn="l">
                        <a:buFont typeface="Arial" panose="020B0604020202020204" pitchFamily="34" charset="0"/>
                        <a:buChar char="•"/>
                      </a:pPr>
                      <a:r>
                        <a:rPr lang="en-US" sz="2600" dirty="0"/>
                        <a:t>Poor judgement</a:t>
                      </a: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600" dirty="0"/>
                        <a:t>Inappropriate social behavior</a:t>
                      </a:r>
                    </a:p>
                    <a:p>
                      <a:pPr marL="457200" indent="-457200" algn="l">
                        <a:buFont typeface="Arial" panose="020B0604020202020204" pitchFamily="34" charset="0"/>
                        <a:buChar char="•"/>
                      </a:pPr>
                      <a:r>
                        <a:rPr lang="en-US" sz="2600" dirty="0"/>
                        <a:t>Lack of tact and restraint</a:t>
                      </a: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600" dirty="0"/>
                        <a:t>Immature behavior</a:t>
                      </a:r>
                    </a:p>
                    <a:p>
                      <a:pPr marL="457200" indent="-457200" algn="l">
                        <a:buFont typeface="Arial" panose="020B0604020202020204" pitchFamily="34" charset="0"/>
                        <a:buChar char="•"/>
                      </a:pPr>
                      <a:r>
                        <a:rPr lang="en-US" sz="2600" dirty="0"/>
                        <a:t>Coarse language</a:t>
                      </a:r>
                    </a:p>
                    <a:p>
                      <a:pPr marL="457200" indent="-457200" algn="l">
                        <a:buFont typeface="Arial" panose="020B0604020202020204" pitchFamily="34" charset="0"/>
                        <a:buChar char="•"/>
                      </a:pPr>
                      <a:r>
                        <a:rPr lang="en-US" sz="2600" dirty="0"/>
                        <a:t>Promiscuous sexual behavior</a:t>
                      </a:r>
                    </a:p>
                    <a:p>
                      <a:pPr marL="457200" indent="-457200" algn="l">
                        <a:buFont typeface="Arial" panose="020B0604020202020204" pitchFamily="34" charset="0"/>
                        <a:buChar char="•"/>
                      </a:pPr>
                      <a:r>
                        <a:rPr lang="en-US" sz="2600" dirty="0"/>
                        <a:t>Callous unconcern</a:t>
                      </a:r>
                    </a:p>
                    <a:p>
                      <a:pPr marL="457200" indent="-457200" algn="l">
                        <a:buFont typeface="Arial" panose="020B0604020202020204" pitchFamily="34" charset="0"/>
                        <a:buChar char="•"/>
                      </a:pPr>
                      <a:r>
                        <a:rPr lang="en-US" sz="2600" dirty="0"/>
                        <a:t>Boastfulness</a:t>
                      </a:r>
                    </a:p>
                    <a:p>
                      <a:pPr marL="457200" indent="-457200" algn="l">
                        <a:buFont typeface="Arial" panose="020B0604020202020204" pitchFamily="34" charset="0"/>
                        <a:buChar char="•"/>
                      </a:pPr>
                      <a:r>
                        <a:rPr lang="en-US" sz="2600" dirty="0"/>
                        <a:t>Grandiosity</a:t>
                      </a:r>
                    </a:p>
                    <a:p>
                      <a:pPr marL="457200" indent="-457200" algn="l">
                        <a:buFont typeface="Arial" panose="020B0604020202020204" pitchFamily="34" charset="0"/>
                        <a:buChar char="•"/>
                      </a:pPr>
                      <a:r>
                        <a:rPr lang="en-US" sz="2600" dirty="0"/>
                        <a:t>Obstinate, egocentric behavior</a:t>
                      </a:r>
                    </a:p>
                  </a:txBody>
                  <a:tcPr/>
                </a:tc>
                <a:tc>
                  <a:txBody>
                    <a:bodyPr/>
                    <a:lstStyle/>
                    <a:p>
                      <a:pPr marL="457200" indent="-457200" algn="l">
                        <a:buFont typeface="Arial" panose="020B0604020202020204" pitchFamily="34" charset="0"/>
                        <a:buChar char="•"/>
                      </a:pPr>
                      <a:r>
                        <a:rPr lang="en-US" sz="2600" dirty="0"/>
                        <a:t>Pseudo-depression</a:t>
                      </a:r>
                    </a:p>
                    <a:p>
                      <a:pPr marL="457200" indent="-457200" algn="l">
                        <a:buFont typeface="Arial" panose="020B0604020202020204" pitchFamily="34" charset="0"/>
                        <a:buChar char="•"/>
                      </a:pPr>
                      <a:r>
                        <a:rPr lang="en-US" sz="2600" dirty="0"/>
                        <a:t>Apathy</a:t>
                      </a:r>
                    </a:p>
                    <a:p>
                      <a:pPr marL="457200" indent="-457200" algn="l">
                        <a:buFont typeface="Arial" panose="020B0604020202020204" pitchFamily="34" charset="0"/>
                        <a:buChar char="•"/>
                      </a:pPr>
                      <a:r>
                        <a:rPr lang="en-US" sz="2600" dirty="0"/>
                        <a:t>Indifference</a:t>
                      </a: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2600" dirty="0"/>
                        <a:t>Decreased self-concern</a:t>
                      </a:r>
                      <a:endParaRPr lang="en-US" sz="2600" dirty="0"/>
                    </a:p>
                    <a:p>
                      <a:pPr marL="457200" indent="-457200" algn="l">
                        <a:buFont typeface="Arial" panose="020B0604020202020204" pitchFamily="34" charset="0"/>
                        <a:buChar char="•"/>
                      </a:pPr>
                      <a:r>
                        <a:rPr lang="en-US" sz="2600" dirty="0"/>
                        <a:t>Little overt emotion</a:t>
                      </a:r>
                    </a:p>
                    <a:p>
                      <a:pPr marL="457200" indent="-457200" algn="l">
                        <a:buFont typeface="Arial" panose="020B0604020202020204" pitchFamily="34" charset="0"/>
                        <a:buChar char="•"/>
                      </a:pPr>
                      <a:r>
                        <a:rPr lang="en-US" sz="2600" dirty="0"/>
                        <a:t>Reduced motivation</a:t>
                      </a:r>
                    </a:p>
                    <a:p>
                      <a:pPr marL="457200" indent="-457200" algn="l">
                        <a:buFont typeface="Arial" panose="020B0604020202020204" pitchFamily="34" charset="0"/>
                        <a:buChar char="•"/>
                      </a:pPr>
                      <a:r>
                        <a:rPr lang="en-US" sz="2600" dirty="0"/>
                        <a:t>Loss of initiative</a:t>
                      </a:r>
                    </a:p>
                    <a:p>
                      <a:pPr marL="457200" indent="-457200" algn="l">
                        <a:buFont typeface="Arial" panose="020B0604020202020204" pitchFamily="34" charset="0"/>
                        <a:buChar char="•"/>
                      </a:pPr>
                      <a:r>
                        <a:rPr lang="en-US" sz="2600" dirty="0"/>
                        <a:t>Inertia</a:t>
                      </a: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2600" dirty="0"/>
                        <a:t>Akinetic mutism </a:t>
                      </a: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2600" dirty="0"/>
                        <a:t>Slowness in thinking</a:t>
                      </a:r>
                      <a:endParaRPr lang="en-US" sz="2600" dirty="0"/>
                    </a:p>
                    <a:p>
                      <a:pPr marL="457200" indent="-457200" algn="l">
                        <a:buFont typeface="Arial" panose="020B0604020202020204" pitchFamily="34" charset="0"/>
                        <a:buChar char="•"/>
                      </a:pPr>
                      <a:r>
                        <a:rPr lang="en-US" sz="2600" dirty="0"/>
                        <a:t>Reduced verbal output</a:t>
                      </a:r>
                    </a:p>
                    <a:p>
                      <a:pPr marL="457200" indent="-457200" algn="l">
                        <a:buFont typeface="Arial" panose="020B0604020202020204" pitchFamily="34" charset="0"/>
                        <a:buChar char="•"/>
                      </a:pPr>
                      <a:r>
                        <a:rPr lang="en-US" sz="2600" dirty="0"/>
                        <a:t>Reduced sexual interest</a:t>
                      </a:r>
                    </a:p>
                    <a:p>
                      <a:pPr marL="457200" indent="-457200" algn="l">
                        <a:buFont typeface="Arial" panose="020B0604020202020204" pitchFamily="34" charset="0"/>
                        <a:buChar char="•"/>
                      </a:pPr>
                      <a:endParaRPr lang="en-US" sz="2800" dirty="0"/>
                    </a:p>
                    <a:p>
                      <a:pPr marL="457200" indent="-457200" algn="l">
                        <a:buFont typeface="Arial" panose="020B0604020202020204" pitchFamily="34" charset="0"/>
                        <a:buChar char="•"/>
                      </a:pPr>
                      <a:endParaRPr lang="en-US" sz="2800"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129744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7FFB0-53CF-E04A-8C1A-290C20709AF7}"/>
              </a:ext>
            </a:extLst>
          </p:cNvPr>
          <p:cNvSpPr>
            <a:spLocks noGrp="1"/>
          </p:cNvSpPr>
          <p:nvPr>
            <p:ph type="title"/>
          </p:nvPr>
        </p:nvSpPr>
        <p:spPr/>
        <p:txBody>
          <a:bodyPr anchor="ctr">
            <a:normAutofit/>
          </a:bodyPr>
          <a:lstStyle/>
          <a:p>
            <a:r>
              <a:rPr lang="en-US" sz="3000" dirty="0"/>
              <a:t>ASSESSMENT OF PERSONALITY AND BEHAVIOR</a:t>
            </a:r>
          </a:p>
        </p:txBody>
      </p:sp>
      <p:sp>
        <p:nvSpPr>
          <p:cNvPr id="3" name="Content Placeholder 2">
            <a:extLst>
              <a:ext uri="{FF2B5EF4-FFF2-40B4-BE49-F238E27FC236}">
                <a16:creationId xmlns:a16="http://schemas.microsoft.com/office/drawing/2014/main" id="{7225FF24-92A6-B945-A685-324E3E9B47EB}"/>
              </a:ext>
            </a:extLst>
          </p:cNvPr>
          <p:cNvSpPr>
            <a:spLocks noGrp="1"/>
          </p:cNvSpPr>
          <p:nvPr>
            <p:ph idx="1"/>
          </p:nvPr>
        </p:nvSpPr>
        <p:spPr>
          <a:xfrm>
            <a:off x="432661" y="1957256"/>
            <a:ext cx="11546237" cy="5370644"/>
          </a:xfrm>
        </p:spPr>
        <p:txBody>
          <a:bodyPr anchor="t">
            <a:normAutofit/>
          </a:bodyPr>
          <a:lstStyle/>
          <a:p>
            <a:r>
              <a:rPr lang="en-IN" sz="2800" dirty="0"/>
              <a:t>Frontal Lobe Personality Scale</a:t>
            </a:r>
          </a:p>
          <a:p>
            <a:pPr lvl="1">
              <a:buFont typeface="Arial" panose="020B0604020202020204" pitchFamily="34" charset="0"/>
              <a:buChar char="•"/>
            </a:pPr>
            <a:r>
              <a:rPr lang="en-IN" sz="2800" dirty="0"/>
              <a:t>Assesses premorbid vs current personality.</a:t>
            </a:r>
          </a:p>
          <a:p>
            <a:pPr lvl="1">
              <a:buFont typeface="Arial" panose="020B0604020202020204" pitchFamily="34" charset="0"/>
              <a:buChar char="•"/>
            </a:pPr>
            <a:endParaRPr lang="en-IN" sz="2800" dirty="0"/>
          </a:p>
          <a:p>
            <a:r>
              <a:rPr lang="en-IN" sz="2800" dirty="0"/>
              <a:t>Hare Psychopathy Checklist</a:t>
            </a:r>
          </a:p>
          <a:p>
            <a:pPr lvl="1">
              <a:buFont typeface="Arial" panose="020B0604020202020204" pitchFamily="34" charset="0"/>
              <a:buChar char="•"/>
            </a:pPr>
            <a:r>
              <a:rPr lang="en-IN" sz="2800" dirty="0"/>
              <a:t>Assesses adherence to social norms of interpersonal behaviours.</a:t>
            </a:r>
          </a:p>
          <a:p>
            <a:pPr lvl="1">
              <a:buFont typeface="Arial" panose="020B0604020202020204" pitchFamily="34" charset="0"/>
              <a:buChar char="•"/>
            </a:pPr>
            <a:endParaRPr lang="en-IN" sz="2800" dirty="0"/>
          </a:p>
          <a:p>
            <a:r>
              <a:rPr lang="en-IN" sz="2800" dirty="0"/>
              <a:t>Faux Pas Test </a:t>
            </a:r>
          </a:p>
          <a:p>
            <a:pPr lvl="1">
              <a:buFont typeface="Arial" panose="020B0604020202020204" pitchFamily="34" charset="0"/>
              <a:buChar char="•"/>
            </a:pPr>
            <a:r>
              <a:rPr lang="en-IN" sz="2800" dirty="0"/>
              <a:t>Assesses theory of mind and egocentricity.</a:t>
            </a:r>
            <a:endParaRPr lang="en-IN" dirty="0"/>
          </a:p>
          <a:p>
            <a:pPr marL="0" indent="0">
              <a:buNone/>
            </a:pPr>
            <a:endParaRPr lang="en-US" dirty="0"/>
          </a:p>
        </p:txBody>
      </p:sp>
    </p:spTree>
    <p:extLst>
      <p:ext uri="{BB962C8B-B14F-4D97-AF65-F5344CB8AC3E}">
        <p14:creationId xmlns:p14="http://schemas.microsoft.com/office/powerpoint/2010/main" val="27957066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7FFB0-53CF-E04A-8C1A-290C20709AF7}"/>
              </a:ext>
            </a:extLst>
          </p:cNvPr>
          <p:cNvSpPr>
            <a:spLocks noGrp="1"/>
          </p:cNvSpPr>
          <p:nvPr>
            <p:ph type="title"/>
          </p:nvPr>
        </p:nvSpPr>
        <p:spPr/>
        <p:txBody>
          <a:bodyPr anchor="ctr">
            <a:normAutofit/>
          </a:bodyPr>
          <a:lstStyle/>
          <a:p>
            <a:r>
              <a:rPr lang="en-US" sz="3000" dirty="0"/>
              <a:t>Limitations of assessment</a:t>
            </a:r>
          </a:p>
        </p:txBody>
      </p:sp>
      <p:sp>
        <p:nvSpPr>
          <p:cNvPr id="3" name="Content Placeholder 2">
            <a:extLst>
              <a:ext uri="{FF2B5EF4-FFF2-40B4-BE49-F238E27FC236}">
                <a16:creationId xmlns:a16="http://schemas.microsoft.com/office/drawing/2014/main" id="{7225FF24-92A6-B945-A685-324E3E9B47EB}"/>
              </a:ext>
            </a:extLst>
          </p:cNvPr>
          <p:cNvSpPr>
            <a:spLocks noGrp="1"/>
          </p:cNvSpPr>
          <p:nvPr>
            <p:ph idx="1"/>
          </p:nvPr>
        </p:nvSpPr>
        <p:spPr>
          <a:xfrm>
            <a:off x="339672" y="2019249"/>
            <a:ext cx="11743840" cy="5370644"/>
          </a:xfrm>
        </p:spPr>
        <p:txBody>
          <a:bodyPr anchor="t">
            <a:normAutofit/>
          </a:bodyPr>
          <a:lstStyle/>
          <a:p>
            <a:r>
              <a:rPr lang="en-US" sz="2800" dirty="0"/>
              <a:t>Few standardized neuropsychological tests are useful for assessing frontal lobe patients.</a:t>
            </a:r>
          </a:p>
          <a:p>
            <a:r>
              <a:rPr lang="en-US" sz="2800" dirty="0"/>
              <a:t>Not all frontal patients are the same.</a:t>
            </a:r>
          </a:p>
          <a:p>
            <a:r>
              <a:rPr lang="en-IN" sz="2800" b="1" dirty="0"/>
              <a:t>Some symptoms </a:t>
            </a:r>
            <a:r>
              <a:rPr lang="en-IN" sz="2800" dirty="0"/>
              <a:t>of frontal lobe injury, such as loss of self-regulation </a:t>
            </a:r>
            <a:br>
              <a:rPr lang="en-IN" sz="2800" dirty="0"/>
            </a:br>
            <a:r>
              <a:rPr lang="en-IN" sz="2800" dirty="0"/>
              <a:t>of behaviour, are </a:t>
            </a:r>
            <a:r>
              <a:rPr lang="en-IN" sz="2800" b="1" dirty="0"/>
              <a:t>not easily assessed by a neuropsychological test</a:t>
            </a:r>
            <a:r>
              <a:rPr lang="en-IN" sz="2800" dirty="0"/>
              <a:t>.</a:t>
            </a:r>
            <a:endParaRPr lang="en-US" sz="2800" dirty="0"/>
          </a:p>
          <a:p>
            <a:r>
              <a:rPr lang="en-IN" sz="2800" b="1" dirty="0"/>
              <a:t>Significant dissociations </a:t>
            </a:r>
            <a:r>
              <a:rPr lang="en-IN" sz="2800" dirty="0"/>
              <a:t>exist between </a:t>
            </a:r>
            <a:r>
              <a:rPr lang="en-IN" sz="2800" b="1" dirty="0"/>
              <a:t>test and real-life performance.</a:t>
            </a:r>
            <a:endParaRPr lang="en-US" sz="2800" b="1" dirty="0"/>
          </a:p>
          <a:p>
            <a:endParaRPr lang="en-US" sz="2800" dirty="0"/>
          </a:p>
          <a:p>
            <a:endParaRPr lang="en-US" sz="2800" dirty="0"/>
          </a:p>
          <a:p>
            <a:endParaRPr lang="en-US" sz="2800" dirty="0"/>
          </a:p>
          <a:p>
            <a:pPr marL="514350" indent="-514350">
              <a:buFont typeface="+mj-lt"/>
              <a:buAutoNum type="arabicPeriod"/>
            </a:pPr>
            <a:endParaRPr lang="en-US" sz="2800" dirty="0"/>
          </a:p>
          <a:p>
            <a:pPr lvl="1">
              <a:buFont typeface="Wingdings" pitchFamily="2" charset="2"/>
              <a:buChar char="§"/>
            </a:pPr>
            <a:endParaRPr lang="en-IN" dirty="0"/>
          </a:p>
          <a:p>
            <a:pPr marL="285750" indent="-285750">
              <a:buFont typeface="Wingdings" pitchFamily="2" charset="2"/>
              <a:buChar char="§"/>
            </a:pPr>
            <a:endParaRPr lang="en-US" dirty="0"/>
          </a:p>
          <a:p>
            <a:pPr marL="0" indent="0">
              <a:buNone/>
            </a:pPr>
            <a:endParaRPr lang="en-US" dirty="0"/>
          </a:p>
        </p:txBody>
      </p:sp>
    </p:spTree>
    <p:extLst>
      <p:ext uri="{BB962C8B-B14F-4D97-AF65-F5344CB8AC3E}">
        <p14:creationId xmlns:p14="http://schemas.microsoft.com/office/powerpoint/2010/main" val="21096827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2234E38-E2B0-6F42-B54E-ABB5D58901EA}"/>
              </a:ext>
            </a:extLst>
          </p:cNvPr>
          <p:cNvSpPr txBox="1">
            <a:spLocks/>
          </p:cNvSpPr>
          <p:nvPr/>
        </p:nvSpPr>
        <p:spPr>
          <a:xfrm>
            <a:off x="466892" y="834296"/>
            <a:ext cx="11455637" cy="5858604"/>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dirty="0"/>
          </a:p>
          <a:p>
            <a:endParaRPr lang="en-IN" dirty="0"/>
          </a:p>
          <a:p>
            <a:endParaRPr lang="en-IN" dirty="0"/>
          </a:p>
          <a:p>
            <a:endParaRPr lang="en-IN" dirty="0"/>
          </a:p>
          <a:p>
            <a:endParaRPr lang="en-US" dirty="0"/>
          </a:p>
        </p:txBody>
      </p:sp>
      <p:sp>
        <p:nvSpPr>
          <p:cNvPr id="5" name="Content Placeholder 2">
            <a:extLst>
              <a:ext uri="{FF2B5EF4-FFF2-40B4-BE49-F238E27FC236}">
                <a16:creationId xmlns:a16="http://schemas.microsoft.com/office/drawing/2014/main" id="{2F144602-3581-784F-9F79-3DA0165935CD}"/>
              </a:ext>
            </a:extLst>
          </p:cNvPr>
          <p:cNvSpPr txBox="1">
            <a:spLocks/>
          </p:cNvSpPr>
          <p:nvPr/>
        </p:nvSpPr>
        <p:spPr>
          <a:xfrm>
            <a:off x="358580" y="847182"/>
            <a:ext cx="1167226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800" dirty="0"/>
              <a:t>Many </a:t>
            </a:r>
            <a:r>
              <a:rPr lang="en-US" sz="2800" b="1" dirty="0"/>
              <a:t>individual case studies</a:t>
            </a:r>
            <a:r>
              <a:rPr lang="en-US" sz="2800" dirty="0"/>
              <a:t> show</a:t>
            </a:r>
            <a:r>
              <a:rPr lang="en-IN" sz="2800" dirty="0"/>
              <a:t> how </a:t>
            </a:r>
            <a:r>
              <a:rPr lang="en-IN" sz="2800" b="1" dirty="0"/>
              <a:t>neuropsychological assessment is not that sensitive to everyday difficulties </a:t>
            </a:r>
            <a:r>
              <a:rPr lang="en-IN" sz="2800" dirty="0"/>
              <a:t>in </a:t>
            </a:r>
            <a:br>
              <a:rPr lang="en-IN" sz="2800" dirty="0"/>
            </a:br>
            <a:r>
              <a:rPr lang="en-IN" sz="2800" dirty="0"/>
              <a:t>behaviour following brain injury.</a:t>
            </a:r>
            <a:endParaRPr lang="en-US" sz="2800" dirty="0"/>
          </a:p>
          <a:p>
            <a:r>
              <a:rPr lang="en-US" sz="2800" dirty="0"/>
              <a:t>Many patients with frontal lobe damage </a:t>
            </a:r>
            <a:r>
              <a:rPr lang="en-US" sz="2800" b="1" dirty="0"/>
              <a:t>perform well on standardized neuropsychological and frontal tests</a:t>
            </a:r>
            <a:r>
              <a:rPr lang="en-US" sz="2800" dirty="0"/>
              <a:t>, despite </a:t>
            </a:r>
            <a:r>
              <a:rPr lang="en-US" sz="2800" b="1" dirty="0"/>
              <a:t>significant difficulty </a:t>
            </a:r>
            <a:br>
              <a:rPr lang="en-US" sz="2800" b="1" dirty="0"/>
            </a:br>
            <a:r>
              <a:rPr lang="en-US" sz="2800" dirty="0"/>
              <a:t>in planning and organizing </a:t>
            </a:r>
            <a:r>
              <a:rPr lang="en-US" sz="2800" b="1" dirty="0"/>
              <a:t>daily life</a:t>
            </a:r>
            <a:r>
              <a:rPr lang="en-US" sz="2800" dirty="0"/>
              <a:t>.</a:t>
            </a:r>
            <a:endParaRPr lang="en-IN" sz="2800" b="1" dirty="0"/>
          </a:p>
          <a:p>
            <a:r>
              <a:rPr lang="en-IN" sz="2800" b="1" dirty="0"/>
              <a:t>Shallice and Burgess (1991): </a:t>
            </a:r>
            <a:r>
              <a:rPr lang="en-IN" sz="2800" dirty="0"/>
              <a:t>the design of neuropsychological tests </a:t>
            </a:r>
            <a:br>
              <a:rPr lang="en-IN" sz="2800" dirty="0"/>
            </a:br>
            <a:r>
              <a:rPr lang="en-IN" sz="2800" dirty="0"/>
              <a:t>makes </a:t>
            </a:r>
            <a:r>
              <a:rPr lang="en-IN" sz="2800" b="1" dirty="0"/>
              <a:t>finding frontal-cognitive impairments especially difficult.</a:t>
            </a:r>
            <a:endParaRPr lang="en-IN" sz="2800" dirty="0"/>
          </a:p>
          <a:p>
            <a:r>
              <a:rPr lang="en-IN" sz="2800" b="1" dirty="0"/>
              <a:t>Tests devised to take in the multiple demands </a:t>
            </a:r>
            <a:r>
              <a:rPr lang="en-IN" sz="2800" dirty="0"/>
              <a:t>on the patient </a:t>
            </a:r>
            <a:br>
              <a:rPr lang="en-IN" sz="2800" dirty="0"/>
            </a:br>
            <a:r>
              <a:rPr lang="en-IN" sz="2800" dirty="0"/>
              <a:t>in everyday life show that frontal patients have </a:t>
            </a:r>
            <a:r>
              <a:rPr lang="en-IN" sz="2800" b="1" dirty="0"/>
              <a:t>extreme difficulty </a:t>
            </a:r>
            <a:br>
              <a:rPr lang="en-IN" sz="2800" b="1" dirty="0"/>
            </a:br>
            <a:r>
              <a:rPr lang="en-IN" sz="2800" b="1" dirty="0"/>
              <a:t>in performing these tasks </a:t>
            </a:r>
            <a:r>
              <a:rPr lang="en-IN" sz="2400" dirty="0"/>
              <a:t>(Shallice &amp; Burgess, 1991).</a:t>
            </a:r>
          </a:p>
          <a:p>
            <a:endParaRPr lang="en-IN" sz="2800" dirty="0"/>
          </a:p>
          <a:p>
            <a:endParaRPr lang="en-IN" sz="2600" dirty="0"/>
          </a:p>
          <a:p>
            <a:pPr lvl="1"/>
            <a:endParaRPr lang="en-IN" sz="2600" dirty="0"/>
          </a:p>
          <a:p>
            <a:pPr lvl="1"/>
            <a:endParaRPr lang="en-IN" dirty="0"/>
          </a:p>
          <a:p>
            <a:pPr marL="571500" indent="-571500">
              <a:buAutoNum type="romanUcPeriod" startAt="2"/>
            </a:pPr>
            <a:endParaRPr lang="en-IN" sz="2800" dirty="0"/>
          </a:p>
          <a:p>
            <a:pPr marL="1165500" lvl="2" indent="-571500">
              <a:buFont typeface="Arial" panose="020B0604020202020204" pitchFamily="34" charset="0"/>
              <a:buChar char="•"/>
            </a:pPr>
            <a:endParaRPr lang="en-US" sz="2600" dirty="0"/>
          </a:p>
          <a:p>
            <a:pPr marL="324000" lvl="1" indent="0">
              <a:buNone/>
            </a:pPr>
            <a:endParaRPr lang="en-US" sz="2800" dirty="0"/>
          </a:p>
          <a:p>
            <a:pPr lvl="1">
              <a:buFont typeface="Wingdings" pitchFamily="2" charset="2"/>
              <a:buChar char="§"/>
            </a:pPr>
            <a:endParaRPr lang="en-IN" sz="2600" dirty="0"/>
          </a:p>
          <a:p>
            <a:pPr marL="324000" lvl="1" indent="0">
              <a:buNone/>
            </a:pPr>
            <a:endParaRPr lang="en-US" sz="2400" dirty="0"/>
          </a:p>
          <a:p>
            <a:pPr marL="324000" lvl="1" indent="0">
              <a:buNone/>
            </a:pPr>
            <a:endParaRPr lang="en-IN" sz="2600" dirty="0"/>
          </a:p>
          <a:p>
            <a:pPr marL="0" indent="0">
              <a:buNone/>
            </a:pPr>
            <a:endParaRPr lang="en-IN" sz="2800" dirty="0"/>
          </a:p>
          <a:p>
            <a:endParaRPr lang="en-IN" sz="2600" dirty="0"/>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165078739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2234E38-E2B0-6F42-B54E-ABB5D58901EA}"/>
              </a:ext>
            </a:extLst>
          </p:cNvPr>
          <p:cNvSpPr txBox="1">
            <a:spLocks/>
          </p:cNvSpPr>
          <p:nvPr/>
        </p:nvSpPr>
        <p:spPr>
          <a:xfrm>
            <a:off x="466892" y="834296"/>
            <a:ext cx="11455637" cy="5858604"/>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dirty="0"/>
          </a:p>
          <a:p>
            <a:endParaRPr lang="en-IN" dirty="0"/>
          </a:p>
          <a:p>
            <a:endParaRPr lang="en-IN" dirty="0"/>
          </a:p>
          <a:p>
            <a:endParaRPr lang="en-IN" dirty="0"/>
          </a:p>
          <a:p>
            <a:endParaRPr lang="en-US" dirty="0"/>
          </a:p>
        </p:txBody>
      </p:sp>
      <p:sp>
        <p:nvSpPr>
          <p:cNvPr id="5" name="Content Placeholder 2">
            <a:extLst>
              <a:ext uri="{FF2B5EF4-FFF2-40B4-BE49-F238E27FC236}">
                <a16:creationId xmlns:a16="http://schemas.microsoft.com/office/drawing/2014/main" id="{2F144602-3581-784F-9F79-3DA0165935CD}"/>
              </a:ext>
            </a:extLst>
          </p:cNvPr>
          <p:cNvSpPr txBox="1">
            <a:spLocks/>
          </p:cNvSpPr>
          <p:nvPr/>
        </p:nvSpPr>
        <p:spPr>
          <a:xfrm>
            <a:off x="358580" y="847182"/>
            <a:ext cx="1167226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800" dirty="0"/>
              <a:t>Many </a:t>
            </a:r>
            <a:r>
              <a:rPr lang="en-US" sz="2800" b="1" dirty="0"/>
              <a:t>individual case studies</a:t>
            </a:r>
            <a:r>
              <a:rPr lang="en-US" sz="2800" dirty="0"/>
              <a:t> show</a:t>
            </a:r>
            <a:r>
              <a:rPr lang="en-IN" sz="2800" dirty="0"/>
              <a:t> how </a:t>
            </a:r>
            <a:r>
              <a:rPr lang="en-IN" sz="2800" b="1" dirty="0"/>
              <a:t>neuropsychological assessment is not that sensitive to everyday difficulties </a:t>
            </a:r>
            <a:r>
              <a:rPr lang="en-IN" sz="2800" dirty="0"/>
              <a:t>in </a:t>
            </a:r>
            <a:br>
              <a:rPr lang="en-IN" sz="2800" dirty="0"/>
            </a:br>
            <a:r>
              <a:rPr lang="en-IN" sz="2800" dirty="0"/>
              <a:t>behaviour following brain injury.</a:t>
            </a:r>
            <a:endParaRPr lang="en-US" sz="2800" dirty="0"/>
          </a:p>
          <a:p>
            <a:r>
              <a:rPr lang="en-US" sz="2800" dirty="0"/>
              <a:t>Many patients with frontal lobe damage </a:t>
            </a:r>
            <a:r>
              <a:rPr lang="en-US" sz="2800" b="1" dirty="0"/>
              <a:t>perform well on standardized neuropsychological and frontal tests</a:t>
            </a:r>
            <a:r>
              <a:rPr lang="en-US" sz="2800" dirty="0"/>
              <a:t>, despite </a:t>
            </a:r>
            <a:r>
              <a:rPr lang="en-US" sz="2800" b="1" dirty="0"/>
              <a:t>significant difficulty </a:t>
            </a:r>
            <a:br>
              <a:rPr lang="en-US" sz="2800" b="1" dirty="0"/>
            </a:br>
            <a:r>
              <a:rPr lang="en-US" sz="2800" dirty="0"/>
              <a:t>in planning and organizing </a:t>
            </a:r>
            <a:r>
              <a:rPr lang="en-US" sz="2800" b="1" dirty="0"/>
              <a:t>daily life</a:t>
            </a:r>
            <a:r>
              <a:rPr lang="en-US" sz="2800" dirty="0"/>
              <a:t>.</a:t>
            </a:r>
            <a:endParaRPr lang="en-IN" sz="2800" b="1" dirty="0"/>
          </a:p>
          <a:p>
            <a:r>
              <a:rPr lang="en-IN" sz="2800" b="1" dirty="0"/>
              <a:t>Shallice and Burgess (1991): </a:t>
            </a:r>
            <a:r>
              <a:rPr lang="en-IN" sz="2800" dirty="0"/>
              <a:t>the design of neuropsychological tests </a:t>
            </a:r>
            <a:br>
              <a:rPr lang="en-IN" sz="2800" dirty="0"/>
            </a:br>
            <a:r>
              <a:rPr lang="en-IN" sz="2800" dirty="0"/>
              <a:t>makes </a:t>
            </a:r>
            <a:r>
              <a:rPr lang="en-IN" sz="2800" b="1" dirty="0"/>
              <a:t>finding frontal-cognitive impairments especially difficult.</a:t>
            </a:r>
            <a:endParaRPr lang="en-IN" sz="2800" dirty="0"/>
          </a:p>
          <a:p>
            <a:r>
              <a:rPr lang="en-IN" sz="2800" b="1" dirty="0"/>
              <a:t>Tests devised to take in the multiple demands </a:t>
            </a:r>
            <a:r>
              <a:rPr lang="en-IN" sz="2800" dirty="0"/>
              <a:t>on the patient </a:t>
            </a:r>
            <a:br>
              <a:rPr lang="en-IN" sz="2800" dirty="0"/>
            </a:br>
            <a:r>
              <a:rPr lang="en-IN" sz="2800" dirty="0"/>
              <a:t>in everyday life show that frontal patients have </a:t>
            </a:r>
            <a:r>
              <a:rPr lang="en-IN" sz="2800" b="1" dirty="0"/>
              <a:t>extreme difficulty </a:t>
            </a:r>
            <a:br>
              <a:rPr lang="en-IN" sz="2800" b="1" dirty="0"/>
            </a:br>
            <a:r>
              <a:rPr lang="en-IN" sz="2800" b="1" dirty="0"/>
              <a:t>in performing these tasks </a:t>
            </a:r>
            <a:r>
              <a:rPr lang="en-IN" sz="2400" dirty="0"/>
              <a:t>(Shallice &amp; Burgess, 1991).</a:t>
            </a:r>
          </a:p>
          <a:p>
            <a:endParaRPr lang="en-IN" sz="2800" dirty="0"/>
          </a:p>
          <a:p>
            <a:endParaRPr lang="en-IN" sz="2600" dirty="0"/>
          </a:p>
          <a:p>
            <a:pPr lvl="1"/>
            <a:endParaRPr lang="en-IN" sz="2600" dirty="0"/>
          </a:p>
          <a:p>
            <a:pPr lvl="1"/>
            <a:endParaRPr lang="en-IN" dirty="0"/>
          </a:p>
          <a:p>
            <a:pPr marL="571500" indent="-571500">
              <a:buAutoNum type="romanUcPeriod" startAt="2"/>
            </a:pPr>
            <a:endParaRPr lang="en-IN" sz="2800" dirty="0"/>
          </a:p>
          <a:p>
            <a:pPr marL="1165500" lvl="2" indent="-571500">
              <a:buFont typeface="Arial" panose="020B0604020202020204" pitchFamily="34" charset="0"/>
              <a:buChar char="•"/>
            </a:pPr>
            <a:endParaRPr lang="en-US" sz="2600" dirty="0"/>
          </a:p>
          <a:p>
            <a:pPr marL="324000" lvl="1" indent="0">
              <a:buNone/>
            </a:pPr>
            <a:endParaRPr lang="en-US" sz="2800" dirty="0"/>
          </a:p>
          <a:p>
            <a:pPr lvl="1">
              <a:buFont typeface="Wingdings" pitchFamily="2" charset="2"/>
              <a:buChar char="§"/>
            </a:pPr>
            <a:endParaRPr lang="en-IN" sz="2600" dirty="0"/>
          </a:p>
          <a:p>
            <a:pPr marL="324000" lvl="1" indent="0">
              <a:buNone/>
            </a:pPr>
            <a:endParaRPr lang="en-US" sz="2400" dirty="0"/>
          </a:p>
          <a:p>
            <a:pPr marL="324000" lvl="1" indent="0">
              <a:buNone/>
            </a:pPr>
            <a:endParaRPr lang="en-IN" sz="2600" dirty="0"/>
          </a:p>
          <a:p>
            <a:pPr marL="0" indent="0">
              <a:buNone/>
            </a:pPr>
            <a:endParaRPr lang="en-IN" sz="2800" dirty="0"/>
          </a:p>
          <a:p>
            <a:endParaRPr lang="en-IN" sz="2600" dirty="0"/>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159169848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7BFE4-9012-AD48-9D25-A7668C073BED}"/>
              </a:ext>
            </a:extLst>
          </p:cNvPr>
          <p:cNvSpPr>
            <a:spLocks noGrp="1"/>
          </p:cNvSpPr>
          <p:nvPr>
            <p:ph type="ctrTitle"/>
          </p:nvPr>
        </p:nvSpPr>
        <p:spPr>
          <a:xfrm>
            <a:off x="581191" y="515935"/>
            <a:ext cx="10993549" cy="1475013"/>
          </a:xfrm>
        </p:spPr>
        <p:txBody>
          <a:bodyPr/>
          <a:lstStyle/>
          <a:p>
            <a:r>
              <a:rPr lang="en-US" dirty="0"/>
              <a:t>FRONTAL LOBE SYNDROME</a:t>
            </a:r>
          </a:p>
        </p:txBody>
      </p:sp>
      <p:sp>
        <p:nvSpPr>
          <p:cNvPr id="3" name="Subtitle 2">
            <a:extLst>
              <a:ext uri="{FF2B5EF4-FFF2-40B4-BE49-F238E27FC236}">
                <a16:creationId xmlns:a16="http://schemas.microsoft.com/office/drawing/2014/main" id="{7BFE0CF8-EDC9-4F44-A6C2-94A8B51EA560}"/>
              </a:ext>
            </a:extLst>
          </p:cNvPr>
          <p:cNvSpPr>
            <a:spLocks noGrp="1"/>
          </p:cNvSpPr>
          <p:nvPr>
            <p:ph type="subTitle" idx="1"/>
          </p:nvPr>
        </p:nvSpPr>
        <p:spPr>
          <a:xfrm>
            <a:off x="581191" y="1990948"/>
            <a:ext cx="10993546" cy="590321"/>
          </a:xfrm>
        </p:spPr>
        <p:txBody>
          <a:bodyPr>
            <a:normAutofit/>
          </a:bodyPr>
          <a:lstStyle/>
          <a:p>
            <a:r>
              <a:rPr lang="en-US" sz="2800" dirty="0"/>
              <a:t>PROGNOSIS </a:t>
            </a:r>
          </a:p>
        </p:txBody>
      </p:sp>
    </p:spTree>
    <p:extLst>
      <p:ext uri="{BB962C8B-B14F-4D97-AF65-F5344CB8AC3E}">
        <p14:creationId xmlns:p14="http://schemas.microsoft.com/office/powerpoint/2010/main" val="22934261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63471" y="681496"/>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
        <p:nvSpPr>
          <p:cNvPr id="3" name="TextBox 2">
            <a:extLst>
              <a:ext uri="{FF2B5EF4-FFF2-40B4-BE49-F238E27FC236}">
                <a16:creationId xmlns:a16="http://schemas.microsoft.com/office/drawing/2014/main" id="{0C54AD5D-6A57-7249-A52A-368D5C33666E}"/>
              </a:ext>
            </a:extLst>
          </p:cNvPr>
          <p:cNvSpPr txBox="1"/>
          <p:nvPr/>
        </p:nvSpPr>
        <p:spPr>
          <a:xfrm>
            <a:off x="7222210" y="1239864"/>
            <a:ext cx="184731" cy="369332"/>
          </a:xfrm>
          <a:prstGeom prst="rect">
            <a:avLst/>
          </a:prstGeom>
          <a:noFill/>
        </p:spPr>
        <p:txBody>
          <a:bodyPr wrap="none" rtlCol="0">
            <a:spAutoFit/>
          </a:bodyPr>
          <a:lstStyle/>
          <a:p>
            <a:endParaRPr lang="en-US"/>
          </a:p>
        </p:txBody>
      </p:sp>
      <p:sp>
        <p:nvSpPr>
          <p:cNvPr id="6" name="Content Placeholder 2">
            <a:extLst>
              <a:ext uri="{FF2B5EF4-FFF2-40B4-BE49-F238E27FC236}">
                <a16:creationId xmlns:a16="http://schemas.microsoft.com/office/drawing/2014/main" id="{DF439400-40A0-DF41-8DC9-F5452509B536}"/>
              </a:ext>
            </a:extLst>
          </p:cNvPr>
          <p:cNvSpPr txBox="1">
            <a:spLocks/>
          </p:cNvSpPr>
          <p:nvPr/>
        </p:nvSpPr>
        <p:spPr>
          <a:xfrm>
            <a:off x="415871" y="882974"/>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b="1" dirty="0"/>
              <a:t>Despite scoring normally on conventional tests</a:t>
            </a:r>
            <a:r>
              <a:rPr lang="en-IN" sz="2800" dirty="0"/>
              <a:t> of general cognitive ability, patients </a:t>
            </a:r>
            <a:r>
              <a:rPr lang="en-IN" sz="2800" b="1" dirty="0"/>
              <a:t>require 24-hour care and supervision</a:t>
            </a:r>
            <a:r>
              <a:rPr lang="en-IN" sz="2800" dirty="0"/>
              <a:t>. </a:t>
            </a:r>
          </a:p>
          <a:p>
            <a:r>
              <a:rPr lang="en-IN" sz="2800" dirty="0"/>
              <a:t>This is because, although their intellectual functions are retained, they </a:t>
            </a:r>
            <a:br>
              <a:rPr lang="en-IN" sz="2800" dirty="0"/>
            </a:br>
            <a:r>
              <a:rPr lang="en-IN" sz="2800" dirty="0"/>
              <a:t>are </a:t>
            </a:r>
            <a:r>
              <a:rPr lang="en-IN" sz="2800" b="1" dirty="0"/>
              <a:t>unable to apply these cognitive skills appropriately in their everyday life</a:t>
            </a:r>
            <a:r>
              <a:rPr lang="en-IN" sz="2800" dirty="0"/>
              <a:t>. </a:t>
            </a:r>
          </a:p>
          <a:p>
            <a:r>
              <a:rPr lang="en-IN" sz="2800" dirty="0"/>
              <a:t>Such patients </a:t>
            </a:r>
            <a:r>
              <a:rPr lang="en-IN" sz="2800" b="1" dirty="0"/>
              <a:t>may compromise their own safety </a:t>
            </a:r>
            <a:r>
              <a:rPr lang="en-IN" sz="2800" dirty="0"/>
              <a:t>by leaving the stove lit, the gas turned on, or taps running, or failing to lock doors. </a:t>
            </a:r>
          </a:p>
          <a:p>
            <a:r>
              <a:rPr lang="en-IN" sz="2800" dirty="0"/>
              <a:t>They </a:t>
            </a:r>
            <a:r>
              <a:rPr lang="en-IN" sz="2800" b="1" dirty="0"/>
              <a:t>fail to plan meals or to shop</a:t>
            </a:r>
            <a:r>
              <a:rPr lang="en-IN" sz="2800" dirty="0"/>
              <a:t>, and may also </a:t>
            </a:r>
            <a:r>
              <a:rPr lang="en-IN" sz="2800" b="1" dirty="0"/>
              <a:t>neglect their own hygiene </a:t>
            </a:r>
            <a:r>
              <a:rPr lang="en-IN" sz="2800" dirty="0"/>
              <a:t>and fail to change or wash their clothes. </a:t>
            </a:r>
          </a:p>
          <a:p>
            <a:r>
              <a:rPr lang="en-IN" sz="2800" b="1" dirty="0"/>
              <a:t>Activities are impulsively conceived but rarely carried out</a:t>
            </a:r>
            <a:r>
              <a:rPr lang="en-IN" sz="2800" dirty="0"/>
              <a:t>, or if begun not completed. </a:t>
            </a:r>
          </a:p>
          <a:p>
            <a:endParaRPr lang="en-IN" sz="2800" dirty="0"/>
          </a:p>
          <a:p>
            <a:pPr marL="0" indent="0">
              <a:buNone/>
            </a:pPr>
            <a:endParaRPr lang="en-IN" sz="2800" dirty="0"/>
          </a:p>
          <a:p>
            <a:pPr marL="0" indent="0">
              <a:buNone/>
            </a:pPr>
            <a:br>
              <a:rPr lang="en-IN" sz="2800" dirty="0"/>
            </a:br>
            <a:endParaRPr lang="en-IN" sz="2800" dirty="0"/>
          </a:p>
          <a:p>
            <a:pPr marL="0" indent="0">
              <a:buNone/>
            </a:pPr>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31348117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F528B35-0CA2-724D-9670-A17CE508B3ED}"/>
              </a:ext>
            </a:extLst>
          </p:cNvPr>
          <p:cNvSpPr txBox="1">
            <a:spLocks/>
          </p:cNvSpPr>
          <p:nvPr/>
        </p:nvSpPr>
        <p:spPr>
          <a:xfrm>
            <a:off x="263471" y="681496"/>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800" dirty="0"/>
          </a:p>
          <a:p>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
        <p:nvSpPr>
          <p:cNvPr id="3" name="TextBox 2">
            <a:extLst>
              <a:ext uri="{FF2B5EF4-FFF2-40B4-BE49-F238E27FC236}">
                <a16:creationId xmlns:a16="http://schemas.microsoft.com/office/drawing/2014/main" id="{0C54AD5D-6A57-7249-A52A-368D5C33666E}"/>
              </a:ext>
            </a:extLst>
          </p:cNvPr>
          <p:cNvSpPr txBox="1"/>
          <p:nvPr/>
        </p:nvSpPr>
        <p:spPr>
          <a:xfrm>
            <a:off x="7222210" y="1239864"/>
            <a:ext cx="184731" cy="369332"/>
          </a:xfrm>
          <a:prstGeom prst="rect">
            <a:avLst/>
          </a:prstGeom>
          <a:noFill/>
        </p:spPr>
        <p:txBody>
          <a:bodyPr wrap="none" rtlCol="0">
            <a:spAutoFit/>
          </a:bodyPr>
          <a:lstStyle/>
          <a:p>
            <a:endParaRPr lang="en-US"/>
          </a:p>
        </p:txBody>
      </p:sp>
      <p:sp>
        <p:nvSpPr>
          <p:cNvPr id="6" name="Content Placeholder 2">
            <a:extLst>
              <a:ext uri="{FF2B5EF4-FFF2-40B4-BE49-F238E27FC236}">
                <a16:creationId xmlns:a16="http://schemas.microsoft.com/office/drawing/2014/main" id="{DF439400-40A0-DF41-8DC9-F5452509B536}"/>
              </a:ext>
            </a:extLst>
          </p:cNvPr>
          <p:cNvSpPr txBox="1">
            <a:spLocks/>
          </p:cNvSpPr>
          <p:nvPr/>
        </p:nvSpPr>
        <p:spPr>
          <a:xfrm>
            <a:off x="415871" y="833896"/>
            <a:ext cx="1131634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According to </a:t>
            </a:r>
            <a:r>
              <a:rPr lang="en-IN" sz="2800" b="1" dirty="0"/>
              <a:t>Beaumont (2008)</a:t>
            </a:r>
            <a:r>
              <a:rPr lang="en-IN" sz="2800" dirty="0"/>
              <a:t>, frontal lobe syndrome is </a:t>
            </a:r>
            <a:r>
              <a:rPr lang="en-IN" sz="2800" b="1" dirty="0"/>
              <a:t>difficult to rehabilitate</a:t>
            </a:r>
            <a:r>
              <a:rPr lang="en-IN" sz="2800" dirty="0"/>
              <a:t> due </a:t>
            </a:r>
            <a:r>
              <a:rPr lang="en-IN" sz="2800" b="1" dirty="0"/>
              <a:t>to lack of insight and awareness </a:t>
            </a:r>
            <a:r>
              <a:rPr lang="en-IN" sz="2800" dirty="0"/>
              <a:t>on the part of the patients. </a:t>
            </a:r>
          </a:p>
          <a:p>
            <a:endParaRPr lang="en-IN" sz="2800" dirty="0"/>
          </a:p>
          <a:p>
            <a:r>
              <a:rPr lang="en-IN" sz="2800" dirty="0"/>
              <a:t>Had they been aware, they would no longer have the problem, retaining the cognitive abilities to perform the relevant tasks appropriately. </a:t>
            </a:r>
          </a:p>
          <a:p>
            <a:endParaRPr lang="en-IN" sz="2800" dirty="0"/>
          </a:p>
          <a:p>
            <a:r>
              <a:rPr lang="en-IN" sz="2800" dirty="0"/>
              <a:t>It is this </a:t>
            </a:r>
            <a:r>
              <a:rPr lang="en-IN" sz="2800" b="1" dirty="0"/>
              <a:t>lack of insight</a:t>
            </a:r>
            <a:r>
              <a:rPr lang="en-IN" sz="2800" dirty="0"/>
              <a:t>, and the </a:t>
            </a:r>
            <a:r>
              <a:rPr lang="en-IN" sz="2800" b="1" dirty="0"/>
              <a:t>inability to appreciate the consequences of their actions</a:t>
            </a:r>
            <a:r>
              <a:rPr lang="en-IN" sz="2800" dirty="0"/>
              <a:t>, that makes the frontal lobe syndrome so </a:t>
            </a:r>
            <a:r>
              <a:rPr lang="en-IN" sz="2800" b="1" dirty="0"/>
              <a:t>disabling</a:t>
            </a:r>
            <a:r>
              <a:rPr lang="en-IN" sz="2800" dirty="0"/>
              <a:t> and leads to a </a:t>
            </a:r>
            <a:r>
              <a:rPr lang="en-IN" sz="2800" b="1" dirty="0"/>
              <a:t>substantial, and lifelong</a:t>
            </a:r>
            <a:r>
              <a:rPr lang="en-IN" sz="2800" dirty="0"/>
              <a:t>, need for </a:t>
            </a:r>
            <a:r>
              <a:rPr lang="en-IN" sz="2800" b="1" dirty="0"/>
              <a:t>care </a:t>
            </a:r>
            <a:br>
              <a:rPr lang="en-IN" sz="2800" b="1" dirty="0"/>
            </a:br>
            <a:r>
              <a:rPr lang="en-IN" sz="2800" b="1" dirty="0"/>
              <a:t>and supervision.</a:t>
            </a:r>
          </a:p>
          <a:p>
            <a:endParaRPr lang="en-IN" sz="2800" dirty="0"/>
          </a:p>
          <a:p>
            <a:pPr marL="0" indent="0">
              <a:buNone/>
            </a:pPr>
            <a:endParaRPr lang="en-IN" sz="2800" dirty="0"/>
          </a:p>
          <a:p>
            <a:pPr marL="0" indent="0">
              <a:buNone/>
            </a:pPr>
            <a:br>
              <a:rPr lang="en-IN" sz="2800" dirty="0"/>
            </a:br>
            <a:endParaRPr lang="en-IN" sz="2800" dirty="0"/>
          </a:p>
          <a:p>
            <a:pPr marL="0" indent="0">
              <a:buNone/>
            </a:pPr>
            <a:endParaRPr lang="en-IN" sz="2800" dirty="0"/>
          </a:p>
          <a:p>
            <a:endParaRPr lang="en-IN" dirty="0"/>
          </a:p>
          <a:p>
            <a:endParaRPr lang="en-IN" dirty="0"/>
          </a:p>
          <a:p>
            <a:endParaRPr lang="en-IN" dirty="0"/>
          </a:p>
          <a:p>
            <a:endParaRPr lang="en-IN" dirty="0"/>
          </a:p>
          <a:p>
            <a:endParaRPr lang="en-IN" dirty="0"/>
          </a:p>
          <a:p>
            <a:endParaRPr lang="en-IN" dirty="0"/>
          </a:p>
          <a:p>
            <a:endParaRPr lang="en-IN" sz="2400" dirty="0"/>
          </a:p>
          <a:p>
            <a:pPr lvl="1"/>
            <a:endParaRPr lang="en-IN" sz="2400" dirty="0"/>
          </a:p>
          <a:p>
            <a:pPr lvl="1"/>
            <a:endParaRPr lang="en-IN" sz="2600" dirty="0"/>
          </a:p>
          <a:p>
            <a:endParaRPr lang="en-IN" sz="2800" dirty="0"/>
          </a:p>
          <a:p>
            <a:pPr marL="0" indent="0">
              <a:buNone/>
            </a:pPr>
            <a:endParaRPr lang="en-IN" sz="2800" u="sng" dirty="0"/>
          </a:p>
          <a:p>
            <a:endParaRPr lang="en-US" dirty="0"/>
          </a:p>
        </p:txBody>
      </p:sp>
    </p:spTree>
    <p:extLst>
      <p:ext uri="{BB962C8B-B14F-4D97-AF65-F5344CB8AC3E}">
        <p14:creationId xmlns:p14="http://schemas.microsoft.com/office/powerpoint/2010/main" val="110993510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7BFE4-9012-AD48-9D25-A7668C073BED}"/>
              </a:ext>
            </a:extLst>
          </p:cNvPr>
          <p:cNvSpPr>
            <a:spLocks noGrp="1"/>
          </p:cNvSpPr>
          <p:nvPr>
            <p:ph type="ctrTitle"/>
          </p:nvPr>
        </p:nvSpPr>
        <p:spPr>
          <a:xfrm>
            <a:off x="581191" y="515935"/>
            <a:ext cx="10993549" cy="1475013"/>
          </a:xfrm>
        </p:spPr>
        <p:txBody>
          <a:bodyPr/>
          <a:lstStyle/>
          <a:p>
            <a:r>
              <a:rPr lang="en-US" dirty="0"/>
              <a:t>REFERENCES</a:t>
            </a:r>
          </a:p>
        </p:txBody>
      </p:sp>
    </p:spTree>
    <p:extLst>
      <p:ext uri="{BB962C8B-B14F-4D97-AF65-F5344CB8AC3E}">
        <p14:creationId xmlns:p14="http://schemas.microsoft.com/office/powerpoint/2010/main" val="195080634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A324978-6F7F-6241-81A6-E08902F6B999}"/>
              </a:ext>
            </a:extLst>
          </p:cNvPr>
          <p:cNvSpPr txBox="1">
            <a:spLocks/>
          </p:cNvSpPr>
          <p:nvPr/>
        </p:nvSpPr>
        <p:spPr>
          <a:xfrm>
            <a:off x="581192" y="712382"/>
            <a:ext cx="11029615" cy="5986130"/>
          </a:xfrm>
          <a:prstGeom prst="rect">
            <a:avLst/>
          </a:prstGeom>
        </p:spPr>
        <p:txBody>
          <a:bodyP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600" dirty="0"/>
          </a:p>
          <a:p>
            <a:endParaRPr lang="en-IN" sz="2600" i="1" dirty="0"/>
          </a:p>
          <a:p>
            <a:endParaRPr lang="en-US" sz="2600" i="1" dirty="0"/>
          </a:p>
          <a:p>
            <a:pPr marL="0" indent="0">
              <a:buFont typeface="Wingdings 2" panose="05020102010507070707" pitchFamily="18" charset="2"/>
              <a:buNone/>
            </a:pPr>
            <a:endParaRPr lang="en-US" sz="2600" dirty="0"/>
          </a:p>
        </p:txBody>
      </p:sp>
      <p:sp>
        <p:nvSpPr>
          <p:cNvPr id="3" name="Content Placeholder 2">
            <a:extLst>
              <a:ext uri="{FF2B5EF4-FFF2-40B4-BE49-F238E27FC236}">
                <a16:creationId xmlns:a16="http://schemas.microsoft.com/office/drawing/2014/main" id="{0B9ECC73-3FB9-4E45-89A0-1260429AADDF}"/>
              </a:ext>
            </a:extLst>
          </p:cNvPr>
          <p:cNvSpPr txBox="1">
            <a:spLocks/>
          </p:cNvSpPr>
          <p:nvPr/>
        </p:nvSpPr>
        <p:spPr>
          <a:xfrm>
            <a:off x="358580" y="847182"/>
            <a:ext cx="1167226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Beaumont, J. G. (2008). </a:t>
            </a:r>
            <a:r>
              <a:rPr lang="en-IN" sz="2800" i="1" dirty="0"/>
              <a:t>Introduction to neuropsychology</a:t>
            </a:r>
            <a:r>
              <a:rPr lang="en-IN" sz="2800" dirty="0"/>
              <a:t>. Guilford Press.</a:t>
            </a:r>
          </a:p>
          <a:p>
            <a:r>
              <a:rPr lang="en-IN" sz="2800" dirty="0"/>
              <a:t>Chow, T. W. (2000). Personality in frontal lobe disorders. </a:t>
            </a:r>
            <a:r>
              <a:rPr lang="en-IN" sz="2800" i="1" dirty="0"/>
              <a:t>Current psychiatry reports</a:t>
            </a:r>
            <a:r>
              <a:rPr lang="en-IN" sz="2800" dirty="0"/>
              <a:t>, </a:t>
            </a:r>
            <a:r>
              <a:rPr lang="en-IN" sz="2800" i="1" dirty="0"/>
              <a:t>2</a:t>
            </a:r>
            <a:r>
              <a:rPr lang="en-IN" sz="2800" dirty="0"/>
              <a:t>(5), 446-451.</a:t>
            </a:r>
          </a:p>
          <a:p>
            <a:r>
              <a:rPr lang="en-IN" sz="2800" dirty="0"/>
              <a:t>Kolb, B., &amp; </a:t>
            </a:r>
            <a:r>
              <a:rPr lang="en-IN" sz="2800" dirty="0" err="1"/>
              <a:t>Whishaw</a:t>
            </a:r>
            <a:r>
              <a:rPr lang="en-IN" sz="2800" dirty="0"/>
              <a:t>, I. Q. (2009). </a:t>
            </a:r>
            <a:r>
              <a:rPr lang="en-IN" sz="2800" i="1" dirty="0"/>
              <a:t>Fundamentals of human neuropsychology</a:t>
            </a:r>
            <a:r>
              <a:rPr lang="en-IN" sz="2800" dirty="0"/>
              <a:t>. Macmillan.</a:t>
            </a:r>
          </a:p>
          <a:p>
            <a:r>
              <a:rPr lang="en-IN" sz="2800" dirty="0" err="1"/>
              <a:t>Godefroy</a:t>
            </a:r>
            <a:r>
              <a:rPr lang="en-IN" sz="2800" dirty="0"/>
              <a:t>, O. (2003). Frontal syndrome and disorders of executive functions. </a:t>
            </a:r>
            <a:r>
              <a:rPr lang="en-IN" sz="2800" i="1" dirty="0"/>
              <a:t>Journal of neurology</a:t>
            </a:r>
            <a:r>
              <a:rPr lang="en-IN" sz="2800" dirty="0"/>
              <a:t>, </a:t>
            </a:r>
            <a:r>
              <a:rPr lang="en-IN" sz="2800" i="1" dirty="0"/>
              <a:t>250</a:t>
            </a:r>
            <a:r>
              <a:rPr lang="en-IN" sz="2800" dirty="0"/>
              <a:t>(1), 1-6.</a:t>
            </a:r>
          </a:p>
          <a:p>
            <a:r>
              <a:rPr lang="en-IN" sz="2800" dirty="0"/>
              <a:t>Goldberg, E., &amp; </a:t>
            </a:r>
            <a:r>
              <a:rPr lang="en-IN" sz="2800" dirty="0" err="1"/>
              <a:t>Bougakov</a:t>
            </a:r>
            <a:r>
              <a:rPr lang="en-IN" sz="2800" dirty="0"/>
              <a:t>, D. (2005). Neuropsychologic assessment of frontal lobe dysfunction. </a:t>
            </a:r>
            <a:r>
              <a:rPr lang="en-IN" sz="2800" i="1" dirty="0"/>
              <a:t>Psychiatric Clinics</a:t>
            </a:r>
            <a:r>
              <a:rPr lang="en-IN" sz="2800" dirty="0"/>
              <a:t>, </a:t>
            </a:r>
            <a:r>
              <a:rPr lang="en-IN" sz="2800" i="1" dirty="0"/>
              <a:t>28</a:t>
            </a:r>
            <a:r>
              <a:rPr lang="en-IN" sz="2800" dirty="0"/>
              <a:t>(3), 567-580.</a:t>
            </a:r>
          </a:p>
          <a:p>
            <a:r>
              <a:rPr lang="en-IN" sz="2800" dirty="0"/>
              <a:t>Hoffmann, M. (2013). The human frontal lobes and frontal network systems: an evolutionary, clinical, and treatment perspective. </a:t>
            </a:r>
            <a:r>
              <a:rPr lang="en-IN" sz="2800" i="1" dirty="0"/>
              <a:t>ISRN neurology</a:t>
            </a:r>
            <a:r>
              <a:rPr lang="en-IN" sz="2800" dirty="0"/>
              <a:t>, </a:t>
            </a:r>
            <a:r>
              <a:rPr lang="en-IN" sz="2800" i="1" dirty="0"/>
              <a:t>2013</a:t>
            </a:r>
            <a:r>
              <a:rPr lang="en-IN" sz="2800" dirty="0"/>
              <a:t>.</a:t>
            </a:r>
          </a:p>
          <a:p>
            <a:pPr marL="0" indent="0">
              <a:buNone/>
            </a:pPr>
            <a:endParaRPr lang="en-IN" sz="2800" dirty="0"/>
          </a:p>
          <a:p>
            <a:pPr lvl="1"/>
            <a:endParaRPr lang="en-IN" sz="2800" dirty="0"/>
          </a:p>
          <a:p>
            <a:pPr lvl="1"/>
            <a:endParaRPr lang="en-IN" dirty="0"/>
          </a:p>
          <a:p>
            <a:pPr marL="571500" indent="-571500">
              <a:buAutoNum type="romanUcPeriod" startAt="2"/>
            </a:pPr>
            <a:endParaRPr lang="en-IN" sz="2800" dirty="0"/>
          </a:p>
          <a:p>
            <a:pPr marL="1165500" lvl="2" indent="-571500">
              <a:buFont typeface="Arial" panose="020B0604020202020204" pitchFamily="34" charset="0"/>
              <a:buChar char="•"/>
            </a:pPr>
            <a:endParaRPr lang="en-US" sz="2600" dirty="0"/>
          </a:p>
          <a:p>
            <a:pPr marL="324000" lvl="1" indent="0">
              <a:buNone/>
            </a:pPr>
            <a:endParaRPr lang="en-US" sz="2800" dirty="0"/>
          </a:p>
          <a:p>
            <a:pPr lvl="1">
              <a:buFont typeface="Wingdings" pitchFamily="2" charset="2"/>
              <a:buChar char="§"/>
            </a:pPr>
            <a:endParaRPr lang="en-IN" sz="2600" dirty="0"/>
          </a:p>
          <a:p>
            <a:pPr marL="324000" lvl="1" indent="0">
              <a:buNone/>
            </a:pPr>
            <a:endParaRPr lang="en-US" sz="2400" dirty="0"/>
          </a:p>
          <a:p>
            <a:pPr marL="324000" lvl="1" indent="0">
              <a:buNone/>
            </a:pPr>
            <a:endParaRPr lang="en-IN" sz="2600" dirty="0"/>
          </a:p>
          <a:p>
            <a:pPr marL="0" indent="0">
              <a:buNone/>
            </a:pPr>
            <a:endParaRPr lang="en-IN" sz="2800" dirty="0"/>
          </a:p>
          <a:p>
            <a:endParaRPr lang="en-IN" sz="2600" dirty="0"/>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411418070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A324978-6F7F-6241-81A6-E08902F6B999}"/>
              </a:ext>
            </a:extLst>
          </p:cNvPr>
          <p:cNvSpPr txBox="1">
            <a:spLocks/>
          </p:cNvSpPr>
          <p:nvPr/>
        </p:nvSpPr>
        <p:spPr>
          <a:xfrm>
            <a:off x="581192" y="712382"/>
            <a:ext cx="11029615" cy="5986130"/>
          </a:xfrm>
          <a:prstGeom prst="rect">
            <a:avLst/>
          </a:prstGeom>
        </p:spPr>
        <p:txBody>
          <a:bodyP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2600" dirty="0"/>
          </a:p>
          <a:p>
            <a:endParaRPr lang="en-IN" sz="2600" i="1" dirty="0"/>
          </a:p>
          <a:p>
            <a:endParaRPr lang="en-US" sz="2600" i="1" dirty="0"/>
          </a:p>
          <a:p>
            <a:pPr marL="0" indent="0">
              <a:buFont typeface="Wingdings 2" panose="05020102010507070707" pitchFamily="18" charset="2"/>
              <a:buNone/>
            </a:pPr>
            <a:endParaRPr lang="en-US" sz="2600" dirty="0"/>
          </a:p>
        </p:txBody>
      </p:sp>
      <p:sp>
        <p:nvSpPr>
          <p:cNvPr id="3" name="Content Placeholder 2">
            <a:extLst>
              <a:ext uri="{FF2B5EF4-FFF2-40B4-BE49-F238E27FC236}">
                <a16:creationId xmlns:a16="http://schemas.microsoft.com/office/drawing/2014/main" id="{0B9ECC73-3FB9-4E45-89A0-1260429AADDF}"/>
              </a:ext>
            </a:extLst>
          </p:cNvPr>
          <p:cNvSpPr txBox="1">
            <a:spLocks/>
          </p:cNvSpPr>
          <p:nvPr/>
        </p:nvSpPr>
        <p:spPr>
          <a:xfrm>
            <a:off x="358580" y="847182"/>
            <a:ext cx="11672260" cy="629496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IN" sz="2800" dirty="0"/>
              <a:t>Martin, G. N. (2006). </a:t>
            </a:r>
            <a:r>
              <a:rPr lang="en-IN" sz="2800" i="1" dirty="0"/>
              <a:t>Human neuropsychology</a:t>
            </a:r>
            <a:r>
              <a:rPr lang="en-IN" sz="2800" dirty="0"/>
              <a:t>. Pearson education.</a:t>
            </a:r>
          </a:p>
          <a:p>
            <a:r>
              <a:rPr lang="en-IN" sz="2800" dirty="0" err="1"/>
              <a:t>Pirau</a:t>
            </a:r>
            <a:r>
              <a:rPr lang="en-IN" sz="2800" dirty="0"/>
              <a:t>, L., &amp; </a:t>
            </a:r>
            <a:r>
              <a:rPr lang="en-IN" sz="2800" dirty="0" err="1"/>
              <a:t>Lui</a:t>
            </a:r>
            <a:r>
              <a:rPr lang="en-IN" sz="2800" dirty="0"/>
              <a:t>, F. (2018). Frontal Lobe Syndrome. In </a:t>
            </a:r>
            <a:r>
              <a:rPr lang="en-IN" sz="2800" i="1" dirty="0" err="1"/>
              <a:t>StatPearls</a:t>
            </a:r>
            <a:r>
              <a:rPr lang="en-IN" sz="2800" i="1" dirty="0"/>
              <a:t> [Internet]</a:t>
            </a:r>
            <a:r>
              <a:rPr lang="en-IN" sz="2800" dirty="0"/>
              <a:t>. </a:t>
            </a:r>
            <a:r>
              <a:rPr lang="en-IN" sz="2800" dirty="0" err="1"/>
              <a:t>StatPearls</a:t>
            </a:r>
            <a:r>
              <a:rPr lang="en-IN" sz="2800" dirty="0"/>
              <a:t> Publishing.</a:t>
            </a:r>
          </a:p>
          <a:p>
            <a:r>
              <a:rPr lang="en-IN" sz="2800" dirty="0"/>
              <a:t>Small, D. M., Bender, G., </a:t>
            </a:r>
            <a:r>
              <a:rPr lang="en-IN" sz="2800" dirty="0" err="1"/>
              <a:t>Veldhuizen</a:t>
            </a:r>
            <a:r>
              <a:rPr lang="en-IN" sz="2800" dirty="0"/>
              <a:t>, M. G., </a:t>
            </a:r>
            <a:r>
              <a:rPr lang="en-IN" sz="2800" dirty="0" err="1"/>
              <a:t>Rudenga</a:t>
            </a:r>
            <a:r>
              <a:rPr lang="en-IN" sz="2800" dirty="0"/>
              <a:t>, K., </a:t>
            </a:r>
            <a:r>
              <a:rPr lang="en-IN" sz="2800" dirty="0" err="1"/>
              <a:t>Nachtigal</a:t>
            </a:r>
            <a:r>
              <a:rPr lang="en-IN" sz="2800" dirty="0"/>
              <a:t>, D., &amp; </a:t>
            </a:r>
            <a:r>
              <a:rPr lang="en-IN" sz="2800" dirty="0" err="1"/>
              <a:t>Felsted</a:t>
            </a:r>
            <a:r>
              <a:rPr lang="en-IN" sz="2800" dirty="0"/>
              <a:t>, J. (2007). The role of the human orbitofrontal cortex in taste and </a:t>
            </a:r>
            <a:r>
              <a:rPr lang="en-IN" sz="2800" dirty="0" err="1"/>
              <a:t>flavor</a:t>
            </a:r>
            <a:r>
              <a:rPr lang="en-IN" sz="2800" dirty="0"/>
              <a:t> processing. </a:t>
            </a:r>
            <a:r>
              <a:rPr lang="en-IN" sz="2800" i="1" dirty="0"/>
              <a:t>Annals of the New York Academy of Sciences</a:t>
            </a:r>
            <a:r>
              <a:rPr lang="en-IN" sz="2800" dirty="0"/>
              <a:t>, </a:t>
            </a:r>
            <a:r>
              <a:rPr lang="en-IN" sz="2800" i="1" dirty="0"/>
              <a:t>1121</a:t>
            </a:r>
            <a:r>
              <a:rPr lang="en-IN" sz="2800" dirty="0"/>
              <a:t>(1), 136-151.</a:t>
            </a:r>
          </a:p>
          <a:p>
            <a:r>
              <a:rPr lang="en-IN" sz="2800" dirty="0" err="1"/>
              <a:t>Stuss</a:t>
            </a:r>
            <a:r>
              <a:rPr lang="en-IN" sz="2800" dirty="0"/>
              <a:t>, D. T., &amp; Alexander, M. P. (2009). Frontal lobe syndrome. In L. R. Squire (Ed.), </a:t>
            </a:r>
            <a:r>
              <a:rPr lang="en-IN" sz="2800" i="1" dirty="0" err="1"/>
              <a:t>Encyclopedia</a:t>
            </a:r>
            <a:r>
              <a:rPr lang="en-IN" sz="2800" i="1" dirty="0"/>
              <a:t> of neuroscience </a:t>
            </a:r>
            <a:r>
              <a:rPr lang="en-IN" sz="2800" dirty="0"/>
              <a:t>(pp. 375-381). Elsevier.</a:t>
            </a:r>
          </a:p>
          <a:p>
            <a:r>
              <a:rPr lang="en-IN" sz="2800" dirty="0" err="1"/>
              <a:t>Stuss</a:t>
            </a:r>
            <a:r>
              <a:rPr lang="en-IN" sz="2800" dirty="0"/>
              <a:t>, D. T., &amp; Benson, D. F. (1984). Neuropsychological studies of the frontal lobes. </a:t>
            </a:r>
            <a:r>
              <a:rPr lang="en-IN" sz="2800" i="1" dirty="0"/>
              <a:t>Psychological bulletin</a:t>
            </a:r>
            <a:r>
              <a:rPr lang="en-IN" sz="2800" dirty="0"/>
              <a:t>, </a:t>
            </a:r>
            <a:r>
              <a:rPr lang="en-IN" sz="2800" i="1" dirty="0"/>
              <a:t>95</a:t>
            </a:r>
            <a:r>
              <a:rPr lang="en-IN" sz="2800" dirty="0"/>
              <a:t>(1), 3.</a:t>
            </a:r>
            <a:endParaRPr lang="en-IN" sz="2800" b="1" dirty="0"/>
          </a:p>
          <a:p>
            <a:pPr lvl="1"/>
            <a:endParaRPr lang="en-IN" sz="2800" dirty="0"/>
          </a:p>
          <a:p>
            <a:pPr lvl="1"/>
            <a:endParaRPr lang="en-IN" dirty="0"/>
          </a:p>
          <a:p>
            <a:pPr marL="571500" indent="-571500">
              <a:buAutoNum type="romanUcPeriod" startAt="2"/>
            </a:pPr>
            <a:endParaRPr lang="en-IN" sz="2800" dirty="0"/>
          </a:p>
          <a:p>
            <a:pPr marL="1165500" lvl="2" indent="-571500">
              <a:buFont typeface="Arial" panose="020B0604020202020204" pitchFamily="34" charset="0"/>
              <a:buChar char="•"/>
            </a:pPr>
            <a:endParaRPr lang="en-US" sz="2600" dirty="0"/>
          </a:p>
          <a:p>
            <a:pPr marL="324000" lvl="1" indent="0">
              <a:buNone/>
            </a:pPr>
            <a:endParaRPr lang="en-US" sz="2800" dirty="0"/>
          </a:p>
          <a:p>
            <a:pPr lvl="1">
              <a:buFont typeface="Wingdings" pitchFamily="2" charset="2"/>
              <a:buChar char="§"/>
            </a:pPr>
            <a:endParaRPr lang="en-IN" sz="2600" dirty="0"/>
          </a:p>
          <a:p>
            <a:pPr marL="324000" lvl="1" indent="0">
              <a:buNone/>
            </a:pPr>
            <a:endParaRPr lang="en-US" sz="2400" dirty="0"/>
          </a:p>
          <a:p>
            <a:pPr marL="324000" lvl="1" indent="0">
              <a:buNone/>
            </a:pPr>
            <a:endParaRPr lang="en-IN" sz="2600" dirty="0"/>
          </a:p>
          <a:p>
            <a:pPr marL="0" indent="0">
              <a:buNone/>
            </a:pPr>
            <a:endParaRPr lang="en-IN" sz="2800" dirty="0"/>
          </a:p>
          <a:p>
            <a:endParaRPr lang="en-IN" sz="2600" dirty="0"/>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576188090"/>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24693</TotalTime>
  <Words>5005</Words>
  <Application>Microsoft Macintosh PowerPoint</Application>
  <PresentationFormat>Widescreen</PresentationFormat>
  <Paragraphs>1442</Paragraphs>
  <Slides>87</Slides>
  <Notes>72</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87</vt:i4>
      </vt:variant>
    </vt:vector>
  </HeadingPairs>
  <TitlesOfParts>
    <vt:vector size="94" baseType="lpstr">
      <vt:lpstr>Arial</vt:lpstr>
      <vt:lpstr>Calibri</vt:lpstr>
      <vt:lpstr>Gill Sans MT</vt:lpstr>
      <vt:lpstr>Times New Roman</vt:lpstr>
      <vt:lpstr>Wingdings</vt:lpstr>
      <vt:lpstr>Wingdings 2</vt:lpstr>
      <vt:lpstr>Dividend</vt:lpstr>
      <vt:lpstr>PowerPoint Presentation</vt:lpstr>
      <vt:lpstr>OVERVIEW</vt:lpstr>
      <vt:lpstr>INTRODUCTION</vt:lpstr>
      <vt:lpstr>THE CEREBRAL CORTEX</vt:lpstr>
      <vt:lpstr>PowerPoint Presentation</vt:lpstr>
      <vt:lpstr>INTRODUCTION</vt:lpstr>
      <vt:lpstr>PowerPoint Presentation</vt:lpstr>
      <vt:lpstr>PowerPoint Presentation</vt:lpstr>
      <vt:lpstr>PowerPoint Presentation</vt:lpstr>
      <vt:lpstr>PowerPoint Presentation</vt:lpstr>
      <vt:lpstr>FRONTAL LOBE</vt:lpstr>
      <vt:lpstr>PowerPoint Presentation</vt:lpstr>
      <vt:lpstr>PowerPoint Presentation</vt:lpstr>
      <vt:lpstr>MOTOR FUNCTIONS (premotor &amp; motor cortex)</vt:lpstr>
      <vt:lpstr>SPEECH &amp; LANGUAGE FUNCTIONS (BROCA’S AREA)</vt:lpstr>
      <vt:lpstr>COGNITIVE &amp; EXECUTIVE FUNCTIONS (prefrontal cortex)</vt:lpstr>
      <vt:lpstr>PowerPoint Presentation</vt:lpstr>
      <vt:lpstr>PERSONALITY &amp; behavior (PREFRONTAL CORTEX)</vt:lpstr>
      <vt:lpstr>SENSORY-PERCEPTUAL JUDGEMENT (ofc)</vt:lpstr>
      <vt:lpstr>FRONTAL LOBE SYNDROME</vt:lpstr>
      <vt:lpstr>PowerPoint Presentation</vt:lpstr>
      <vt:lpstr>PowerPoint Presentation</vt:lpstr>
      <vt:lpstr>PowerPoint Presentation</vt:lpstr>
      <vt:lpstr>FRONTAL LOBE SYNDROME</vt:lpstr>
      <vt:lpstr>PowerPoint Presentation</vt:lpstr>
      <vt:lpstr>FRONTAL LOBE SYNDROME</vt:lpstr>
      <vt:lpstr>MOTOR SYMPTOMS </vt:lpstr>
      <vt:lpstr>PowerPoint Presentation</vt:lpstr>
      <vt:lpstr>PowerPoint Presentation</vt:lpstr>
      <vt:lpstr>PowerPoint Presentation</vt:lpstr>
      <vt:lpstr>ASSESSMENT OF MOTOR FUNCTION</vt:lpstr>
      <vt:lpstr>PowerPoint Presentation</vt:lpstr>
      <vt:lpstr>SENSORY-PERCEPTUAL SYMPTOMS</vt:lpstr>
      <vt:lpstr>SPEECH AND LANGUAGE SYMPTOMS</vt:lpstr>
      <vt:lpstr>PowerPoint Presentation</vt:lpstr>
      <vt:lpstr>PowerPoint Presentation</vt:lpstr>
      <vt:lpstr>ASSESSMENT OF SPEECH/LANGUAGE FUNCTION</vt:lpstr>
      <vt:lpstr>PowerPoint Presentation</vt:lpstr>
      <vt:lpstr>COGNITIVE SYMPTOMS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ASSESSMENT of COGNTIVE &amp; EXECUTIVE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DISTURBANCE IN PERSONALITY AND BEHAVIOR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ASSESSMENT OF PERSONALITY AND BEHAVIOR</vt:lpstr>
      <vt:lpstr>Limitations of assessment</vt:lpstr>
      <vt:lpstr>PowerPoint Presentation</vt:lpstr>
      <vt:lpstr>PowerPoint Presentation</vt:lpstr>
      <vt:lpstr>FRONTAL LOBE SYNDROME</vt:lpstr>
      <vt:lpstr>PowerPoint Presentation</vt:lpstr>
      <vt:lpstr>PowerPoint Presentation</vt:lpstr>
      <vt:lpstr>REFERENCES</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1195</cp:revision>
  <dcterms:created xsi:type="dcterms:W3CDTF">2019-03-03T15:06:55Z</dcterms:created>
  <dcterms:modified xsi:type="dcterms:W3CDTF">2019-09-01T06:58:28Z</dcterms:modified>
</cp:coreProperties>
</file>