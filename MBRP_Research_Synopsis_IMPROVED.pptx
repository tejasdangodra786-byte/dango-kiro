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C1984-1279-C281-9A2B-96B868C9D676}" v="694" dt="2026-07-14T08:13:12.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itle"/>
          <p:cNvSpPr/>
          <p:nvPr/>
        </p:nvSpPr>
        <p:spPr>
          <a:xfrm>
            <a:off x="914400" y="1371600"/>
            <a:ext cx="10363200" cy="1828800"/>
          </a:xfrm>
          <a:prstGeom prst="rect">
            <a:avLst/>
          </a:prstGeom>
          <a:noFill/>
        </p:spPr>
        <p:txBody>
          <a:bodyPr anchor="ctr"/>
          <a:lstStyle/>
          <a:p>
            <a:pPr algn="ctr"/>
            <a:r>
              <a:rPr lang="en-US" sz="2600" b="1" dirty="0">
                <a:solidFill>
                  <a:srgbClr val="FFFFFF"/>
                </a:solidFill>
                <a:latin typeface="Calibri"/>
              </a:rPr>
              <a:t>Efficacy of Brief Mindfulness-Based Relapse Prevention (B-MBRP) Intervention on Craving, Impulsivity, and Mindfulness in Substance-Dependent Patients</a:t>
            </a:r>
          </a:p>
        </p:txBody>
      </p:sp>
      <p:sp>
        <p:nvSpPr>
          <p:cNvPr id="3" name="Subtitle"/>
          <p:cNvSpPr/>
          <p:nvPr/>
        </p:nvSpPr>
        <p:spPr>
          <a:xfrm>
            <a:off x="914400" y="3200400"/>
            <a:ext cx="10363200" cy="457200"/>
          </a:xfrm>
          <a:prstGeom prst="rect">
            <a:avLst/>
          </a:prstGeom>
          <a:noFill/>
        </p:spPr>
        <p:txBody>
          <a:bodyPr anchor="ctr"/>
          <a:lstStyle/>
          <a:p>
            <a:pPr algn="ctr"/>
            <a:r>
              <a:rPr lang="en-US" sz="1600" dirty="0">
                <a:solidFill>
                  <a:srgbClr val="7DD3C0"/>
                </a:solidFill>
                <a:latin typeface="Calibri"/>
              </a:rPr>
              <a:t>A Pre-Test Post-Test Control Group Experimental Design</a:t>
            </a:r>
          </a:p>
        </p:txBody>
      </p:sp>
      <p:sp>
        <p:nvSpPr>
          <p:cNvPr id="4" name="Meta"/>
          <p:cNvSpPr/>
          <p:nvPr/>
        </p:nvSpPr>
        <p:spPr>
          <a:xfrm>
            <a:off x="914400" y="4114800"/>
            <a:ext cx="10363200" cy="2286000"/>
          </a:xfrm>
          <a:prstGeom prst="rect">
            <a:avLst/>
          </a:prstGeom>
          <a:noFill/>
        </p:spPr>
        <p:txBody>
          <a:bodyPr anchor="t"/>
          <a:lstStyle/>
          <a:p>
            <a:pPr algn="ctr"/>
            <a:r>
              <a:rPr lang="en-US" sz="1200" dirty="0">
                <a:solidFill>
                  <a:srgbClr val="B0BEC5"/>
                </a:solidFill>
                <a:latin typeface="Calibri"/>
              </a:rPr>
              <a:t>Researcher: Tejas Dangodra  |  Guide: Dr. Himanshi Singh</a:t>
            </a:r>
          </a:p>
          <a:p>
            <a:pPr algn="ctr"/>
            <a:r>
              <a:rPr lang="en-US" sz="1200" dirty="0">
                <a:solidFill>
                  <a:srgbClr val="B0BEC5"/>
                </a:solidFill>
                <a:latin typeface="Calibri"/>
              </a:rPr>
              <a:t>Department of Clinical Psychology</a:t>
            </a:r>
          </a:p>
          <a:p>
            <a:pPr algn="ctr"/>
            <a:r>
              <a:rPr lang="en-US" sz="1200" dirty="0">
                <a:solidFill>
                  <a:srgbClr val="B0BEC5"/>
                </a:solidFill>
                <a:latin typeface="Calibri"/>
              </a:rPr>
              <a:t>MAN College of Special Education &amp; Psychological Studies | Man Nasha Mukti Kendra</a:t>
            </a:r>
          </a:p>
          <a:p>
            <a:pPr algn="ctr"/>
            <a:r>
              <a:rPr lang="en-US" sz="1200" dirty="0">
                <a:solidFill>
                  <a:srgbClr val="B0BEC5"/>
                </a:solidFill>
                <a:latin typeface="Calibri"/>
              </a:rPr>
              <a:t>Krantivir Tatya Tope Vishwavidyalaya, Guna, MP | 2025-2027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Introduction: Substance Dependence in India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Indian Context:</a:t>
            </a:r>
            <a:r>
              <a:rPr lang="en-US" sz="1400" dirty="0">
                <a:solidFill>
                  <a:srgbClr val="2C3E50"/>
                </a:solidFill>
                <a:latin typeface="Calibri"/>
              </a:rPr>
              <a:t> MAGNITUDE study (2019) estimated ~3.1 crore individuals affected by substance use disorders in India</a:t>
            </a:r>
          </a:p>
          <a:p>
            <a:pPr lvl="0" marL="0" indent="-228600">
              <a:buChar char="•"/>
            </a:pPr>
            <a:r>
              <a:rPr lang="en-US" sz="1400" dirty="0">
                <a:solidFill>
                  <a:srgbClr val="2C3E50"/>
                </a:solidFill>
                <a:latin typeface="Calibri"/>
              </a:rPr>
              <a:t>Opioid dependence is a major public health burden, particularly in Punjab, Rajasthan, NE India, and metropolitan areas</a:t>
            </a:r>
          </a:p>
          <a:p>
            <a:pPr lvl="0" marL="0" indent="-228600">
              <a:buChar char="•"/>
            </a:pPr>
            <a:r>
              <a:rPr lang="en-US" sz="1400" dirty="0">
                <a:solidFill>
                  <a:srgbClr val="2C3E50"/>
                </a:solidFill>
                <a:latin typeface="Calibri"/>
              </a:rPr>
              <a:t>WHO estimates India accounts for approximately 25% of global opioid-related deaths in South-East Asia</a:t>
            </a:r>
          </a:p>
          <a:p>
            <a:pPr lvl="0" marL="0" indent="-228600">
              <a:buChar char="•"/>
            </a:pPr>
            <a:r>
              <a:rPr lang="en-US" sz="1400" b="1" dirty="0">
                <a:solidFill>
                  <a:srgbClr val="1B2A4A"/>
                </a:solidFill>
                <a:latin typeface="Calibri"/>
              </a:rPr>
              <a:t>Treatment Gap:</a:t>
            </a:r>
            <a:r>
              <a:rPr lang="en-US" sz="1400" dirty="0">
                <a:solidFill>
                  <a:srgbClr val="2C3E50"/>
                </a:solidFill>
                <a:latin typeface="Calibri"/>
              </a:rPr>
              <a:t> Indian de-addiction centers (incl. Man Nasha Mukti Kendra) primarily offer pharmacotherapy (OST, naltrexone) with limited structured psychotherapy</a:t>
            </a:r>
          </a:p>
          <a:p>
            <a:pPr lvl="0" marL="0" indent="-228600">
              <a:buChar char="•"/>
            </a:pPr>
            <a:r>
              <a:rPr lang="en-US" sz="1400" dirty="0">
                <a:solidFill>
                  <a:srgbClr val="2C3E50"/>
                </a:solidFill>
                <a:latin typeface="Calibri"/>
              </a:rPr>
              <a:t>Psychosocial interventions remain under-utilized despite evidence of superior combined treatment outcomes</a:t>
            </a:r>
          </a:p>
          <a:p>
            <a:pPr lvl="0" marL="0" indent="-228600">
              <a:buChar char="•"/>
            </a:pPr>
            <a:r>
              <a:rPr lang="en-US" sz="1400" b="1" dirty="0">
                <a:solidFill>
                  <a:srgbClr val="1B2A4A"/>
                </a:solidFill>
                <a:latin typeface="Calibri"/>
              </a:rPr>
              <a:t>Relapse Crisis:</a:t>
            </a:r>
            <a:r>
              <a:rPr lang="en-US" sz="1400" dirty="0">
                <a:solidFill>
                  <a:srgbClr val="2C3E50"/>
                </a:solidFill>
                <a:latin typeface="Calibri"/>
              </a:rPr>
              <a:t> Relapse rates range from 40-60% within first year globally (NIDA, 2020); Indian opioid studies report 70-80% (Mattoo et al., 2009)</a:t>
            </a:r>
          </a:p>
          <a:p>
            <a:pPr lvl="0" marL="0" indent="-228600">
              <a:buChar char="•"/>
            </a:pPr>
            <a:r>
              <a:rPr lang="en-US" sz="1400" dirty="0">
                <a:solidFill>
                  <a:srgbClr val="2C3E50"/>
                </a:solidFill>
                <a:latin typeface="Calibri"/>
              </a:rPr>
              <a:t>Primary triggers: craving, negative affect, interpersonal conflict, environmental cues</a:t>
            </a:r>
          </a:p>
          <a:p>
            <a:pPr lvl="0" marL="0" indent="-228600">
              <a:buChar char="•"/>
            </a:pPr>
            <a:r>
              <a:rPr lang="en-US" sz="1400" dirty="0">
                <a:solidFill>
                  <a:srgbClr val="2C3E50"/>
                </a:solidFill>
                <a:latin typeface="Calibri"/>
              </a:rPr>
              <a:t>Brief interventions essential for Indian rehab settings with limited resources and 4-6 week admission windows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Introduction: What is MBRP?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Mindfulness-Based Relapse Prevention (MBRP)</a:t>
            </a:r>
            <a:r>
              <a:rPr lang="en-US" sz="1400" dirty="0">
                <a:solidFill>
                  <a:srgbClr val="2C3E50"/>
                </a:solidFill>
                <a:latin typeface="Calibri"/>
              </a:rPr>
              <a:t> developed by Bowen, Chawla &amp; Marlatt (2011) at University of Washington</a:t>
            </a:r>
          </a:p>
          <a:p>
            <a:pPr lvl="0" marL="0" indent="-228600">
              <a:buChar char="•"/>
            </a:pPr>
            <a:r>
              <a:rPr lang="en-US" sz="1400" dirty="0">
                <a:solidFill>
                  <a:srgbClr val="2C3E50"/>
                </a:solidFill>
                <a:latin typeface="Calibri"/>
              </a:rPr>
              <a:t>Integrates mindfulness meditation with cognitive-behavioral Relapse Prevention framework</a:t>
            </a:r>
          </a:p>
          <a:p>
            <a:pPr lvl="0" marL="0" indent="-228600">
              <a:buChar char="•"/>
            </a:pPr>
            <a:r>
              <a:rPr lang="en-US" sz="1400" b="1" dirty="0">
                <a:solidFill>
                  <a:srgbClr val="1B2A4A"/>
                </a:solidFill>
                <a:latin typeface="Calibri"/>
              </a:rPr>
              <a:t>Core Mechanism:</a:t>
            </a:r>
            <a:r>
              <a:rPr lang="en-US" sz="1400" dirty="0">
                <a:solidFill>
                  <a:srgbClr val="2C3E50"/>
                </a:solidFill>
                <a:latin typeface="Calibri"/>
              </a:rPr>
              <a:t> Teaches patients to observe craving and emotional distress as transient mental events without automatically acting on them</a:t>
            </a:r>
          </a:p>
          <a:p>
            <a:pPr lvl="0" marL="0" indent="-228600">
              <a:buChar char="•"/>
            </a:pPr>
            <a:r>
              <a:rPr lang="en-US" sz="1400" b="1" dirty="0">
                <a:solidFill>
                  <a:srgbClr val="1B2A4A"/>
                </a:solidFill>
                <a:latin typeface="Calibri"/>
              </a:rPr>
              <a:t>Key Technique - Urge Surfing:</a:t>
            </a:r>
            <a:r>
              <a:rPr lang="en-US" sz="1400" dirty="0">
                <a:solidFill>
                  <a:srgbClr val="2C3E50"/>
                </a:solidFill>
                <a:latin typeface="Calibri"/>
              </a:rPr>
              <a:t> Riding the wave of craving until it passes naturally</a:t>
            </a:r>
          </a:p>
          <a:p>
            <a:pPr lvl="0" marL="0" indent="-228600">
              <a:buChar char="•"/>
            </a:pPr>
            <a:r>
              <a:rPr lang="en-US" sz="1400" b="1" dirty="0">
                <a:solidFill>
                  <a:srgbClr val="1B2A4A"/>
                </a:solidFill>
                <a:latin typeface="Calibri"/>
              </a:rPr>
              <a:t>Neurobiological Basis:</a:t>
            </a:r>
            <a:r>
              <a:rPr lang="en-US" sz="1400" dirty="0">
                <a:solidFill>
                  <a:srgbClr val="2C3E50"/>
                </a:solidFill>
                <a:latin typeface="Calibri"/>
              </a:rPr>
              <a:t> Strengthens prefrontal cortex regulation over amygdala reactivity; enhances PFC-limbic connectivity</a:t>
            </a:r>
          </a:p>
          <a:p>
            <a:pPr lvl="0" marL="0" indent="-228600">
              <a:buChar char="•"/>
            </a:pPr>
            <a:r>
              <a:rPr lang="en-US" sz="1400" b="1" dirty="0">
                <a:solidFill>
                  <a:srgbClr val="1B2A4A"/>
                </a:solidFill>
                <a:latin typeface="Calibri"/>
              </a:rPr>
              <a:t>Brief B-MBRP Adaptation:</a:t>
            </a:r>
            <a:r>
              <a:rPr lang="en-US" sz="1400" dirty="0">
                <a:solidFill>
                  <a:srgbClr val="2C3E50"/>
                </a:solidFill>
                <a:latin typeface="Calibri"/>
              </a:rPr>
              <a:t> 6 structured sessions over 3 weeks, group format (6-8 patients), 45 min/session, twice weekly</a:t>
            </a:r>
          </a:p>
          <a:p>
            <a:pPr lvl="0" marL="0" indent="-228600">
              <a:buChar char="•"/>
            </a:pPr>
            <a:r>
              <a:rPr lang="en-US" sz="1400" dirty="0">
                <a:solidFill>
                  <a:srgbClr val="2C3E50"/>
                </a:solidFill>
                <a:latin typeface="Calibri"/>
              </a:rPr>
              <a:t>Feasible within typical Indian IPD admission window of 4-6 weeks</a:t>
            </a:r>
          </a:p>
          <a:p>
            <a:pPr lvl="0" marL="0" indent="-228600">
              <a:buChar char="•"/>
            </a:pPr>
            <a:r>
              <a:rPr lang="en-US" sz="1400" b="1" dirty="0">
                <a:solidFill>
                  <a:srgbClr val="1B2A4A"/>
                </a:solidFill>
                <a:latin typeface="Calibri"/>
              </a:rPr>
              <a:t>Three Targets:</a:t>
            </a:r>
            <a:r>
              <a:rPr lang="en-US" sz="1400" dirty="0">
                <a:solidFill>
                  <a:srgbClr val="2C3E50"/>
                </a:solidFill>
                <a:latin typeface="Calibri"/>
              </a:rPr>
              <a:t> Craving (urge surfing), Impulsivity (mindful pause), Mindfulness (structured meditation)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1: Craving</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Intense, often overwhelming desire to use a substance (DSM-5 &amp; ICD-11 core feature)</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Obsessive thoughts + compulsive urges related to drug use (Franken et al., 2002)</a:t>
            </a:r>
          </a:p>
          <a:p>
            <a:pPr lvl="0" marL="0" indent="-228600">
              <a:buChar char="•"/>
            </a:pPr>
            <a:r>
              <a:rPr lang="en-US" sz="1400" b="1" dirty="0">
                <a:solidFill>
                  <a:srgbClr val="1B2A4A"/>
                </a:solidFill>
                <a:latin typeface="Calibri"/>
              </a:rPr>
              <a:t>Relevance:</a:t>
            </a:r>
            <a:r>
              <a:rPr lang="en-US" sz="1400" dirty="0">
                <a:solidFill>
                  <a:srgbClr val="2C3E50"/>
                </a:solidFill>
                <a:latin typeface="Calibri"/>
              </a:rPr>
              <a:t> Primary trigger for relapse; craving intensity predicts treatment dropout, lapse episodes, and full relapse (Tiffany &amp; Wray, 2012)</a:t>
            </a:r>
          </a:p>
          <a:p>
            <a:pPr lvl="0" marL="0" indent="-228600">
              <a:buChar char="•"/>
            </a:pPr>
            <a:r>
              <a:rPr lang="en-US" sz="1400" dirty="0">
                <a:solidFill>
                  <a:srgbClr val="2C3E50"/>
                </a:solidFill>
                <a:latin typeface="Calibri"/>
              </a:rPr>
              <a:t>Traditional suppression paradoxically increases craving intensity through rebound effects</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Mesolimbic dopamine pathway activation; Ventral striatum &amp; OFC hyperactivity to drug cues</a:t>
            </a:r>
          </a:p>
          <a:p>
            <a:pPr lvl="0" marL="0" indent="-228600">
              <a:buChar char="•"/>
            </a:pPr>
            <a:r>
              <a:rPr lang="en-US" sz="1400" dirty="0">
                <a:solidFill>
                  <a:srgbClr val="2C3E50"/>
                </a:solidFill>
                <a:latin typeface="Calibri"/>
              </a:rPr>
              <a:t>Incentive sensitization (Robinson &amp; Berridge, 1993); PFC hypoactivation during craving</a:t>
            </a:r>
          </a:p>
          <a:p>
            <a:pPr lvl="0" marL="0" indent="-228600">
              <a:buChar char="•"/>
            </a:pPr>
            <a:r>
              <a:rPr lang="en-US" sz="1400" b="1" dirty="0">
                <a:solidFill>
                  <a:srgbClr val="1B2A4A"/>
                </a:solidFill>
                <a:latin typeface="Calibri"/>
              </a:rPr>
              <a:t>MBRP Techniques Targeting Craving:</a:t>
            </a:r>
          </a:p>
          <a:p>
            <a:pPr lvl="1" marL="457200" indent="-228600">
              <a:buChar char="•"/>
            </a:pPr>
            <a:r>
              <a:rPr lang="en-US" sz="1400" dirty="0">
                <a:solidFill>
                  <a:srgbClr val="2C3E50"/>
                </a:solidFill>
                <a:latin typeface="Calibri"/>
              </a:rPr>
              <a:t>Urge Surfing: Observe craving as transient wave that rises, peaks, and falls</a:t>
            </a:r>
          </a:p>
          <a:p>
            <a:pPr lvl="1" marL="457200" indent="-228600">
              <a:buChar char="•"/>
            </a:pPr>
            <a:r>
              <a:rPr lang="en-US" sz="1400" dirty="0">
                <a:solidFill>
                  <a:srgbClr val="2C3E50"/>
                </a:solidFill>
                <a:latin typeface="Calibri"/>
              </a:rPr>
              <a:t>SOBER Space: Stop-Observe-Breathe-Expand-Respond</a:t>
            </a:r>
          </a:p>
          <a:p>
            <a:pPr lvl="1" marL="457200" indent="-228600">
              <a:buChar char="•"/>
            </a:pPr>
            <a:r>
              <a:rPr lang="en-US" sz="1400" dirty="0">
                <a:solidFill>
                  <a:srgbClr val="2C3E50"/>
                </a:solidFill>
                <a:latin typeface="Calibri"/>
              </a:rPr>
              <a:t>Cognitive Decentering: 'I am having a craving' (distancing from automatic thought)</a:t>
            </a:r>
          </a:p>
          <a:p>
            <a:pPr lvl="1" marL="457200" indent="-228600">
              <a:buChar char="•"/>
            </a:pPr>
            <a:r>
              <a:rPr lang="en-US" sz="1400" dirty="0">
                <a:solidFill>
                  <a:srgbClr val="2C3E50"/>
                </a:solidFill>
                <a:latin typeface="Calibri"/>
              </a:rPr>
              <a:t>Mindfulness Exposure: Non-reactive awareness of craving sensations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2: Impulsivity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Rapid, unplanned actions without considering consequences (Moeller et al., 2001)</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Three dimensions - Motor + Attentional + Non-Planning Impulsivity (Patton et al., 1995)</a:t>
            </a:r>
          </a:p>
          <a:p>
            <a:pPr lvl="0" marL="0" indent="-228600">
              <a:buChar char="•"/>
            </a:pPr>
            <a:r>
              <a:rPr lang="en-US" sz="1400" b="1" dirty="0">
                <a:solidFill>
                  <a:srgbClr val="1B2A4A"/>
                </a:solidFill>
                <a:latin typeface="Calibri"/>
              </a:rPr>
              <a:t>Relevance in Substance Dependence:</a:t>
            </a:r>
          </a:p>
          <a:p>
            <a:pPr lvl="1" marL="457200" indent="-228600">
              <a:buChar char="•"/>
            </a:pPr>
            <a:r>
              <a:rPr lang="en-US" sz="1400" dirty="0">
                <a:solidFill>
                  <a:srgbClr val="2C3E50"/>
                </a:solidFill>
                <a:latin typeface="Calibri"/>
              </a:rPr>
              <a:t>Higher trait impulsivity predicts relapse</a:t>
            </a:r>
          </a:p>
          <a:p>
            <a:pPr lvl="1" marL="457200" indent="-228600">
              <a:buChar char="•"/>
            </a:pPr>
            <a:r>
              <a:rPr lang="en-US" sz="1400" dirty="0">
                <a:solidFill>
                  <a:srgbClr val="2C3E50"/>
                </a:solidFill>
                <a:latin typeface="Calibri"/>
              </a:rPr>
              <a:t>Mediates craving-to-use behavior</a:t>
            </a:r>
          </a:p>
          <a:p>
            <a:pPr lvl="1" marL="457200" indent="-228600">
              <a:buChar char="•"/>
            </a:pPr>
            <a:r>
              <a:rPr lang="en-US" sz="1400" dirty="0">
                <a:solidFill>
                  <a:srgbClr val="2C3E50"/>
                </a:solidFill>
                <a:latin typeface="Calibri"/>
              </a:rPr>
              <a:t>Associated with treatment non-adherence and dropout</a:t>
            </a:r>
          </a:p>
          <a:p>
            <a:pPr lvl="1" marL="457200" indent="-228600">
              <a:buChar char="•"/>
            </a:pPr>
            <a:r>
              <a:rPr lang="en-US" sz="1400" dirty="0">
                <a:solidFill>
                  <a:srgbClr val="2C3E50"/>
                </a:solidFill>
                <a:latin typeface="Calibri"/>
              </a:rPr>
              <a:t>Both a risk factor for and a consequence of chronic substance use</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PFC dysfunction leading to impaired executive control; Reduced inhibitory control (Go/No-Go paradigms); DLPFC hypoactivation</a:t>
            </a:r>
          </a:p>
          <a:p>
            <a:pPr lvl="0" marL="0" indent="-228600">
              <a:buChar char="•"/>
            </a:pPr>
            <a:r>
              <a:rPr lang="en-US" sz="1400" b="1" dirty="0">
                <a:solidFill>
                  <a:srgbClr val="1B2A4A"/>
                </a:solidFill>
                <a:latin typeface="Calibri"/>
              </a:rPr>
              <a:t>MBRP Techniques Targeting Impulsivity:</a:t>
            </a:r>
          </a:p>
          <a:p>
            <a:pPr lvl="1" marL="457200" indent="-228600">
              <a:buChar char="•"/>
            </a:pPr>
            <a:r>
              <a:rPr lang="en-US" sz="1400" dirty="0">
                <a:solidFill>
                  <a:srgbClr val="2C3E50"/>
                </a:solidFill>
                <a:latin typeface="Calibri"/>
              </a:rPr>
              <a:t>Response Inhibition: Mindful pause before action</a:t>
            </a:r>
          </a:p>
          <a:p>
            <a:pPr lvl="1" marL="457200" indent="-228600">
              <a:buChar char="•"/>
            </a:pPr>
            <a:r>
              <a:rPr lang="en-US" sz="1400" dirty="0">
                <a:solidFill>
                  <a:srgbClr val="2C3E50"/>
                </a:solidFill>
                <a:latin typeface="Calibri"/>
              </a:rPr>
              <a:t>STOP Technique: Stop - Take a breath - Observe - Proceed</a:t>
            </a:r>
          </a:p>
          <a:p>
            <a:pPr lvl="1" marL="457200" indent="-228600">
              <a:buChar char="•"/>
            </a:pPr>
            <a:r>
              <a:rPr lang="en-US" sz="1400" dirty="0">
                <a:solidFill>
                  <a:srgbClr val="2C3E50"/>
                </a:solidFill>
                <a:latin typeface="Calibri"/>
              </a:rPr>
              <a:t>Awareness Training: Notice impulse-action sequences in real-time</a:t>
            </a:r>
          </a:p>
          <a:p>
            <a:pPr lvl="1" marL="457200" indent="-228600">
              <a:buChar char="•"/>
            </a:pPr>
            <a:r>
              <a:rPr lang="en-US" sz="1400" dirty="0">
                <a:solidFill>
                  <a:srgbClr val="2C3E50"/>
                </a:solidFill>
                <a:latin typeface="Calibri"/>
              </a:rPr>
              <a:t>Mindful Decision-Making: Creating space between stimulus and response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3: Mindfulness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Present-moment awareness with openness and non-judgment</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5 facets - Observing, Describing, Acting with Awareness, Non-Judging, Non-Reactivity (Baer et al., 2006)</a:t>
            </a:r>
          </a:p>
          <a:p>
            <a:pPr lvl="0" marL="0" indent="-228600">
              <a:buChar char="•"/>
            </a:pPr>
            <a:r>
              <a:rPr lang="en-US" sz="1400" b="1" dirty="0">
                <a:solidFill>
                  <a:srgbClr val="1B2A4A"/>
                </a:solidFill>
                <a:latin typeface="Calibri"/>
              </a:rPr>
              <a:t>Relevance in Substance Dependence:</a:t>
            </a:r>
          </a:p>
          <a:p>
            <a:pPr lvl="1" marL="457200" indent="-228600">
              <a:buChar char="•"/>
            </a:pPr>
            <a:r>
              <a:rPr lang="en-US" sz="1400" dirty="0">
                <a:solidFill>
                  <a:srgbClr val="2C3E50"/>
                </a:solidFill>
                <a:latin typeface="Calibri"/>
              </a:rPr>
              <a:t>Substance users show significantly lower dispositional mindfulness</a:t>
            </a:r>
          </a:p>
          <a:p>
            <a:pPr lvl="1" marL="457200" indent="-228600">
              <a:buChar char="•"/>
            </a:pPr>
            <a:r>
              <a:rPr lang="en-US" sz="1400" dirty="0">
                <a:solidFill>
                  <a:srgbClr val="2C3E50"/>
                </a:solidFill>
                <a:latin typeface="Calibri"/>
              </a:rPr>
              <a:t>Acts as protective factor against relapse triggers</a:t>
            </a:r>
          </a:p>
          <a:p>
            <a:pPr lvl="1" marL="457200" indent="-228600">
              <a:buChar char="•"/>
            </a:pPr>
            <a:r>
              <a:rPr lang="en-US" sz="1400" dirty="0">
                <a:solidFill>
                  <a:srgbClr val="2C3E50"/>
                </a:solidFill>
                <a:latin typeface="Calibri"/>
              </a:rPr>
              <a:t>Improvements in mindfulness mediate MBRP treatment outcomes</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ACC activation enhances self-regulation; Insula mediates interoceptive awareness; PFC-amygdala connectivity improves emotional regulation; DMN regulation reduces rumination</a:t>
            </a:r>
          </a:p>
          <a:p>
            <a:pPr lvl="0" marL="0" indent="-228600">
              <a:buChar char="•"/>
            </a:pPr>
            <a:r>
              <a:rPr lang="en-US" sz="1400" b="1" dirty="0">
                <a:solidFill>
                  <a:srgbClr val="1B2A4A"/>
                </a:solidFill>
                <a:latin typeface="Calibri"/>
              </a:rPr>
              <a:t>MBRP Techniques for Building Mindfulness:</a:t>
            </a:r>
          </a:p>
          <a:p>
            <a:pPr lvl="1" marL="457200" indent="-228600">
              <a:buChar char="•"/>
            </a:pPr>
            <a:r>
              <a:rPr lang="en-US" sz="1400" dirty="0">
                <a:solidFill>
                  <a:srgbClr val="2C3E50"/>
                </a:solidFill>
                <a:latin typeface="Calibri"/>
              </a:rPr>
              <a:t>Sitting Meditation: Focused attention on breath</a:t>
            </a:r>
          </a:p>
          <a:p>
            <a:pPr lvl="1" marL="457200" indent="-228600">
              <a:buChar char="•"/>
            </a:pPr>
            <a:r>
              <a:rPr lang="en-US" sz="1400" dirty="0">
                <a:solidFill>
                  <a:srgbClr val="2C3E50"/>
                </a:solidFill>
                <a:latin typeface="Calibri"/>
              </a:rPr>
              <a:t>Body Scan: Non-judgmental awareness of bodily sensations</a:t>
            </a:r>
          </a:p>
          <a:p>
            <a:pPr lvl="1" marL="457200" indent="-228600">
              <a:buChar char="•"/>
            </a:pPr>
            <a:r>
              <a:rPr lang="en-US" sz="1400" dirty="0">
                <a:solidFill>
                  <a:srgbClr val="2C3E50"/>
                </a:solidFill>
                <a:latin typeface="Calibri"/>
              </a:rPr>
              <a:t>Mindful Movement: Present-moment yoga/walking</a:t>
            </a:r>
          </a:p>
          <a:p>
            <a:pPr lvl="1" marL="457200" indent="-228600">
              <a:buChar char="•"/>
            </a:pPr>
            <a:r>
              <a:rPr lang="en-US" sz="1400" dirty="0">
                <a:solidFill>
                  <a:srgbClr val="2C3E50"/>
                </a:solidFill>
                <a:latin typeface="Calibri"/>
              </a:rPr>
              <a:t>Non-Judgmental Awareness: Labeling experiences without evaluation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(1/5): MBRP &amp; Relapse Prevention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Bowen et al. (2014) - JAMA Psychiatry:</a:t>
            </a:r>
            <a:r>
              <a:rPr lang="en-US" sz="1400" dirty="0">
                <a:solidFill>
                  <a:srgbClr val="2C3E50"/>
                </a:solidFill>
                <a:latin typeface="Calibri"/>
              </a:rPr>
              <a:t> N=286 RCT. At 12-month follow-up, MBRP participants reported significantly fewer days of substance use and heavy drinking compared to standard RP and TAU. MBRP maintained superior long-term outcomes through cultivation of mindfulness skills as durable protective mechanism.</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Bowen &amp; Marlatt (2009) - Psychology of Addictive Behaviors:</a:t>
            </a:r>
            <a:r>
              <a:rPr lang="en-US" sz="1400" dirty="0">
                <a:solidFill>
                  <a:srgbClr val="2C3E50"/>
                </a:solidFill>
                <a:latin typeface="Calibri"/>
              </a:rPr>
              <a:t> Brief urge surfing meditation with incarcerated substance users. Significant reductions in craving intensity and frequency vs. controls. Validates that even brief mindfulness exposure can disrupt automaticity of craving responses.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Insight:</a:t>
            </a:r>
            <a:r>
              <a:rPr lang="en-US" sz="1400" dirty="0">
                <a:solidFill>
                  <a:srgbClr val="2C3E50"/>
                </a:solidFill>
                <a:latin typeface="Calibri"/>
              </a:rPr>
              <a:t> Both studies establish that MBRP integrates present-moment awareness with cognitive-behavioral strategies, creating synergistic therapeutic effects. Supports feasibility of 6-session B-MBRP protocols.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(2/5): Craving &amp; Mindfulness Mechanisms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Garland et al. (2014) - Frontiers in Psychiatry:</a:t>
            </a:r>
            <a:r>
              <a:rPr lang="en-US" sz="1400" dirty="0">
                <a:solidFill>
                  <a:srgbClr val="2C3E50"/>
                </a:solidFill>
                <a:latin typeface="Calibri"/>
              </a:rPr>
              <a:t> Demonstrates MORE reduces opioid craving through: (1) attentional reorientation away from drug cues, (2) positive reappraisal of neutral stimuli, (3) enhanced savoring of healthy pleasures. Neuroimaging shows mindfulness modulates prefrontal and limbic craving circuits.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Witkiewitz et al. (2013) - Addictive Behaviors:</a:t>
            </a:r>
            <a:r>
              <a:rPr lang="en-US" sz="1400" dirty="0">
                <a:solidFill>
                  <a:srgbClr val="2C3E50"/>
                </a:solidFill>
                <a:latin typeface="Calibri"/>
              </a:rPr>
              <a:t> Secondary RCT analysis. Over 4-month follow-up, MBRP participants showed lower craving AND the affect-craving pathway was significantly attenuated. Mindfulness weakens the link between negative emotions and automatic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Mechanism:</a:t>
            </a:r>
            <a:r>
              <a:rPr lang="en-US" sz="1400" dirty="0">
                <a:solidFill>
                  <a:srgbClr val="2C3E50"/>
                </a:solidFill>
                <a:latin typeface="Calibri"/>
              </a:rPr>
              <a:t> MBRP decouples the affect-craving pathway. Negative emotions no longer automatically trigger craving responses - this distinguishes MBRP from traditional RP approaches.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(3/5): Impulsivity &amp; Mindfulness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Garland et al. (2016) - J Consulting &amp; Clinical Psychology:</a:t>
            </a:r>
            <a:r>
              <a:rPr lang="en-US" sz="1400" dirty="0">
                <a:solidFill>
                  <a:srgbClr val="2C3E50"/>
                </a:solidFill>
                <a:latin typeface="Calibri"/>
              </a:rPr>
              <a:t> RCT with substance-dependent adults. Mindfulness-Oriented Recovery Enhancement produced significant BIS-11 reductions in motor and attentional impulsivity. Mechanism: mindfulness strengthens prefrontal cortical inhibitory control through sustained attention and deliberate non-reactivity training.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Murphy &amp; MacKillop (2012) - Psychopharmacology:</a:t>
            </a:r>
            <a:r>
              <a:rPr lang="en-US" sz="1400" dirty="0">
                <a:solidFill>
                  <a:srgbClr val="2C3E50"/>
                </a:solidFill>
                <a:latin typeface="Calibri"/>
              </a:rPr>
              <a:t> N=340 cross-sectional. Trait mindfulness inversely associated with impulsive decision-making (delay discounting). Mindfulness moderated the impulsivity-substance use link. Higher mindfulness = weaker association between impulsivity and alcohol consequences.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Implication:</a:t>
            </a:r>
            <a:r>
              <a:rPr lang="en-US" sz="1400" dirty="0">
                <a:solidFill>
                  <a:srgbClr val="2C3E50"/>
                </a:solidFill>
                <a:latin typeface="Calibri"/>
              </a:rPr>
              <a:t> Mindfulness functions as a cognitive resource enabling impulsive individuals to override automatic behavioral tendencies through enhanced metacognitive awareness and response flexibility.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(4/5): Meta-Analyses &amp; Brief Models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Li et al. (2017) - J Substance Abuse Treatment:</a:t>
            </a:r>
            <a:r>
              <a:rPr lang="en-US" sz="1400" dirty="0">
                <a:solidFill>
                  <a:srgbClr val="2C3E50"/>
                </a:solidFill>
                <a:latin typeface="Calibri"/>
              </a:rPr>
              <a:t> Meta-analysis of 42 RCTs. Effect sizes: substance misuse (d=0.33), craving (d=0.68), stress (d=0.44). Brief interventions (4-8 sessions) showed comparable efficacy to longer protocols when appropriately structured.</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Glasner-Edwards et al. (2017) - Mindfulness:</a:t>
            </a:r>
            <a:r>
              <a:rPr lang="en-US" sz="1400" dirty="0">
                <a:solidFill>
                  <a:srgbClr val="2C3E50"/>
                </a:solidFill>
                <a:latin typeface="Calibri"/>
              </a:rPr>
              <a:t> Pilot RCT of abbreviated 6-session MBRP for stimulant-dependent adults. Both feasible and effective in reducing substance use frequency and craving intensity vs. health education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Critical Evidence:</a:t>
            </a:r>
            <a:r>
              <a:rPr lang="en-US" sz="1400" dirty="0">
                <a:solidFill>
                  <a:srgbClr val="2C3E50"/>
                </a:solidFill>
                <a:latin typeface="Calibri"/>
              </a:rPr>
              <a:t> 6-session MBRP protocols can be successfully implemented without substantial loss of efficacy, making them appropriate for Indian settings with 4-6 week admission durations. Directly validates the brief intervention model proposed in present research.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(5/5): Indian Context</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Ghosh et al. (2018) - Indian J Psychiatry:</a:t>
            </a:r>
            <a:r>
              <a:rPr lang="en-US" sz="1400" dirty="0">
                <a:solidFill>
                  <a:srgbClr val="2C3E50"/>
                </a:solidFill>
                <a:latin typeface="Calibri"/>
              </a:rPr>
              <a:t> Relapse rates exceed 70% among opioid-dependent patients in North Indian de-addiction centers within 3 months post-discharge. Primary determinants: craving, peer influence, negative affect, lack of psychological aftercare.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Sarkar &amp; Balhara (2016):</a:t>
            </a:r>
            <a:r>
              <a:rPr lang="en-US" sz="1400" dirty="0">
                <a:solidFill>
                  <a:srgbClr val="2C3E50"/>
                </a:solidFill>
                <a:latin typeface="Calibri"/>
              </a:rPr>
              <a:t> Highlights underutilization of structured psychological interventions in Indian de-addiction settings. Barriers: limited trained personnel, absent validated protocols, institutional emphasis on pharmacological management.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Jain et al. (2013):</a:t>
            </a:r>
            <a:r>
              <a:rPr lang="en-US" sz="1400" dirty="0">
                <a:solidFill>
                  <a:srgbClr val="2C3E50"/>
                </a:solidFill>
                <a:latin typeface="Calibri"/>
              </a:rPr>
              <a:t> Preliminary evidence from MBI with alcohol-dependent patients in India showing initial craving reductions.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Critical Gap:</a:t>
            </a:r>
            <a:r>
              <a:rPr lang="en-US" sz="1400" dirty="0">
                <a:solidFill>
                  <a:srgbClr val="2C3E50"/>
                </a:solidFill>
                <a:latin typeface="Calibri"/>
              </a:rPr>
              <a:t> Indian treatment facilities predominantly rely on pharmacological approaches with minimal integration of evidence-based psychological interventions specifically designed for relapse prevention.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Research Gap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 Limited evidence for brief MBRP adaptations in LMIC settings:</a:t>
            </a:r>
            <a:r>
              <a:rPr lang="en-US" sz="1400" dirty="0">
                <a:solidFill>
                  <a:srgbClr val="2C3E50"/>
                </a:solidFill>
                <a:latin typeface="Calibri"/>
              </a:rPr>
              <a:t> The majority of MBRP research evaluates the standard 8-week protocol in Western outpatient settings. Condensed protocols suitable for resource-constrained inpatient environments remain insufficiently examined (Li et al., 2017)</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2. Absence of simultaneous multi-domain outcome assessment:</a:t>
            </a:r>
            <a:r>
              <a:rPr lang="en-US" sz="1400" dirty="0">
                <a:solidFill>
                  <a:srgbClr val="2C3E50"/>
                </a:solidFill>
                <a:latin typeface="Calibri"/>
              </a:rPr>
              <a:t> Existing studies typically examine craving, impulsivity, or mindfulness in isolation. The interplay between these three mechanistically linked variables within a single intervention framework has not been adequately investigated in Indian clinical populations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3. Paucity of culturally contextualized MBRP evidence from India:</a:t>
            </a:r>
            <a:r>
              <a:rPr lang="en-US" sz="1400" dirty="0">
                <a:solidFill>
                  <a:srgbClr val="2C3E50"/>
                </a:solidFill>
                <a:latin typeface="Calibri"/>
              </a:rPr>
              <a:t> Despite India's substantial opioid dependence burden, empirical validation of MBRP-based protocols in Indian de-addiction infrastructure remains virtually absent from the published literature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4. Insufficient integration of psychological interventions in Indian de-addiction practice:</a:t>
            </a:r>
            <a:r>
              <a:rPr lang="en-US" sz="1400" dirty="0">
                <a:solidFill>
                  <a:srgbClr val="2C3E50"/>
                </a:solidFill>
                <a:latin typeface="Calibri"/>
              </a:rPr>
              <a:t> Current treatment models at district-level centers remain predominantly pharmacological, with limited evidence-based psychosocial adjuncts (Sarkar &amp; Balhara, 2016; Ghosh et al., 2018)</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5. Need for attention-matched controlled designs:</a:t>
            </a:r>
            <a:r>
              <a:rPr lang="en-US" sz="1400" dirty="0">
                <a:solidFill>
                  <a:srgbClr val="2C3E50"/>
                </a:solidFill>
                <a:latin typeface="Calibri"/>
              </a:rPr>
              <a:t> Most existing mindfulness studies in Indian addiction settings lack active control conditions, making it difficult to distinguish mindfulness-specific effects from non-specific therapeutic factors (therapist contact, group support, attention)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PRESENT STUDY:</a:t>
            </a:r>
            <a:r>
              <a:rPr lang="en-US" sz="1400" dirty="0">
                <a:solidFill>
                  <a:srgbClr val="2C3E50"/>
                </a:solidFill>
                <a:latin typeface="Calibri"/>
              </a:rPr>
              <a:t> Addresses these gaps as the first brief MBRP trial (6 sessions/3 weeks) in an Indian opioid-dependent sample with active control and simultaneous three-variable assessment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Aim of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PRIMARY AIM:</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To evaluate the efficacy of a Brief Mindfulness-Based Relapse Prevention (B-MBRP) intervention (6 sessions over 3 weeks) in reducing craving and impulsivity, and enhancing mindfulness, among male substance-dependent patients at Man Nasha Mukti Kendra</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Comparing:</a:t>
            </a:r>
            <a:r>
              <a:rPr lang="en-US" sz="1400" dirty="0">
                <a:solidFill>
                  <a:srgbClr val="2C3E50"/>
                </a:solidFill>
                <a:latin typeface="Calibri"/>
              </a:rPr>
              <a:t> Brief MBRP + TAU (Experimental) vs. Psychoeducation + TAU (Active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Parameters:</a:t>
            </a:r>
            <a:r>
              <a:rPr lang="en-US" sz="1400" dirty="0">
                <a:solidFill>
                  <a:srgbClr val="2C3E50"/>
                </a:solidFill>
                <a:latin typeface="Calibri"/>
              </a:rPr>
              <a:t> N = 60 (30 per group) | 6 B-MBRP Sessions | 3 Weeks Duration | 3 Outcome Variables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Objectives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To assess and compare craving levels (pre vs. post) in Experimental (Brief MBRP + TAU) and Control (Psychoeducation + TAU)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2.</a:t>
            </a:r>
            <a:r>
              <a:rPr lang="en-US" sz="1400" dirty="0">
                <a:solidFill>
                  <a:srgbClr val="2C3E50"/>
                </a:solidFill>
                <a:latin typeface="Calibri"/>
              </a:rPr>
              <a:t> To assess and compare impulsivity levels (pre vs. post) in both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3.</a:t>
            </a:r>
            <a:r>
              <a:rPr lang="en-US" sz="1400" dirty="0">
                <a:solidFill>
                  <a:srgbClr val="2C3E50"/>
                </a:solidFill>
                <a:latin typeface="Calibri"/>
              </a:rPr>
              <a:t> To assess and compare mindfulness levels (pre vs. post) in both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4.</a:t>
            </a:r>
            <a:r>
              <a:rPr lang="en-US" sz="1400" dirty="0">
                <a:solidFill>
                  <a:srgbClr val="2C3E50"/>
                </a:solidFill>
                <a:latin typeface="Calibri"/>
              </a:rPr>
              <a:t> To determine whether Brief MBRP + TAU is significantly more effective than Psychoeducation + TAU in reducing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5.</a:t>
            </a:r>
            <a:r>
              <a:rPr lang="en-US" sz="1400" dirty="0">
                <a:solidFill>
                  <a:srgbClr val="2C3E50"/>
                </a:solidFill>
                <a:latin typeface="Calibri"/>
              </a:rPr>
              <a:t> To determine whether Brief MBRP + TAU is significantly more effective than Psychoeducation + TAU in reducing impulsivity</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6.</a:t>
            </a:r>
            <a:r>
              <a:rPr lang="en-US" sz="1400" dirty="0">
                <a:solidFill>
                  <a:srgbClr val="2C3E50"/>
                </a:solidFill>
                <a:latin typeface="Calibri"/>
              </a:rPr>
              <a:t> To determine whether Brief MBRP + TAU is significantly more effective than Psychoeducation + TAU in enhancing mindfulness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Hypotheses (Null Hypotheses Only)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H01 - Craving:</a:t>
            </a:r>
          </a:p>
          <a:p>
            <a:pPr lvl="0" marL="0" indent="-228600">
              <a:buChar char="•"/>
            </a:pPr>
            <a:r>
              <a:rPr lang="en-US" sz="1400" dirty="0">
                <a:solidFill>
                  <a:srgbClr val="2C3E50"/>
                </a:solidFill>
                <a:latin typeface="Calibri"/>
              </a:rPr>
              <a:t>There is no significant difference in craving scores (OCDUS)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H02 - Impulsivity:</a:t>
            </a:r>
          </a:p>
          <a:p>
            <a:pPr lvl="0" marL="0" indent="-228600">
              <a:buChar char="•"/>
            </a:pPr>
            <a:r>
              <a:rPr lang="en-US" sz="1400" dirty="0">
                <a:solidFill>
                  <a:srgbClr val="2C3E50"/>
                </a:solidFill>
                <a:latin typeface="Calibri"/>
              </a:rPr>
              <a:t>There is no significant difference in impulsivity scores (BIS-11)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H03 - Mindfulness:</a:t>
            </a:r>
          </a:p>
          <a:p>
            <a:pPr lvl="0" marL="0" indent="-228600">
              <a:buChar char="•"/>
            </a:pPr>
            <a:r>
              <a:rPr lang="en-US" sz="1400" dirty="0">
                <a:solidFill>
                  <a:srgbClr val="2C3E50"/>
                </a:solidFill>
                <a:latin typeface="Calibri"/>
              </a:rPr>
              <a:t>There is no significant difference in mindfulness scores (FFMQ)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Statistical Testing:</a:t>
            </a:r>
            <a:r>
              <a:rPr lang="en-US" sz="1400" dirty="0">
                <a:solidFill>
                  <a:srgbClr val="2C3E50"/>
                </a:solidFill>
                <a:latin typeface="Calibri"/>
              </a:rPr>
              <a:t> Alpha = 0.05 (two-tailed) | Primary Analysis: ANCOVA with pre-test scores as covariates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Operational Definitions of Key Terms (1/2)</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Craving</a:t>
            </a:r>
            <a:r>
              <a:rPr lang="en-US" sz="1400" dirty="0">
                <a:solidFill>
                  <a:srgbClr val="2C3E50"/>
                </a:solidFill>
                <a:latin typeface="Calibri"/>
              </a:rPr>
              <a:t> in this study refers to the intensity and frequency of obsessive thoughts about drug use and compulsive urges to use opioids, as measured by the total score on the Obsessive Compulsive Drug Use Scale (OCDUS; Franken et al., 2002). Scores range from 0-48; higher scores indicate greater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Impulsivity</a:t>
            </a:r>
            <a:r>
              <a:rPr lang="en-US" sz="1400" dirty="0">
                <a:solidFill>
                  <a:srgbClr val="2C3E50"/>
                </a:solidFill>
                <a:latin typeface="Calibri"/>
              </a:rPr>
              <a:t> in this study refers to the multidimensional tendency to act without adequate forethought, encompassing motor, attentional, and non-planning components, as measured by the total score and three subscale scores on the Barratt Impulsiveness Scale-11 (BIS-11; Patton et al., 1995). Scores range from 30-120; higher scores indicate greater impulsivity.</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Mindfulness</a:t>
            </a:r>
            <a:r>
              <a:rPr lang="en-US" sz="1400" dirty="0">
                <a:solidFill>
                  <a:srgbClr val="2C3E50"/>
                </a:solidFill>
                <a:latin typeface="Calibri"/>
              </a:rPr>
              <a:t> in this study refers to the dispositional capacity for present-moment awareness with non-judgment and non-reactivity, as measured by the total score on the Five Facet Mindfulness Questionnaire (FFMQ; Baer et al., 2006) across five facets: Observing, Describing, Acting with Awareness, Non-Judging, Non-Reactivity. Scores range from 39-195; higher scores indicate greater mindfulness.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Operational Definitions of Key Terms (2/2)</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Brief MBRP (B-MBRP)</a:t>
            </a:r>
            <a:r>
              <a:rPr lang="en-US" sz="1400" dirty="0">
                <a:solidFill>
                  <a:srgbClr val="2C3E50"/>
                </a:solidFill>
                <a:latin typeface="Calibri"/>
              </a:rPr>
              <a:t> in this study refers to a structured 6-session mindfulness-based relapse prevention intervention delivered twice weekly over 3 weeks (45 min/session) in group format (6-8 patients), adapted from Bowen, Chawla &amp; Marlatt (2011), incorporating body scan, breath meditation, urge surfing, SOBER breathing space, and relapse prevention planning.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Substance Dependence</a:t>
            </a:r>
            <a:r>
              <a:rPr lang="en-US" sz="1400" dirty="0">
                <a:solidFill>
                  <a:srgbClr val="2C3E50"/>
                </a:solidFill>
                <a:latin typeface="Calibri"/>
              </a:rPr>
              <a:t> in this study refers to a clinical diagnosis of Substance Dependence Syndrome as per ICD-10 (F10-F19) criteria, with primary opioid dependence (heroin or pharmaceutical opioids), confirmed by a qualified psychiatrist at Man Nasha Mukti Kendra.</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Treatment As Usual (TAU)</a:t>
            </a:r>
            <a:r>
              <a:rPr lang="en-US" sz="1400" dirty="0">
                <a:solidFill>
                  <a:srgbClr val="2C3E50"/>
                </a:solidFill>
                <a:latin typeface="Calibri"/>
              </a:rPr>
              <a:t> in this study refers to the standard pharmacological treatment at Man Nasha Mukti Kendra, including medically supervised detoxification, Opioid Substitution Therapy (buprenorphine/methadone), naltrexone maintenance, routine counseling, and daily ward activities.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Psychoeducation (Active Control)</a:t>
            </a:r>
            <a:r>
              <a:rPr lang="en-US" sz="1400" dirty="0">
                <a:solidFill>
                  <a:srgbClr val="2C3E50"/>
                </a:solidFill>
                <a:latin typeface="Calibri"/>
              </a:rPr>
              <a:t> in this study refers to 6 structured informational sessions (45 min, twice weekly, 3 weeks) covering addiction science, effects of opioids, relapse warning signs, health/nutrition, social consequences, and recovery motivation - matched for time and attention but containing NO mindfulness component.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Research Design: Pre-Test Post-Test Control Group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Design Notation:</a:t>
            </a:r>
          </a:p>
          <a:p>
            <a:pPr lvl="1" marL="457200" indent="-228600">
              <a:buChar char="•"/>
            </a:pPr>
            <a:r>
              <a:rPr lang="en-US" sz="1400" dirty="0">
                <a:solidFill>
                  <a:srgbClr val="2C3E50"/>
                </a:solidFill>
                <a:latin typeface="Calibri"/>
              </a:rPr>
              <a:t>R  O1  X1  O2  --&gt;  Experimental Group (Brief MBRP + TAU)</a:t>
            </a:r>
          </a:p>
          <a:p>
            <a:pPr lvl="1" marL="457200" indent="-228600">
              <a:buChar char="•"/>
            </a:pPr>
            <a:r>
              <a:rPr lang="en-US" sz="1400" dirty="0">
                <a:solidFill>
                  <a:srgbClr val="2C3E50"/>
                </a:solidFill>
                <a:latin typeface="Calibri"/>
              </a:rPr>
              <a:t>R  O1  X2  O2  --&gt;  Control Group (Psychoeducation + TAU)</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Flow:</a:t>
            </a:r>
            <a:r>
              <a:rPr lang="en-US" sz="1400" dirty="0">
                <a:solidFill>
                  <a:srgbClr val="2C3E50"/>
                </a:solidFill>
                <a:latin typeface="Calibri"/>
              </a:rPr>
              <a:t> Randomization (N=60) -&gt; Pre-Test (OCDUS + BIS-11 + FFMQ + ASSIST) -&gt; Intervention (3 Weeks) -&gt; Post-Test (OCDUS + BIS-11 + FFMQ)</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Design Features:</a:t>
            </a:r>
          </a:p>
          <a:p>
            <a:pPr lvl="1" marL="457200" indent="-228600">
              <a:buChar char="•"/>
            </a:pPr>
            <a:r>
              <a:rPr lang="en-US" sz="1400" dirty="0">
                <a:solidFill>
                  <a:srgbClr val="2C3E50"/>
                </a:solidFill>
                <a:latin typeface="Calibri"/>
              </a:rPr>
              <a:t>True experimental design with random assignment</a:t>
            </a:r>
          </a:p>
          <a:p>
            <a:pPr lvl="1" marL="457200" indent="-228600">
              <a:buChar char="•"/>
            </a:pPr>
            <a:r>
              <a:rPr lang="en-US" sz="1400" dirty="0">
                <a:solidFill>
                  <a:srgbClr val="2C3E50"/>
                </a:solidFill>
                <a:latin typeface="Calibri"/>
              </a:rPr>
              <a:t>Active control condition (attention-matched psychoeducation)</a:t>
            </a:r>
          </a:p>
          <a:p>
            <a:pPr lvl="1" marL="457200" indent="-228600">
              <a:buChar char="•"/>
            </a:pPr>
            <a:r>
              <a:rPr lang="en-US" sz="1400" dirty="0">
                <a:solidFill>
                  <a:srgbClr val="2C3E50"/>
                </a:solidFill>
                <a:latin typeface="Calibri"/>
              </a:rPr>
              <a:t>TAU continued for all participants throughout</a:t>
            </a:r>
          </a:p>
          <a:p>
            <a:pPr lvl="1" marL="457200" indent="-228600">
              <a:buChar char="•"/>
            </a:pPr>
            <a:r>
              <a:rPr lang="en-US" sz="1400" dirty="0">
                <a:solidFill>
                  <a:srgbClr val="2C3E50"/>
                </a:solidFill>
                <a:latin typeface="Calibri"/>
              </a:rPr>
              <a:t>Pre-post measurement at standardized time points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Setting:</a:t>
            </a:r>
            <a:r>
              <a:rPr lang="en-US" sz="1400" dirty="0">
                <a:solidFill>
                  <a:srgbClr val="2C3E50"/>
                </a:solidFill>
                <a:latin typeface="Calibri"/>
              </a:rPr>
              <a:t> Man Nasha Mukti Kendra, Guna, MP | Assessments by blinded Research Assistant | Intervention by MPhil Clinical Psychologist (Researcher)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Sample &amp; Sampling Strategy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Stage 1 - Purposive Selection:</a:t>
            </a:r>
            <a:r>
              <a:rPr lang="en-US" sz="1400" dirty="0">
                <a:solidFill>
                  <a:srgbClr val="2C3E50"/>
                </a:solidFill>
                <a:latin typeface="Calibri"/>
              </a:rPr>
              <a:t> Eligible participants identified based on inclusion/exclusion criteria from patients admitted to Man Nasha Mukti Kendra. Consecutive sampling of all eligible patients.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Stage 2 - Random Assignment:</a:t>
            </a:r>
            <a:r>
              <a:rPr lang="en-US" sz="1400" dirty="0">
                <a:solidFill>
                  <a:srgbClr val="2C3E50"/>
                </a:solidFill>
                <a:latin typeface="Calibri"/>
              </a:rPr>
              <a:t> Computer-generated randomization allocating eligible participants to Experimental (n=30) or Control (n=30) using sealed opaque envelopes.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Sample:</a:t>
            </a:r>
            <a:r>
              <a:rPr lang="en-US" sz="1400" dirty="0">
                <a:solidFill>
                  <a:srgbClr val="2C3E50"/>
                </a:solidFill>
                <a:latin typeface="Calibri"/>
              </a:rPr>
              <a:t> N = 60 total (30 per group) | Recruit 70 (35/group) for attrition | Male | Age 18-50 | Opioid-dependent | Detoxified</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Male-Only Justification:</a:t>
            </a:r>
          </a:p>
          <a:p>
            <a:pPr lvl="1" marL="457200" indent="-228600">
              <a:buChar char="•"/>
            </a:pPr>
            <a:r>
              <a:rPr lang="en-US" sz="1400" dirty="0">
                <a:solidFill>
                  <a:srgbClr val="2C3E50"/>
                </a:solidFill>
                <a:latin typeface="Calibri"/>
              </a:rPr>
              <a:t>Indian de-addiction centers (incl. Man Nasha Mukti Kendra) admit ~90-95% male patients</a:t>
            </a:r>
          </a:p>
          <a:p>
            <a:pPr lvl="1" marL="457200" indent="-228600">
              <a:buChar char="•"/>
            </a:pPr>
            <a:r>
              <a:rPr lang="en-US" sz="1400" dirty="0">
                <a:solidFill>
                  <a:srgbClr val="2C3E50"/>
                </a:solidFill>
                <a:latin typeface="Calibri"/>
              </a:rPr>
              <a:t>MAGNITUDE study reports male:female ratio ~10:1 for opioid dependence in India</a:t>
            </a:r>
          </a:p>
          <a:p>
            <a:pPr lvl="1" marL="457200" indent="-228600">
              <a:buChar char="•"/>
            </a:pPr>
            <a:r>
              <a:rPr lang="en-US" sz="1400" dirty="0">
                <a:solidFill>
                  <a:srgbClr val="2C3E50"/>
                </a:solidFill>
                <a:latin typeface="Calibri"/>
              </a:rPr>
              <a:t>Gender differences in craving, impulsivity, mindfulness may confound if mixed sample used</a:t>
            </a:r>
          </a:p>
          <a:p>
            <a:pPr lvl="1" marL="457200" indent="-228600">
              <a:buChar char="•"/>
            </a:pPr>
            <a:r>
              <a:rPr lang="en-US" sz="1400" dirty="0">
                <a:solidFill>
                  <a:srgbClr val="2C3E50"/>
                </a:solidFill>
                <a:latin typeface="Calibri"/>
              </a:rPr>
              <a:t>Homogeneous sample strengthens internal validity for this initial efficacy trial</a:t>
            </a:r>
          </a:p>
          <a:p>
            <a:pPr lvl="1" marL="457200" indent="-228600">
              <a:buChar char="•"/>
            </a:pPr>
            <a:r>
              <a:rPr lang="en-US" sz="1400" dirty="0">
                <a:solidFill>
                  <a:srgbClr val="2C3E50"/>
                </a:solidFill>
                <a:latin typeface="Calibri"/>
              </a:rPr>
              <a:t>Female-specific MBRP studies recommended as future direction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Sample Size Estimation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Formula:</a:t>
            </a:r>
            <a:r>
              <a:rPr lang="en-US" sz="1400" dirty="0">
                <a:solidFill>
                  <a:srgbClr val="2C3E50"/>
                </a:solidFill>
                <a:latin typeface="Calibri"/>
              </a:rPr>
              <a:t> n = [(Za/2 + Zb)^2 x 2 x sigma^2] / d^2</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Parameters:</a:t>
            </a:r>
            <a:r>
              <a:rPr lang="en-US" sz="1400" dirty="0">
                <a:solidFill>
                  <a:srgbClr val="2C3E50"/>
                </a:solidFill>
                <a:latin typeface="Calibri"/>
              </a:rPr>
              <a:t> Effect size (d) = 0.50 (medium) | Power (1-beta) = 0.80 -&gt; Zb = 0.84 | Alpha = 0.05 (two-tailed) -&gt; Za/2 = 1.96</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Calculation:</a:t>
            </a:r>
            <a:r>
              <a:rPr lang="en-US" sz="1400" dirty="0">
                <a:solidFill>
                  <a:srgbClr val="2C3E50"/>
                </a:solidFill>
                <a:latin typeface="Calibri"/>
              </a:rPr>
              <a:t> n = [(1.96 + 0.84)^2 x 2 x 1] / (0.50)^2 = [7.84 x 2] / 0.25 = 62.72 ~ 63 total (~32 per group)</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FINAL DECISION: N = 60 (30 per group)</a:t>
            </a:r>
          </a:p>
          <a:p>
            <a:pPr lvl="1" marL="457200" indent="-228600">
              <a:buChar char="•"/>
            </a:pPr>
            <a:r>
              <a:rPr lang="en-US" sz="1400" dirty="0">
                <a:solidFill>
                  <a:srgbClr val="2C3E50"/>
                </a:solidFill>
                <a:latin typeface="Calibri"/>
              </a:rPr>
              <a:t>ANCOVA as primary analysis reduces required n</a:t>
            </a:r>
          </a:p>
          <a:p>
            <a:pPr lvl="1" marL="457200" indent="-228600">
              <a:buChar char="•"/>
            </a:pPr>
            <a:r>
              <a:rPr lang="en-US" sz="1400" dirty="0">
                <a:solidFill>
                  <a:srgbClr val="2C3E50"/>
                </a:solidFill>
                <a:latin typeface="Calibri"/>
              </a:rPr>
              <a:t>G*Power 3.1 verification: ANCOVA with 1 covariate -&gt; ~34/group sufficient</a:t>
            </a:r>
          </a:p>
          <a:p>
            <a:pPr lvl="1" marL="457200" indent="-228600">
              <a:buChar char="•"/>
            </a:pPr>
            <a:r>
              <a:rPr lang="en-US" sz="1400" dirty="0">
                <a:solidFill>
                  <a:srgbClr val="2C3E50"/>
                </a:solidFill>
                <a:latin typeface="Calibri"/>
              </a:rPr>
              <a:t>Recruit 70 total (35/group) to account for ~15% attrition</a:t>
            </a:r>
          </a:p>
          <a:p>
            <a:pPr lvl="1" marL="457200" indent="-228600">
              <a:buChar char="•"/>
            </a:pPr>
            <a:r>
              <a:rPr lang="en-US" sz="1400" dirty="0">
                <a:solidFill>
                  <a:srgbClr val="2C3E50"/>
                </a:solidFill>
                <a:latin typeface="Calibri"/>
              </a:rPr>
              <a:t>Consistent with: Glasner-Edwards et al. (2017), Bowen &amp; Marlatt (2009)</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Inclusion Criteria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Diagnosis of Substance Dependence as per ICD-10 (F10-F19) / ICD-11 criteria</a:t>
            </a:r>
          </a:p>
          <a:p>
            <a:pPr lvl="0" marL="0" indent="-228600">
              <a:buChar char="•"/>
            </a:pPr>
            <a:r>
              <a:rPr lang="en-US" sz="1400" b="1" dirty="0">
                <a:solidFill>
                  <a:srgbClr val="1B2A4A"/>
                </a:solidFill>
                <a:latin typeface="Calibri"/>
              </a:rPr>
              <a:t>2.</a:t>
            </a:r>
            <a:r>
              <a:rPr lang="en-US" sz="1400" dirty="0">
                <a:solidFill>
                  <a:srgbClr val="2C3E50"/>
                </a:solidFill>
                <a:latin typeface="Calibri"/>
              </a:rPr>
              <a:t> Primary substance: Opioids (heroin, pharmaceutical opioids); polysubstance with primary opioid dependence included</a:t>
            </a:r>
          </a:p>
          <a:p>
            <a:pPr lvl="0" marL="0" indent="-228600">
              <a:buChar char="•"/>
            </a:pPr>
            <a:r>
              <a:rPr lang="en-US" sz="1400" b="1" dirty="0">
                <a:solidFill>
                  <a:srgbClr val="1B2A4A"/>
                </a:solidFill>
                <a:latin typeface="Calibri"/>
              </a:rPr>
              <a:t>3.</a:t>
            </a:r>
            <a:r>
              <a:rPr lang="en-US" sz="1400" dirty="0">
                <a:solidFill>
                  <a:srgbClr val="2C3E50"/>
                </a:solidFill>
                <a:latin typeface="Calibri"/>
              </a:rPr>
              <a:t> Male participants aged 18-50 years</a:t>
            </a:r>
          </a:p>
          <a:p>
            <a:pPr lvl="0" marL="0" indent="-228600">
              <a:buChar char="•"/>
            </a:pPr>
            <a:r>
              <a:rPr lang="en-US" sz="1400" b="1" dirty="0">
                <a:solidFill>
                  <a:srgbClr val="1B2A4A"/>
                </a:solidFill>
                <a:latin typeface="Calibri"/>
              </a:rPr>
              <a:t>4.</a:t>
            </a:r>
            <a:r>
              <a:rPr lang="en-US" sz="1400" dirty="0">
                <a:solidFill>
                  <a:srgbClr val="2C3E50"/>
                </a:solidFill>
                <a:latin typeface="Calibri"/>
              </a:rPr>
              <a:t> Completed detoxification phase (minimum 7 days post-withdrawal)</a:t>
            </a:r>
          </a:p>
          <a:p>
            <a:pPr lvl="0" marL="0" indent="-228600">
              <a:buChar char="•"/>
            </a:pPr>
            <a:r>
              <a:rPr lang="en-US" sz="1400" b="1" dirty="0">
                <a:solidFill>
                  <a:srgbClr val="1B2A4A"/>
                </a:solidFill>
                <a:latin typeface="Calibri"/>
              </a:rPr>
              <a:t>5.</a:t>
            </a:r>
            <a:r>
              <a:rPr lang="en-US" sz="1400" dirty="0">
                <a:solidFill>
                  <a:srgbClr val="2C3E50"/>
                </a:solidFill>
                <a:latin typeface="Calibri"/>
              </a:rPr>
              <a:t> Currently admitted at Man Nasha Mukti Kendra</a:t>
            </a:r>
          </a:p>
          <a:p>
            <a:pPr lvl="0" marL="0" indent="-228600">
              <a:buChar char="•"/>
            </a:pPr>
            <a:r>
              <a:rPr lang="en-US" sz="1400" b="1" dirty="0">
                <a:solidFill>
                  <a:srgbClr val="1B2A4A"/>
                </a:solidFill>
                <a:latin typeface="Calibri"/>
              </a:rPr>
              <a:t>6.</a:t>
            </a:r>
            <a:r>
              <a:rPr lang="en-US" sz="1400" dirty="0">
                <a:solidFill>
                  <a:srgbClr val="2C3E50"/>
                </a:solidFill>
                <a:latin typeface="Calibri"/>
              </a:rPr>
              <a:t> Minimum education: 5th standard (ability to comprehend psychometric tools)</a:t>
            </a:r>
          </a:p>
          <a:p>
            <a:pPr lvl="0" marL="0" indent="-228600">
              <a:buChar char="•"/>
            </a:pPr>
            <a:r>
              <a:rPr lang="en-US" sz="1400" b="1" dirty="0">
                <a:solidFill>
                  <a:srgbClr val="1B2A4A"/>
                </a:solidFill>
                <a:latin typeface="Calibri"/>
              </a:rPr>
              <a:t>7.</a:t>
            </a:r>
            <a:r>
              <a:rPr lang="en-US" sz="1400" dirty="0">
                <a:solidFill>
                  <a:srgbClr val="2C3E50"/>
                </a:solidFill>
                <a:latin typeface="Calibri"/>
              </a:rPr>
              <a:t> Willingness to provide written informed consent</a:t>
            </a:r>
          </a:p>
          <a:p>
            <a:pPr lvl="0" marL="0" indent="-228600">
              <a:buChar char="•"/>
            </a:pPr>
            <a:r>
              <a:rPr lang="en-US" sz="1400" b="1" dirty="0">
                <a:solidFill>
                  <a:srgbClr val="1B2A4A"/>
                </a:solidFill>
                <a:latin typeface="Calibri"/>
              </a:rPr>
              <a:t>8.</a:t>
            </a:r>
            <a:r>
              <a:rPr lang="en-US" sz="1400" dirty="0">
                <a:solidFill>
                  <a:srgbClr val="2C3E50"/>
                </a:solidFill>
                <a:latin typeface="Calibri"/>
              </a:rPr>
              <a:t> Able to attend all 6 intervention sessions during 3-week period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Exclusion Criteria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Severe psychiatric comorbidity: Psychotic disorders, Bipolar I, severe MDE with suicidality</a:t>
            </a:r>
          </a:p>
          <a:p>
            <a:pPr lvl="0" marL="0" indent="-228600">
              <a:buChar char="•"/>
            </a:pPr>
            <a:r>
              <a:rPr lang="en-US" sz="1400" b="1" dirty="0">
                <a:solidFill>
                  <a:srgbClr val="1B2A4A"/>
                </a:solidFill>
                <a:latin typeface="Calibri"/>
              </a:rPr>
              <a:t>2.</a:t>
            </a:r>
            <a:r>
              <a:rPr lang="en-US" sz="1400" dirty="0">
                <a:solidFill>
                  <a:srgbClr val="2C3E50"/>
                </a:solidFill>
                <a:latin typeface="Calibri"/>
              </a:rPr>
              <a:t> Significant cognitive impairment (MMSE &lt; 24) or intellectual disability</a:t>
            </a:r>
          </a:p>
          <a:p>
            <a:pPr lvl="0" marL="0" indent="-228600">
              <a:buChar char="•"/>
            </a:pPr>
            <a:r>
              <a:rPr lang="en-US" sz="1400" b="1" dirty="0">
                <a:solidFill>
                  <a:srgbClr val="1B2A4A"/>
                </a:solidFill>
                <a:latin typeface="Calibri"/>
              </a:rPr>
              <a:t>3.</a:t>
            </a:r>
            <a:r>
              <a:rPr lang="en-US" sz="1400" dirty="0">
                <a:solidFill>
                  <a:srgbClr val="2C3E50"/>
                </a:solidFill>
                <a:latin typeface="Calibri"/>
              </a:rPr>
              <a:t> Active withdrawal symptoms (COWS score &gt; 12)</a:t>
            </a:r>
          </a:p>
          <a:p>
            <a:pPr lvl="0" marL="0" indent="-228600">
              <a:buChar char="•"/>
            </a:pPr>
            <a:r>
              <a:rPr lang="en-US" sz="1400" b="1" dirty="0">
                <a:solidFill>
                  <a:srgbClr val="1B2A4A"/>
                </a:solidFill>
                <a:latin typeface="Calibri"/>
              </a:rPr>
              <a:t>4.</a:t>
            </a:r>
            <a:r>
              <a:rPr lang="en-US" sz="1400" dirty="0">
                <a:solidFill>
                  <a:srgbClr val="2C3E50"/>
                </a:solidFill>
                <a:latin typeface="Calibri"/>
              </a:rPr>
              <a:t> History of traumatic brain injury with LOC &gt; 30 minutes</a:t>
            </a:r>
          </a:p>
          <a:p>
            <a:pPr lvl="0" marL="0" indent="-228600">
              <a:buChar char="•"/>
            </a:pPr>
            <a:r>
              <a:rPr lang="en-US" sz="1400" b="1" dirty="0">
                <a:solidFill>
                  <a:srgbClr val="1B2A4A"/>
                </a:solidFill>
                <a:latin typeface="Calibri"/>
              </a:rPr>
              <a:t>5.</a:t>
            </a:r>
            <a:r>
              <a:rPr lang="en-US" sz="1400" dirty="0">
                <a:solidFill>
                  <a:srgbClr val="2C3E50"/>
                </a:solidFill>
                <a:latin typeface="Calibri"/>
              </a:rPr>
              <a:t> Current participation in another structured psychological intervention study</a:t>
            </a:r>
          </a:p>
          <a:p>
            <a:pPr lvl="0" marL="0" indent="-228600">
              <a:buChar char="•"/>
            </a:pPr>
            <a:r>
              <a:rPr lang="en-US" sz="1400" b="1" dirty="0">
                <a:solidFill>
                  <a:srgbClr val="1B2A4A"/>
                </a:solidFill>
                <a:latin typeface="Calibri"/>
              </a:rPr>
              <a:t>6.</a:t>
            </a:r>
            <a:r>
              <a:rPr lang="en-US" sz="1400" dirty="0">
                <a:solidFill>
                  <a:srgbClr val="2C3E50"/>
                </a:solidFill>
                <a:latin typeface="Calibri"/>
              </a:rPr>
              <a:t> Medical instability requiring acute/intensive care</a:t>
            </a:r>
          </a:p>
          <a:p>
            <a:pPr lvl="0" marL="0" indent="-228600">
              <a:buChar char="•"/>
            </a:pPr>
            <a:r>
              <a:rPr lang="en-US" sz="1400" b="1" dirty="0">
                <a:solidFill>
                  <a:srgbClr val="1B2A4A"/>
                </a:solidFill>
                <a:latin typeface="Calibri"/>
              </a:rPr>
              <a:t>7.</a:t>
            </a:r>
            <a:r>
              <a:rPr lang="en-US" sz="1400" dirty="0">
                <a:solidFill>
                  <a:srgbClr val="2C3E50"/>
                </a:solidFill>
                <a:latin typeface="Calibri"/>
              </a:rPr>
              <a:t> History of prior formal mindfulness/meditation training exceeding 1 month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Variables of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INDEPENDENT VARIABLE (IV):</a:t>
            </a:r>
            <a:r>
              <a:rPr lang="en-US" sz="1400" dirty="0">
                <a:solidFill>
                  <a:srgbClr val="2C3E50"/>
                </a:solidFill>
                <a:latin typeface="Calibri"/>
              </a:rPr>
              <a:t> Type of Intervention</a:t>
            </a:r>
          </a:p>
          <a:p>
            <a:pPr lvl="1" marL="457200" indent="-228600">
              <a:buChar char="•"/>
            </a:pPr>
            <a:r>
              <a:rPr lang="en-US" sz="1400" dirty="0">
                <a:solidFill>
                  <a:srgbClr val="2C3E50"/>
                </a:solidFill>
                <a:latin typeface="Calibri"/>
              </a:rPr>
              <a:t>Level 1: Brief MBRP + TAU (Experimental Group)</a:t>
            </a:r>
          </a:p>
          <a:p>
            <a:pPr lvl="1" marL="457200" indent="-228600">
              <a:buChar char="•"/>
            </a:pPr>
            <a:r>
              <a:rPr lang="en-US" sz="1400" dirty="0">
                <a:solidFill>
                  <a:srgbClr val="2C3E50"/>
                </a:solidFill>
                <a:latin typeface="Calibri"/>
              </a:rPr>
              <a:t>Level 2: Psychoeducation + TAU (Control Group)</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DEPENDENT VARIABLES:</a:t>
            </a:r>
          </a:p>
          <a:p>
            <a:pPr lvl="1" marL="457200" indent="-228600">
              <a:buChar char="•"/>
            </a:pPr>
            <a:r>
              <a:rPr lang="en-US" sz="1400" dirty="0">
                <a:solidFill>
                  <a:srgbClr val="2C3E50"/>
                </a:solidFill>
                <a:latin typeface="Calibri"/>
              </a:rPr>
              <a:t>DV 1: Craving - measured by OCDUS total score (range 0-48)</a:t>
            </a:r>
          </a:p>
          <a:p>
            <a:pPr lvl="1" marL="457200" indent="-228600">
              <a:buChar char="•"/>
            </a:pPr>
            <a:r>
              <a:rPr lang="en-US" sz="1400" dirty="0">
                <a:solidFill>
                  <a:srgbClr val="2C3E50"/>
                </a:solidFill>
                <a:latin typeface="Calibri"/>
              </a:rPr>
              <a:t>DV 2: Impulsivity - measured by BIS-11 total + 3 subscales (range 30-120)</a:t>
            </a:r>
          </a:p>
          <a:p>
            <a:pPr lvl="1" marL="457200" indent="-228600">
              <a:buChar char="•"/>
            </a:pPr>
            <a:r>
              <a:rPr lang="en-US" sz="1400" dirty="0">
                <a:solidFill>
                  <a:srgbClr val="2C3E50"/>
                </a:solidFill>
                <a:latin typeface="Calibri"/>
              </a:rPr>
              <a:t>DV 3: Mindfulness - measured by FFMQ total + 5 facets (range 39-195)</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CONTROLLED VARIABLES:</a:t>
            </a:r>
            <a:r>
              <a:rPr lang="en-US" sz="1400" dirty="0">
                <a:solidFill>
                  <a:srgbClr val="2C3E50"/>
                </a:solidFill>
                <a:latin typeface="Calibri"/>
              </a:rPr>
              <a:t> Age, education, duration of use, severity (ASSIST baseline), TAU components constant across groups, session duration equalized (45 min x 6 sessions for both groups)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1: OCDUS (Craving Measure)</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Obsessive Compulsive Drug Use Scale (OCDUS) - Franken et al. (2002)</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Description: 12-item self-report measuring obsessive thoughts about drug use and compulsive urges</a:t>
            </a:r>
          </a:p>
          <a:p>
            <a:pPr lvl="0" marL="0" indent="-228600">
              <a:buChar char="•"/>
            </a:pPr>
            <a:r>
              <a:rPr lang="en-US" sz="1400" dirty="0">
                <a:solidFill>
                  <a:srgbClr val="2C3E50"/>
                </a:solidFill>
                <a:latin typeface="Calibri"/>
              </a:rPr>
              <a:t>Scoring: 5-point scale (0-4) | Total range: 0-48 | Higher = greater craving</a:t>
            </a:r>
          </a:p>
          <a:p>
            <a:pPr lvl="0" marL="0" indent="-228600">
              <a:buChar char="•"/>
            </a:pPr>
            <a:r>
              <a:rPr lang="en-US" sz="1400" dirty="0">
                <a:solidFill>
                  <a:srgbClr val="2C3E50"/>
                </a:solidFill>
                <a:latin typeface="Calibri"/>
              </a:rPr>
              <a:t>Subscales: (1) Obsessive thoughts/interference, (2) Desire/control, (3) Resistance to thoughts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Psychometric Properties:</a:t>
            </a:r>
          </a:p>
          <a:p>
            <a:pPr lvl="1" marL="457200" indent="-228600">
              <a:buChar char="•"/>
            </a:pPr>
            <a:r>
              <a:rPr lang="en-US" sz="1400" dirty="0">
                <a:solidFill>
                  <a:srgbClr val="2C3E50"/>
                </a:solidFill>
                <a:latin typeface="Calibri"/>
              </a:rPr>
              <a:t>Internal consistency: alpha = 0.86-0.90</a:t>
            </a:r>
          </a:p>
          <a:p>
            <a:pPr lvl="1" marL="457200" indent="-228600">
              <a:buChar char="•"/>
            </a:pPr>
            <a:r>
              <a:rPr lang="en-US" sz="1400" dirty="0">
                <a:solidFill>
                  <a:srgbClr val="2C3E50"/>
                </a:solidFill>
                <a:latin typeface="Calibri"/>
              </a:rPr>
              <a:t>Test-retest reliability: r = 0.78</a:t>
            </a:r>
          </a:p>
          <a:p>
            <a:pPr lvl="1" marL="457200" indent="-228600">
              <a:buChar char="•"/>
            </a:pPr>
            <a:r>
              <a:rPr lang="en-US" sz="1400" dirty="0">
                <a:solidFill>
                  <a:srgbClr val="2C3E50"/>
                </a:solidFill>
                <a:latin typeface="Calibri"/>
              </a:rPr>
              <a:t>Convergent validity with VAS craving: r = 0.55-0.67</a:t>
            </a:r>
          </a:p>
          <a:p>
            <a:pPr lvl="1" marL="457200" indent="-228600">
              <a:buChar char="•"/>
            </a:pPr>
            <a:r>
              <a:rPr lang="en-US" sz="1400" dirty="0">
                <a:solidFill>
                  <a:srgbClr val="2C3E50"/>
                </a:solidFill>
                <a:latin typeface="Calibri"/>
              </a:rPr>
              <a:t>Predicts relapse; sensitive to treatment changes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Justification:</a:t>
            </a:r>
            <a:r>
              <a:rPr lang="en-US" sz="1400" dirty="0">
                <a:solidFill>
                  <a:srgbClr val="2C3E50"/>
                </a:solidFill>
                <a:latin typeface="Calibri"/>
              </a:rPr>
              <a:t> Captures both cognitive (obsessive) and behavioral (compulsive) craving dimensions. Applicable across substances including opioids. Brief (5 min). Adaptable for Hindi.</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2: BIS-11 &amp; Tool 3: FFMQ</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Barratt Impulsiveness Scale (BIS-11) - Patton et al., 1995:</a:t>
            </a:r>
          </a:p>
          <a:p>
            <a:pPr lvl="1" marL="457200" indent="-228600">
              <a:buChar char="•"/>
            </a:pPr>
            <a:r>
              <a:rPr lang="en-US" sz="1400" dirty="0">
                <a:solidFill>
                  <a:srgbClr val="2C3E50"/>
                </a:solidFill>
                <a:latin typeface="Calibri"/>
              </a:rPr>
              <a:t>30 items | 4-point scale (1-4) | Range: 30-120</a:t>
            </a:r>
          </a:p>
          <a:p>
            <a:pPr lvl="1" marL="457200" indent="-228600">
              <a:buChar char="•"/>
            </a:pPr>
            <a:r>
              <a:rPr lang="en-US" sz="1400" dirty="0">
                <a:solidFill>
                  <a:srgbClr val="2C3E50"/>
                </a:solidFill>
                <a:latin typeface="Calibri"/>
              </a:rPr>
              <a:t>3 factors: Attentional, Motor, Non-Planning Impulsivity</a:t>
            </a:r>
          </a:p>
          <a:p>
            <a:pPr lvl="1" marL="457200" indent="-228600">
              <a:buChar char="•"/>
            </a:pPr>
            <a:r>
              <a:rPr lang="en-US" sz="1400" dirty="0">
                <a:solidFill>
                  <a:srgbClr val="2C3E50"/>
                </a:solidFill>
                <a:latin typeface="Calibri"/>
              </a:rPr>
              <a:t>Higher = greater impulsivity | alpha = 0.79-0.83; test-retest r = 0.83</a:t>
            </a:r>
          </a:p>
          <a:p>
            <a:pPr lvl="1" marL="457200" indent="-228600">
              <a:buChar char="•"/>
            </a:pPr>
            <a:r>
              <a:rPr lang="en-US" sz="1400" dirty="0">
                <a:solidFill>
                  <a:srgbClr val="2C3E50"/>
                </a:solidFill>
                <a:latin typeface="Calibri"/>
              </a:rPr>
              <a:t>Discriminates SUD from controls | Hindi validated version available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Five Facet Mindfulness Questionnaire (FFMQ) - Baer et al., 2006:</a:t>
            </a:r>
          </a:p>
          <a:p>
            <a:pPr lvl="1" marL="457200" indent="-228600">
              <a:buChar char="•"/>
            </a:pPr>
            <a:r>
              <a:rPr lang="en-US" sz="1400" dirty="0">
                <a:solidFill>
                  <a:srgbClr val="2C3E50"/>
                </a:solidFill>
                <a:latin typeface="Calibri"/>
              </a:rPr>
              <a:t>39 items | 5-point scale (1-5) | Range: 39-195</a:t>
            </a:r>
          </a:p>
          <a:p>
            <a:pPr lvl="1" marL="457200" indent="-228600">
              <a:buChar char="•"/>
            </a:pPr>
            <a:r>
              <a:rPr lang="en-US" sz="1400" dirty="0">
                <a:solidFill>
                  <a:srgbClr val="2C3E50"/>
                </a:solidFill>
                <a:latin typeface="Calibri"/>
              </a:rPr>
              <a:t>5 facets: Observing, Describing, Acting with Awareness, Non-Judging, Non-Reactivity</a:t>
            </a:r>
          </a:p>
          <a:p>
            <a:pPr lvl="1" marL="457200" indent="-228600">
              <a:buChar char="•"/>
            </a:pPr>
            <a:r>
              <a:rPr lang="en-US" sz="1400" dirty="0">
                <a:solidFill>
                  <a:srgbClr val="2C3E50"/>
                </a:solidFill>
                <a:latin typeface="Calibri"/>
              </a:rPr>
              <a:t>Higher = greater mindfulness | alpha = 0.75-0.91 across facets</a:t>
            </a:r>
          </a:p>
          <a:p>
            <a:pPr lvl="1" marL="457200" indent="-228600">
              <a:buChar char="•"/>
            </a:pPr>
            <a:r>
              <a:rPr lang="en-US" sz="1400" dirty="0">
                <a:solidFill>
                  <a:srgbClr val="2C3E50"/>
                </a:solidFill>
                <a:latin typeface="Calibri"/>
              </a:rPr>
              <a:t>Sensitive to mindfulness interventions | Hindi adaptation available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Both tools:</a:t>
            </a:r>
            <a:r>
              <a:rPr lang="en-US" sz="1400" dirty="0">
                <a:solidFill>
                  <a:srgbClr val="2C3E50"/>
                </a:solidFill>
                <a:latin typeface="Calibri"/>
              </a:rPr>
              <a:t> Self-report | Validated in substance use populations | Hindi available | Administered at PRE-TEST and POST-TEST | 10-15 min each</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4: WHO-ASSIST (Baseline Severity)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Alcohol, Smoking and Substance Involvement Screening Test (ASSIST) - WHO, 2002:</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Description: 8-item screening for risk level across 10 substance categories</a:t>
            </a:r>
          </a:p>
          <a:p>
            <a:pPr lvl="0" marL="0" indent="-228600">
              <a:buChar char="•"/>
            </a:pPr>
            <a:r>
              <a:rPr lang="en-US" sz="1400" dirty="0">
                <a:solidFill>
                  <a:srgbClr val="2C3E50"/>
                </a:solidFill>
                <a:latin typeface="Calibri"/>
              </a:rPr>
              <a:t>Scoring: Substance-specific risk -&gt; Low (0-3), Moderate (4-26), High (27+)</a:t>
            </a:r>
          </a:p>
          <a:p>
            <a:pPr lvl="0" marL="0" indent="-228600">
              <a:buChar char="•"/>
            </a:pPr>
            <a:r>
              <a:rPr lang="en-US" sz="1400" dirty="0">
                <a:solidFill>
                  <a:srgbClr val="2C3E50"/>
                </a:solidFill>
                <a:latin typeface="Calibri"/>
              </a:rPr>
              <a:t>Reliability: Test-retest r = 0.58-0.90; alpha = 0.77-0.94</a:t>
            </a:r>
          </a:p>
          <a:p>
            <a:pPr lvl="0" marL="0" indent="-228600">
              <a:buChar char="•"/>
            </a:pPr>
            <a:r>
              <a:rPr lang="en-US" sz="1400" dirty="0">
                <a:solidFill>
                  <a:srgbClr val="2C3E50"/>
                </a:solidFill>
                <a:latin typeface="Calibri"/>
              </a:rPr>
              <a:t>Validity: Sensitivity = 0.80, Specificity = 0.71 for substance dependence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Indian Usability:</a:t>
            </a:r>
            <a:r>
              <a:rPr lang="en-US" sz="1400" dirty="0">
                <a:solidFill>
                  <a:srgbClr val="2C3E50"/>
                </a:solidFill>
                <a:latin typeface="Calibri"/>
              </a:rPr>
              <a:t> WHO-validated; Hindi version available; used in NDDTC studies; 5-10 min administration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PURPOSE IN THIS STUDY:</a:t>
            </a:r>
            <a:r>
              <a:rPr lang="en-US" sz="1400" dirty="0">
                <a:solidFill>
                  <a:srgbClr val="2C3E50"/>
                </a:solidFill>
                <a:latin typeface="Calibri"/>
              </a:rPr>
              <a:t> Used at PRE-TEST ONLY to establish baseline severity and ensure group equivalence. NOT used as an outcome measure.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Collection Procedure: Step-by-Step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STEP 1 - Screening (Day 1-3):</a:t>
            </a:r>
            <a:r>
              <a:rPr lang="en-US" sz="1400" dirty="0">
                <a:solidFill>
                  <a:srgbClr val="2C3E50"/>
                </a:solidFill>
                <a:latin typeface="Calibri"/>
              </a:rPr>
              <a:t> Review admission records. Identify male patients (18-50) with opioid dependence (ICD-10) who have completed 7+ days detox. Check MMSE &gt;= 24, COWS &lt;= 12. Apply inclusion/exclusion criteria.</a:t>
            </a:r>
          </a:p>
          <a:p>
            <a:pPr lvl="0" marL="0" indent="-228600">
              <a:buChar char="•"/>
            </a:pPr>
            <a:r>
              <a:rPr lang="en-US" sz="1400" b="1" dirty="0">
                <a:solidFill>
                  <a:srgbClr val="1B2A4A"/>
                </a:solidFill>
                <a:latin typeface="Calibri"/>
              </a:rPr>
              <a:t>STEP 2 - Informed Consent (Day 3-4):</a:t>
            </a:r>
            <a:r>
              <a:rPr lang="en-US" sz="1400" dirty="0">
                <a:solidFill>
                  <a:srgbClr val="2C3E50"/>
                </a:solidFill>
                <a:latin typeface="Calibri"/>
              </a:rPr>
              <a:t> Individual meeting in Hindi. Explain study purpose, procedures, duration, voluntary nature, right to withdraw, confidentiality. Obtain written signed consent.</a:t>
            </a:r>
          </a:p>
          <a:p>
            <a:pPr lvl="0" marL="0" indent="-228600">
              <a:buChar char="•"/>
            </a:pPr>
            <a:r>
              <a:rPr lang="en-US" sz="1400" b="1" dirty="0">
                <a:solidFill>
                  <a:srgbClr val="1B2A4A"/>
                </a:solidFill>
                <a:latin typeface="Calibri"/>
              </a:rPr>
              <a:t>STEP 3 - Pre-Test Assessment (Day 4-5):</a:t>
            </a:r>
            <a:r>
              <a:rPr lang="en-US" sz="1400" dirty="0">
                <a:solidFill>
                  <a:srgbClr val="2C3E50"/>
                </a:solidFill>
                <a:latin typeface="Calibri"/>
              </a:rPr>
              <a:t> Administer in quiet room: ASSIST (severity baseline) + OCDUS (craving) + BIS-11 (impulsivity) + FFMQ (mindfulness). ~40 min total. Conducted by blinded Research Assistant.</a:t>
            </a:r>
          </a:p>
          <a:p>
            <a:pPr lvl="0" marL="0" indent="-228600">
              <a:buChar char="•"/>
            </a:pPr>
            <a:r>
              <a:rPr lang="en-US" sz="1400" b="1" dirty="0">
                <a:solidFill>
                  <a:srgbClr val="1B2A4A"/>
                </a:solidFill>
                <a:latin typeface="Calibri"/>
              </a:rPr>
              <a:t>STEP 4 - Randomization (Day 5):</a:t>
            </a:r>
            <a:r>
              <a:rPr lang="en-US" sz="1400" dirty="0">
                <a:solidFill>
                  <a:srgbClr val="2C3E50"/>
                </a:solidFill>
                <a:latin typeface="Calibri"/>
              </a:rPr>
              <a:t> Computer-generated random sequence. Sealed opaque envelopes. Allocate to Experimental (MBRP) or Control (Psychoeducation). Stratified by ASSIST severity.</a:t>
            </a:r>
          </a:p>
          <a:p>
            <a:pPr lvl="0" marL="0" indent="-228600">
              <a:buChar char="•"/>
            </a:pPr>
            <a:r>
              <a:rPr lang="en-US" sz="1400" b="1" dirty="0">
                <a:solidFill>
                  <a:srgbClr val="1B2A4A"/>
                </a:solidFill>
                <a:latin typeface="Calibri"/>
              </a:rPr>
              <a:t>STEP 5 - Intervention (Weeks 1-3):</a:t>
            </a:r>
            <a:r>
              <a:rPr lang="en-US" sz="1400" dirty="0">
                <a:solidFill>
                  <a:srgbClr val="2C3E50"/>
                </a:solidFill>
                <a:latin typeface="Calibri"/>
              </a:rPr>
              <a:t> 6 sessions, twice weekly, 45 min each. Groups of 6-8. MBRP group: mindfulness techniques. Control: psychoeducation. Both continue TAU.</a:t>
            </a:r>
          </a:p>
          <a:p>
            <a:pPr lvl="0" marL="0" indent="-228600">
              <a:buChar char="•"/>
            </a:pPr>
            <a:r>
              <a:rPr lang="en-US" sz="1400" b="1" dirty="0">
                <a:solidFill>
                  <a:srgbClr val="1B2A4A"/>
                </a:solidFill>
                <a:latin typeface="Calibri"/>
              </a:rPr>
              <a:t>STEP 6 - Post-Test (Within 1 week of final session):</a:t>
            </a:r>
            <a:r>
              <a:rPr lang="en-US" sz="1400" dirty="0">
                <a:solidFill>
                  <a:srgbClr val="2C3E50"/>
                </a:solidFill>
                <a:latin typeface="Calibri"/>
              </a:rPr>
              <a:t> Re-administer OCDUS + BIS-11 + FFMQ only (no ASSIST). Same blinded RA. Same conditions as pre-test.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Collection: Techniques &amp; Conditions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Assessment Setting:</a:t>
            </a:r>
          </a:p>
          <a:p>
            <a:pPr lvl="1" marL="457200" indent="-228600">
              <a:buChar char="•"/>
            </a:pPr>
            <a:r>
              <a:rPr lang="en-US" sz="1400" dirty="0">
                <a:solidFill>
                  <a:srgbClr val="2C3E50"/>
                </a:solidFill>
                <a:latin typeface="Calibri"/>
              </a:rPr>
              <a:t>Quiet, private room within Man Nasha Mukti Kendra</a:t>
            </a:r>
          </a:p>
          <a:p>
            <a:pPr lvl="1" marL="457200" indent="-228600">
              <a:buChar char="•"/>
            </a:pPr>
            <a:r>
              <a:rPr lang="en-US" sz="1400" dirty="0">
                <a:solidFill>
                  <a:srgbClr val="2C3E50"/>
                </a:solidFill>
                <a:latin typeface="Calibri"/>
              </a:rPr>
              <a:t>Comfortable seating, adequate lighting, no distractions</a:t>
            </a:r>
          </a:p>
          <a:p>
            <a:pPr lvl="1" marL="457200" indent="-228600">
              <a:buChar char="•"/>
            </a:pPr>
            <a:r>
              <a:rPr lang="en-US" sz="1400" dirty="0">
                <a:solidFill>
                  <a:srgbClr val="2C3E50"/>
                </a:solidFill>
                <a:latin typeface="Calibri"/>
              </a:rPr>
              <a:t>Morning hours (9-12 AM) to avoid medication effects</a:t>
            </a:r>
          </a:p>
          <a:p>
            <a:pPr lvl="1" marL="457200" indent="-228600">
              <a:buChar char="•"/>
            </a:pPr>
            <a:r>
              <a:rPr lang="en-US" sz="1400" dirty="0">
                <a:solidFill>
                  <a:srgbClr val="2C3E50"/>
                </a:solidFill>
                <a:latin typeface="Calibri"/>
              </a:rPr>
              <a:t>Same room and conditions for pre and post assessment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Administration Protocol:</a:t>
            </a:r>
          </a:p>
          <a:p>
            <a:pPr lvl="1" marL="457200" indent="-228600">
              <a:buChar char="•"/>
            </a:pPr>
            <a:r>
              <a:rPr lang="en-US" sz="1400" dirty="0">
                <a:solidFill>
                  <a:srgbClr val="2C3E50"/>
                </a:solidFill>
                <a:latin typeface="Calibri"/>
              </a:rPr>
              <a:t>Researcher-assisted (read aloud if literacy issues)</a:t>
            </a:r>
          </a:p>
          <a:p>
            <a:pPr lvl="1" marL="457200" indent="-228600">
              <a:buChar char="•"/>
            </a:pPr>
            <a:r>
              <a:rPr lang="en-US" sz="1400" dirty="0">
                <a:solidFill>
                  <a:srgbClr val="2C3E50"/>
                </a:solidFill>
                <a:latin typeface="Calibri"/>
              </a:rPr>
              <a:t>Hindi language throughout | Standardized instructions read verbatim</a:t>
            </a:r>
          </a:p>
          <a:p>
            <a:pPr lvl="1" marL="457200" indent="-228600">
              <a:buChar char="•"/>
            </a:pPr>
            <a:r>
              <a:rPr lang="en-US" sz="1400" dirty="0">
                <a:solidFill>
                  <a:srgbClr val="2C3E50"/>
                </a:solidFill>
                <a:latin typeface="Calibri"/>
              </a:rPr>
              <a:t>Unlimited time (typically 35-45 min total) | Practice items completed first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Blinding &amp; Bias Control:</a:t>
            </a:r>
          </a:p>
          <a:p>
            <a:pPr lvl="1" marL="457200" indent="-228600">
              <a:buChar char="•"/>
            </a:pPr>
            <a:r>
              <a:rPr lang="en-US" sz="1400" dirty="0">
                <a:solidFill>
                  <a:srgbClr val="2C3E50"/>
                </a:solidFill>
                <a:latin typeface="Calibri"/>
              </a:rPr>
              <a:t>Assessor (RA) blinded to group allocation</a:t>
            </a:r>
          </a:p>
          <a:p>
            <a:pPr lvl="1" marL="457200" indent="-228600">
              <a:buChar char="•"/>
            </a:pPr>
            <a:r>
              <a:rPr lang="en-US" sz="1400" dirty="0">
                <a:solidFill>
                  <a:srgbClr val="2C3E50"/>
                </a:solidFill>
                <a:latin typeface="Calibri"/>
              </a:rPr>
              <a:t>Participants instructed not to reveal group assignment</a:t>
            </a:r>
          </a:p>
          <a:p>
            <a:pPr lvl="1" marL="457200" indent="-228600">
              <a:buChar char="•"/>
            </a:pPr>
            <a:r>
              <a:rPr lang="en-US" sz="1400" dirty="0">
                <a:solidFill>
                  <a:srgbClr val="2C3E50"/>
                </a:solidFill>
                <a:latin typeface="Calibri"/>
              </a:rPr>
              <a:t>Standardized order: OCDUS -&gt; BIS-11 -&gt; FFMQ</a:t>
            </a:r>
          </a:p>
          <a:p>
            <a:pPr lvl="1" marL="457200" indent="-228600">
              <a:buChar char="•"/>
            </a:pPr>
            <a:r>
              <a:rPr lang="en-US" sz="1400" dirty="0">
                <a:solidFill>
                  <a:srgbClr val="2C3E50"/>
                </a:solidFill>
                <a:latin typeface="Calibri"/>
              </a:rPr>
              <a:t>Social desirability managed via anonymous coding | No researcher present during assessment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Data Management:</a:t>
            </a:r>
            <a:r>
              <a:rPr lang="en-US" sz="1400" dirty="0">
                <a:solidFill>
                  <a:srgbClr val="2C3E50"/>
                </a:solidFill>
                <a:latin typeface="Calibri"/>
              </a:rPr>
              <a:t> Participant ID codes (no names on forms) | Double data entry | Locked cabinet for paper forms | Electronic data password-protected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B-MBRP Techniques Used in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Body Scan Meditation:</a:t>
            </a:r>
            <a:r>
              <a:rPr lang="en-US" sz="1400" dirty="0">
                <a:solidFill>
                  <a:srgbClr val="2C3E50"/>
                </a:solidFill>
                <a:latin typeface="Calibri"/>
              </a:rPr>
              <a:t> Systematic attention to bodily sensations head to toe without judgment -&gt; Targets: Mindfulness (Observing)</a:t>
            </a:r>
          </a:p>
          <a:p>
            <a:pPr lvl="0" marL="0" indent="-228600">
              <a:buChar char="•"/>
            </a:pPr>
            <a:r>
              <a:rPr lang="en-US" sz="1400" b="1" dirty="0">
                <a:solidFill>
                  <a:srgbClr val="1B2A4A"/>
                </a:solidFill>
                <a:latin typeface="Calibri"/>
              </a:rPr>
              <a:t>Breath Awareness:</a:t>
            </a:r>
            <a:r>
              <a:rPr lang="en-US" sz="1400" dirty="0">
                <a:solidFill>
                  <a:srgbClr val="2C3E50"/>
                </a:solidFill>
                <a:latin typeface="Calibri"/>
              </a:rPr>
              <a:t> Focused attention on natural breathing rhythm as anchor -&gt; Targets: Mindfulness (Acting with Awareness)</a:t>
            </a:r>
          </a:p>
          <a:p>
            <a:pPr lvl="0" marL="0" indent="-228600">
              <a:buChar char="•"/>
            </a:pPr>
            <a:r>
              <a:rPr lang="en-US" sz="1400" b="1" dirty="0">
                <a:solidFill>
                  <a:srgbClr val="1B2A4A"/>
                </a:solidFill>
                <a:latin typeface="Calibri"/>
              </a:rPr>
              <a:t>Urge Surfing:</a:t>
            </a:r>
            <a:r>
              <a:rPr lang="en-US" sz="1400" dirty="0">
                <a:solidFill>
                  <a:srgbClr val="2C3E50"/>
                </a:solidFill>
                <a:latin typeface="Calibri"/>
              </a:rPr>
              <a:t> Observing craving as wave that rises, peaks, falls without acting -&gt; Targets: Craving reduction</a:t>
            </a:r>
          </a:p>
          <a:p>
            <a:pPr lvl="0" marL="0" indent="-228600">
              <a:buChar char="•"/>
            </a:pPr>
            <a:r>
              <a:rPr lang="en-US" sz="1400" b="1" dirty="0">
                <a:solidFill>
                  <a:srgbClr val="1B2A4A"/>
                </a:solidFill>
                <a:latin typeface="Calibri"/>
              </a:rPr>
              <a:t>SOBER Breathing Space:</a:t>
            </a:r>
            <a:r>
              <a:rPr lang="en-US" sz="1400" dirty="0">
                <a:solidFill>
                  <a:srgbClr val="2C3E50"/>
                </a:solidFill>
                <a:latin typeface="Calibri"/>
              </a:rPr>
              <a:t> Stop-Observe-Breathe-Expand-Respond (3-min emergency technique) -&gt; Targets: Impulsivity (response inhibition)</a:t>
            </a:r>
          </a:p>
          <a:p>
            <a:pPr lvl="0" marL="0" indent="-228600">
              <a:buChar char="•"/>
            </a:pPr>
            <a:r>
              <a:rPr lang="en-US" sz="1400" b="1" dirty="0">
                <a:solidFill>
                  <a:srgbClr val="1B2A4A"/>
                </a:solidFill>
                <a:latin typeface="Calibri"/>
              </a:rPr>
              <a:t>Trigger Mapping:</a:t>
            </a:r>
            <a:r>
              <a:rPr lang="en-US" sz="1400" dirty="0">
                <a:solidFill>
                  <a:srgbClr val="2C3E50"/>
                </a:solidFill>
                <a:latin typeface="Calibri"/>
              </a:rPr>
              <a:t> Identifying personal high-risk situations, people, places, emotions -&gt; Targets: Craving awareness</a:t>
            </a:r>
          </a:p>
          <a:p>
            <a:pPr lvl="0" marL="0" indent="-228600">
              <a:buChar char="•"/>
            </a:pPr>
            <a:r>
              <a:rPr lang="en-US" sz="1400" b="1" dirty="0">
                <a:solidFill>
                  <a:srgbClr val="1B2A4A"/>
                </a:solidFill>
                <a:latin typeface="Calibri"/>
              </a:rPr>
              <a:t>Cognitive Decentering:</a:t>
            </a:r>
            <a:r>
              <a:rPr lang="en-US" sz="1400" dirty="0">
                <a:solidFill>
                  <a:srgbClr val="2C3E50"/>
                </a:solidFill>
                <a:latin typeface="Calibri"/>
              </a:rPr>
              <a:t> Labeling thoughts: 'I am having the thought that...' -&gt; Targets: Impulsivity + Craving</a:t>
            </a:r>
          </a:p>
          <a:p>
            <a:pPr lvl="0" marL="0" indent="-228600">
              <a:buChar char="•"/>
            </a:pPr>
            <a:r>
              <a:rPr lang="en-US" sz="1400" b="1" dirty="0">
                <a:solidFill>
                  <a:srgbClr val="1B2A4A"/>
                </a:solidFill>
                <a:latin typeface="Calibri"/>
              </a:rPr>
              <a:t>Loving-Kindness Meditation:</a:t>
            </a:r>
            <a:r>
              <a:rPr lang="en-US" sz="1400" dirty="0">
                <a:solidFill>
                  <a:srgbClr val="2C3E50"/>
                </a:solidFill>
                <a:latin typeface="Calibri"/>
              </a:rPr>
              <a:t> Cultivating self-compassion, positive affect -&gt; Targets: Mindfulness (Non-Judging)</a:t>
            </a:r>
          </a:p>
          <a:p>
            <a:pPr lvl="0" marL="0" indent="-228600">
              <a:buChar char="•"/>
            </a:pPr>
            <a:r>
              <a:rPr lang="en-US" sz="1400" b="1" dirty="0">
                <a:solidFill>
                  <a:srgbClr val="1B2A4A"/>
                </a:solidFill>
                <a:latin typeface="Calibri"/>
              </a:rPr>
              <a:t>Mindful Movement:</a:t>
            </a:r>
            <a:r>
              <a:rPr lang="en-US" sz="1400" dirty="0">
                <a:solidFill>
                  <a:srgbClr val="2C3E50"/>
                </a:solidFill>
                <a:latin typeface="Calibri"/>
              </a:rPr>
              <a:t> Gentle yoga/walking with full present-moment attention -&gt; Targets: Mindfulness (Observing)</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B-MBRP Session-by-Session Protocol (Experimental Group)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Session 1 - Autopilot &amp; Awareness:</a:t>
            </a:r>
            <a:r>
              <a:rPr lang="en-US" sz="1400" dirty="0">
                <a:solidFill>
                  <a:srgbClr val="2C3E50"/>
                </a:solidFill>
                <a:latin typeface="Calibri"/>
              </a:rPr>
              <a:t> Welcome (5 min) -&gt; Raisin exercise (10 min) -&gt; Discussion on automatic patterns in addiction (10 min) -&gt; Brief body scan (12 min) -&gt; Assign practice (8 min) | Home: 5 min daily body scan</a:t>
            </a:r>
          </a:p>
          <a:p>
            <a:pPr lvl="0" marL="0" indent="-228600">
              <a:buChar char="•"/>
            </a:pPr>
            <a:r>
              <a:rPr lang="en-US" sz="1400" b="1" dirty="0">
                <a:solidFill>
                  <a:srgbClr val="1B2A4A"/>
                </a:solidFill>
                <a:latin typeface="Calibri"/>
              </a:rPr>
              <a:t>Session 2 - Triggers &amp; Body Scan:</a:t>
            </a:r>
            <a:r>
              <a:rPr lang="en-US" sz="1400" dirty="0">
                <a:solidFill>
                  <a:srgbClr val="2C3E50"/>
                </a:solidFill>
                <a:latin typeface="Calibri"/>
              </a:rPr>
              <a:t> Practice review (5 min) -&gt; Full body scan (15 min) -&gt; Personal trigger mapping (15 min) -&gt; Discussion on body signals of craving (10 min) | Home: Body scan + trigger diary</a:t>
            </a:r>
          </a:p>
          <a:p>
            <a:pPr lvl="0" marL="0" indent="-228600">
              <a:buChar char="•"/>
            </a:pPr>
            <a:r>
              <a:rPr lang="en-US" sz="1400" b="1" dirty="0">
                <a:solidFill>
                  <a:srgbClr val="1B2A4A"/>
                </a:solidFill>
                <a:latin typeface="Calibri"/>
              </a:rPr>
              <a:t>Session 3 - Breath &amp; SOBER Space:</a:t>
            </a:r>
            <a:r>
              <a:rPr lang="en-US" sz="1400" dirty="0">
                <a:solidFill>
                  <a:srgbClr val="2C3E50"/>
                </a:solidFill>
                <a:latin typeface="Calibri"/>
              </a:rPr>
              <a:t> Practice review (5 min) -&gt; 10 min breath meditation -&gt; Teach SOBER (10 min) -&gt; Role-play in high-risk scenario (10 min) -&gt; Integration (10 min) | Home: Breath meditation + 3x daily SOBER</a:t>
            </a:r>
          </a:p>
          <a:p>
            <a:pPr lvl="0" marL="0" indent="-228600">
              <a:buChar char="•"/>
            </a:pPr>
            <a:r>
              <a:rPr lang="en-US" sz="1400" b="1" dirty="0">
                <a:solidFill>
                  <a:srgbClr val="1B2A4A"/>
                </a:solidFill>
                <a:latin typeface="Calibri"/>
              </a:rPr>
              <a:t>Session 4 - Urge Surfing &amp; Decentering:</a:t>
            </a:r>
            <a:r>
              <a:rPr lang="en-US" sz="1400" dirty="0">
                <a:solidFill>
                  <a:srgbClr val="2C3E50"/>
                </a:solidFill>
                <a:latin typeface="Calibri"/>
              </a:rPr>
              <a:t> Practice review (5 min) -&gt; Guided urge surfing (15 min) -&gt; Cognitive decentering exercise (10 min) -&gt; Group sharing (15 min) | Home: Urge surfing when craving arises</a:t>
            </a:r>
          </a:p>
          <a:p>
            <a:pPr lvl="0" marL="0" indent="-228600">
              <a:buChar char="•"/>
            </a:pPr>
            <a:r>
              <a:rPr lang="en-US" sz="1400" b="1" dirty="0">
                <a:solidFill>
                  <a:srgbClr val="1B2A4A"/>
                </a:solidFill>
                <a:latin typeface="Calibri"/>
              </a:rPr>
              <a:t>Session 5 - Acceptance &amp; Non-Reactivity:</a:t>
            </a:r>
            <a:r>
              <a:rPr lang="en-US" sz="1400" dirty="0">
                <a:solidFill>
                  <a:srgbClr val="2C3E50"/>
                </a:solidFill>
                <a:latin typeface="Calibri"/>
              </a:rPr>
              <a:t> Practice review (5 min) -&gt; Open awareness meditation (12 min) -&gt; Acceptance vs. avoidance discussion (10 min) -&gt; Skillful action planning (10 min) -&gt; Wrap-up (8 min) | Home: Daily open awareness</a:t>
            </a:r>
          </a:p>
          <a:p>
            <a:pPr lvl="0" marL="0" indent="-228600">
              <a:buChar char="•"/>
            </a:pPr>
            <a:r>
              <a:rPr lang="en-US" sz="1400" b="1" dirty="0">
                <a:solidFill>
                  <a:srgbClr val="1B2A4A"/>
                </a:solidFill>
                <a:latin typeface="Calibri"/>
              </a:rPr>
              <a:t>Session 6 - Integration &amp; Maintenance:</a:t>
            </a:r>
            <a:r>
              <a:rPr lang="en-US" sz="1400" dirty="0">
                <a:solidFill>
                  <a:srgbClr val="2C3E50"/>
                </a:solidFill>
                <a:latin typeface="Calibri"/>
              </a:rPr>
              <a:t> Practice review (5 min) -&gt; Loving-kindness meditation (10 min) -&gt; Personal relapse prevention plan with mindfulness tools (15 min) -&gt; Group feedback &amp; closure (15 min) | Home: Personalized daily plan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Delivery:</a:t>
            </a:r>
            <a:r>
              <a:rPr lang="en-US" sz="1400" dirty="0">
                <a:solidFill>
                  <a:srgbClr val="2C3E50"/>
                </a:solidFill>
                <a:latin typeface="Calibri"/>
              </a:rPr>
              <a:t> Twice weekly | 45 min/session | Group (6-8) | Hindi audio meditations | Practice logs maintained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How Each B-MBRP Session is Conducted (Standard Structure)</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Every session follows this 6-step format: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Step 1 - Opening Meditation (5 min):</a:t>
            </a:r>
            <a:r>
              <a:rPr lang="en-US" sz="1400" dirty="0">
                <a:solidFill>
                  <a:srgbClr val="2C3E50"/>
                </a:solidFill>
                <a:latin typeface="Calibri"/>
              </a:rPr>
              <a:t> Brief breath awareness to settle the group. Participants sit comfortably with eyes closed. Therapist guides attention to breath in Hindi.</a:t>
            </a:r>
          </a:p>
          <a:p>
            <a:pPr lvl="0" marL="0" indent="-228600">
              <a:buChar char="•"/>
            </a:pPr>
            <a:r>
              <a:rPr lang="en-US" sz="1400" b="1" dirty="0">
                <a:solidFill>
                  <a:srgbClr val="1B2A4A"/>
                </a:solidFill>
                <a:latin typeface="Calibri"/>
              </a:rPr>
              <a:t>Step 2 - Practice Review (5 min):</a:t>
            </a:r>
            <a:r>
              <a:rPr lang="en-US" sz="1400" dirty="0">
                <a:solidFill>
                  <a:srgbClr val="2C3E50"/>
                </a:solidFill>
                <a:latin typeface="Calibri"/>
              </a:rPr>
              <a:t> Participants share home practice experiences. Troubleshoot difficulties. Normalize challenges. Non-judgmental discussion.</a:t>
            </a:r>
          </a:p>
          <a:p>
            <a:pPr lvl="0" marL="0" indent="-228600">
              <a:buChar char="•"/>
            </a:pPr>
            <a:r>
              <a:rPr lang="en-US" sz="1400" b="1" dirty="0">
                <a:solidFill>
                  <a:srgbClr val="1B2A4A"/>
                </a:solidFill>
                <a:latin typeface="Calibri"/>
              </a:rPr>
              <a:t>Step 3 - Core Meditation/Exercise (12-15 min):</a:t>
            </a:r>
            <a:r>
              <a:rPr lang="en-US" sz="1400" dirty="0">
                <a:solidFill>
                  <a:srgbClr val="2C3E50"/>
                </a:solidFill>
                <a:latin typeface="Calibri"/>
              </a:rPr>
              <a:t> Session-specific guided meditation (body scan, urge surfing, etc.). Conducted in Hindi using pre-recorded audio + live guidance by therapist.</a:t>
            </a:r>
          </a:p>
          <a:p>
            <a:pPr lvl="0" marL="0" indent="-228600">
              <a:buChar char="•"/>
            </a:pPr>
            <a:r>
              <a:rPr lang="en-US" sz="1400" b="1" dirty="0">
                <a:solidFill>
                  <a:srgbClr val="1B2A4A"/>
                </a:solidFill>
                <a:latin typeface="Calibri"/>
              </a:rPr>
              <a:t>Step 4 - Psychoeducation &amp; Discussion (10-12 min):</a:t>
            </a:r>
            <a:r>
              <a:rPr lang="en-US" sz="1400" dirty="0">
                <a:solidFill>
                  <a:srgbClr val="2C3E50"/>
                </a:solidFill>
                <a:latin typeface="Calibri"/>
              </a:rPr>
              <a:t> Brief teaching on session theme. Group discussion linking mindfulness to personal recovery. Culturally relevant examples used.</a:t>
            </a:r>
          </a:p>
          <a:p>
            <a:pPr lvl="0" marL="0" indent="-228600">
              <a:buChar char="•"/>
            </a:pPr>
            <a:r>
              <a:rPr lang="en-US" sz="1400" b="1" dirty="0">
                <a:solidFill>
                  <a:srgbClr val="1B2A4A"/>
                </a:solidFill>
                <a:latin typeface="Calibri"/>
              </a:rPr>
              <a:t>Step 5 - Experiential Exercise (8-10 min):</a:t>
            </a:r>
            <a:r>
              <a:rPr lang="en-US" sz="1400" dirty="0">
                <a:solidFill>
                  <a:srgbClr val="2C3E50"/>
                </a:solidFill>
                <a:latin typeface="Calibri"/>
              </a:rPr>
              <a:t> Active practice or role-play (SOBER in high-risk scenario, trigger mapping on paper, decentering exercise with craving thoughts).</a:t>
            </a:r>
          </a:p>
          <a:p>
            <a:pPr lvl="0" marL="0" indent="-228600">
              <a:buChar char="•"/>
            </a:pPr>
            <a:r>
              <a:rPr lang="en-US" sz="1400" b="1" dirty="0">
                <a:solidFill>
                  <a:srgbClr val="1B2A4A"/>
                </a:solidFill>
                <a:latin typeface="Calibri"/>
              </a:rPr>
              <a:t>Step 6 - Closing &amp; Home Practice Assignment (5 min):</a:t>
            </a:r>
            <a:r>
              <a:rPr lang="en-US" sz="1400" dirty="0">
                <a:solidFill>
                  <a:srgbClr val="2C3E50"/>
                </a:solidFill>
                <a:latin typeface="Calibri"/>
              </a:rPr>
              <a:t> Summary of key learning. Assign specific daily practice (5-10 min). Distribute audio recordings. Record attendance.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Therapist:</a:t>
            </a:r>
            <a:r>
              <a:rPr lang="en-US" sz="1400" dirty="0">
                <a:solidFill>
                  <a:srgbClr val="2C3E50"/>
                </a:solidFill>
                <a:latin typeface="Calibri"/>
              </a:rPr>
              <a:t> MPhil Clinical Psychologist trained in MBRP | Manualized protocol ensures fidelity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Control Group: Psychoeducation (6 Sessions / 3 Weeks)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Session 1 - Understanding Addiction:</a:t>
            </a:r>
            <a:r>
              <a:rPr lang="en-US" sz="1400" dirty="0">
                <a:solidFill>
                  <a:srgbClr val="2C3E50"/>
                </a:solidFill>
                <a:latin typeface="Calibri"/>
              </a:rPr>
              <a:t> Disease model; brain changes with chronic use; genetic &amp; environmental factors</a:t>
            </a:r>
          </a:p>
          <a:p>
            <a:pPr lvl="0" marL="0" indent="-228600">
              <a:buChar char="•"/>
            </a:pPr>
            <a:r>
              <a:rPr lang="en-US" sz="1400" b="1" dirty="0">
                <a:solidFill>
                  <a:srgbClr val="1B2A4A"/>
                </a:solidFill>
                <a:latin typeface="Calibri"/>
              </a:rPr>
              <a:t>Session 2 - Effects of Opioids:</a:t>
            </a:r>
            <a:r>
              <a:rPr lang="en-US" sz="1400" dirty="0">
                <a:solidFill>
                  <a:srgbClr val="2C3E50"/>
                </a:solidFill>
                <a:latin typeface="Calibri"/>
              </a:rPr>
              <a:t> Physical consequences (liver, heart, immune); psychological effects; withdrawal timeline</a:t>
            </a:r>
          </a:p>
          <a:p>
            <a:pPr lvl="0" marL="0" indent="-228600">
              <a:buChar char="•"/>
            </a:pPr>
            <a:r>
              <a:rPr lang="en-US" sz="1400" b="1" dirty="0">
                <a:solidFill>
                  <a:srgbClr val="1B2A4A"/>
                </a:solidFill>
                <a:latin typeface="Calibri"/>
              </a:rPr>
              <a:t>Session 3 - Understanding Relapse:</a:t>
            </a:r>
            <a:r>
              <a:rPr lang="en-US" sz="1400" dirty="0">
                <a:solidFill>
                  <a:srgbClr val="2C3E50"/>
                </a:solidFill>
                <a:latin typeface="Calibri"/>
              </a:rPr>
              <a:t> Warning signs; high-risk situations; Marlatt's relapse model; cognitive distortions</a:t>
            </a:r>
          </a:p>
          <a:p>
            <a:pPr lvl="0" marL="0" indent="-228600">
              <a:buChar char="•"/>
            </a:pPr>
            <a:r>
              <a:rPr lang="en-US" sz="1400" b="1" dirty="0">
                <a:solidFill>
                  <a:srgbClr val="1B2A4A"/>
                </a:solidFill>
                <a:latin typeface="Calibri"/>
              </a:rPr>
              <a:t>Session 4 - Health &amp; Nutrition:</a:t>
            </a:r>
            <a:r>
              <a:rPr lang="en-US" sz="1400" dirty="0">
                <a:solidFill>
                  <a:srgbClr val="2C3E50"/>
                </a:solidFill>
                <a:latin typeface="Calibri"/>
              </a:rPr>
              <a:t> Physical recovery during treatment; sleep hygiene; exercise benefits; nutrition</a:t>
            </a:r>
          </a:p>
          <a:p>
            <a:pPr lvl="0" marL="0" indent="-228600">
              <a:buChar char="•"/>
            </a:pPr>
            <a:r>
              <a:rPr lang="en-US" sz="1400" b="1" dirty="0">
                <a:solidFill>
                  <a:srgbClr val="1B2A4A"/>
                </a:solidFill>
                <a:latin typeface="Calibri"/>
              </a:rPr>
              <a:t>Session 5 - Social Consequences:</a:t>
            </a:r>
            <a:r>
              <a:rPr lang="en-US" sz="1400" dirty="0">
                <a:solidFill>
                  <a:srgbClr val="2C3E50"/>
                </a:solidFill>
                <a:latin typeface="Calibri"/>
              </a:rPr>
              <a:t> Family impact; legal issues; stigma; workplace; rehabilitation resources</a:t>
            </a:r>
          </a:p>
          <a:p>
            <a:pPr lvl="0" marL="0" indent="-228600">
              <a:buChar char="•"/>
            </a:pPr>
            <a:r>
              <a:rPr lang="en-US" sz="1400" b="1" dirty="0">
                <a:solidFill>
                  <a:srgbClr val="1B2A4A"/>
                </a:solidFill>
                <a:latin typeface="Calibri"/>
              </a:rPr>
              <a:t>Session 6 - Motivation &amp; Goals:</a:t>
            </a:r>
            <a:r>
              <a:rPr lang="en-US" sz="1400" dirty="0">
                <a:solidFill>
                  <a:srgbClr val="2C3E50"/>
                </a:solidFill>
                <a:latin typeface="Calibri"/>
              </a:rPr>
              <a:t> Stages of change; recovery planning; goal setting; community resources; discharge planning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Active Control Design:</a:t>
            </a:r>
            <a:r>
              <a:rPr lang="en-US" sz="1400" dirty="0">
                <a:solidFill>
                  <a:srgbClr val="2C3E50"/>
                </a:solidFill>
                <a:latin typeface="Calibri"/>
              </a:rPr>
              <a:t> Matched for time (45 min), format (group 6-8), frequency (2x/week), attention, and therapist contact. Uses handouts + visual aids + discussion. Contains NO mindfulness component.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Analysis Plan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Statistical Tests:</a:t>
            </a:r>
            <a:r>
              <a:rPr lang="en-US" sz="1400" dirty="0">
                <a:solidFill>
                  <a:srgbClr val="2C3E50"/>
                </a:solidFill>
                <a:latin typeface="Calibri"/>
              </a:rPr>
              <a:t> Descriptive (Mean, SD, frequencies) | Normality (Shapiro-Wilk) | Within-group (Paired t-test / Wilcoxon) | Between-group (Independent t-test / Mann-Whitney) | Primary: ANCOVA | Effect size: Partial eta-squared, Cohen's d | Alpha = 0.05 | SPSS 26.0</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ANCOVA Model:</a:t>
            </a:r>
            <a:r>
              <a:rPr lang="en-US" sz="1400" dirty="0">
                <a:solidFill>
                  <a:srgbClr val="2C3E50"/>
                </a:solidFill>
                <a:latin typeface="Calibri"/>
              </a:rPr>
              <a:t> DV: Post-test scores (OCDUS / BIS-11 / FFMQ) | IV: Group (Exp vs. Control) | Covariate: Pre-test scores | ITT: Last Observation Carried Forward (LOCF)</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ANCOVA Justification:</a:t>
            </a:r>
          </a:p>
          <a:p>
            <a:pPr lvl="1" marL="457200" indent="-228600">
              <a:buChar char="•"/>
            </a:pPr>
            <a:r>
              <a:rPr lang="en-US" sz="1400" dirty="0">
                <a:solidFill>
                  <a:srgbClr val="2C3E50"/>
                </a:solidFill>
                <a:latin typeface="Calibri"/>
              </a:rPr>
              <a:t>(a) Controls for pre-existing baseline differences even after randomization</a:t>
            </a:r>
          </a:p>
          <a:p>
            <a:pPr lvl="1" marL="457200" indent="-228600">
              <a:buChar char="•"/>
            </a:pPr>
            <a:r>
              <a:rPr lang="en-US" sz="1400" dirty="0">
                <a:solidFill>
                  <a:srgbClr val="2C3E50"/>
                </a:solidFill>
                <a:latin typeface="Calibri"/>
              </a:rPr>
              <a:t>(b) Increases statistical power by reducing within-group error variance</a:t>
            </a:r>
          </a:p>
          <a:p>
            <a:pPr lvl="1" marL="457200" indent="-228600">
              <a:buChar char="•"/>
            </a:pPr>
            <a:r>
              <a:rPr lang="en-US" sz="1400" dirty="0">
                <a:solidFill>
                  <a:srgbClr val="2C3E50"/>
                </a:solidFill>
                <a:latin typeface="Calibri"/>
              </a:rPr>
              <a:t>(c) Provides more precise treatment effect estimate by adjusting post-test for baseline</a:t>
            </a:r>
          </a:p>
          <a:p>
            <a:pPr lvl="1" marL="457200" indent="-228600">
              <a:buChar char="•"/>
            </a:pPr>
            <a:r>
              <a:rPr lang="en-US" sz="1400" dirty="0">
                <a:solidFill>
                  <a:srgbClr val="2C3E50"/>
                </a:solidFill>
                <a:latin typeface="Calibri"/>
              </a:rPr>
              <a:t>(d) Reduces required sample size compared to independent t-test</a:t>
            </a:r>
          </a:p>
          <a:p>
            <a:pPr lvl="1" marL="457200" indent="-228600">
              <a:buChar char="•"/>
            </a:pPr>
            <a:r>
              <a:rPr lang="en-US" sz="1400" dirty="0">
                <a:solidFill>
                  <a:srgbClr val="2C3E50"/>
                </a:solidFill>
                <a:latin typeface="Calibri"/>
              </a:rPr>
              <a:t>(e) Recommended for pre-post designs by Tabachnick &amp; Fidell (2013) and Field (2018)</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Ethical Considerations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 Informed Consent:</a:t>
            </a:r>
            <a:r>
              <a:rPr lang="en-US" sz="1400" dirty="0">
                <a:solidFill>
                  <a:srgbClr val="2C3E50"/>
                </a:solidFill>
                <a:latin typeface="Calibri"/>
              </a:rPr>
              <a:t> Written consent in Hindi; participants fully informed of purpose, procedures, risks, benefits</a:t>
            </a:r>
          </a:p>
          <a:p>
            <a:pPr lvl="0" marL="0" indent="-228600">
              <a:buChar char="•"/>
            </a:pPr>
            <a:r>
              <a:rPr lang="en-US" sz="1400" b="1" dirty="0">
                <a:solidFill>
                  <a:srgbClr val="1B2A4A"/>
                </a:solidFill>
                <a:latin typeface="Calibri"/>
              </a:rPr>
              <a:t>2. Voluntary Participation:</a:t>
            </a:r>
            <a:r>
              <a:rPr lang="en-US" sz="1400" dirty="0">
                <a:solidFill>
                  <a:srgbClr val="2C3E50"/>
                </a:solidFill>
                <a:latin typeface="Calibri"/>
              </a:rPr>
              <a:t> Right to withdraw anytime without penalty or impact on treatment at Man Nasha Mukti Kendra</a:t>
            </a:r>
          </a:p>
          <a:p>
            <a:pPr lvl="0" marL="0" indent="-228600">
              <a:buChar char="•"/>
            </a:pPr>
            <a:r>
              <a:rPr lang="en-US" sz="1400" b="1" dirty="0">
                <a:solidFill>
                  <a:srgbClr val="1B2A4A"/>
                </a:solidFill>
                <a:latin typeface="Calibri"/>
              </a:rPr>
              <a:t>3. Confidentiality:</a:t>
            </a:r>
            <a:r>
              <a:rPr lang="en-US" sz="1400" dirty="0">
                <a:solidFill>
                  <a:srgbClr val="2C3E50"/>
                </a:solidFill>
                <a:latin typeface="Calibri"/>
              </a:rPr>
              <a:t> Data coded with participant IDs; no identifying information in publications; secure locked storage</a:t>
            </a:r>
          </a:p>
          <a:p>
            <a:pPr lvl="0" marL="0" indent="-228600">
              <a:buChar char="•"/>
            </a:pPr>
            <a:r>
              <a:rPr lang="en-US" sz="1400" b="1" dirty="0">
                <a:solidFill>
                  <a:srgbClr val="1B2A4A"/>
                </a:solidFill>
                <a:latin typeface="Calibri"/>
              </a:rPr>
              <a:t>4. Non-Maleficence:</a:t>
            </a:r>
            <a:r>
              <a:rPr lang="en-US" sz="1400" dirty="0">
                <a:solidFill>
                  <a:srgbClr val="2C3E50"/>
                </a:solidFill>
                <a:latin typeface="Calibri"/>
              </a:rPr>
              <a:t> Control receives active psychoeducation (not waitlist/no treatment); TAU continued for all</a:t>
            </a:r>
          </a:p>
          <a:p>
            <a:pPr lvl="0" marL="0" indent="-228600">
              <a:buChar char="•"/>
            </a:pPr>
            <a:r>
              <a:rPr lang="en-US" sz="1400" b="1" dirty="0">
                <a:solidFill>
                  <a:srgbClr val="1B2A4A"/>
                </a:solidFill>
                <a:latin typeface="Calibri"/>
              </a:rPr>
              <a:t>5. Institutional Approval:</a:t>
            </a:r>
            <a:r>
              <a:rPr lang="en-US" sz="1400" dirty="0">
                <a:solidFill>
                  <a:srgbClr val="2C3E50"/>
                </a:solidFill>
                <a:latin typeface="Calibri"/>
              </a:rPr>
              <a:t> Ethical clearance from Institutional Ethics Committee (IEC) prior to data collection</a:t>
            </a:r>
          </a:p>
          <a:p>
            <a:pPr lvl="0" marL="0" indent="-228600">
              <a:buChar char="•"/>
            </a:pPr>
            <a:r>
              <a:rPr lang="en-US" sz="1400" b="1" dirty="0">
                <a:solidFill>
                  <a:srgbClr val="1B2A4A"/>
                </a:solidFill>
                <a:latin typeface="Calibri"/>
              </a:rPr>
              <a:t>6. Debriefing:</a:t>
            </a:r>
            <a:r>
              <a:rPr lang="en-US" sz="1400" dirty="0">
                <a:solidFill>
                  <a:srgbClr val="2C3E50"/>
                </a:solidFill>
                <a:latin typeface="Calibri"/>
              </a:rPr>
              <a:t> Control group offered brief MBRP orientation post-study completion</a:t>
            </a:r>
          </a:p>
          <a:p>
            <a:pPr lvl="0" marL="0" indent="-228600">
              <a:buChar char="•"/>
            </a:pPr>
            <a:r>
              <a:rPr lang="en-US" sz="1400" b="1" dirty="0">
                <a:solidFill>
                  <a:srgbClr val="1B2A4A"/>
                </a:solidFill>
                <a:latin typeface="Calibri"/>
              </a:rPr>
              <a:t>7. Compliance:</a:t>
            </a:r>
            <a:r>
              <a:rPr lang="en-US" sz="1400" dirty="0">
                <a:solidFill>
                  <a:srgbClr val="2C3E50"/>
                </a:solidFill>
                <a:latin typeface="Calibri"/>
              </a:rPr>
              <a:t> ICMR (2017) National Ethical Guidelines for Biomedical and Health Research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Expected Results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CRAVING (OCDUS):</a:t>
            </a:r>
            <a:r>
              <a:rPr lang="en-US" sz="1400" dirty="0">
                <a:solidFill>
                  <a:srgbClr val="2C3E50"/>
                </a:solidFill>
                <a:latin typeface="Calibri"/>
              </a:rPr>
              <a:t> Significant REDUCTION expected in MBRP group vs. Control. Effect: d = 0.50-0.80. Mechanism: Urge surfing disrupts automatic craving-use cycle.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IMPULSIVITY (BIS-11):</a:t>
            </a:r>
            <a:r>
              <a:rPr lang="en-US" sz="1400" dirty="0">
                <a:solidFill>
                  <a:srgbClr val="2C3E50"/>
                </a:solidFill>
                <a:latin typeface="Calibri"/>
              </a:rPr>
              <a:t> Significant REDUCTION expected (Motor + Attentional subscales). Effect: d = 0.40-0.60. Mechanism: Mindfulness strengthens prefrontal inhibitory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MINDFULNESS (FFMQ):</a:t>
            </a:r>
            <a:r>
              <a:rPr lang="en-US" sz="1400" dirty="0">
                <a:solidFill>
                  <a:srgbClr val="2C3E50"/>
                </a:solidFill>
                <a:latin typeface="Calibri"/>
              </a:rPr>
              <a:t> Significant INCREASE expected in MBRP group (Acting with Awareness &amp; Non-Reactivity facets). Effect: d = 0.50-0.70. Mechanism: Structured meditation cultivates dispositional mindfulness.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OVERALL:</a:t>
            </a:r>
            <a:r>
              <a:rPr lang="en-US" sz="1400" dirty="0">
                <a:solidFill>
                  <a:srgbClr val="2C3E50"/>
                </a:solidFill>
                <a:latin typeface="Calibri"/>
              </a:rPr>
              <a:t> Brief MBRP + TAU expected to demonstrate superiority across all 3 DVs. Null hypotheses expected to be rejected. Supports feasibility of 6-session B-MBRP at Man Nasha Mukti Kendra.</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Clinical Implications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Validates a brief MBRP model (6 sessions/3 weeks) feasible for Indian de-addiction settings with limited resources</a:t>
            </a:r>
          </a:p>
          <a:p>
            <a:pPr lvl="0" marL="0" indent="-228600">
              <a:buChar char="•"/>
            </a:pPr>
            <a:r>
              <a:rPr lang="en-US" sz="1400" b="1" dirty="0">
                <a:solidFill>
                  <a:srgbClr val="1B2A4A"/>
                </a:solidFill>
                <a:latin typeface="Calibri"/>
              </a:rPr>
              <a:t>2.</a:t>
            </a:r>
            <a:r>
              <a:rPr lang="en-US" sz="1400" dirty="0">
                <a:solidFill>
                  <a:srgbClr val="2C3E50"/>
                </a:solidFill>
                <a:latin typeface="Calibri"/>
              </a:rPr>
              <a:t> Provides evidence-based psychological intervention to complement pharmacotherapy (OST, naltrexone) in routine care</a:t>
            </a:r>
          </a:p>
          <a:p>
            <a:pPr lvl="0" marL="0" indent="-228600">
              <a:buChar char="•"/>
            </a:pPr>
            <a:r>
              <a:rPr lang="en-US" sz="1400" b="1" dirty="0">
                <a:solidFill>
                  <a:srgbClr val="1B2A4A"/>
                </a:solidFill>
                <a:latin typeface="Calibri"/>
              </a:rPr>
              <a:t>3.</a:t>
            </a:r>
            <a:r>
              <a:rPr lang="en-US" sz="1400" dirty="0">
                <a:solidFill>
                  <a:srgbClr val="2C3E50"/>
                </a:solidFill>
                <a:latin typeface="Calibri"/>
              </a:rPr>
              <a:t> Demonstrates mindfulness-based approaches are culturally compatible with Indian populations</a:t>
            </a:r>
          </a:p>
          <a:p>
            <a:pPr lvl="0" marL="0" indent="-228600">
              <a:buChar char="•"/>
            </a:pPr>
            <a:r>
              <a:rPr lang="en-US" sz="1400" b="1" dirty="0">
                <a:solidFill>
                  <a:srgbClr val="1B2A4A"/>
                </a:solidFill>
                <a:latin typeface="Calibri"/>
              </a:rPr>
              <a:t>4.</a:t>
            </a:r>
            <a:r>
              <a:rPr lang="en-US" sz="1400" dirty="0">
                <a:solidFill>
                  <a:srgbClr val="2C3E50"/>
                </a:solidFill>
                <a:latin typeface="Calibri"/>
              </a:rPr>
              <a:t> Addresses multiple relapse risk factors simultaneously (craving + impulsivity + mindfulness) through single protocol</a:t>
            </a:r>
          </a:p>
          <a:p>
            <a:pPr lvl="0" marL="0" indent="-228600">
              <a:buChar char="•"/>
            </a:pPr>
            <a:r>
              <a:rPr lang="en-US" sz="1400" b="1" dirty="0">
                <a:solidFill>
                  <a:srgbClr val="1B2A4A"/>
                </a:solidFill>
                <a:latin typeface="Calibri"/>
              </a:rPr>
              <a:t>5.</a:t>
            </a:r>
            <a:r>
              <a:rPr lang="en-US" sz="1400" dirty="0">
                <a:solidFill>
                  <a:srgbClr val="2C3E50"/>
                </a:solidFill>
                <a:latin typeface="Calibri"/>
              </a:rPr>
              <a:t> Supports task-shifting: Brief MBRP deliverable by MPhil-trained Clinical Psychologists in district-level settings</a:t>
            </a:r>
          </a:p>
          <a:p>
            <a:pPr lvl="0" marL="0" indent="-228600">
              <a:buChar char="•"/>
            </a:pPr>
            <a:r>
              <a:rPr lang="en-US" sz="1400" b="1" dirty="0">
                <a:solidFill>
                  <a:srgbClr val="1B2A4A"/>
                </a:solidFill>
                <a:latin typeface="Calibri"/>
              </a:rPr>
              <a:t>6.</a:t>
            </a:r>
            <a:r>
              <a:rPr lang="en-US" sz="1400" dirty="0">
                <a:solidFill>
                  <a:srgbClr val="2C3E50"/>
                </a:solidFill>
                <a:latin typeface="Calibri"/>
              </a:rPr>
              <a:t> Scalable model: If effective, can be disseminated to government de-addiction centers across MP and India</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Limitations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Male-only sample from single center (Man Nasha Mukti Kendra) limits generalizability to females and other settings</a:t>
            </a:r>
          </a:p>
          <a:p>
            <a:pPr lvl="0" marL="0" indent="-228600">
              <a:buChar char="•"/>
            </a:pPr>
            <a:r>
              <a:rPr lang="en-US" sz="1400" b="1" dirty="0">
                <a:solidFill>
                  <a:srgbClr val="1B2A4A"/>
                </a:solidFill>
                <a:latin typeface="Calibri"/>
              </a:rPr>
              <a:t>2.</a:t>
            </a:r>
            <a:r>
              <a:rPr lang="en-US" sz="1400" dirty="0">
                <a:solidFill>
                  <a:srgbClr val="2C3E50"/>
                </a:solidFill>
                <a:latin typeface="Calibri"/>
              </a:rPr>
              <a:t> Short-term assessment: Post-test immediately after 3-week intervention; no long-term follow-up</a:t>
            </a:r>
          </a:p>
          <a:p>
            <a:pPr lvl="0" marL="0" indent="-228600">
              <a:buChar char="•"/>
            </a:pPr>
            <a:r>
              <a:rPr lang="en-US" sz="1400" b="1" dirty="0">
                <a:solidFill>
                  <a:srgbClr val="1B2A4A"/>
                </a:solidFill>
                <a:latin typeface="Calibri"/>
              </a:rPr>
              <a:t>3.</a:t>
            </a:r>
            <a:r>
              <a:rPr lang="en-US" sz="1400" dirty="0">
                <a:solidFill>
                  <a:srgbClr val="2C3E50"/>
                </a:solidFill>
                <a:latin typeface="Calibri"/>
              </a:rPr>
              <a:t> Self-report measures (OCDUS, BIS-11, FFMQ) susceptible to social desirability bias</a:t>
            </a:r>
          </a:p>
          <a:p>
            <a:pPr lvl="0" marL="0" indent="-228600">
              <a:buChar char="•"/>
            </a:pPr>
            <a:r>
              <a:rPr lang="en-US" sz="1400" b="1" dirty="0">
                <a:solidFill>
                  <a:srgbClr val="1B2A4A"/>
                </a:solidFill>
                <a:latin typeface="Calibri"/>
              </a:rPr>
              <a:t>4.</a:t>
            </a:r>
            <a:r>
              <a:rPr lang="en-US" sz="1400" dirty="0">
                <a:solidFill>
                  <a:srgbClr val="2C3E50"/>
                </a:solidFill>
                <a:latin typeface="Calibri"/>
              </a:rPr>
              <a:t> No biological markers: Craving measured subjectively without physiological corroboration (cortisol, HRV)</a:t>
            </a:r>
          </a:p>
          <a:p>
            <a:pPr lvl="0" marL="0" indent="-228600">
              <a:buChar char="•"/>
            </a:pPr>
            <a:r>
              <a:rPr lang="en-US" sz="1400" b="1" dirty="0">
                <a:solidFill>
                  <a:srgbClr val="1B2A4A"/>
                </a:solidFill>
                <a:latin typeface="Calibri"/>
              </a:rPr>
              <a:t>5.</a:t>
            </a:r>
            <a:r>
              <a:rPr lang="en-US" sz="1400" dirty="0">
                <a:solidFill>
                  <a:srgbClr val="2C3E50"/>
                </a:solidFill>
                <a:latin typeface="Calibri"/>
              </a:rPr>
              <a:t> Therapist effects: Single therapist delivery may introduce confounds (mitigated by manualized protocol)</a:t>
            </a:r>
          </a:p>
          <a:p>
            <a:pPr lvl="0" marL="0" indent="-228600">
              <a:buChar char="•"/>
            </a:pPr>
            <a:r>
              <a:rPr lang="en-US" sz="1400" b="1" dirty="0">
                <a:solidFill>
                  <a:srgbClr val="1B2A4A"/>
                </a:solidFill>
                <a:latin typeface="Calibri"/>
              </a:rPr>
              <a:t>6.</a:t>
            </a:r>
            <a:r>
              <a:rPr lang="en-US" sz="1400" dirty="0">
                <a:solidFill>
                  <a:srgbClr val="2C3E50"/>
                </a:solidFill>
                <a:latin typeface="Calibri"/>
              </a:rPr>
              <a:t> Attention-matched control does not fully isolate mindfulness-specific mechanisms from non-specific factors</a:t>
            </a:r>
          </a:p>
          <a:p>
            <a:pPr lvl="0" marL="0" indent="-228600">
              <a:buChar char="•"/>
            </a:pPr>
            <a:r>
              <a:rPr lang="en-US" sz="1400" b="1" dirty="0">
                <a:solidFill>
                  <a:srgbClr val="1B2A4A"/>
                </a:solidFill>
                <a:latin typeface="Calibri"/>
              </a:rPr>
              <a:t>7.</a:t>
            </a:r>
            <a:r>
              <a:rPr lang="en-US" sz="1400" dirty="0">
                <a:solidFill>
                  <a:srgbClr val="2C3E50"/>
                </a:solidFill>
                <a:latin typeface="Calibri"/>
              </a:rPr>
              <a:t> Potential attrition despite over-recruitment planning (common in substance-dependent populations)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Future Directions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Follow-Up &amp; Replication:</a:t>
            </a:r>
            <a:r>
              <a:rPr lang="en-US" sz="1400" dirty="0">
                <a:solidFill>
                  <a:srgbClr val="2C3E50"/>
                </a:solidFill>
                <a:latin typeface="Calibri"/>
              </a:rPr>
              <a:t> 3-month and 6-month follow-up assessments; Multi-site RCTs across Indian de-addiction centers; Include female participants for gender-specific effects</a:t>
            </a:r>
          </a:p>
          <a:p>
            <a:pPr lvl="0" marL="0" indent="-228600">
              <a:buChar char="•"/>
            </a:pPr>
            <a:r>
              <a:rPr lang="en-US" sz="1400" b="1" dirty="0">
                <a:solidFill>
                  <a:srgbClr val="1B2A4A"/>
                </a:solidFill>
                <a:latin typeface="Calibri"/>
              </a:rPr>
              <a:t>Mechanism Research:</a:t>
            </a:r>
            <a:r>
              <a:rPr lang="en-US" sz="1400" dirty="0">
                <a:solidFill>
                  <a:srgbClr val="2C3E50"/>
                </a:solidFill>
                <a:latin typeface="Calibri"/>
              </a:rPr>
              <a:t> Neuroimaging (fMRI/EEG) for neural mechanisms; Mediator analysis: mindfulness as mediator; Dose-response: Compare 4 vs. 6 vs. 8 sessions</a:t>
            </a:r>
          </a:p>
          <a:p>
            <a:pPr lvl="0" marL="0" indent="-228600">
              <a:buChar char="•"/>
            </a:pPr>
            <a:r>
              <a:rPr lang="en-US" sz="1400" b="1" dirty="0">
                <a:solidFill>
                  <a:srgbClr val="1B2A4A"/>
                </a:solidFill>
                <a:latin typeface="Calibri"/>
              </a:rPr>
              <a:t>Comparative Studies:</a:t>
            </a:r>
            <a:r>
              <a:rPr lang="en-US" sz="1400" dirty="0">
                <a:solidFill>
                  <a:srgbClr val="2C3E50"/>
                </a:solidFill>
                <a:latin typeface="Calibri"/>
              </a:rPr>
              <a:t> MBRP vs. CBT vs. ACT in Indian samples; Technology-assisted app-based digital MBRP; Post-discharge booster sessions</a:t>
            </a:r>
          </a:p>
          <a:p>
            <a:pPr lvl="0" marL="0" indent="-228600">
              <a:buChar char="•"/>
            </a:pPr>
            <a:r>
              <a:rPr lang="en-US" sz="1400" b="1" dirty="0">
                <a:solidFill>
                  <a:srgbClr val="1B2A4A"/>
                </a:solidFill>
                <a:latin typeface="Calibri"/>
              </a:rPr>
              <a:t>Dissemination:</a:t>
            </a:r>
            <a:r>
              <a:rPr lang="en-US" sz="1400" dirty="0">
                <a:solidFill>
                  <a:srgbClr val="2C3E50"/>
                </a:solidFill>
                <a:latin typeface="Calibri"/>
              </a:rPr>
              <a:t> Develop Hindi MBRP training manual; Train counselors in government centers; Rural access via telehealth MBRP</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Study Summary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Design:</a:t>
            </a:r>
            <a:r>
              <a:rPr lang="en-US" sz="1400" dirty="0">
                <a:solidFill>
                  <a:srgbClr val="2C3E50"/>
                </a:solidFill>
                <a:latin typeface="Calibri"/>
              </a:rPr>
              <a:t> Pre-test Post-test Control Group Experimental Design (True Experimental)</a:t>
            </a:r>
          </a:p>
          <a:p>
            <a:pPr lvl="0" marL="0" indent="-228600">
              <a:buChar char="•"/>
            </a:pPr>
            <a:r>
              <a:rPr lang="en-US" sz="1400" b="1" dirty="0">
                <a:solidFill>
                  <a:srgbClr val="1B2A4A"/>
                </a:solidFill>
                <a:latin typeface="Calibri"/>
              </a:rPr>
              <a:t>Setting:</a:t>
            </a:r>
            <a:r>
              <a:rPr lang="en-US" sz="1400" dirty="0">
                <a:solidFill>
                  <a:srgbClr val="2C3E50"/>
                </a:solidFill>
                <a:latin typeface="Calibri"/>
              </a:rPr>
              <a:t> Man Nasha Mukti Kendra, Guna, Madhya Pradesh</a:t>
            </a:r>
          </a:p>
          <a:p>
            <a:pPr lvl="0" marL="0" indent="-228600">
              <a:buChar char="•"/>
            </a:pPr>
            <a:r>
              <a:rPr lang="en-US" sz="1400" b="1" dirty="0">
                <a:solidFill>
                  <a:srgbClr val="1B2A4A"/>
                </a:solidFill>
                <a:latin typeface="Calibri"/>
              </a:rPr>
              <a:t>Population:</a:t>
            </a:r>
            <a:r>
              <a:rPr lang="en-US" sz="1400" dirty="0">
                <a:solidFill>
                  <a:srgbClr val="2C3E50"/>
                </a:solidFill>
                <a:latin typeface="Calibri"/>
              </a:rPr>
              <a:t> Male opioid-dependent patients, aged 18-50, N = 60 (30/group)</a:t>
            </a:r>
          </a:p>
          <a:p>
            <a:pPr lvl="0" marL="0" indent="-228600">
              <a:buChar char="•"/>
            </a:pPr>
            <a:r>
              <a:rPr lang="en-US" sz="1400" b="1" dirty="0">
                <a:solidFill>
                  <a:srgbClr val="1B2A4A"/>
                </a:solidFill>
                <a:latin typeface="Calibri"/>
              </a:rPr>
              <a:t>Experimental:</a:t>
            </a:r>
            <a:r>
              <a:rPr lang="en-US" sz="1400" dirty="0">
                <a:solidFill>
                  <a:srgbClr val="2C3E50"/>
                </a:solidFill>
                <a:latin typeface="Calibri"/>
              </a:rPr>
              <a:t> Brief MBRP (6 sessions / 3 weeks) + Treatment As Usual</a:t>
            </a:r>
          </a:p>
          <a:p>
            <a:pPr lvl="0" marL="0" indent="-228600">
              <a:buChar char="•"/>
            </a:pPr>
            <a:r>
              <a:rPr lang="en-US" sz="1400" b="1" dirty="0">
                <a:solidFill>
                  <a:srgbClr val="1B2A4A"/>
                </a:solidFill>
                <a:latin typeface="Calibri"/>
              </a:rPr>
              <a:t>Control:</a:t>
            </a:r>
            <a:r>
              <a:rPr lang="en-US" sz="1400" dirty="0">
                <a:solidFill>
                  <a:srgbClr val="2C3E50"/>
                </a:solidFill>
                <a:latin typeface="Calibri"/>
              </a:rPr>
              <a:t> Psychoeducation (6 sessions / 3 weeks) + Treatment As Usual</a:t>
            </a:r>
          </a:p>
          <a:p>
            <a:pPr lvl="0" marL="0" indent="-228600">
              <a:buChar char="•"/>
            </a:pPr>
            <a:r>
              <a:rPr lang="en-US" sz="1400" b="1" dirty="0">
                <a:solidFill>
                  <a:srgbClr val="1B2A4A"/>
                </a:solidFill>
                <a:latin typeface="Calibri"/>
              </a:rPr>
              <a:t>DVs:</a:t>
            </a:r>
            <a:r>
              <a:rPr lang="en-US" sz="1400" dirty="0">
                <a:solidFill>
                  <a:srgbClr val="2C3E50"/>
                </a:solidFill>
                <a:latin typeface="Calibri"/>
              </a:rPr>
              <a:t> Craving (OCDUS) + Impulsivity (BIS-11) + Mindfulness (FFMQ)</a:t>
            </a:r>
          </a:p>
          <a:p>
            <a:pPr lvl="0" marL="0" indent="-228600">
              <a:buChar char="•"/>
            </a:pPr>
            <a:r>
              <a:rPr lang="en-US" sz="1400" b="1" dirty="0">
                <a:solidFill>
                  <a:srgbClr val="1B2A4A"/>
                </a:solidFill>
                <a:latin typeface="Calibri"/>
              </a:rPr>
              <a:t>Sampling:</a:t>
            </a:r>
            <a:r>
              <a:rPr lang="en-US" sz="1400" dirty="0">
                <a:solidFill>
                  <a:srgbClr val="2C3E50"/>
                </a:solidFill>
                <a:latin typeface="Calibri"/>
              </a:rPr>
              <a:t> Two-stage: Purposive selection -&gt; Computer-generated random assignment</a:t>
            </a:r>
          </a:p>
          <a:p>
            <a:pPr lvl="0" marL="0" indent="-228600">
              <a:buChar char="•"/>
            </a:pPr>
            <a:r>
              <a:rPr lang="en-US" sz="1400" b="1" dirty="0">
                <a:solidFill>
                  <a:srgbClr val="1B2A4A"/>
                </a:solidFill>
                <a:latin typeface="Calibri"/>
              </a:rPr>
              <a:t>Primary Analysis:</a:t>
            </a:r>
            <a:r>
              <a:rPr lang="en-US" sz="1400" dirty="0">
                <a:solidFill>
                  <a:srgbClr val="2C3E50"/>
                </a:solidFill>
                <a:latin typeface="Calibri"/>
              </a:rPr>
              <a:t> ANCOVA controlling for pre-test scores as covariates</a:t>
            </a:r>
          </a:p>
          <a:p>
            <a:pPr lvl="0" marL="0" indent="-228600">
              <a:buChar char="•"/>
            </a:pPr>
            <a:r>
              <a:rPr lang="en-US" sz="1400" b="1" dirty="0">
                <a:solidFill>
                  <a:srgbClr val="1B2A4A"/>
                </a:solidFill>
                <a:latin typeface="Calibri"/>
              </a:rPr>
              <a:t>Hypotheses:</a:t>
            </a:r>
            <a:r>
              <a:rPr lang="en-US" sz="1400" dirty="0">
                <a:solidFill>
                  <a:srgbClr val="2C3E50"/>
                </a:solidFill>
                <a:latin typeface="Calibri"/>
              </a:rPr>
              <a:t> Null: No significant difference between groups on OCDUS, BIS-11, FFMQ</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SIGNIFICANCE:</a:t>
            </a:r>
            <a:r>
              <a:rPr lang="en-US" sz="1400" dirty="0">
                <a:solidFill>
                  <a:srgbClr val="2C3E50"/>
                </a:solidFill>
                <a:latin typeface="Calibri"/>
              </a:rPr>
              <a:t> First brief MBRP trial in Indian opioid-dependent sample addressing critical research gap in evidence-based psychological interventions for de-addiction.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Conclusion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Substance dependence (particularly opioid) represents a significant public health crisis in India with relapse rates exceeding 70%</a:t>
            </a:r>
          </a:p>
          <a:p>
            <a:pPr lvl="0" marL="0" indent="-228600">
              <a:buChar char="•"/>
            </a:pPr>
            <a:r>
              <a:rPr lang="en-US" sz="1400" b="1" dirty="0">
                <a:solidFill>
                  <a:srgbClr val="1B2A4A"/>
                </a:solidFill>
                <a:latin typeface="Calibri"/>
              </a:rPr>
              <a:t>2.</a:t>
            </a:r>
            <a:r>
              <a:rPr lang="en-US" sz="1400" dirty="0">
                <a:solidFill>
                  <a:srgbClr val="2C3E50"/>
                </a:solidFill>
                <a:latin typeface="Calibri"/>
              </a:rPr>
              <a:t> Current treatment at Indian de-addiction centers relies heavily on pharmacotherapy with limited evidence-based psychological interventions</a:t>
            </a:r>
          </a:p>
          <a:p>
            <a:pPr lvl="0" marL="0" indent="-228600">
              <a:buChar char="•"/>
            </a:pPr>
            <a:r>
              <a:rPr lang="en-US" sz="1400" b="1" dirty="0">
                <a:solidFill>
                  <a:srgbClr val="1B2A4A"/>
                </a:solidFill>
                <a:latin typeface="Calibri"/>
              </a:rPr>
              <a:t>3.</a:t>
            </a:r>
            <a:r>
              <a:rPr lang="en-US" sz="1400" dirty="0">
                <a:solidFill>
                  <a:srgbClr val="2C3E50"/>
                </a:solidFill>
                <a:latin typeface="Calibri"/>
              </a:rPr>
              <a:t> MBRP offers a theoretically grounded approach targeting craving (urge surfing), impulsivity (mindful pause), and mindfulness enhancement simultaneously</a:t>
            </a:r>
          </a:p>
          <a:p>
            <a:pPr lvl="0" marL="0" indent="-228600">
              <a:buChar char="•"/>
            </a:pPr>
            <a:r>
              <a:rPr lang="en-US" sz="1400" b="1" dirty="0">
                <a:solidFill>
                  <a:srgbClr val="1B2A4A"/>
                </a:solidFill>
                <a:latin typeface="Calibri"/>
              </a:rPr>
              <a:t>4.</a:t>
            </a:r>
            <a:r>
              <a:rPr lang="en-US" sz="1400" dirty="0">
                <a:solidFill>
                  <a:srgbClr val="2C3E50"/>
                </a:solidFill>
                <a:latin typeface="Calibri"/>
              </a:rPr>
              <a:t> A brief 6-session B-MBRP protocol is clinically practical, culturally appropriate, and feasible at Man Nasha Mukti Kendra</a:t>
            </a:r>
          </a:p>
          <a:p>
            <a:pPr lvl="0" marL="0" indent="-228600">
              <a:buChar char="•"/>
            </a:pPr>
            <a:r>
              <a:rPr lang="en-US" sz="1400" b="1" dirty="0">
                <a:solidFill>
                  <a:srgbClr val="1B2A4A"/>
                </a:solidFill>
                <a:latin typeface="Calibri"/>
              </a:rPr>
              <a:t>5.</a:t>
            </a:r>
            <a:r>
              <a:rPr lang="en-US" sz="1400" dirty="0">
                <a:solidFill>
                  <a:srgbClr val="2C3E50"/>
                </a:solidFill>
                <a:latin typeface="Calibri"/>
              </a:rPr>
              <a:t> If supported, Brief MBRP can be integrated into standard de-addiction protocols across Indian government rehabilitation centers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This study represents a critical first step in establishing an evidence base for brief mindfulness-based psychological interventions within the Indian de-addiction treatment infrastructure.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(1/4)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Baer, R. A., Smith, G. T., Hopkins, J., et al. (2006). Using self-report methods to explore facets of mindfulness. Assessment, 13(1), 27-45.</a:t>
            </a:r>
          </a:p>
          <a:p>
            <a:pPr lvl="0" marL="0" indent="-228600">
              <a:buChar char="•"/>
            </a:pPr>
            <a:r>
              <a:rPr lang="en-US" sz="1400" dirty="0">
                <a:solidFill>
                  <a:srgbClr val="2C3E50"/>
                </a:solidFill>
                <a:latin typeface="Calibri"/>
              </a:rPr>
              <a:t>Bowen, S., Chawla, N., &amp; Marlatt, G. A. (2011). Mindfulness-based relapse prevention for addictive behaviors. Guilford Press.</a:t>
            </a:r>
          </a:p>
          <a:p>
            <a:pPr lvl="0" marL="0" indent="-228600">
              <a:buChar char="•"/>
            </a:pPr>
            <a:r>
              <a:rPr lang="en-US" sz="1400" dirty="0">
                <a:solidFill>
                  <a:srgbClr val="2C3E50"/>
                </a:solidFill>
                <a:latin typeface="Calibri"/>
              </a:rPr>
              <a:t>Bowen, S., &amp; Marlatt, G. A. (2009). Surfing the urge: Brief mindfulness-based intervention. Psychology of Addictive Behaviors, 23(4), 666-671.</a:t>
            </a:r>
          </a:p>
          <a:p>
            <a:pPr lvl="0" marL="0" indent="-228600">
              <a:buChar char="•"/>
            </a:pPr>
            <a:r>
              <a:rPr lang="en-US" sz="1400" dirty="0">
                <a:solidFill>
                  <a:srgbClr val="2C3E50"/>
                </a:solidFill>
                <a:latin typeface="Calibri"/>
              </a:rPr>
              <a:t>Bowen, S., Witkiewitz, K., Clifasefi, S. L., et al. (2014). Relative efficacy of MBRP, standard RP, and TAU. JAMA Psychiatry, 71(5), 547-556.</a:t>
            </a:r>
          </a:p>
          <a:p>
            <a:pPr lvl="0" marL="0" indent="-228600">
              <a:buChar char="•"/>
            </a:pPr>
            <a:r>
              <a:rPr lang="en-US" sz="1400" dirty="0">
                <a:solidFill>
                  <a:srgbClr val="2C3E50"/>
                </a:solidFill>
                <a:latin typeface="Calibri"/>
              </a:rPr>
              <a:t>Brewer, J. A., Mallik, S., Babuscio, T. A., et al. (2011). Mindfulness training for smoking cessation. Drug and Alcohol Dependence, 119(1-2), 72-80.</a:t>
            </a:r>
          </a:p>
          <a:p>
            <a:pPr lvl="0" marL="0" indent="-228600">
              <a:buChar char="•"/>
            </a:pPr>
            <a:r>
              <a:rPr lang="en-US" sz="1400" dirty="0">
                <a:solidFill>
                  <a:srgbClr val="2C3E50"/>
                </a:solidFill>
                <a:latin typeface="Calibri"/>
              </a:rPr>
              <a:t>Chiesa, A., &amp; Serretti, A. (2014). Are MBIs effective for substance use disorders? Substance Use &amp; Misuse, 49(5), 492-512.</a:t>
            </a:r>
          </a:p>
          <a:p>
            <a:pPr lvl="0" marL="0" indent="-228600">
              <a:buChar char="•"/>
            </a:pPr>
            <a:r>
              <a:rPr lang="en-US" sz="1400" dirty="0">
                <a:solidFill>
                  <a:srgbClr val="2C3E50"/>
                </a:solidFill>
                <a:latin typeface="Calibri"/>
              </a:rPr>
              <a:t>Franken, I. H. A., Hendriks, V. M., &amp; van den Brink, W. (2002). Initial validation of two opiate craving questionnaires. Addictive Behaviors, 27(5), 675-685.</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(2/4)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Garland, E. L., Froeliger, B., &amp; Howard, M. O. (2014). Mindfulness targets neurocognitive mechanisms of addiction. Frontiers in Psychiatry, 4, 173.</a:t>
            </a:r>
          </a:p>
          <a:p>
            <a:pPr lvl="0" marL="0" indent="-228600">
              <a:buChar char="•"/>
            </a:pPr>
            <a:r>
              <a:rPr lang="en-US" sz="1400" dirty="0">
                <a:solidFill>
                  <a:srgbClr val="2C3E50"/>
                </a:solidFill>
                <a:latin typeface="Calibri"/>
              </a:rPr>
              <a:t>Garland, E. L., Roberts-Lewis, A., et al. (2016). MORE vs. CBT for co-occurring SUDs. J. Consulting and Clinical Psychology, 84(4), 281-293.</a:t>
            </a:r>
          </a:p>
          <a:p>
            <a:pPr lvl="0" marL="0" indent="-228600">
              <a:buChar char="•"/>
            </a:pPr>
            <a:r>
              <a:rPr lang="en-US" sz="1400" dirty="0">
                <a:solidFill>
                  <a:srgbClr val="2C3E50"/>
                </a:solidFill>
                <a:latin typeface="Calibri"/>
              </a:rPr>
              <a:t>Ghosh, A., Basu, D., &amp; Avasthi, A. (2018). Relapse in opioid dependence: Indian perspective. Indian J Psychiatry, 60(Suppl 4), S469-S476.</a:t>
            </a:r>
          </a:p>
          <a:p>
            <a:pPr lvl="0" marL="0" indent="-228600">
              <a:buChar char="•"/>
            </a:pPr>
            <a:r>
              <a:rPr lang="en-US" sz="1400" dirty="0">
                <a:solidFill>
                  <a:srgbClr val="2C3E50"/>
                </a:solidFill>
                <a:latin typeface="Calibri"/>
              </a:rPr>
              <a:t>Glasner-Edwards, S., et al. (2017). MBRP for stimulant dependent adults: Pilot RCT. Mindfulness, 8(1), 126-135.</a:t>
            </a:r>
          </a:p>
          <a:p>
            <a:pPr lvl="0" marL="0" indent="-228600">
              <a:buChar char="•"/>
            </a:pPr>
            <a:r>
              <a:rPr lang="en-US" sz="1400" dirty="0">
                <a:solidFill>
                  <a:srgbClr val="2C3E50"/>
                </a:solidFill>
                <a:latin typeface="Calibri"/>
              </a:rPr>
              <a:t>Grant, S., Colaiaco, B., et al. (2017). MBRP for SUDs: Meta-analysis. J. Addiction Medicine, 11(5), 386-396.</a:t>
            </a:r>
          </a:p>
          <a:p>
            <a:pPr lvl="0" marL="0" indent="-228600">
              <a:buChar char="•"/>
            </a:pPr>
            <a:r>
              <a:rPr lang="en-US" sz="1400" dirty="0">
                <a:solidFill>
                  <a:srgbClr val="2C3E50"/>
                </a:solidFill>
                <a:latin typeface="Calibri"/>
              </a:rPr>
              <a:t>Humeniuk, R., Ali, R., et al. (2008). Validation of ASSIST. Addiction, 103(6), 1039-1047.</a:t>
            </a:r>
          </a:p>
          <a:p>
            <a:pPr lvl="0" marL="0" indent="-228600">
              <a:buChar char="•"/>
            </a:pPr>
            <a:r>
              <a:rPr lang="en-US" sz="1400" dirty="0">
                <a:solidFill>
                  <a:srgbClr val="2C3E50"/>
                </a:solidFill>
                <a:latin typeface="Calibri"/>
              </a:rPr>
              <a:t>Jain, R., Majumder, P., &amp; Gupta, T. (2013). Indian Journal of Psychiatry, 55(Suppl 1), S86-S92.</a:t>
            </a:r>
          </a:p>
          <a:p>
            <a:pPr lvl="0" marL="0" indent="-228600">
              <a:buChar char="•"/>
            </a:pPr>
            <a:r>
              <a:rPr lang="en-US" sz="1400" dirty="0">
                <a:solidFill>
                  <a:srgbClr val="2C3E50"/>
                </a:solidFill>
                <a:latin typeface="Calibri"/>
              </a:rPr>
              <a:t>Kabat-Zinn, J. (1990). Full catastrophe living. Delacorte Press.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(3/4)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Karyadi, K. A., VanderVeen, J. D., &amp; Cyders, M. A. (2014). Trait mindfulness and substance use: Meta-analysis. Drug and Alcohol Dependence, 143, 1-10.</a:t>
            </a:r>
          </a:p>
          <a:p>
            <a:pPr lvl="0" marL="0" indent="-228600">
              <a:buChar char="•"/>
            </a:pPr>
            <a:r>
              <a:rPr lang="en-US" sz="1400" dirty="0">
                <a:solidFill>
                  <a:srgbClr val="2C3E50"/>
                </a:solidFill>
                <a:latin typeface="Calibri"/>
              </a:rPr>
              <a:t>Li, W., Howard, M. O., et al. (2017). Mindfulness for substance misuse: Meta-analysis. J. Substance Abuse Treatment, 75, 62-96.</a:t>
            </a:r>
          </a:p>
          <a:p>
            <a:pPr lvl="0" marL="0" indent="-228600">
              <a:buChar char="•"/>
            </a:pPr>
            <a:r>
              <a:rPr lang="en-US" sz="1400" dirty="0">
                <a:solidFill>
                  <a:srgbClr val="2C3E50"/>
                </a:solidFill>
                <a:latin typeface="Calibri"/>
              </a:rPr>
              <a:t>Marlatt, G. A., &amp; Gordon, J. R. (1985). Relapse prevention. Guilford Press.</a:t>
            </a:r>
          </a:p>
          <a:p>
            <a:pPr lvl="0" marL="0" indent="-228600">
              <a:buChar char="•"/>
            </a:pPr>
            <a:r>
              <a:rPr lang="en-US" sz="1400" dirty="0">
                <a:solidFill>
                  <a:srgbClr val="2C3E50"/>
                </a:solidFill>
                <a:latin typeface="Calibri"/>
              </a:rPr>
              <a:t>Mattoo, S. K., Chakrabarti, S., &amp; Anjaiah, M. (2009). Psychosocial factors in relapse. Indian J. Medical Research, 130(6), 702-708.</a:t>
            </a:r>
          </a:p>
          <a:p>
            <a:pPr lvl="0" marL="0" indent="-228600">
              <a:buChar char="•"/>
            </a:pPr>
            <a:r>
              <a:rPr lang="en-US" sz="1400" dirty="0">
                <a:solidFill>
                  <a:srgbClr val="2C3E50"/>
                </a:solidFill>
                <a:latin typeface="Calibri"/>
              </a:rPr>
              <a:t>Ministry of Social Justice &amp; Empowerment. (2019). Magnitude of substance use in India. Government of India.</a:t>
            </a:r>
          </a:p>
          <a:p>
            <a:pPr lvl="0" marL="0" indent="-228600">
              <a:buChar char="•"/>
            </a:pPr>
            <a:r>
              <a:rPr lang="en-US" sz="1400" dirty="0">
                <a:solidFill>
                  <a:srgbClr val="2C3E50"/>
                </a:solidFill>
                <a:latin typeface="Calibri"/>
              </a:rPr>
              <a:t>Moeller, F. G., Barratt, E. S., et al. (2001). Psychiatric aspects of impulsivity. Am. J. Psychiatry, 158(11), 1783-1793.</a:t>
            </a:r>
          </a:p>
          <a:p>
            <a:pPr lvl="0" marL="0" indent="-228600">
              <a:buChar char="•"/>
            </a:pPr>
            <a:r>
              <a:rPr lang="en-US" sz="1400" dirty="0">
                <a:solidFill>
                  <a:srgbClr val="2C3E50"/>
                </a:solidFill>
                <a:latin typeface="Calibri"/>
              </a:rPr>
              <a:t>Murphy, C., &amp; MacKillop, J. (2012). Impulsivity, mindfulness, and alcohol misuse. Psychopharmacology, 219(2), 527-536.</a:t>
            </a:r>
          </a:p>
          <a:p>
            <a:pPr lvl="0" marL="0" indent="-228600">
              <a:buChar char="•"/>
            </a:pPr>
            <a:r>
              <a:rPr lang="en-US" sz="1400" dirty="0">
                <a:solidFill>
                  <a:srgbClr val="2C3E50"/>
                </a:solidFill>
                <a:latin typeface="Calibri"/>
              </a:rPr>
              <a:t>NIDA. (2020). Drugs, brains, and behavior: The science of addiction.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(4/4)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Patton, J. H., Stanford, M. S., &amp; Barratt, E. S. (1995). Factor structure of BIS. J. Clinical Psychology, 51(6), 768-774.</a:t>
            </a:r>
          </a:p>
          <a:p>
            <a:pPr lvl="0" marL="0" indent="-228600">
              <a:buChar char="•"/>
            </a:pPr>
            <a:r>
              <a:rPr lang="en-US" sz="1400" dirty="0">
                <a:solidFill>
                  <a:srgbClr val="2C3E50"/>
                </a:solidFill>
                <a:latin typeface="Calibri"/>
              </a:rPr>
              <a:t>Robinson, T. E., &amp; Berridge, K. C. (1993). Neural basis of drug craving. Brain Research Reviews, 18(3), 247-291.</a:t>
            </a:r>
          </a:p>
          <a:p>
            <a:pPr lvl="0" marL="0" indent="-228600">
              <a:buChar char="•"/>
            </a:pPr>
            <a:r>
              <a:rPr lang="en-US" sz="1400" dirty="0">
                <a:solidFill>
                  <a:srgbClr val="2C3E50"/>
                </a:solidFill>
                <a:latin typeface="Calibri"/>
              </a:rPr>
              <a:t>Sarkar, S., &amp; Balhara, Y. P. S. (2016). Indian Journal of Psychiatry, 58(3), 290-295.</a:t>
            </a:r>
          </a:p>
          <a:p>
            <a:pPr lvl="0" marL="0" indent="-228600">
              <a:buChar char="•"/>
            </a:pPr>
            <a:r>
              <a:rPr lang="en-US" sz="1400" dirty="0">
                <a:solidFill>
                  <a:srgbClr val="2C3E50"/>
                </a:solidFill>
                <a:latin typeface="Calibri"/>
              </a:rPr>
              <a:t>Serre, F., et al. (2015). Ecological momentary assessment in craving investigation. Addiction, 110(7), 1070-1082.</a:t>
            </a:r>
          </a:p>
          <a:p>
            <a:pPr lvl="0" marL="0" indent="-228600">
              <a:buChar char="•"/>
            </a:pPr>
            <a:r>
              <a:rPr lang="en-US" sz="1400" dirty="0">
                <a:solidFill>
                  <a:srgbClr val="2C3E50"/>
                </a:solidFill>
                <a:latin typeface="Calibri"/>
              </a:rPr>
              <a:t>Stanford, M. S., et al. (2009). Fifty years of the Barratt Impulsiveness Scale. Personality and Individual Differences, 47(5), 385-395.</a:t>
            </a:r>
          </a:p>
          <a:p>
            <a:pPr lvl="0" marL="0" indent="-228600">
              <a:buChar char="•"/>
            </a:pPr>
            <a:r>
              <a:rPr lang="en-US" sz="1400" dirty="0">
                <a:solidFill>
                  <a:srgbClr val="2C3E50"/>
                </a:solidFill>
                <a:latin typeface="Calibri"/>
              </a:rPr>
              <a:t>Tabachnick, B. G., &amp; Fidell, L. S. (2013). Using multivariate statistics (6th ed.). Pearson.</a:t>
            </a:r>
          </a:p>
          <a:p>
            <a:pPr lvl="0" marL="0" indent="-228600">
              <a:buChar char="•"/>
            </a:pPr>
            <a:r>
              <a:rPr lang="en-US" sz="1400" dirty="0">
                <a:solidFill>
                  <a:srgbClr val="2C3E50"/>
                </a:solidFill>
                <a:latin typeface="Calibri"/>
              </a:rPr>
              <a:t>Tiffany, S. T., &amp; Wray, J. M. (2012). Clinical significance of drug craving. Annals NY Acad Sci, 1248(1), 1-17.</a:t>
            </a:r>
          </a:p>
          <a:p>
            <a:pPr lvl="0" marL="0" indent="-228600">
              <a:buChar char="•"/>
            </a:pPr>
            <a:r>
              <a:rPr lang="en-US" sz="1400" dirty="0">
                <a:solidFill>
                  <a:srgbClr val="2C3E50"/>
                </a:solidFill>
                <a:latin typeface="Calibri"/>
              </a:rPr>
              <a:t>WHO ASSIST Working Group. (2002). ASSIST development. Addiction, 97(9), 1183-1194.</a:t>
            </a:r>
          </a:p>
          <a:p>
            <a:pPr lvl="0" marL="0" indent="-228600">
              <a:buChar char="•"/>
            </a:pPr>
            <a:r>
              <a:rPr lang="en-US" sz="1400" dirty="0">
                <a:solidFill>
                  <a:srgbClr val="2C3E50"/>
                </a:solidFill>
                <a:latin typeface="Calibri"/>
              </a:rPr>
              <a:t>Witkiewitz, K., Bowen, S., et al. (2013). MBRP for craving. Addictive Behaviors, 38(2), 1563-1571.</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itle"/>
          <p:cNvSpPr/>
          <p:nvPr/>
        </p:nvSpPr>
        <p:spPr>
          <a:xfrm>
            <a:off x="914400" y="1371600"/>
            <a:ext cx="10363200" cy="1828800"/>
          </a:xfrm>
          <a:prstGeom prst="rect">
            <a:avLst/>
          </a:prstGeom>
          <a:noFill/>
        </p:spPr>
        <p:txBody>
          <a:bodyPr anchor="ctr"/>
          <a:lstStyle/>
          <a:p>
            <a:pPr algn="ctr"/>
            <a:r>
              <a:rPr lang="en-US" sz="2600" b="1" dirty="0">
                <a:solidFill>
                  <a:srgbClr val="FFFFFF"/>
                </a:solidFill>
                <a:latin typeface="Calibri"/>
              </a:rPr>
              <a:t>Thank You</a:t>
            </a:r>
          </a:p>
        </p:txBody>
      </p:sp>
      <p:sp>
        <p:nvSpPr>
          <p:cNvPr id="3" name="Subtitle"/>
          <p:cNvSpPr/>
          <p:nvPr/>
        </p:nvSpPr>
        <p:spPr>
          <a:xfrm>
            <a:off x="914400" y="3200400"/>
            <a:ext cx="10363200" cy="457200"/>
          </a:xfrm>
          <a:prstGeom prst="rect">
            <a:avLst/>
          </a:prstGeom>
          <a:noFill/>
        </p:spPr>
        <p:txBody>
          <a:bodyPr anchor="ctr"/>
          <a:lstStyle/>
          <a:p>
            <a:pPr algn="ctr"/>
            <a:r>
              <a:rPr lang="en-US" sz="1600" dirty="0">
                <a:solidFill>
                  <a:srgbClr val="7DD3C0"/>
                </a:solidFill>
                <a:latin typeface="Calibri"/>
              </a:rPr>
              <a:t>Questions &amp; Discussion</a:t>
            </a:r>
          </a:p>
        </p:txBody>
      </p:sp>
      <p:sp>
        <p:nvSpPr>
          <p:cNvPr id="4" name="Meta"/>
          <p:cNvSpPr/>
          <p:nvPr/>
        </p:nvSpPr>
        <p:spPr>
          <a:xfrm>
            <a:off x="914400" y="4114800"/>
            <a:ext cx="10363200" cy="2286000"/>
          </a:xfrm>
          <a:prstGeom prst="rect">
            <a:avLst/>
          </a:prstGeom>
          <a:noFill/>
        </p:spPr>
        <p:txBody>
          <a:bodyPr anchor="t"/>
          <a:lstStyle/>
          <a:p>
            <a:pPr algn="ctr"/>
            <a:r>
              <a:rPr lang="en-US" sz="1200" dirty="0">
                <a:solidFill>
                  <a:srgbClr val="B0BEC5"/>
                </a:solidFill>
                <a:latin typeface="Calibri"/>
              </a:rPr>
              <a:t>Tejas Dangodra</a:t>
            </a:r>
          </a:p>
          <a:p>
            <a:pPr algn="ctr"/>
            <a:r>
              <a:rPr lang="en-US" sz="1200" dirty="0">
                <a:solidFill>
                  <a:srgbClr val="B0BEC5"/>
                </a:solidFill>
                <a:latin typeface="Calibri"/>
              </a:rPr>
              <a:t>2nd Year MPhil Trainee in Clinical Psychology</a:t>
            </a:r>
          </a:p>
          <a:p>
            <a:pPr algn="ctr"/>
            <a:r>
              <a:rPr lang="en-US" sz="1200" dirty="0">
                <a:solidFill>
                  <a:srgbClr val="B0BEC5"/>
                </a:solidFill>
                <a:latin typeface="Calibri"/>
              </a:rPr>
              <a:t>Man College of Special Education &amp; Psychological Studies</a:t>
            </a:r>
          </a:p>
          <a:p>
            <a:pPr algn="ctr"/>
            <a:r>
              <a:rPr lang="en-US" sz="1200" dirty="0">
                <a:solidFill>
                  <a:srgbClr val="B0BEC5"/>
                </a:solidFill>
                <a:latin typeface="Calibri"/>
              </a:rPr>
              <a:t>Krantivir Tatya Tope Vishwavidyalaya, Guna, MP</a:t>
            </a:r>
          </a:p>
          <a:p>
            <a:pPr algn="ctr"/>
            <a:r>
              <a:rPr lang="en-US" sz="1200" dirty="0">
                <a:solidFill>
                  <a:srgbClr val="B0BEC5"/>
                </a:solidFill>
                <a:latin typeface="Calibri"/>
              </a:rPr>
              <a:t>tejasdangodra99@gmail.com | +91 8140171722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183</cp:revision>
  <dcterms:created xsi:type="dcterms:W3CDTF">2013-01-27T09:14:16Z</dcterms:created>
  <dcterms:modified xsi:type="dcterms:W3CDTF">2026-07-18T06:06:28Z</dcterms:modified>
  <cp:category/>
</cp:coreProperties>
</file>