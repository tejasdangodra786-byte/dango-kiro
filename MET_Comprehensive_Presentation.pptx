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B3A5C"/>
              </a:gs>
              <a:gs pos="100000">
                <a:srgbClr val="0D47A1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144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Times New Roman"/>
              </a:defRPr>
            </a:pPr>
            <a:r>
              <a:t>MOTIVATIONAL ENHANCEMENT THERAPY (MET)</a:t>
            </a:r>
          </a:p>
          <a:p>
            <a:pPr algn="ctr">
              <a:defRPr sz="2400">
                <a:solidFill>
                  <a:srgbClr val="F9A825"/>
                </a:solidFill>
                <a:latin typeface="Times New Roman"/>
              </a:defRPr>
            </a:pPr>
            <a:r>
              <a:t>A Comprehensive Clinical Guide</a:t>
            </a:r>
          </a:p>
          <a:p>
            <a:pPr>
              <a:spcAft>
                <a:spcPts val="2000"/>
              </a:spcAft>
            </a:pPr>
          </a:p>
          <a:p>
            <a:pPr algn="ctr">
              <a:defRPr sz="1600">
                <a:solidFill>
                  <a:srgbClr val="BBDEFB"/>
                </a:solidFill>
                <a:latin typeface="Times New Roman"/>
              </a:defRPr>
            </a:pPr>
            <a:r>
              <a:t>Based on the NIAAA Project MATCH MET Manual</a:t>
            </a:r>
          </a:p>
          <a:p>
            <a:pPr algn="ctr">
              <a:defRPr sz="1600">
                <a:solidFill>
                  <a:srgbClr val="BBDEFB"/>
                </a:solidFill>
                <a:latin typeface="Times New Roman"/>
              </a:defRPr>
            </a:pPr>
            <a:r>
              <a:t>&amp; NIMHANS Substance Use Disorders Publication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0" y="5029200"/>
            <a:ext cx="6400800" cy="1097280"/>
          </a:xfrm>
          <a:prstGeom prst="roundRect">
            <a:avLst/>
          </a:prstGeom>
          <a:solidFill>
            <a:srgbClr val="1A237E"/>
          </a:solidFill>
          <a:ln w="2540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F9A825"/>
                </a:solidFill>
                <a:latin typeface="Times New Roman"/>
              </a:defRPr>
            </a:pPr>
            <a:r>
              <a:t>4-Session Brief Intervention | Evidence-Based | Client-Centered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1000" i="1">
                <a:solidFill>
                  <a:srgbClr val="666666"/>
                </a:solidFill>
                <a:latin typeface="Times New Roman"/>
              </a:defRPr>
            </a:pPr>
            <a:r>
              <a:t>References: Miller, W.R. et al. (1992). MET Manual, NIAAA Project MATCH Series Vol. 2; NIMHANS (2016). Substance Use Disorders.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BBDEFB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/>
          <a:lstStyle/>
          <a:p>
            <a:pPr algn="ctr">
              <a:defRPr sz="3600" b="1">
                <a:solidFill>
                  <a:srgbClr val="FFFFFF"/>
                </a:solidFill>
                <a:latin typeface="Times New Roman"/>
              </a:defRPr>
            </a:pPr>
            <a:r>
              <a:t>PRESENTATION OUTLINE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10515600" cy="548640"/>
          </a:xfrm>
          <a:prstGeom prst="round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1B3A5C"/>
                </a:solidFill>
                <a:latin typeface="Times New Roman"/>
              </a:defRPr>
            </a:pPr>
            <a:r>
              <a:t>1. Introduction to MET</a:t>
            </a:r>
          </a:p>
          <a:p>
            <a:pPr>
              <a:spcAft>
                <a:spcPts val="400"/>
              </a:spcAft>
              <a:defRPr sz="1200">
                <a:solidFill>
                  <a:srgbClr val="1B3A5C"/>
                </a:solidFill>
                <a:latin typeface="Times New Roman"/>
              </a:defRPr>
            </a:pPr>
            <a:r>
              <a:t>What is MET, its origins, and core philosophy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01952"/>
            <a:ext cx="10515600" cy="548640"/>
          </a:xfrm>
          <a:prstGeom prst="roundRect">
            <a:avLst/>
          </a:prstGeom>
          <a:solidFill>
            <a:srgbClr val="B2D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007B83"/>
                </a:solidFill>
                <a:latin typeface="Times New Roman"/>
              </a:defRPr>
            </a:pPr>
            <a:r>
              <a:t>2. Theoretical Foundations</a:t>
            </a:r>
          </a:p>
          <a:p>
            <a:pPr>
              <a:spcAft>
                <a:spcPts val="400"/>
              </a:spcAft>
              <a:defRPr sz="1200">
                <a:solidFill>
                  <a:srgbClr val="007B83"/>
                </a:solidFill>
                <a:latin typeface="Times New Roman"/>
              </a:defRPr>
            </a:pPr>
            <a:r>
              <a:t>Transtheoretical Model, Self-Efficacy, Cognitive Dissonance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23744"/>
            <a:ext cx="10515600" cy="54864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2E7D32"/>
                </a:solidFill>
                <a:latin typeface="Times New Roman"/>
              </a:defRPr>
            </a:pPr>
            <a:r>
              <a:t>3. Principles &amp; Spirit of MET</a:t>
            </a:r>
          </a:p>
          <a:p>
            <a:pPr>
              <a:spcAft>
                <a:spcPts val="400"/>
              </a:spcAft>
              <a:defRPr sz="1200">
                <a:solidFill>
                  <a:srgbClr val="2E7D32"/>
                </a:solidFill>
                <a:latin typeface="Times New Roman"/>
              </a:defRPr>
            </a:pPr>
            <a:r>
              <a:t>FRAMES, OARS, DARES, and MI Spirit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145536"/>
            <a:ext cx="10515600" cy="548640"/>
          </a:xfrm>
          <a:prstGeom prst="roundRect">
            <a:avLst/>
          </a:prstGeom>
          <a:solidFill>
            <a:srgbClr val="E1B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6A1B9A"/>
                </a:solidFill>
                <a:latin typeface="Times New Roman"/>
              </a:defRPr>
            </a:pPr>
            <a:r>
              <a:t>4. Session-by-Session Guide</a:t>
            </a:r>
          </a:p>
          <a:p>
            <a:pPr>
              <a:spcAft>
                <a:spcPts val="400"/>
              </a:spcAft>
              <a:defRPr sz="1200">
                <a:solidFill>
                  <a:srgbClr val="6A1B9A"/>
                </a:solidFill>
                <a:latin typeface="Times New Roman"/>
              </a:defRPr>
            </a:pPr>
            <a:r>
              <a:t>Detailed 4-session protocol with techniques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767328"/>
            <a:ext cx="10515600" cy="548640"/>
          </a:xfrm>
          <a:prstGeom prst="roundRect">
            <a:avLst/>
          </a:prstGeom>
          <a:solidFill>
            <a:srgbClr val="FFE0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E65C00"/>
                </a:solidFill>
                <a:latin typeface="Times New Roman"/>
              </a:defRPr>
            </a:pPr>
            <a:r>
              <a:t>5. Clinical Techniques</a:t>
            </a:r>
          </a:p>
          <a:p>
            <a:pPr>
              <a:spcAft>
                <a:spcPts val="400"/>
              </a:spcAft>
              <a:defRPr sz="1200">
                <a:solidFill>
                  <a:srgbClr val="E65C00"/>
                </a:solidFill>
                <a:latin typeface="Times New Roman"/>
              </a:defRPr>
            </a:pPr>
            <a:r>
              <a:t>Reflective listening, eliciting change talk, handling resistance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389120"/>
            <a:ext cx="10515600" cy="548640"/>
          </a:xfrm>
          <a:prstGeom prst="round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880038"/>
                </a:solidFill>
                <a:latin typeface="Times New Roman"/>
              </a:defRPr>
            </a:pPr>
            <a:r>
              <a:t>6. Case Conceptualization</a:t>
            </a:r>
          </a:p>
          <a:p>
            <a:pPr>
              <a:spcAft>
                <a:spcPts val="400"/>
              </a:spcAft>
              <a:defRPr sz="1200">
                <a:solidFill>
                  <a:srgbClr val="880038"/>
                </a:solidFill>
                <a:latin typeface="Times New Roman"/>
              </a:defRPr>
            </a:pPr>
            <a:r>
              <a:t>Applied case study with session-wise intervention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010912"/>
            <a:ext cx="10515600" cy="548640"/>
          </a:xfrm>
          <a:prstGeom prst="round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1B3A5C"/>
                </a:solidFill>
                <a:latin typeface="Times New Roman"/>
              </a:defRPr>
            </a:pPr>
            <a:r>
              <a:t>7. Worksheets &amp; Tools</a:t>
            </a:r>
          </a:p>
          <a:p>
            <a:pPr>
              <a:spcAft>
                <a:spcPts val="400"/>
              </a:spcAft>
              <a:defRPr sz="1200">
                <a:solidFill>
                  <a:srgbClr val="1B3A5C"/>
                </a:solidFill>
                <a:latin typeface="Times New Roman"/>
              </a:defRPr>
            </a:pPr>
            <a:r>
              <a:t>Printable clinical worksheets for sessions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632704"/>
            <a:ext cx="10515600" cy="548640"/>
          </a:xfrm>
          <a:prstGeom prst="roundRect">
            <a:avLst/>
          </a:prstGeom>
          <a:solidFill>
            <a:srgbClr val="B2D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007B83"/>
                </a:solidFill>
                <a:latin typeface="Times New Roman"/>
              </a:defRPr>
            </a:pPr>
            <a:r>
              <a:t>8. Research &amp; Effectiveness</a:t>
            </a:r>
          </a:p>
          <a:p>
            <a:pPr>
              <a:spcAft>
                <a:spcPts val="400"/>
              </a:spcAft>
              <a:defRPr sz="1200">
                <a:solidFill>
                  <a:srgbClr val="007B83"/>
                </a:solidFill>
                <a:latin typeface="Times New Roman"/>
              </a:defRPr>
            </a:pPr>
            <a:r>
              <a:t>Project MATCH, meta-analyses, Indian research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1000" i="1">
                <a:solidFill>
                  <a:srgbClr val="666666"/>
                </a:solidFill>
                <a:latin typeface="Times New Roman"/>
              </a:defRPr>
            </a:pPr>
            <a:r>
              <a:t>Structure adapted from: Miller et al. (1992). MET Manual, NIAAA Project MATCH Monograph Series, Vol. 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B3A5C"/>
              </a:gs>
              <a:gs pos="100000">
                <a:srgbClr val="FFFFFF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Times New Roman"/>
              </a:defRPr>
            </a:pPr>
            <a:r>
              <a:t>SECTION 1</a:t>
            </a:r>
          </a:p>
          <a:p>
            <a:pPr algn="ctr">
              <a:defRPr sz="2000">
                <a:solidFill>
                  <a:srgbClr val="FFF8E1"/>
                </a:solidFill>
                <a:latin typeface="Times New Roman"/>
              </a:defRPr>
            </a:pPr>
            <a:r>
              <a:t>Introduction to Motivational Enhancement Therapy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F8E1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/>
          <a:lstStyle/>
          <a:p>
            <a:pPr algn="ctr">
              <a:defRPr sz="3600" b="1">
                <a:solidFill>
                  <a:srgbClr val="FFFFFF"/>
                </a:solidFill>
                <a:latin typeface="Times New Roman"/>
              </a:defRPr>
            </a:pPr>
            <a:r>
              <a:t>What is Motivational Enhancement Therapy (MET)?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0" cy="2286000"/>
          </a:xfrm>
          <a:prstGeom prst="roundRect">
            <a:avLst/>
          </a:prstGeom>
          <a:solidFill>
            <a:srgbClr val="BBDEFB"/>
          </a:solidFill>
          <a:ln w="2540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1B3A5C"/>
                </a:solidFill>
                <a:latin typeface="Times New Roman"/>
              </a:defRPr>
            </a:pPr>
            <a:r>
              <a:t>Definition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Times New Roman"/>
              </a:defRPr>
            </a:pPr>
            <a:r>
              <a:t>MET is a brief, systematic intervention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Times New Roman"/>
              </a:defRPr>
            </a:pPr>
            <a:r>
              <a:t>designed to produce rapid, internally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Times New Roman"/>
              </a:defRPr>
            </a:pPr>
            <a:r>
              <a:t>motivated change in addictive behaviors.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Times New Roman"/>
              </a:defRPr>
            </a:pPr>
            <a:r>
              <a:t>It does NOT guide the client step-by-step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Times New Roman"/>
              </a:defRPr>
            </a:pPr>
            <a:r>
              <a:t>through recovery. Instead, it uses motivational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Times New Roman"/>
              </a:defRPr>
            </a:pPr>
            <a:r>
              <a:t>strategies to mobilize the client's OWN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Times New Roman"/>
              </a:defRPr>
            </a:pPr>
            <a:r>
              <a:t>change resources and motivation.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188720"/>
            <a:ext cx="5486400" cy="2286000"/>
          </a:xfrm>
          <a:prstGeom prst="roundRect">
            <a:avLst/>
          </a:prstGeom>
          <a:solidFill>
            <a:srgbClr val="C8E6C9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2E7D32"/>
                </a:solidFill>
                <a:latin typeface="Times New Roman"/>
              </a:defRPr>
            </a:pPr>
            <a:r>
              <a:t>Key Facts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Developed for NIAAA Project MATCH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Based on principles of Motivational Interviewing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- 4 planned sessions over 12 weeks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Therapist uses personal feedback + MI techniques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Designed for alcohol/substance use disorders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Adaptable to various clinical settings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840480"/>
            <a:ext cx="11247120" cy="2103120"/>
          </a:xfrm>
          <a:prstGeom prst="roundRect">
            <a:avLst/>
          </a:prstGeom>
          <a:solidFill>
            <a:srgbClr val="FFF8E1"/>
          </a:solidFill>
          <a:ln w="2540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E65C00"/>
                </a:solidFill>
                <a:latin typeface="Times New Roman"/>
              </a:defRPr>
            </a:pPr>
            <a:r>
              <a:t>From the Manual: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"MET is based on principles of motivational psychology and is designed to produce rapid,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internally motivated change. This treatment strategy does not attempt to guide and train the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client, step by step, through recovery, but instead employs motivational strategies to mobilize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the client's own change resources." (MET Manual, p. 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1000" i="1">
                <a:solidFill>
                  <a:srgbClr val="666666"/>
                </a:solidFill>
                <a:latin typeface="Times New Roman"/>
              </a:defRPr>
            </a:pPr>
            <a:r>
              <a:t>Reference: Miller, W.R., Zweben, A., DiClemente, C.C., &amp; Rychtarik, R.G. (1992). MET Manual, p. 1. NIAAA Project MATCH.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C8E6C9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/>
          <a:lstStyle/>
          <a:p>
            <a:pPr algn="ctr">
              <a:defRPr sz="3600" b="1">
                <a:solidFill>
                  <a:srgbClr val="FFFFFF"/>
                </a:solidFill>
                <a:latin typeface="Times New Roman"/>
              </a:defRPr>
            </a:pPr>
            <a:r>
              <a:t>How MET Differs from Other Approaches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BBDEFB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/>
          <a:lstStyle/>
          <a:p>
            <a:pPr algn="ctr">
              <a:defRPr sz="3600" b="1">
                <a:solidFill>
                  <a:srgbClr val="FFFFFF"/>
                </a:solidFill>
                <a:latin typeface="Times New Roman"/>
              </a:defRPr>
            </a:pPr>
            <a:r>
              <a:t>How MET Differs from Other Approaches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5943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Feature</a:t>
                      </a:r>
                    </a:p>
                  </a:txBody>
                  <a:tcPr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Traditional Approaches</a:t>
                      </a:r>
                    </a:p>
                  </a:txBody>
                  <a:tcPr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MET Approach</a:t>
                      </a:r>
                    </a:p>
                  </a:txBody>
                  <a:tcPr>
                    <a:solidFill>
                      <a:srgbClr val="2E7D3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Therapist Role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Expert/Teacher/Director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Collaborative partner, elicits client's own motivation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Client 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Passive recipient of treatment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Active agent of own change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Resistance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Seen as denial to be confronted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Signal to change therapeutic strategy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Goals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Set by therapist/program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Negotiated with client based on their values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Techniques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Skills training, education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Reflective listening, feedback, exploring ambivalence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Usually 12+ sessions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 structured sessions over 12 weeks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Mechanism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Learning new skills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Mobilizing client's own internal resources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1000" i="1">
                <a:solidFill>
                  <a:srgbClr val="666666"/>
                </a:solidFill>
                <a:latin typeface="Times New Roman"/>
              </a:defRPr>
            </a:pPr>
            <a:r>
              <a:t>Reference: Miller et al. (1992). MET Manual, pp. 1-5; NIMHANS (2016). Substance Use Disorders, Ch. 8.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1BEE7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/>
          <a:lstStyle/>
          <a:p>
            <a:pPr algn="ctr">
              <a:defRPr sz="3600" b="1">
                <a:solidFill>
                  <a:srgbClr val="FFFFFF"/>
                </a:solidFill>
                <a:latin typeface="Times New Roman"/>
              </a:defRPr>
            </a:pPr>
            <a:r>
              <a:t>Origins and Development of MET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5486400" cy="2743200"/>
          </a:xfrm>
          <a:prstGeom prst="roundRect">
            <a:avLst/>
          </a:prstGeom>
          <a:solidFill>
            <a:srgbClr val="E1BEE7"/>
          </a:solidFill>
          <a:ln w="2540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6A1B9A"/>
                </a:solidFill>
                <a:latin typeface="Times New Roman"/>
              </a:defRPr>
            </a:pPr>
            <a:r>
              <a:t>Timeline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1983: William R. Miller publishes foundational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paper on Motivational Interviewing (MI)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1991: Miller &amp; Rollnick publish first MI book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1992: MET Manual developed for Project MATCH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- Largest alcohol treatment trial ever conducted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- 1,726 participants across 9 sites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- Compared MET vs CBT vs 12-Step Facilitation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280160"/>
            <a:ext cx="5486400" cy="2743200"/>
          </a:xfrm>
          <a:prstGeom prst="roundRect">
            <a:avLst/>
          </a:prstGeom>
          <a:solidFill>
            <a:srgbClr val="FFF8E1"/>
          </a:solidFill>
          <a:ln w="2540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E65C00"/>
                </a:solidFill>
                <a:latin typeface="Times New Roman"/>
              </a:defRPr>
            </a:pPr>
            <a:r>
              <a:t>Core Components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MET integrates two core components: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1. MOTIVATIONAL INTERVIEWING (MI)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 - Client-centered counseling style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 - Explores and resolves ambivalence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2. PERSONALIZED ASSESSMENT FEEDBACK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 - Objective data presented to client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 - Creates discrepancy between current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   behavior and personal goals/values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297680"/>
            <a:ext cx="11247120" cy="1645920"/>
          </a:xfrm>
          <a:prstGeom prst="roundRect">
            <a:avLst/>
          </a:prstGeom>
          <a:solidFill>
            <a:srgbClr val="C8E6C9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2E7D32"/>
                </a:solidFill>
                <a:latin typeface="Times New Roman"/>
              </a:defRPr>
            </a:pPr>
            <a:r>
              <a:t>Key Finding: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Project MATCH Finding: MET achieved comparable outcomes to 12-session CBT and 12-session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TSF in just 4 sessions, making it highly cost-effective. This was revolutionary in demonstrating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that a brief motivational intervention could match the efficacy of longer treatments.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1000" i="1">
                <a:solidFill>
                  <a:srgbClr val="666666"/>
                </a:solidFill>
                <a:latin typeface="Times New Roman"/>
              </a:defRPr>
            </a:pPr>
            <a:r>
              <a:t>Reference: Project MATCH Research Group (1997). Matching treatments to patient heterogeneity. J Stud Alcohol, 58, 7-29.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07B83"/>
              </a:gs>
              <a:gs pos="100000">
                <a:srgbClr val="FFFFFF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Times New Roman"/>
              </a:defRPr>
            </a:pPr>
            <a:r>
              <a:t>SECTION 2</a:t>
            </a:r>
          </a:p>
          <a:p>
            <a:pPr algn="ctr">
              <a:defRPr sz="2000">
                <a:solidFill>
                  <a:srgbClr val="FFF8E1"/>
                </a:solidFill>
                <a:latin typeface="Times New Roman"/>
              </a:defRPr>
            </a:pPr>
            <a:r>
              <a:t>Theoretical Foundations of MET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B2DFDB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/>
          <a:lstStyle/>
          <a:p>
            <a:pPr algn="ctr">
              <a:defRPr sz="3600" b="1">
                <a:solidFill>
                  <a:srgbClr val="FFFFFF"/>
                </a:solidFill>
                <a:latin typeface="Times New Roman"/>
              </a:defRPr>
            </a:pPr>
            <a:r>
              <a:t>The Transtheoretical Model (TTM) of Change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11247120" cy="2011680"/>
          </a:xfrm>
          <a:prstGeom prst="roundRect">
            <a:avLst/>
          </a:prstGeom>
          <a:solidFill>
            <a:srgbClr val="FFF8E1"/>
          </a:solidFill>
          <a:ln w="25400">
            <a:solidFill>
              <a:srgbClr val="007B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007B83"/>
                </a:solidFill>
                <a:latin typeface="Times New Roman"/>
              </a:defRPr>
            </a:pPr>
            <a:r>
              <a:t>Foundation of MET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The Transtheoretical Model (Prochaska &amp; DiClemente, 1982, 1984) is the primary theoretical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foundation of MET. It describes behavior change as a PROCESS that unfolds over time through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a series of stages. People do not change abruptly - they move through predictable stages,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and the therapist's task is to match their interventions to the client's current stage.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"MET is based on the assumption that the responsibility and capability for change lie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within the client. The therapist's task is to create a set of conditions that will enhance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the client's own motivation for and commitment to change." (MET Manual, p. 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474720"/>
            <a:ext cx="1645920" cy="109728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Times New Roman"/>
              </a:defRPr>
            </a:pPr>
            <a:r>
              <a:t>Pre-</a:t>
            </a:r>
            <a:br/>
            <a:r>
              <a:t>contemplation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103120" y="3840480"/>
            <a:ext cx="274320" cy="365760"/>
          </a:xfrm>
          <a:prstGeom prst="rightArrow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377440" y="3474720"/>
            <a:ext cx="1645920" cy="1097280"/>
          </a:xfrm>
          <a:prstGeom prst="round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Times New Roman"/>
              </a:defRPr>
            </a:pPr>
            <a:r>
              <a:t>Contemplation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23360" y="3840480"/>
            <a:ext cx="274320" cy="365760"/>
          </a:xfrm>
          <a:prstGeom prst="rightArrow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97680" y="3474720"/>
            <a:ext cx="1645920" cy="1097280"/>
          </a:xfrm>
          <a:prstGeom prst="round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Times New Roman"/>
              </a:defRPr>
            </a:pPr>
            <a:r>
              <a:t>Preparation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943600" y="3840480"/>
            <a:ext cx="274320" cy="365760"/>
          </a:xfrm>
          <a:prstGeom prst="rightArrow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0" y="3474720"/>
            <a:ext cx="1645920" cy="10972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Times New Roman"/>
              </a:defRPr>
            </a:pPr>
            <a:r>
              <a:t>Action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863840" y="3840480"/>
            <a:ext cx="274320" cy="365760"/>
          </a:xfrm>
          <a:prstGeom prst="rightArrow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38160" y="3474720"/>
            <a:ext cx="1645920" cy="1097280"/>
          </a:xfrm>
          <a:prstGeom prst="round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Times New Roman"/>
              </a:defRPr>
            </a:pPr>
            <a:r>
              <a:t>Maintenance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784080" y="3840480"/>
            <a:ext cx="274320" cy="365760"/>
          </a:xfrm>
          <a:prstGeom prst="rightArrow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058400" y="3474720"/>
            <a:ext cx="1645920" cy="1097280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Times New Roman"/>
              </a:defRPr>
            </a:pPr>
            <a:r>
              <a:t>Relapse</a:t>
            </a:r>
            <a:br/>
            <a:r>
              <a:t>(Recycling)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846320"/>
            <a:ext cx="11247120" cy="1188720"/>
          </a:xfrm>
          <a:prstGeom prst="roundRect">
            <a:avLst/>
          </a:prstGeom>
          <a:solidFill>
            <a:srgbClr val="FFCDD2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C62828"/>
                </a:solidFill>
                <a:latin typeface="Times New Roman"/>
              </a:defRPr>
            </a:pPr>
            <a:r>
              <a:t>Important: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Key Principle: Change is cyclical, not linear. Most people cycle through stages multiple times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before achieving lasting change. Relapse is a NORMAL part of the change process, not a failure.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1000" i="1">
                <a:solidFill>
                  <a:srgbClr val="666666"/>
                </a:solidFill>
                <a:latin typeface="Times New Roman"/>
              </a:defRPr>
            </a:pPr>
            <a:r>
              <a:t>Reference: Prochaska &amp; DiClemente (1984). The Transtheoretical Approach; MET Manual (1992), pp. 6-12; NIMHANS (2016), Ch. 8.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CDD2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/>
          <a:lstStyle/>
          <a:p>
            <a:pPr algn="ctr">
              <a:defRPr sz="3600" b="1">
                <a:solidFill>
                  <a:srgbClr val="FFFFFF"/>
                </a:solidFill>
                <a:latin typeface="Times New Roman"/>
              </a:defRPr>
            </a:pPr>
            <a:r>
              <a:t>Stage 1: PRECONTEMPLATION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0" cy="2286000"/>
          </a:xfrm>
          <a:prstGeom prst="roundRect">
            <a:avLst/>
          </a:prstGeom>
          <a:solidFill>
            <a:srgbClr val="FFCDD2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C62828"/>
                </a:solidFill>
                <a:latin typeface="Times New Roman"/>
              </a:defRPr>
            </a:pPr>
            <a:r>
              <a:t>What It Looks Like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The person does NOT see their substance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use as a problem. They are not thinking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about change and may be unaware of risks.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Common statements: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"I don't have a problem"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"Everyone drinks like me"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"My family is overreacting"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188720"/>
            <a:ext cx="5486400" cy="2286000"/>
          </a:xfrm>
          <a:prstGeom prst="roundRect">
            <a:avLst/>
          </a:prstGeom>
          <a:solidFill>
            <a:srgbClr val="FFF8E1"/>
          </a:solidFill>
          <a:ln w="2540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E65C00"/>
                </a:solidFill>
                <a:latin typeface="Times New Roman"/>
              </a:defRPr>
            </a:pPr>
            <a:r>
              <a:t>Therapist Tasks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DO: Raise doubt, increase awareness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DO: Provide objective information/feedback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DO: Explore events that brought them in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DO: Help them see risks they haven't noticed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DON'T: Argue or confront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DON'T: Push for immediate change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DON'T: Label them as 'alcoholic' or 'addict'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840480"/>
            <a:ext cx="11247120" cy="2103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1B3A5C"/>
                </a:solidFill>
                <a:latin typeface="Times New Roman"/>
              </a:defRPr>
            </a:pPr>
            <a:r>
              <a:t>How MET Addresses This Stage: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MET Technique: Present Personal Feedback Report (PFR) showing objective assessment data.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Example: "Your blood alcohol level on the assessment day was ___ . Here's where that falls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compared to the general population..." The therapist presents facts WITHOUT arguing,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letting the DATA create discrepancy between client's belief and reality.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According to the manual: "The precontemplation stage is characterized by a lack of awareness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that a problem exists. The individual has no intention to change behavior in the foreseeable future."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1000" i="1">
                <a:solidFill>
                  <a:srgbClr val="666666"/>
                </a:solidFill>
                <a:latin typeface="Times New Roman"/>
              </a:defRPr>
            </a:pPr>
            <a:r>
              <a:t>Reference: MET Manual (1992), pp. 6-8; Prochaska &amp; DiClemente (1982). Transtheoretical therapy. Psychotherapy, 19, 276-288.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E0B2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/>
          <a:lstStyle/>
          <a:p>
            <a:pPr algn="ctr">
              <a:defRPr sz="3600" b="1">
                <a:solidFill>
                  <a:srgbClr val="FFFFFF"/>
                </a:solidFill>
                <a:latin typeface="Times New Roman"/>
              </a:defRPr>
            </a:pPr>
            <a:r>
              <a:t>Stage 2: CONTEMPLATION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0" cy="2286000"/>
          </a:xfrm>
          <a:prstGeom prst="roundRect">
            <a:avLst/>
          </a:prstGeom>
          <a:solidFill>
            <a:srgbClr val="FFE0B2"/>
          </a:solidFill>
          <a:ln w="2540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E65C00"/>
                </a:solidFill>
                <a:latin typeface="Times New Roman"/>
              </a:defRPr>
            </a:pPr>
            <a:r>
              <a:t>What It Looks Like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The person ACKNOWLEDGES a problem and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is thinking about change, but is AMBIVALENT.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They see both pros and cons of their behavior.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Common statements: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"I know I drink too much, but..."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"I want to quit, but I don't know how"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"Sometimes I think I should cut down"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188720"/>
            <a:ext cx="5486400" cy="2286000"/>
          </a:xfrm>
          <a:prstGeom prst="roundRect">
            <a:avLst/>
          </a:prstGeom>
          <a:solidFill>
            <a:srgbClr val="C8E6C9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2E7D32"/>
                </a:solidFill>
                <a:latin typeface="Times New Roman"/>
              </a:defRPr>
            </a:pPr>
            <a:r>
              <a:t>Therapist Tasks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DO: Explore ambivalence (don't resolve it)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DO: Use Decisional Balance worksheet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DO: Elicit self-motivational statements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DO: Tip the balance toward change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DO: Highlight discrepancy between values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   and current behavior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DON'T: Rush to action planning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DON'T: Tell them what to 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840480"/>
            <a:ext cx="11247120" cy="2103120"/>
          </a:xfrm>
          <a:prstGeom prst="roundRect">
            <a:avLst/>
          </a:prstGeom>
          <a:solidFill>
            <a:srgbClr val="FFF8E1"/>
          </a:solidFill>
          <a:ln w="2540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1B3A5C"/>
                </a:solidFill>
                <a:latin typeface="Times New Roman"/>
              </a:defRPr>
            </a:pPr>
            <a:r>
              <a:t>How MET Addresses This Stage: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MET Key Strategy: EXPLORING AMBIVALENCE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The therapist helps the client articulate BOTH sides - reasons to change AND reasons to stay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the same. This is done through reflective listening and the Decisional Balance exercise.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"Ambivalence is the contemplator's defining feature. The person is simultaneously considering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and rejecting the prospect of change... The therapist's task is to tip the balance." (Manual, p. 8)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1000" i="1">
                <a:solidFill>
                  <a:srgbClr val="666666"/>
                </a:solidFill>
                <a:latin typeface="Times New Roman"/>
              </a:defRPr>
            </a:pPr>
            <a:r>
              <a:t>Reference: MET Manual (1992), pp. 8-10; Miller &amp; Rollnick (1991). Motivational Interviewing, Ch. 4.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F8E1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/>
          <a:lstStyle/>
          <a:p>
            <a:pPr algn="ctr">
              <a:defRPr sz="3600" b="1">
                <a:solidFill>
                  <a:srgbClr val="FFFFFF"/>
                </a:solidFill>
                <a:latin typeface="Times New Roman"/>
              </a:defRPr>
            </a:pPr>
            <a:r>
              <a:t>Stage 3: PREPARATION (Determination)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0" cy="2286000"/>
          </a:xfrm>
          <a:prstGeom prst="roundRect">
            <a:avLst/>
          </a:prstGeom>
          <a:solidFill>
            <a:srgbClr val="FFF8E1"/>
          </a:solidFill>
          <a:ln w="2540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F9A825"/>
                </a:solidFill>
                <a:latin typeface="Times New Roman"/>
              </a:defRPr>
            </a:pPr>
            <a:r>
              <a:t>What It Looks Like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The person has DECIDED to change and is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planning how to do it. They have tipped the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balance and are ready to take action.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Common statements: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"I need to do something about this"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"What are my options?"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"I'm going to quit next Monday"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188720"/>
            <a:ext cx="5486400" cy="2286000"/>
          </a:xfrm>
          <a:prstGeom prst="roundRect">
            <a:avLst/>
          </a:prstGeom>
          <a:solidFill>
            <a:srgbClr val="C8E6C9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2E7D32"/>
                </a:solidFill>
                <a:latin typeface="Times New Roman"/>
              </a:defRPr>
            </a:pPr>
            <a:r>
              <a:t>Therapist Tasks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DO: Help develop a Change Plan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DO: Offer a menu of options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DO: Support self-efficacy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DO: Help set realistic, achievable goals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DO: Negotiate a plan (not impose one)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DON'T: Prescribe a single path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DON'T: Ignore client's preferences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DON'T: Miss the window of readiness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840480"/>
            <a:ext cx="11247120" cy="2103120"/>
          </a:xfrm>
          <a:prstGeom prst="roundRect">
            <a:avLst/>
          </a:prstGeom>
          <a:solidFill>
            <a:srgbClr val="BBDEFB"/>
          </a:solidFill>
          <a:ln w="2540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1B3A5C"/>
                </a:solidFill>
                <a:latin typeface="Times New Roman"/>
              </a:defRPr>
            </a:pPr>
            <a:r>
              <a:t>How MET Addresses This Stage: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MET Key Strategy: CHANGE PLAN WORKSHEET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The therapist helps the client complete a structured Change Plan that includes: specific changes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desired, main reasons for change, steps planned, how others can help, how they'll know it's working,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and things that could interfere. This plan is the client's OWN plan, negotiated collaboratively.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"The window of determination is open for a period of time. If action is not taken, the person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may slip back into contemplation or precontemplation." (MET Manual, p. 10)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1000" i="1">
                <a:solidFill>
                  <a:srgbClr val="666666"/>
                </a:solidFill>
                <a:latin typeface="Times New Roman"/>
              </a:defRPr>
            </a:pPr>
            <a:r>
              <a:t>Reference: MET Manual (1992), pp. 10-11; DiClemente et al. (1991). J Consult Clin Psychol, 59, 295-304.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C8E6C9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/>
          <a:lstStyle/>
          <a:p>
            <a:pPr algn="ctr">
              <a:defRPr sz="3600" b="1">
                <a:solidFill>
                  <a:srgbClr val="FFFFFF"/>
                </a:solidFill>
                <a:latin typeface="Times New Roman"/>
              </a:defRPr>
            </a:pPr>
            <a:r>
              <a:t>Stage 4: ACTION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0" cy="2286000"/>
          </a:xfrm>
          <a:prstGeom prst="roundRect">
            <a:avLst/>
          </a:prstGeom>
          <a:solidFill>
            <a:srgbClr val="C8E6C9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2E7D32"/>
                </a:solidFill>
                <a:latin typeface="Times New Roman"/>
              </a:defRPr>
            </a:pPr>
            <a:r>
              <a:t>What It Looks Like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The person is ACTIVELY making changes.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They are modifying their behavior, experiences,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or environment to overcome their problem.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Common statements: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"I stopped drinking 2 weeks ago"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"I'm attending AA meetings now"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"I threw away my bottles"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188720"/>
            <a:ext cx="5486400" cy="2286000"/>
          </a:xfrm>
          <a:prstGeom prst="roundRect">
            <a:avLst/>
          </a:prstGeom>
          <a:solidFill>
            <a:srgbClr val="E1BEE7"/>
          </a:solidFill>
          <a:ln w="2540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6A1B9A"/>
                </a:solidFill>
                <a:latin typeface="Times New Roman"/>
              </a:defRPr>
            </a:pPr>
            <a:r>
              <a:t>Therapist Tasks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DO: Affirm and support their efforts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DO: Help troubleshoot obstacles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DO: Review and refine the Change Plan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DO: Explore what's working and what isn't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DO: Build self-efficacy ("You can do this")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DON'T: Assume the work is done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DON'T: Become complacent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DON'T: Ignore emerging difficulties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840480"/>
            <a:ext cx="11247120" cy="2103120"/>
          </a:xfrm>
          <a:prstGeom prst="roundRect">
            <a:avLst/>
          </a:prstGeom>
          <a:solidFill>
            <a:srgbClr val="FFF8E1"/>
          </a:solidFill>
          <a:ln w="2540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1B3A5C"/>
                </a:solidFill>
                <a:latin typeface="Times New Roman"/>
              </a:defRPr>
            </a:pPr>
            <a:r>
              <a:t>How MET Addresses This Stage: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MET Key Strategy: REVIEWING PROGRESS &amp; RENEWING COMMITMENT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Sessions 3 and 4 of MET focus on reviewing the Change Plan, celebrating successes,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problem-solving obstacles, and renewing motivation when it flags. The therapist continues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to use MI techniques to maintain momentum and prevent discouragement.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"Action without preparation is a recipe for failure. The Action stage is where the therapist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supports implementation of the plan developed in previous sessions." (MET Manual, p. 11)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1000" i="1">
                <a:solidFill>
                  <a:srgbClr val="666666"/>
                </a:solidFill>
                <a:latin typeface="Times New Roman"/>
              </a:defRPr>
            </a:pPr>
            <a:r>
              <a:t>Reference: MET Manual (1992), pp. 11-12; Prochaska, DiClemente &amp; Norcross (1992). Am Psychologist, 47, 1102-1114.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B2DFDB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/>
          <a:lstStyle/>
          <a:p>
            <a:pPr algn="ctr">
              <a:defRPr sz="3600" b="1">
                <a:solidFill>
                  <a:srgbClr val="FFFFFF"/>
                </a:solidFill>
                <a:latin typeface="Times New Roman"/>
              </a:defRPr>
            </a:pPr>
            <a:r>
              <a:t>Stages 5 &amp; 6: MAINTENANCE and RELAPSE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0" cy="2560320"/>
          </a:xfrm>
          <a:prstGeom prst="roundRect">
            <a:avLst/>
          </a:prstGeom>
          <a:solidFill>
            <a:srgbClr val="B2DFDB"/>
          </a:solidFill>
          <a:ln w="25400">
            <a:solidFill>
              <a:srgbClr val="007B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007B83"/>
                </a:solidFill>
                <a:latin typeface="Times New Roman"/>
              </a:defRPr>
            </a:pPr>
            <a:r>
              <a:t>Maintenance Stage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MAINTENANCE: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Sustaining gains made during action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Preventing return to old patterns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Building new lifestyle and identity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Developing coping for high-risk situations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Duration: 6 months to lifetime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Challenge: Remaining vigilant without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becoming rigid or fearful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188720"/>
            <a:ext cx="5486400" cy="2560320"/>
          </a:xfrm>
          <a:prstGeom prst="roundRect">
            <a:avLst/>
          </a:prstGeom>
          <a:solidFill>
            <a:srgbClr val="FFCDD2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C62828"/>
                </a:solidFill>
                <a:latin typeface="Times New Roman"/>
              </a:defRPr>
            </a:pPr>
            <a:r>
              <a:t>Relapse Stage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RELAPSE (Recycling):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Return to earlier stage behavior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NOT a failure - a learning opportunity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Average person cycles 3-7 times before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achieving stable change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MET normalizes this as part of the process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Key MET response to relapse: Explore what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happened WITHOUT blame, renew motivation,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revise the Change Plan accordingly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114800"/>
            <a:ext cx="11247120" cy="1828800"/>
          </a:xfrm>
          <a:prstGeom prst="roundRect">
            <a:avLst/>
          </a:prstGeom>
          <a:solidFill>
            <a:srgbClr val="FFF8E1"/>
          </a:solidFill>
          <a:ln w="2540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E65C00"/>
                </a:solidFill>
                <a:latin typeface="Times New Roman"/>
              </a:defRPr>
            </a:pPr>
            <a:r>
              <a:t>From the Manual: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"The Transtheoretical Model views relapse not as a catastrophic failure but as a normal part of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the cycle of change. The revolving-door model emphasizes that with each cycle, the person learns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something new and may achieve more stable maintenance in the next attempt." (MET Manual, p. 12)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MET implication: Even in Session 4, the therapist prepares the client for possible slips and reframes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them as information rather than defeat, thereby reducing shame and maintaining engagement.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1000" i="1">
                <a:solidFill>
                  <a:srgbClr val="666666"/>
                </a:solidFill>
                <a:latin typeface="Times New Roman"/>
              </a:defRPr>
            </a:pPr>
            <a:r>
              <a:t>Reference: MET Manual (1992), pp. 11-14; NIMHANS (2016). Substance Use Disorders, pp. 89-94; Marlatt &amp; Gordon (1985).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1BEE7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/>
          <a:lstStyle/>
          <a:p>
            <a:pPr algn="ctr">
              <a:defRPr sz="3600" b="1">
                <a:solidFill>
                  <a:srgbClr val="FFFFFF"/>
                </a:solidFill>
                <a:latin typeface="Times New Roman"/>
              </a:defRPr>
            </a:pPr>
            <a:r>
              <a:t>Theoretical Foundation: Self-Efficacy (Bandura, 1977)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0" cy="2743200"/>
          </a:xfrm>
          <a:prstGeom prst="roundRect">
            <a:avLst/>
          </a:prstGeom>
          <a:solidFill>
            <a:srgbClr val="E1BEE7"/>
          </a:solidFill>
          <a:ln w="2540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6A1B9A"/>
                </a:solidFill>
                <a:latin typeface="Times New Roman"/>
              </a:defRPr>
            </a:pPr>
            <a:r>
              <a:t>What is Self-Efficacy?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Self-efficacy = a person's BELIEF in their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ability to successfully perform a behavior.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In MET context: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Belief that one CAN change drinking/drug use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Confidence in ability to cope without substances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"I can do this" vs. "It's impossible"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Sources of Self-Efficacy: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1. Past performance accomplishments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2. Vicarious experience (seeing others succeed)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3. Verbal persuasion (therapist affirmation)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4. Physiological/emotional states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188720"/>
            <a:ext cx="5486400" cy="2743200"/>
          </a:xfrm>
          <a:prstGeom prst="roundRect">
            <a:avLst/>
          </a:prstGeom>
          <a:solidFill>
            <a:srgbClr val="C8E6C9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2E7D32"/>
                </a:solidFill>
                <a:latin typeface="Times New Roman"/>
              </a:defRPr>
            </a:pPr>
            <a:r>
              <a:t>MET Application: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How MET Builds Self-Efficacy: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1. AFFIRMING client's strengths and past successes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 "You managed to stay sober for 3 months last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  year - that shows real strength"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2. SUPPORTING the client's own ability to change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 "No one can make this decision for you. You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  have what it takes to change this."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3. OFFERING a menu of options (not prescribing)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 Gives client sense of control and agency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4. CELEBRATING small wins and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297680"/>
            <a:ext cx="11247120" cy="1645920"/>
          </a:xfrm>
          <a:prstGeom prst="roundRect">
            <a:avLst/>
          </a:prstGeom>
          <a:solidFill>
            <a:srgbClr val="FFF8E1"/>
          </a:solidFill>
          <a:ln w="2540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E65C00"/>
                </a:solidFill>
                <a:latin typeface="Times New Roman"/>
              </a:defRPr>
            </a:pPr>
            <a:r>
              <a:t>Manual Quote: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"A person who lacks confidence that he or she can change is unlikely to try, regardless of how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important the change may seem. The therapist's task is to enhance the client's belief in the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possibility of change." (MET Manual, p. 17) - This is the 'S' in FRAMES: Support self-efficacy.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1000" i="1">
                <a:solidFill>
                  <a:srgbClr val="666666"/>
                </a:solidFill>
                <a:latin typeface="Times New Roman"/>
              </a:defRPr>
            </a:pPr>
            <a:r>
              <a:t>Reference: Bandura (1977). Self-efficacy: Toward a unifying theory. Psychol Review, 84; MET Manual (1992), pp. 16-17.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E0B2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/>
          <a:lstStyle/>
          <a:p>
            <a:pPr algn="ctr">
              <a:defRPr sz="3600" b="1">
                <a:solidFill>
                  <a:srgbClr val="FFFFFF"/>
                </a:solidFill>
                <a:latin typeface="Times New Roman"/>
              </a:defRPr>
            </a:pPr>
            <a:r>
              <a:t>Theoretical Foundation: Cognitive Dissonance (Festinger, 1957)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0" cy="2743200"/>
          </a:xfrm>
          <a:prstGeom prst="roundRect">
            <a:avLst/>
          </a:prstGeom>
          <a:solidFill>
            <a:srgbClr val="FFE0B2"/>
          </a:solidFill>
          <a:ln w="2540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E65C00"/>
                </a:solidFill>
                <a:latin typeface="Times New Roman"/>
              </a:defRPr>
            </a:pPr>
            <a:r>
              <a:t>The Theory: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Cognitive Dissonance = the uncomfortable tension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when a person holds two conflicting beliefs or when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their behavior contradicts their values/beliefs.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In substance use context: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"I am a good parent" vs "I drink every night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 and my children are suffering"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"I value my health" vs "I am damaging my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 liver with alcohol"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"I am independent" vs "I can't function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 without my substance"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188720"/>
            <a:ext cx="5486400" cy="2743200"/>
          </a:xfrm>
          <a:prstGeom prst="roundRect">
            <a:avLst/>
          </a:prstGeom>
          <a:solidFill>
            <a:srgbClr val="BBDEFB"/>
          </a:solidFill>
          <a:ln w="2540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1B3A5C"/>
                </a:solidFill>
                <a:latin typeface="Times New Roman"/>
              </a:defRPr>
            </a:pPr>
            <a:r>
              <a:t>MET Application: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How MET Uses Cognitive Dissonance: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1. DEVELOPING DISCREPANCY (key principle)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 - Show gap between where client IS and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   where they WANT TO BE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 - Let the discrepancy be the motivator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2. Personal Feedback Report creates dissonance: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 - "You said health is your top value..."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 - "Your liver enzymes show damage..."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 - Client must resolve this tension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3. Resolution happens through CHANGE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 (not through therapist confrontation)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297680"/>
            <a:ext cx="11247120" cy="1645920"/>
          </a:xfrm>
          <a:prstGeom prst="roundRect">
            <a:avLst/>
          </a:prstGeom>
          <a:solidFill>
            <a:srgbClr val="FFF8E1"/>
          </a:solidFill>
          <a:ln w="2540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E65C00"/>
                </a:solidFill>
                <a:latin typeface="Times New Roman"/>
              </a:defRPr>
            </a:pPr>
            <a:r>
              <a:t>Manual Quote: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"A discrepancy between present behavior and important personal goals will motivate change.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The therapist's task is to develop and amplify such discrepancy, making the client more aware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of the costs of current behavior relative to their own values and goals." (MET Manual, p. 14)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1000" i="1">
                <a:solidFill>
                  <a:srgbClr val="666666"/>
                </a:solidFill>
                <a:latin typeface="Times New Roman"/>
              </a:defRPr>
            </a:pPr>
            <a:r>
              <a:t>Reference: Festinger (1957). Theory of Cognitive Dissonance; MET Manual (1992), pp. 13-15; NIMHANS (2016), Ch. 8.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2E7D32"/>
              </a:gs>
              <a:gs pos="100000">
                <a:srgbClr val="FFFFFF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Times New Roman"/>
              </a:defRPr>
            </a:pPr>
            <a:r>
              <a:t>SECTION 3</a:t>
            </a:r>
          </a:p>
          <a:p>
            <a:pPr algn="ctr">
              <a:defRPr sz="2000">
                <a:solidFill>
                  <a:srgbClr val="FFF8E1"/>
                </a:solidFill>
                <a:latin typeface="Times New Roman"/>
              </a:defRPr>
            </a:pPr>
            <a:r>
              <a:t>Principles and Spirit of MET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C8E6C9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/>
          <a:lstStyle/>
          <a:p>
            <a:pPr algn="ctr">
              <a:defRPr sz="3600" b="1">
                <a:solidFill>
                  <a:srgbClr val="FFFFFF"/>
                </a:solidFill>
                <a:latin typeface="Times New Roman"/>
              </a:defRPr>
            </a:pPr>
            <a:r>
              <a:t>Five Principles of Motivational Interviewing in MET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11247120" cy="914400"/>
          </a:xfrm>
          <a:prstGeom prst="roundRect">
            <a:avLst/>
          </a:prstGeom>
          <a:solidFill>
            <a:srgbClr val="BBDEFB"/>
          </a:solidFill>
          <a:ln w="2540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1B3A5C"/>
                </a:solidFill>
                <a:latin typeface="Times New Roman"/>
              </a:defRPr>
            </a:pPr>
            <a:r>
              <a:t>1. Express Empathy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Accept the client where they are. Ambivalence is NORMAL. Reflective listening is fundamental.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194560"/>
            <a:ext cx="11247120" cy="914400"/>
          </a:xfrm>
          <a:prstGeom prst="roundRect">
            <a:avLst/>
          </a:prstGeom>
          <a:solidFill>
            <a:srgbClr val="C8E6C9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2E7D32"/>
                </a:solidFill>
                <a:latin typeface="Times New Roman"/>
              </a:defRPr>
            </a:pPr>
            <a:r>
              <a:t>2. Develop Discrepancy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Help client see gap between current behavior and important goals/values. Let THEM argue for change.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200400"/>
            <a:ext cx="11247120" cy="914400"/>
          </a:xfrm>
          <a:prstGeom prst="roundRect">
            <a:avLst/>
          </a:prstGeom>
          <a:solidFill>
            <a:srgbClr val="FFE0B2"/>
          </a:solidFill>
          <a:ln w="2540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E65C00"/>
                </a:solidFill>
                <a:latin typeface="Times New Roman"/>
              </a:defRPr>
            </a:pPr>
            <a:r>
              <a:t>3. Avoid Argumentation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Arguments are counterproductive. Defending breeds defensiveness. Resistance signals to shift approach.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206240"/>
            <a:ext cx="11247120" cy="914400"/>
          </a:xfrm>
          <a:prstGeom prst="roundRect">
            <a:avLst/>
          </a:prstGeom>
          <a:solidFill>
            <a:srgbClr val="E1BEE7"/>
          </a:solidFill>
          <a:ln w="2540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6A1B9A"/>
                </a:solidFill>
                <a:latin typeface="Times New Roman"/>
              </a:defRPr>
            </a:pPr>
            <a:r>
              <a:t>4. Roll with Resistance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Don't fight resistance - use it. Offer new perspectives, don't impose. Client is the primary resource.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212080"/>
            <a:ext cx="11247120" cy="914400"/>
          </a:xfrm>
          <a:prstGeom prst="roundRect">
            <a:avLst/>
          </a:prstGeom>
          <a:solidFill>
            <a:srgbClr val="B2DFDB"/>
          </a:solidFill>
          <a:ln w="25400">
            <a:solidFill>
              <a:srgbClr val="007B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007B83"/>
                </a:solidFill>
                <a:latin typeface="Times New Roman"/>
              </a:defRPr>
            </a:pPr>
            <a:r>
              <a:t>5. Support Self-Efficacy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Client's belief in possibility of change is key motivator. Client is responsible for choosing change.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1000" i="1">
                <a:solidFill>
                  <a:srgbClr val="666666"/>
                </a:solidFill>
                <a:latin typeface="Times New Roman"/>
              </a:defRPr>
            </a:pPr>
            <a:r>
              <a:t>Reference: MET Manual (1992), pp. 13-17; Miller &amp; Rollnick (1991). Motivational Interviewing, Ch. 3.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BBDEFB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/>
          <a:lstStyle/>
          <a:p>
            <a:pPr algn="ctr">
              <a:defRPr sz="3600" b="1">
                <a:solidFill>
                  <a:srgbClr val="FFFFFF"/>
                </a:solidFill>
                <a:latin typeface="Times New Roman"/>
              </a:defRPr>
            </a:pPr>
            <a:r>
              <a:t>FRAMES: Elements of Effective Brief Interventions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11247120" cy="777240"/>
          </a:xfrm>
          <a:prstGeom prst="roundRect">
            <a:avLst/>
          </a:prstGeom>
          <a:solidFill>
            <a:srgbClr val="FFCDD2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C62828"/>
                </a:solidFill>
                <a:latin typeface="Times New Roman"/>
              </a:defRPr>
            </a:pPr>
            <a:r>
              <a:t>F - Feedback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Provide personal feedback about the client's risk/impairment based on objective assessment data (blood tests, questionnaire scores, comparison with norms)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39112"/>
            <a:ext cx="11247120" cy="777240"/>
          </a:xfrm>
          <a:prstGeom prst="roundRect">
            <a:avLst/>
          </a:prstGeom>
          <a:solidFill>
            <a:srgbClr val="FFE0B2"/>
          </a:solidFill>
          <a:ln w="2540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E65C00"/>
                </a:solidFill>
                <a:latin typeface="Times New Roman"/>
              </a:defRPr>
            </a:pPr>
            <a:r>
              <a:t>R - Responsibility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Emphasize that the responsibility for change lies with the CLIENT. "Only you can decide what to do with this information. It's your choice."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889504"/>
            <a:ext cx="11247120" cy="777240"/>
          </a:xfrm>
          <a:prstGeom prst="roundRect">
            <a:avLst/>
          </a:prstGeom>
          <a:solidFill>
            <a:srgbClr val="FFF8E1"/>
          </a:solidFill>
          <a:ln w="2540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F9A825"/>
                </a:solidFill>
                <a:latin typeface="Times New Roman"/>
              </a:defRPr>
            </a:pPr>
            <a:r>
              <a:t>A - Advice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Clear advice to change is given but in a non-prescriptive manner. "My professional advice would be to consider reducing/stopping..."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739896"/>
            <a:ext cx="11247120" cy="777240"/>
          </a:xfrm>
          <a:prstGeom prst="roundRect">
            <a:avLst/>
          </a:prstGeom>
          <a:solidFill>
            <a:srgbClr val="C8E6C9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2E7D32"/>
                </a:solidFill>
                <a:latin typeface="Times New Roman"/>
              </a:defRPr>
            </a:pPr>
            <a:r>
              <a:t>M - Menu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Offer a MENU of strategies/options. Client chooses their own path. Multiple pathways to change exist. Choice increases commitment.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590288"/>
            <a:ext cx="11247120" cy="777240"/>
          </a:xfrm>
          <a:prstGeom prst="roundRect">
            <a:avLst/>
          </a:prstGeom>
          <a:solidFill>
            <a:srgbClr val="BBDEFB"/>
          </a:solidFill>
          <a:ln w="2540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1B3A5C"/>
                </a:solidFill>
                <a:latin typeface="Times New Roman"/>
              </a:defRPr>
            </a:pPr>
            <a:r>
              <a:t>E - Empathy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Warm, reflective, empathic counseling style. Understanding without judging. Acceptance of the person.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440680"/>
            <a:ext cx="11247120" cy="777240"/>
          </a:xfrm>
          <a:prstGeom prst="roundRect">
            <a:avLst/>
          </a:prstGeom>
          <a:solidFill>
            <a:srgbClr val="E1BEE7"/>
          </a:solidFill>
          <a:ln w="2540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6A1B9A"/>
                </a:solidFill>
                <a:latin typeface="Times New Roman"/>
              </a:defRPr>
            </a:pPr>
            <a:r>
              <a:t>S - Self-Efficacy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Reinforce client's hope and belief that change IS possible. "You have the strength to do this. Many people in similar situations have succeeded."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1000" i="1">
                <a:solidFill>
                  <a:srgbClr val="666666"/>
                </a:solidFill>
                <a:latin typeface="Times New Roman"/>
              </a:defRPr>
            </a:pPr>
            <a:r>
              <a:t>Reference: MET Manual (1992), pp. 16-17; Miller &amp; Sanchez (1994). Motivating young adults for change.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B2DFDB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/>
          <a:lstStyle/>
          <a:p>
            <a:pPr algn="ctr">
              <a:defRPr sz="3600" b="1">
                <a:solidFill>
                  <a:srgbClr val="FFFFFF"/>
                </a:solidFill>
                <a:latin typeface="Times New Roman"/>
              </a:defRPr>
            </a:pPr>
            <a:r>
              <a:t>OARS: Core Microskills of MET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0" cy="2194560"/>
          </a:xfrm>
          <a:prstGeom prst="roundRect">
            <a:avLst/>
          </a:prstGeom>
          <a:solidFill>
            <a:srgbClr val="BBDEFB"/>
          </a:solidFill>
          <a:ln w="2540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1B3A5C"/>
                </a:solidFill>
                <a:latin typeface="Times New Roman"/>
              </a:defRPr>
            </a:pPr>
            <a:r>
              <a:t>O - Open-Ended Questions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OPEN-ENDED QUESTIONS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Cannot be answered with yes/no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Encourage client to explore and elaborate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"What concerns you about your drinking?"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"How has substance use affected your life?"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"What would be different if you changed?"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188720"/>
            <a:ext cx="5486400" cy="2194560"/>
          </a:xfrm>
          <a:prstGeom prst="roundRect">
            <a:avLst/>
          </a:prstGeom>
          <a:solidFill>
            <a:srgbClr val="C8E6C9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2E7D32"/>
                </a:solidFill>
                <a:latin typeface="Times New Roman"/>
              </a:defRPr>
            </a:pPr>
            <a:r>
              <a:t>A - Affirmations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AFFIRMATIONS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Recognize client's strengths and efforts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Build confidence and self-efficacy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"It took courage to come here today"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"You've shown real resilience in coping"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"That's a significant step you've taken"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657600"/>
            <a:ext cx="5486400" cy="2194560"/>
          </a:xfrm>
          <a:prstGeom prst="roundRect">
            <a:avLst/>
          </a:prstGeom>
          <a:solidFill>
            <a:srgbClr val="E1BEE7"/>
          </a:solidFill>
          <a:ln w="2540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6A1B9A"/>
                </a:solidFill>
                <a:latin typeface="Times New Roman"/>
              </a:defRPr>
            </a:pPr>
            <a:r>
              <a:t>R - Reflective Listening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REFLECTIVE LISTENING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The PRIMARY skill in MI/MET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Repeat back meaning (not just words)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Simple: "So you feel frustrated"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Complex: "You want to quit but you're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worried you'll lose your social circle"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Shows empathy, builds rapport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657600"/>
            <a:ext cx="5486400" cy="2194560"/>
          </a:xfrm>
          <a:prstGeom prst="roundRect">
            <a:avLst/>
          </a:prstGeom>
          <a:solidFill>
            <a:srgbClr val="FFE0B2"/>
          </a:solidFill>
          <a:ln w="2540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E65C00"/>
                </a:solidFill>
                <a:latin typeface="Times New Roman"/>
              </a:defRPr>
            </a:pPr>
            <a:r>
              <a:t>S - Summaries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SUMMARIES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Collect and link what client has said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Show you've been listening carefully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Prepare transitions between topics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"Let me see if I have this right..."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Include both sides of ambivalence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End with open question to continue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1000" i="1">
                <a:solidFill>
                  <a:srgbClr val="666666"/>
                </a:solidFill>
                <a:latin typeface="Times New Roman"/>
              </a:defRPr>
            </a:pPr>
            <a:r>
              <a:t>Reference: MET Manual (1992), pp. 20-35; Miller &amp; Rollnick (2002). MI: Preparing People for Change, 2nd ed.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E0B2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/>
          <a:lstStyle/>
          <a:p>
            <a:pPr algn="ctr">
              <a:defRPr sz="3600" b="1">
                <a:solidFill>
                  <a:srgbClr val="FFFFFF"/>
                </a:solidFill>
                <a:latin typeface="Times New Roman"/>
              </a:defRPr>
            </a:pPr>
            <a:r>
              <a:t>DARES: Self-Motivational Statements to Elicit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11247120" cy="1371600"/>
          </a:xfrm>
          <a:prstGeom prst="roundRect">
            <a:avLst/>
          </a:prstGeom>
          <a:solidFill>
            <a:srgbClr val="FFF8E1"/>
          </a:solidFill>
          <a:ln w="2540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E65C00"/>
                </a:solidFill>
                <a:latin typeface="Times New Roman"/>
              </a:defRPr>
            </a:pPr>
            <a:r>
              <a:t>Core Principle: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The therapist's goal is to ELICIT (not provide) self-motivational statements from the client.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These are statements where the CLIENT argues FOR change. The more the client voices these,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the more likely actual change becomes. DARES represents the categories to listen for and evoke.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834640"/>
            <a:ext cx="11247120" cy="594360"/>
          </a:xfrm>
          <a:prstGeom prst="round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333333"/>
                </a:solidFill>
                <a:latin typeface="Times New Roman"/>
              </a:defRPr>
            </a:pPr>
            <a:r>
              <a:t>D - Desire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Example: "I want to change" / "I wish I could stop"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493008"/>
            <a:ext cx="11247120" cy="59436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333333"/>
                </a:solidFill>
                <a:latin typeface="Times New Roman"/>
              </a:defRPr>
            </a:pPr>
            <a:r>
              <a:t>A - Ability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Example: "I think I could do it" / "I was able to quit before"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151376"/>
            <a:ext cx="11247120" cy="594360"/>
          </a:xfrm>
          <a:prstGeom prst="roundRect">
            <a:avLst/>
          </a:prstGeom>
          <a:solidFill>
            <a:srgbClr val="E1B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333333"/>
                </a:solidFill>
                <a:latin typeface="Times New Roman"/>
              </a:defRPr>
            </a:pPr>
            <a:r>
              <a:t>R - Reasons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Example: "My health is suffering" / "My family needs me sober"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809744"/>
            <a:ext cx="11247120" cy="594360"/>
          </a:xfrm>
          <a:prstGeom prst="roundRect">
            <a:avLst/>
          </a:prstGeom>
          <a:solidFill>
            <a:srgbClr val="FFE0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333333"/>
                </a:solidFill>
                <a:latin typeface="Times New Roman"/>
              </a:defRPr>
            </a:pPr>
            <a:r>
              <a:t>E - Emotional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Example: "I'm tired of feeling this way" / "I hate what I've become"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468112"/>
            <a:ext cx="11247120" cy="594360"/>
          </a:xfrm>
          <a:prstGeom prst="roundRect">
            <a:avLst/>
          </a:prstGeom>
          <a:solidFill>
            <a:srgbClr val="B2D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333333"/>
                </a:solidFill>
                <a:latin typeface="Times New Roman"/>
              </a:defRPr>
            </a:pPr>
            <a:r>
              <a:t>S - Steps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Example: "I could try going to meetings" / "Maybe I'll call my doctor"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1000" i="1">
                <a:solidFill>
                  <a:srgbClr val="666666"/>
                </a:solidFill>
                <a:latin typeface="Times New Roman"/>
              </a:defRPr>
            </a:pPr>
            <a:r>
              <a:t>Reference: MET Manual (1992), pp. 25-30; Miller &amp; Rollnick (2002). MI, 2nd ed.; Amrhein et al. (2003). J Consult Clin Psychol.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C8E6C9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/>
          <a:lstStyle/>
          <a:p>
            <a:pPr algn="ctr">
              <a:defRPr sz="3600" b="1">
                <a:solidFill>
                  <a:srgbClr val="FFFFFF"/>
                </a:solidFill>
                <a:latin typeface="Times New Roman"/>
              </a:defRPr>
            </a:pPr>
            <a:r>
              <a:t>The Spirit of Motivational Interviewing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3474720" cy="2743200"/>
          </a:xfrm>
          <a:prstGeom prst="roundRect">
            <a:avLst/>
          </a:prstGeom>
          <a:solidFill>
            <a:srgbClr val="BBDEFB"/>
          </a:solidFill>
          <a:ln w="2540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1B3A5C"/>
                </a:solidFill>
                <a:latin typeface="Times New Roman"/>
              </a:defRPr>
            </a:pPr>
            <a:r>
              <a:t>Collaboration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Working WITH the client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as equal partners.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NOT expert-to-patient.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"The therapeutic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relationship is more like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a partnership than an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expert-recipient one."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(MET Manual, p. 13)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06240" y="1188720"/>
            <a:ext cx="3474720" cy="2743200"/>
          </a:xfrm>
          <a:prstGeom prst="roundRect">
            <a:avLst/>
          </a:prstGeom>
          <a:solidFill>
            <a:srgbClr val="C8E6C9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2E7D32"/>
                </a:solidFill>
                <a:latin typeface="Times New Roman"/>
              </a:defRPr>
            </a:pPr>
            <a:r>
              <a:t>Evocation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Drawing out the client's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own motivations,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strengths, and reasons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for change.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Motivation is EVOKED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from within, not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installed from outside.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188720"/>
            <a:ext cx="3749039" cy="2743200"/>
          </a:xfrm>
          <a:prstGeom prst="roundRect">
            <a:avLst/>
          </a:prstGeom>
          <a:solidFill>
            <a:srgbClr val="E1BEE7"/>
          </a:solidFill>
          <a:ln w="2540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6A1B9A"/>
                </a:solidFill>
                <a:latin typeface="Times New Roman"/>
              </a:defRPr>
            </a:pPr>
            <a:r>
              <a:t>Autonomy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Respecting the client's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right and capacity to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direct their own life.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The client ultimately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decides whether, when,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and how to change.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Therapist respects this.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206240"/>
            <a:ext cx="11247120" cy="1828800"/>
          </a:xfrm>
          <a:prstGeom prst="roundRect">
            <a:avLst/>
          </a:prstGeom>
          <a:solidFill>
            <a:srgbClr val="FFF8E1"/>
          </a:solidFill>
          <a:ln w="2540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E65C00"/>
                </a:solidFill>
                <a:latin typeface="Times New Roman"/>
              </a:defRPr>
            </a:pPr>
            <a:r>
              <a:t>In Practice: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What the Spirit Looks Like in Practice: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Therapist asks more than tells; listens more than instructs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Client does most of the talking (therapist aims for 70:30 client:therapist talk ratio)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No labeling, no shaming, no arguing for change on behalf of the client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Resistance is met with curiosity, not confrontation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The client's autonomy is honored even when they choose NOT to change immediately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1000" i="1">
                <a:solidFill>
                  <a:srgbClr val="666666"/>
                </a:solidFill>
                <a:latin typeface="Times New Roman"/>
              </a:defRPr>
            </a:pPr>
            <a:r>
              <a:t>Reference: MET Manual (1992), pp. 13-18; Miller &amp; Rollnick (2013). MI, 3rd ed.; NIMHANS (2016), Ch. 8.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CDD2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/>
          <a:lstStyle/>
          <a:p>
            <a:pPr algn="ctr">
              <a:defRPr sz="3600" b="1">
                <a:solidFill>
                  <a:srgbClr val="FFFFFF"/>
                </a:solidFill>
                <a:latin typeface="Times New Roman"/>
              </a:defRPr>
            </a:pPr>
            <a:r>
              <a:t>Handling Client Resistance: Strategies from the Manual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0" cy="2286000"/>
          </a:xfrm>
          <a:prstGeom prst="roundRect">
            <a:avLst/>
          </a:prstGeom>
          <a:solidFill>
            <a:srgbClr val="FFCDD2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C62828"/>
                </a:solidFill>
                <a:latin typeface="Times New Roman"/>
              </a:defRPr>
            </a:pPr>
            <a:r>
              <a:t>Recognizing Resistance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TYPES OF RESISTANCE: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1. Arguing - challenging, discounting, hostility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2. Interrupting - cutting off, talking over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3. Denying - blaming, disagreeing, excusing,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 claiming impunity, minimizing, pessimism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4. Ignoring - inattention, non-answer,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 no response, sidetracking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188720"/>
            <a:ext cx="5486400" cy="2286000"/>
          </a:xfrm>
          <a:prstGeom prst="roundRect">
            <a:avLst/>
          </a:prstGeom>
          <a:solidFill>
            <a:srgbClr val="C8E6C9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2E7D32"/>
                </a:solidFill>
                <a:latin typeface="Times New Roman"/>
              </a:defRPr>
            </a:pPr>
            <a:r>
              <a:t>Rolling with Resistance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STRATEGIES TO ROLL WITH RESISTANCE: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1. Simple Reflection - acknowledge what they said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2. Amplified Reflection - reflect back in stronger form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3. Double-Sided Reflection - both sides of ambivalence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4. Shifting Focus - redirect to another topic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5. Agreement with a Twist - agree then reframe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6. Reframing - offer new interpretation of facts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7. Emphasizing Personal Choice - "It's up to you"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749039"/>
            <a:ext cx="11247120" cy="2194560"/>
          </a:xfrm>
          <a:prstGeom prst="roundRect">
            <a:avLst/>
          </a:prstGeom>
          <a:solidFill>
            <a:srgbClr val="FFF8E1"/>
          </a:solidFill>
          <a:ln w="2540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E65C00"/>
                </a:solidFill>
                <a:latin typeface="Times New Roman"/>
              </a:defRPr>
            </a:pPr>
            <a:r>
              <a:t>Clinical Dialogue: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CLINICAL EXAMPLES from the Manual: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Client: "I don't think I drink any more than my friends do."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Simple Reflection: "You see yourself as a pretty normal drinker."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Amplified: "So you really don't think there's anything at all to be concerned about."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Double-Sided: "On one hand you feel your drinking is normal, and on the other hand,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            you're here because something prompted you to come in."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Reframe: "It sounds like your friends are important to you, and you want to fit in with them."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1000" i="1">
                <a:solidFill>
                  <a:srgbClr val="666666"/>
                </a:solidFill>
                <a:latin typeface="Times New Roman"/>
              </a:defRPr>
            </a:pPr>
            <a:r>
              <a:t>Reference: MET Manual (1992), pp. 32-38; Miller &amp; Rollnick (1991). MI, Ch. 6: Handling Resistance.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6A1B9A"/>
              </a:gs>
              <a:gs pos="100000">
                <a:srgbClr val="FFFFFF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Times New Roman"/>
              </a:defRPr>
            </a:pPr>
            <a:r>
              <a:t>SECTION 4</a:t>
            </a:r>
          </a:p>
          <a:p>
            <a:pPr algn="ctr">
              <a:defRPr sz="2000">
                <a:solidFill>
                  <a:srgbClr val="FFF8E1"/>
                </a:solidFill>
                <a:latin typeface="Times New Roman"/>
              </a:defRPr>
            </a:pPr>
            <a:r>
              <a:t>Session-by-Session Therapy Guide</a:t>
            </a:r>
            <a:br/>
            <a:r>
              <a:t>How to Actually DO MET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1BEE7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/>
          <a:lstStyle/>
          <a:p>
            <a:pPr algn="ctr">
              <a:defRPr sz="3600" b="1">
                <a:solidFill>
                  <a:srgbClr val="FFFFFF"/>
                </a:solidFill>
                <a:latin typeface="Times New Roman"/>
              </a:defRPr>
            </a:pPr>
            <a:r>
              <a:t>MET: The 4-Session Structure (Overview)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0" cy="2103120"/>
          </a:xfrm>
          <a:prstGeom prst="roundRect">
            <a:avLst/>
          </a:prstGeom>
          <a:solidFill>
            <a:srgbClr val="BBDEFB"/>
          </a:solidFill>
          <a:ln w="2540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1B3A5C"/>
                </a:solidFill>
                <a:latin typeface="Times New Roman"/>
              </a:defRPr>
            </a:pPr>
            <a:r>
              <a:t>Sessions 1 &amp; 2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SESSION 1 (Week 1):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Build rapport and therapeutic alliance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Present Personal Feedback Report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Explore client's reaction to feedback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Elicit self-motivational statements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Gauge readiness to change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188720"/>
            <a:ext cx="5486400" cy="2103120"/>
          </a:xfrm>
          <a:prstGeom prst="roundRect">
            <a:avLst/>
          </a:prstGeom>
          <a:solidFill>
            <a:srgbClr val="C8E6C9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SESSION 2 (Week 2):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Strengthen commitment to change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Develop Change Plan (collaborative)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Complete Change Plan Worksheet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Explore ambivalence further if needed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Set specific goals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566160"/>
            <a:ext cx="5486400" cy="2103120"/>
          </a:xfrm>
          <a:prstGeom prst="roundRect">
            <a:avLst/>
          </a:prstGeom>
          <a:solidFill>
            <a:srgbClr val="FFE0B2"/>
          </a:solidFill>
          <a:ln w="2540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E65C00"/>
                </a:solidFill>
                <a:latin typeface="Times New Roman"/>
              </a:defRPr>
            </a:pPr>
            <a:r>
              <a:t>Sessions 3 &amp; 4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SESSION 3 (Week 6):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Review progress since Session 2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Renew motivation and commitment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Problem-solve any obstacles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Revise Change Plan if needed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Affirm successes and efforts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566160"/>
            <a:ext cx="5486400" cy="2103120"/>
          </a:xfrm>
          <a:prstGeom prst="roundRect">
            <a:avLst/>
          </a:prstGeom>
          <a:solidFill>
            <a:srgbClr val="E1BEE7"/>
          </a:solidFill>
          <a:ln w="2540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SESSION 4 (Week 12):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Review overall progress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Consolidate gains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Plan for maintenance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Discuss relapse prevention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Termination and future planning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1000" i="1">
                <a:solidFill>
                  <a:srgbClr val="666666"/>
                </a:solidFill>
                <a:latin typeface="Times New Roman"/>
              </a:defRPr>
            </a:pPr>
            <a:r>
              <a:t>Reference: MET Manual (1992), pp. 40-80; NIMHANS (2016). Substance Use Disorders, Ch. 8.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BBDEFB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/>
          <a:lstStyle/>
          <a:p>
            <a:pPr algn="ctr">
              <a:defRPr sz="3600" b="1">
                <a:solidFill>
                  <a:srgbClr val="FFFFFF"/>
                </a:solidFill>
                <a:latin typeface="Times New Roman"/>
              </a:defRPr>
            </a:pPr>
            <a:r>
              <a:t>SESSION 1: Building Motivation for Change (Part A)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11247120" cy="1645920"/>
          </a:xfrm>
          <a:prstGeom prst="roundRect">
            <a:avLst/>
          </a:prstGeom>
          <a:solidFill>
            <a:srgbClr val="FFF8E1"/>
          </a:solidFill>
          <a:ln w="2540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1B3A5C"/>
                </a:solidFill>
                <a:latin typeface="Times New Roman"/>
              </a:defRPr>
            </a:pPr>
            <a:r>
              <a:t>Session Goals &amp; Structure: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GOALS: (1) Build rapport (2) Present personal feedback (3) Elicit self-motivational statements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(4) Assess stage of readiness (5) Begin to explore ambivalence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TIMING: 60-90 minutes | WEEK: 1 of treatment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108960"/>
            <a:ext cx="5486400" cy="2834640"/>
          </a:xfrm>
          <a:prstGeom prst="roundRect">
            <a:avLst/>
          </a:prstGeom>
          <a:solidFill>
            <a:srgbClr val="BBDEFB"/>
          </a:solidFill>
          <a:ln w="2540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1B3A5C"/>
                </a:solidFill>
                <a:latin typeface="Times New Roman"/>
              </a:defRPr>
            </a:pPr>
            <a:r>
              <a:t>Opening the Session: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STEP 1: OPENING (10-15 min)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How to do it: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Welcome client warmly and genuinely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Explain the process: "Today we'll look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at some information from your assessment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and talk about what it means to you"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Set the tone: non-judgmental, curious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Ask an open question to start: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"What brought you here today?"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"How are things going for you?"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3108960"/>
            <a:ext cx="5486400" cy="2834640"/>
          </a:xfrm>
          <a:prstGeom prst="roundRect">
            <a:avLst/>
          </a:prstGeom>
          <a:solidFill>
            <a:srgbClr val="C8E6C9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2E7D32"/>
                </a:solidFill>
                <a:latin typeface="Times New Roman"/>
              </a:defRPr>
            </a:pPr>
            <a:r>
              <a:t>Presenting Feedback: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STEP 2: PERSONAL FEEDBACK (30-40 min)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Present data from the assessment battery: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1. Drinking/drug use patterns &amp; quantities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2. Comparison with population norms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3. Blood test results (liver function, etc.)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4. Neuropsychological test results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5. Consequences reported in assessment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6. Risk factors identified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Key: Present information, DON'T argue.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Ask: "What do you make of this?"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1000" i="1">
                <a:solidFill>
                  <a:srgbClr val="666666"/>
                </a:solidFill>
                <a:latin typeface="Times New Roman"/>
              </a:defRPr>
            </a:pPr>
            <a:r>
              <a:t>Reference: MET Manual (1992), pp. 40-55; Chapter III: Session 1 - Building Motivation for Change.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BBDEFB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/>
          <a:lstStyle/>
          <a:p>
            <a:pPr algn="ctr">
              <a:defRPr sz="3600" b="1">
                <a:solidFill>
                  <a:srgbClr val="FFFFFF"/>
                </a:solidFill>
                <a:latin typeface="Times New Roman"/>
              </a:defRPr>
            </a:pPr>
            <a:r>
              <a:t>SESSION 1: Personal Feedback Report (Part B)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0" cy="3200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1B3A5C"/>
                </a:solidFill>
                <a:latin typeface="Times New Roman"/>
              </a:defRPr>
            </a:pPr>
            <a:r>
              <a:t>Components of the PFR: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PERSONAL FEEDBACK REPORT contains: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1. DRINKING/DRUG USE PATTERN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- Quantity/frequency data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- Peak blood alcohol levels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- Where client falls on population norms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2. NEGATIVE CONSEQUENCES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- Physical, psychological, social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- Legal, occupational problems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3. RISK FACTORS/INDICATORS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- Family history, tolerance, dependence signs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4. TEST RESULTS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- Liver function, neuropsych scores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188720"/>
            <a:ext cx="5486400" cy="3200400"/>
          </a:xfrm>
          <a:prstGeom prst="roundRect">
            <a:avLst/>
          </a:prstGeom>
          <a:solidFill>
            <a:srgbClr val="C8E6C9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2E7D32"/>
                </a:solidFill>
                <a:latin typeface="Times New Roman"/>
              </a:defRPr>
            </a:pPr>
            <a:r>
              <a:t>Therapist Technique: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HOW TO PRESENT FEEDBACK: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1. Use a structured form/booklet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2. Go through each section systematically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3. After each piece of data, PAUSE and ASK: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- "What do you make of this?"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- "Does this surprise you?"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- "How does this compare with what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   you expected?"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4. Use reflective listening on their response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5. Do NOT argue if they minimize/dismiss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6. Highlight discrepancies gently: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"So on one hand you feel fine, but your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 liver results suggest something else..."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663440"/>
            <a:ext cx="11247120" cy="1280160"/>
          </a:xfrm>
          <a:prstGeom prst="roundRect">
            <a:avLst/>
          </a:prstGeom>
          <a:solidFill>
            <a:srgbClr val="FFF8E1"/>
          </a:solidFill>
          <a:ln w="2540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E65C00"/>
                </a:solidFill>
                <a:latin typeface="Times New Roman"/>
              </a:defRPr>
            </a:pPr>
            <a:r>
              <a:t>Manual Guidance: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"The feedback session is not a lecture. It is a structured clinical interaction in which the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therapist presents information and invites the client's reaction. The style is empathic,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non-confrontational, and curious rather than didactic." (MET Manual, p. 44)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1000" i="1">
                <a:solidFill>
                  <a:srgbClr val="666666"/>
                </a:solidFill>
                <a:latin typeface="Times New Roman"/>
              </a:defRPr>
            </a:pPr>
            <a:r>
              <a:t>Reference: MET Manual (1992), pp. 44-55; Appendix A: Personal Feedback Report format.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BBDEFB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/>
          <a:lstStyle/>
          <a:p>
            <a:pPr algn="ctr">
              <a:defRPr sz="3600" b="1">
                <a:solidFill>
                  <a:srgbClr val="FFFFFF"/>
                </a:solidFill>
                <a:latin typeface="Times New Roman"/>
              </a:defRPr>
            </a:pPr>
            <a:r>
              <a:t>SESSION 1: Eliciting Self-Motivational Statements (Part C)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0" cy="2286000"/>
          </a:xfrm>
          <a:prstGeom prst="roundRect">
            <a:avLst/>
          </a:prstGeom>
          <a:solidFill>
            <a:srgbClr val="BBDEFB"/>
          </a:solidFill>
          <a:ln w="2540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1B3A5C"/>
                </a:solidFill>
                <a:latin typeface="Times New Roman"/>
              </a:defRPr>
            </a:pPr>
            <a:r>
              <a:t>Change Talk Categories: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WHAT ARE SELF-MOTIVATIONAL STATEMENTS?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These are statements from the CLIENT that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argue FOR change. Categories (from Manual):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1. Problem Recognition: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"I guess this is more serious than I thought"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2. Concern: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"I am worried about what this is doing to me"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3. Intention to Change: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"I think I need to do something about this"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4. Optimism: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"I think I can do this if I really try"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188720"/>
            <a:ext cx="5486400" cy="2286000"/>
          </a:xfrm>
          <a:prstGeom prst="roundRect">
            <a:avLst/>
          </a:prstGeom>
          <a:solidFill>
            <a:srgbClr val="C8E6C9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2E7D32"/>
                </a:solidFill>
                <a:latin typeface="Times New Roman"/>
              </a:defRPr>
            </a:pPr>
            <a:r>
              <a:t>Techniques to Elicit: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HOW TO ELICIT CHANGE TALK: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1. EVOCATIVE QUESTIONS: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"What worries you about your drinking?"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"What would be different if you changed?"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2. IMPORTANCE RULER (0-10):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"On a scale of 0-10, how important is it to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 you to make a change? Why not a lower number?"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3. EXPLORING PROS &amp; CONS: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"What do you like about using? What concerns you?"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4. LOOKING FORWARD/BACK: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"Where do you see yourself in 5 years if nothing changes?"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749039"/>
            <a:ext cx="11247120" cy="2194560"/>
          </a:xfrm>
          <a:prstGeom prst="roundRect">
            <a:avLst/>
          </a:prstGeom>
          <a:solidFill>
            <a:srgbClr val="FFF8E1"/>
          </a:solidFill>
          <a:ln w="2540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E65C00"/>
                </a:solidFill>
                <a:latin typeface="Times New Roman"/>
              </a:defRPr>
            </a:pPr>
            <a:r>
              <a:t>Session 1 Dialogue: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CLINICAL DIALOGUE EXAMPLE (from MET Manual):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Therapist: "You mentioned that your wife has been concerned about your drinking."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Client: "Yeah, she's always on my case about it. But I don't think it's that bad."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Therapist: "So she sees it differently than you do. What concerns her the most?" (Open Q)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Client: "She says I'm different when I drink. More angry. I guess she has a point."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Therapist: "You've noticed that too - that alcohol changes your behavior in ways you don't like."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           (Reflection - amplifying the change talk)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Client: "Yeah... I don't want to be that kind of person. That's not who I am."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Therapist: "Being a good person and partner is really important to you." (Affirming values)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1000" i="1">
                <a:solidFill>
                  <a:srgbClr val="666666"/>
                </a:solidFill>
                <a:latin typeface="Times New Roman"/>
              </a:defRPr>
            </a:pPr>
            <a:r>
              <a:t>Reference: MET Manual (1992), pp. 48-55; Miller &amp; Rollnick (1991). MI, Ch. 5: Eliciting Self-Motivational Statements.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BBDEFB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/>
          <a:lstStyle/>
          <a:p>
            <a:pPr algn="ctr">
              <a:defRPr sz="3600" b="1">
                <a:solidFill>
                  <a:srgbClr val="FFFFFF"/>
                </a:solidFill>
                <a:latin typeface="Times New Roman"/>
              </a:defRPr>
            </a:pPr>
            <a:r>
              <a:t>SESSION 1: Closing the Session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0" cy="2560320"/>
          </a:xfrm>
          <a:prstGeom prst="roundRect">
            <a:avLst/>
          </a:prstGeom>
          <a:solidFill>
            <a:srgbClr val="BBDEFB"/>
          </a:solidFill>
          <a:ln w="2540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1B3A5C"/>
                </a:solidFill>
                <a:latin typeface="Times New Roman"/>
              </a:defRPr>
            </a:pPr>
            <a:r>
              <a:t>Closing Summary: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SUMMARIZING (5-10 min):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Provide a comprehensive summary that includes: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1. Key facts from the feedback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2. Client's reactions to the feedback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3. Any self-motivational statements made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4. Both sides of client's ambivalence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5. Any expressions of concern or intention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End with: "What else would you add?"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or "Does that capture it accurately?"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188720"/>
            <a:ext cx="5486400" cy="2560320"/>
          </a:xfrm>
          <a:prstGeom prst="roundRect">
            <a:avLst/>
          </a:prstGeom>
          <a:solidFill>
            <a:srgbClr val="C8E6C9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2E7D32"/>
                </a:solidFill>
                <a:latin typeface="Times New Roman"/>
              </a:defRPr>
            </a:pPr>
            <a:r>
              <a:t>Readiness Assessment: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ASSESSING READINESS: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Use the Readiness Ruler: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"On a scale of 1-10, how ready are you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to make a change right now?"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If 1-3: Precontemplation focus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- Don't push, plant seeds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If 4-6: Contemplation focus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- Explore ambivalence more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If 7-10: Preparation focus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- Move toward Change Plan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023360"/>
            <a:ext cx="11247120" cy="1920240"/>
          </a:xfrm>
          <a:prstGeom prst="roundRect">
            <a:avLst/>
          </a:prstGeom>
          <a:solidFill>
            <a:srgbClr val="FFE0B2"/>
          </a:solidFill>
          <a:ln w="2540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E65C00"/>
                </a:solidFill>
                <a:latin typeface="Times New Roman"/>
              </a:defRPr>
            </a:pPr>
            <a:r>
              <a:t>Between Sessions: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HOMEWORK/BETWEEN-SESSION TASKS: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Ask client to think about what was discussed: "Between now and our next meeting, I'd like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you to think about what we've talked about today."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Give them the Personal Feedback sheet to take home and review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If ready: "You might want to start thinking about what changes you'd like to make"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Do NOT assign too much - respect their pace and readiness stage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1000" i="1">
                <a:solidFill>
                  <a:srgbClr val="666666"/>
                </a:solidFill>
                <a:latin typeface="Times New Roman"/>
              </a:defRPr>
            </a:pPr>
            <a:r>
              <a:t>Reference: MET Manual (1992), pp. 55-58; Chapter III: Closing the first session.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C8E6C9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/>
          <a:lstStyle/>
          <a:p>
            <a:pPr algn="ctr">
              <a:defRPr sz="3600" b="1">
                <a:solidFill>
                  <a:srgbClr val="FFFFFF"/>
                </a:solidFill>
                <a:latin typeface="Times New Roman"/>
              </a:defRPr>
            </a:pPr>
            <a:r>
              <a:t>SESSION 2: Strengthening Commitment to Change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11247120" cy="1371600"/>
          </a:xfrm>
          <a:prstGeom prst="roundRect">
            <a:avLst/>
          </a:prstGeom>
          <a:solidFill>
            <a:srgbClr val="FFF8E1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2E7D32"/>
                </a:solidFill>
                <a:latin typeface="Times New Roman"/>
              </a:defRPr>
            </a:pPr>
            <a:r>
              <a:t>Session 2 Goals: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GOALS: (1) Review and deepen Session 1 themes (2) Strengthen commitment (3) Develop a Change Plan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(4) Help client identify specific steps (5) Address remaining ambivalence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TIMING: 60 minutes | WEEK: 2 of treatment | KEY OUTPUT: Completed Change Plan Worksheet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834640"/>
            <a:ext cx="5486400" cy="3108960"/>
          </a:xfrm>
          <a:prstGeom prst="roundRect">
            <a:avLst/>
          </a:prstGeom>
          <a:solidFill>
            <a:srgbClr val="C8E6C9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2E7D32"/>
                </a:solidFill>
                <a:latin typeface="Times New Roman"/>
              </a:defRPr>
            </a:pPr>
            <a:r>
              <a:t>Session Flow: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STEP 1: OPENING (10 min)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"What's been happening since last time?"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"Have you thought more about what we discussed?"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Reflect on any changes already made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STEP 2: RECAPITULATION (5 min)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Provide brief summary of Session 1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Check: "Did I capture that correctly?"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STEP 3: DEEPENING (15 min)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Continue exploring ambivalence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Elicit more self-motivational statements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Use Decisional Balance if needed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834640"/>
            <a:ext cx="5486400" cy="3108960"/>
          </a:xfrm>
          <a:prstGeom prst="roundRect">
            <a:avLst/>
          </a:prstGeom>
          <a:solidFill>
            <a:srgbClr val="BBDEFB"/>
          </a:solidFill>
          <a:ln w="2540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1B3A5C"/>
                </a:solidFill>
                <a:latin typeface="Times New Roman"/>
              </a:defRPr>
            </a:pPr>
            <a:r>
              <a:t>The Change Plan: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STEP 4: CHANGE PLAN (25-30 min)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Help client complete the Change Plan: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"Now that we've talked about this, would you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like to put together a plan?"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Change Plan Worksheet sections: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1. The changes I want to make are...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2. The most important reasons are...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3. The steps I plan to take are...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4. How others can help me...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5. I will know my plan is working if...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6. Things that could interfere...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STEP 5: CLOSING (5 min)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Summarize plan, affirm commitment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1000" i="1">
                <a:solidFill>
                  <a:srgbClr val="666666"/>
                </a:solidFill>
                <a:latin typeface="Times New Roman"/>
              </a:defRPr>
            </a:pPr>
            <a:r>
              <a:t>Reference: MET Manual (1992), pp. 59-68; Chapter IV: Session 2 - Strengthening Commitment.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C8E6C9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/>
          <a:lstStyle/>
          <a:p>
            <a:pPr algn="ctr">
              <a:defRPr sz="3600" b="1">
                <a:solidFill>
                  <a:srgbClr val="FFFFFF"/>
                </a:solidFill>
                <a:latin typeface="Times New Roman"/>
              </a:defRPr>
            </a:pPr>
            <a:r>
              <a:t>SESSION 2: Adapting to Client's Readiness Level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BBDEFB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/>
          <a:lstStyle/>
          <a:p>
            <a:pPr algn="ctr">
              <a:defRPr sz="3600" b="1">
                <a:solidFill>
                  <a:srgbClr val="FFFFFF"/>
                </a:solidFill>
                <a:latin typeface="Times New Roman"/>
              </a:defRPr>
            </a:pPr>
            <a:r>
              <a:t>Session 2: Adapting to Client's Readiness Level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118872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Client Readiness</a:t>
                      </a:r>
                    </a:p>
                  </a:txBody>
                  <a:tcPr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What to Do</a:t>
                      </a:r>
                    </a:p>
                  </a:txBody>
                  <a:tcPr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What to Avoid</a:t>
                      </a:r>
                    </a:p>
                  </a:txBody>
                  <a:tcPr>
                    <a:solidFill>
                      <a:srgbClr val="2E7D32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NOT READY</a:t>
                      </a:r>
                    </a:p>
                    <a:p>
                      <a:r>
                        <a:t>(Still precontemplating)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Continue building rapport</a:t>
                      </a:r>
                    </a:p>
                    <a:p>
                      <a:r>
                        <a:t>Present more feedback</a:t>
                      </a:r>
                    </a:p>
                    <a:p>
                      <a:r>
                        <a:t>Explore pros of substance use</a:t>
                      </a:r>
                    </a:p>
                    <a:p>
                      <a:r>
                        <a:t>Plant seeds of doubt gently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Pushing for Change Plan</a:t>
                      </a:r>
                    </a:p>
                    <a:p>
                      <a:r>
                        <a:t>Setting goals prematurely</a:t>
                      </a:r>
                    </a:p>
                    <a:p>
                      <a:r>
                        <a:t>Expressing disappointment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UNSURE</a:t>
                      </a:r>
                    </a:p>
                    <a:p>
                      <a:r>
                        <a:t>(Contemplating)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Use Decisional Balance</a:t>
                      </a:r>
                    </a:p>
                    <a:p>
                      <a:r>
                        <a:t>Explore values vs behavior</a:t>
                      </a:r>
                    </a:p>
                    <a:p>
                      <a:r>
                        <a:t>Ask evocative questions</a:t>
                      </a:r>
                    </a:p>
                    <a:p>
                      <a:r>
                        <a:t>"What would need to happen?"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Arguing for change</a:t>
                      </a:r>
                    </a:p>
                    <a:p>
                      <a:r>
                        <a:t>Telling them what to do</a:t>
                      </a:r>
                    </a:p>
                    <a:p>
                      <a:r>
                        <a:t>Being directive</a:t>
                      </a:r>
                    </a:p>
                  </a:txBody>
                  <a:tcPr/>
                </a:tc>
              </a:tr>
              <a:tr h="11887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READY</a:t>
                      </a:r>
                    </a:p>
                    <a:p>
                      <a:r>
                        <a:t>(Determined to change)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Negotiate Change Plan</a:t>
                      </a:r>
                    </a:p>
                    <a:p>
                      <a:r>
                        <a:t>Offer menu of options</a:t>
                      </a:r>
                    </a:p>
                    <a:p>
                      <a:r>
                        <a:t>Help set specific goals</a:t>
                      </a:r>
                    </a:p>
                    <a:p>
                      <a:r>
                        <a:t>Build self-efficacy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Being too cautious</a:t>
                      </a:r>
                    </a:p>
                    <a:p>
                      <a:r>
                        <a:t>Over-exploring ambivalence</a:t>
                      </a:r>
                    </a:p>
                    <a:p>
                      <a:r>
                        <a:t>Missing readiness window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1000" i="1">
                <a:solidFill>
                  <a:srgbClr val="666666"/>
                </a:solidFill>
                <a:latin typeface="Times New Roman"/>
              </a:defRPr>
            </a:pPr>
            <a:r>
              <a:t>Reference: MET Manual (1992), pp. 59-64; Adapting to client readiness, Chapter IV.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E0B2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/>
          <a:lstStyle/>
          <a:p>
            <a:pPr algn="ctr">
              <a:defRPr sz="3600" b="1">
                <a:solidFill>
                  <a:srgbClr val="FFFFFF"/>
                </a:solidFill>
                <a:latin typeface="Times New Roman"/>
              </a:defRPr>
            </a:pPr>
            <a:r>
              <a:t>SESSIONS 3 &amp; 4: Reviewing Progress &amp; Renewing Motivation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0" cy="2926080"/>
          </a:xfrm>
          <a:prstGeom prst="roundRect">
            <a:avLst/>
          </a:prstGeom>
          <a:solidFill>
            <a:srgbClr val="FFE0B2"/>
          </a:solidFill>
          <a:ln w="2540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E65C00"/>
                </a:solidFill>
                <a:latin typeface="Times New Roman"/>
              </a:defRPr>
            </a:pPr>
            <a:r>
              <a:t>Session 3 Structure: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SESSION 3 (Week 6):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1. OPENING: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"How have things been going?"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"What's happened since we last met?"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2. REVIEW CHANGE PLAN: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- What's working? What isn't?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- Any modifications needed?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- New obstacles encountered?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3. RENEW MOTIVATION: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- Re-explore importance/confidence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- Affirm progress (even small steps)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- Address any slips without judgment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188720"/>
            <a:ext cx="5486400" cy="2926080"/>
          </a:xfrm>
          <a:prstGeom prst="roundRect">
            <a:avLst/>
          </a:prstGeom>
          <a:solidFill>
            <a:srgbClr val="E1BEE7"/>
          </a:solidFill>
          <a:ln w="2540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6A1B9A"/>
                </a:solidFill>
                <a:latin typeface="Times New Roman"/>
              </a:defRPr>
            </a:pPr>
            <a:r>
              <a:t>Session 4 Structure: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SESSION 4 (Week 12):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1. OPENING: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"We're coming to the end of our time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 together. How are things now?"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2. REVIEW OVERALL PROGRESS: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- Compare current status to baseline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- Celebrate achievements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- Acknowledge ongoing challenges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3. MAINTENANCE PLANNING: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- Identify high-risk situations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- Plan coping strategies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- Discuss relapse as normal part of process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- Plan for ongoing support/follow-up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389120"/>
            <a:ext cx="11247120" cy="1554480"/>
          </a:xfrm>
          <a:prstGeom prst="roundRect">
            <a:avLst/>
          </a:prstGeom>
          <a:solidFill>
            <a:srgbClr val="FFF8E1"/>
          </a:solidFill>
          <a:ln w="2540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E65C00"/>
                </a:solidFill>
                <a:latin typeface="Times New Roman"/>
              </a:defRPr>
            </a:pPr>
            <a:r>
              <a:t>Remember: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KEY PRINCIPLE for Sessions 3 &amp; 4: These sessions are NOT just "check-ins." The therapist continues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to use MI techniques actively - eliciting the client's own evaluation of progress, reflecting back their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successes, exploring any ambivalence that has returned, and maintaining the collaborative spirit.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"The later sessions are opportunities to consolidate gains and solve problems." (MET Manual, p. 70)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1000" i="1">
                <a:solidFill>
                  <a:srgbClr val="666666"/>
                </a:solidFill>
                <a:latin typeface="Times New Roman"/>
              </a:defRPr>
            </a:pPr>
            <a:r>
              <a:t>Reference: MET Manual (1992), pp. 69-80; Chapter V: Sessions 3 and 4 - Review and Renewal.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CDD2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/>
          <a:lstStyle/>
          <a:p>
            <a:pPr algn="ctr">
              <a:defRPr sz="3600" b="1">
                <a:solidFill>
                  <a:srgbClr val="FFFFFF"/>
                </a:solidFill>
                <a:latin typeface="Times New Roman"/>
              </a:defRPr>
            </a:pPr>
            <a:r>
              <a:t>When the Client Has Relapsed (Sessions 3/4)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0" cy="2743200"/>
          </a:xfrm>
          <a:prstGeom prst="roundRect">
            <a:avLst/>
          </a:prstGeom>
          <a:solidFill>
            <a:srgbClr val="FFCDD2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C62828"/>
                </a:solidFill>
                <a:latin typeface="Times New Roman"/>
              </a:defRPr>
            </a:pPr>
            <a:r>
              <a:t>Therapist Response: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IF CLIENT REPORTS A SLIP/RELAPSE: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1. NORMALIZE it: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"Slips are a common part of change."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"Many people experience this."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2. EXPLORE without blame: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"What happened? What was going on?"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"What did you learn from it?"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3. REFRAME as learning: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"Now you know that [situation] is a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 trigger for you. That's useful information."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4. RE-ENGAGE motivation: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"Where do you want to go from here?"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188720"/>
            <a:ext cx="5486400" cy="2743200"/>
          </a:xfrm>
          <a:prstGeom prst="roundRect">
            <a:avLst/>
          </a:prstGeom>
          <a:solidFill>
            <a:srgbClr val="FFF8E1"/>
          </a:solidFill>
          <a:ln w="2540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E65C00"/>
                </a:solidFill>
                <a:latin typeface="Times New Roman"/>
              </a:defRPr>
            </a:pPr>
            <a:r>
              <a:t>Avoid These Traps: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WHAT NOT TO DO: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Do NOT express disappointment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Do NOT say "you failed"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Do NOT lecture about consequences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Do NOT use the relapse to prove they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"need" more intensive treatment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Do NOT label them as hopeless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REMEMBER: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"The therapist maintains the same empathic,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non-judgmental stance regardless of whether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the client has been successful or has relapsed."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(MET Manual, p. 72)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206240"/>
            <a:ext cx="11247120" cy="1737360"/>
          </a:xfrm>
          <a:prstGeom prst="roundRect">
            <a:avLst/>
          </a:prstGeom>
          <a:solidFill>
            <a:srgbClr val="C8E6C9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CLINICAL DIALOGUE - Relapse Scenario: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Client: "I had a drink last weekend. I feel terrible about it. I've failed."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Therapist: "You're feeling discouraged because you had a drink." (Simple reflection)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Client: "Yeah. What's the point of trying?"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Therapist: "It feels like all your hard work doesn't count anymore." (Amplified reflection)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Client: "Well... I mean, I DID do well for 4 weeks. That's more than I've managed in years."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Therapist: "That's right - four weeks is significant. What helped you during that time?" (Affirm + explore)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1000" i="1">
                <a:solidFill>
                  <a:srgbClr val="666666"/>
                </a:solidFill>
                <a:latin typeface="Times New Roman"/>
              </a:defRPr>
            </a:pPr>
            <a:r>
              <a:t>Reference: MET Manual (1992), pp. 70-74; Marlatt &amp; Gordon (1985). Relapse Prevention.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07B83"/>
              </a:gs>
              <a:gs pos="100000">
                <a:srgbClr val="FFFFFF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Times New Roman"/>
              </a:defRPr>
            </a:pPr>
            <a:r>
              <a:t>SECTION 5</a:t>
            </a:r>
          </a:p>
          <a:p>
            <a:pPr algn="ctr">
              <a:defRPr sz="2000">
                <a:solidFill>
                  <a:srgbClr val="FFF8E1"/>
                </a:solidFill>
                <a:latin typeface="Times New Roman"/>
              </a:defRPr>
            </a:pPr>
            <a:r>
              <a:t>Clinical Techniques in Detail</a:t>
            </a:r>
            <a:br/>
            <a:r>
              <a:t>Mastering the Art of MET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B2DFDB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/>
          <a:lstStyle/>
          <a:p>
            <a:pPr algn="ctr">
              <a:defRPr sz="3600" b="1">
                <a:solidFill>
                  <a:srgbClr val="FFFFFF"/>
                </a:solidFill>
                <a:latin typeface="Times New Roman"/>
              </a:defRPr>
            </a:pPr>
            <a:r>
              <a:t>Reflective Listening: The Foundation Skill of MET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0" cy="2286000"/>
          </a:xfrm>
          <a:prstGeom prst="roundRect">
            <a:avLst/>
          </a:prstGeom>
          <a:solidFill>
            <a:srgbClr val="B2DFDB"/>
          </a:solidFill>
          <a:ln w="25400">
            <a:solidFill>
              <a:srgbClr val="007B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007B83"/>
                </a:solidFill>
                <a:latin typeface="Times New Roman"/>
              </a:defRPr>
            </a:pPr>
            <a:r>
              <a:t>Types of Reflection: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LEVELS OF REFLECTION: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Level 1 - REPEAT/REPHRASE: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Client: "I drink every night"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Therapist: "You drink every evening"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Level 2 - PARAPHRASE (meaning):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Client: "I drink every night"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Therapist: "It's become a daily routine for you"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Level 3 - REFLECTION OF FEELING: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Client: "I drink every night"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Therapist: "You sound concerned about that pattern"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188720"/>
            <a:ext cx="5486400" cy="2286000"/>
          </a:xfrm>
          <a:prstGeom prst="roundRect">
            <a:avLst/>
          </a:prstGeom>
          <a:solidFill>
            <a:srgbClr val="C8E6C9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2E7D32"/>
                </a:solidFill>
                <a:latin typeface="Times New Roman"/>
              </a:defRPr>
            </a:pPr>
            <a:r>
              <a:t>Strategic Reflections: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STRATEGIC USE IN MET: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Reflect CHANGE TALK more than sustain talk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Use reflections to AMPLIFY motivation: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Client: "I guess I drink a bit much"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Therapist: "You've come to realize that your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drinking has become a real problem" (amplified)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Use DOUBLE-SIDED reflections for ambivalence: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"On one hand, drinking helps you relax,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and on the other hand, it's costing you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your marriage."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749039"/>
            <a:ext cx="11247120" cy="2194560"/>
          </a:xfrm>
          <a:prstGeom prst="roundRect">
            <a:avLst/>
          </a:prstGeom>
          <a:solidFill>
            <a:srgbClr val="FFF8E1"/>
          </a:solidFill>
          <a:ln w="2540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E65C00"/>
                </a:solidFill>
                <a:latin typeface="Times New Roman"/>
              </a:defRPr>
            </a:pPr>
            <a:r>
              <a:t>Practice Tips: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PRACTICE GUIDELINES from the Manual: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Aim for 2-3 reflections for every question asked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Reflections should be STATEMENTS, not questions (drop your voice at the end)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If your reflection is wrong, the client will correct you - that's fine, you learn more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"The principal technique for expressing empathy is reflective listening... seeking through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your responses to understand the client's meaning and feelings." (MET Manual, p. 21)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Common Mistake: Asking too many questions and not enough reflections.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Good ratio: 2:1 or 3:1 (reflections:questions)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1000" i="1">
                <a:solidFill>
                  <a:srgbClr val="666666"/>
                </a:solidFill>
                <a:latin typeface="Times New Roman"/>
              </a:defRPr>
            </a:pPr>
            <a:r>
              <a:t>Reference: MET Manual (1992), pp. 20-24; Miller &amp; Rollnick (1991). MI, Ch. 4: Building Motivation for Change.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E0B2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/>
          <a:lstStyle/>
          <a:p>
            <a:pPr algn="ctr">
              <a:defRPr sz="3600" b="1">
                <a:solidFill>
                  <a:srgbClr val="FFFFFF"/>
                </a:solidFill>
                <a:latin typeface="Times New Roman"/>
              </a:defRPr>
            </a:pPr>
            <a:r>
              <a:t>Technique: Decisional Balance (Exploring Ambivalence)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0" cy="2103120"/>
          </a:xfrm>
          <a:prstGeom prst="roundRect">
            <a:avLst/>
          </a:prstGeom>
          <a:solidFill>
            <a:srgbClr val="FFE0B2"/>
          </a:solidFill>
          <a:ln w="2540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E65C00"/>
                </a:solidFill>
                <a:latin typeface="Times New Roman"/>
              </a:defRPr>
            </a:pPr>
            <a:r>
              <a:t>The Decisional Balance Grid: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GOOD THINGS about         LESS GOOD THINGS about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my substance use:          my substance use: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________________________   ________________________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Helps me relax           - Health problems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Social connection         - Family conflicts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Coping with stress        - Money problems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Feels good               - Work issues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________________________   ________________________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188720"/>
            <a:ext cx="5486400" cy="2103120"/>
          </a:xfrm>
          <a:prstGeom prst="roundRect">
            <a:avLst/>
          </a:prstGeom>
          <a:solidFill>
            <a:srgbClr val="C8E6C9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2E7D32"/>
                </a:solidFill>
                <a:latin typeface="Times New Roman"/>
              </a:defRPr>
            </a:pPr>
            <a:r>
              <a:t>The Other Side: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GOOD THINGS about         LESS GOOD THINGS about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making a change:           making a change: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________________________   ________________________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Better health            - Losing drinking friends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Family happy             - Boredom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Save money               - Coping without substance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Self-respect             - Social pressure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________________________   ________________________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566160"/>
            <a:ext cx="11247120" cy="2377440"/>
          </a:xfrm>
          <a:prstGeom prst="roundRect">
            <a:avLst/>
          </a:prstGeom>
          <a:solidFill>
            <a:srgbClr val="FFF8E1"/>
          </a:solidFill>
          <a:ln w="2540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1B3A5C"/>
                </a:solidFill>
                <a:latin typeface="Times New Roman"/>
              </a:defRPr>
            </a:pPr>
            <a:r>
              <a:t>Clinical Application: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HOW TO USE THE DECISIONAL BALANCE IN SESSION: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1. Draw a 2x2 grid on paper or use the worksheet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2. Start with the GOOD things about substance use (counterintuitive but important!)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- Shows you understand, builds trust, explores their motivation to continue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3. Then ask about LESS GOOD things about substance use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4. Explore good things and less good things about change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5. Summarize BOTH sides back to the client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6. Ask: "Where does that leave you?" or "What would you like to do with this?"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KEY INSIGHT: By exploring the POSITIVES of substance use first, you demonstrate acceptance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and avoid the trap of being the one arguing for change. Let the client discover their own reasons.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1000" i="1">
                <a:solidFill>
                  <a:srgbClr val="666666"/>
                </a:solidFill>
                <a:latin typeface="Times New Roman"/>
              </a:defRPr>
            </a:pPr>
            <a:r>
              <a:t>Reference: MET Manual (1992), pp. 28-30; Janis &amp; Mann (1977). Decision Making; NIMHANS (2016), Ch. 8.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1BEE7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/>
          <a:lstStyle/>
          <a:p>
            <a:pPr algn="ctr">
              <a:defRPr sz="3600" b="1">
                <a:solidFill>
                  <a:srgbClr val="FFFFFF"/>
                </a:solidFill>
                <a:latin typeface="Times New Roman"/>
              </a:defRPr>
            </a:pPr>
            <a:r>
              <a:t>Technique: Importance &amp; Confidence Rulers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0" cy="2560320"/>
          </a:xfrm>
          <a:prstGeom prst="roundRect">
            <a:avLst/>
          </a:prstGeom>
          <a:solidFill>
            <a:srgbClr val="E1BEE7"/>
          </a:solidFill>
          <a:ln w="2540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6A1B9A"/>
                </a:solidFill>
                <a:latin typeface="Times New Roman"/>
              </a:defRPr>
            </a:pPr>
            <a:r>
              <a:t>Assessing Importance: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IMPORTANCE RULER: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"On a scale of 0 to 10, where 0 is not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at all important and 10 is extremely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important, how important is it to you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to make this change?"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Follow-up questions: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"Why did you say ___ and not a 0?"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(Elicits reasons for change)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"What would it take to move from ___ to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a higher number?"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(Identifies what's needed)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188720"/>
            <a:ext cx="5486400" cy="2560320"/>
          </a:xfrm>
          <a:prstGeom prst="roundRect">
            <a:avLst/>
          </a:prstGeom>
          <a:solidFill>
            <a:srgbClr val="B2DFDB"/>
          </a:solidFill>
          <a:ln w="25400">
            <a:solidFill>
              <a:srgbClr val="007B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007B83"/>
                </a:solidFill>
                <a:latin typeface="Times New Roman"/>
              </a:defRPr>
            </a:pPr>
            <a:r>
              <a:t>Assessing Confidence: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CONFIDENCE RULER: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"On a scale of 0 to 10, where 0 is not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at all confident and 10 is extremely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confident, how confident are you that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you could make this change?"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Follow-up questions: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"Why did you say ___ and not a 0?"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(Elicits self-efficacy statements)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"What has worked for you in the past?"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(Builds on past successes)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"What would help increase your confidence?"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023360"/>
            <a:ext cx="11247120" cy="1920240"/>
          </a:xfrm>
          <a:prstGeom prst="roundRect">
            <a:avLst/>
          </a:prstGeom>
          <a:solidFill>
            <a:srgbClr val="FFF8E1"/>
          </a:solidFill>
          <a:ln w="2540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E65C00"/>
                </a:solidFill>
                <a:latin typeface="Times New Roman"/>
              </a:defRPr>
            </a:pPr>
            <a:r>
              <a:t>Clinical Wisdom: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WHY THIS WORKS: The key therapeutic move is asking "Why not a lower number?" instead of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"Why not a higher number?" This invites the client to argue FOR change (articulate their own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reasons and strengths) rather than defending why they haven't changed yet.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WHEN TO USE: Session 1 (after feedback), Session 2 (before Change Plan), Sessions 3-4 (tracking progress)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If importance is low: focus on developing discrepancy and exploring values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If confidence is low: focus on building self-efficacy, past successes, small steps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1000" i="1">
                <a:solidFill>
                  <a:srgbClr val="666666"/>
                </a:solidFill>
                <a:latin typeface="Times New Roman"/>
              </a:defRPr>
            </a:pPr>
            <a:r>
              <a:t>Reference: MET Manual (1992), pp. 35-37; Miller &amp; Rollnick (2002). MI 2nd ed., Ch. 4; Rollnick et al. (1999).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CDD2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/>
          <a:lstStyle/>
          <a:p>
            <a:pPr algn="ctr">
              <a:defRPr sz="3600" b="1">
                <a:solidFill>
                  <a:srgbClr val="FFFFFF"/>
                </a:solidFill>
                <a:latin typeface="Times New Roman"/>
              </a:defRPr>
            </a:pPr>
            <a:r>
              <a:t>Therapist Traps to AVOID (from the MET Manual)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0" cy="2286000"/>
          </a:xfrm>
          <a:prstGeom prst="roundRect">
            <a:avLst/>
          </a:prstGeom>
          <a:solidFill>
            <a:srgbClr val="FFCDD2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C62828"/>
                </a:solidFill>
                <a:latin typeface="Times New Roman"/>
              </a:defRPr>
            </a:pPr>
            <a:r>
              <a:t>Common Traps: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1. THE QUESTION-ANSWER TRAP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Too many questions = client feels interrogated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Solution: Use more reflections, fewer questions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2. THE CONFRONTATION-DENIAL TRAP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Arguing = client defends drinking more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Solution: Roll with resistance, use reflections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3. THE EXPERT TRAP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"You should..." "The research shows..."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Solution: Elicit client's own solutions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188720"/>
            <a:ext cx="5486400" cy="2286000"/>
          </a:xfrm>
          <a:prstGeom prst="roundRect">
            <a:avLst/>
          </a:prstGeom>
          <a:solidFill>
            <a:srgbClr val="FFE0B2"/>
          </a:solidFill>
          <a:ln w="2540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E65C00"/>
                </a:solidFill>
                <a:latin typeface="Times New Roman"/>
              </a:defRPr>
            </a:pPr>
            <a:r>
              <a:t>More Traps: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4. THE LABELING TRAP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Insisting client accept label "alcoholic"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Solution: Focus on behavior, not labels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5. THE PREMATURE FOCUS TRAP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Jumping to solutions before exploring problem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Solution: Follow client's pace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6. THE BLAMING TRAP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Client feels blamed for the problem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Solution: Emphasize that blame is irrelevant;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what matters is what they want to do now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749039"/>
            <a:ext cx="11247120" cy="2194560"/>
          </a:xfrm>
          <a:prstGeom prst="roundRect">
            <a:avLst/>
          </a:prstGeom>
          <a:solidFill>
            <a:srgbClr val="FFF8E1"/>
          </a:solidFill>
          <a:ln w="2540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E65C00"/>
                </a:solidFill>
                <a:latin typeface="Times New Roman"/>
              </a:defRPr>
            </a:pPr>
            <a:r>
              <a:t>Key Manual Quote: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"Direct argumentation and an aggressive confrontational approach tend to increase client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resistance and are associated with poorer outcomes... Labeling is unnecessary. The focus of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MET is on eliciting the client's own concern, not on coercing acceptance of a label."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(MET Manual, pp. 18-19)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REMEMBER: Every time you argue FOR change, the client argues AGAINST it.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This is called the 'righting reflex' - the therapist's natural desire to fix things actually backfires.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In MET, it should be the CLIENT who voices the arguments for change, not the therapist.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1000" i="1">
                <a:solidFill>
                  <a:srgbClr val="666666"/>
                </a:solidFill>
                <a:latin typeface="Times New Roman"/>
              </a:defRPr>
            </a:pPr>
            <a:r>
              <a:t>Reference: MET Manual (1992), pp. 18-20; Miller &amp; Rollnick (1991). MI, Ch. 7: Traps for the Unwary.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880038"/>
              </a:gs>
              <a:gs pos="100000">
                <a:srgbClr val="FFFFFF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Times New Roman"/>
              </a:defRPr>
            </a:pPr>
            <a:r>
              <a:t>SECTION 6</a:t>
            </a:r>
          </a:p>
          <a:p>
            <a:pPr algn="ctr">
              <a:defRPr sz="2000">
                <a:solidFill>
                  <a:srgbClr val="FFF8E1"/>
                </a:solidFill>
                <a:latin typeface="Times New Roman"/>
              </a:defRPr>
            </a:pPr>
            <a:r>
              <a:t>Case Conceptualization</a:t>
            </a:r>
            <a:br/>
            <a:r>
              <a:t>Applying MET to a Clinical Case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CDD2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880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/>
          <a:lstStyle/>
          <a:p>
            <a:pPr algn="ctr">
              <a:defRPr sz="3600" b="1">
                <a:solidFill>
                  <a:srgbClr val="FFFFFF"/>
                </a:solidFill>
                <a:latin typeface="Times New Roman"/>
              </a:defRPr>
            </a:pPr>
            <a:r>
              <a:t>Case Study: Applying MET to a Substance Use Case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0" cy="2743200"/>
          </a:xfrm>
          <a:prstGeom prst="roundRect">
            <a:avLst/>
          </a:prstGeom>
          <a:solidFill>
            <a:srgbClr val="FFCDD2"/>
          </a:solidFill>
          <a:ln w="25400">
            <a:solidFill>
              <a:srgbClr val="8800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880038"/>
                </a:solidFill>
                <a:latin typeface="Times New Roman"/>
              </a:defRPr>
            </a:pPr>
            <a:r>
              <a:t>Client Background: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PRESENTING INFORMATION: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Age: 25 years, Male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Multiple substance use (polysubstance)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History of marital dissolution (divorced)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Referred for psychological assessment and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intervention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ASSESSMENT FINDINGS: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Externalizing personality organization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Adequate psychological resources (EA = 12)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Poorly modulated affect (impulsive expression)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Damaged, negative self-concept (MOR = 5)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188720"/>
            <a:ext cx="5486400" cy="2743200"/>
          </a:xfrm>
          <a:prstGeom prst="roundRect">
            <a:avLst/>
          </a:prstGeom>
          <a:solidFill>
            <a:srgbClr val="FFE0B2"/>
          </a:solidFill>
          <a:ln w="2540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E65C00"/>
                </a:solidFill>
                <a:latin typeface="Times New Roman"/>
              </a:defRPr>
            </a:pPr>
            <a:r>
              <a:t>Key Findings: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PSYCHOLOGICAL PROFILE: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Emotion-driven decision making (affect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dominates over reflection)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Hasty, inefficient information processing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(jumps to conclusions without full data)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Raw emotional discharge (bypasses cognitive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control when stressed)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Socially engaged but difficulty with deep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intimate relationships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Pervasive pessimism and damage-oriented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self-view ("I am fundamentally flawed")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Elevated risk indicators requiring monitoring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206240"/>
            <a:ext cx="11247120" cy="1737360"/>
          </a:xfrm>
          <a:prstGeom prst="roundRect">
            <a:avLst/>
          </a:prstGeom>
          <a:solidFill>
            <a:srgbClr val="FFF8E1"/>
          </a:solidFill>
          <a:ln w="2540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1B3A5C"/>
                </a:solidFill>
                <a:latin typeface="Times New Roman"/>
              </a:defRPr>
            </a:pPr>
            <a:r>
              <a:t>Why MET is Appropriate: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MET RELEVANCE: This client has ADEQUATE resources but uses them poorly due to an emotion-first,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impulsive style. MET is ideal because: (1) He doesn't lack capacity - he lacks motivation and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reflective delay (2) Confrontation would trigger his externalizing defenses (3) His damaged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self-image needs affirmation, not more criticism (4) His autonomy needs to be respected.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1000" i="1">
                <a:solidFill>
                  <a:srgbClr val="666666"/>
                </a:solidFill>
                <a:latin typeface="Times New Roman"/>
              </a:defRPr>
            </a:pPr>
            <a:r>
              <a:t>Reference: Case data from Rorschach Inkblot Assessment (Exner Comprehensive System); MET Manual (1992).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BBDEFB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/>
          <a:lstStyle/>
          <a:p>
            <a:pPr algn="ctr">
              <a:defRPr sz="3600" b="1">
                <a:solidFill>
                  <a:srgbClr val="FFFFFF"/>
                </a:solidFill>
                <a:latin typeface="Times New Roman"/>
              </a:defRPr>
            </a:pPr>
            <a:r>
              <a:t>Case: SESSION 1 - Building Motivation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0" cy="2743200"/>
          </a:xfrm>
          <a:prstGeom prst="roundRect">
            <a:avLst/>
          </a:prstGeom>
          <a:solidFill>
            <a:srgbClr val="BBDEFB"/>
          </a:solidFill>
          <a:ln w="2540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1B3A5C"/>
                </a:solidFill>
                <a:latin typeface="Times New Roman"/>
              </a:defRPr>
            </a:pPr>
            <a:r>
              <a:t>Session 1 Strategy: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SPECIFIC APPROACH FOR THIS CLIENT: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1. Build rapport carefully - he is socially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engaged but emotionally guarded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2. Present feedback GENTLY - his damaged self-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image means he may become defensive or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overwhelmed if data feels like an attack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3. Focus on discrepancy between his VALUES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(being a good person, having relationships)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and his CURRENT situation (divorced,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substance-dependent)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4. Use LOTS of affirmation - he needs to hear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that he has strengths (his resources ARE there)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188720"/>
            <a:ext cx="5486400" cy="2743200"/>
          </a:xfrm>
          <a:prstGeom prst="roundRect">
            <a:avLst/>
          </a:prstGeom>
          <a:solidFill>
            <a:srgbClr val="C8E6C9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2E7D32"/>
                </a:solidFill>
                <a:latin typeface="Times New Roman"/>
              </a:defRPr>
            </a:pPr>
            <a:r>
              <a:t>Clinical Dialogue: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SAMPLE DIALOGUE: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T: "You mentioned that your marriage ended.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   What role, if any, did substance use play?"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C: "She said I was different when I used. Angry."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T: "Being the kind of partner you want to be is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   important to you, and the substances were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   getting in the way of that." (Reflection)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C: "Yeah... I didn't mean to be like that."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T: "There's a gap between who you WANT to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   be and what happens when you use."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   (Developing discrepancy)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C: "I guess so. I just... I don't know how to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   handle things without it."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T: "You're wondering if you can cope differently."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206240"/>
            <a:ext cx="11247120" cy="1737360"/>
          </a:xfrm>
          <a:prstGeom prst="roundRect">
            <a:avLst/>
          </a:prstGeom>
          <a:solidFill>
            <a:srgbClr val="FFCDD2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C62828"/>
                </a:solidFill>
                <a:latin typeface="Times New Roman"/>
              </a:defRPr>
            </a:pPr>
            <a:r>
              <a:t>Clinical Cautions: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CAUTIONS FOR THIS CLIENT: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Avoid confrontation (will trigger impulsive defensive reactions)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Monitor affect closely (his emotional expression can escalate quickly due to poor modulation)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Do NOT interpret his externalizing style as "denial" - it's his personality structure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Build self-efficacy continuously (counters damaged self-image)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Active risk assessment should be ongoing given elevated S-CON indicators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1000" i="1">
                <a:solidFill>
                  <a:srgbClr val="666666"/>
                </a:solidFill>
                <a:latin typeface="Times New Roman"/>
              </a:defRPr>
            </a:pPr>
            <a:r>
              <a:t>Reference: MET Manual (1992), Ch. III; Exner (2003). The Rorschach: A Comprehensive System, Vol. 1.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C8E6C9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/>
          <a:lstStyle/>
          <a:p>
            <a:pPr algn="ctr">
              <a:defRPr sz="3600" b="1">
                <a:solidFill>
                  <a:srgbClr val="FFFFFF"/>
                </a:solidFill>
                <a:latin typeface="Times New Roman"/>
              </a:defRPr>
            </a:pPr>
            <a:r>
              <a:t>Case: SESSION 2 - Developing the Change Plan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0" cy="2926080"/>
          </a:xfrm>
          <a:prstGeom prst="roundRect">
            <a:avLst/>
          </a:prstGeom>
          <a:solidFill>
            <a:srgbClr val="C8E6C9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2E7D32"/>
                </a:solidFill>
                <a:latin typeface="Times New Roman"/>
              </a:defRPr>
            </a:pPr>
            <a:r>
              <a:t>Sample Change Plan: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CHANGE PLAN FOR THIS CLIENT: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Changes I want to make: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Reduce/stop polysubstance use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Learn to handle emotions without substances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Rebuild my self-image and relationships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Most important reasons: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I don't want to lose more relationships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I want to feel good about myself again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My health is being affected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Steps I plan to take: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Identify my triggers (emotional situations)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Learn to pause before reacting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Find one healthy coping activity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188720"/>
            <a:ext cx="5486400" cy="2926080"/>
          </a:xfrm>
          <a:prstGeom prst="roundRect">
            <a:avLst/>
          </a:prstGeom>
          <a:solidFill>
            <a:srgbClr val="E1BEE7"/>
          </a:solidFill>
          <a:ln w="2540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6A1B9A"/>
                </a:solidFill>
                <a:latin typeface="Times New Roman"/>
              </a:defRPr>
            </a:pPr>
            <a:r>
              <a:t>Tailored Approach: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THERAPEUTIC FOCUS - SESSION 2: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Given his personality profile: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1. AFFECT REGULATION focus: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- Substances serve as his affect regulator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- Plan must include alternative strategies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- "What else helps when feelings get intense?"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2. REFLECTIVE DELAY: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- His hasty processing means he acts before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  thinking - build in "pause" strategies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- "What if you took 10 minutes before deciding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  to use? What might happen in those 10 min?"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3. SMALL, ACHIEVABLE STEPS: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- His damaged self-image means failures feel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  catastrophic - ensure early success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389120"/>
            <a:ext cx="11247120" cy="1554480"/>
          </a:xfrm>
          <a:prstGeom prst="roundRect">
            <a:avLst/>
          </a:prstGeom>
          <a:solidFill>
            <a:srgbClr val="FFF8E1"/>
          </a:solidFill>
          <a:ln w="2540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E65C00"/>
                </a:solidFill>
                <a:latin typeface="Times New Roman"/>
              </a:defRPr>
            </a:pPr>
            <a:r>
              <a:t>Integration: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KEY PRINCIPLE: For this client, the Change Plan must address the FUNCTION of substance use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(emotional regulation, escape from negative self-view, social lubrication) not just the behavior.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MET helps by exploring: "What does using DO for you? What need does it meet? How else might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you meet that need?" This approach respects the client's intelligence and autonomy.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1000" i="1">
                <a:solidFill>
                  <a:srgbClr val="666666"/>
                </a:solidFill>
                <a:latin typeface="Times New Roman"/>
              </a:defRPr>
            </a:pPr>
            <a:r>
              <a:t>Reference: MET Manual (1992), Ch. IV; NIMHANS (2016). Psychosocial Interventions for Substance Use Disorders.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E0B2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/>
          <a:lstStyle/>
          <a:p>
            <a:pPr algn="ctr">
              <a:defRPr sz="3600" b="1">
                <a:solidFill>
                  <a:srgbClr val="FFFFFF"/>
                </a:solidFill>
                <a:latin typeface="Times New Roman"/>
              </a:defRPr>
            </a:pPr>
            <a:r>
              <a:t>Case: SESSIONS 3 &amp; 4 - Progress Review &amp; Maintenance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0" cy="2560320"/>
          </a:xfrm>
          <a:prstGeom prst="roundRect">
            <a:avLst/>
          </a:prstGeom>
          <a:solidFill>
            <a:srgbClr val="FFE0B2"/>
          </a:solidFill>
          <a:ln w="2540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E65C00"/>
                </a:solidFill>
                <a:latin typeface="Times New Roman"/>
              </a:defRPr>
            </a:pPr>
            <a:r>
              <a:t>Session 3 Approach: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SESSION 3 - POTENTIAL SCENARIOS: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Scenario A: Client has made progress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Affirm heavily (counters damaged self-image)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"You proved to yourself you can do this"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Link success to his own strengths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Scenario B: Client has slipped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Normalize without minimizing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Explore triggers (likely emotional situations)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"Your emotions overwhelmed you - that's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information about what to work on"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Revise plan: add more emotion regulation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188720"/>
            <a:ext cx="5486400" cy="2560320"/>
          </a:xfrm>
          <a:prstGeom prst="roundRect">
            <a:avLst/>
          </a:prstGeom>
          <a:solidFill>
            <a:srgbClr val="E1BEE7"/>
          </a:solidFill>
          <a:ln w="2540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6A1B9A"/>
                </a:solidFill>
                <a:latin typeface="Times New Roman"/>
              </a:defRPr>
            </a:pPr>
            <a:r>
              <a:t>Session 4 Approach: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SESSION 4 - MAINTENANCE PLANNING: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For this client, high-risk situations include: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Intense emotional experiences (anger, shame)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Social situations with substance-using peers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Relationship conflicts or rejection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Moments of deep self-criticism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Maintenance plan should include: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Ongoing therapy for affect regulation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Support network identification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Crisis plan for intense emotional episodes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Regular self-assessment check-ins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Referral for continued psychotherapy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023360"/>
            <a:ext cx="11247120" cy="1920240"/>
          </a:xfrm>
          <a:prstGeom prst="roundRect">
            <a:avLst/>
          </a:prstGeom>
          <a:solidFill>
            <a:srgbClr val="FFF8E1"/>
          </a:solidFill>
          <a:ln w="2540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1B3A5C"/>
                </a:solidFill>
                <a:latin typeface="Times New Roman"/>
              </a:defRPr>
            </a:pPr>
            <a:r>
              <a:t>Beyond MET: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LONG-TERM THERAPEUTIC NEEDS (beyond MET's 4 sessions):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Affect regulation training (his primary vulnerability is unmodulated emotional discharge)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Self-image repair work (therapeutic work on the deeply damaged, pessimistic self-view)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Interpersonal skills development (capacity for genuine intimacy is limited)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Slower information processing practice (reducing impulsive, hasty decision-making)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MET provides the MOTIVATIONAL FOUNDATION. Further therapy builds on the motivation MET creates.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1000" i="1">
                <a:solidFill>
                  <a:srgbClr val="666666"/>
                </a:solidFill>
                <a:latin typeface="Times New Roman"/>
              </a:defRPr>
            </a:pPr>
            <a:r>
              <a:t>Reference: MET Manual (1992), Ch. V; NIMHANS (2016); Marlatt &amp; Donovan (2005). Relapse Prevention, 2nd ed.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B3A5C"/>
              </a:gs>
              <a:gs pos="100000">
                <a:srgbClr val="FFFFFF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Times New Roman"/>
              </a:defRPr>
            </a:pPr>
            <a:r>
              <a:t>SECTION 7</a:t>
            </a:r>
          </a:p>
          <a:p>
            <a:pPr algn="ctr">
              <a:defRPr sz="2000">
                <a:solidFill>
                  <a:srgbClr val="FFF8E1"/>
                </a:solidFill>
                <a:latin typeface="Times New Roman"/>
              </a:defRPr>
            </a:pPr>
            <a:r>
              <a:t>Clinical Worksheets &amp; Tools</a:t>
            </a:r>
            <a:br/>
            <a:r>
              <a:t>Printable Resources for MET Sessions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BBDEFB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/>
          <a:lstStyle/>
          <a:p>
            <a:pPr algn="ctr">
              <a:defRPr sz="3600" b="1">
                <a:solidFill>
                  <a:srgbClr val="FFFFFF"/>
                </a:solidFill>
                <a:latin typeface="Times New Roman"/>
              </a:defRPr>
            </a:pPr>
            <a:r>
              <a:t>WORKSHEET 1: Change Plan (from MET Manual)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11247120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1. THE CHANGES I WANT TO MAKE ARE: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___________________________________________________________________________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___________________________________________________________________________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2. THE MOST IMPORTANT REASONS WHY I WANT TO MAKE THESE CHANGES ARE: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___________________________________________________________________________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___________________________________________________________________________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3. THE STEPS I PLAN TO TAKE IN CHANGING ARE: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___________________________________________________________________________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___________________________________________________________________________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4. THE WAYS OTHER PEOPLE CAN HELP ME ARE: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Person: _________________ How: _____________________________________________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Person: _________________ How: _____________________________________________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5. I WILL KNOW THAT MY PLAN IS WORKING IF: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___________________________________________________________________________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6. SOME THINGS THAT COULD INTERFERE WITH MY PLAN ARE: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___________________________________________________________________________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___________________________________________________________________________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1000" i="1">
                <a:solidFill>
                  <a:srgbClr val="666666"/>
                </a:solidFill>
                <a:latin typeface="Times New Roman"/>
              </a:defRPr>
            </a:pPr>
            <a:r>
              <a:t>Reference: MET Manual (1992), Appendix B: Change Plan Worksheet. Adapted for clinical use.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C8E6C9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/>
          <a:lstStyle/>
          <a:p>
            <a:pPr algn="ctr">
              <a:defRPr sz="3600" b="1">
                <a:solidFill>
                  <a:srgbClr val="FFFFFF"/>
                </a:solidFill>
                <a:latin typeface="Times New Roman"/>
              </a:defRPr>
            </a:pPr>
            <a:r>
              <a:t>WORKSHEET 2: Decisional Balance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0" cy="2286000"/>
          </a:xfrm>
          <a:prstGeom prst="roundRect">
            <a:avLst/>
          </a:prstGeom>
          <a:solidFill>
            <a:srgbClr val="FFE0B2"/>
          </a:solidFill>
          <a:ln w="2540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E65C00"/>
                </a:solidFill>
                <a:latin typeface="Times New Roman"/>
              </a:defRPr>
            </a:pPr>
            <a:r>
              <a:t>Side A: Status Quo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BENEFITS OF MY CURRENT BEHAVIOR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(What I LIKE about using substances):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1. ______________________________________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2. ______________________________________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3. ______________________________________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4. ______________________________________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5. ______________________________________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188720"/>
            <a:ext cx="5486400" cy="2286000"/>
          </a:xfrm>
          <a:prstGeom prst="roundRect">
            <a:avLst/>
          </a:prstGeom>
          <a:solidFill>
            <a:srgbClr val="FFCDD2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C62828"/>
                </a:solidFill>
                <a:latin typeface="Times New Roman"/>
              </a:defRPr>
            </a:pPr>
            <a:r>
              <a:t>Side B: Costs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COSTS OF MY CURRENT BEHAVIOR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(What CONCERNS me about using):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1. ______________________________________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2. ______________________________________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3. ______________________________________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4. ______________________________________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5. ______________________________________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749039"/>
            <a:ext cx="5486400" cy="2194560"/>
          </a:xfrm>
          <a:prstGeom prst="roundRect">
            <a:avLst/>
          </a:prstGeom>
          <a:solidFill>
            <a:srgbClr val="C8E6C9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2E7D32"/>
                </a:solidFill>
                <a:latin typeface="Times New Roman"/>
              </a:defRPr>
            </a:pPr>
            <a:r>
              <a:t>Side C: Benefits of Change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BENEFITS OF MAKING A CHANGE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(What would be GOOD about changing):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1. ______________________________________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2. ______________________________________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3. ______________________________________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4. ______________________________________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5. ______________________________________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749039"/>
            <a:ext cx="5486400" cy="2194560"/>
          </a:xfrm>
          <a:prstGeom prst="roundRect">
            <a:avLst/>
          </a:prstGeom>
          <a:solidFill>
            <a:srgbClr val="E1BEE7"/>
          </a:solidFill>
          <a:ln w="2540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6A1B9A"/>
                </a:solidFill>
                <a:latin typeface="Times New Roman"/>
              </a:defRPr>
            </a:pPr>
            <a:r>
              <a:t>Side D: Costs of Change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COSTS OF MAKING A CHANGE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(What would be HARD about changing):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1. ______________________________________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2. ______________________________________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3. ______________________________________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4. ______________________________________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5. ______________________________________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1000" i="1">
                <a:solidFill>
                  <a:srgbClr val="666666"/>
                </a:solidFill>
                <a:latin typeface="Times New Roman"/>
              </a:defRPr>
            </a:pPr>
            <a:r>
              <a:t>Reference: Janis &amp; Mann (1977). Decision Making; MET Manual (1992), p. 29; Miller &amp; Rollnick (2002), Ch. 7.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1BEE7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/>
          <a:lstStyle/>
          <a:p>
            <a:pPr algn="ctr">
              <a:defRPr sz="3600" b="1">
                <a:solidFill>
                  <a:srgbClr val="FFFFFF"/>
                </a:solidFill>
                <a:latin typeface="Times New Roman"/>
              </a:defRPr>
            </a:pPr>
            <a:r>
              <a:t>WORKSHEET 3: Readiness, Importance &amp; Confidence Rulers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11247120" cy="1645920"/>
          </a:xfrm>
          <a:prstGeom prst="roundRect">
            <a:avLst/>
          </a:prstGeom>
          <a:solidFill>
            <a:srgbClr val="BBDEFB"/>
          </a:solidFill>
          <a:ln w="2540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IMPORTANCE: How important is it to you to make this change?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Not at all important  0 --- 1 --- 2 --- 3 --- 4 --- 5 --- 6 --- 7 --- 8 --- 9 --- 10  Extremely important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Why did you choose this number and not a lower one? ___________________________________________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017520"/>
            <a:ext cx="11247120" cy="1645920"/>
          </a:xfrm>
          <a:prstGeom prst="roundRect">
            <a:avLst/>
          </a:prstGeom>
          <a:solidFill>
            <a:srgbClr val="C8E6C9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CONFIDENCE: How confident are you that you COULD make this change?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Not at all confident  0 --- 1 --- 2 --- 3 --- 4 --- 5 --- 6 --- 7 --- 8 --- 9 --- 10  Extremely confident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Why did you choose this number and not a lower one? ___________________________________________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846320"/>
            <a:ext cx="11247120" cy="1188720"/>
          </a:xfrm>
          <a:prstGeom prst="roundRect">
            <a:avLst/>
          </a:prstGeom>
          <a:solidFill>
            <a:srgbClr val="FFE0B2"/>
          </a:solidFill>
          <a:ln w="2540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READINESS: How ready are you to make this change RIGHT NOW?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Not at all ready  0 --- 1 --- 2 --- 3 --- 4 --- 5 --- 6 --- 7 --- 8 --- 9 --- 10  Completely ready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1000" i="1">
                <a:solidFill>
                  <a:srgbClr val="666666"/>
                </a:solidFill>
                <a:latin typeface="Times New Roman"/>
              </a:defRPr>
            </a:pPr>
            <a:r>
              <a:t>Reference: MET Manual (1992), pp. 35-37; Rollnick, Mason &amp; Butler (1999). Health Behavior Change.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B2DFDB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/>
          <a:lstStyle/>
          <a:p>
            <a:pPr algn="ctr">
              <a:defRPr sz="3600" b="1">
                <a:solidFill>
                  <a:srgbClr val="FFFFFF"/>
                </a:solidFill>
                <a:latin typeface="Times New Roman"/>
              </a:defRPr>
            </a:pPr>
            <a:r>
              <a:t>WORKSHEET 4: Daily Self-Monitoring Diary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BBDEFB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/>
          <a:lstStyle/>
          <a:p>
            <a:pPr algn="ctr">
              <a:defRPr sz="3600" b="1">
                <a:solidFill>
                  <a:srgbClr val="FFFFFF"/>
                </a:solidFill>
                <a:latin typeface="Times New Roman"/>
              </a:defRPr>
            </a:pPr>
            <a:r>
              <a:t>WORKSHEET 4: Daily Self-Monitoring Diary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5943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Day</a:t>
                      </a:r>
                    </a:p>
                  </a:txBody>
                  <a:tcPr>
                    <a:solidFill>
                      <a:srgbClr val="007B8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Situation/Trigger</a:t>
                      </a:r>
                    </a:p>
                  </a:txBody>
                  <a:tcPr>
                    <a:solidFill>
                      <a:srgbClr val="007B8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Feelings (0-10)</a:t>
                      </a:r>
                    </a:p>
                  </a:txBody>
                  <a:tcPr>
                    <a:solidFill>
                      <a:srgbClr val="007B8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Urge to Use (0-10)</a:t>
                      </a:r>
                    </a:p>
                  </a:txBody>
                  <a:tcPr>
                    <a:solidFill>
                      <a:srgbClr val="007B8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What I Did Instead</a:t>
                      </a:r>
                    </a:p>
                  </a:txBody>
                  <a:tcPr>
                    <a:solidFill>
                      <a:srgbClr val="007B8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Outcome</a:t>
                      </a:r>
                    </a:p>
                  </a:txBody>
                  <a:tcPr>
                    <a:solidFill>
                      <a:srgbClr val="007B8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Monday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________________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________________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________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Tuesday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________________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________________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________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Wednesday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________________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________________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________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Thursday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________________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________________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________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Friday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________________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________________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________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Saturday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________________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________________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________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Sunday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________________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________________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________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1000" i="1">
                <a:solidFill>
                  <a:srgbClr val="666666"/>
                </a:solidFill>
                <a:latin typeface="Times New Roman"/>
              </a:defRPr>
            </a:pPr>
            <a:r>
              <a:t>Reference: Adapted from MET Manual (1992); Marlatt &amp; Gordon (1985). Self-monitoring in Relapse Prevention.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E0B2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/>
          <a:lstStyle/>
          <a:p>
            <a:pPr algn="ctr">
              <a:defRPr sz="3600" b="1">
                <a:solidFill>
                  <a:srgbClr val="FFFFFF"/>
                </a:solidFill>
                <a:latin typeface="Times New Roman"/>
              </a:defRPr>
            </a:pPr>
            <a:r>
              <a:t>WORKSHEET 5: My Relapse Prevention Plan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0" cy="2286000"/>
          </a:xfrm>
          <a:prstGeom prst="roundRect">
            <a:avLst/>
          </a:prstGeom>
          <a:solidFill>
            <a:srgbClr val="FFCDD2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C62828"/>
                </a:solidFill>
                <a:latin typeface="Times New Roman"/>
              </a:defRPr>
            </a:pPr>
            <a:r>
              <a:t>Identifying Risks: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MY HIGH-RISK SITUATIONS: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1. ______________________________________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2. ______________________________________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3. ______________________________________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MY EARLY WARNING SIGNS: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1. ______________________________________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2. ______________________________________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3. ______________________________________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188720"/>
            <a:ext cx="5486400" cy="2286000"/>
          </a:xfrm>
          <a:prstGeom prst="roundRect">
            <a:avLst/>
          </a:prstGeom>
          <a:solidFill>
            <a:srgbClr val="C8E6C9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2E7D32"/>
                </a:solidFill>
                <a:latin typeface="Times New Roman"/>
              </a:defRPr>
            </a:pPr>
            <a:r>
              <a:t>My Resources: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MY COPING STRATEGIES: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1. ______________________________________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2. ______________________________________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3. ______________________________________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PEOPLE I CAN CALL FOR SUPPORT: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Name: ______________ Phone: ______________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Name: ______________ Phone: ______________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Name: ______________ Phone: ______________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749039"/>
            <a:ext cx="11247120" cy="2194560"/>
          </a:xfrm>
          <a:prstGeom prst="roundRect">
            <a:avLst/>
          </a:prstGeom>
          <a:solidFill>
            <a:srgbClr val="FFF8E1"/>
          </a:solidFill>
          <a:ln w="2540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E65C00"/>
                </a:solidFill>
                <a:latin typeface="Times New Roman"/>
              </a:defRPr>
            </a:pPr>
            <a:r>
              <a:t>My Emergency Plan: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IF I HAVE A SLIP, I WILL: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1. Remember that a slip is NOT a failure - it is information about a trigger I need to address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2. Call: _________________________________ (my support person)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3. Do this instead: ___________________________________________________________________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4. Review what happened: What was the trigger? What was I feeling? What can I learn?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MY REASONS TO STAY ON TRACK (from my Decisional Balance):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___________________________________________________________________________________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___________________________________________________________________________________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1000" i="1">
                <a:solidFill>
                  <a:srgbClr val="666666"/>
                </a:solidFill>
                <a:latin typeface="Times New Roman"/>
              </a:defRPr>
            </a:pPr>
            <a:r>
              <a:t>Reference: MET Manual (1992), Session 4; Marlatt &amp; Donovan (2005). Relapse Prevention, 2nd ed.; NIMHANS (2016).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C8E6C9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/>
          <a:lstStyle/>
          <a:p>
            <a:pPr algn="ctr">
              <a:defRPr sz="3600" b="1">
                <a:solidFill>
                  <a:srgbClr val="FFFFFF"/>
                </a:solidFill>
                <a:latin typeface="Times New Roman"/>
              </a:defRPr>
            </a:pPr>
            <a:r>
              <a:t>WORKSHEET 6: Personal Values Exploration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11247120" cy="2286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2E7D32"/>
                </a:solidFill>
                <a:latin typeface="Times New Roman"/>
              </a:defRPr>
            </a:pPr>
            <a:r>
              <a:t>Values-Behavior Alignment: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INSTRUCTIONS: Rate each value on how IMPORTANT it is to you (1=Not important, 5=Extremely important)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Then rate how much your CURRENT BEHAVIOR aligns with this value (1=Not at all, 5=Completely aligned)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VALUE                    IMPORTANCE (1-5)    ALIGNMENT (1-5)    GAP?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Being a good parent      ___________         ___________        ___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Physical health          ___________         ___________        ___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Financial security       ___________         ___________        ___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Being honest             ___________         ___________        ___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Having close relationships ___________       ___________        ___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Self-respect             ___________         ___________        ___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Career success           ___________         ___________        ___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Being independent        ___________         ___________        ___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749039"/>
            <a:ext cx="11247120" cy="2194560"/>
          </a:xfrm>
          <a:prstGeom prst="roundRect">
            <a:avLst/>
          </a:prstGeom>
          <a:solidFill>
            <a:srgbClr val="FFF8E1"/>
          </a:solidFill>
          <a:ln w="2540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E65C00"/>
                </a:solidFill>
                <a:latin typeface="Times New Roman"/>
              </a:defRPr>
            </a:pPr>
            <a:r>
              <a:t>Processing: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REFLECTION QUESTIONS (for use in session):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1. Which values have the BIGGEST gaps between importance and alignment?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___________________________________________________________________________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2. How does your substance use affect these values?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___________________________________________________________________________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3. What would change look like for the values that matter most to you?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___________________________________________________________________________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THERAPIST NOTE: This exercise creates cognitive dissonance by making the gap between values and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behavior explicit. Use this to develop discrepancy in Session 1 feedback or Session 2 planning.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1000" i="1">
                <a:solidFill>
                  <a:srgbClr val="666666"/>
                </a:solidFill>
                <a:latin typeface="Times New Roman"/>
              </a:defRPr>
            </a:pPr>
            <a:r>
              <a:t>Reference: Miller et al. (2001). Personal Values Card Sort; MET Manual (1992); Miller &amp; Rollnick (2002), Ch. 5.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D47A1"/>
              </a:gs>
              <a:gs pos="100000">
                <a:srgbClr val="FFFFFF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Times New Roman"/>
              </a:defRPr>
            </a:pPr>
            <a:r>
              <a:t>SECTION 8</a:t>
            </a:r>
          </a:p>
          <a:p>
            <a:pPr algn="ctr">
              <a:defRPr sz="2000">
                <a:solidFill>
                  <a:srgbClr val="FFF8E1"/>
                </a:solidFill>
                <a:latin typeface="Times New Roman"/>
              </a:defRPr>
            </a:pPr>
            <a:r>
              <a:t>Research Evidence &amp; Effectiveness</a:t>
            </a:r>
            <a:br/>
            <a:r>
              <a:t>How Well Does MET Work?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BBDEFB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/>
          <a:lstStyle/>
          <a:p>
            <a:pPr algn="ctr">
              <a:defRPr sz="3600" b="1">
                <a:solidFill>
                  <a:srgbClr val="FFFFFF"/>
                </a:solidFill>
                <a:latin typeface="Times New Roman"/>
              </a:defRPr>
            </a:pPr>
            <a:r>
              <a:t>Project MATCH: The Landmark Trial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0" cy="2560320"/>
          </a:xfrm>
          <a:prstGeom prst="roundRect">
            <a:avLst/>
          </a:prstGeom>
          <a:solidFill>
            <a:srgbClr val="BBDEFB"/>
          </a:solidFill>
          <a:ln w="25400"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0D47A1"/>
                </a:solidFill>
                <a:latin typeface="Times New Roman"/>
              </a:defRPr>
            </a:pPr>
            <a:r>
              <a:t>The Study: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STUDY DESIGN: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Largest alcohol treatment trial ever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- 1,726 participants across 9 US sites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Randomized to 3 conditions: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1. MET (4 sessions over 12 weeks)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2. CBT (12 sessions)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3. TSF/12-Step (12 sessions)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Follow-up: 1 year and 3 years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Funded by NIAAA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Published 1997-1998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188720"/>
            <a:ext cx="5486400" cy="2560320"/>
          </a:xfrm>
          <a:prstGeom prst="roundRect">
            <a:avLst/>
          </a:prstGeom>
          <a:solidFill>
            <a:srgbClr val="C8E6C9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2E7D32"/>
                </a:solidFill>
                <a:latin typeface="Times New Roman"/>
              </a:defRPr>
            </a:pPr>
            <a:r>
              <a:t>Results: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KEY FINDINGS: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All three treatments produced significant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and sustained improvements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MET achieved COMPARABLE outcomes to CBT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and TSF in just 4 sessions (vs 12)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Percent Days Abstinent improved in ALL groups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Drinks Per Drinking Day decreased in ALL groups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At 3-year follow-up, gains were maintained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IMPLICATION: MET is as effective as longer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treatments, making it highly COST-EFFECTIVE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023360"/>
            <a:ext cx="11247120" cy="1920240"/>
          </a:xfrm>
          <a:prstGeom prst="roundRect">
            <a:avLst/>
          </a:prstGeom>
          <a:solidFill>
            <a:srgbClr val="FFF8E1"/>
          </a:solidFill>
          <a:ln w="2540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E65C00"/>
                </a:solidFill>
                <a:latin typeface="Times New Roman"/>
              </a:defRPr>
            </a:pPr>
            <a:r>
              <a:t>Clinical Significance: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MATCHING HYPOTHESES: The study found limited support for patient-treatment matching. However,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clients HIGH in anger did significantly better in MET than in other treatments (a non-confrontational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approach works better for angry clients). Clients low in readiness to change also responded well to MET.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"The finding that a 4-session motivational intervention could produce outcomes comparable to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12-session cognitive-behavioral or twelve-step approaches had profound implications for the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cost-effectiveness of substance abuse treatment." (Project MATCH Research Group, 1997)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1000" i="1">
                <a:solidFill>
                  <a:srgbClr val="666666"/>
                </a:solidFill>
                <a:latin typeface="Times New Roman"/>
              </a:defRPr>
            </a:pPr>
            <a:r>
              <a:t>Reference: Project MATCH Research Group (1997). J Studies on Alcohol, 58, 7-29; (1998). Addiction, 93, 1434-1447.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C8E6C9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/>
          <a:lstStyle/>
          <a:p>
            <a:pPr algn="ctr">
              <a:defRPr sz="3600" b="1">
                <a:solidFill>
                  <a:srgbClr val="FFFFFF"/>
                </a:solidFill>
                <a:latin typeface="Times New Roman"/>
              </a:defRPr>
            </a:pPr>
            <a:r>
              <a:t>Meta-Analyses: MI/MET Effectiveness Across Studies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BBDEFB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/>
          <a:lstStyle/>
          <a:p>
            <a:pPr algn="ctr">
              <a:defRPr sz="3600" b="1">
                <a:solidFill>
                  <a:srgbClr val="FFFFFF"/>
                </a:solidFill>
                <a:latin typeface="Times New Roman"/>
              </a:defRPr>
            </a:pPr>
            <a:r>
              <a:t>Meta-Analyses: MI/MET Effectiveness Across Studies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792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Study</a:t>
                      </a:r>
                    </a:p>
                  </a:txBody>
                  <a:tcPr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N Studies</a:t>
                      </a:r>
                    </a:p>
                  </a:txBody>
                  <a:tcPr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Key Finding</a:t>
                      </a:r>
                    </a:p>
                  </a:txBody>
                  <a:tcPr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Effect Size</a:t>
                      </a:r>
                    </a:p>
                  </a:txBody>
                  <a:tcPr>
                    <a:solidFill>
                      <a:srgbClr val="2E7D32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Burke et al. (2003)</a:t>
                      </a:r>
                    </a:p>
                    <a:p>
                      <a:r>
                        <a:t>J Consult Clin Psychol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30 RCTs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MI/MET effective for alcohol, drugs,</a:t>
                      </a:r>
                    </a:p>
                    <a:p>
                      <a:r>
                        <a:t>diet, and treatment adherence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 = 0.25-0.57</a:t>
                      </a:r>
                    </a:p>
                    <a:p>
                      <a:r>
                        <a:t>(small-medium)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Hettema et al. (2005)</a:t>
                      </a:r>
                    </a:p>
                    <a:p>
                      <a:r>
                        <a:t>Annual Rev Clin Psychol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72 studies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MI effective across substances;</a:t>
                      </a:r>
                    </a:p>
                    <a:p>
                      <a:r>
                        <a:t>better than no treatment and advice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 = 0.77 at follow-up</a:t>
                      </a:r>
                    </a:p>
                    <a:p>
                      <a:r>
                        <a:t>vs no treatment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Lundahl et al. (2010)</a:t>
                      </a:r>
                    </a:p>
                    <a:p>
                      <a:r>
                        <a:t>Client Education &amp; Counsel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119 studies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MI produces moderate effect;</a:t>
                      </a:r>
                    </a:p>
                    <a:p>
                      <a:r>
                        <a:t>stronger for substance use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 = 0.22 (combined)</a:t>
                      </a:r>
                    </a:p>
                    <a:p>
                      <a:r>
                        <a:t>d = 0.79 (substance)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Vasilaki et al. (2006)</a:t>
                      </a:r>
                    </a:p>
                    <a:p>
                      <a:r>
                        <a:t>Addiction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15 RCTs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Brief MI effective for reducing</a:t>
                      </a:r>
                    </a:p>
                    <a:p>
                      <a:r>
                        <a:t>alcohol consumption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Significant reduction</a:t>
                      </a:r>
                    </a:p>
                    <a:p>
                      <a:r>
                        <a:t>in drinking quantity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Smedslund et al. (2011)</a:t>
                      </a:r>
                    </a:p>
                    <a:p>
                      <a:r>
                        <a:t>Cochrane Review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59 RCTs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MI reduces substance use more</a:t>
                      </a:r>
                    </a:p>
                    <a:p>
                      <a:r>
                        <a:t>than no treatment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SMD = -0.79</a:t>
                      </a:r>
                    </a:p>
                    <a:p>
                      <a:r>
                        <a:t>(post-intervention)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1000" i="1">
                <a:solidFill>
                  <a:srgbClr val="666666"/>
                </a:solidFill>
                <a:latin typeface="Times New Roman"/>
              </a:defRPr>
            </a:pPr>
            <a:r>
              <a:t>References: As cited in table. All are peer-reviewed meta-analyses of MI/MET interventions.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E0B2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/>
          <a:lstStyle/>
          <a:p>
            <a:pPr algn="ctr">
              <a:defRPr sz="3600" b="1">
                <a:solidFill>
                  <a:srgbClr val="FFFFFF"/>
                </a:solidFill>
                <a:latin typeface="Times New Roman"/>
              </a:defRPr>
            </a:pPr>
            <a:r>
              <a:t>Research Evidence: Indian Context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0" cy="2560320"/>
          </a:xfrm>
          <a:prstGeom prst="roundRect">
            <a:avLst/>
          </a:prstGeom>
          <a:solidFill>
            <a:srgbClr val="FFE0B2"/>
          </a:solidFill>
          <a:ln w="2540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E65C00"/>
                </a:solidFill>
                <a:latin typeface="Times New Roman"/>
              </a:defRPr>
            </a:pPr>
            <a:r>
              <a:t>Indian Evidence: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NIMHANS STUDIES: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Brief interventions using MI principles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found effective in Indian primary care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settings (Murthy et al., 2009)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NIMHANS addiction treatment protocols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integrate MET principles as first-line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psychosocial intervention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Community-based MI interventions reduced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alcohol use in rural Karnataka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(Nadkarni et al., 2017 - Lancet)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188720"/>
            <a:ext cx="5486400" cy="2560320"/>
          </a:xfrm>
          <a:prstGeom prst="roundRect">
            <a:avLst/>
          </a:prstGeom>
          <a:solidFill>
            <a:srgbClr val="C8E6C9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2E7D32"/>
                </a:solidFill>
                <a:latin typeface="Times New Roman"/>
              </a:defRPr>
            </a:pPr>
            <a:r>
              <a:t>Specific Studies: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KEY INDIAN STUDIES: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1. Nadkarni et al. (2017) - PREMIUM Trial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 - Lay counselors delivered MI in Goa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 - Significant reduction in harmful drinking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 - Published in The Lancet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2. Pal et al. (2007) - AIIMS, Delhi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 - Brief MI for alcohol dependence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 - Positive outcomes in Indian setting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3. Chand et al. (2018) - NIMHANS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 - Technology-assisted brief intervention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 - Showed feasibility in Indian clinics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023360"/>
            <a:ext cx="11247120" cy="1920240"/>
          </a:xfrm>
          <a:prstGeom prst="roundRect">
            <a:avLst/>
          </a:prstGeom>
          <a:solidFill>
            <a:srgbClr val="FFF8E1"/>
          </a:solidFill>
          <a:ln w="2540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1B3A5C"/>
                </a:solidFill>
                <a:latin typeface="Times New Roman"/>
              </a:defRPr>
            </a:pPr>
            <a:r>
              <a:t>Indian Adaptations: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CULTURAL CONSIDERATIONS FOR INDIA: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Family involvement is crucial in Indian context (can be integrated into MET)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Stigma around substance use is high - MI's non-judgmental approach is especially valuable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Task-shifting to lay counselors is feasible (PREMIUM trial demonstrated this)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Adaptations needed for collectivist culture: family values, community roles, spiritual beliefs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NIMHANS recommends MI/MET as evidence-based first-line psychosocial intervention (2016 manual)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1000" i="1">
                <a:solidFill>
                  <a:srgbClr val="666666"/>
                </a:solidFill>
                <a:latin typeface="Times New Roman"/>
              </a:defRPr>
            </a:pPr>
            <a:r>
              <a:t>Reference: NIMHANS (2016); Nadkarni et al. (2017). Lancet, 389, 186-195; Chand et al. (2018). Indian J Psychiatry.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1BEE7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/>
          <a:lstStyle/>
          <a:p>
            <a:pPr algn="ctr">
              <a:defRPr sz="3600" b="1">
                <a:solidFill>
                  <a:srgbClr val="FFFFFF"/>
                </a:solidFill>
                <a:latin typeface="Times New Roman"/>
              </a:defRPr>
            </a:pPr>
            <a:r>
              <a:t>International Research: UKATT and Global Evidence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0" cy="2560320"/>
          </a:xfrm>
          <a:prstGeom prst="roundRect">
            <a:avLst/>
          </a:prstGeom>
          <a:solidFill>
            <a:srgbClr val="E1BEE7"/>
          </a:solidFill>
          <a:ln w="2540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6A1B9A"/>
                </a:solidFill>
                <a:latin typeface="Times New Roman"/>
              </a:defRPr>
            </a:pPr>
            <a:r>
              <a:t>UKATT Trial: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UKATT TRIAL (UK Alcohol Treatment Trial):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Largest alcohol trial in UK (742 clients)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Compared MET (3 sessions) vs SBNT (8 sessions)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Results: BOTH equally effective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MET was significantly MORE cost-effective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Savings: 5x less therapist time for same results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CONCLUSION: MET achieves equivalent outcomes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at a fraction of the cost of longer treatments.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(UKATT Research Team, 2005, BMJ)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188720"/>
            <a:ext cx="5486400" cy="2560320"/>
          </a:xfrm>
          <a:prstGeom prst="roundRect">
            <a:avLst/>
          </a:prstGeom>
          <a:solidFill>
            <a:srgbClr val="B2DFDB"/>
          </a:solidFill>
          <a:ln w="25400">
            <a:solidFill>
              <a:srgbClr val="007B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007B83"/>
                </a:solidFill>
                <a:latin typeface="Times New Roman"/>
              </a:defRPr>
            </a:pPr>
            <a:r>
              <a:t>Other Key Trials: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GLOBAL RESEARCH SUMMARY: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WHO Brief Intervention Study (2002):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MI effective across 10 countries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COMBINE Study (2006, JAMA):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MI + naltrexone superior combination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Cannabis Youth Treatment Study (2004):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MET effective for adolescent cannabis use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- TOPPS Study (Stephens et al., 2004):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2 sessions of MI = 6 sessions of CBT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MI/MET works across cultures, substances,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age groups, and clinical settings.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023360"/>
            <a:ext cx="11247120" cy="1920240"/>
          </a:xfrm>
          <a:prstGeom prst="roundRect">
            <a:avLst/>
          </a:prstGeom>
          <a:solidFill>
            <a:srgbClr val="C8E6C9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2E7D32"/>
                </a:solidFill>
                <a:latin typeface="Times New Roman"/>
              </a:defRPr>
            </a:pPr>
            <a:r>
              <a:t>Bottom Line: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SUMMARY OF RESEARCH EVIDENCE: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MET is EMPIRICALLY SUPPORTED for alcohol use disorders (Level 1 evidence)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Effective for cannabis, cocaine, opioids, and polysubstance use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Works with adolescents, adults, and older adults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Effective when delivered by trained lay counselors (not just specialists)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Cost-effective: achieves same results as longer treatments in fewer sessions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Compatible with pharmacotherapy (enhances medication adherence)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1000" i="1">
                <a:solidFill>
                  <a:srgbClr val="666666"/>
                </a:solidFill>
                <a:latin typeface="Times New Roman"/>
              </a:defRPr>
            </a:pPr>
            <a:r>
              <a:t>Reference: UKATT Research Team (2005). BMJ, 331, 544; COMBINE (2006). JAMA, 295, 2003; WHO (2002).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BBDEFB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/>
          <a:lstStyle/>
          <a:p>
            <a:pPr algn="ctr">
              <a:defRPr sz="3600" b="1">
                <a:solidFill>
                  <a:srgbClr val="FFFFFF"/>
                </a:solidFill>
                <a:latin typeface="Times New Roman"/>
              </a:defRPr>
            </a:pPr>
            <a:r>
              <a:t>Summary: When to Use MET/MI (Evidence-Based Indications)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67926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Population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Evidence Level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Key Study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Outcome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Alcohol Use Disorder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Level 1 (Strong)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Project MATCH (1997)</a:t>
                      </a:r>
                    </a:p>
                    <a:p>
                      <a:r>
                        <a:t>UKATT (2005)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Equal to 12-session CBT/TSF</a:t>
                      </a:r>
                    </a:p>
                    <a:p>
                      <a:r>
                        <a:t>in just 4 sessions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Cannabis Use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Level 1 (Strong)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DRINC/CYT (2004)</a:t>
                      </a:r>
                    </a:p>
                    <a:p>
                      <a:r>
                        <a:t>Stephens et al.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Significant reduction in use</a:t>
                      </a:r>
                    </a:p>
                    <a:p>
                      <a:r>
                        <a:t>and related problems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Polysubstance Use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Level 2 (Moderate)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Multiple RCTs</a:t>
                      </a:r>
                    </a:p>
                    <a:p>
                      <a:r>
                        <a:t>NIMHANS protocols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Effective when tailored to</a:t>
                      </a:r>
                    </a:p>
                    <a:p>
                      <a:r>
                        <a:t>primary substance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Dual Diagnosis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Level 2 (Moderate)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Barrowclough et al. (2001)</a:t>
                      </a:r>
                    </a:p>
                    <a:p>
                      <a:r>
                        <a:t>Baker et al. (2005)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Feasible and effective for</a:t>
                      </a:r>
                    </a:p>
                    <a:p>
                      <a:r>
                        <a:t>comorbid presentations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Treatment Engagement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Level 1 (Strong)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Carroll et al. (2006)</a:t>
                      </a:r>
                    </a:p>
                    <a:p>
                      <a:r>
                        <a:t>Martino et al. (2007)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Increases retention and</a:t>
                      </a:r>
                    </a:p>
                    <a:p>
                      <a:r>
                        <a:t>adherence to treatment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</a:tr>
              <a:tr h="67927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Adolescents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Level 1 (Strong)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Cannabis Youth Treatment</a:t>
                      </a:r>
                    </a:p>
                    <a:p>
                      <a:r>
                        <a:t>Jensen et al. (2011)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Effective and developmentally</a:t>
                      </a:r>
                    </a:p>
                    <a:p>
                      <a:r>
                        <a:t>appropriate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1000" i="1">
                <a:solidFill>
                  <a:srgbClr val="666666"/>
                </a:solidFill>
                <a:latin typeface="Times New Roman"/>
              </a:defRPr>
            </a:pPr>
            <a:r>
              <a:t>References: As cited; NICE Guidelines (2011); SAMHSA TIP 35 (1999); APA Practice Guidelines (2006).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F8E1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/>
          <a:lstStyle/>
          <a:p>
            <a:pPr algn="ctr">
              <a:defRPr sz="3600" b="1">
                <a:solidFill>
                  <a:srgbClr val="FFFFFF"/>
                </a:solidFill>
                <a:latin typeface="Times New Roman"/>
              </a:defRPr>
            </a:pPr>
            <a:r>
              <a:t>Key Takeaways: MET in Clinical Practice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11247120" cy="777240"/>
          </a:xfrm>
          <a:prstGeom prst="roundRect">
            <a:avLst/>
          </a:prstGeom>
          <a:solidFill>
            <a:srgbClr val="BBDEFB"/>
          </a:solidFill>
          <a:ln w="2540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1B3A5C"/>
                </a:solidFill>
                <a:latin typeface="Times New Roman"/>
              </a:defRPr>
            </a:pPr>
            <a:r>
              <a:t>MET is BRIEF but POWERFUL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4 sessions achieve outcomes comparable to 12-session treatments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39112"/>
            <a:ext cx="11247120" cy="777240"/>
          </a:xfrm>
          <a:prstGeom prst="roundRect">
            <a:avLst/>
          </a:prstGeom>
          <a:solidFill>
            <a:srgbClr val="C8E6C9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2E7D32"/>
                </a:solidFill>
                <a:latin typeface="Times New Roman"/>
              </a:defRPr>
            </a:pPr>
            <a:r>
              <a:t>It's based on SOLID THEORY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Transtheoretical Model, Self-Efficacy, Cognitive Dissonance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889504"/>
            <a:ext cx="11247120" cy="777240"/>
          </a:xfrm>
          <a:prstGeom prst="roundRect">
            <a:avLst/>
          </a:prstGeom>
          <a:solidFill>
            <a:srgbClr val="E1BEE7"/>
          </a:solidFill>
          <a:ln w="2540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6A1B9A"/>
                </a:solidFill>
                <a:latin typeface="Times New Roman"/>
              </a:defRPr>
            </a:pPr>
            <a:r>
              <a:t>The CLIENT does the work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Therapist evokes motivation, doesn't install 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739896"/>
            <a:ext cx="11247120" cy="777240"/>
          </a:xfrm>
          <a:prstGeom prst="roundRect">
            <a:avLst/>
          </a:prstGeom>
          <a:solidFill>
            <a:srgbClr val="FFE0B2"/>
          </a:solidFill>
          <a:ln w="2540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E65C00"/>
                </a:solidFill>
                <a:latin typeface="Times New Roman"/>
              </a:defRPr>
            </a:pPr>
            <a:r>
              <a:t>RESISTANCE is information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Not something to fight - a signal to change approach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590288"/>
            <a:ext cx="11247120" cy="777240"/>
          </a:xfrm>
          <a:prstGeom prst="roundRect">
            <a:avLst/>
          </a:prstGeom>
          <a:solidFill>
            <a:srgbClr val="B2DFDB"/>
          </a:solidFill>
          <a:ln w="25400">
            <a:solidFill>
              <a:srgbClr val="007B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007B83"/>
                </a:solidFill>
                <a:latin typeface="Times New Roman"/>
              </a:defRPr>
            </a:pPr>
            <a:r>
              <a:t>FEEDBACK creates discrepancy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Personal data + empathy = internal motivation to change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440680"/>
            <a:ext cx="11247120" cy="777240"/>
          </a:xfrm>
          <a:prstGeom prst="roundRect">
            <a:avLst/>
          </a:prstGeom>
          <a:solidFill>
            <a:srgbClr val="FFCDD2"/>
          </a:solidFill>
          <a:ln w="25400">
            <a:solidFill>
              <a:srgbClr val="8800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880038"/>
                </a:solidFill>
                <a:latin typeface="Times New Roman"/>
              </a:defRPr>
            </a:pPr>
            <a:r>
              <a:t>It WORKS across settings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Strong evidence from Project MATCH, UKATT, Indian studies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1000" i="1">
                <a:solidFill>
                  <a:srgbClr val="666666"/>
                </a:solidFill>
                <a:latin typeface="Times New Roman"/>
              </a:defRPr>
            </a:pPr>
            <a:r>
              <a:t>Reference: Miller et al. (1992). MET Manual; NIMHANS (2016); Project MATCH (1997); UKATT (2005).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BBDEFB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/>
          <a:lstStyle/>
          <a:p>
            <a:pPr algn="ctr">
              <a:defRPr sz="3600" b="1">
                <a:solidFill>
                  <a:srgbClr val="FFFFFF"/>
                </a:solidFill>
                <a:latin typeface="Times New Roman"/>
              </a:defRPr>
            </a:pPr>
            <a:r>
              <a:t>References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0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PRIMARY SOURCES: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Miller, W.R., Zweben, A., DiClemente, C.C., &amp;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  Rychtarik, R.G. (1992). Motivational Enhancement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  Therapy Manual. NIAAA Project MATCH, Vol. 2.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NIMHANS (2016). Substance Use Disorders: A Manual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  for Physicians. National Institute of Mental Health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  and Neuro Sciences, Bangalore.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Miller, W.R. &amp; Rollnick, S. (2013). Motivational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  Interviewing, 3rd ed. Guilford Press.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Prochaska, J.O. &amp; DiClemente, C.C. (1984). The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  Transtheoretical Approach. Dow Jones-Irwin.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Project MATCH Research Group (1997). Matching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  treatments to patient heterogeneity. J Studies on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  Alcohol, 58, 7-29.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188720"/>
            <a:ext cx="5486400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ADDITIONAL REFERENCES: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UKATT Research Team (2005). Effectiveness of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  treatment for alcohol problems. BMJ, 331, 544.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Nadkarni, A. et al. (2017). Counselling for alcohol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  problems in India. The Lancet, 389, 186-195.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Lundahl, B.W. et al. (2010). A meta-analysis of MI.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  Patient Education &amp; Counseling, 80(1), 94-109.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Hettema, J. et al. (2005). MI. Annual Review of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  Clinical Psychology, 1, 91-111.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Bandura, A. (1977). Self-efficacy. Psychological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  Review, 84(2), 191-215.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Marlatt, G.A. &amp; Donovan, D.M. (2005). Relapse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  Prevention, 2nd ed. Guilford Press.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1000" i="1">
                <a:solidFill>
                  <a:srgbClr val="666666"/>
                </a:solidFill>
                <a:latin typeface="Times New Roman"/>
              </a:defRPr>
            </a:pPr>
            <a:r>
              <a:t>All references are from peer-reviewed journals, published manuals, and institutional publications.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B3A5C"/>
              </a:gs>
              <a:gs pos="100000">
                <a:srgbClr val="0D47A1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828800"/>
            <a:ext cx="82296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Times New Roman"/>
              </a:defRPr>
            </a:pPr>
            <a:r>
              <a:t>Thank You</a:t>
            </a:r>
          </a:p>
          <a:p>
            <a:pPr>
              <a:spcAft>
                <a:spcPts val="2000"/>
              </a:spcAft>
            </a:pPr>
          </a:p>
          <a:p>
            <a:pPr algn="ctr">
              <a:defRPr sz="1800" i="1">
                <a:solidFill>
                  <a:srgbClr val="F9A825"/>
                </a:solidFill>
                <a:latin typeface="Times New Roman"/>
              </a:defRPr>
            </a:pPr>
            <a:r>
              <a:t>"People are generally better persuaded by the reasons</a:t>
            </a:r>
          </a:p>
          <a:p>
            <a:pPr algn="ctr">
              <a:defRPr sz="1800" i="1">
                <a:solidFill>
                  <a:srgbClr val="F9A825"/>
                </a:solidFill>
                <a:latin typeface="Times New Roman"/>
              </a:defRPr>
            </a:pPr>
            <a:r>
              <a:t>which they have themselves discovered</a:t>
            </a:r>
          </a:p>
          <a:p>
            <a:pPr algn="ctr">
              <a:defRPr sz="1800" i="1">
                <a:solidFill>
                  <a:srgbClr val="F9A825"/>
                </a:solidFill>
                <a:latin typeface="Times New Roman"/>
              </a:defRPr>
            </a:pPr>
            <a:r>
              <a:t>than by those which have come into the minds of others."</a:t>
            </a:r>
          </a:p>
          <a:p>
            <a:pPr algn="ctr">
              <a:defRPr sz="1400">
                <a:solidFill>
                  <a:srgbClr val="BBDEFB"/>
                </a:solidFill>
                <a:latin typeface="Times New Roman"/>
              </a:defRPr>
            </a:pPr>
            <a:r>
              <a:t>— Blaise Pascal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1000" i="1">
                <a:solidFill>
                  <a:srgbClr val="666666"/>
                </a:solidFill>
                <a:latin typeface="Times New Roman"/>
              </a:defRPr>
            </a:pPr>
            <a:r>
              <a:t>Based on: MET Manual (NIAAA, 1992) &amp; NIMHANS Substance Use Disorders Manual (2016)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