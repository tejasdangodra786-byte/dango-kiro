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 Introduction to Motivational Enhancement Therapy. Transition to this new section of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motivation has been misunderstood in addiction treatment for decades. Traditional view saw motivation as something clients either had or didn't have. Miller revolutionized this by showing motivation is a dynamic, interpersonal process that therapists can influence. Discuss how this shifts responsibility partially to the therapeutic interaction rather than solely to the client.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how behaviour change in substance use is complex and multifaceted. Explain that traditional models assumed change was simply a matter of willpower. Modern understanding recognizes that change involves neurobiological, psychological, social, and environmental factors. The therapeutic relationship is a key ingredient. Reference the NIMHANS manual's emphasis on stepped care approaches.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sets the stage for understanding WHY MET was developed. Traditional approaches interpreted resistance as pathological denial. Miller argued that resistance is largely an interpersonal phenomenon - it is significantly influenced by the therapist's style. Aggressive confrontation increases resistance. Empathic, reflective approaches decrease it. Reference Patterson &amp; Forgatch (1985) who showed therapist behavior directly determined client resistance.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historical context. For decades, addiction treatment relied on aggressive confrontation (e.g., Synanon, 'hot seat' approaches). Miller's research showed this was counterproductive. When therapists argued that clients were alcoholics, clients predictably argued back that they weren't. This verbal behavior actually reinforced their resistance. The manual explicitly states: 'An aggressive argument that you're an alcoholic will usually evoke: No I'm not, and no I don't.' This insight was revolutionary.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 was developed specifically for Project MATCH, the largest clinical trial of alcoholism treatments ever conducted. It was designed by William R. Miller and colleagues as a brief, 4-session treatment. Unlike CBT (12 sessions) and TSF (12 sessions), MET achieved comparable outcomes in just 4 sessions, making it remarkably cost-effective. The therapy is distinguished by its reliance on the client's own motivation rather than external direction.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the distinction between MI and MET. Motivational Interviewing is a broader counseling style/spirit. MET is a specific manualized treatment that incorporates MI principles within a structured 4-session format that includes assessment feedback. MET adds the structured feedback component (Personal Feedback Report) to the MI framework. This makes it more directive and protocol-driven while maintaining the MI spirit.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historical timeline emphasizing key milestones. Miller's 1983 paper was influenced by his experience that empathic therapists got better outcomes and his observation that confrontational approaches increased resistance. Project MATCH was the largest ($27 million) multisite clinical trial of alcoholism treatment. The finding that 4 sessions of MET matched 12 sessions of CBT or TSF was groundbreaking for the field.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distinction is crucial for understanding why MET works differently from coercive approaches. Many mandated clients appear compliant but are not internally motivated. True behavior change requires internalization of the motivation. SDT research shows that when people feel autonomous (not controlled), competent (self-efficacious), and connected (therapeutic relationship), they develop intrinsic motivation. MET systematically fosters all three of these needs.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convergence of factors that led to MET's development. The field needed: (1) evidence that brief interventions could work, (2) a standardized protocol that could be taught and replicated, (3) a humane alternative to confrontation, and (4) something cost-effective. The NIMHANS manual emphasizes the Indian context where resources are limited and training non-specialists is essential. The combination of these needs made MET an ideal solution.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 Founders and Key Contributors. Transition to this new section of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Miller is widely regarded as one of the most influential figures in addiction treatment. His 1983 paper was written after visiting Norway and being asked by trainees how he worked with problem drinkers. His response - drawing on Rogers, Festinger, and Bem - became motivational interviewing. His research consistently showed that the way therapists interact with clients matters more than the specific technique used. He demonstrated that a single session of empathic counseling could produce lasting change.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Rollnick brought MI into mainstream healthcare beyond addiction. His books on MI in health settings made the approach accessible to physicians, nurses, and other healthcare professionals. Moyers' work on MI process research has been crucial in understanding HOW MI works - she showed that therapist MI-consistent behaviors predict client change talk, which in turn predicts behavior change outcomes. DiClemente's Transtheoretical Model provided the theoretical staging framework that MET uses.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 MATCH was groundbreaking in its scope and rigor. The primary hypothesis was that patient-treatment matching would improve outcomes, but the main finding was that matching effects were minimal. The most striking result was that MET, with only one-third the sessions, produced essentially equivalent outcomes to the longer treatments. This established MET as a remarkably cost-effective intervention. The study used standardized manuals, trained therapists, and rigorous fidelity monitoring.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 Historical Background. Transition to this new section of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historical context is essential for understanding why MI/MET was revolutionary. Before 1983, the dominant paradigm in addiction treatment (especially in the US) was confrontational. Programs like Synanon used attack therapy, humiliation, and breaking down defenses. Miller noticed in his own research that when therapists were more empathic, clients did better. He combined Rogerian principles (creating safe space), Festinger's cognitive dissonance (awareness of discrepancy), and Bem's self-perception theory (we believe what we hear ourselves say) into a new approach.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contrasts the old and new paradigms. Historically, if a client said 'I don't have a problem,' the therapist would argue harder. This created an adversarial dynamic. Miller's research showed that the amount of client resistance in session 1 predicted drinking outcomes at 1 year - and this resistance was largely determined by therapist style. The new paradigm reframes 'denial' as ambivalence and 'resistance' as a signal that the therapist needs to change approach.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4: Theoretical Foundations of MET. Transition to this new section of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Rogers' influence on MET cannot be overstated. The therapeutic relationship in MET is fundamentally Rogerian - the therapist creates a safe, accepting, empathic environment where the client can explore ambivalence without judgment. However, MET adds a DIRECTIVE component that pure Rogerian therapy lacks - the therapist strategically reinforces change talk and uses structured feedback. This makes MET 'client-centered yet directive' - a unique combination.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SDT provides the theoretical backbone for WHY MET's non-controlling approach works better than authoritarian approaches. When we tell people what to do, we undermine their autonomy, which reduces intrinsic motivation. When we support choice, we enhance autonomy and thereby intrinsic motivation. MET systematically supports all three basic needs. The clinical implication is clear: offering a menu of options (autonomy), affirming client strengths (competence), and providing empathic listening (relatedness) naturally enhance motivation.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Festinger showed that when people hold contradictory beliefs simultaneously, they experience psychological discomfort and seek to resolve it. MET exploits this by helping clients see the gap between their stated values (e.g., 'I want to be a good father') and their current behavior (e.g., drinking heavily). The key is that the client must articulate this discrepancy themselves - if the therapist points it out, it may feel confrontational. The feedback session in MET is designed to create optimal discrepancy.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Transtheoretical Model is foundational to MET. Carlo DiClemente was a co-author of the MET manual, directly connecting stage theory to MET practice. The model tells us that most clients entering treatment are in the contemplation stage - they're ambivalent. MET is specifically designed for this ambivalent population. For precontemplators, MET uses gentle discrepancy development. For contemplators, it explores ambivalence. For those in preparation, it consolidates commitment.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Bandura's self-efficacy theory is directly operationalized in MET through the principle 'Support Self-Efficacy.' The MET manual explicitly states that the therapist must convey belief in the client's ability to change. This is done through affirmations, highlighting past successes, normalizing the change process, and offering a range of options (which communicates that change is possible in multiple ways). Low self-efficacy is one of the strongest predictors of relapse; building it is therefore therapeutic.</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Bem's self-perception theory is perhaps the most direct theoretical underpinning of MET technique. The MET manual states explicitly: 'motivational psychology has amply demonstrated that when people are subtly enticed to speak or act in a new way, their beliefs and values tend to shift in that direction.' This is why the therapist seeks to elicit SELF-MOTIVATIONAL STATEMENTS from the client. Every time the client voices a reason for change, they become slightly more motivated. This creates a positive feedback loop.</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integration slide shows students how MET is not an atheoretical technique but is deeply grounded in multiple established psychological theories. Each theory addresses a different component of the motivation and change process. Rogers provides the relational foundation, Festinger provides the motivational engine (discomfort drives change), Bem explains the mechanism of change talk, Bandura provides the confidence component, Prochaska provides the timing framework, and Deci/Ryan explain why autonomy-support works better than coercion.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5: The Spirit of MET. Transition to this new section of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spirit of MET/MI is the MOST important concept to convey. Techniques without spirit become manipulative tools. The spirit distinguishes genuine motivational enhancement from persuasion or manipulation. Partnership means working WITH the client, not doing TO them. Acceptance means valuing the person regardless of their behavior. Compassion means genuinely caring about their wellbeing. Evocation means drawing out their own motivation rather than installing yours. If students take away only one thing, it should be the spirit.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role-play demonstrations to illustrate these principles. The key distinction is WHO is the expert. In traditional approaches, the therapist is the expert telling the client what to do. In MET, the client is the expert on their own life; the therapist provides information and creates conditions for self-exploration. Acceptance does NOT mean agreeing with harmful behavior - it means accepting the PERSON while recognizing that behavior may need to change. This is identical to Rogers' unconditional positive regard.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Evocation is perhaps the most distinctive element of MET spirit. Traditional therapy installs new beliefs or behaviors from outside. MET assumes the client already has the seeds of motivation within them - perhaps buried under ambivalence, fear, or habit. The therapist's skill lies in creating conditions where these seeds can germinate and grow. Every time the client voices a reason for change, that motivation grows stronger (self-perception theory). The therapist's job is to ask the right questions and reflect strategically.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6: Core Principles of MET. Transition to this new section of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Empathy in MET is not passive listening. It is an ACTIVE skill where the therapist continuously generates hypotheses about what the client means and reflects these back for verification. The MET manual emphasizes that empathy serves multiple functions: (1) reduces resistance, (2) encourages continued exploration, (3) builds therapeutic alliance, (4) clarifies meaning, and (5) can be used to SELECTIVELY reinforce certain ideas. This last point is strategic - you can reflect change talk more than sustain talk.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principle directly applies Festinger's cognitive dissonance theory. The crucial point is that discrepancy must be developed from the CLIENT's own values and goals - not from the therapist's agenda. The Personal Feedback Report in MET Session 1 is designed to create discrepancy by comparing the client's drinking with normative data. When clients see they drink more than 95% of the population, this creates powerful discrepancy. But it must be presented neutrally - 'What do you make of this?' rather than 'See how bad you are?'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Rolling with resistance is counterintuitive for most therapists. The natural instinct when a client resists is to push harder - but this creates an adversarial dynamic. Instead, MET uses the client's own energy. Like a martial arts practitioner who uses the opponent's momentum, the MET therapist flows with resistance rather than opposing it. Amplified reflection works by overstating the client's position slightly, which often causes them to back away from the extreme and acknowledge the other side. Double-sided reflection captures both sides of ambivalence simultaneously.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Self-efficacy is Bandura's concept directly applied in MET. The manual explicitly states that the therapist must convey confidence in the client's ability to change. This is done both explicitly (verbal encouragement) and implicitly (offering choices implies change is possible). Research shows that self-efficacy at intake is one of the strongest predictors of treatment outcome. Therefore, anything that builds efficacy is therapeutic. The therapist's own belief in the client matters enormously - clients can sense genuine vs. fake optimism.</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7: Essential Communication Skills: OARS. Transition to this new section of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OARS are the building blocks of MET communication. They are not unique to MET but are used with specific intention and strategic direction in MET. The therapist uses open questions to explore, affirmations to build confidence, reflections to deepen understanding and selectively reinforce, and summaries to organize and transition. The NIMHANS manual specifically identifies OARS plus eliciting change talk as the five core skills. Mastery of these skills requires extensive practice.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questions are the engine that keeps the client talking. In MET, the therapist's goal is to get the CLIENT to articulate reasons for change. Open questions create space for this. The MET manual provides specific examples: 'Tell me what concerns you about your drinking. What are your worries?' Notice these are genuinely exploratory - they don't presume the answer. A key practice skill is converting closed questions to open ones. Instead of 'Do you drink every day?' try 'Tell me about a typical week with your drinking.'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Affirmations differ from praise. Praise often comes from a one-up position ('I'm proud of you' implies the therapist is the judge). Affirmations recognize qualities IN the client ('You showed real determination'). They should be genuine - clients can detect insincerity. They should be specific - 'You managed to stay sober for your daughter's birthday despite pressure from your friends' is more powerful than 'Good job staying sober.' Affirmations build self-efficacy by helping clients see their own strengths.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Reflective listening is THE most important skill in MET. The manual devotes significant attention to it. The therapist listens carefully, formulates a guess about what the client means, and offers it back as a statement (not a question). This serves multiple purposes: (1) shows understanding, (2) reduces resistance, (3) keeps the client talking, (4) can be used strategically to reinforce change talk. The strategic aspect is crucial - by choosing WHICH elements to reflect, the therapist can guide the conversation toward change without being directive.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extended dialogue from the MET manual demonstrates how reflective listening alone can build momentum toward change talk. Notice that the therapist asks only ONE question at the beginning, then uses nothing but reflections. Each reflection gently moves the client toward deeper acknowledgment of the problem. The client moves from 'I'm not sure I'm concerned' to 'alcohol is pickling my brain' in just a few exchanges. This is the power of skilled reflective listening - it creates a safe space for the client to explore without feeling pushed.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Summaries serve both relational and strategic functions. Relationally, they show the client you've been tracking carefully. Strategically, you can choose WHAT to include. A well-crafted summary will collect the client's change talk statements and present them back as a bouquet - hearing all their reasons for change in one place can be very powerful. The transitional summary is particularly useful at session transitions and when moving from exploring to planning. Always end summaries with 'What else?' or 'Did I miss anything?' to invite correction and further exploration.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8: Change Talk: The Language of Motivation. Transition to this new section of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Change talk is the therapeutic target in MET. The therapist's primary job is to elicit, recognize, and reinforce change talk. Research by Amrhein et al. (2003) showed that client commitment language during MI sessions predicted actual substance use outcomes. Moyers et al. (2007) demonstrated the causal chain: therapist MI-consistent behavior → client change talk → behavior change. This means the therapist has a direct path to influencing outcomes through the technical skill of evoking change talk.</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DARN-CAT framework helps therapists recognize different strengths of change talk. Preparatory change talk (DARN) signals that the client is moving toward change but hasn't committed yet. Mobilizing change talk (CAT) signals readiness for action. Commitment language ('I will') is the strongest predictor. Therapists should track the shift from DARN to CAT as an indicator that the client is ready for planning. Premature focus on planning when the client is still in DARN territory can backfire.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MET manual provides specific techniques for evoking self-motivational statements. The gentle paradox technique is particularly interesting - by subtly taking the side of status quo, the therapist evokes the client to argue for change. This must be used carefully and genuinely, not manipulatively. The manual provides the example: 'You haven't convinced me yet that you are seriously concerned... Is that all you're concerned about?' This table-turning approach works because of psychological reactance - people resist having their freedom limited.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9: Sustain Talk. Transition to this new section of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Sustain talk is the opposite of change talk - it's the voice of status quo. It is NORMAL, especially early in therapy. The key principle is: don't feed it. When you argue against sustain talk, you paradoxically strengthen it (the client hears themselves defending their behavior). Instead, acknowledge it briefly and move on. Or use a double-sided reflection that pairs it with change talk. Research shows the ratio of change talk to sustain talk is what matters for outcomes. The therapist's job is to tilt this ratio toward change talk.</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10: Resistance and Discord. Transition to this new section of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reframes how we think about resistance. In MET, resistance is NOT a client characteristic but an interpersonal phenomenon. When resistance increases, it signals that the therapist is pushing too hard, moving too fast, or not aligning with the client's readiness. The therapist should view resistance as useful feedback about the therapeutic interaction, not as evidence of client pathology. Miller's landmark research showed that therapist behavior (confrontation) directly caused client resistance, which then predicted poor outcomes a year later.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each of these responses through role-play. The amplified reflection is counterintuitive - by slightly overstating the client's position, you often get them to back away from the extreme. 'Coming alongside' is also counterintuitive - by agreeing that maybe they don't need to change, you often trigger reactance where the client argues FOR change. Each of these techniques respects the client's autonomy while creating space for the other side of ambivalence to emerge. The key is to stay calm, curious, and non-defensive yourself.</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11: Assessment Before MET. Transition to this new section of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Assessment in MET serves a unique dual purpose. Unlike other therapies where assessment simply informs the therapist, in MET the assessment results are given BACK to the client as personalized feedback. This is a key therapeutic intervention in Session 1. The assessment should be comprehensive enough to generate meaningful normative comparisons. In Project MATCH, the assessment included drinking patterns, consequences, blood alcohol level estimation, liver function, psychological problems, and readiness to change.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rulers are elegantly simple yet powerful assessment and intervention tools. The key follow-up question 'Why are you at X and not zero?' is brilliant because it evokes change talk - the client must articulate reasons they ARE somewhat motivated. Asking 'Why aren't you at 10?' would evoke sustain talk. The combination of importance and confidence tells you where to focus: if someone wants to change but doesn't feel able, build efficacy. If they feel able but don't see it as important, develop discrepancy.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decisional balance is both an assessment tool and an intervention. By exploring all four quadrants, the therapist validates the client's ambivalence (both sides are real and understandable). Starting with the benefits of drinking shows you're not going to lecture, which reduces defensiveness. The strategic order matters: ending with benefits of change leaves the client thinking about positive possibilities. The balance can be done on paper as a worksheet or verbally in session.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12: Components of MET: The FRAMES Model. Transition to this new section of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FRAMES summarizes what research has found to be the active ingredients across effective brief interventions worldwide. It emerged from a systematic review of what the successful interventions had in common. The NIMHANS manual specifically identifies FRAMES as the core model for brief intervention in Indian settings. In MET, all six elements are systematically incorporated: feedback comes in Session 1 (Personal Feedback Report), responsibility is emphasized throughout, advice is offered with permission, menu provides options, empathy is the communication style, and self-efficacy is actively supported.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Feedback is the distinguishing feature of MET vs. pure MI. The Personal Feedback Report provides objective data that the client cannot easily dismiss. Presenting it neutrally ('Here are your results. What do you make of them?') is more effective than interpreting it for them. Responsibility is crucial - by emphasizing that the choice is theirs, you paradoxically make change more likely (autonomy support). Advice should be brief, clear, and offered with permission ('Would you like to hear my professional opinion?').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Menu component directly supports autonomy (SDT theory) - by offering choices, you communicate that the client has control AND that multiple paths to change exist (building hope). Empathy is the relational glue that holds everything together - without it, feedback can feel like attack, advice like lecturing, and menu like homework assignment. Self-efficacy is about instilling hope and confidence - not false optimism, but genuine belief based on the client's demonstrated strengths. Together, FRAMES provides a complete brief intervention framework.</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13: Structure of MET. Transition to this new section of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structure of MET in Project MATCH was specifically designed to be brief (4 sessions) compared to CBT and TSF (12 sessions each). Sessions 1 and 2 are close together (1 week apart) to build momentum. Sessions 3 and 4 are spaced further apart (weeks 6 and 12) serving as check-ins and reinforcement. The first two sessions do the heavy motivational lifting; the later sessions consolidate and maintain gains. This structure means the most intensive work happens early when motivation is being built.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two-phase structure maps onto the Stages of Change model. Phase 1 corresponds to moving clients from precontemplation through contemplation. Phase 2 corresponds to preparation and action. The MET manual describes the 'motivational seesaw' - one side favoring status quo (benefits of drinking, fears of change) and the other favoring change (benefits of change, costs of drinking). The therapist's job in Phase 1 is to shift this balance. Signs of readiness for Phase 2 include: decreased resistance, more change talk, asking 'how' questions, and imagining a changed future.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14: Complete Session-by-Session Manual. Transition to this new section of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1 is the most structured and critical session in MET. The therapist must balance delivering substantial assessment feedback while maintaining a client-centered, empathic style. The opening sets the tone - if the client feels judged or lectured in the first minutes, the entire therapy may be compromised. Start with genuine warmth and curiosity. The agenda should be set collaboratively, not imposed. Emphasize that this is a conversation, not a lecture.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PFR delivery is the heart of Session 1. The manual is very specific about HOW to deliver it: neutrally, item by item, allowing the client to react at each step. The therapist monitors reactions and uses reflective listening. When clients express concern ('Wow, I'm drinking more than I realized'), reflect and amplify ('It looks quite high to you'). When clients minimize ('I don't see how it's affecting me'), reflect without arguing ('This isn't what you expected'). The feedback creates discrepancy naturally - the data speaks for itself when presented in normative context.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dialogue examples come directly from the MET manual. They illustrate how the therapist responds to EVERY reaction with reflective listening, never with confrontation or interpretation. Notice the range of client responses - surprise, disbelief, minimization, contemplation - and how the therapist uses the same basic skill (reflection) differently for each. When the client is surprised, reflect the surprise. When they minimize, reflect the confusion without arguing. When they show concern, reflect and strengthen it. This is the art of selective reflection.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involvement of a significant other is optional but recommended when feasible. The MET manual provides specific guidance on how to manage the three-way interaction. The therapist must: (1) maintain the client as the focus, (2) use SO information supportively, (3) reframe SO expressions of anger or frustration into caring statements, and (4) prevent the session from becoming confrontational. After reflecting an SO statement, the manual recommends turning to the client and asking for their perceptions, then reflecting self-motivational elements.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2 is the bridge between building motivation (Phase 1) and strengthening commitment (Phase 2). The therapist should start by asking what the client has been thinking since the feedback session. Often clients have been reflecting and may arrive with new change talk. If the client shows readiness signs (decreased resistance, questions about change, imagining a different future), the therapist can begin transitioning to commitment and planning. If not ready, continue Phase 1 strategies without pressure.</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3 serves as a midpoint check-in. By week 6, the client has had time to implement changes (or not). The therapist's role is to reinforce any progress (however small), address setbacks with empathy rather than disappointment, and reassess the change plan. If the client has been successful, the session celebrates this and plans for maintenance. If struggling, it returns to Phase 1 principles. The key is maintaining the MET spirit throughout - even when discussing setbacks, the therapist uses empathy and supports efficacy.</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4 consolidates the work of the entire therapy. The therapist reviews progress, highlights the client's own agency in making changes, and plans for the future. Relapse prevention is incorporated but not in a lecturing way - rather, the therapist explores with the client what situations might be challenging and how they could handle them. The termination should be positive and confidence-building. Research shows that leaving the door open for return contact reduces relapse anxiety. Booster sessions can be offered if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Homework in MET is offered as a suggestion, not a requirement - maintaining autonomy. Self-monitoring serves multiple purposes: (1) it raises awareness of actual drinking patterns, (2) it provides data for future sessions, (3) the act of monitoring often reduces behavior (reactivity effect), and (4) it demonstrates engagement with the change process. The therapist should explain the rationale and ask if the client is willing, rather than prescribing it.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15: Techniques Used in MET. Transition to this new section of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Double-sided reflections are one of the most powerful tools in MET. They validate the client's ambivalence (both sides are real and understandable) while creating cognitive dissonance (hearing both sides together highlights the contradiction). The MET manual specifically recommends using 'and' rather than 'but' because 'but' negates what came before it. Complex reflections demonstrate deeper understanding and can gently guide the client toward greater self-awareness. Both require practice to use naturally.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three techniques are all used to manage resistance/discord. Amplified reflection uses reverse psychology - by overstating, you create reactance where the client argues AGAINST the extreme (and thereby toward change). It must be done sincerely and warmly, never sarcastically. Reframing takes the same facts but puts them in a different light, often highlighting caring or positive intent. Shifting focus avoids unproductive debates (especially about labels) by redirecting to what matters clinically.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E-P-E is essential for maintaining the spirit of MET while still providing expert information. The traditional medical model has the expert telling the patient what to do. E-P-E democratizes this by first checking what the client knows, then asking permission to add information, then checking how they process it. Agenda mapping at the start of sessions gives clients ownership and choice. Scaling questions are versatile tools that can assess and simultaneously evoke change talk through the strategic follow-up.</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Values clarification is a powerful tool for developing discrepancy. When clients articulate what truly matters to them (family, health, career, spirituality) and then look at how their behavior conflicts with these values, genuine internal motivation emerges. Goal setting should always be client-driven - the therapist guides the process but the client decides the goals. The Change Plan Worksheet formalizes the commitment and can be revisited in later sessions. Goals should be realistic and incremental.</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three techniques are among the most frequently used in MET. Looking back helps clients reconnect with their pre-addiction self and the losses they've experienced. Looking forward makes abstract consequences concrete and personal. Decisional balance explores ambivalence thoroughly. The order matters: starting with benefits of drinking shows you understand and won't judge, which reduces defensiveness. Ending with benefits of change leaves the session pointing forward. The summary strategically includes more change-favoring elements.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16: Clinical Worksheets and Handouts. Transition to this new section of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Change Plan Worksheet is a key tool in MET Phase 2. It should be completed collaboratively - the therapist helps the client think through each section but the client fills it in (maintains ownership). This worksheet makes the commitment concrete and tangible. It can be revisited in Sessions 3 and 4 to assess progress and modify the plan if needed. The worksheet should be given to the client to keep as a physical reminder of their commitment.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worksheets should be printed as handouts for clients. The decisional balance worksheet makes ambivalence visible and concrete. Writing it down externalizes the internal conflict. The relapse prevention plan is introduced in Session 3-4 and helps the client anticipate and prepare for challenges. Both worksheets can be taken home and referred to when motivation wavers. In the Indian context (NIMHANS), these can be adapted linguistically and culturally.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worksheets complement the core MET sessions. They can be assigned as between-session activities or used within sessions as structured exercises. The values card sort is particularly powerful for developing discrepancy - once clients identify their top values, the therapist can explore how substance use aligns (or conflicts) with these values. The emergency plan is crucial for relapse prevention - having a concrete plan reduces the likelihood of a lapse becoming a full relapse.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17: Case Formulations. Transition to this new section of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case illustrates a typical MET application for alcohol dependence in the Indian context. Key points: (1) The referral from a physician provides a natural opportunity for feedback. (2) His low confidence despite moderate importance tells us to focus on building self-efficacy. (3) His values (family, career) provide rich material for discrepancy development. (4) The gradual reduction goal (rather than abstinence) demonstrates the menu of options approach. In Indian settings, family involvement and cultural norms around drinking are important considerations.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cases demonstrate MET adaptation for different substances. Cannabis case shows MET with a precontemplator (mandated by parents) - gentle approach needed. The neuropsychological feedback creates discrepancy between his engineering career goals and cognitive impairment. Nicotine case shows MET with someone already motivated but lacking confidence - focus shifts to self-efficacy building. Both cases show how MET is individualized based on the client's specific profile.</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Dual diagnosis cases are common and challenging. The NIMHANS manual emphasizes that substance use and mental health disorders are frequently comorbid in Indian settings. In this case, MET addresses the alcohol use while acknowledging that depression is a driver. The feedback focuses on the alcohol-depression cycle (alcohol provides temporary relief but worsens depression long-term). The very low confidence requires significant self-efficacy work. Small, achievable goals are essential. MET can be integrated with pharmacotherapy and CBT.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18: Special Populations. Transition to this new section of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Adolescents present unique challenges for MET. Their developmental stage means peer influence is stronger than for adults, they discount future consequences more heavily, and they react more strongly to perceived control. MET adaptations include: emphasizing autonomy, using peer-relevant normative feedback, keeping sessions shorter and more interactive, and focusing on consequences that matter to THEM (social embarrassment, academic problems) rather than long-term health. In Indian settings, family context is critical.</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populations require specific adaptations. Women in Indian society face tremendous stigma around substance use, leading to hidden drinking and delayed help-seeking. MET's non-judgmental approach is especially valuable here. Pregnant women are often already motivated (baby's health) but experience intense shame - MET can build on existing motivation while reducing shame. Older adults may have fewer social consequences of drinking but face serious health risks and medication interactions. Each population requires tailored feedback and sensitivity.</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NIMHANS manual strongly advocates for integrating brief motivational interventions into primary care and medical settings. The 5-A strategy parallels FRAMES in a format accessible to busy physicians. MET principles are increasingly applied to any health behavior where ambivalence exists - medication adherence, lifestyle change, self-management of chronic illness. The key insight is that the same motivational principles (autonomy, empathy, discrepancy) apply to any behavior change context.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19: Applications Beyond Addiction. Transition to this new section of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versatility of MET principles is remarkable. Any situation where a person is ambivalent about changing a behavior can benefit from motivational approaches. The underlying mechanisms are the same: autonomy support, empathy, discrepancy, self-efficacy. The specific feedback and discrepancy development are tailored to the domain (e.g., HbA1c results for diabetes, BMI for weight). Meta-analyses confirm MI's effectiveness across these domains with small-to-medium effect sizes.</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20: Research Evidence for MET. Transition to this new section of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evidence base for MET is among the strongest in psychotherapy research. Project MATCH remains the landmark study - its finding that 4 sessions matched 12 sessions was revolutionary. UKATT replicated this in the UK. The COMBINE study showed MET integrates well with pharmacotherapy. Meta-analyses consistently find MI/MET effective with small-to-medium effect sizes (d = 0.25-0.57). Importantly, MET is cost-effective - achieving similar results with fewer sessions means lower cost per unit of improvement.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meta-analytic evidence provides strong support for MI/MET. Effect sizes are typically in the small-to-medium range, which is consistent with other psychotherapy research. The Cochrane Review by Smedslund et al. confirmed effectiveness but noted effects may diminish over time, supporting the use of booster sessions. Mechanisms research suggests the causal chain: therapist MI-consistent behavior → client change talk → behavior change. This understanding helps us refine training.</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evidence table provides a quick reference for students. Each study represents a milestone in the MET evidence base. Project MATCH established equivalence with longer treatments. UKATT replicated internationally. Miller's 1993 study directly demonstrated that therapist style matters. Moyers and Amrhein illuminated the mechanism (change talk). The overall picture is one of consistent, replicated support across multiple research groups, populations, and settings.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21: Comparison with Other Therapies. Transition to this new section of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comparison helps students understand where MET fits in the therapeutic landscape. MET is unique in focusing primarily on motivation (the 'why') rather than skills (the 'how'). This makes it complementary to skills-based approaches like CBT. A common clinical sequence is MET first (to build motivation) followed by CBT (to build skills). MET differs from 12-Step in emphasizing personal empowerment rather than powerlessness. It differs from CBT in being less prescriptive and more client-led.</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distinction is frequently confused by students. MI is a general counseling style that can be applied in any setting for any duration. MET is a SPECIFIC manualized treatment that USES MI principles within a structured 4-session format that includes personalized assessment feedback. Think of MI as the philosophy and MET as a specific program built on that philosophy. MI can be used in a 5-minute primary care encounter or a 50-minute therapy session. MET always follows the 4-session Project MATCH protocol.</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22: Advantages and Limitations of MET. Transition to this new section of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MET's advantages make it uniquely suitable for widespread implementation. Its brevity means more clients can be served with limited resources. Its non-confrontational nature reduces dropout (a major problem in addiction treatment). Its evidence base satisfies funders and policymakers. Its trainability means it can be disseminated broadly. The NIMHANS manual specifically identifies brief motivational approaches as suitable for the Indian healthcare system where specialist resources are limited.</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Being honest about limitations is essential for academic integrity. MET is powerful but not a panacea. The NIMHANS manual explicitly states that brief interventions 'should not be viewed as complete solutions.' For severe dependence, MET works best as a motivational gateway leading to comprehensive treatment. The small-medium effect sizes are typical for psychotherapy but remind us that many clients will not respond. Ongoing training, supervision, and fidelity monitoring are needed to maintain quality.</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24: Ethical Considerations and Cultural Adaptation. Transition to this new section of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Ethical issues in MET warrant careful consideration. The primary ethical concern is whether strategic use of reflective listening constitutes manipulation. Miller &amp; Rollnick address this directly: if the therapist's intent is genuinely compassionate (serving the client's welfare), strategic techniques are ethical. If intent is self-serving (making the client comply with OUR goals), it becomes manipulation. The spirit of MET (compassion, partnership) is the ethical safeguard. Autonomy must be genuinely honored - even if the client decides not to change.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NIMHANS manual provides the Indian context for MET implementation. India's large population of substance users combined with limited specialist resources makes brief, trainable interventions essential. Cultural adaptations include: greater family involvement (consistent with collectivist culture), attention to stigma (especially for women), use of spiritual/religious values as motivational levers, and respect for hierarchical relationships while still promoting client autonomy. The core principles of empathy and respect are universal.</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26: Therapist Competencies and Training. Transition to this new section of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Therapist competency is critical for MET effectiveness. Research shows that poorly delivered MI can be no better than - or worse than - no treatment. The MITI coding system provides objective measures of fidelity. Key metrics include the reflection-to-question ratio (should be at least 2:1 for proficiency), percentage of open questions (should be &gt;70% for proficiency), and percentage of complex reflections. Training typically involves a 2-day workshop followed by ongoing practice, recorded sessions, feedback, and supervision.</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in MI/MET is a developmental process, not a one-time event. Research shows that a 2-day workshop alone does not produce lasting competence - ongoing supervision and feedback are essential. Common mistakes include falling back into expert mode (telling), asking too many questions (interrogation mode), moving to planning too quickly (premature focus), and using labels that trigger resistance. The therapist's own 'righting reflex' (desire to fix problems) is the primary barrier to maintaining fidelity.</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27: Practical Demonstration: Role Plays. Transition to this new section of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role play demonstrates a typical Session 1 opening with a reluctant/mandated client. Notice: (1) The therapist NEVER argues with the client's position, (2) Every response is a reflection, (3) The therapist picks up on the value (love for wife) and reflects it, (4) By the end of this brief exchange, the client has moved from 'I don't see the problem' to 'maybe I could cut back' - without any confrontation. This is the power of reflective listening and rolling with resistance. The change talk emerges naturally when the client feels safe.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demonstrates the contrast between MI-inconsistent and MI-consistent responses. Students should practice each response type and notice how the wrong responses create an adversarial dynamic while the correct responses maintain collaboration. The most common mistake for new therapists is the 'label debate' - arguing about whether someone is an alcoholic. MET completely avoids this by shifting focus to the client's own concerns. This is one of the most important clinical skills to develop.</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extended role play shows the feedback delivery process from the MET manual. Notice the therapist's discipline - despite the client's initial rejection of the data, the therapist NEVER argues for the validity of the results. Instead, they reflect the client's experience. This creates safety. Gradually, the client's own cognitive dissonance emerges - 'I never thought of myself as THAT kind of drinker.' The therapist names the discrepancy without pushing it. This is textbook MET.</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28: Examination Questions and Practice. Transition to this new section of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questions reflect common examination patterns in M.Phil Clinical Psychology and PsyD programs. Students should practice answering each within the typical time constraints. For viva questions, aim for 2-3 minute structured answers. For long answers, use a structured format: definition → theoretical basis → key principles → evidence → clinical application → limitations. Reference both the MET manual and NIMHANS manual for Indian context questions.</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MCQs test factual knowledge while short notes require concise explanations with examples. For MCQs, focus on: key terminology (DARN-CAT, OARS, FRAMES), founders/developers, research findings (Project MATCH results), and distinguishing features. For short notes, structure as: definition (1 line), explanation (3-4 lines), clinical example (2-3 lines), and one reference. Practice writing short notes within 5-7 minutes for exam preparation.</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Clinical scenarios test application of principles. Students should identify: (1) stage of change, (2) type of talk (change/sustain), (3) appropriate MET principle, (4) specific response. The key is responding in a way that maintains alliance while moving toward change. Each scenario has multiple acceptable responses - the important thing is that the response is MI-consistent (empathic, non-confrontational, autonomy-supporting).</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29: Summary and Clinical Pearls. Transition to this new section of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summary slide condenses the entire presentation into key bullet points. Use it as a revision aid and as a framework for answering examination questions. Each line represents a major section of the presentation. Students should be able to expand each line into a detailed explanation with clinical examples and references.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clinical pearls represent the most important practical lessons from MET training. They should be memorized and regularly reviewed. Each pearl addresses a common mistake or crucial insight. Pearl #12 (bonus) is perhaps the most diagnostic - if the therapist is working harder than the client (arguing for change, giving advice, pushing), the dynamic has inverted. In skilled MET, the CLIENT argues for change while the therapist facilitates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flowchart provides a visual map of the MET process. Use it as a quick reference during clinical work. The key decision points are: (1) Is the client showing change talk? If yes, move toward commitment. If no, continue building motivation. (2) Is resistance high? If yes, soften approach. The flowchart also shows the within-session flow: opening → exploration → development → commitment → closing. Each session follows this general pattern while adapting to the client's current stage.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mind map organizes all MET components in a visual hierarchy. At the top is the Spirit (most important), branching into Principles, Skills, and Structure. Under each branch are the specific elements. This visual can serve as a study aid and quick reference. Students should be able to fill in this map from memory. The hierarchical structure emphasizes that spirit &gt; principles &gt; techniques.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30: Complete Bibliography. Transition to this new section of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primary sources upon which this presentation is based. The two uploaded reference books (Miller et al., 1995 MET Manual and Murthy, 2008 NIMHANS Manual) form the foundation. Miller &amp; Rollnick's three editions of the MI textbook provide the theoretical evolution. Project MATCH publications provide the evidence base.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research studies provide the evidence base for MET. Each study is cited multiple times throughout the presentation. Students should be familiar with the key findings of each. For examination purposes, knowing the authors, year, sample size, and main finding of each study is essential.</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theoretical references provide the foundations upon which MET is built. Each theory contributes a key element: Rogers (empathic relationship), Festinger (cognitive dissonance/discrepancy), Bem (self-perception/change talk), Bandura (self-efficacy), Prochaska &amp; DiClemente (stages of change), Deci &amp; Ryan (autonomy/self-determination). Students should understand how each theory connects to specific MET principles and techniques.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additional resources include clinical guidelines (NICE, SAMHSA, WHO), training manuals (MITI), and supplementary texts that support MET practice. SAMHSA TIP 35 is a comprehensive government resource freely available online. The WHO brief intervention manual supports global application. NICE guidelines provide UK-specific clinical recommendations. These resources are essential for continued learning beyond this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practice slide helps students distinguish responses that honor the MET spirit from those that violate it. Each wrong response demonstrates a violation of one or more spirit elements. Each correct response maintains collaboration while still moving toward exploration. The key insight is that acknowledging the positive function of drinking (stress relief) is NOT endorsing the behavior - it's building rapport and trust that will allow deeper exploration later.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exercises should be done in pairs or small groups. For Exercise 1, practice converting at least 10 closed questions to open ones. For Exercise 2, write affirmations that are specific, genuine, and focused on the client's qualities. For Exercise 3, practice making reflections at progressively deeper levels - this is the hardest skill and requires extensive practice. The ability to shift between simple and complex reflections based on clinical need is a hallmark of MI proficiency.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Values clarification is one of the most powerful tools for developing discrepancy. When clients explicitly name their highest values and then examine how their substance use conflicts with those values, genuine internal motivation emerges. The therapist does NOT point out the discrepancy - instead asks the question ('How does drinking fit with this value?') and lets the client discover it themselves. This creates far more powerful cognitive dissonance than any external confrontation could achieve.</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rulers are deceptively simple tools with enormous clinical utility. The magic is in the follow-up questions. 'Why X and not lower?' ALWAYS evokes change talk because the client must articulate reasons they have SOME motivation or confidence. Never ask 'Why not higher?' because that evokes sustain talk (reasons they're NOT motivated). The clinical decision matrix (importance vs. confidence) provides clear guidance on therapeutic focus. This can be used in every session as a check-in.</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NIMHANS manual situates MET within a broader stepped care framework appropriate for the Indian healthcare system. Step 1 involves routine screening in primary care - the 5-A strategy makes this systematic. Step 2 is a single brief intervention session using FRAMES. Step 3 is where MET fits - for those needing more than brief intervention but not requiring intensive treatment. Step 4 is specialized care. This model maximizes resource efficiency by matching treatment intensity to need.</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NIMHANS manual uses DARES (slightly different order from Miller &amp; Rollnick's presentation) as a memorable acronym for MI principles. This is identical in content to the core MET principles but organized mnemonically for training purposes. Note that 'Avoid Argumentation' replaces the original 'Roll with Resistance' was later updated in Miller &amp; Rollnick's 3rd edition where they replaced these four principles with the four processes of MI. However, DARES remains widely used in training.</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NIMHANS manual outlines a four-step process for eliciting change talk that parallels the DARN model. Step 1 (disadvantages of status quo) evokes Reasons and Need. Step 2 (advantages of change) evokes Desire. Step 3 (optimism) evokes Ability. Step 4 (intent) evokes Commitment. This provides a practical sequence for therapists to follow during sessions. The emphasis on encouraging elaboration and exploring goals/values to find discrepancies aligns with core MET practice.</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Relapse prevention is incorporated into MET's later sessions but must maintain the MET spirit. Rather than prescribing coping strategies, the therapist explores with the client what situations might be risky and how they might handle them. This collaborative approach to RP planning increases ownership and adherence. The Marlatt &amp; Gordon model shows that self-efficacy is the key mediator - MET's emphasis on building self-efficacy naturally supports relapse prevention.</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case demonstrates MET with severe opioid dependence. Key insight: importance is already very high (9/10) so developing discrepancy is unnecessary and potentially harmful (could increase hopelessness). The focus must be entirely on building self-efficacy (confidence = 1/10). MET is combined with pharmacotherapy (OST) which the NIMHANS manual supports. The therapist's role is to instill hope, identify even tiny past successes, and support engagement with medication.</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Mandated clients are often considered the most difficult, but MET is actually well-suited for them because it addresses the reactance that mandated treatment creates. By emphasizing autonomy ('What you do here is your choice'), the therapist paradoxically increases engagement. The key is to find ANY genuine motivation beyond the mandate - even a small personal reason for change provides a foundation. Research shows that MI/MET is particularly effective with angry, resistant clients compared to other approaches.</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Understanding mechanisms helps refine practice. The best-supported mechanism is the Moyers/Amrhein causal chain: therapist behavior influences client in-session language, which predicts out-of-session behavior change. This has been replicated across multiple studies. The clinical implication is clear: focus on evoking and reinforcing change talk. Other proposed mechanisms (self-perception, dissonance, self-efficacy, alliance) are theoretically supported but have less direct empirical evidence of mediation.</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Treatment fidelity is the bridge between research efficacy and clinical effectiveness. The MITI (Motivational Interviewing Treatment Integrity) coding system provides standardized assessment. Sessions are recorded and coded by trained raters. Key metrics include reflection-to-question ratio, percentage of complex reflections, and presence of MI-consistent vs. MI-inconsistent behaviors. Regular fidelity monitoring with feedback is essential for maintaining quality in clinical practice.</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group exercise builds the crucial skill of recognizing change talk and sustain talk in real-time. In actual sessions, this recognition must be automatic. Each statement should be classified by type (DARN-CAT for change talk; reasons/desire/ability/need to maintain status quo for sustain talk). Then students practice responding: for change talk, reflect it warmly and ask for elaboration ('Tell me more about that'). For sustain talk, acknowledge briefly without dwelling and redirect.</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Dual diagnosis is the norm rather than the exception in substance use treatment. MET can be applied to the substance use component while integrated with disorder-specific treatments. The key adaptation is recognizing which comorbidity is driving the use and tailoring the discrepancy development accordingly. For depression: the cycle of alcohol worsening depression is a powerful discrepancy. For anxiety: building confidence in alternative coping methods is crucial. For psychosis: simplify and shorten sessions. For PTSD: trauma-informed modifications are essential.</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future of MET/MI is dynamic. Technology offers new delivery methods (apps, telehealth, even AI-assisted interventions), while neuroscience provides deeper understanding of mechanisms. Implementation science addresses the gap between research efficacy and real-world effectiveness. The NIMHANS model of training non-specialists is increasingly relevant globally. Behavioral addictions (gaming, social media) represent new application areas. The vision is MI principles becoming a foundational clinical skill for ALL healthcare professionals.</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presentation with these memorable quotes that encapsulate the MET philosophy. Remind students that they are now equipped with knowledge that can genuinely help people change. The spirit of MET - genuine care, respect, and belief in people's capacity for change - is both a clinical tool and a way of being. Encourage students to practice these skills in their everyday interactions, not just in formal therapy sessions.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8.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9.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0.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4.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5.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8.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9.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744"/>
        </a:solidFill>
        <a:effectLst/>
      </p:bgPr>
    </p:bg>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914400" y="2286000"/>
            <a:ext cx="10058400" cy="1828800"/>
          </a:xfrm>
          <a:prstGeom prst="rect">
            <a:avLst/>
          </a:prstGeom>
          <a:noFill/>
        </p:spPr>
        <p:txBody>
          <a:bodyPr wrap="square">
            <a:spAutoFit/>
          </a:bodyPr>
          <a:lstStyle/>
          <a:p>
            <a:pPr algn="ctr">
              <a:defRPr sz="4000" b="1">
                <a:solidFill>
                  <a:srgbClr val="FFFFFF"/>
                </a:solidFill>
              </a:defRPr>
            </a:pPr>
            <a:r>
              <a:t>MOTIVATIONAL ENHANCEMENT THERAPY (MET)</a:t>
            </a:r>
          </a:p>
        </p:txBody>
      </p:sp>
      <p:sp>
        <p:nvSpPr>
          <p:cNvPr id="5" name="TextBox 4"/>
          <p:cNvSpPr txBox="1"/>
          <p:nvPr/>
        </p:nvSpPr>
        <p:spPr>
          <a:xfrm>
            <a:off x="914400" y="4114800"/>
            <a:ext cx="10058400" cy="1371600"/>
          </a:xfrm>
          <a:prstGeom prst="rect">
            <a:avLst/>
          </a:prstGeom>
          <a:noFill/>
        </p:spPr>
        <p:txBody>
          <a:bodyPr wrap="square">
            <a:spAutoFit/>
          </a:bodyPr>
          <a:lstStyle/>
          <a:p>
            <a:pPr algn="ctr">
              <a:defRPr sz="2000">
                <a:solidFill>
                  <a:srgbClr val="D6EAF8"/>
                </a:solidFill>
              </a:defRPr>
            </a:pPr>
            <a:r>
              <a:t>A Comprehensive Evidence-Based Presentation for Postgraduate Clinical Psychology Education</a:t>
            </a:r>
            <a:br/>
            <a:r>
              <a:t>Based on Project MATCH Manual (Miller et al., 1995) &amp; NIMHANS Psychosocial Interventions Manual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D5FA6"/>
        </a:solidFill>
        <a:effectLst/>
      </p:bgPr>
    </p:bg>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914400" y="1828800"/>
            <a:ext cx="10058400" cy="1371600"/>
          </a:xfrm>
          <a:prstGeom prst="rect">
            <a:avLst/>
          </a:prstGeom>
          <a:noFill/>
        </p:spPr>
        <p:txBody>
          <a:bodyPr wrap="none">
            <a:spAutoFit/>
          </a:bodyPr>
          <a:lstStyle/>
          <a:p>
            <a:pPr algn="ctr">
              <a:defRPr sz="1800">
                <a:solidFill>
                  <a:srgbClr val="B7950B"/>
                </a:solidFill>
              </a:defRPr>
            </a:pPr>
            <a:r>
              <a:t>SECTION 1</a:t>
            </a:r>
          </a:p>
        </p:txBody>
      </p:sp>
      <p:sp>
        <p:nvSpPr>
          <p:cNvPr id="5" name="TextBox 4"/>
          <p:cNvSpPr txBox="1"/>
          <p:nvPr/>
        </p:nvSpPr>
        <p:spPr>
          <a:xfrm>
            <a:off x="914400" y="2926080"/>
            <a:ext cx="10058400" cy="1828800"/>
          </a:xfrm>
          <a:prstGeom prst="rect">
            <a:avLst/>
          </a:prstGeom>
          <a:noFill/>
        </p:spPr>
        <p:txBody>
          <a:bodyPr wrap="square">
            <a:spAutoFit/>
          </a:bodyPr>
          <a:lstStyle/>
          <a:p>
            <a:pPr algn="ctr">
              <a:defRPr sz="3600" b="1">
                <a:solidFill>
                  <a:srgbClr val="FFFFFF"/>
                </a:solidFill>
              </a:defRPr>
            </a:pPr>
            <a:r>
              <a:t>Introduction to Motivational Enhancement Therapy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Definition of Motivation</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Define motivation in clinical context and understand its dynamic nature</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Motivation: An internal state that energizes, directs, and sustains behavior toward goals</a:t>
            </a:r>
          </a:p>
          <a:p>
            <a:pPr>
              <a:spcAft>
                <a:spcPts val="600"/>
              </a:spcAft>
              <a:defRPr sz="1600">
                <a:solidFill>
                  <a:srgbClr val="2C3E50"/>
                </a:solidFill>
              </a:defRPr>
            </a:pPr>
            <a:r>
              <a:t>In clinical context: The probability that a person will enter into, continue, and adhere to a specific change strategy</a:t>
            </a:r>
          </a:p>
          <a:p>
            <a:pPr>
              <a:spcAft>
                <a:spcPts val="600"/>
              </a:spcAft>
              <a:defRPr sz="1600">
                <a:solidFill>
                  <a:srgbClr val="2C3E50"/>
                </a:solidFill>
              </a:defRPr>
            </a:pPr>
            <a:r>
              <a:t>Motivation is NOT a personality trait or static characteristic</a:t>
            </a:r>
          </a:p>
          <a:p>
            <a:pPr>
              <a:spcAft>
                <a:spcPts val="600"/>
              </a:spcAft>
              <a:defRPr sz="1600">
                <a:solidFill>
                  <a:srgbClr val="2C3E50"/>
                </a:solidFill>
              </a:defRPr>
            </a:pPr>
            <a:r>
              <a:t>It is a state of readiness or eagerness to change, which may fluctuate over time and across situations</a:t>
            </a:r>
          </a:p>
          <a:p>
            <a:pPr>
              <a:spcAft>
                <a:spcPts val="600"/>
              </a:spcAft>
              <a:defRPr sz="1600">
                <a:solidFill>
                  <a:srgbClr val="2C3E50"/>
                </a:solidFill>
              </a:defRPr>
            </a:pPr>
            <a:r>
              <a:t>Miller (1985): 'Motivation is not something that one has but rather something one does'</a:t>
            </a:r>
          </a:p>
          <a:p>
            <a:pPr>
              <a:spcAft>
                <a:spcPts val="600"/>
              </a:spcAft>
              <a:defRPr sz="1600">
                <a:solidFill>
                  <a:srgbClr val="2C3E50"/>
                </a:solidFill>
              </a:defRPr>
            </a:pPr>
            <a:r>
              <a:t>Motivation involves the interaction between the person and their environment</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Motivation is not a fixed trait but a dynamic state that therapists can actively influence through their interaction style.</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(1985). Motivation for treatment: A review with special emphasis on alcoholism. Psychological Bulletin, 98, 84-107. | Miller, W.R., &amp; Rollnick, S. (2013). Motivational interviewing: Helping people change (3rd ed.). Guilford Press.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What is Behaviour Change?</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Understand the multidimensional nature of behaviour change</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Behaviour change: The process of modifying habitual patterns of action</a:t>
            </a:r>
          </a:p>
          <a:p>
            <a:pPr>
              <a:spcAft>
                <a:spcPts val="600"/>
              </a:spcAft>
              <a:defRPr sz="1600">
                <a:solidFill>
                  <a:srgbClr val="2C3E50"/>
                </a:solidFill>
              </a:defRPr>
            </a:pPr>
            <a:r>
              <a:t>Involves cognitive, emotional, and behavioral components</a:t>
            </a:r>
          </a:p>
          <a:p>
            <a:pPr>
              <a:spcAft>
                <a:spcPts val="600"/>
              </a:spcAft>
              <a:defRPr sz="1600">
                <a:solidFill>
                  <a:srgbClr val="2C3E50"/>
                </a:solidFill>
              </a:defRPr>
            </a:pPr>
            <a:r>
              <a:t>Key principles of behaviour change:</a:t>
            </a:r>
          </a:p>
          <a:p>
            <a:pPr lvl="1">
              <a:spcAft>
                <a:spcPts val="600"/>
              </a:spcAft>
              <a:defRPr sz="1400">
                <a:solidFill>
                  <a:srgbClr val="2C3E50"/>
                </a:solidFill>
              </a:defRPr>
            </a:pPr>
            <a:r>
              <a:t>  1. Change is a process, not an event</a:t>
            </a:r>
          </a:p>
          <a:p>
            <a:pPr lvl="1">
              <a:spcAft>
                <a:spcPts val="600"/>
              </a:spcAft>
              <a:defRPr sz="1400">
                <a:solidFill>
                  <a:srgbClr val="2C3E50"/>
                </a:solidFill>
              </a:defRPr>
            </a:pPr>
            <a:r>
              <a:t>  2. People move through identifiable stages</a:t>
            </a:r>
          </a:p>
          <a:p>
            <a:pPr lvl="1">
              <a:spcAft>
                <a:spcPts val="600"/>
              </a:spcAft>
              <a:defRPr sz="1400">
                <a:solidFill>
                  <a:srgbClr val="2C3E50"/>
                </a:solidFill>
              </a:defRPr>
            </a:pPr>
            <a:r>
              <a:t>  3. Ambivalence is normal and expected</a:t>
            </a:r>
          </a:p>
          <a:p>
            <a:pPr lvl="1">
              <a:spcAft>
                <a:spcPts val="600"/>
              </a:spcAft>
              <a:defRPr sz="1400">
                <a:solidFill>
                  <a:srgbClr val="2C3E50"/>
                </a:solidFill>
              </a:defRPr>
            </a:pPr>
            <a:r>
              <a:t>  4. The therapeutic relationship strongly influences change</a:t>
            </a:r>
          </a:p>
          <a:p>
            <a:pPr lvl="1">
              <a:spcAft>
                <a:spcPts val="600"/>
              </a:spcAft>
              <a:defRPr sz="1400">
                <a:solidFill>
                  <a:srgbClr val="2C3E50"/>
                </a:solidFill>
              </a:defRPr>
            </a:pPr>
            <a:r>
              <a:t>  5. Intrinsic motivation is more durable than extrinsic pressure</a:t>
            </a:r>
          </a:p>
          <a:p>
            <a:pPr>
              <a:spcAft>
                <a:spcPts val="600"/>
              </a:spcAft>
              <a:defRPr sz="1600">
                <a:solidFill>
                  <a:srgbClr val="2C3E50"/>
                </a:solidFill>
              </a:defRPr>
            </a:pPr>
            <a:r>
              <a:t>In substance use: Moving from harmful patterns to healthier alternatives</a:t>
            </a:r>
          </a:p>
          <a:p>
            <a:pPr>
              <a:spcAft>
                <a:spcPts val="600"/>
              </a:spcAft>
              <a:defRPr sz="1600">
                <a:solidFill>
                  <a:srgbClr val="2C3E50"/>
                </a:solidFill>
              </a:defRPr>
            </a:pPr>
            <a:r>
              <a:t>Behaviour change requires both motivation (why) and self-efficacy (how)</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Change is a process with identifiable stages; ambivalence is normal and the therapeutic relationship is a key driver of change.</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Prochaska, J.O., &amp; DiClemente, C.C. (1984). The transtheoretical approach. Dow Jones/Irwin. | Murthy, P. (2008). Psychosocial interventions for persons with substance abuse. NIMHANS Publication.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Why People Resist Change</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Identify psychological and biological factors underlying resistance to change</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Psychological Reactance: Perceived threats to personal freedom trigger opposition</a:t>
            </a:r>
          </a:p>
          <a:p>
            <a:pPr>
              <a:spcAft>
                <a:spcPts val="600"/>
              </a:spcAft>
              <a:defRPr sz="1600">
                <a:solidFill>
                  <a:srgbClr val="2C3E50"/>
                </a:solidFill>
              </a:defRPr>
            </a:pPr>
            <a:r>
              <a:t>Ambivalence: Simultaneous desire to change AND to maintain status quo</a:t>
            </a:r>
          </a:p>
          <a:p>
            <a:pPr>
              <a:spcAft>
                <a:spcPts val="600"/>
              </a:spcAft>
              <a:defRPr sz="1600">
                <a:solidFill>
                  <a:srgbClr val="2C3E50"/>
                </a:solidFill>
              </a:defRPr>
            </a:pPr>
            <a:r>
              <a:t>Fear of the unknown: Familiar patterns feel safe even when harmful</a:t>
            </a:r>
          </a:p>
          <a:p>
            <a:pPr>
              <a:spcAft>
                <a:spcPts val="600"/>
              </a:spcAft>
              <a:defRPr sz="1600">
                <a:solidFill>
                  <a:srgbClr val="2C3E50"/>
                </a:solidFill>
              </a:defRPr>
            </a:pPr>
            <a:r>
              <a:t>Loss of perceived benefits: Substances serve functions (coping, social, pleasure)</a:t>
            </a:r>
          </a:p>
          <a:p>
            <a:pPr>
              <a:spcAft>
                <a:spcPts val="600"/>
              </a:spcAft>
              <a:defRPr sz="1600">
                <a:solidFill>
                  <a:srgbClr val="2C3E50"/>
                </a:solidFill>
              </a:defRPr>
            </a:pPr>
            <a:r>
              <a:t>Cognitive dissonance avoidance: Minimization, denial, rationalization</a:t>
            </a:r>
          </a:p>
          <a:p>
            <a:pPr>
              <a:spcAft>
                <a:spcPts val="600"/>
              </a:spcAft>
              <a:defRPr sz="1600">
                <a:solidFill>
                  <a:srgbClr val="2C3E50"/>
                </a:solidFill>
              </a:defRPr>
            </a:pPr>
            <a:r>
              <a:t>Low self-efficacy: 'I can't do it' beliefs prevent attempts</a:t>
            </a:r>
          </a:p>
          <a:p>
            <a:pPr>
              <a:spcAft>
                <a:spcPts val="600"/>
              </a:spcAft>
              <a:defRPr sz="1600">
                <a:solidFill>
                  <a:srgbClr val="2C3E50"/>
                </a:solidFill>
              </a:defRPr>
            </a:pPr>
            <a:r>
              <a:t>Environmental reinforcement: Social networks that support continued use</a:t>
            </a:r>
          </a:p>
          <a:p>
            <a:pPr>
              <a:spcAft>
                <a:spcPts val="600"/>
              </a:spcAft>
              <a:defRPr sz="1600">
                <a:solidFill>
                  <a:srgbClr val="2C3E50"/>
                </a:solidFill>
              </a:defRPr>
            </a:pPr>
            <a:r>
              <a:t>Neurobiological factors: Brain reward circuits maintain addictive behaviors</a:t>
            </a:r>
          </a:p>
          <a:p>
            <a:pPr>
              <a:spcAft>
                <a:spcPts val="600"/>
              </a:spcAft>
              <a:defRPr sz="1600">
                <a:solidFill>
                  <a:srgbClr val="2C3E50"/>
                </a:solidFill>
              </a:defRPr>
            </a:pPr>
            <a:r>
              <a:t>Secondary gains: Attention, sick role, avoidance of responsibilities</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Resistance is a normal interpersonal phenomenon influenced by therapist style, not solely a client deficit.</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Motivational Enhancement Therapy Manual. NIAAA. | Brehm, S.S., &amp; Brehm, J.W. (1981). Psychological reactance. Academic Press. | Patterson, G.A., &amp; Forgatch, M.S. (1985). Journal of Consulting and Clinical Psychology, 53, 846-851.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Why Traditional Confrontation Fails</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Understand evidence against confrontational approaches in addiction treatment</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Confrontational approaches assume denial is a defense that must be 'broken through'</a:t>
            </a:r>
          </a:p>
          <a:p>
            <a:pPr>
              <a:spcAft>
                <a:spcPts val="600"/>
              </a:spcAft>
              <a:defRPr sz="1600">
                <a:solidFill>
                  <a:srgbClr val="2C3E50"/>
                </a:solidFill>
              </a:defRPr>
            </a:pPr>
            <a:r>
              <a:t>Research evidence: Aggressive confrontation INCREASES resistance (Miller et al., 1993)</a:t>
            </a:r>
          </a:p>
          <a:p>
            <a:pPr>
              <a:spcAft>
                <a:spcPts val="600"/>
              </a:spcAft>
              <a:defRPr sz="1600">
                <a:solidFill>
                  <a:srgbClr val="2C3E50"/>
                </a:solidFill>
              </a:defRPr>
            </a:pPr>
            <a:r>
              <a:t>Confrontation evokes defensive argumentation from clients</a:t>
            </a:r>
          </a:p>
          <a:p>
            <a:pPr>
              <a:spcAft>
                <a:spcPts val="600"/>
              </a:spcAft>
              <a:defRPr sz="1600">
                <a:solidFill>
                  <a:srgbClr val="2C3E50"/>
                </a:solidFill>
              </a:defRPr>
            </a:pPr>
            <a:r>
              <a:t>Self-perception theory: 'If I argue I don't have a problem, I believe it more'</a:t>
            </a:r>
          </a:p>
          <a:p>
            <a:pPr>
              <a:spcAft>
                <a:spcPts val="600"/>
              </a:spcAft>
              <a:defRPr sz="1600">
                <a:solidFill>
                  <a:srgbClr val="2C3E50"/>
                </a:solidFill>
              </a:defRPr>
            </a:pPr>
            <a:r>
              <a:t>Miller (1995): 'The worst persuasion strategy evokes defensive argumentation'</a:t>
            </a:r>
          </a:p>
          <a:p>
            <a:pPr>
              <a:spcAft>
                <a:spcPts val="600"/>
              </a:spcAft>
              <a:defRPr sz="1600">
                <a:solidFill>
                  <a:srgbClr val="2C3E50"/>
                </a:solidFill>
              </a:defRPr>
            </a:pPr>
            <a:r>
              <a:t>Confrontation damages therapeutic alliance - the strongest predictor of outcome</a:t>
            </a:r>
          </a:p>
          <a:p>
            <a:pPr>
              <a:spcAft>
                <a:spcPts val="600"/>
              </a:spcAft>
              <a:defRPr sz="1600">
                <a:solidFill>
                  <a:srgbClr val="2C3E50"/>
                </a:solidFill>
              </a:defRPr>
            </a:pPr>
            <a:r>
              <a:t>High therapist confrontation correlates with poor outcomes and higher dropout</a:t>
            </a:r>
          </a:p>
          <a:p>
            <a:pPr>
              <a:spcAft>
                <a:spcPts val="600"/>
              </a:spcAft>
              <a:defRPr sz="1600">
                <a:solidFill>
                  <a:srgbClr val="2C3E50"/>
                </a:solidFill>
              </a:defRPr>
            </a:pPr>
            <a:r>
              <a:t>Valle (1981): Empathic therapist style predicted 2-year outcomes better than any other factor</a:t>
            </a:r>
          </a:p>
          <a:p>
            <a:pPr>
              <a:spcAft>
                <a:spcPts val="600"/>
              </a:spcAft>
              <a:defRPr sz="1600">
                <a:solidFill>
                  <a:srgbClr val="2C3E50"/>
                </a:solidFill>
              </a:defRPr>
            </a:pPr>
            <a:r>
              <a:t>The Dodo Bird Effect: Relationship factors outweigh technique across therapies</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Confrontation increases resistance; empathic approaches produce better outcomes in addiction treatment.</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Benefield, R.G., &amp; Tonigan, J.S. (1993). Journal of Consulting and Clinical Psychology, 61, 455-461. | Valle, S.K. (1981). Journal of Studies on Alcohol, 42, 783-790. | Miller, W.R., et al. (1995). MET Manual, Project MATCH.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Introduction to Motivational Enhancement Therapy (MET)</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Define MET and understand its position among evidence-based addiction treatments</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MET: A systematic intervention approach based on principles of motivational psychology</a:t>
            </a:r>
          </a:p>
          <a:p>
            <a:pPr>
              <a:spcAft>
                <a:spcPts val="600"/>
              </a:spcAft>
              <a:defRPr sz="1600">
                <a:solidFill>
                  <a:srgbClr val="2C3E50"/>
                </a:solidFill>
              </a:defRPr>
            </a:pPr>
            <a:r>
              <a:t>Designed to produce rapid, internally motivated change</a:t>
            </a:r>
          </a:p>
          <a:p>
            <a:pPr>
              <a:spcAft>
                <a:spcPts val="600"/>
              </a:spcAft>
              <a:defRPr sz="1600">
                <a:solidFill>
                  <a:srgbClr val="2C3E50"/>
                </a:solidFill>
              </a:defRPr>
            </a:pPr>
            <a:r>
              <a:t>Does NOT guide client step-by-step through recovery</a:t>
            </a:r>
          </a:p>
          <a:p>
            <a:pPr>
              <a:spcAft>
                <a:spcPts val="600"/>
              </a:spcAft>
              <a:defRPr sz="1600">
                <a:solidFill>
                  <a:srgbClr val="2C3E50"/>
                </a:solidFill>
              </a:defRPr>
            </a:pPr>
            <a:r>
              <a:t>Instead employs motivational strategies to mobilize client's OWN resources</a:t>
            </a:r>
          </a:p>
          <a:p>
            <a:pPr>
              <a:spcAft>
                <a:spcPts val="600"/>
              </a:spcAft>
              <a:defRPr sz="1600">
                <a:solidFill>
                  <a:srgbClr val="2C3E50"/>
                </a:solidFill>
              </a:defRPr>
            </a:pPr>
            <a:r>
              <a:t>Originally developed for Project MATCH (NIAAA, 1989-1997)</a:t>
            </a:r>
          </a:p>
          <a:p>
            <a:pPr>
              <a:spcAft>
                <a:spcPts val="600"/>
              </a:spcAft>
              <a:defRPr sz="1600">
                <a:solidFill>
                  <a:srgbClr val="2C3E50"/>
                </a:solidFill>
              </a:defRPr>
            </a:pPr>
            <a:r>
              <a:t>A brief, 4-session structured intervention</a:t>
            </a:r>
          </a:p>
          <a:p>
            <a:pPr>
              <a:spcAft>
                <a:spcPts val="600"/>
              </a:spcAft>
              <a:defRPr sz="1600">
                <a:solidFill>
                  <a:srgbClr val="2C3E50"/>
                </a:solidFill>
              </a:defRPr>
            </a:pPr>
            <a:r>
              <a:t>Combines motivational interviewing with personalized assessment feedback</a:t>
            </a:r>
          </a:p>
          <a:p>
            <a:pPr>
              <a:spcAft>
                <a:spcPts val="600"/>
              </a:spcAft>
              <a:defRPr sz="1600">
                <a:solidFill>
                  <a:srgbClr val="2C3E50"/>
                </a:solidFill>
              </a:defRPr>
            </a:pPr>
            <a:r>
              <a:t>Evidence-based: One of three treatments in Project MATCH alongside CBT and TSF</a:t>
            </a:r>
          </a:p>
          <a:p>
            <a:pPr>
              <a:spcAft>
                <a:spcPts val="600"/>
              </a:spcAft>
              <a:defRPr sz="1600">
                <a:solidFill>
                  <a:srgbClr val="2C3E50"/>
                </a:solidFill>
              </a:defRPr>
            </a:pPr>
            <a:r>
              <a:t>Cost-effective and time-efficient compared to longer treatments</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MET is a brief, 4-session evidence-based intervention that mobilizes clients' own internal motivation for change.</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Zweben, A., DiClemente, C.C., &amp; Rychtarik, R.G. (1995). Motivational Enhancement Therapy Manual. NIAAA, NIH Publication No. 94-3723. | Project MATCH Research Group. (1997). Matching alcoholism treatments to client heterogeneity. Journal of Studies on Alcohol, 58, 7-29.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Definition and Key Features of MET</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Distinguish MET from Motivational Interviewing and identify key features</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DEFINITION: MET is a client-centered, directive therapeutic style that enhances</a:t>
            </a:r>
          </a:p>
          <a:p>
            <a:pPr lvl="1">
              <a:spcAft>
                <a:spcPts val="600"/>
              </a:spcAft>
              <a:defRPr sz="1400">
                <a:solidFill>
                  <a:srgbClr val="2C3E50"/>
                </a:solidFill>
              </a:defRPr>
            </a:pPr>
            <a:r>
              <a:t>  intrinsic motivation to change by exploring and resolving ambivalence</a:t>
            </a:r>
          </a:p>
          <a:p>
            <a:pPr>
              <a:spcAft>
                <a:spcPts val="600"/>
              </a:spcAft>
              <a:defRPr sz="1600">
                <a:solidFill>
                  <a:srgbClr val="2C3E50"/>
                </a:solidFill>
              </a:defRPr>
            </a:pPr>
            <a:r>
              <a:t>KEY FEATURES:</a:t>
            </a:r>
          </a:p>
          <a:p>
            <a:pPr lvl="1">
              <a:spcAft>
                <a:spcPts val="600"/>
              </a:spcAft>
              <a:defRPr sz="1400">
                <a:solidFill>
                  <a:srgbClr val="2C3E50"/>
                </a:solidFill>
              </a:defRPr>
            </a:pPr>
            <a:r>
              <a:t>  • Brief (4 sessions in Project MATCH protocol)</a:t>
            </a:r>
          </a:p>
          <a:p>
            <a:pPr lvl="1">
              <a:spcAft>
                <a:spcPts val="600"/>
              </a:spcAft>
              <a:defRPr sz="1400">
                <a:solidFill>
                  <a:srgbClr val="2C3E50"/>
                </a:solidFill>
              </a:defRPr>
            </a:pPr>
            <a:r>
              <a:t>  • Structured but flexible and individualized</a:t>
            </a:r>
          </a:p>
          <a:p>
            <a:pPr lvl="1">
              <a:spcAft>
                <a:spcPts val="600"/>
              </a:spcAft>
              <a:defRPr sz="1400">
                <a:solidFill>
                  <a:srgbClr val="2C3E50"/>
                </a:solidFill>
              </a:defRPr>
            </a:pPr>
            <a:r>
              <a:t>  • Based on personalized assessment feedback</a:t>
            </a:r>
          </a:p>
          <a:p>
            <a:pPr lvl="1">
              <a:spcAft>
                <a:spcPts val="600"/>
              </a:spcAft>
              <a:defRPr sz="1400">
                <a:solidFill>
                  <a:srgbClr val="2C3E50"/>
                </a:solidFill>
              </a:defRPr>
            </a:pPr>
            <a:r>
              <a:t>  • Non-confrontational and non-judgmental</a:t>
            </a:r>
          </a:p>
          <a:p>
            <a:pPr lvl="1">
              <a:spcAft>
                <a:spcPts val="600"/>
              </a:spcAft>
              <a:defRPr sz="1400">
                <a:solidFill>
                  <a:srgbClr val="2C3E50"/>
                </a:solidFill>
              </a:defRPr>
            </a:pPr>
            <a:r>
              <a:t>  • Client-centered in spirit, directive in strategy</a:t>
            </a:r>
          </a:p>
          <a:p>
            <a:pPr lvl="1">
              <a:spcAft>
                <a:spcPts val="600"/>
              </a:spcAft>
              <a:defRPr sz="1400">
                <a:solidFill>
                  <a:srgbClr val="2C3E50"/>
                </a:solidFill>
              </a:defRPr>
            </a:pPr>
            <a:r>
              <a:t>  • Focuses on eliciting change talk from the client</a:t>
            </a:r>
          </a:p>
          <a:p>
            <a:pPr lvl="1">
              <a:spcAft>
                <a:spcPts val="600"/>
              </a:spcAft>
              <a:defRPr sz="1400">
                <a:solidFill>
                  <a:srgbClr val="2C3E50"/>
                </a:solidFill>
              </a:defRPr>
            </a:pPr>
            <a:r>
              <a:t>  • Supports client autonomy and self-efficacy</a:t>
            </a:r>
          </a:p>
          <a:p>
            <a:pPr lvl="1">
              <a:spcAft>
                <a:spcPts val="600"/>
              </a:spcAft>
              <a:defRPr sz="1400">
                <a:solidFill>
                  <a:srgbClr val="2C3E50"/>
                </a:solidFill>
              </a:defRPr>
            </a:pPr>
            <a:r>
              <a:t>  • Uses specific motivational strategies (FRAMES, OARS)</a:t>
            </a:r>
          </a:p>
          <a:p>
            <a:pPr>
              <a:spcAft>
                <a:spcPts val="600"/>
              </a:spcAft>
              <a:defRPr sz="1600">
                <a:solidFill>
                  <a:srgbClr val="2C3E50"/>
                </a:solidFill>
              </a:defRPr>
            </a:pPr>
            <a:r>
              <a:t>MET = Motivational Interviewing + Structured Feedback + Personal Plan</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MET combines the spirit of MI with structured personalized feedback in a brief 4-session protocol.</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 Miller, W.R., &amp; Rollnick, S. (1991). Motivational interviewing: Preparing people to change addictive behavior. Guilford Press. | Murthy, P. (2008). NIMHANS Manual.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Origin and Historical Development of MET</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Trace the historical development of MET from its origins to current applications</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1983: Miller publishes 'Motivational Interviewing with Problem Drinkers' - seminal paper</a:t>
            </a:r>
          </a:p>
          <a:p>
            <a:pPr>
              <a:spcAft>
                <a:spcPts val="600"/>
              </a:spcAft>
              <a:defRPr sz="1600">
                <a:solidFill>
                  <a:srgbClr val="2C3E50"/>
                </a:solidFill>
              </a:defRPr>
            </a:pPr>
            <a:r>
              <a:t>1989: Project MATCH initiated by NIAAA Treatment Research Branch</a:t>
            </a:r>
          </a:p>
          <a:p>
            <a:pPr>
              <a:spcAft>
                <a:spcPts val="600"/>
              </a:spcAft>
              <a:defRPr sz="1600">
                <a:solidFill>
                  <a:srgbClr val="2C3E50"/>
                </a:solidFill>
              </a:defRPr>
            </a:pPr>
            <a:r>
              <a:t>1991: Miller &amp; Rollnick publish first MI textbook</a:t>
            </a:r>
          </a:p>
          <a:p>
            <a:pPr>
              <a:spcAft>
                <a:spcPts val="600"/>
              </a:spcAft>
              <a:defRPr sz="1600">
                <a:solidFill>
                  <a:srgbClr val="2C3E50"/>
                </a:solidFill>
              </a:defRPr>
            </a:pPr>
            <a:r>
              <a:t>1992: MET manual drafted for Project MATCH (9 clinical sites)</a:t>
            </a:r>
          </a:p>
          <a:p>
            <a:pPr>
              <a:spcAft>
                <a:spcPts val="600"/>
              </a:spcAft>
              <a:defRPr sz="1600">
                <a:solidFill>
                  <a:srgbClr val="2C3E50"/>
                </a:solidFill>
              </a:defRPr>
            </a:pPr>
            <a:r>
              <a:t>1994: MET Manual published (NIH Publication No. 94-3723)</a:t>
            </a:r>
          </a:p>
          <a:p>
            <a:pPr>
              <a:spcAft>
                <a:spcPts val="600"/>
              </a:spcAft>
              <a:defRPr sz="1600">
                <a:solidFill>
                  <a:srgbClr val="2C3E50"/>
                </a:solidFill>
              </a:defRPr>
            </a:pPr>
            <a:r>
              <a:t>1997: Project MATCH results published - MET equivalent to 12-session treatments</a:t>
            </a:r>
          </a:p>
          <a:p>
            <a:pPr>
              <a:spcAft>
                <a:spcPts val="600"/>
              </a:spcAft>
              <a:defRPr sz="1600">
                <a:solidFill>
                  <a:srgbClr val="2C3E50"/>
                </a:solidFill>
              </a:defRPr>
            </a:pPr>
            <a:r>
              <a:t>2002: Miller &amp; Rollnick publish 2nd edition incorporating MI advances</a:t>
            </a:r>
          </a:p>
          <a:p>
            <a:pPr>
              <a:spcAft>
                <a:spcPts val="600"/>
              </a:spcAft>
              <a:defRPr sz="1600">
                <a:solidFill>
                  <a:srgbClr val="2C3E50"/>
                </a:solidFill>
              </a:defRPr>
            </a:pPr>
            <a:r>
              <a:t>2008: NIMHANS Manual integrates MET for Indian clinical settings</a:t>
            </a:r>
          </a:p>
          <a:p>
            <a:pPr>
              <a:spcAft>
                <a:spcPts val="600"/>
              </a:spcAft>
              <a:defRPr sz="1600">
                <a:solidFill>
                  <a:srgbClr val="2C3E50"/>
                </a:solidFill>
              </a:defRPr>
            </a:pPr>
            <a:r>
              <a:t>2013: Miller &amp; Rollnick 3rd edition - updated spirit and processes</a:t>
            </a:r>
          </a:p>
          <a:p>
            <a:pPr>
              <a:spcAft>
                <a:spcPts val="600"/>
              </a:spcAft>
              <a:defRPr sz="1600">
                <a:solidFill>
                  <a:srgbClr val="2C3E50"/>
                </a:solidFill>
              </a:defRPr>
            </a:pPr>
            <a:r>
              <a:t>2020s: MET adapted globally for multiple health behaviors beyond addiction</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MET evolved from Miller's 1983 paper through Project MATCH, proving that brief motivational therapy matches longer treatments.</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(1983). Motivational interviewing with problem drinkers. Behavioural Psychotherapy, 11, 147-172. | Project MATCH Research Group. (1997). Journal of Studies on Alcohol, 58, 7-29. | Miller, W.R., &amp; Rollnick, S. (2013). Motivational interviewing (3rd ed.). Guilford Press.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Difference Between Motivation and Compliance</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Differentiate intrinsic motivation from compliance in therapeutic contexts</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MOTIVATION vs. COMPLIANCE - A Critical Distinction:</a:t>
            </a:r>
          </a:p>
          <a:p>
            <a:pPr lvl="1">
              <a:spcAft>
                <a:spcPts val="600"/>
              </a:spcAft>
              <a:defRPr sz="1400">
                <a:solidFill>
                  <a:srgbClr val="2C3E50"/>
                </a:solidFill>
              </a:defRPr>
            </a:pPr>
            <a:r>
              <a:t>  Motivation: Internal desire to change; autonomous, self-directed</a:t>
            </a:r>
          </a:p>
          <a:p>
            <a:pPr lvl="1">
              <a:spcAft>
                <a:spcPts val="600"/>
              </a:spcAft>
              <a:defRPr sz="1400">
                <a:solidFill>
                  <a:srgbClr val="2C3E50"/>
                </a:solidFill>
              </a:defRPr>
            </a:pPr>
            <a:r>
              <a:t>  Compliance: External conformity to demands; controlled, other-directed</a:t>
            </a:r>
          </a:p>
          <a:p>
            <a:pPr>
              <a:spcAft>
                <a:spcPts val="600"/>
              </a:spcAft>
              <a:defRPr sz="1600">
                <a:solidFill>
                  <a:srgbClr val="2C3E50"/>
                </a:solidFill>
              </a:defRPr>
            </a:pPr>
            <a:r>
              <a:t>MOTIVATION characteristics:</a:t>
            </a:r>
          </a:p>
          <a:p>
            <a:pPr lvl="1">
              <a:spcAft>
                <a:spcPts val="600"/>
              </a:spcAft>
              <a:defRPr sz="1400">
                <a:solidFill>
                  <a:srgbClr val="2C3E50"/>
                </a:solidFill>
              </a:defRPr>
            </a:pPr>
            <a:r>
              <a:t>  • Internally driven, self-determined</a:t>
            </a:r>
          </a:p>
          <a:p>
            <a:pPr lvl="1">
              <a:spcAft>
                <a:spcPts val="600"/>
              </a:spcAft>
              <a:defRPr sz="1400">
                <a:solidFill>
                  <a:srgbClr val="2C3E50"/>
                </a:solidFill>
              </a:defRPr>
            </a:pPr>
            <a:r>
              <a:t>  • Sustainable long-term</a:t>
            </a:r>
          </a:p>
          <a:p>
            <a:pPr lvl="1">
              <a:spcAft>
                <a:spcPts val="600"/>
              </a:spcAft>
              <a:defRPr sz="1400">
                <a:solidFill>
                  <a:srgbClr val="2C3E50"/>
                </a:solidFill>
              </a:defRPr>
            </a:pPr>
            <a:r>
              <a:t>  • Associated with genuine behavior change</a:t>
            </a:r>
          </a:p>
          <a:p>
            <a:pPr lvl="1">
              <a:spcAft>
                <a:spcPts val="600"/>
              </a:spcAft>
              <a:defRPr sz="1400">
                <a:solidFill>
                  <a:srgbClr val="2C3E50"/>
                </a:solidFill>
              </a:defRPr>
            </a:pPr>
            <a:r>
              <a:t>  • Resilient to setbacks</a:t>
            </a:r>
          </a:p>
          <a:p>
            <a:pPr>
              <a:spcAft>
                <a:spcPts val="600"/>
              </a:spcAft>
              <a:defRPr sz="1600">
                <a:solidFill>
                  <a:srgbClr val="2C3E50"/>
                </a:solidFill>
              </a:defRPr>
            </a:pPr>
            <a:r>
              <a:t>COMPLIANCE characteristics:</a:t>
            </a:r>
          </a:p>
          <a:p>
            <a:pPr lvl="1">
              <a:spcAft>
                <a:spcPts val="600"/>
              </a:spcAft>
              <a:defRPr sz="1400">
                <a:solidFill>
                  <a:srgbClr val="2C3E50"/>
                </a:solidFill>
              </a:defRPr>
            </a:pPr>
            <a:r>
              <a:t>  • Externally driven by rewards/punishments</a:t>
            </a:r>
          </a:p>
          <a:p>
            <a:pPr lvl="1">
              <a:spcAft>
                <a:spcPts val="600"/>
              </a:spcAft>
              <a:defRPr sz="1400">
                <a:solidFill>
                  <a:srgbClr val="2C3E50"/>
                </a:solidFill>
              </a:defRPr>
            </a:pPr>
            <a:r>
              <a:t>  • Temporary, depends on external monitoring</a:t>
            </a:r>
          </a:p>
          <a:p>
            <a:pPr lvl="1">
              <a:spcAft>
                <a:spcPts val="600"/>
              </a:spcAft>
              <a:defRPr sz="1400">
                <a:solidFill>
                  <a:srgbClr val="2C3E50"/>
                </a:solidFill>
              </a:defRPr>
            </a:pPr>
            <a:r>
              <a:t>  • Associated with surface-level change only</a:t>
            </a:r>
          </a:p>
          <a:p>
            <a:pPr lvl="1">
              <a:spcAft>
                <a:spcPts val="600"/>
              </a:spcAft>
              <a:defRPr sz="1400">
                <a:solidFill>
                  <a:srgbClr val="2C3E50"/>
                </a:solidFill>
              </a:defRPr>
            </a:pPr>
            <a:r>
              <a:t>  • Collapses when external pressure removed</a:t>
            </a:r>
          </a:p>
          <a:p>
            <a:pPr>
              <a:spcAft>
                <a:spcPts val="600"/>
              </a:spcAft>
              <a:defRPr sz="1600">
                <a:solidFill>
                  <a:srgbClr val="2C3E50"/>
                </a:solidFill>
              </a:defRPr>
            </a:pPr>
            <a:r>
              <a:t>Self-Determination Theory: Autonomy, Competence, Relatedness drive true motivation</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MET targets genuine internal motivation rather than mere compliance, leading to more durable behavior change.</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Deci, E.L., &amp; Ryan, R.M. (2000). The 'what' and 'why' of goal pursuits. Psychological Inquiry, 11, 227-268. | Miller, W.R., et al. (1995). MET Manual. | Ryan, R.M., &amp; Deci, E.L. (2000). American Psychologist, 55, 68-78.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Why MET Was Developed</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Understand the clinical and research contexts that necessitated MET's development</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Clinical need: Many clients dropped out of confrontational programs</a:t>
            </a:r>
          </a:p>
          <a:p>
            <a:pPr>
              <a:spcAft>
                <a:spcPts val="600"/>
              </a:spcAft>
              <a:defRPr sz="1600">
                <a:solidFill>
                  <a:srgbClr val="2C3E50"/>
                </a:solidFill>
              </a:defRPr>
            </a:pPr>
            <a:r>
              <a:t>Research gap: No brief, empirically-supported motivational treatment existed</a:t>
            </a:r>
          </a:p>
          <a:p>
            <a:pPr>
              <a:spcAft>
                <a:spcPts val="600"/>
              </a:spcAft>
              <a:defRPr sz="1600">
                <a:solidFill>
                  <a:srgbClr val="2C3E50"/>
                </a:solidFill>
              </a:defRPr>
            </a:pPr>
            <a:r>
              <a:t>Project MATCH required a brief comparison therapy (4 sessions vs. 12 sessions)</a:t>
            </a:r>
          </a:p>
          <a:p>
            <a:pPr>
              <a:spcAft>
                <a:spcPts val="600"/>
              </a:spcAft>
              <a:defRPr sz="1600">
                <a:solidFill>
                  <a:srgbClr val="2C3E50"/>
                </a:solidFill>
              </a:defRPr>
            </a:pPr>
            <a:r>
              <a:t>Cost-effectiveness: Healthcare systems needed shorter, effective interventions</a:t>
            </a:r>
          </a:p>
          <a:p>
            <a:pPr>
              <a:spcAft>
                <a:spcPts val="600"/>
              </a:spcAft>
              <a:defRPr sz="1600">
                <a:solidFill>
                  <a:srgbClr val="2C3E50"/>
                </a:solidFill>
              </a:defRPr>
            </a:pPr>
            <a:r>
              <a:t>Therapist variability: Need for standardized motivational approach</a:t>
            </a:r>
          </a:p>
          <a:p>
            <a:pPr>
              <a:spcAft>
                <a:spcPts val="600"/>
              </a:spcAft>
              <a:defRPr sz="1600">
                <a:solidFill>
                  <a:srgbClr val="2C3E50"/>
                </a:solidFill>
              </a:defRPr>
            </a:pPr>
            <a:r>
              <a:t>Growing evidence that therapist empathy predicted outcomes (Valle, 1981; Miller et al., 1980)</a:t>
            </a:r>
          </a:p>
          <a:p>
            <a:pPr>
              <a:spcAft>
                <a:spcPts val="600"/>
              </a:spcAft>
              <a:defRPr sz="1600">
                <a:solidFill>
                  <a:srgbClr val="2C3E50"/>
                </a:solidFill>
              </a:defRPr>
            </a:pPr>
            <a:r>
              <a:t>Recognition that 'denial' was largely therapist-created resistance</a:t>
            </a:r>
          </a:p>
          <a:p>
            <a:pPr>
              <a:spcAft>
                <a:spcPts val="600"/>
              </a:spcAft>
              <a:defRPr sz="1600">
                <a:solidFill>
                  <a:srgbClr val="2C3E50"/>
                </a:solidFill>
              </a:defRPr>
            </a:pPr>
            <a:r>
              <a:t>Need to match treatment intensity to client readiness</a:t>
            </a:r>
          </a:p>
          <a:p>
            <a:pPr>
              <a:spcAft>
                <a:spcPts val="600"/>
              </a:spcAft>
              <a:defRPr sz="1600">
                <a:solidFill>
                  <a:srgbClr val="2C3E50"/>
                </a:solidFill>
              </a:defRPr>
            </a:pPr>
            <a:r>
              <a:t>NIMHANS (2008): Need for culturally appropriate, feasible interventions in developing countries</a:t>
            </a:r>
          </a:p>
          <a:p>
            <a:pPr>
              <a:spcAft>
                <a:spcPts val="600"/>
              </a:spcAft>
              <a:defRPr sz="1600">
                <a:solidFill>
                  <a:srgbClr val="2C3E50"/>
                </a:solidFill>
              </a:defRPr>
            </a:pPr>
            <a:r>
              <a:t>Primary care integration: Brief, trainable approach for non-specialists</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MET was developed to provide a brief, empirically-supported, non-confrontational alternative to traditional addiction treatment.</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 Murthy, P. (2008). NIMHANS Manual. | Holder, H.D., et al. (1991). Journal of Studies on Alcohol, 52, 517-540.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D5FA6"/>
        </a:solidFill>
        <a:effectLst/>
      </p:bgPr>
    </p:bg>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914400" y="1828800"/>
            <a:ext cx="10058400" cy="1371600"/>
          </a:xfrm>
          <a:prstGeom prst="rect">
            <a:avLst/>
          </a:prstGeom>
          <a:noFill/>
        </p:spPr>
        <p:txBody>
          <a:bodyPr wrap="none">
            <a:spAutoFit/>
          </a:bodyPr>
          <a:lstStyle/>
          <a:p>
            <a:pPr algn="ctr">
              <a:defRPr sz="1800">
                <a:solidFill>
                  <a:srgbClr val="B7950B"/>
                </a:solidFill>
              </a:defRPr>
            </a:pPr>
            <a:r>
              <a:t>SECTION 2</a:t>
            </a:r>
          </a:p>
        </p:txBody>
      </p:sp>
      <p:sp>
        <p:nvSpPr>
          <p:cNvPr id="5" name="TextBox 4"/>
          <p:cNvSpPr txBox="1"/>
          <p:nvPr/>
        </p:nvSpPr>
        <p:spPr>
          <a:xfrm>
            <a:off x="914400" y="2926080"/>
            <a:ext cx="10058400" cy="1828800"/>
          </a:xfrm>
          <a:prstGeom prst="rect">
            <a:avLst/>
          </a:prstGeom>
          <a:noFill/>
        </p:spPr>
        <p:txBody>
          <a:bodyPr wrap="square">
            <a:spAutoFit/>
          </a:bodyPr>
          <a:lstStyle/>
          <a:p>
            <a:pPr algn="ctr">
              <a:defRPr sz="3600" b="1">
                <a:solidFill>
                  <a:srgbClr val="FFFFFF"/>
                </a:solidFill>
              </a:defRPr>
            </a:pPr>
            <a:r>
              <a:t>Founders and Key Contributors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William R. Miller, PhD - Father of MI/MET</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Appreciate William R. Miller's foundational contributions to MI and MET</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Professor Emeritus, University of New Mexico</a:t>
            </a:r>
          </a:p>
          <a:p>
            <a:pPr>
              <a:spcAft>
                <a:spcPts val="600"/>
              </a:spcAft>
              <a:defRPr sz="1600">
                <a:solidFill>
                  <a:srgbClr val="2C3E50"/>
                </a:solidFill>
              </a:defRPr>
            </a:pPr>
            <a:r>
              <a:t>Born 1947 - Over 50 years of contributions to addiction science</a:t>
            </a:r>
          </a:p>
          <a:p>
            <a:pPr>
              <a:spcAft>
                <a:spcPts val="600"/>
              </a:spcAft>
              <a:defRPr sz="1600">
                <a:solidFill>
                  <a:srgbClr val="2C3E50"/>
                </a:solidFill>
              </a:defRPr>
            </a:pPr>
            <a:r>
              <a:t>Key contributions:</a:t>
            </a:r>
          </a:p>
          <a:p>
            <a:pPr lvl="1">
              <a:spcAft>
                <a:spcPts val="600"/>
              </a:spcAft>
              <a:defRPr sz="1400">
                <a:solidFill>
                  <a:srgbClr val="2C3E50"/>
                </a:solidFill>
              </a:defRPr>
            </a:pPr>
            <a:r>
              <a:t>  • Created Motivational Interviewing (1983)</a:t>
            </a:r>
          </a:p>
          <a:p>
            <a:pPr lvl="1">
              <a:spcAft>
                <a:spcPts val="600"/>
              </a:spcAft>
              <a:defRPr sz="1400">
                <a:solidFill>
                  <a:srgbClr val="2C3E50"/>
                </a:solidFill>
              </a:defRPr>
            </a:pPr>
            <a:r>
              <a:t>  • Lead author of MET Manual for Project MATCH</a:t>
            </a:r>
          </a:p>
          <a:p>
            <a:pPr lvl="1">
              <a:spcAft>
                <a:spcPts val="600"/>
              </a:spcAft>
              <a:defRPr sz="1400">
                <a:solidFill>
                  <a:srgbClr val="2C3E50"/>
                </a:solidFill>
              </a:defRPr>
            </a:pPr>
            <a:r>
              <a:t>  • Published over 400 articles and 50 books</a:t>
            </a:r>
          </a:p>
          <a:p>
            <a:pPr lvl="1">
              <a:spcAft>
                <a:spcPts val="600"/>
              </a:spcAft>
              <a:defRPr sz="1400">
                <a:solidFill>
                  <a:srgbClr val="2C3E50"/>
                </a:solidFill>
              </a:defRPr>
            </a:pPr>
            <a:r>
              <a:t>  • Developed the Drinker's Check-Up (precursor to MET feedback)</a:t>
            </a:r>
          </a:p>
          <a:p>
            <a:pPr lvl="1">
              <a:spcAft>
                <a:spcPts val="600"/>
              </a:spcAft>
              <a:defRPr sz="1400">
                <a:solidFill>
                  <a:srgbClr val="2C3E50"/>
                </a:solidFill>
              </a:defRPr>
            </a:pPr>
            <a:r>
              <a:t>  • Pioneered research on therapist effects in treatment</a:t>
            </a:r>
          </a:p>
          <a:p>
            <a:pPr lvl="1">
              <a:spcAft>
                <a:spcPts val="600"/>
              </a:spcAft>
              <a:defRPr sz="1400">
                <a:solidFill>
                  <a:srgbClr val="2C3E50"/>
                </a:solidFill>
              </a:defRPr>
            </a:pPr>
            <a:r>
              <a:t>  • Showed that therapist empathy predicts client outcomes</a:t>
            </a:r>
          </a:p>
          <a:p>
            <a:pPr>
              <a:spcAft>
                <a:spcPts val="600"/>
              </a:spcAft>
              <a:defRPr sz="1600">
                <a:solidFill>
                  <a:srgbClr val="2C3E50"/>
                </a:solidFill>
              </a:defRPr>
            </a:pPr>
            <a:r>
              <a:t>Theoretical influences: Carl Rogers, cognitive dissonance, self-perception theory</a:t>
            </a:r>
          </a:p>
          <a:p>
            <a:pPr>
              <a:spcAft>
                <a:spcPts val="600"/>
              </a:spcAft>
              <a:defRPr sz="1600">
                <a:solidFill>
                  <a:srgbClr val="2C3E50"/>
                </a:solidFill>
              </a:defRPr>
            </a:pPr>
            <a:r>
              <a:t>Awards: Jellinek Memorial Award, Innovators Award (Robert Wood Johnson Foundation)</a:t>
            </a:r>
          </a:p>
          <a:p>
            <a:pPr>
              <a:spcAft>
                <a:spcPts val="600"/>
              </a:spcAft>
              <a:defRPr sz="1600">
                <a:solidFill>
                  <a:srgbClr val="2C3E50"/>
                </a:solidFill>
              </a:defRPr>
            </a:pPr>
            <a:r>
              <a:t>Philosophy: 'People are generally the best experts on themselves'</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Miller's insight that therapist style determines client motivation revolutionized addiction treatment worldwide.</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(1983). Behavioural Psychotherapy, 11, 147-172. | Miller, W.R., &amp; Rollnick, S. (1991, 2002, 2013). Motivational Interviewing. Guilford Press. | Miller, W.R., et al. (1995). MET Manual.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Stephen Rollnick, PhD &amp; Other Key Contributors</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Identify key contributors to MI/MET development and their specific contributions</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STEPHEN ROLLNICK (Cardiff University, Wales):</a:t>
            </a:r>
          </a:p>
          <a:p>
            <a:pPr lvl="1">
              <a:spcAft>
                <a:spcPts val="600"/>
              </a:spcAft>
              <a:defRPr sz="1400">
                <a:solidFill>
                  <a:srgbClr val="2C3E50"/>
                </a:solidFill>
              </a:defRPr>
            </a:pPr>
            <a:r>
              <a:t>  • Co-developer of Motivational Interviewing with Miller</a:t>
            </a:r>
          </a:p>
          <a:p>
            <a:pPr lvl="1">
              <a:spcAft>
                <a:spcPts val="600"/>
              </a:spcAft>
              <a:defRPr sz="1400">
                <a:solidFill>
                  <a:srgbClr val="2C3E50"/>
                </a:solidFill>
              </a:defRPr>
            </a:pPr>
            <a:r>
              <a:t>  • Focused on MI applications in healthcare settings</a:t>
            </a:r>
          </a:p>
          <a:p>
            <a:pPr lvl="1">
              <a:spcAft>
                <a:spcPts val="600"/>
              </a:spcAft>
              <a:defRPr sz="1400">
                <a:solidFill>
                  <a:srgbClr val="2C3E50"/>
                </a:solidFill>
              </a:defRPr>
            </a:pPr>
            <a:r>
              <a:t>  • Developed brief MI adaptations for medical consultations</a:t>
            </a:r>
          </a:p>
          <a:p>
            <a:pPr>
              <a:spcAft>
                <a:spcPts val="600"/>
              </a:spcAft>
              <a:defRPr sz="1600">
                <a:solidFill>
                  <a:srgbClr val="2C3E50"/>
                </a:solidFill>
              </a:defRPr>
            </a:pPr>
            <a:r>
              <a:t>THERESA MOYERS (University of New Mexico):</a:t>
            </a:r>
          </a:p>
          <a:p>
            <a:pPr lvl="1">
              <a:spcAft>
                <a:spcPts val="600"/>
              </a:spcAft>
              <a:defRPr sz="1400">
                <a:solidFill>
                  <a:srgbClr val="2C3E50"/>
                </a:solidFill>
              </a:defRPr>
            </a:pPr>
            <a:r>
              <a:t>  • Leading MI process researcher</a:t>
            </a:r>
          </a:p>
          <a:p>
            <a:pPr lvl="1">
              <a:spcAft>
                <a:spcPts val="600"/>
              </a:spcAft>
              <a:defRPr sz="1400">
                <a:solidFill>
                  <a:srgbClr val="2C3E50"/>
                </a:solidFill>
              </a:defRPr>
            </a:pPr>
            <a:r>
              <a:t>  • Developer of MITI (Motivational Interviewing Treatment Integrity) coding</a:t>
            </a:r>
          </a:p>
          <a:p>
            <a:pPr lvl="1">
              <a:spcAft>
                <a:spcPts val="600"/>
              </a:spcAft>
              <a:defRPr sz="1400">
                <a:solidFill>
                  <a:srgbClr val="2C3E50"/>
                </a:solidFill>
              </a:defRPr>
            </a:pPr>
            <a:r>
              <a:t>  • Research on mechanisms of MI effectiveness</a:t>
            </a:r>
          </a:p>
          <a:p>
            <a:pPr>
              <a:spcAft>
                <a:spcPts val="600"/>
              </a:spcAft>
              <a:defRPr sz="1600">
                <a:solidFill>
                  <a:srgbClr val="2C3E50"/>
                </a:solidFill>
              </a:defRPr>
            </a:pPr>
            <a:r>
              <a:t>PROJECT MATCH INVESTIGATORS:</a:t>
            </a:r>
          </a:p>
          <a:p>
            <a:pPr lvl="1">
              <a:spcAft>
                <a:spcPts val="600"/>
              </a:spcAft>
              <a:defRPr sz="1400">
                <a:solidFill>
                  <a:srgbClr val="2C3E50"/>
                </a:solidFill>
              </a:defRPr>
            </a:pPr>
            <a:r>
              <a:t>  • Allen Zweben, DSW - MET manual co-author (University of Wisconsin-Milwaukee)</a:t>
            </a:r>
          </a:p>
          <a:p>
            <a:pPr lvl="1">
              <a:spcAft>
                <a:spcPts val="600"/>
              </a:spcAft>
              <a:defRPr sz="1400">
                <a:solidFill>
                  <a:srgbClr val="2C3E50"/>
                </a:solidFill>
              </a:defRPr>
            </a:pPr>
            <a:r>
              <a:t>  • Carlo DiClemente, PhD - Transtheoretical Model co-creator</a:t>
            </a:r>
          </a:p>
          <a:p>
            <a:pPr lvl="1">
              <a:spcAft>
                <a:spcPts val="600"/>
              </a:spcAft>
              <a:defRPr sz="1400">
                <a:solidFill>
                  <a:srgbClr val="2C3E50"/>
                </a:solidFill>
              </a:defRPr>
            </a:pPr>
            <a:r>
              <a:t>  • Roberto Rychtarik, PhD - Research Institute on Alcoholism</a:t>
            </a:r>
          </a:p>
          <a:p>
            <a:pPr lvl="1">
              <a:spcAft>
                <a:spcPts val="600"/>
              </a:spcAft>
              <a:defRPr sz="1400">
                <a:solidFill>
                  <a:srgbClr val="2C3E50"/>
                </a:solidFill>
              </a:defRPr>
            </a:pPr>
            <a:r>
              <a:t>  • Thomas Babor, PhD - Coordinating Center (University of Connecticut)</a:t>
            </a:r>
          </a:p>
          <a:p>
            <a:pPr lvl="1">
              <a:spcAft>
                <a:spcPts val="600"/>
              </a:spcAft>
              <a:defRPr sz="1400">
                <a:solidFill>
                  <a:srgbClr val="2C3E50"/>
                </a:solidFill>
              </a:defRPr>
            </a:pPr>
            <a:r>
              <a:t>  • Kathleen Carroll, PhD - Yale University, treatment design coordinator</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MET was developed through collaboration of leading researchers in motivation, addiction, and behavior change.</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Rollnick, S., Miller, W.R., &amp; Butler, C.C. (2008). Motivational interviewing in health care. Guilford Press. | Moyers, T.B., et al. (2009). Journal of Substance Abuse Treatment, 36, 101-109. | DiClemente, C.C. (2003). Addiction and change. Guilford Press.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Project MATCH Research Group</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Understand Project MATCH design and its significance for establishing MET's evidence base</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Largest clinical trial of alcoholism treatment ($27 million, 1989-1997)</a:t>
            </a:r>
          </a:p>
          <a:p>
            <a:pPr>
              <a:spcAft>
                <a:spcPts val="600"/>
              </a:spcAft>
              <a:defRPr sz="1600">
                <a:solidFill>
                  <a:srgbClr val="2C3E50"/>
                </a:solidFill>
              </a:defRPr>
            </a:pPr>
            <a:r>
              <a:t>9 clinical research sites across the United States</a:t>
            </a:r>
          </a:p>
          <a:p>
            <a:pPr>
              <a:spcAft>
                <a:spcPts val="600"/>
              </a:spcAft>
              <a:defRPr sz="1600">
                <a:solidFill>
                  <a:srgbClr val="2C3E50"/>
                </a:solidFill>
              </a:defRPr>
            </a:pPr>
            <a:r>
              <a:t>DESIGN: 1,726 patients randomized to 3 treatments:</a:t>
            </a:r>
          </a:p>
          <a:p>
            <a:pPr lvl="1">
              <a:spcAft>
                <a:spcPts val="600"/>
              </a:spcAft>
              <a:defRPr sz="1400">
                <a:solidFill>
                  <a:srgbClr val="2C3E50"/>
                </a:solidFill>
              </a:defRPr>
            </a:pPr>
            <a:r>
              <a:t>  • MET: 4 sessions over 12 weeks</a:t>
            </a:r>
          </a:p>
          <a:p>
            <a:pPr lvl="1">
              <a:spcAft>
                <a:spcPts val="600"/>
              </a:spcAft>
              <a:defRPr sz="1400">
                <a:solidFill>
                  <a:srgbClr val="2C3E50"/>
                </a:solidFill>
              </a:defRPr>
            </a:pPr>
            <a:r>
              <a:t>  • CBT (Cognitive-Behavioral): 12 sessions over 12 weeks</a:t>
            </a:r>
          </a:p>
          <a:p>
            <a:pPr lvl="1">
              <a:spcAft>
                <a:spcPts val="600"/>
              </a:spcAft>
              <a:defRPr sz="1400">
                <a:solidFill>
                  <a:srgbClr val="2C3E50"/>
                </a:solidFill>
              </a:defRPr>
            </a:pPr>
            <a:r>
              <a:t>  • TSF (Twelve-Step Facilitation): 12 sessions over 12 weeks</a:t>
            </a:r>
          </a:p>
          <a:p>
            <a:pPr>
              <a:spcAft>
                <a:spcPts val="600"/>
              </a:spcAft>
              <a:defRPr sz="1600">
                <a:solidFill>
                  <a:srgbClr val="2C3E50"/>
                </a:solidFill>
              </a:defRPr>
            </a:pPr>
            <a:r>
              <a:t>Two parallel arms: Outpatient (5 sites) and Aftercare (4 sites)</a:t>
            </a:r>
          </a:p>
          <a:p>
            <a:pPr>
              <a:spcAft>
                <a:spcPts val="600"/>
              </a:spcAft>
              <a:defRPr sz="1600">
                <a:solidFill>
                  <a:srgbClr val="2C3E50"/>
                </a:solidFill>
              </a:defRPr>
            </a:pPr>
            <a:r>
              <a:t>Follow-up: 3, 6, 9, 12, and 15 months post-treatment</a:t>
            </a:r>
          </a:p>
          <a:p>
            <a:pPr>
              <a:spcAft>
                <a:spcPts val="600"/>
              </a:spcAft>
              <a:defRPr sz="1600">
                <a:solidFill>
                  <a:srgbClr val="2C3E50"/>
                </a:solidFill>
              </a:defRPr>
            </a:pPr>
            <a:r>
              <a:t>KEY FINDING: All three treatments produced significant improvements</a:t>
            </a:r>
          </a:p>
          <a:p>
            <a:pPr lvl="1">
              <a:spcAft>
                <a:spcPts val="600"/>
              </a:spcAft>
              <a:defRPr sz="1400">
                <a:solidFill>
                  <a:srgbClr val="2C3E50"/>
                </a:solidFill>
              </a:defRPr>
            </a:pPr>
            <a:r>
              <a:t>  MET with only 4 sessions matched 12-session treatments on most outcomes</a:t>
            </a:r>
          </a:p>
          <a:p>
            <a:pPr>
              <a:spcAft>
                <a:spcPts val="600"/>
              </a:spcAft>
              <a:defRPr sz="1600">
                <a:solidFill>
                  <a:srgbClr val="2C3E50"/>
                </a:solidFill>
              </a:defRPr>
            </a:pPr>
            <a:r>
              <a:t>Principal sites: UNM, Buffalo, Charleston, Connecticut, Houston, Milwaukee, Brown, Seattle</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Project MATCH demonstrated that 4 sessions of MET achieved outcomes comparable to 12-session treatments.</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Project MATCH Research Group. (1997). Journal of Studies on Alcohol, 58, 7-29. | Project MATCH Research Group. (1998). Addiction, 93, 1431-1446. | Miller, W.R., et al. (1995). MET Manual.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D5FA6"/>
        </a:solidFill>
        <a:effectLst/>
      </p:bgPr>
    </p:bg>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914400" y="1828800"/>
            <a:ext cx="10058400" cy="1371600"/>
          </a:xfrm>
          <a:prstGeom prst="rect">
            <a:avLst/>
          </a:prstGeom>
          <a:noFill/>
        </p:spPr>
        <p:txBody>
          <a:bodyPr wrap="none">
            <a:spAutoFit/>
          </a:bodyPr>
          <a:lstStyle/>
          <a:p>
            <a:pPr algn="ctr">
              <a:defRPr sz="1800">
                <a:solidFill>
                  <a:srgbClr val="B7950B"/>
                </a:solidFill>
              </a:defRPr>
            </a:pPr>
            <a:r>
              <a:t>SECTION 3</a:t>
            </a:r>
          </a:p>
        </p:txBody>
      </p:sp>
      <p:sp>
        <p:nvSpPr>
          <p:cNvPr id="5" name="TextBox 4"/>
          <p:cNvSpPr txBox="1"/>
          <p:nvPr/>
        </p:nvSpPr>
        <p:spPr>
          <a:xfrm>
            <a:off x="914400" y="2926080"/>
            <a:ext cx="10058400" cy="1828800"/>
          </a:xfrm>
          <a:prstGeom prst="rect">
            <a:avLst/>
          </a:prstGeom>
          <a:noFill/>
        </p:spPr>
        <p:txBody>
          <a:bodyPr wrap="square">
            <a:spAutoFit/>
          </a:bodyPr>
          <a:lstStyle/>
          <a:p>
            <a:pPr algn="ctr">
              <a:defRPr sz="3600" b="1">
                <a:solidFill>
                  <a:srgbClr val="FFFFFF"/>
                </a:solidFill>
              </a:defRPr>
            </a:pPr>
            <a:r>
              <a:t>Historical Background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Origins of Motivational Interviewing</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Trace the intellectual origins of motivational approaches in addiction treatment</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1950s-1970s: Addiction treatment dominated by confrontational models</a:t>
            </a:r>
          </a:p>
          <a:p>
            <a:pPr lvl="1">
              <a:spcAft>
                <a:spcPts val="600"/>
              </a:spcAft>
              <a:defRPr sz="1400">
                <a:solidFill>
                  <a:srgbClr val="2C3E50"/>
                </a:solidFill>
              </a:defRPr>
            </a:pPr>
            <a:r>
              <a:t>  • Synanon (1958), 'hot seat' therapy, attack therapy</a:t>
            </a:r>
          </a:p>
          <a:p>
            <a:pPr lvl="1">
              <a:spcAft>
                <a:spcPts val="600"/>
              </a:spcAft>
              <a:defRPr sz="1400">
                <a:solidFill>
                  <a:srgbClr val="2C3E50"/>
                </a:solidFill>
              </a:defRPr>
            </a:pPr>
            <a:r>
              <a:t>  • Assumption: Addicts are in 'denial' that must be broken</a:t>
            </a:r>
          </a:p>
          <a:p>
            <a:pPr lvl="1">
              <a:spcAft>
                <a:spcPts val="600"/>
              </a:spcAft>
              <a:defRPr sz="1400">
                <a:solidFill>
                  <a:srgbClr val="2C3E50"/>
                </a:solidFill>
              </a:defRPr>
            </a:pPr>
            <a:r>
              <a:t>  • Therapist as authoritarian expert, client as resistant patient</a:t>
            </a:r>
          </a:p>
          <a:p>
            <a:pPr>
              <a:spcAft>
                <a:spcPts val="600"/>
              </a:spcAft>
              <a:defRPr sz="1600">
                <a:solidFill>
                  <a:srgbClr val="2C3E50"/>
                </a:solidFill>
              </a:defRPr>
            </a:pPr>
            <a:r>
              <a:t>1950s: Carl Rogers develops client-centered therapy (unconditional positive regard)</a:t>
            </a:r>
          </a:p>
          <a:p>
            <a:pPr>
              <a:spcAft>
                <a:spcPts val="600"/>
              </a:spcAft>
              <a:defRPr sz="1600">
                <a:solidFill>
                  <a:srgbClr val="2C3E50"/>
                </a:solidFill>
              </a:defRPr>
            </a:pPr>
            <a:r>
              <a:t>1957: Festinger publishes A Theory of Cognitive Dissonance</a:t>
            </a:r>
          </a:p>
          <a:p>
            <a:pPr>
              <a:spcAft>
                <a:spcPts val="600"/>
              </a:spcAft>
              <a:defRPr sz="1600">
                <a:solidFill>
                  <a:srgbClr val="2C3E50"/>
                </a:solidFill>
              </a:defRPr>
            </a:pPr>
            <a:r>
              <a:t>1965-1972: Daryl Bem develops Self-Perception Theory</a:t>
            </a:r>
          </a:p>
          <a:p>
            <a:pPr>
              <a:spcAft>
                <a:spcPts val="600"/>
              </a:spcAft>
              <a:defRPr sz="1600">
                <a:solidFill>
                  <a:srgbClr val="2C3E50"/>
                </a:solidFill>
              </a:defRPr>
            </a:pPr>
            <a:r>
              <a:t>1980: Miller observes that empathic therapists get better outcomes</a:t>
            </a:r>
          </a:p>
          <a:p>
            <a:pPr>
              <a:spcAft>
                <a:spcPts val="600"/>
              </a:spcAft>
              <a:defRPr sz="1600">
                <a:solidFill>
                  <a:srgbClr val="2C3E50"/>
                </a:solidFill>
              </a:defRPr>
            </a:pPr>
            <a:r>
              <a:t>1983: Miller's seminal paper combines Rogers + Festinger + Bem</a:t>
            </a:r>
          </a:p>
          <a:p>
            <a:pPr>
              <a:spcAft>
                <a:spcPts val="600"/>
              </a:spcAft>
              <a:defRPr sz="1600">
                <a:solidFill>
                  <a:srgbClr val="2C3E50"/>
                </a:solidFill>
              </a:defRPr>
            </a:pPr>
            <a:r>
              <a:t>Key insight: Help people TALK THEMSELVES INTO change rather than being told to change</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MI emerged from combining Rogerian empathy, cognitive dissonance theory, and self-perception theory.</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(1983). Behavioural Psychotherapy, 11, 147-172. | Rogers, C.R. (1957). Journal of Consulting Psychology, 21, 95-103. | Festinger, L. (1957). A Theory of Cognitive Dissonance. Row, Peterson.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Addiction Treatment Before MET: The Confrontational Model</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Compare confrontational and motivational paradigms in addiction treatment</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Traditional Confrontational Assumptions:</a:t>
            </a:r>
          </a:p>
          <a:p>
            <a:pPr lvl="1">
              <a:spcAft>
                <a:spcPts val="600"/>
              </a:spcAft>
              <a:defRPr sz="1400">
                <a:solidFill>
                  <a:srgbClr val="2C3E50"/>
                </a:solidFill>
              </a:defRPr>
            </a:pPr>
            <a:r>
              <a:t>  • Addiction = moral weakness or character defect</a:t>
            </a:r>
          </a:p>
          <a:p>
            <a:pPr lvl="1">
              <a:spcAft>
                <a:spcPts val="600"/>
              </a:spcAft>
              <a:defRPr sz="1400">
                <a:solidFill>
                  <a:srgbClr val="2C3E50"/>
                </a:solidFill>
              </a:defRPr>
            </a:pPr>
            <a:r>
              <a:t>  • 'Denial' is a defense mechanism requiring forceful confrontation</a:t>
            </a:r>
          </a:p>
          <a:p>
            <a:pPr lvl="1">
              <a:spcAft>
                <a:spcPts val="600"/>
              </a:spcAft>
              <a:defRPr sz="1400">
                <a:solidFill>
                  <a:srgbClr val="2C3E50"/>
                </a:solidFill>
              </a:defRPr>
            </a:pPr>
            <a:r>
              <a:t>  • Therapist must 'break through' resistance</a:t>
            </a:r>
          </a:p>
          <a:p>
            <a:pPr lvl="1">
              <a:spcAft>
                <a:spcPts val="600"/>
              </a:spcAft>
              <a:defRPr sz="1400">
                <a:solidFill>
                  <a:srgbClr val="2C3E50"/>
                </a:solidFill>
              </a:defRPr>
            </a:pPr>
            <a:r>
              <a:t>  • Client must 'hit rock bottom' before change is possible</a:t>
            </a:r>
          </a:p>
          <a:p>
            <a:pPr lvl="1">
              <a:spcAft>
                <a:spcPts val="600"/>
              </a:spcAft>
              <a:defRPr sz="1400">
                <a:solidFill>
                  <a:srgbClr val="2C3E50"/>
                </a:solidFill>
              </a:defRPr>
            </a:pPr>
            <a:r>
              <a:t>  • 'Tough love' is necessary and therapeutic</a:t>
            </a:r>
          </a:p>
          <a:p>
            <a:pPr>
              <a:spcAft>
                <a:spcPts val="600"/>
              </a:spcAft>
              <a:defRPr sz="1600">
                <a:solidFill>
                  <a:srgbClr val="2C3E50"/>
                </a:solidFill>
              </a:defRPr>
            </a:pPr>
            <a:r>
              <a:t>Evidence AGAINST confrontation:</a:t>
            </a:r>
          </a:p>
          <a:p>
            <a:pPr lvl="1">
              <a:spcAft>
                <a:spcPts val="600"/>
              </a:spcAft>
              <a:defRPr sz="1400">
                <a:solidFill>
                  <a:srgbClr val="2C3E50"/>
                </a:solidFill>
              </a:defRPr>
            </a:pPr>
            <a:r>
              <a:t>  • Higher dropout rates with confrontational counselors</a:t>
            </a:r>
          </a:p>
          <a:p>
            <a:pPr lvl="1">
              <a:spcAft>
                <a:spcPts val="600"/>
              </a:spcAft>
              <a:defRPr sz="1400">
                <a:solidFill>
                  <a:srgbClr val="2C3E50"/>
                </a:solidFill>
              </a:defRPr>
            </a:pPr>
            <a:r>
              <a:t>  • Patterson &amp; Forgatch (1985): Therapist confrontation directly increased resistance</a:t>
            </a:r>
          </a:p>
          <a:p>
            <a:pPr lvl="1">
              <a:spcAft>
                <a:spcPts val="600"/>
              </a:spcAft>
              <a:defRPr sz="1400">
                <a:solidFill>
                  <a:srgbClr val="2C3E50"/>
                </a:solidFill>
              </a:defRPr>
            </a:pPr>
            <a:r>
              <a:t>  • Miller et al. (1993): Confrontational style predicted WORSE drinking outcomes at 1 year</a:t>
            </a:r>
          </a:p>
          <a:p>
            <a:pPr lvl="1">
              <a:spcAft>
                <a:spcPts val="600"/>
              </a:spcAft>
              <a:defRPr sz="1400">
                <a:solidFill>
                  <a:srgbClr val="2C3E50"/>
                </a:solidFill>
              </a:defRPr>
            </a:pPr>
            <a:r>
              <a:t>  • No evidence that confrontation improves outcomes over any alternative approach</a:t>
            </a:r>
          </a:p>
          <a:p>
            <a:pPr>
              <a:spcAft>
                <a:spcPts val="600"/>
              </a:spcAft>
              <a:defRPr sz="1600">
                <a:solidFill>
                  <a:srgbClr val="2C3E50"/>
                </a:solidFill>
              </a:defRPr>
            </a:pPr>
            <a:r>
              <a:t>The Paradigm Shift: From 'breaking denial' to 'resolving ambivalence'</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The shift from confrontation to motivational approaches was driven by clear evidence that confrontation worsens outcomes.</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Benefield, R.G., &amp; Tonigan, J.S. (1993). JCCP, 61, 455-461. | Patterson, G.A., &amp; Forgatch, M.S. (1985). JCCP, 53, 846-851. | Miller, W.R., et al. (1995). MET Manual.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D5FA6"/>
        </a:solidFill>
        <a:effectLst/>
      </p:bgPr>
    </p:bg>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914400" y="1828800"/>
            <a:ext cx="10058400" cy="1371600"/>
          </a:xfrm>
          <a:prstGeom prst="rect">
            <a:avLst/>
          </a:prstGeom>
          <a:noFill/>
        </p:spPr>
        <p:txBody>
          <a:bodyPr wrap="none">
            <a:spAutoFit/>
          </a:bodyPr>
          <a:lstStyle/>
          <a:p>
            <a:pPr algn="ctr">
              <a:defRPr sz="1800">
                <a:solidFill>
                  <a:srgbClr val="B7950B"/>
                </a:solidFill>
              </a:defRPr>
            </a:pPr>
            <a:r>
              <a:t>SECTION 4</a:t>
            </a:r>
          </a:p>
        </p:txBody>
      </p:sp>
      <p:sp>
        <p:nvSpPr>
          <p:cNvPr id="5" name="TextBox 4"/>
          <p:cNvSpPr txBox="1"/>
          <p:nvPr/>
        </p:nvSpPr>
        <p:spPr>
          <a:xfrm>
            <a:off x="914400" y="2926080"/>
            <a:ext cx="10058400" cy="1828800"/>
          </a:xfrm>
          <a:prstGeom prst="rect">
            <a:avLst/>
          </a:prstGeom>
          <a:noFill/>
        </p:spPr>
        <p:txBody>
          <a:bodyPr wrap="square">
            <a:spAutoFit/>
          </a:bodyPr>
          <a:lstStyle/>
          <a:p>
            <a:pPr algn="ctr">
              <a:defRPr sz="3600" b="1">
                <a:solidFill>
                  <a:srgbClr val="FFFFFF"/>
                </a:solidFill>
              </a:defRPr>
            </a:pPr>
            <a:r>
              <a:t>Theoretical Foundations of MET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Humanistic Psychology &amp; Carl Rogers</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Understand Rogers' client-centered principles and their integration into MET</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HUMANISTIC PSYCHOLOGY (Maslow, Rogers, May):</a:t>
            </a:r>
          </a:p>
          <a:p>
            <a:pPr lvl="1">
              <a:spcAft>
                <a:spcPts val="600"/>
              </a:spcAft>
              <a:defRPr sz="1400">
                <a:solidFill>
                  <a:srgbClr val="2C3E50"/>
                </a:solidFill>
              </a:defRPr>
            </a:pPr>
            <a:r>
              <a:t>  • People have inherent capacity for growth and self-actualization</a:t>
            </a:r>
          </a:p>
          <a:p>
            <a:pPr lvl="1">
              <a:spcAft>
                <a:spcPts val="600"/>
              </a:spcAft>
              <a:defRPr sz="1400">
                <a:solidFill>
                  <a:srgbClr val="2C3E50"/>
                </a:solidFill>
              </a:defRPr>
            </a:pPr>
            <a:r>
              <a:t>  • Focus on human potential rather than pathology</a:t>
            </a:r>
          </a:p>
          <a:p>
            <a:pPr lvl="1">
              <a:spcAft>
                <a:spcPts val="600"/>
              </a:spcAft>
              <a:defRPr sz="1400">
                <a:solidFill>
                  <a:srgbClr val="2C3E50"/>
                </a:solidFill>
              </a:defRPr>
            </a:pPr>
            <a:r>
              <a:t>  • Subjective experience is central to understanding behavior</a:t>
            </a:r>
          </a:p>
          <a:p>
            <a:pPr>
              <a:spcAft>
                <a:spcPts val="600"/>
              </a:spcAft>
              <a:defRPr sz="1600">
                <a:solidFill>
                  <a:srgbClr val="2C3E50"/>
                </a:solidFill>
              </a:defRPr>
            </a:pPr>
            <a:r>
              <a:t>CARL ROGERS (1902-1987) - Client-Centered Therapy:</a:t>
            </a:r>
          </a:p>
          <a:p>
            <a:pPr lvl="1">
              <a:spcAft>
                <a:spcPts val="600"/>
              </a:spcAft>
              <a:defRPr sz="1400">
                <a:solidFill>
                  <a:srgbClr val="2C3E50"/>
                </a:solidFill>
              </a:defRPr>
            </a:pPr>
            <a:r>
              <a:t>  • Core conditions: Empathy, Unconditional Positive Regard, Congruence</a:t>
            </a:r>
          </a:p>
          <a:p>
            <a:pPr lvl="1">
              <a:spcAft>
                <a:spcPts val="600"/>
              </a:spcAft>
              <a:defRPr sz="1400">
                <a:solidFill>
                  <a:srgbClr val="2C3E50"/>
                </a:solidFill>
              </a:defRPr>
            </a:pPr>
            <a:r>
              <a:t>  • The relationship IS the therapy</a:t>
            </a:r>
          </a:p>
          <a:p>
            <a:pPr lvl="1">
              <a:spcAft>
                <a:spcPts val="600"/>
              </a:spcAft>
              <a:defRPr sz="1400">
                <a:solidFill>
                  <a:srgbClr val="2C3E50"/>
                </a:solidFill>
              </a:defRPr>
            </a:pPr>
            <a:r>
              <a:t>  • Non-directive: Trust the client's own wisdom</a:t>
            </a:r>
          </a:p>
          <a:p>
            <a:pPr lvl="1">
              <a:spcAft>
                <a:spcPts val="600"/>
              </a:spcAft>
              <a:defRPr sz="1400">
                <a:solidFill>
                  <a:srgbClr val="2C3E50"/>
                </a:solidFill>
              </a:defRPr>
            </a:pPr>
            <a:r>
              <a:t>  • Rogers (1957): These conditions are necessary and sufficient for change</a:t>
            </a:r>
          </a:p>
          <a:p>
            <a:pPr>
              <a:spcAft>
                <a:spcPts val="600"/>
              </a:spcAft>
              <a:defRPr sz="1600">
                <a:solidFill>
                  <a:srgbClr val="2C3E50"/>
                </a:solidFill>
              </a:defRPr>
            </a:pPr>
            <a:r>
              <a:t>RELATION TO MET:</a:t>
            </a:r>
          </a:p>
          <a:p>
            <a:pPr lvl="1">
              <a:spcAft>
                <a:spcPts val="600"/>
              </a:spcAft>
              <a:defRPr sz="1400">
                <a:solidFill>
                  <a:srgbClr val="2C3E50"/>
                </a:solidFill>
              </a:defRPr>
            </a:pPr>
            <a:r>
              <a:t>  • MET adopts Rogerian empathy as fundamental therapeutic stance</a:t>
            </a:r>
          </a:p>
          <a:p>
            <a:pPr lvl="1">
              <a:spcAft>
                <a:spcPts val="600"/>
              </a:spcAft>
              <a:defRPr sz="1400">
                <a:solidFill>
                  <a:srgbClr val="2C3E50"/>
                </a:solidFill>
              </a:defRPr>
            </a:pPr>
            <a:r>
              <a:t>  • Client is viewed as expert on their own life</a:t>
            </a:r>
          </a:p>
          <a:p>
            <a:pPr lvl="1">
              <a:spcAft>
                <a:spcPts val="600"/>
              </a:spcAft>
              <a:defRPr sz="1400">
                <a:solidFill>
                  <a:srgbClr val="2C3E50"/>
                </a:solidFill>
              </a:defRPr>
            </a:pPr>
            <a:r>
              <a:t>  • Therapist provides conditions for self-exploration</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MET adopts Rogers' empathic stance while adding strategic direction - creating a 'client-centered directive' approach.</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Rogers, C.R. (1957). Journal of Consulting Psychology, 21, 95-103. | Rogers, C.R. (1959). In Koch, S. (Ed.), Psychology: A Study of a Science, Vol. 3. McGraw-Hill. | Miller, W.R., et al. (1995). MET Manual.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Self-Determination Theory (Deci &amp; Ryan)</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Apply Self-Determination Theory principles to understand MET's effectiveness</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FOUNDERS: Edward Deci &amp; Richard Ryan (University of Rochester, 1985-present)</a:t>
            </a:r>
          </a:p>
          <a:p>
            <a:pPr>
              <a:spcAft>
                <a:spcPts val="600"/>
              </a:spcAft>
              <a:defRPr sz="1600">
                <a:solidFill>
                  <a:srgbClr val="2C3E50"/>
                </a:solidFill>
              </a:defRPr>
            </a:pPr>
            <a:r>
              <a:t>CORE ASSUMPTIONS:</a:t>
            </a:r>
          </a:p>
          <a:p>
            <a:pPr lvl="1">
              <a:spcAft>
                <a:spcPts val="600"/>
              </a:spcAft>
              <a:defRPr sz="1400">
                <a:solidFill>
                  <a:srgbClr val="2C3E50"/>
                </a:solidFill>
              </a:defRPr>
            </a:pPr>
            <a:r>
              <a:t>  • Humans have innate psychological needs that drive behavior</a:t>
            </a:r>
          </a:p>
          <a:p>
            <a:pPr lvl="1">
              <a:spcAft>
                <a:spcPts val="600"/>
              </a:spcAft>
              <a:defRPr sz="1400">
                <a:solidFill>
                  <a:srgbClr val="2C3E50"/>
                </a:solidFill>
              </a:defRPr>
            </a:pPr>
            <a:r>
              <a:t>  • Three basic needs: Autonomy, Competence, Relatedness</a:t>
            </a:r>
          </a:p>
          <a:p>
            <a:pPr lvl="1">
              <a:spcAft>
                <a:spcPts val="600"/>
              </a:spcAft>
              <a:defRPr sz="1400">
                <a:solidFill>
                  <a:srgbClr val="2C3E50"/>
                </a:solidFill>
              </a:defRPr>
            </a:pPr>
            <a:r>
              <a:t>  • Motivation exists on a continuum from extrinsic to intrinsic</a:t>
            </a:r>
          </a:p>
          <a:p>
            <a:pPr>
              <a:spcAft>
                <a:spcPts val="600"/>
              </a:spcAft>
              <a:defRPr sz="1600">
                <a:solidFill>
                  <a:srgbClr val="2C3E50"/>
                </a:solidFill>
              </a:defRPr>
            </a:pPr>
            <a:r>
              <a:t>THREE BASIC NEEDS:</a:t>
            </a:r>
          </a:p>
          <a:p>
            <a:pPr lvl="1">
              <a:spcAft>
                <a:spcPts val="600"/>
              </a:spcAft>
              <a:defRPr sz="1400">
                <a:solidFill>
                  <a:srgbClr val="2C3E50"/>
                </a:solidFill>
              </a:defRPr>
            </a:pPr>
            <a:r>
              <a:t>  • Autonomy: Need to feel in control of one's own behavior</a:t>
            </a:r>
          </a:p>
          <a:p>
            <a:pPr lvl="1">
              <a:spcAft>
                <a:spcPts val="600"/>
              </a:spcAft>
              <a:defRPr sz="1400">
                <a:solidFill>
                  <a:srgbClr val="2C3E50"/>
                </a:solidFill>
              </a:defRPr>
            </a:pPr>
            <a:r>
              <a:t>  • Competence: Need to feel effective and capable (= self-efficacy)</a:t>
            </a:r>
          </a:p>
          <a:p>
            <a:pPr lvl="1">
              <a:spcAft>
                <a:spcPts val="600"/>
              </a:spcAft>
              <a:defRPr sz="1400">
                <a:solidFill>
                  <a:srgbClr val="2C3E50"/>
                </a:solidFill>
              </a:defRPr>
            </a:pPr>
            <a:r>
              <a:t>  • Relatedness: Need to feel connected to others (= therapeutic alliance)</a:t>
            </a:r>
          </a:p>
          <a:p>
            <a:pPr>
              <a:spcAft>
                <a:spcPts val="600"/>
              </a:spcAft>
              <a:defRPr sz="1600">
                <a:solidFill>
                  <a:srgbClr val="2C3E50"/>
                </a:solidFill>
              </a:defRPr>
            </a:pPr>
            <a:r>
              <a:t>RELATION TO MET:</a:t>
            </a:r>
          </a:p>
          <a:p>
            <a:pPr lvl="1">
              <a:spcAft>
                <a:spcPts val="600"/>
              </a:spcAft>
              <a:defRPr sz="1400">
                <a:solidFill>
                  <a:srgbClr val="2C3E50"/>
                </a:solidFill>
              </a:defRPr>
            </a:pPr>
            <a:r>
              <a:t>  • MET supports autonomy (client decides, not therapist)</a:t>
            </a:r>
          </a:p>
          <a:p>
            <a:pPr lvl="1">
              <a:spcAft>
                <a:spcPts val="600"/>
              </a:spcAft>
              <a:defRPr sz="1400">
                <a:solidFill>
                  <a:srgbClr val="2C3E50"/>
                </a:solidFill>
              </a:defRPr>
            </a:pPr>
            <a:r>
              <a:t>  • MET builds competence (supporting self-efficacy)</a:t>
            </a:r>
          </a:p>
          <a:p>
            <a:pPr lvl="1">
              <a:spcAft>
                <a:spcPts val="600"/>
              </a:spcAft>
              <a:defRPr sz="1400">
                <a:solidFill>
                  <a:srgbClr val="2C3E50"/>
                </a:solidFill>
              </a:defRPr>
            </a:pPr>
            <a:r>
              <a:t>  • MET provides relatedness (empathic therapeutic relationship)</a:t>
            </a:r>
          </a:p>
          <a:p>
            <a:pPr lvl="1">
              <a:spcAft>
                <a:spcPts val="600"/>
              </a:spcAft>
              <a:defRPr sz="1400">
                <a:solidFill>
                  <a:srgbClr val="2C3E50"/>
                </a:solidFill>
              </a:defRPr>
            </a:pPr>
            <a:r>
              <a:t>  • Extrinsic controls undermine intrinsic motivation</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MET supports autonomy, competence, and relatedness - the three basic needs that drive intrinsic motivation.</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Deci, E.L., &amp; Ryan, R.M. (1985). Intrinsic motivation and self-determination in human behavior. Plenum. | Ryan, R.M., &amp; Deci, E.L. (2000). American Psychologist, 55, 68-78. | Markland, D., et al. (2005). Addictive Behaviors, 30, 1859-1869.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Cognitive Dissonance Theory (Festinger, 1957)</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Explain how cognitive dissonance theory underpins MET's develop discrepancy principle</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FOUNDER: Leon Festinger (1957)</a:t>
            </a:r>
          </a:p>
          <a:p>
            <a:pPr>
              <a:spcAft>
                <a:spcPts val="600"/>
              </a:spcAft>
              <a:defRPr sz="1600">
                <a:solidFill>
                  <a:srgbClr val="2C3E50"/>
                </a:solidFill>
              </a:defRPr>
            </a:pPr>
            <a:r>
              <a:t>CORE PRINCIPLE: Psychological discomfort when behavior conflicts with beliefs/values</a:t>
            </a:r>
          </a:p>
          <a:p>
            <a:pPr>
              <a:spcAft>
                <a:spcPts val="600"/>
              </a:spcAft>
              <a:defRPr sz="1600">
                <a:solidFill>
                  <a:srgbClr val="2C3E50"/>
                </a:solidFill>
              </a:defRPr>
            </a:pPr>
            <a:r>
              <a:t>ASSUMPTIONS:</a:t>
            </a:r>
          </a:p>
          <a:p>
            <a:pPr lvl="1">
              <a:spcAft>
                <a:spcPts val="600"/>
              </a:spcAft>
              <a:defRPr sz="1400">
                <a:solidFill>
                  <a:srgbClr val="2C3E50"/>
                </a:solidFill>
              </a:defRPr>
            </a:pPr>
            <a:r>
              <a:t>  • People seek internal consistency between attitudes, beliefs, and behaviors</a:t>
            </a:r>
          </a:p>
          <a:p>
            <a:pPr lvl="1">
              <a:spcAft>
                <a:spcPts val="600"/>
              </a:spcAft>
              <a:defRPr sz="1400">
                <a:solidFill>
                  <a:srgbClr val="2C3E50"/>
                </a:solidFill>
              </a:defRPr>
            </a:pPr>
            <a:r>
              <a:t>  • Discrepancy between cognitions creates uncomfortable 'dissonance'</a:t>
            </a:r>
          </a:p>
          <a:p>
            <a:pPr lvl="1">
              <a:spcAft>
                <a:spcPts val="600"/>
              </a:spcAft>
              <a:defRPr sz="1400">
                <a:solidFill>
                  <a:srgbClr val="2C3E50"/>
                </a:solidFill>
              </a:defRPr>
            </a:pPr>
            <a:r>
              <a:t>  • People are motivated to reduce dissonance (change belief OR behavior)</a:t>
            </a:r>
          </a:p>
          <a:p>
            <a:pPr>
              <a:spcAft>
                <a:spcPts val="600"/>
              </a:spcAft>
              <a:defRPr sz="1600">
                <a:solidFill>
                  <a:srgbClr val="2C3E50"/>
                </a:solidFill>
              </a:defRPr>
            </a:pPr>
            <a:r>
              <a:t>CLINICAL IMPLICATIONS:</a:t>
            </a:r>
          </a:p>
          <a:p>
            <a:pPr lvl="1">
              <a:spcAft>
                <a:spcPts val="600"/>
              </a:spcAft>
              <a:defRPr sz="1400">
                <a:solidFill>
                  <a:srgbClr val="2C3E50"/>
                </a:solidFill>
              </a:defRPr>
            </a:pPr>
            <a:r>
              <a:t>  • When clients see discrepancy between values and behavior → motivation increases</a:t>
            </a:r>
          </a:p>
          <a:p>
            <a:pPr lvl="1">
              <a:spcAft>
                <a:spcPts val="600"/>
              </a:spcAft>
              <a:defRPr sz="1400">
                <a:solidFill>
                  <a:srgbClr val="2C3E50"/>
                </a:solidFill>
              </a:defRPr>
            </a:pPr>
            <a:r>
              <a:t>  • MET's 'Develop Discrepancy' principle directly applies this theory</a:t>
            </a:r>
          </a:p>
          <a:p>
            <a:pPr lvl="1">
              <a:spcAft>
                <a:spcPts val="600"/>
              </a:spcAft>
              <a:defRPr sz="1400">
                <a:solidFill>
                  <a:srgbClr val="2C3E50"/>
                </a:solidFill>
              </a:defRPr>
            </a:pPr>
            <a:r>
              <a:t>  • Personalized feedback highlights the gap between goals and current behavior</a:t>
            </a:r>
          </a:p>
          <a:p>
            <a:pPr>
              <a:spcAft>
                <a:spcPts val="600"/>
              </a:spcAft>
              <a:defRPr sz="1600">
                <a:solidFill>
                  <a:srgbClr val="2C3E50"/>
                </a:solidFill>
              </a:defRPr>
            </a:pPr>
            <a:r>
              <a:t>ADVANTAGES: Powerful motivator; changes come from within</a:t>
            </a:r>
          </a:p>
          <a:p>
            <a:pPr>
              <a:spcAft>
                <a:spcPts val="600"/>
              </a:spcAft>
              <a:defRPr sz="1600">
                <a:solidFill>
                  <a:srgbClr val="2C3E50"/>
                </a:solidFill>
              </a:defRPr>
            </a:pPr>
            <a:r>
              <a:t>LIMITATIONS: Too much dissonance → defensiveness; requires careful calibration</a:t>
            </a:r>
          </a:p>
          <a:p>
            <a:pPr>
              <a:spcAft>
                <a:spcPts val="600"/>
              </a:spcAft>
              <a:defRPr sz="1600">
                <a:solidFill>
                  <a:srgbClr val="2C3E50"/>
                </a:solidFill>
              </a:defRPr>
            </a:pPr>
            <a:r>
              <a:t>RELATION TO MET: The therapist helps clients see their OWN discrepancies, gently</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MET creates therapeutic cognitive dissonance by helping clients recognize gaps between their values and behaviors.</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Festinger, L. (1957). A Theory of Cognitive Dissonance. Row, Peterson. | Miller, W.R., et al. (1995). MET Manual. | Miller, W.R. (1983). Behavioural Psychotherapy, 11, 147-172.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Transtheoretical Model (Prochaska &amp; DiClemente)</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Apply the Stages of Change model to understand MET's stage-matched approach</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FOUNDERS: James Prochaska &amp; Carlo DiClemente (1982)</a:t>
            </a:r>
          </a:p>
          <a:p>
            <a:pPr>
              <a:spcAft>
                <a:spcPts val="600"/>
              </a:spcAft>
              <a:defRPr sz="1600">
                <a:solidFill>
                  <a:srgbClr val="2C3E50"/>
                </a:solidFill>
              </a:defRPr>
            </a:pPr>
            <a:r>
              <a:t>THE STAGES OF CHANGE:</a:t>
            </a:r>
          </a:p>
          <a:p>
            <a:pPr lvl="1">
              <a:spcAft>
                <a:spcPts val="600"/>
              </a:spcAft>
              <a:defRPr sz="1400">
                <a:solidFill>
                  <a:srgbClr val="2C3E50"/>
                </a:solidFill>
              </a:defRPr>
            </a:pPr>
            <a:r>
              <a:t>  1. Precontemplation: Not considering change; unaware or in denial</a:t>
            </a:r>
          </a:p>
          <a:p>
            <a:pPr lvl="1">
              <a:spcAft>
                <a:spcPts val="600"/>
              </a:spcAft>
              <a:defRPr sz="1400">
                <a:solidFill>
                  <a:srgbClr val="2C3E50"/>
                </a:solidFill>
              </a:defRPr>
            </a:pPr>
            <a:r>
              <a:t>  2. Contemplation: Ambivalent; aware of problem but not committed to action</a:t>
            </a:r>
          </a:p>
          <a:p>
            <a:pPr lvl="1">
              <a:spcAft>
                <a:spcPts val="600"/>
              </a:spcAft>
              <a:defRPr sz="1400">
                <a:solidFill>
                  <a:srgbClr val="2C3E50"/>
                </a:solidFill>
              </a:defRPr>
            </a:pPr>
            <a:r>
              <a:t>  3. Preparation: Intending to take action; making small steps</a:t>
            </a:r>
          </a:p>
          <a:p>
            <a:pPr lvl="1">
              <a:spcAft>
                <a:spcPts val="600"/>
              </a:spcAft>
              <a:defRPr sz="1400">
                <a:solidFill>
                  <a:srgbClr val="2C3E50"/>
                </a:solidFill>
              </a:defRPr>
            </a:pPr>
            <a:r>
              <a:t>  4. Action: Actively modifying behavior, environment, experiences</a:t>
            </a:r>
          </a:p>
          <a:p>
            <a:pPr lvl="1">
              <a:spcAft>
                <a:spcPts val="600"/>
              </a:spcAft>
              <a:defRPr sz="1400">
                <a:solidFill>
                  <a:srgbClr val="2C3E50"/>
                </a:solidFill>
              </a:defRPr>
            </a:pPr>
            <a:r>
              <a:t>  5. Maintenance: Sustaining change; preventing relapse</a:t>
            </a:r>
          </a:p>
          <a:p>
            <a:pPr lvl="1">
              <a:spcAft>
                <a:spcPts val="600"/>
              </a:spcAft>
              <a:defRPr sz="1400">
                <a:solidFill>
                  <a:srgbClr val="2C3E50"/>
                </a:solidFill>
              </a:defRPr>
            </a:pPr>
            <a:r>
              <a:t>  6. Relapse: Return to earlier stage (normalized, not failure)</a:t>
            </a:r>
          </a:p>
          <a:p>
            <a:pPr>
              <a:spcAft>
                <a:spcPts val="600"/>
              </a:spcAft>
              <a:defRPr sz="1600">
                <a:solidFill>
                  <a:srgbClr val="2C3E50"/>
                </a:solidFill>
              </a:defRPr>
            </a:pPr>
            <a:r>
              <a:t>KEY PRINCIPLES:</a:t>
            </a:r>
          </a:p>
          <a:p>
            <a:pPr lvl="1">
              <a:spcAft>
                <a:spcPts val="600"/>
              </a:spcAft>
              <a:defRPr sz="1400">
                <a:solidFill>
                  <a:srgbClr val="2C3E50"/>
                </a:solidFill>
              </a:defRPr>
            </a:pPr>
            <a:r>
              <a:t>  • Change is cyclical, not linear</a:t>
            </a:r>
          </a:p>
          <a:p>
            <a:pPr lvl="1">
              <a:spcAft>
                <a:spcPts val="600"/>
              </a:spcAft>
              <a:defRPr sz="1400">
                <a:solidFill>
                  <a:srgbClr val="2C3E50"/>
                </a:solidFill>
              </a:defRPr>
            </a:pPr>
            <a:r>
              <a:t>  • Different stages require different interventions</a:t>
            </a:r>
          </a:p>
          <a:p>
            <a:pPr lvl="1">
              <a:spcAft>
                <a:spcPts val="600"/>
              </a:spcAft>
              <a:defRPr sz="1400">
                <a:solidFill>
                  <a:srgbClr val="2C3E50"/>
                </a:solidFill>
              </a:defRPr>
            </a:pPr>
            <a:r>
              <a:t>  • MET is especially effective for Precontemplation → Contemplation → Preparation</a:t>
            </a:r>
          </a:p>
          <a:p>
            <a:pPr lvl="1">
              <a:spcAft>
                <a:spcPts val="600"/>
              </a:spcAft>
              <a:defRPr sz="1400">
                <a:solidFill>
                  <a:srgbClr val="2C3E50"/>
                </a:solidFill>
              </a:defRPr>
            </a:pPr>
            <a:r>
              <a:t>  • Matching intervention to stage increases effectiveness</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MET matches motivational strategies to the client's stage of change, especially targeting ambivalence in contemplation.</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Prochaska, J.O., &amp; DiClemente, C.C. (1982). Psychotherapy: Theory, Research and Practice, 19, 276-288. | Prochaska, J.O., &amp; DiClemente, C.C. (1984). The Transtheoretical Approach. Dow Jones/Irwin. | Miller, W.R., et al. (1995). MET Manual.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Social Learning Theory &amp; Self-Efficacy (Bandura)</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Understand Bandura's self-efficacy theory and its operationalization in MET</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FOUNDER: Albert Bandura (1977, 1982)</a:t>
            </a:r>
          </a:p>
          <a:p>
            <a:pPr>
              <a:spcAft>
                <a:spcPts val="600"/>
              </a:spcAft>
              <a:defRPr sz="1600">
                <a:solidFill>
                  <a:srgbClr val="2C3E50"/>
                </a:solidFill>
              </a:defRPr>
            </a:pPr>
            <a:r>
              <a:t>SOCIAL LEARNING THEORY:</a:t>
            </a:r>
          </a:p>
          <a:p>
            <a:pPr lvl="1">
              <a:spcAft>
                <a:spcPts val="600"/>
              </a:spcAft>
              <a:defRPr sz="1400">
                <a:solidFill>
                  <a:srgbClr val="2C3E50"/>
                </a:solidFill>
              </a:defRPr>
            </a:pPr>
            <a:r>
              <a:t>  • Behavior is learned through observation, modeling, and reinforcement</a:t>
            </a:r>
          </a:p>
          <a:p>
            <a:pPr lvl="1">
              <a:spcAft>
                <a:spcPts val="600"/>
              </a:spcAft>
              <a:defRPr sz="1400">
                <a:solidFill>
                  <a:srgbClr val="2C3E50"/>
                </a:solidFill>
              </a:defRPr>
            </a:pPr>
            <a:r>
              <a:t>  • Reciprocal determinism: behavior, cognition, and environment interact</a:t>
            </a:r>
          </a:p>
          <a:p>
            <a:pPr lvl="1">
              <a:spcAft>
                <a:spcPts val="600"/>
              </a:spcAft>
              <a:defRPr sz="1400">
                <a:solidFill>
                  <a:srgbClr val="2C3E50"/>
                </a:solidFill>
              </a:defRPr>
            </a:pPr>
            <a:r>
              <a:t>  • Drinking behavior is functionally related to psychosocial problems</a:t>
            </a:r>
          </a:p>
          <a:p>
            <a:pPr>
              <a:spcAft>
                <a:spcPts val="600"/>
              </a:spcAft>
              <a:defRPr sz="1600">
                <a:solidFill>
                  <a:srgbClr val="2C3E50"/>
                </a:solidFill>
              </a:defRPr>
            </a:pPr>
            <a:r>
              <a:t>SELF-EFFICACY THEORY:</a:t>
            </a:r>
          </a:p>
          <a:p>
            <a:pPr lvl="1">
              <a:spcAft>
                <a:spcPts val="600"/>
              </a:spcAft>
              <a:defRPr sz="1400">
                <a:solidFill>
                  <a:srgbClr val="2C3E50"/>
                </a:solidFill>
              </a:defRPr>
            </a:pPr>
            <a:r>
              <a:t>  • Self-efficacy: Belief in one's capability to execute behaviors required for outcomes</a:t>
            </a:r>
          </a:p>
          <a:p>
            <a:pPr lvl="1">
              <a:spcAft>
                <a:spcPts val="600"/>
              </a:spcAft>
              <a:defRPr sz="1400">
                <a:solidFill>
                  <a:srgbClr val="2C3E50"/>
                </a:solidFill>
              </a:defRPr>
            </a:pPr>
            <a:r>
              <a:t>  • Four sources: Mastery experiences, Vicarious experiences, Verbal persuasion, Emotional states</a:t>
            </a:r>
          </a:p>
          <a:p>
            <a:pPr lvl="1">
              <a:spcAft>
                <a:spcPts val="600"/>
              </a:spcAft>
              <a:defRPr sz="1400">
                <a:solidFill>
                  <a:srgbClr val="2C3E50"/>
                </a:solidFill>
              </a:defRPr>
            </a:pPr>
            <a:r>
              <a:t>  • Higher self-efficacy → more persistent effort → better outcomes</a:t>
            </a:r>
          </a:p>
          <a:p>
            <a:pPr>
              <a:spcAft>
                <a:spcPts val="600"/>
              </a:spcAft>
              <a:defRPr sz="1600">
                <a:solidFill>
                  <a:srgbClr val="2C3E50"/>
                </a:solidFill>
              </a:defRPr>
            </a:pPr>
            <a:r>
              <a:t>RELATION TO MET:</a:t>
            </a:r>
          </a:p>
          <a:p>
            <a:pPr lvl="1">
              <a:spcAft>
                <a:spcPts val="600"/>
              </a:spcAft>
              <a:defRPr sz="1400">
                <a:solidFill>
                  <a:srgbClr val="2C3E50"/>
                </a:solidFill>
              </a:defRPr>
            </a:pPr>
            <a:r>
              <a:t>  • 'Support Self-Efficacy' is a core MET principle</a:t>
            </a:r>
          </a:p>
          <a:p>
            <a:pPr lvl="1">
              <a:spcAft>
                <a:spcPts val="600"/>
              </a:spcAft>
              <a:defRPr sz="1400">
                <a:solidFill>
                  <a:srgbClr val="2C3E50"/>
                </a:solidFill>
              </a:defRPr>
            </a:pPr>
            <a:r>
              <a:t>  • Affirmations build client's belief in ability to change</a:t>
            </a:r>
          </a:p>
          <a:p>
            <a:pPr lvl="1">
              <a:spcAft>
                <a:spcPts val="600"/>
              </a:spcAft>
              <a:defRPr sz="1400">
                <a:solidFill>
                  <a:srgbClr val="2C3E50"/>
                </a:solidFill>
              </a:defRPr>
            </a:pPr>
            <a:r>
              <a:t>  • Past successes are highlighted to enhance efficacy</a:t>
            </a:r>
          </a:p>
          <a:p>
            <a:pPr lvl="1">
              <a:spcAft>
                <a:spcPts val="600"/>
              </a:spcAft>
              <a:defRPr sz="1400">
                <a:solidFill>
                  <a:srgbClr val="2C3E50"/>
                </a:solidFill>
              </a:defRPr>
            </a:pPr>
            <a:r>
              <a:t>  • Client autonomy preserves sense of personal control</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MET systematically builds self-efficacy through affirmations, past successes, and supporting client autonomy.</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Bandura, A. (1977). Self-efficacy: Toward a unifying theory of behavioral change. Psychological Review, 84, 191-215. | Bandura, A. (1982). American Psychologist, 37, 122-147. | Miller, W.R., et al. (1995). MET Manual.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Self-Perception Theory (Bem) &amp; Decision-Making Theory</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Apply self-perception and decision-making theories to MET practice</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SELF-PERCEPTION THEORY (Daryl Bem, 1965, 1972):</a:t>
            </a:r>
          </a:p>
          <a:p>
            <a:pPr lvl="1">
              <a:spcAft>
                <a:spcPts val="600"/>
              </a:spcAft>
              <a:defRPr sz="1400">
                <a:solidFill>
                  <a:srgbClr val="2C3E50"/>
                </a:solidFill>
              </a:defRPr>
            </a:pPr>
            <a:r>
              <a:t>  • 'As I hear myself talk, I learn what I believe'</a:t>
            </a:r>
          </a:p>
          <a:p>
            <a:pPr lvl="1">
              <a:spcAft>
                <a:spcPts val="600"/>
              </a:spcAft>
              <a:defRPr sz="1400">
                <a:solidFill>
                  <a:srgbClr val="2C3E50"/>
                </a:solidFill>
              </a:defRPr>
            </a:pPr>
            <a:r>
              <a:t>  • People infer their attitudes from their own behavior and speech</a:t>
            </a:r>
          </a:p>
          <a:p>
            <a:pPr lvl="1">
              <a:spcAft>
                <a:spcPts val="600"/>
              </a:spcAft>
              <a:defRPr sz="1400">
                <a:solidFill>
                  <a:srgbClr val="2C3E50"/>
                </a:solidFill>
              </a:defRPr>
            </a:pPr>
            <a:r>
              <a:t>  • If I say it and no one forced me → I must believe it</a:t>
            </a:r>
          </a:p>
          <a:p>
            <a:pPr lvl="1">
              <a:spcAft>
                <a:spcPts val="600"/>
              </a:spcAft>
              <a:defRPr sz="1400">
                <a:solidFill>
                  <a:srgbClr val="2C3E50"/>
                </a:solidFill>
              </a:defRPr>
            </a:pPr>
            <a:r>
              <a:t>  • IMPLICATION: Eliciting change talk literally CREATES motivation</a:t>
            </a:r>
          </a:p>
          <a:p>
            <a:pPr lvl="1">
              <a:spcAft>
                <a:spcPts val="600"/>
              </a:spcAft>
              <a:defRPr sz="1400">
                <a:solidFill>
                  <a:srgbClr val="2C3E50"/>
                </a:solidFill>
              </a:defRPr>
            </a:pPr>
            <a:r>
              <a:t>  • Therapist's role: Create conditions where client argues FOR change</a:t>
            </a:r>
          </a:p>
          <a:p>
            <a:pPr>
              <a:spcAft>
                <a:spcPts val="600"/>
              </a:spcAft>
              <a:defRPr sz="1600">
                <a:solidFill>
                  <a:srgbClr val="2C3E50"/>
                </a:solidFill>
              </a:defRPr>
            </a:pPr>
            <a:r>
              <a:t>DECISION-MAKING THEORY (Janis &amp; Mann, 1977):</a:t>
            </a:r>
          </a:p>
          <a:p>
            <a:pPr lvl="1">
              <a:spcAft>
                <a:spcPts val="600"/>
              </a:spcAft>
              <a:defRPr sz="1400">
                <a:solidFill>
                  <a:srgbClr val="2C3E50"/>
                </a:solidFill>
              </a:defRPr>
            </a:pPr>
            <a:r>
              <a:t>  • Decisions involve weighing pros and cons (decisional balance)</a:t>
            </a:r>
          </a:p>
          <a:p>
            <a:pPr lvl="1">
              <a:spcAft>
                <a:spcPts val="600"/>
              </a:spcAft>
              <a:defRPr sz="1400">
                <a:solidFill>
                  <a:srgbClr val="2C3E50"/>
                </a:solidFill>
              </a:defRPr>
            </a:pPr>
            <a:r>
              <a:t>  • People use heuristics and are influenced by framing effects</a:t>
            </a:r>
          </a:p>
          <a:p>
            <a:pPr lvl="1">
              <a:spcAft>
                <a:spcPts val="600"/>
              </a:spcAft>
              <a:defRPr sz="1400">
                <a:solidFill>
                  <a:srgbClr val="2C3E50"/>
                </a:solidFill>
              </a:defRPr>
            </a:pPr>
            <a:r>
              <a:t>  • MET uses decisional balance to explore both sides of ambivalence</a:t>
            </a:r>
          </a:p>
          <a:p>
            <a:pPr>
              <a:spcAft>
                <a:spcPts val="600"/>
              </a:spcAft>
              <a:defRPr sz="1600">
                <a:solidFill>
                  <a:srgbClr val="2C3E50"/>
                </a:solidFill>
              </a:defRPr>
            </a:pPr>
            <a:r>
              <a:t>COMBINED APPLICATION IN MET:</a:t>
            </a:r>
          </a:p>
          <a:p>
            <a:pPr lvl="1">
              <a:spcAft>
                <a:spcPts val="600"/>
              </a:spcAft>
              <a:defRPr sz="1400">
                <a:solidFill>
                  <a:srgbClr val="2C3E50"/>
                </a:solidFill>
              </a:defRPr>
            </a:pPr>
            <a:r>
              <a:t>  • Evoke change talk (self-perception) while exploring the balance (decision theory)</a:t>
            </a:r>
          </a:p>
          <a:p>
            <a:pPr lvl="1">
              <a:spcAft>
                <a:spcPts val="600"/>
              </a:spcAft>
              <a:defRPr sz="1400">
                <a:solidFill>
                  <a:srgbClr val="2C3E50"/>
                </a:solidFill>
              </a:defRPr>
            </a:pPr>
            <a:r>
              <a:t>  • The MORE clients talk about change, the MORE they believe in it</a:t>
            </a:r>
          </a:p>
          <a:p>
            <a:pPr lvl="1">
              <a:spcAft>
                <a:spcPts val="600"/>
              </a:spcAft>
              <a:defRPr sz="1400">
                <a:solidFill>
                  <a:srgbClr val="2C3E50"/>
                </a:solidFill>
              </a:defRPr>
            </a:pPr>
            <a:r>
              <a:t>  • Therapist strategically reinforces change talk through reflection</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People believe what they hear themselves say - MET leverages this by strategically eliciting change talk.</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Bem, D.J. (1972). In Berkowitz, L. (Ed.), Advances in Experimental Social Psychology, Vol. 6. Academic Press. | Janis, I.L., &amp; Mann, L. (1977). Decision Making. Free Press. | Miller, W.R., et al. (1995). MET Manual.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Theoretical Integration: How All Theories Connect in MET</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Synthesize multiple theoretical frameworks into a unified understanding of MET</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INTEGRATED FRAMEWORK - Each theory contributes a key element:</a:t>
            </a:r>
          </a:p>
          <a:p>
            <a:pPr lvl="1">
              <a:spcAft>
                <a:spcPts val="600"/>
              </a:spcAft>
              <a:defRPr sz="1400">
                <a:solidFill>
                  <a:srgbClr val="2C3E50"/>
                </a:solidFill>
              </a:defRPr>
            </a:pPr>
            <a:r>
              <a:t>  Rogers → Empathic therapeutic relationship (HOW we relate)</a:t>
            </a:r>
          </a:p>
          <a:p>
            <a:pPr lvl="1">
              <a:spcAft>
                <a:spcPts val="600"/>
              </a:spcAft>
              <a:defRPr sz="1400">
                <a:solidFill>
                  <a:srgbClr val="2C3E50"/>
                </a:solidFill>
              </a:defRPr>
            </a:pPr>
            <a:r>
              <a:t>  Festinger → Develop discrepancy (WHAT drives change)</a:t>
            </a:r>
          </a:p>
          <a:p>
            <a:pPr lvl="1">
              <a:spcAft>
                <a:spcPts val="600"/>
              </a:spcAft>
              <a:defRPr sz="1400">
                <a:solidFill>
                  <a:srgbClr val="2C3E50"/>
                </a:solidFill>
              </a:defRPr>
            </a:pPr>
            <a:r>
              <a:t>  Bem → Elicit change talk (WHY talking creates believing)</a:t>
            </a:r>
          </a:p>
          <a:p>
            <a:pPr lvl="1">
              <a:spcAft>
                <a:spcPts val="600"/>
              </a:spcAft>
              <a:defRPr sz="1400">
                <a:solidFill>
                  <a:srgbClr val="2C3E50"/>
                </a:solidFill>
              </a:defRPr>
            </a:pPr>
            <a:r>
              <a:t>  Bandura → Support self-efficacy (CAN I do it?)</a:t>
            </a:r>
          </a:p>
          <a:p>
            <a:pPr lvl="1">
              <a:spcAft>
                <a:spcPts val="600"/>
              </a:spcAft>
              <a:defRPr sz="1400">
                <a:solidFill>
                  <a:srgbClr val="2C3E50"/>
                </a:solidFill>
              </a:defRPr>
            </a:pPr>
            <a:r>
              <a:t>  Prochaska/DiClemente → Stage matching (WHEN to intervene)</a:t>
            </a:r>
          </a:p>
          <a:p>
            <a:pPr lvl="1">
              <a:spcAft>
                <a:spcPts val="600"/>
              </a:spcAft>
              <a:defRPr sz="1400">
                <a:solidFill>
                  <a:srgbClr val="2C3E50"/>
                </a:solidFill>
              </a:defRPr>
            </a:pPr>
            <a:r>
              <a:t>  Deci/Ryan → Autonomy support (WHO controls the process)</a:t>
            </a:r>
          </a:p>
          <a:p>
            <a:pPr lvl="1">
              <a:spcAft>
                <a:spcPts val="600"/>
              </a:spcAft>
              <a:defRPr sz="1400">
                <a:solidFill>
                  <a:srgbClr val="2C3E50"/>
                </a:solidFill>
              </a:defRPr>
            </a:pPr>
            <a:r>
              <a:t>  Janis/Mann → Decisional balance (HOW to weigh options)</a:t>
            </a:r>
          </a:p>
          <a:p>
            <a:pPr>
              <a:spcAft>
                <a:spcPts val="600"/>
              </a:spcAft>
              <a:defRPr sz="1600">
                <a:solidFill>
                  <a:srgbClr val="2C3E50"/>
                </a:solidFill>
              </a:defRPr>
            </a:pPr>
            <a:r>
              <a:t>THE MET FORMULA:</a:t>
            </a:r>
          </a:p>
          <a:p>
            <a:pPr lvl="1">
              <a:spcAft>
                <a:spcPts val="600"/>
              </a:spcAft>
              <a:defRPr sz="1400">
                <a:solidFill>
                  <a:srgbClr val="2C3E50"/>
                </a:solidFill>
              </a:defRPr>
            </a:pPr>
            <a:r>
              <a:t>  Empathic relationship + Discrepancy awareness + Change talk</a:t>
            </a:r>
          </a:p>
          <a:p>
            <a:pPr lvl="1">
              <a:spcAft>
                <a:spcPts val="600"/>
              </a:spcAft>
              <a:defRPr sz="1400">
                <a:solidFill>
                  <a:srgbClr val="2C3E50"/>
                </a:solidFill>
              </a:defRPr>
            </a:pPr>
            <a:r>
              <a:t>  + Self-efficacy + Stage-appropriate + Autonomy-supportive</a:t>
            </a:r>
          </a:p>
          <a:p>
            <a:pPr lvl="1">
              <a:spcAft>
                <a:spcPts val="600"/>
              </a:spcAft>
              <a:defRPr sz="1400">
                <a:solidFill>
                  <a:srgbClr val="2C3E50"/>
                </a:solidFill>
              </a:defRPr>
            </a:pPr>
            <a:r>
              <a:t>  = Internally motivated, sustainable behavior change</a:t>
            </a:r>
          </a:p>
          <a:p>
            <a:pPr>
              <a:spcAft>
                <a:spcPts val="600"/>
              </a:spcAft>
              <a:defRPr sz="1600">
                <a:solidFill>
                  <a:srgbClr val="2C3E50"/>
                </a:solidFill>
              </a:defRPr>
            </a:pPr>
            <a:r>
              <a:t>[FLOWCHART SUGGESTION: Visual showing theories feeding into MET]</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MET integrates 7+ theoretical traditions into a coherent clinical approach that addresses why, how, and when people change.</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&amp; Rollnick, S. (2013). Motivational interviewing (3rd ed.). Guilford Press. | Miller, W.R., et al. (1995). MET Manual. | Murthy, P. (2008). NIMHANS Manual.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D5FA6"/>
        </a:solidFill>
        <a:effectLst/>
      </p:bgPr>
    </p:bg>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914400" y="1828800"/>
            <a:ext cx="10058400" cy="1371600"/>
          </a:xfrm>
          <a:prstGeom prst="rect">
            <a:avLst/>
          </a:prstGeom>
          <a:noFill/>
        </p:spPr>
        <p:txBody>
          <a:bodyPr wrap="none">
            <a:spAutoFit/>
          </a:bodyPr>
          <a:lstStyle/>
          <a:p>
            <a:pPr algn="ctr">
              <a:defRPr sz="1800">
                <a:solidFill>
                  <a:srgbClr val="B7950B"/>
                </a:solidFill>
              </a:defRPr>
            </a:pPr>
            <a:r>
              <a:t>SECTION 5</a:t>
            </a:r>
          </a:p>
        </p:txBody>
      </p:sp>
      <p:sp>
        <p:nvSpPr>
          <p:cNvPr id="5" name="TextBox 4"/>
          <p:cNvSpPr txBox="1"/>
          <p:nvPr/>
        </p:nvSpPr>
        <p:spPr>
          <a:xfrm>
            <a:off x="914400" y="2926080"/>
            <a:ext cx="10058400" cy="1828800"/>
          </a:xfrm>
          <a:prstGeom prst="rect">
            <a:avLst/>
          </a:prstGeom>
          <a:noFill/>
        </p:spPr>
        <p:txBody>
          <a:bodyPr wrap="square">
            <a:spAutoFit/>
          </a:bodyPr>
          <a:lstStyle/>
          <a:p>
            <a:pPr algn="ctr">
              <a:defRPr sz="3600" b="1">
                <a:solidFill>
                  <a:srgbClr val="FFFFFF"/>
                </a:solidFill>
              </a:defRPr>
            </a:pPr>
            <a:r>
              <a:t>The Spirit of MET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The Four Elements of MET Spirit</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Internalize the four elements of MET spirit as the foundation of the approach</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The SPIRIT of MET is more important than any specific technique</a:t>
            </a:r>
          </a:p>
          <a:p>
            <a:pPr>
              <a:spcAft>
                <a:spcPts val="600"/>
              </a:spcAft>
              <a:defRPr sz="1600">
                <a:solidFill>
                  <a:srgbClr val="2C3E50"/>
                </a:solidFill>
              </a:defRPr>
            </a:pPr>
            <a:r>
              <a:t>Miller &amp; Rollnick (2013): Spirit = Partnership + Acceptance + Compassion + Evocation</a:t>
            </a:r>
          </a:p>
          <a:p>
            <a:pPr>
              <a:spcAft>
                <a:spcPts val="600"/>
              </a:spcAft>
              <a:defRPr sz="1600">
                <a:solidFill>
                  <a:srgbClr val="2C3E50"/>
                </a:solidFill>
              </a:defRPr>
            </a:pPr>
          </a:p>
          <a:p>
            <a:pPr>
              <a:spcAft>
                <a:spcPts val="600"/>
              </a:spcAft>
              <a:defRPr sz="1600">
                <a:solidFill>
                  <a:srgbClr val="2C3E50"/>
                </a:solidFill>
              </a:defRPr>
            </a:pPr>
            <a:r>
              <a:t>1. PARTNERSHIP: Collaborative relationship; 'dancing' not 'wrestling'</a:t>
            </a:r>
          </a:p>
          <a:p>
            <a:pPr>
              <a:spcAft>
                <a:spcPts val="600"/>
              </a:spcAft>
              <a:defRPr sz="1600">
                <a:solidFill>
                  <a:srgbClr val="2C3E50"/>
                </a:solidFill>
              </a:defRPr>
            </a:pPr>
            <a:r>
              <a:t>2. ACCEPTANCE: Absolute worth, accurate empathy, autonomy support, affirmation</a:t>
            </a:r>
          </a:p>
          <a:p>
            <a:pPr>
              <a:spcAft>
                <a:spcPts val="600"/>
              </a:spcAft>
              <a:defRPr sz="1600">
                <a:solidFill>
                  <a:srgbClr val="2C3E50"/>
                </a:solidFill>
              </a:defRPr>
            </a:pPr>
            <a:r>
              <a:t>3. COMPASSION: Actively promoting the client's welfare, prioritizing their needs</a:t>
            </a:r>
          </a:p>
          <a:p>
            <a:pPr>
              <a:spcAft>
                <a:spcPts val="600"/>
              </a:spcAft>
              <a:defRPr sz="1600">
                <a:solidFill>
                  <a:srgbClr val="2C3E50"/>
                </a:solidFill>
              </a:defRPr>
            </a:pPr>
            <a:r>
              <a:t>4. EVOCATION: Drawing out what is already there; the client has the answers</a:t>
            </a:r>
          </a:p>
          <a:p>
            <a:pPr>
              <a:spcAft>
                <a:spcPts val="600"/>
              </a:spcAft>
              <a:defRPr sz="1600">
                <a:solidFill>
                  <a:srgbClr val="2C3E50"/>
                </a:solidFill>
              </a:defRPr>
            </a:pPr>
          </a:p>
          <a:p>
            <a:pPr>
              <a:spcAft>
                <a:spcPts val="600"/>
              </a:spcAft>
              <a:defRPr sz="1600">
                <a:solidFill>
                  <a:srgbClr val="2C3E50"/>
                </a:solidFill>
              </a:defRPr>
            </a:pPr>
            <a:r>
              <a:t>Without the spirit, techniques become manipulative</a:t>
            </a:r>
          </a:p>
          <a:p>
            <a:pPr>
              <a:spcAft>
                <a:spcPts val="600"/>
              </a:spcAft>
              <a:defRPr sz="1600">
                <a:solidFill>
                  <a:srgbClr val="2C3E50"/>
                </a:solidFill>
              </a:defRPr>
            </a:pPr>
            <a:r>
              <a:t>The spirit determines whether the approach is truly motivational</a:t>
            </a:r>
          </a:p>
          <a:p>
            <a:pPr>
              <a:spcAft>
                <a:spcPts val="600"/>
              </a:spcAft>
              <a:defRPr sz="1600">
                <a:solidFill>
                  <a:srgbClr val="2C3E50"/>
                </a:solidFill>
              </a:defRPr>
            </a:pPr>
            <a:r>
              <a:t>Assessment: 'Am I trying to make them change, or help them explore their own reasons?'</a:t>
            </a:r>
          </a:p>
          <a:p>
            <a:pPr>
              <a:spcAft>
                <a:spcPts val="600"/>
              </a:spcAft>
              <a:defRPr sz="1600">
                <a:solidFill>
                  <a:srgbClr val="2C3E50"/>
                </a:solidFill>
              </a:defRPr>
            </a:pPr>
            <a:r>
              <a:t>Common error: Using MI techniques without MI spirit = 'righting reflex'</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The spirit (partnership, acceptance, compassion, evocation) is more important than any technique in MET.</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&amp; Rollnick, S. (2013). Motivational interviewing (3rd ed.). Guilford Press. | Miller, W.R., et al. (1995). MET Manual. | Moyers, T.B., &amp; Miller, W.R. (2013). Psychotherapy, 50, 338-345.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Partnership &amp; Acceptance in Practice</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Demonstrate partnership and acceptance through clinical dialogue examples</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PARTNERSHIP - Clinical Examples:</a:t>
            </a:r>
          </a:p>
          <a:p>
            <a:pPr lvl="1">
              <a:spcAft>
                <a:spcPts val="600"/>
              </a:spcAft>
              <a:defRPr sz="1400">
                <a:solidFill>
                  <a:srgbClr val="2C3E50"/>
                </a:solidFill>
              </a:defRPr>
            </a:pPr>
            <a:r>
              <a:t>  WRONG: 'I think you need to quit drinking. Here's what you should do...'</a:t>
            </a:r>
          </a:p>
          <a:p>
            <a:pPr lvl="1">
              <a:spcAft>
                <a:spcPts val="600"/>
              </a:spcAft>
              <a:defRPr sz="1400">
                <a:solidFill>
                  <a:srgbClr val="2C3E50"/>
                </a:solidFill>
              </a:defRPr>
            </a:pPr>
            <a:r>
              <a:t>  CORRECT: 'What are your thoughts about your drinking? What concerns you?'</a:t>
            </a:r>
          </a:p>
          <a:p>
            <a:pPr lvl="1">
              <a:spcAft>
                <a:spcPts val="600"/>
              </a:spcAft>
              <a:defRPr sz="1400">
                <a:solidFill>
                  <a:srgbClr val="2C3E50"/>
                </a:solidFill>
              </a:defRPr>
            </a:pPr>
            <a:r>
              <a:t>  WRONG: 'Your test results show you're an alcoholic'</a:t>
            </a:r>
          </a:p>
          <a:p>
            <a:pPr lvl="1">
              <a:spcAft>
                <a:spcPts val="600"/>
              </a:spcAft>
              <a:defRPr sz="1400">
                <a:solidFill>
                  <a:srgbClr val="2C3E50"/>
                </a:solidFill>
              </a:defRPr>
            </a:pPr>
            <a:r>
              <a:t>  CORRECT: 'Here are your results. What do you make of these?'</a:t>
            </a:r>
          </a:p>
          <a:p>
            <a:pPr>
              <a:spcAft>
                <a:spcPts val="600"/>
              </a:spcAft>
              <a:defRPr sz="1600">
                <a:solidFill>
                  <a:srgbClr val="2C3E50"/>
                </a:solidFill>
              </a:defRPr>
            </a:pPr>
          </a:p>
          <a:p>
            <a:pPr>
              <a:spcAft>
                <a:spcPts val="600"/>
              </a:spcAft>
              <a:defRPr sz="1600">
                <a:solidFill>
                  <a:srgbClr val="2C3E50"/>
                </a:solidFill>
              </a:defRPr>
            </a:pPr>
            <a:r>
              <a:t>ACCEPTANCE - Four Components:</a:t>
            </a:r>
          </a:p>
          <a:p>
            <a:pPr lvl="1">
              <a:spcAft>
                <a:spcPts val="600"/>
              </a:spcAft>
              <a:defRPr sz="1400">
                <a:solidFill>
                  <a:srgbClr val="2C3E50"/>
                </a:solidFill>
              </a:defRPr>
            </a:pPr>
            <a:r>
              <a:t>  1. Absolute Worth: Every person deserves respect regardless of behavior</a:t>
            </a:r>
          </a:p>
          <a:p>
            <a:pPr lvl="1">
              <a:spcAft>
                <a:spcPts val="600"/>
              </a:spcAft>
              <a:defRPr sz="1400">
                <a:solidFill>
                  <a:srgbClr val="2C3E50"/>
                </a:solidFill>
              </a:defRPr>
            </a:pPr>
            <a:r>
              <a:t>  2. Accurate Empathy: Deeply understanding the client's perspective</a:t>
            </a:r>
          </a:p>
          <a:p>
            <a:pPr lvl="1">
              <a:spcAft>
                <a:spcPts val="600"/>
              </a:spcAft>
              <a:defRPr sz="1400">
                <a:solidFill>
                  <a:srgbClr val="2C3E50"/>
                </a:solidFill>
              </a:defRPr>
            </a:pPr>
            <a:r>
              <a:t>  3. Autonomy Support: 'It's your life and your choice'</a:t>
            </a:r>
          </a:p>
          <a:p>
            <a:pPr lvl="1">
              <a:spcAft>
                <a:spcPts val="600"/>
              </a:spcAft>
              <a:defRPr sz="1400">
                <a:solidFill>
                  <a:srgbClr val="2C3E50"/>
                </a:solidFill>
              </a:defRPr>
            </a:pPr>
            <a:r>
              <a:t>  4. Affirmation: Recognizing strengths and efforts</a:t>
            </a:r>
          </a:p>
          <a:p>
            <a:pPr>
              <a:spcAft>
                <a:spcPts val="600"/>
              </a:spcAft>
              <a:defRPr sz="1600">
                <a:solidFill>
                  <a:srgbClr val="2C3E50"/>
                </a:solidFill>
              </a:defRPr>
            </a:pPr>
          </a:p>
          <a:p>
            <a:pPr>
              <a:spcAft>
                <a:spcPts val="600"/>
              </a:spcAft>
              <a:defRPr sz="1600">
                <a:solidFill>
                  <a:srgbClr val="2C3E50"/>
                </a:solidFill>
              </a:defRPr>
            </a:pPr>
            <a:r>
              <a:t>WRONG: 'You're in denial and you need to accept you're an alcoholic'</a:t>
            </a:r>
          </a:p>
          <a:p>
            <a:pPr>
              <a:spcAft>
                <a:spcPts val="600"/>
              </a:spcAft>
              <a:defRPr sz="1600">
                <a:solidFill>
                  <a:srgbClr val="2C3E50"/>
                </a:solidFill>
              </a:defRPr>
            </a:pPr>
            <a:r>
              <a:t>CORRECT: 'I can see you're genuinely struggling with this decision, and I respect that'</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Partnership treats clients as equals; acceptance values the person unconditionally while the behavior may need to change.</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&amp; Rollnick, S. (2013). Motivational interviewing (3rd ed.). Guilford Press. | Miller, W.R., et al. (1995). MET Manual. | Rogers, C.R. (1957). Journal of Consulting Psychology, 21, 95-103.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Compassion &amp; Evocation in Practice</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Apply compassion and evocation principles in clinical dialogue</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COMPASSION:</a:t>
            </a:r>
          </a:p>
          <a:p>
            <a:pPr lvl="1">
              <a:spcAft>
                <a:spcPts val="600"/>
              </a:spcAft>
              <a:defRPr sz="1400">
                <a:solidFill>
                  <a:srgbClr val="2C3E50"/>
                </a:solidFill>
              </a:defRPr>
            </a:pPr>
            <a:r>
              <a:t>  • Actively promoting client welfare as primary concern</a:t>
            </a:r>
          </a:p>
          <a:p>
            <a:pPr lvl="1">
              <a:spcAft>
                <a:spcPts val="600"/>
              </a:spcAft>
              <a:defRPr sz="1400">
                <a:solidFill>
                  <a:srgbClr val="2C3E50"/>
                </a:solidFill>
              </a:defRPr>
            </a:pPr>
            <a:r>
              <a:t>  • NOT feeling sorry for the client (sympathy ≠ compassion)</a:t>
            </a:r>
          </a:p>
          <a:p>
            <a:pPr lvl="1">
              <a:spcAft>
                <a:spcPts val="600"/>
              </a:spcAft>
              <a:defRPr sz="1400">
                <a:solidFill>
                  <a:srgbClr val="2C3E50"/>
                </a:solidFill>
              </a:defRPr>
            </a:pPr>
            <a:r>
              <a:t>  • Keeping the client's best interests at the center</a:t>
            </a:r>
          </a:p>
          <a:p>
            <a:pPr lvl="1">
              <a:spcAft>
                <a:spcPts val="600"/>
              </a:spcAft>
              <a:defRPr sz="1400">
                <a:solidFill>
                  <a:srgbClr val="2C3E50"/>
                </a:solidFill>
              </a:defRPr>
            </a:pPr>
            <a:r>
              <a:t>  • Avoiding self-serving motivations (proving you're right, getting compliance)</a:t>
            </a:r>
          </a:p>
          <a:p>
            <a:pPr lvl="1">
              <a:spcAft>
                <a:spcPts val="600"/>
              </a:spcAft>
              <a:defRPr sz="1400">
                <a:solidFill>
                  <a:srgbClr val="2C3E50"/>
                </a:solidFill>
              </a:defRPr>
            </a:pPr>
            <a:r>
              <a:t>  EXAMPLE: Prioritizing what the client needs to hear over what you want to say</a:t>
            </a:r>
          </a:p>
          <a:p>
            <a:pPr>
              <a:spcAft>
                <a:spcPts val="600"/>
              </a:spcAft>
              <a:defRPr sz="1600">
                <a:solidFill>
                  <a:srgbClr val="2C3E50"/>
                </a:solidFill>
              </a:defRPr>
            </a:pPr>
          </a:p>
          <a:p>
            <a:pPr>
              <a:spcAft>
                <a:spcPts val="600"/>
              </a:spcAft>
              <a:defRPr sz="1600">
                <a:solidFill>
                  <a:srgbClr val="2C3E50"/>
                </a:solidFill>
              </a:defRPr>
            </a:pPr>
            <a:r>
              <a:t>EVOCATION - Drawing Out What Is Already There:</a:t>
            </a:r>
          </a:p>
          <a:p>
            <a:pPr lvl="1">
              <a:spcAft>
                <a:spcPts val="600"/>
              </a:spcAft>
              <a:defRPr sz="1400">
                <a:solidFill>
                  <a:srgbClr val="2C3E50"/>
                </a:solidFill>
              </a:defRPr>
            </a:pPr>
            <a:r>
              <a:t>  • The client already has the arguments for change inside them</a:t>
            </a:r>
          </a:p>
          <a:p>
            <a:pPr lvl="1">
              <a:spcAft>
                <a:spcPts val="600"/>
              </a:spcAft>
              <a:defRPr sz="1400">
                <a:solidFill>
                  <a:srgbClr val="2C3E50"/>
                </a:solidFill>
              </a:defRPr>
            </a:pPr>
            <a:r>
              <a:t>  • Therapist's role: Create conditions for these to emerge</a:t>
            </a:r>
          </a:p>
          <a:p>
            <a:pPr lvl="1">
              <a:spcAft>
                <a:spcPts val="600"/>
              </a:spcAft>
              <a:defRPr sz="1400">
                <a:solidFill>
                  <a:srgbClr val="2C3E50"/>
                </a:solidFill>
              </a:defRPr>
            </a:pPr>
            <a:r>
              <a:t>  • WRONG: Installing motivation from outside ('You should...')</a:t>
            </a:r>
          </a:p>
          <a:p>
            <a:pPr lvl="1">
              <a:spcAft>
                <a:spcPts val="600"/>
              </a:spcAft>
              <a:defRPr sz="1400">
                <a:solidFill>
                  <a:srgbClr val="2C3E50"/>
                </a:solidFill>
              </a:defRPr>
            </a:pPr>
            <a:r>
              <a:t>  • CORRECT: Evoking motivation from within ('What would you like to be different?')</a:t>
            </a:r>
          </a:p>
          <a:p>
            <a:pPr lvl="1">
              <a:spcAft>
                <a:spcPts val="600"/>
              </a:spcAft>
              <a:defRPr sz="1400">
                <a:solidFill>
                  <a:srgbClr val="2C3E50"/>
                </a:solidFill>
              </a:defRPr>
            </a:pPr>
            <a:r>
              <a:t>  • Like midwifery: helping deliver what is already developing</a:t>
            </a:r>
          </a:p>
          <a:p>
            <a:pPr lvl="1">
              <a:spcAft>
                <a:spcPts val="600"/>
              </a:spcAft>
              <a:defRPr sz="1400">
                <a:solidFill>
                  <a:srgbClr val="2C3E50"/>
                </a:solidFill>
              </a:defRPr>
            </a:pPr>
            <a:r>
              <a:t>  • Miller (1995): 'The words which come out of a person's mouth are quite persuasive to that person'</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Evocation means drawing out the client's own motivation - the answers are already within them.</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 Miller, W.R., &amp; Rollnick, S. (2013). Motivational interviewing (3rd ed.). Guilford Press. | Murthy, P. (2008). NIMHANS Manual.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D5FA6"/>
        </a:solidFill>
        <a:effectLst/>
      </p:bgPr>
    </p:bg>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914400" y="1828800"/>
            <a:ext cx="10058400" cy="1371600"/>
          </a:xfrm>
          <a:prstGeom prst="rect">
            <a:avLst/>
          </a:prstGeom>
          <a:noFill/>
        </p:spPr>
        <p:txBody>
          <a:bodyPr wrap="none">
            <a:spAutoFit/>
          </a:bodyPr>
          <a:lstStyle/>
          <a:p>
            <a:pPr algn="ctr">
              <a:defRPr sz="1800">
                <a:solidFill>
                  <a:srgbClr val="B7950B"/>
                </a:solidFill>
              </a:defRPr>
            </a:pPr>
            <a:r>
              <a:t>SECTION 6</a:t>
            </a:r>
          </a:p>
        </p:txBody>
      </p:sp>
      <p:sp>
        <p:nvSpPr>
          <p:cNvPr id="5" name="TextBox 4"/>
          <p:cNvSpPr txBox="1"/>
          <p:nvPr/>
        </p:nvSpPr>
        <p:spPr>
          <a:xfrm>
            <a:off x="914400" y="2926080"/>
            <a:ext cx="10058400" cy="1828800"/>
          </a:xfrm>
          <a:prstGeom prst="rect">
            <a:avLst/>
          </a:prstGeom>
          <a:noFill/>
        </p:spPr>
        <p:txBody>
          <a:bodyPr wrap="square">
            <a:spAutoFit/>
          </a:bodyPr>
          <a:lstStyle/>
          <a:p>
            <a:pPr algn="ctr">
              <a:defRPr sz="3600" b="1">
                <a:solidFill>
                  <a:srgbClr val="FFFFFF"/>
                </a:solidFill>
              </a:defRPr>
            </a:pPr>
            <a:r>
              <a:t>Core Principles of MET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Express Empathy</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Master the principle of expressing empathy through accurate reflective listening</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DEFINITION: Skillful reflective listening that seeks to understand the client's perspective</a:t>
            </a:r>
          </a:p>
          <a:p>
            <a:pPr>
              <a:spcAft>
                <a:spcPts val="600"/>
              </a:spcAft>
              <a:defRPr sz="1600">
                <a:solidFill>
                  <a:srgbClr val="2C3E50"/>
                </a:solidFill>
              </a:defRPr>
            </a:pPr>
            <a:r>
              <a:t>NOT sympathy ('I feel sorry for you') but UNDERSTANDING ('I see what you mean')</a:t>
            </a:r>
          </a:p>
          <a:p>
            <a:pPr>
              <a:spcAft>
                <a:spcPts val="600"/>
              </a:spcAft>
              <a:defRPr sz="1600">
                <a:solidFill>
                  <a:srgbClr val="2C3E50"/>
                </a:solidFill>
              </a:defRPr>
            </a:pPr>
            <a:r>
              <a:t>Rogers' empathy: Sensing the client's private world as if it were your own</a:t>
            </a:r>
          </a:p>
          <a:p>
            <a:pPr>
              <a:spcAft>
                <a:spcPts val="600"/>
              </a:spcAft>
              <a:defRPr sz="1600">
                <a:solidFill>
                  <a:srgbClr val="2C3E50"/>
                </a:solidFill>
              </a:defRPr>
            </a:pPr>
            <a:r>
              <a:t>KEY COMPONENTS:</a:t>
            </a:r>
          </a:p>
          <a:p>
            <a:pPr lvl="1">
              <a:spcAft>
                <a:spcPts val="600"/>
              </a:spcAft>
              <a:defRPr sz="1400">
                <a:solidFill>
                  <a:srgbClr val="2C3E50"/>
                </a:solidFill>
              </a:defRPr>
            </a:pPr>
            <a:r>
              <a:t>  • Active listening with full attention</a:t>
            </a:r>
          </a:p>
          <a:p>
            <a:pPr lvl="1">
              <a:spcAft>
                <a:spcPts val="600"/>
              </a:spcAft>
              <a:defRPr sz="1400">
                <a:solidFill>
                  <a:srgbClr val="2C3E50"/>
                </a:solidFill>
              </a:defRPr>
            </a:pPr>
            <a:r>
              <a:t>  • Reflecting back what is heard (verbal and emotional content)</a:t>
            </a:r>
          </a:p>
          <a:p>
            <a:pPr lvl="1">
              <a:spcAft>
                <a:spcPts val="600"/>
              </a:spcAft>
              <a:defRPr sz="1400">
                <a:solidFill>
                  <a:srgbClr val="2C3E50"/>
                </a:solidFill>
              </a:defRPr>
            </a:pPr>
            <a:r>
              <a:t>  • Acceptance of ambivalence as NORMAL, not pathological</a:t>
            </a:r>
          </a:p>
          <a:p>
            <a:pPr lvl="1">
              <a:spcAft>
                <a:spcPts val="600"/>
              </a:spcAft>
              <a:defRPr sz="1400">
                <a:solidFill>
                  <a:srgbClr val="2C3E50"/>
                </a:solidFill>
              </a:defRPr>
            </a:pPr>
            <a:r>
              <a:t>  • Non-judgmental stance throughout</a:t>
            </a:r>
          </a:p>
          <a:p>
            <a:pPr>
              <a:spcAft>
                <a:spcPts val="600"/>
              </a:spcAft>
              <a:defRPr sz="1600">
                <a:solidFill>
                  <a:srgbClr val="2C3E50"/>
                </a:solidFill>
              </a:defRPr>
            </a:pPr>
            <a:r>
              <a:t>CLINICAL DIALOGUE:</a:t>
            </a:r>
          </a:p>
          <a:p>
            <a:pPr lvl="1">
              <a:spcAft>
                <a:spcPts val="600"/>
              </a:spcAft>
              <a:defRPr sz="1400">
                <a:solidFill>
                  <a:srgbClr val="2C3E50"/>
                </a:solidFill>
              </a:defRPr>
            </a:pPr>
            <a:r>
              <a:t>  Client: 'I don't think I drink more than my friends'</a:t>
            </a:r>
          </a:p>
          <a:p>
            <a:pPr lvl="1">
              <a:spcAft>
                <a:spcPts val="600"/>
              </a:spcAft>
              <a:defRPr sz="1400">
                <a:solidFill>
                  <a:srgbClr val="2C3E50"/>
                </a:solidFill>
              </a:defRPr>
            </a:pPr>
            <a:r>
              <a:t>  WRONG: 'That's denial. Your friends probably drink too much too'</a:t>
            </a:r>
          </a:p>
          <a:p>
            <a:pPr lvl="1">
              <a:spcAft>
                <a:spcPts val="600"/>
              </a:spcAft>
              <a:defRPr sz="1400">
                <a:solidFill>
                  <a:srgbClr val="2C3E50"/>
                </a:solidFill>
              </a:defRPr>
            </a:pPr>
            <a:r>
              <a:t>  CORRECT: 'From your perspective, your drinking seems pretty normal compared to people around you'</a:t>
            </a:r>
          </a:p>
          <a:p>
            <a:pPr>
              <a:spcAft>
                <a:spcPts val="600"/>
              </a:spcAft>
              <a:defRPr sz="1600">
                <a:solidFill>
                  <a:srgbClr val="2C3E50"/>
                </a:solidFill>
              </a:defRPr>
            </a:pPr>
            <a:r>
              <a:t>RESEARCH: Valle (1981) - therapist empathy predicted 2-year outcomes</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Empathy is an active skill of reflecting understanding; it reduces resistance and builds alliance.</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 Valle, S.K. (1981). Journal of Studies on Alcohol, 42, 783-790. | Rogers, C.R. (1957). Journal of Consulting Psychology, 21, 95-103. | Truax, C.B., &amp; Carkhuff, R.R. (1967). Toward Effective Counseling and Psychotherapy. Aldine.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Develop Discrepancy</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Apply the develop discrepancy principle using client values and assessment feedback</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DEFINITION: Helping clients see the gap between present behavior and important goals/values</a:t>
            </a:r>
          </a:p>
          <a:p>
            <a:pPr>
              <a:spcAft>
                <a:spcPts val="600"/>
              </a:spcAft>
              <a:defRPr sz="1600">
                <a:solidFill>
                  <a:srgbClr val="2C3E50"/>
                </a:solidFill>
              </a:defRPr>
            </a:pPr>
            <a:r>
              <a:t>MECHANISM: Cognitive dissonance creates motivation to resolve the discrepancy</a:t>
            </a:r>
          </a:p>
          <a:p>
            <a:pPr>
              <a:spcAft>
                <a:spcPts val="600"/>
              </a:spcAft>
              <a:defRPr sz="1600">
                <a:solidFill>
                  <a:srgbClr val="2C3E50"/>
                </a:solidFill>
              </a:defRPr>
            </a:pPr>
            <a:r>
              <a:t>KEY PRINCIPLE: The CLIENT should present the arguments for change, not the therapist</a:t>
            </a:r>
          </a:p>
          <a:p>
            <a:pPr>
              <a:spcAft>
                <a:spcPts val="600"/>
              </a:spcAft>
              <a:defRPr sz="1600">
                <a:solidFill>
                  <a:srgbClr val="2C3E50"/>
                </a:solidFill>
              </a:defRPr>
            </a:pPr>
            <a:r>
              <a:t>HOW TO DEVELOP DISCREPANCY:</a:t>
            </a:r>
          </a:p>
          <a:p>
            <a:pPr lvl="1">
              <a:spcAft>
                <a:spcPts val="600"/>
              </a:spcAft>
              <a:defRPr sz="1400">
                <a:solidFill>
                  <a:srgbClr val="2C3E50"/>
                </a:solidFill>
              </a:defRPr>
            </a:pPr>
            <a:r>
              <a:t>  • Explore personal values: 'What's most important to you in life?'</a:t>
            </a:r>
          </a:p>
          <a:p>
            <a:pPr lvl="1">
              <a:spcAft>
                <a:spcPts val="600"/>
              </a:spcAft>
              <a:defRPr sz="1400">
                <a:solidFill>
                  <a:srgbClr val="2C3E50"/>
                </a:solidFill>
              </a:defRPr>
            </a:pPr>
            <a:r>
              <a:t>  • Compare behavior with values: 'How does your drinking fit with being a good father?'</a:t>
            </a:r>
          </a:p>
          <a:p>
            <a:pPr lvl="1">
              <a:spcAft>
                <a:spcPts val="600"/>
              </a:spcAft>
              <a:defRPr sz="1400">
                <a:solidFill>
                  <a:srgbClr val="2C3E50"/>
                </a:solidFill>
              </a:defRPr>
            </a:pPr>
            <a:r>
              <a:t>  • Use assessment feedback: Show normative comparisons</a:t>
            </a:r>
          </a:p>
          <a:p>
            <a:pPr lvl="1">
              <a:spcAft>
                <a:spcPts val="600"/>
              </a:spcAft>
              <a:defRPr sz="1400">
                <a:solidFill>
                  <a:srgbClr val="2C3E50"/>
                </a:solidFill>
              </a:defRPr>
            </a:pPr>
            <a:r>
              <a:t>  • Looking back: 'What was life like before heavy drinking?'</a:t>
            </a:r>
          </a:p>
          <a:p>
            <a:pPr lvl="1">
              <a:spcAft>
                <a:spcPts val="600"/>
              </a:spcAft>
              <a:defRPr sz="1400">
                <a:solidFill>
                  <a:srgbClr val="2C3E50"/>
                </a:solidFill>
              </a:defRPr>
            </a:pPr>
            <a:r>
              <a:t>  • Looking forward: 'Where do you see yourself in 5 years if nothing changes?'</a:t>
            </a:r>
          </a:p>
          <a:p>
            <a:pPr>
              <a:spcAft>
                <a:spcPts val="600"/>
              </a:spcAft>
              <a:defRPr sz="1600">
                <a:solidFill>
                  <a:srgbClr val="2C3E50"/>
                </a:solidFill>
              </a:defRPr>
            </a:pPr>
            <a:r>
              <a:t>CAUTION: Too much discrepancy too fast → defensiveness</a:t>
            </a:r>
          </a:p>
          <a:p>
            <a:pPr>
              <a:spcAft>
                <a:spcPts val="600"/>
              </a:spcAft>
              <a:defRPr sz="1600">
                <a:solidFill>
                  <a:srgbClr val="2C3E50"/>
                </a:solidFill>
              </a:defRPr>
            </a:pPr>
            <a:r>
              <a:t>CLINICAL EXAMPLE:</a:t>
            </a:r>
          </a:p>
          <a:p>
            <a:pPr lvl="1">
              <a:spcAft>
                <a:spcPts val="600"/>
              </a:spcAft>
              <a:defRPr sz="1400">
                <a:solidFill>
                  <a:srgbClr val="2C3E50"/>
                </a:solidFill>
              </a:defRPr>
            </a:pPr>
            <a:r>
              <a:t>  Client values: family, career, health</a:t>
            </a:r>
          </a:p>
          <a:p>
            <a:pPr lvl="1">
              <a:spcAft>
                <a:spcPts val="600"/>
              </a:spcAft>
              <a:defRPr sz="1400">
                <a:solidFill>
                  <a:srgbClr val="2C3E50"/>
                </a:solidFill>
              </a:defRPr>
            </a:pPr>
            <a:r>
              <a:t>  Current behavior: Missing children's events, poor performance reviews, elevated liver enzymes</a:t>
            </a:r>
          </a:p>
          <a:p>
            <a:pPr lvl="1">
              <a:spcAft>
                <a:spcPts val="600"/>
              </a:spcAft>
              <a:defRPr sz="1400">
                <a:solidFill>
                  <a:srgbClr val="2C3E50"/>
                </a:solidFill>
              </a:defRPr>
            </a:pPr>
            <a:r>
              <a:t>  Therapist: 'On one hand you deeply value your family, and on the other hand...'</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Discrepancy between values and behavior creates internal motivation; let the client articulate it.</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 Festinger, L. (1957). A Theory of Cognitive Dissonance. | Miller, W.R., &amp; Rollnick, S. (2013). Motivational interviewing (3rd ed.). Guilford Press.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Roll with Resistance</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Demonstrate strategies for rolling with resistance rather than opposing it</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DEFINITION: Avoid arguing; use the client's momentum rather than opposing it directly</a:t>
            </a:r>
          </a:p>
          <a:p>
            <a:pPr>
              <a:spcAft>
                <a:spcPts val="600"/>
              </a:spcAft>
              <a:defRPr sz="1600">
                <a:solidFill>
                  <a:srgbClr val="2C3E50"/>
                </a:solidFill>
              </a:defRPr>
            </a:pPr>
            <a:r>
              <a:t>Resistance is a SIGNAL that the therapist should change approach, not push harder</a:t>
            </a:r>
          </a:p>
          <a:p>
            <a:pPr>
              <a:spcAft>
                <a:spcPts val="600"/>
              </a:spcAft>
              <a:defRPr sz="1600">
                <a:solidFill>
                  <a:srgbClr val="2C3E50"/>
                </a:solidFill>
              </a:defRPr>
            </a:pPr>
            <a:r>
              <a:t>Miller (1995): 'Resistance is an interpersonal phenomenon - therapist behavior influences it'</a:t>
            </a:r>
          </a:p>
          <a:p>
            <a:pPr>
              <a:spcAft>
                <a:spcPts val="600"/>
              </a:spcAft>
              <a:defRPr sz="1600">
                <a:solidFill>
                  <a:srgbClr val="2C3E50"/>
                </a:solidFill>
              </a:defRPr>
            </a:pPr>
            <a:r>
              <a:t>STRATEGIES FOR ROLLING WITH RESISTANCE:</a:t>
            </a:r>
          </a:p>
          <a:p>
            <a:pPr lvl="1">
              <a:spcAft>
                <a:spcPts val="600"/>
              </a:spcAft>
              <a:defRPr sz="1400">
                <a:solidFill>
                  <a:srgbClr val="2C3E50"/>
                </a:solidFill>
              </a:defRPr>
            </a:pPr>
            <a:r>
              <a:t>  • Simple reflection: Acknowledge what client is saying</a:t>
            </a:r>
          </a:p>
          <a:p>
            <a:pPr lvl="1">
              <a:spcAft>
                <a:spcPts val="600"/>
              </a:spcAft>
              <a:defRPr sz="1400">
                <a:solidFill>
                  <a:srgbClr val="2C3E50"/>
                </a:solidFill>
              </a:defRPr>
            </a:pPr>
            <a:r>
              <a:t>  • Amplified reflection: Slightly overstate to elicit the other side</a:t>
            </a:r>
          </a:p>
          <a:p>
            <a:pPr lvl="1">
              <a:spcAft>
                <a:spcPts val="600"/>
              </a:spcAft>
              <a:defRPr sz="1400">
                <a:solidFill>
                  <a:srgbClr val="2C3E50"/>
                </a:solidFill>
              </a:defRPr>
            </a:pPr>
            <a:r>
              <a:t>  • Double-sided reflection: 'On one hand... and on the other...'</a:t>
            </a:r>
          </a:p>
          <a:p>
            <a:pPr lvl="1">
              <a:spcAft>
                <a:spcPts val="600"/>
              </a:spcAft>
              <a:defRPr sz="1400">
                <a:solidFill>
                  <a:srgbClr val="2C3E50"/>
                </a:solidFill>
              </a:defRPr>
            </a:pPr>
            <a:r>
              <a:t>  • Shifting focus: Move away from the stuck point</a:t>
            </a:r>
          </a:p>
          <a:p>
            <a:pPr lvl="1">
              <a:spcAft>
                <a:spcPts val="600"/>
              </a:spcAft>
              <a:defRPr sz="1400">
                <a:solidFill>
                  <a:srgbClr val="2C3E50"/>
                </a:solidFill>
              </a:defRPr>
            </a:pPr>
            <a:r>
              <a:t>  • Reframing: Offer a new interpretation of the information</a:t>
            </a:r>
          </a:p>
          <a:p>
            <a:pPr lvl="1">
              <a:spcAft>
                <a:spcPts val="600"/>
              </a:spcAft>
              <a:defRPr sz="1400">
                <a:solidFill>
                  <a:srgbClr val="2C3E50"/>
                </a:solidFill>
              </a:defRPr>
            </a:pPr>
            <a:r>
              <a:t>  • Agreeing with a twist: Agree but add a new dimension</a:t>
            </a:r>
          </a:p>
          <a:p>
            <a:pPr>
              <a:spcAft>
                <a:spcPts val="600"/>
              </a:spcAft>
              <a:defRPr sz="1600">
                <a:solidFill>
                  <a:srgbClr val="2C3E50"/>
                </a:solidFill>
              </a:defRPr>
            </a:pPr>
            <a:r>
              <a:t>EXAMPLE OF AMPLIFIED REFLECTION:</a:t>
            </a:r>
          </a:p>
          <a:p>
            <a:pPr lvl="1">
              <a:spcAft>
                <a:spcPts val="600"/>
              </a:spcAft>
              <a:defRPr sz="1400">
                <a:solidFill>
                  <a:srgbClr val="2C3E50"/>
                </a:solidFill>
              </a:defRPr>
            </a:pPr>
            <a:r>
              <a:t>  Client: 'I can handle my drinking just fine'</a:t>
            </a:r>
          </a:p>
          <a:p>
            <a:pPr lvl="1">
              <a:spcAft>
                <a:spcPts val="600"/>
              </a:spcAft>
              <a:defRPr sz="1400">
                <a:solidFill>
                  <a:srgbClr val="2C3E50"/>
                </a:solidFill>
              </a:defRPr>
            </a:pPr>
            <a:r>
              <a:t>  Therapist: 'So there's absolutely nothing about your drinking that concerns you at all'</a:t>
            </a:r>
          </a:p>
          <a:p>
            <a:pPr lvl="1">
              <a:spcAft>
                <a:spcPts val="600"/>
              </a:spcAft>
              <a:defRPr sz="1400">
                <a:solidFill>
                  <a:srgbClr val="2C3E50"/>
                </a:solidFill>
              </a:defRPr>
            </a:pPr>
            <a:r>
              <a:t>  Client: 'Well... I wouldn't say NOTHING...'</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Resistance signals a need to change approach; rolling with it reduces defensiveness and opens exploration.</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 Miller, W.R., &amp; Rollnick, S. (2013). Motivational interviewing (3rd ed.). Guilford Press. | Murthy, P. (2008). NIMHANS Manual: DARES approach.</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Support Self-Efficacy</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Implement strategies to build client self-efficacy within MET sessions</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DEFINITION: Enhancing the client's belief in their ability to change</a:t>
            </a:r>
          </a:p>
          <a:p>
            <a:pPr>
              <a:spcAft>
                <a:spcPts val="600"/>
              </a:spcAft>
              <a:defRPr sz="1600">
                <a:solidFill>
                  <a:srgbClr val="2C3E50"/>
                </a:solidFill>
              </a:defRPr>
            </a:pPr>
            <a:r>
              <a:t>Self-efficacy is the CONFIDENCE component: 'I CAN do this'</a:t>
            </a:r>
          </a:p>
          <a:p>
            <a:pPr>
              <a:spcAft>
                <a:spcPts val="600"/>
              </a:spcAft>
              <a:defRPr sz="1600">
                <a:solidFill>
                  <a:srgbClr val="2C3E50"/>
                </a:solidFill>
              </a:defRPr>
            </a:pPr>
            <a:r>
              <a:t>Without self-efficacy, even highly motivated clients won't attempt change</a:t>
            </a:r>
          </a:p>
          <a:p>
            <a:pPr>
              <a:spcAft>
                <a:spcPts val="600"/>
              </a:spcAft>
              <a:defRPr sz="1600">
                <a:solidFill>
                  <a:srgbClr val="2C3E50"/>
                </a:solidFill>
              </a:defRPr>
            </a:pPr>
            <a:r>
              <a:t>STRATEGIES TO SUPPORT SELF-EFFICACY:</a:t>
            </a:r>
          </a:p>
          <a:p>
            <a:pPr lvl="1">
              <a:spcAft>
                <a:spcPts val="600"/>
              </a:spcAft>
              <a:defRPr sz="1400">
                <a:solidFill>
                  <a:srgbClr val="2C3E50"/>
                </a:solidFill>
              </a:defRPr>
            </a:pPr>
            <a:r>
              <a:t>  • Affirm past successes: 'You quit for 3 months last year - you've done it before'</a:t>
            </a:r>
          </a:p>
          <a:p>
            <a:pPr lvl="1">
              <a:spcAft>
                <a:spcPts val="600"/>
              </a:spcAft>
              <a:defRPr sz="1400">
                <a:solidFill>
                  <a:srgbClr val="2C3E50"/>
                </a:solidFill>
              </a:defRPr>
            </a:pPr>
            <a:r>
              <a:t>  • Highlight strengths: 'You've shown real courage in coming here today'</a:t>
            </a:r>
          </a:p>
          <a:p>
            <a:pPr lvl="1">
              <a:spcAft>
                <a:spcPts val="600"/>
              </a:spcAft>
              <a:defRPr sz="1400">
                <a:solidFill>
                  <a:srgbClr val="2C3E50"/>
                </a:solidFill>
              </a:defRPr>
            </a:pPr>
            <a:r>
              <a:t>  • Normalize struggle: 'Many people need several attempts - this is normal'</a:t>
            </a:r>
          </a:p>
          <a:p>
            <a:pPr lvl="1">
              <a:spcAft>
                <a:spcPts val="600"/>
              </a:spcAft>
              <a:defRPr sz="1400">
                <a:solidFill>
                  <a:srgbClr val="2C3E50"/>
                </a:solidFill>
              </a:defRPr>
            </a:pPr>
            <a:r>
              <a:t>  • Offer menu of options: Multiple paths = greater sense of possibility</a:t>
            </a:r>
          </a:p>
          <a:p>
            <a:pPr lvl="1">
              <a:spcAft>
                <a:spcPts val="600"/>
              </a:spcAft>
              <a:defRPr sz="1400">
                <a:solidFill>
                  <a:srgbClr val="2C3E50"/>
                </a:solidFill>
              </a:defRPr>
            </a:pPr>
            <a:r>
              <a:t>  • Attribution to client: 'YOU did that, not the program'</a:t>
            </a:r>
          </a:p>
          <a:p>
            <a:pPr lvl="1">
              <a:spcAft>
                <a:spcPts val="600"/>
              </a:spcAft>
              <a:defRPr sz="1400">
                <a:solidFill>
                  <a:srgbClr val="2C3E50"/>
                </a:solidFill>
              </a:defRPr>
            </a:pPr>
            <a:r>
              <a:t>  • Express confidence: 'Based on what I know about you, I believe you can do this'</a:t>
            </a:r>
          </a:p>
          <a:p>
            <a:pPr>
              <a:spcAft>
                <a:spcPts val="600"/>
              </a:spcAft>
              <a:defRPr sz="1600">
                <a:solidFill>
                  <a:srgbClr val="2C3E50"/>
                </a:solidFill>
              </a:defRPr>
            </a:pPr>
            <a:r>
              <a:t>RESEARCH: Self-efficacy at intake predicts outcomes across addiction treatments</a:t>
            </a:r>
          </a:p>
          <a:p>
            <a:pPr>
              <a:spcAft>
                <a:spcPts val="600"/>
              </a:spcAft>
              <a:defRPr sz="1600">
                <a:solidFill>
                  <a:srgbClr val="2C3E50"/>
                </a:solidFill>
              </a:defRPr>
            </a:pPr>
            <a:r>
              <a:t>NOTE: Hope is therapeutic - genuine belief in the client's potential communicates powerfully</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Self-efficacy is the bridge between motivation and action; therapists must actively nurture it.</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Bandura, A. (1982). American Psychologist, 37, 122-147. | Miller, W.R., et al. (1995). MET Manual. | DiClemente, C.C., et al. (1995). Alcoholism: Clinical and Experimental Research, 19, 1062-1071.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D5FA6"/>
        </a:solidFill>
        <a:effectLst/>
      </p:bgPr>
    </p:bg>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914400" y="1828800"/>
            <a:ext cx="10058400" cy="1371600"/>
          </a:xfrm>
          <a:prstGeom prst="rect">
            <a:avLst/>
          </a:prstGeom>
          <a:noFill/>
        </p:spPr>
        <p:txBody>
          <a:bodyPr wrap="none">
            <a:spAutoFit/>
          </a:bodyPr>
          <a:lstStyle/>
          <a:p>
            <a:pPr algn="ctr">
              <a:defRPr sz="1800">
                <a:solidFill>
                  <a:srgbClr val="B7950B"/>
                </a:solidFill>
              </a:defRPr>
            </a:pPr>
            <a:r>
              <a:t>SECTION 7</a:t>
            </a:r>
          </a:p>
        </p:txBody>
      </p:sp>
      <p:sp>
        <p:nvSpPr>
          <p:cNvPr id="5" name="TextBox 4"/>
          <p:cNvSpPr txBox="1"/>
          <p:nvPr/>
        </p:nvSpPr>
        <p:spPr>
          <a:xfrm>
            <a:off x="914400" y="2926080"/>
            <a:ext cx="10058400" cy="1828800"/>
          </a:xfrm>
          <a:prstGeom prst="rect">
            <a:avLst/>
          </a:prstGeom>
          <a:noFill/>
        </p:spPr>
        <p:txBody>
          <a:bodyPr wrap="square">
            <a:spAutoFit/>
          </a:bodyPr>
          <a:lstStyle/>
          <a:p>
            <a:pPr algn="ctr">
              <a:defRPr sz="3600" b="1">
                <a:solidFill>
                  <a:srgbClr val="FFFFFF"/>
                </a:solidFill>
              </a:defRPr>
            </a:pPr>
            <a:r>
              <a:t>Essential Communication Skills: OARS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OARS: The Core Skills of MET</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Identify and define the four OARS communication skills used in MET</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OARS = Open Questions + Affirmations + Reflective Listening + Summaries</a:t>
            </a:r>
          </a:p>
          <a:p>
            <a:pPr>
              <a:spcAft>
                <a:spcPts val="600"/>
              </a:spcAft>
              <a:defRPr sz="1600">
                <a:solidFill>
                  <a:srgbClr val="2C3E50"/>
                </a:solidFill>
              </a:defRPr>
            </a:pPr>
            <a:r>
              <a:t>These are the MICRO-SKILLS that operationalize the MET spirit</a:t>
            </a:r>
          </a:p>
          <a:p>
            <a:pPr>
              <a:spcAft>
                <a:spcPts val="600"/>
              </a:spcAft>
              <a:defRPr sz="1600">
                <a:solidFill>
                  <a:srgbClr val="2C3E50"/>
                </a:solidFill>
              </a:defRPr>
            </a:pPr>
            <a:r>
              <a:t>Every MET session relies heavily on OARS throughout</a:t>
            </a:r>
          </a:p>
          <a:p>
            <a:pPr>
              <a:spcAft>
                <a:spcPts val="600"/>
              </a:spcAft>
              <a:defRPr sz="1600">
                <a:solidFill>
                  <a:srgbClr val="2C3E50"/>
                </a:solidFill>
              </a:defRPr>
            </a:pPr>
          </a:p>
          <a:p>
            <a:pPr>
              <a:spcAft>
                <a:spcPts val="600"/>
              </a:spcAft>
              <a:defRPr sz="1600">
                <a:solidFill>
                  <a:srgbClr val="2C3E50"/>
                </a:solidFill>
              </a:defRPr>
            </a:pPr>
            <a:r>
              <a:t>O - Open Questions: Invite exploration, cannot be answered with yes/no</a:t>
            </a:r>
          </a:p>
          <a:p>
            <a:pPr>
              <a:spcAft>
                <a:spcPts val="600"/>
              </a:spcAft>
              <a:defRPr sz="1600">
                <a:solidFill>
                  <a:srgbClr val="2C3E50"/>
                </a:solidFill>
              </a:defRPr>
            </a:pPr>
            <a:r>
              <a:t>A - Affirmations: Acknowledge client strengths and efforts</a:t>
            </a:r>
          </a:p>
          <a:p>
            <a:pPr>
              <a:spcAft>
                <a:spcPts val="600"/>
              </a:spcAft>
              <a:defRPr sz="1600">
                <a:solidFill>
                  <a:srgbClr val="2C3E50"/>
                </a:solidFill>
              </a:defRPr>
            </a:pPr>
            <a:r>
              <a:t>R - Reflective Listening: Mirror back what client says with added depth</a:t>
            </a:r>
          </a:p>
          <a:p>
            <a:pPr>
              <a:spcAft>
                <a:spcPts val="600"/>
              </a:spcAft>
              <a:defRPr sz="1600">
                <a:solidFill>
                  <a:srgbClr val="2C3E50"/>
                </a:solidFill>
              </a:defRPr>
            </a:pPr>
            <a:r>
              <a:t>S - Summaries: Collect and present key themes</a:t>
            </a:r>
          </a:p>
          <a:p>
            <a:pPr>
              <a:spcAft>
                <a:spcPts val="600"/>
              </a:spcAft>
              <a:defRPr sz="1600">
                <a:solidFill>
                  <a:srgbClr val="2C3E50"/>
                </a:solidFill>
              </a:defRPr>
            </a:pPr>
          </a:p>
          <a:p>
            <a:pPr>
              <a:spcAft>
                <a:spcPts val="600"/>
              </a:spcAft>
              <a:defRPr sz="1600">
                <a:solidFill>
                  <a:srgbClr val="2C3E50"/>
                </a:solidFill>
              </a:defRPr>
            </a:pPr>
            <a:r>
              <a:t>NIMHANS Manual: 'OARS and eliciting change talk are the 5 specific skills in MI'</a:t>
            </a:r>
          </a:p>
          <a:p>
            <a:pPr>
              <a:spcAft>
                <a:spcPts val="600"/>
              </a:spcAft>
              <a:defRPr sz="1600">
                <a:solidFill>
                  <a:srgbClr val="2C3E50"/>
                </a:solidFill>
              </a:defRPr>
            </a:pPr>
            <a:r>
              <a:t>Ratio guideline: Reflections should outnumber questions 2:1</a:t>
            </a:r>
          </a:p>
          <a:p>
            <a:pPr>
              <a:spcAft>
                <a:spcPts val="600"/>
              </a:spcAft>
              <a:defRPr sz="1600">
                <a:solidFill>
                  <a:srgbClr val="2C3E50"/>
                </a:solidFill>
              </a:defRPr>
            </a:pPr>
            <a:r>
              <a:t>These skills work together synergistically</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OARS (Open questions, Affirmations, Reflections, Summaries) are the operational micro-skills of MET.</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 Miller, W.R., &amp; Rollnick, S. (2013). Motivational interviewing (3rd ed.). Guilford Press. | Murthy, P. (2008). NIMHANS Manual, pp. 22-23.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Open Questions: Inviting Exploration</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Formulate effective open questions that invite exploration of ambivalence</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DEFINITION: Questions that cannot be answered with a simple yes/no</a:t>
            </a:r>
          </a:p>
          <a:p>
            <a:pPr>
              <a:spcAft>
                <a:spcPts val="600"/>
              </a:spcAft>
              <a:defRPr sz="1600">
                <a:solidFill>
                  <a:srgbClr val="2C3E50"/>
                </a:solidFill>
              </a:defRPr>
            </a:pPr>
            <a:r>
              <a:t>PURPOSE: Invite client to do the talking; explore their perspective</a:t>
            </a:r>
          </a:p>
          <a:p>
            <a:pPr>
              <a:spcAft>
                <a:spcPts val="600"/>
              </a:spcAft>
              <a:defRPr sz="1600">
                <a:solidFill>
                  <a:srgbClr val="2C3E50"/>
                </a:solidFill>
              </a:defRPr>
            </a:pPr>
            <a:r>
              <a:t>TYPES OF OPEN QUESTIONS IN MET:</a:t>
            </a:r>
          </a:p>
          <a:p>
            <a:pPr lvl="1">
              <a:spcAft>
                <a:spcPts val="600"/>
              </a:spcAft>
              <a:defRPr sz="1400">
                <a:solidFill>
                  <a:srgbClr val="2C3E50"/>
                </a:solidFill>
              </a:defRPr>
            </a:pPr>
            <a:r>
              <a:t>  • Exploring: 'Tell me about your drinking' / 'What concerns you?'</a:t>
            </a:r>
          </a:p>
          <a:p>
            <a:pPr lvl="1">
              <a:spcAft>
                <a:spcPts val="600"/>
              </a:spcAft>
              <a:defRPr sz="1400">
                <a:solidFill>
                  <a:srgbClr val="2C3E50"/>
                </a:solidFill>
              </a:defRPr>
            </a:pPr>
            <a:r>
              <a:t>  • Evoking: 'What would you like to be different?' / 'Why might you make this change?'</a:t>
            </a:r>
          </a:p>
          <a:p>
            <a:pPr lvl="1">
              <a:spcAft>
                <a:spcPts val="600"/>
              </a:spcAft>
              <a:defRPr sz="1400">
                <a:solidFill>
                  <a:srgbClr val="2C3E50"/>
                </a:solidFill>
              </a:defRPr>
            </a:pPr>
            <a:r>
              <a:t>  • Planning: 'What do you think you might do?' / 'How could you go about it?'</a:t>
            </a:r>
          </a:p>
          <a:p>
            <a:pPr>
              <a:spcAft>
                <a:spcPts val="600"/>
              </a:spcAft>
              <a:defRPr sz="1600">
                <a:solidFill>
                  <a:srgbClr val="2C3E50"/>
                </a:solidFill>
              </a:defRPr>
            </a:pPr>
            <a:r>
              <a:t>EXAMPLES FROM MET MANUAL:</a:t>
            </a:r>
          </a:p>
          <a:p>
            <a:pPr lvl="1">
              <a:spcAft>
                <a:spcPts val="600"/>
              </a:spcAft>
              <a:defRPr sz="1400">
                <a:solidFill>
                  <a:srgbClr val="2C3E50"/>
                </a:solidFill>
              </a:defRPr>
            </a:pPr>
            <a:r>
              <a:t>  'What are your worries about drinking?'</a:t>
            </a:r>
          </a:p>
          <a:p>
            <a:pPr lvl="1">
              <a:spcAft>
                <a:spcPts val="600"/>
              </a:spcAft>
              <a:defRPr sz="1400">
                <a:solidFill>
                  <a:srgbClr val="2C3E50"/>
                </a:solidFill>
              </a:defRPr>
            </a:pPr>
            <a:r>
              <a:t>  'Tell me what you've noticed about your drinking. How has it changed over time?'</a:t>
            </a:r>
          </a:p>
          <a:p>
            <a:pPr lvl="1">
              <a:spcAft>
                <a:spcPts val="600"/>
              </a:spcAft>
              <a:defRPr sz="1400">
                <a:solidFill>
                  <a:srgbClr val="2C3E50"/>
                </a:solidFill>
              </a:defRPr>
            </a:pPr>
            <a:r>
              <a:t>  'What makes you think that perhaps you need to make a change?'</a:t>
            </a:r>
          </a:p>
          <a:p>
            <a:pPr lvl="1">
              <a:spcAft>
                <a:spcPts val="600"/>
              </a:spcAft>
              <a:defRPr sz="1400">
                <a:solidFill>
                  <a:srgbClr val="2C3E50"/>
                </a:solidFill>
              </a:defRPr>
            </a:pPr>
            <a:r>
              <a:t>  'What have other people told you about your drinking?'</a:t>
            </a:r>
          </a:p>
          <a:p>
            <a:pPr>
              <a:spcAft>
                <a:spcPts val="600"/>
              </a:spcAft>
              <a:defRPr sz="1600">
                <a:solidFill>
                  <a:srgbClr val="2C3E50"/>
                </a:solidFill>
              </a:defRPr>
            </a:pPr>
            <a:r>
              <a:t>POOR EXAMPLES (Closed questions):</a:t>
            </a:r>
          </a:p>
          <a:p>
            <a:pPr lvl="1">
              <a:spcAft>
                <a:spcPts val="600"/>
              </a:spcAft>
              <a:defRPr sz="1400">
                <a:solidFill>
                  <a:srgbClr val="2C3E50"/>
                </a:solidFill>
              </a:defRPr>
            </a:pPr>
            <a:r>
              <a:t>  'Do you think you drink too much?' / 'Are you going to stop?'</a:t>
            </a:r>
          </a:p>
          <a:p>
            <a:pPr>
              <a:spcAft>
                <a:spcPts val="600"/>
              </a:spcAft>
              <a:defRPr sz="1600">
                <a:solidFill>
                  <a:srgbClr val="2C3E50"/>
                </a:solidFill>
              </a:defRPr>
            </a:pPr>
            <a:r>
              <a:t>PRACTICE: Convert closed → open questions</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Open questions create space for clients to explore their own motivations; they are the engine of change talk.</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pp. 13-15. | Miller, W.R., &amp; Rollnick, S. (2013). Motivational interviewing (3rd ed.). Guilford Press. | Murthy, P. (2008). NIMHANS Manual.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Affirmations: Recognizing Strengths</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Distinguish effective affirmations from generic praise and practice delivery</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DEFINITION: Statements that recognize client strengths, efforts, and positive qualities</a:t>
            </a:r>
          </a:p>
          <a:p>
            <a:pPr>
              <a:spcAft>
                <a:spcPts val="600"/>
              </a:spcAft>
              <a:defRPr sz="1600">
                <a:solidFill>
                  <a:srgbClr val="2C3E50"/>
                </a:solidFill>
              </a:defRPr>
            </a:pPr>
            <a:r>
              <a:t>PURPOSE: Build self-efficacy, strengthen therapeutic alliance, reduce defensiveness</a:t>
            </a:r>
          </a:p>
          <a:p>
            <a:pPr>
              <a:spcAft>
                <a:spcPts val="600"/>
              </a:spcAft>
              <a:defRPr sz="1600">
                <a:solidFill>
                  <a:srgbClr val="2C3E50"/>
                </a:solidFill>
              </a:defRPr>
            </a:pPr>
            <a:r>
              <a:t>CHARACTERISTICS OF GOOD AFFIRMATIONS:</a:t>
            </a:r>
          </a:p>
          <a:p>
            <a:pPr lvl="1">
              <a:spcAft>
                <a:spcPts val="600"/>
              </a:spcAft>
              <a:defRPr sz="1400">
                <a:solidFill>
                  <a:srgbClr val="2C3E50"/>
                </a:solidFill>
              </a:defRPr>
            </a:pPr>
            <a:r>
              <a:t>  • Genuine and specific (not generic praise)</a:t>
            </a:r>
          </a:p>
          <a:p>
            <a:pPr lvl="1">
              <a:spcAft>
                <a:spcPts val="600"/>
              </a:spcAft>
              <a:defRPr sz="1400">
                <a:solidFill>
                  <a:srgbClr val="2C3E50"/>
                </a:solidFill>
              </a:defRPr>
            </a:pPr>
            <a:r>
              <a:t>  • Focus on efforts and character, not just outcomes</a:t>
            </a:r>
          </a:p>
          <a:p>
            <a:pPr lvl="1">
              <a:spcAft>
                <a:spcPts val="600"/>
              </a:spcAft>
              <a:defRPr sz="1400">
                <a:solidFill>
                  <a:srgbClr val="2C3E50"/>
                </a:solidFill>
              </a:defRPr>
            </a:pPr>
            <a:r>
              <a:t>  • Acknowledge difficulty of the process</a:t>
            </a:r>
          </a:p>
          <a:p>
            <a:pPr lvl="1">
              <a:spcAft>
                <a:spcPts val="600"/>
              </a:spcAft>
              <a:defRPr sz="1400">
                <a:solidFill>
                  <a:srgbClr val="2C3E50"/>
                </a:solidFill>
              </a:defRPr>
            </a:pPr>
            <a:r>
              <a:t>  • Attribute positive qualities to the client</a:t>
            </a:r>
          </a:p>
          <a:p>
            <a:pPr>
              <a:spcAft>
                <a:spcPts val="600"/>
              </a:spcAft>
              <a:defRPr sz="1600">
                <a:solidFill>
                  <a:srgbClr val="2C3E50"/>
                </a:solidFill>
              </a:defRPr>
            </a:pPr>
            <a:r>
              <a:t>EXAMPLES:</a:t>
            </a:r>
          </a:p>
          <a:p>
            <a:pPr lvl="1">
              <a:spcAft>
                <a:spcPts val="600"/>
              </a:spcAft>
              <a:defRPr sz="1400">
                <a:solidFill>
                  <a:srgbClr val="2C3E50"/>
                </a:solidFill>
              </a:defRPr>
            </a:pPr>
            <a:r>
              <a:t>  'It took real courage to come here today'</a:t>
            </a:r>
          </a:p>
          <a:p>
            <a:pPr lvl="1">
              <a:spcAft>
                <a:spcPts val="600"/>
              </a:spcAft>
              <a:defRPr sz="1400">
                <a:solidFill>
                  <a:srgbClr val="2C3E50"/>
                </a:solidFill>
              </a:defRPr>
            </a:pPr>
            <a:r>
              <a:t>  'You clearly care deeply about your family'</a:t>
            </a:r>
          </a:p>
          <a:p>
            <a:pPr lvl="1">
              <a:spcAft>
                <a:spcPts val="600"/>
              </a:spcAft>
              <a:defRPr sz="1400">
                <a:solidFill>
                  <a:srgbClr val="2C3E50"/>
                </a:solidFill>
              </a:defRPr>
            </a:pPr>
            <a:r>
              <a:t>  'The fact that you're thinking about this shows real strength'</a:t>
            </a:r>
          </a:p>
          <a:p>
            <a:pPr lvl="1">
              <a:spcAft>
                <a:spcPts val="600"/>
              </a:spcAft>
              <a:defRPr sz="1400">
                <a:solidFill>
                  <a:srgbClr val="2C3E50"/>
                </a:solidFill>
              </a:defRPr>
            </a:pPr>
            <a:r>
              <a:t>  'You managed 3 months without drinking - that shows you CAN do this'</a:t>
            </a:r>
          </a:p>
          <a:p>
            <a:pPr>
              <a:spcAft>
                <a:spcPts val="600"/>
              </a:spcAft>
              <a:defRPr sz="1600">
                <a:solidFill>
                  <a:srgbClr val="2C3E50"/>
                </a:solidFill>
              </a:defRPr>
            </a:pPr>
            <a:r>
              <a:t>POOR EXAMPLES:</a:t>
            </a:r>
          </a:p>
          <a:p>
            <a:pPr lvl="1">
              <a:spcAft>
                <a:spcPts val="600"/>
              </a:spcAft>
              <a:defRPr sz="1400">
                <a:solidFill>
                  <a:srgbClr val="2C3E50"/>
                </a:solidFill>
              </a:defRPr>
            </a:pPr>
            <a:r>
              <a:t>  'Good job!' (too vague) / 'I'm proud of you' (patronizing, about therapist)</a:t>
            </a:r>
          </a:p>
          <a:p>
            <a:pPr>
              <a:spcAft>
                <a:spcPts val="600"/>
              </a:spcAft>
              <a:defRPr sz="1600">
                <a:solidFill>
                  <a:srgbClr val="2C3E50"/>
                </a:solidFill>
              </a:defRPr>
            </a:pPr>
            <a:r>
              <a:t>KEY: Affirmations are about the CLIENT, not about the therapist's approval</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Effective affirmations are genuine, specific, and attribute positive qualities to the client themselves.</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&amp; Rollnick, S. (2013). Motivational interviewing (3rd ed.). Guilford Press. | Miller, W.R., et al. (1995). MET Manual. | Murthy, P. (2008). NIMHANS Manual.</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Reflective Listening: The Core Skill</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Differentiate types of reflections and practice strategic reflective listening</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DEFINITION: Statements that reflect back what the client has said with added meaning</a:t>
            </a:r>
          </a:p>
          <a:p>
            <a:pPr>
              <a:spcAft>
                <a:spcPts val="600"/>
              </a:spcAft>
              <a:defRPr sz="1600">
                <a:solidFill>
                  <a:srgbClr val="2C3E50"/>
                </a:solidFill>
              </a:defRPr>
            </a:pPr>
            <a:r>
              <a:t>Miller (1995): 'Neither easy nor to be done poorly - requires continuous alert tracking'</a:t>
            </a:r>
          </a:p>
          <a:p>
            <a:pPr>
              <a:spcAft>
                <a:spcPts val="600"/>
              </a:spcAft>
              <a:defRPr sz="1600">
                <a:solidFill>
                  <a:srgbClr val="2C3E50"/>
                </a:solidFill>
              </a:defRPr>
            </a:pPr>
            <a:r>
              <a:t>TYPES OF REFLECTIONS:</a:t>
            </a:r>
          </a:p>
          <a:p>
            <a:pPr lvl="1">
              <a:spcAft>
                <a:spcPts val="600"/>
              </a:spcAft>
              <a:defRPr sz="1400">
                <a:solidFill>
                  <a:srgbClr val="2C3E50"/>
                </a:solidFill>
              </a:defRPr>
            </a:pPr>
            <a:r>
              <a:t>  1. Simple Reflection: Repeats or slightly rephrases what was said</a:t>
            </a:r>
          </a:p>
          <a:p>
            <a:pPr lvl="1">
              <a:spcAft>
                <a:spcPts val="600"/>
              </a:spcAft>
              <a:defRPr sz="1400">
                <a:solidFill>
                  <a:srgbClr val="2C3E50"/>
                </a:solidFill>
              </a:defRPr>
            </a:pPr>
            <a:r>
              <a:t>  2. Complex Reflection: Adds meaning, feeling, or implication beyond what was stated</a:t>
            </a:r>
          </a:p>
          <a:p>
            <a:pPr lvl="1">
              <a:spcAft>
                <a:spcPts val="600"/>
              </a:spcAft>
              <a:defRPr sz="1400">
                <a:solidFill>
                  <a:srgbClr val="2C3E50"/>
                </a:solidFill>
              </a:defRPr>
            </a:pPr>
            <a:r>
              <a:t>  3. Double-Sided Reflection: Captures both sides of ambivalence</a:t>
            </a:r>
          </a:p>
          <a:p>
            <a:pPr lvl="1">
              <a:spcAft>
                <a:spcPts val="600"/>
              </a:spcAft>
              <a:defRPr sz="1400">
                <a:solidFill>
                  <a:srgbClr val="2C3E50"/>
                </a:solidFill>
              </a:defRPr>
            </a:pPr>
            <a:r>
              <a:t>  4. Amplified Reflection: Overstates slightly to elicit the other side</a:t>
            </a:r>
          </a:p>
          <a:p>
            <a:pPr>
              <a:spcAft>
                <a:spcPts val="600"/>
              </a:spcAft>
              <a:defRPr sz="1600">
                <a:solidFill>
                  <a:srgbClr val="2C3E50"/>
                </a:solidFill>
              </a:defRPr>
            </a:pPr>
            <a:r>
              <a:t>EXAMPLE FROM MET MANUAL:</a:t>
            </a:r>
          </a:p>
          <a:p>
            <a:pPr lvl="1">
              <a:spcAft>
                <a:spcPts val="600"/>
              </a:spcAft>
              <a:defRPr sz="1400">
                <a:solidFill>
                  <a:srgbClr val="2C3E50"/>
                </a:solidFill>
              </a:defRPr>
            </a:pPr>
            <a:r>
              <a:t>  Client: 'I'm not sure I'm concerned, but I do wonder if I'm drinking too much'</a:t>
            </a:r>
          </a:p>
          <a:p>
            <a:pPr lvl="1">
              <a:spcAft>
                <a:spcPts val="600"/>
              </a:spcAft>
              <a:defRPr sz="1400">
                <a:solidFill>
                  <a:srgbClr val="2C3E50"/>
                </a:solidFill>
              </a:defRPr>
            </a:pPr>
            <a:r>
              <a:t>  Simple: 'You wonder about your drinking'</a:t>
            </a:r>
          </a:p>
          <a:p>
            <a:pPr lvl="1">
              <a:spcAft>
                <a:spcPts val="600"/>
              </a:spcAft>
              <a:defRPr sz="1400">
                <a:solidFill>
                  <a:srgbClr val="2C3E50"/>
                </a:solidFill>
              </a:defRPr>
            </a:pPr>
            <a:r>
              <a:t>  Complex: 'Part of you suspects something needs to change'</a:t>
            </a:r>
          </a:p>
          <a:p>
            <a:pPr lvl="1">
              <a:spcAft>
                <a:spcPts val="600"/>
              </a:spcAft>
              <a:defRPr sz="1400">
                <a:solidFill>
                  <a:srgbClr val="2C3E50"/>
                </a:solidFill>
              </a:defRPr>
            </a:pPr>
            <a:r>
              <a:t>  Double-sided: 'You're not very worried, AND you wonder if it's too much'</a:t>
            </a:r>
          </a:p>
          <a:p>
            <a:pPr>
              <a:spcAft>
                <a:spcPts val="600"/>
              </a:spcAft>
              <a:defRPr sz="1600">
                <a:solidFill>
                  <a:srgbClr val="2C3E50"/>
                </a:solidFill>
              </a:defRPr>
            </a:pPr>
            <a:r>
              <a:t>STRATEGIC USE: Selectively reflect change talk more than sustain talk</a:t>
            </a:r>
          </a:p>
          <a:p>
            <a:pPr>
              <a:spcAft>
                <a:spcPts val="600"/>
              </a:spcAft>
              <a:defRPr sz="1600">
                <a:solidFill>
                  <a:srgbClr val="2C3E50"/>
                </a:solidFill>
              </a:defRPr>
            </a:pPr>
            <a:r>
              <a:t>Guideline: 2 reflections for every 1 question (2:1 ratio)</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Reflective listening is MET's most important skill - it shows understanding and strategically reinforces change talk.</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pp. 16-18. | Miller, W.R., &amp; Rollnick, S. (2013). Motivational interviewing (3rd ed.). Guilford Press. | Egan, G. (1982). The Skilled Helper. Brooks/Cole.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Reflective Listening: Clinical Dialogue Examples</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Observe skilled reflective listening in an extended clinical dialogue</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FROM THE MET MANUAL - Extended Example:</a:t>
            </a:r>
          </a:p>
          <a:p>
            <a:pPr lvl="1">
              <a:spcAft>
                <a:spcPts val="600"/>
              </a:spcAft>
              <a:defRPr sz="1400">
                <a:solidFill>
                  <a:srgbClr val="2C3E50"/>
                </a:solidFill>
              </a:defRPr>
            </a:pPr>
            <a:r>
              <a:t>  T: 'What else concerns you about your drinking?'</a:t>
            </a:r>
          </a:p>
          <a:p>
            <a:pPr lvl="1">
              <a:spcAft>
                <a:spcPts val="600"/>
              </a:spcAft>
              <a:defRPr sz="1400">
                <a:solidFill>
                  <a:srgbClr val="2C3E50"/>
                </a:solidFill>
              </a:defRPr>
            </a:pPr>
            <a:r>
              <a:t>  C: 'I'm not sure I'm concerned, but I wonder if I'm drinking too much'</a:t>
            </a:r>
          </a:p>
          <a:p>
            <a:pPr lvl="1">
              <a:spcAft>
                <a:spcPts val="600"/>
              </a:spcAft>
              <a:defRPr sz="1400">
                <a:solidFill>
                  <a:srgbClr val="2C3E50"/>
                </a:solidFill>
              </a:defRPr>
            </a:pPr>
            <a:r>
              <a:t>  T: 'Too much for...' [reflection as prompt]</a:t>
            </a:r>
          </a:p>
          <a:p>
            <a:pPr lvl="1">
              <a:spcAft>
                <a:spcPts val="600"/>
              </a:spcAft>
              <a:defRPr sz="1400">
                <a:solidFill>
                  <a:srgbClr val="2C3E50"/>
                </a:solidFill>
              </a:defRPr>
            </a:pPr>
            <a:r>
              <a:t>  C: 'For my own good. Sometimes I wake up feeling awful, can't think straight'</a:t>
            </a:r>
          </a:p>
          <a:p>
            <a:pPr lvl="1">
              <a:spcAft>
                <a:spcPts val="600"/>
              </a:spcAft>
              <a:defRPr sz="1400">
                <a:solidFill>
                  <a:srgbClr val="2C3E50"/>
                </a:solidFill>
              </a:defRPr>
            </a:pPr>
            <a:r>
              <a:t>  T: 'It messes up your thinking, your concentration' [simple reflection]</a:t>
            </a:r>
          </a:p>
          <a:p>
            <a:pPr lvl="1">
              <a:spcAft>
                <a:spcPts val="600"/>
              </a:spcAft>
              <a:defRPr sz="1400">
                <a:solidFill>
                  <a:srgbClr val="2C3E50"/>
                </a:solidFill>
              </a:defRPr>
            </a:pPr>
            <a:r>
              <a:t>  C: 'Yes, and sometimes I have trouble remembering things'</a:t>
            </a:r>
          </a:p>
          <a:p>
            <a:pPr lvl="1">
              <a:spcAft>
                <a:spcPts val="600"/>
              </a:spcAft>
              <a:defRPr sz="1400">
                <a:solidFill>
                  <a:srgbClr val="2C3E50"/>
                </a:solidFill>
              </a:defRPr>
            </a:pPr>
            <a:r>
              <a:t>  T: 'And you wonder if that might be because you're drinking too much' [complex]</a:t>
            </a:r>
          </a:p>
          <a:p>
            <a:pPr lvl="1">
              <a:spcAft>
                <a:spcPts val="600"/>
              </a:spcAft>
              <a:defRPr sz="1400">
                <a:solidFill>
                  <a:srgbClr val="2C3E50"/>
                </a:solidFill>
              </a:defRPr>
            </a:pPr>
            <a:r>
              <a:t>  C: 'Well, I know it is sometimes'</a:t>
            </a:r>
          </a:p>
          <a:p>
            <a:pPr lvl="1">
              <a:spcAft>
                <a:spcPts val="600"/>
              </a:spcAft>
              <a:defRPr sz="1400">
                <a:solidFill>
                  <a:srgbClr val="2C3E50"/>
                </a:solidFill>
              </a:defRPr>
            </a:pPr>
            <a:r>
              <a:t>  T: 'You're pretty sure about that. But maybe there's more' [reflection + prompt]</a:t>
            </a:r>
          </a:p>
          <a:p>
            <a:pPr lvl="1">
              <a:spcAft>
                <a:spcPts val="600"/>
              </a:spcAft>
              <a:defRPr sz="1400">
                <a:solidFill>
                  <a:srgbClr val="2C3E50"/>
                </a:solidFill>
              </a:defRPr>
            </a:pPr>
            <a:r>
              <a:t>  C: 'Even when I'm not drinking, I mix things up, and I wonder about that'</a:t>
            </a:r>
          </a:p>
          <a:p>
            <a:pPr lvl="1">
              <a:spcAft>
                <a:spcPts val="600"/>
              </a:spcAft>
              <a:defRPr sz="1400">
                <a:solidFill>
                  <a:srgbClr val="2C3E50"/>
                </a:solidFill>
              </a:defRPr>
            </a:pPr>
            <a:r>
              <a:t>  T: 'Wonder if...' [continuing the thought]</a:t>
            </a:r>
          </a:p>
          <a:p>
            <a:pPr lvl="1">
              <a:spcAft>
                <a:spcPts val="600"/>
              </a:spcAft>
              <a:defRPr sz="1400">
                <a:solidFill>
                  <a:srgbClr val="2C3E50"/>
                </a:solidFill>
              </a:defRPr>
            </a:pPr>
            <a:r>
              <a:t>  C: 'If alcohol's pickling my brain, I guess'</a:t>
            </a:r>
          </a:p>
          <a:p>
            <a:pPr>
              <a:spcAft>
                <a:spcPts val="600"/>
              </a:spcAft>
              <a:defRPr sz="1600">
                <a:solidFill>
                  <a:srgbClr val="2C3E50"/>
                </a:solidFill>
              </a:defRPr>
            </a:pPr>
            <a:r>
              <a:t>Notice: Therapist uses ONLY reflections to move conversation forward!</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Skilled reflection alone can move clients from ambivalence to recognition without a single piece of advice.</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pp. 16-17 (direct clinical example from the manual).</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Summaries: Collecting and Transitioning</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Construct different types of summaries for different clinical purposes</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DEFINITION: Longer reflections that collect multiple things the client has said</a:t>
            </a:r>
          </a:p>
          <a:p>
            <a:pPr>
              <a:spcAft>
                <a:spcPts val="600"/>
              </a:spcAft>
              <a:defRPr sz="1600">
                <a:solidFill>
                  <a:srgbClr val="2C3E50"/>
                </a:solidFill>
              </a:defRPr>
            </a:pPr>
            <a:r>
              <a:t>TYPES OF SUMMARIES:</a:t>
            </a:r>
          </a:p>
          <a:p>
            <a:pPr lvl="1">
              <a:spcAft>
                <a:spcPts val="600"/>
              </a:spcAft>
              <a:defRPr sz="1400">
                <a:solidFill>
                  <a:srgbClr val="2C3E50"/>
                </a:solidFill>
              </a:defRPr>
            </a:pPr>
            <a:r>
              <a:t>  1. Collecting Summary: Gathers several change talk statements together</a:t>
            </a:r>
          </a:p>
          <a:p>
            <a:pPr lvl="1">
              <a:spcAft>
                <a:spcPts val="600"/>
              </a:spcAft>
              <a:defRPr sz="1400">
                <a:solidFill>
                  <a:srgbClr val="2C3E50"/>
                </a:solidFill>
              </a:defRPr>
            </a:pPr>
            <a:r>
              <a:t>  2. Linking Summary: Connects current statements with earlier ones</a:t>
            </a:r>
          </a:p>
          <a:p>
            <a:pPr lvl="1">
              <a:spcAft>
                <a:spcPts val="600"/>
              </a:spcAft>
              <a:defRPr sz="1400">
                <a:solidFill>
                  <a:srgbClr val="2C3E50"/>
                </a:solidFill>
              </a:defRPr>
            </a:pPr>
            <a:r>
              <a:t>  3. Transitional Summary: Wraps up a topic and shifts direction</a:t>
            </a:r>
          </a:p>
          <a:p>
            <a:pPr>
              <a:spcAft>
                <a:spcPts val="600"/>
              </a:spcAft>
              <a:defRPr sz="1600">
                <a:solidFill>
                  <a:srgbClr val="2C3E50"/>
                </a:solidFill>
              </a:defRPr>
            </a:pPr>
            <a:r>
              <a:t>PURPOSE:</a:t>
            </a:r>
          </a:p>
          <a:p>
            <a:pPr lvl="1">
              <a:spcAft>
                <a:spcPts val="600"/>
              </a:spcAft>
              <a:defRPr sz="1400">
                <a:solidFill>
                  <a:srgbClr val="2C3E50"/>
                </a:solidFill>
              </a:defRPr>
            </a:pPr>
            <a:r>
              <a:t>  • Shows you've been listening carefully</a:t>
            </a:r>
          </a:p>
          <a:p>
            <a:pPr lvl="1">
              <a:spcAft>
                <a:spcPts val="600"/>
              </a:spcAft>
              <a:defRPr sz="1400">
                <a:solidFill>
                  <a:srgbClr val="2C3E50"/>
                </a:solidFill>
              </a:defRPr>
            </a:pPr>
            <a:r>
              <a:t>  • Reinforces change talk by collecting it in one place</a:t>
            </a:r>
          </a:p>
          <a:p>
            <a:pPr lvl="1">
              <a:spcAft>
                <a:spcPts val="600"/>
              </a:spcAft>
              <a:defRPr sz="1400">
                <a:solidFill>
                  <a:srgbClr val="2C3E50"/>
                </a:solidFill>
              </a:defRPr>
            </a:pPr>
            <a:r>
              <a:t>  • Organizes the session</a:t>
            </a:r>
          </a:p>
          <a:p>
            <a:pPr lvl="1">
              <a:spcAft>
                <a:spcPts val="600"/>
              </a:spcAft>
              <a:defRPr sz="1400">
                <a:solidFill>
                  <a:srgbClr val="2C3E50"/>
                </a:solidFill>
              </a:defRPr>
            </a:pPr>
            <a:r>
              <a:t>  • Creates natural transition points</a:t>
            </a:r>
          </a:p>
          <a:p>
            <a:pPr>
              <a:spcAft>
                <a:spcPts val="600"/>
              </a:spcAft>
              <a:defRPr sz="1600">
                <a:solidFill>
                  <a:srgbClr val="2C3E50"/>
                </a:solidFill>
              </a:defRPr>
            </a:pPr>
            <a:r>
              <a:t>EXAMPLE (Collecting Summary):</a:t>
            </a:r>
          </a:p>
          <a:p>
            <a:pPr lvl="1">
              <a:spcAft>
                <a:spcPts val="600"/>
              </a:spcAft>
              <a:defRPr sz="1400">
                <a:solidFill>
                  <a:srgbClr val="2C3E50"/>
                </a:solidFill>
              </a:defRPr>
            </a:pPr>
            <a:r>
              <a:t>  'Let me see if I've got this right. You're concerned about your memory problems,</a:t>
            </a:r>
          </a:p>
          <a:p>
            <a:pPr lvl="1">
              <a:spcAft>
                <a:spcPts val="600"/>
              </a:spcAft>
              <a:defRPr sz="1400">
                <a:solidFill>
                  <a:srgbClr val="2C3E50"/>
                </a:solidFill>
              </a:defRPr>
            </a:pPr>
            <a:r>
              <a:t>  you've noticed your wife is increasingly worried, your work performance has slipped,</a:t>
            </a:r>
          </a:p>
          <a:p>
            <a:pPr lvl="1">
              <a:spcAft>
                <a:spcPts val="600"/>
              </a:spcAft>
              <a:defRPr sz="1400">
                <a:solidFill>
                  <a:srgbClr val="2C3E50"/>
                </a:solidFill>
              </a:defRPr>
            </a:pPr>
            <a:r>
              <a:t>  and your doctor has flagged your liver results. Did I miss anything?'</a:t>
            </a:r>
          </a:p>
          <a:p>
            <a:pPr>
              <a:spcAft>
                <a:spcPts val="600"/>
              </a:spcAft>
              <a:defRPr sz="1600">
                <a:solidFill>
                  <a:srgbClr val="2C3E50"/>
                </a:solidFill>
              </a:defRPr>
            </a:pPr>
            <a:r>
              <a:t>STRATEGIC NOTE: Include more change talk items than sustain talk items in summaries</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Strategic summaries collect change talk in one place, amplifying its impact on the client's motivation.</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&amp; Rollnick, S. (2013). Motivational interviewing (3rd ed.). Guilford Press. | Miller, W.R., et al. (1995). MET Manual. | Murthy, P. (2008). NIMHANS Manual.</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D5FA6"/>
        </a:solidFill>
        <a:effectLst/>
      </p:bgPr>
    </p:bg>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914400" y="1828800"/>
            <a:ext cx="10058400" cy="1371600"/>
          </a:xfrm>
          <a:prstGeom prst="rect">
            <a:avLst/>
          </a:prstGeom>
          <a:noFill/>
        </p:spPr>
        <p:txBody>
          <a:bodyPr wrap="none">
            <a:spAutoFit/>
          </a:bodyPr>
          <a:lstStyle/>
          <a:p>
            <a:pPr algn="ctr">
              <a:defRPr sz="1800">
                <a:solidFill>
                  <a:srgbClr val="B7950B"/>
                </a:solidFill>
              </a:defRPr>
            </a:pPr>
            <a:r>
              <a:t>SECTION 8</a:t>
            </a:r>
          </a:p>
        </p:txBody>
      </p:sp>
      <p:sp>
        <p:nvSpPr>
          <p:cNvPr id="5" name="TextBox 4"/>
          <p:cNvSpPr txBox="1"/>
          <p:nvPr/>
        </p:nvSpPr>
        <p:spPr>
          <a:xfrm>
            <a:off x="914400" y="2926080"/>
            <a:ext cx="10058400" cy="1828800"/>
          </a:xfrm>
          <a:prstGeom prst="rect">
            <a:avLst/>
          </a:prstGeom>
          <a:noFill/>
        </p:spPr>
        <p:txBody>
          <a:bodyPr wrap="square">
            <a:spAutoFit/>
          </a:bodyPr>
          <a:lstStyle/>
          <a:p>
            <a:pPr algn="ctr">
              <a:defRPr sz="3600" b="1">
                <a:solidFill>
                  <a:srgbClr val="FFFFFF"/>
                </a:solidFill>
              </a:defRPr>
            </a:pPr>
            <a:r>
              <a:t>Change Talk: The Language of Motivation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Change Talk: Definition and Importance</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Define change talk and understand its predictive relationship to outcomes</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DEFINITION: Any client speech that favors movement toward change</a:t>
            </a:r>
          </a:p>
          <a:p>
            <a:pPr>
              <a:spcAft>
                <a:spcPts val="600"/>
              </a:spcAft>
              <a:defRPr sz="1600">
                <a:solidFill>
                  <a:srgbClr val="2C3E50"/>
                </a:solidFill>
              </a:defRPr>
            </a:pPr>
            <a:r>
              <a:t>Miller (1995): 'Self-motivational statements' - speech that argues FOR change</a:t>
            </a:r>
          </a:p>
          <a:p>
            <a:pPr>
              <a:spcAft>
                <a:spcPts val="600"/>
              </a:spcAft>
              <a:defRPr sz="1600">
                <a:solidFill>
                  <a:srgbClr val="2C3E50"/>
                </a:solidFill>
              </a:defRPr>
            </a:pPr>
            <a:r>
              <a:t>WHY IT MATTERS:</a:t>
            </a:r>
          </a:p>
          <a:p>
            <a:pPr lvl="1">
              <a:spcAft>
                <a:spcPts val="600"/>
              </a:spcAft>
              <a:defRPr sz="1400">
                <a:solidFill>
                  <a:srgbClr val="2C3E50"/>
                </a:solidFill>
              </a:defRPr>
            </a:pPr>
            <a:r>
              <a:t>  • Self-perception theory: Saying it makes you believe it</a:t>
            </a:r>
          </a:p>
          <a:p>
            <a:pPr lvl="1">
              <a:spcAft>
                <a:spcPts val="600"/>
              </a:spcAft>
              <a:defRPr sz="1400">
                <a:solidFill>
                  <a:srgbClr val="2C3E50"/>
                </a:solidFill>
              </a:defRPr>
            </a:pPr>
            <a:r>
              <a:t>  • Client change talk in session PREDICTS actual behavior change</a:t>
            </a:r>
          </a:p>
          <a:p>
            <a:pPr lvl="1">
              <a:spcAft>
                <a:spcPts val="600"/>
              </a:spcAft>
              <a:defRPr sz="1400">
                <a:solidFill>
                  <a:srgbClr val="2C3E50"/>
                </a:solidFill>
              </a:defRPr>
            </a:pPr>
            <a:r>
              <a:t>  • Research: Amount of change talk predicts outcomes (Amrhein et al., 2003)</a:t>
            </a:r>
          </a:p>
          <a:p>
            <a:pPr lvl="1">
              <a:spcAft>
                <a:spcPts val="600"/>
              </a:spcAft>
              <a:defRPr sz="1400">
                <a:solidFill>
                  <a:srgbClr val="2C3E50"/>
                </a:solidFill>
              </a:defRPr>
            </a:pPr>
            <a:r>
              <a:t>  • Conversely: Sustain talk predicts continued use</a:t>
            </a:r>
          </a:p>
          <a:p>
            <a:pPr>
              <a:spcAft>
                <a:spcPts val="600"/>
              </a:spcAft>
              <a:defRPr sz="1600">
                <a:solidFill>
                  <a:srgbClr val="2C3E50"/>
                </a:solidFill>
              </a:defRPr>
            </a:pPr>
            <a:r>
              <a:t>THE THERAPIST'S ROLE:</a:t>
            </a:r>
          </a:p>
          <a:p>
            <a:pPr lvl="1">
              <a:spcAft>
                <a:spcPts val="600"/>
              </a:spcAft>
              <a:defRPr sz="1400">
                <a:solidFill>
                  <a:srgbClr val="2C3E50"/>
                </a:solidFill>
              </a:defRPr>
            </a:pPr>
            <a:r>
              <a:t>  • Evoke change talk through strategic questions</a:t>
            </a:r>
          </a:p>
          <a:p>
            <a:pPr lvl="1">
              <a:spcAft>
                <a:spcPts val="600"/>
              </a:spcAft>
              <a:defRPr sz="1400">
                <a:solidFill>
                  <a:srgbClr val="2C3E50"/>
                </a:solidFill>
              </a:defRPr>
            </a:pPr>
            <a:r>
              <a:t>  • Recognize change talk when it occurs</a:t>
            </a:r>
          </a:p>
          <a:p>
            <a:pPr lvl="1">
              <a:spcAft>
                <a:spcPts val="600"/>
              </a:spcAft>
              <a:defRPr sz="1400">
                <a:solidFill>
                  <a:srgbClr val="2C3E50"/>
                </a:solidFill>
              </a:defRPr>
            </a:pPr>
            <a:r>
              <a:t>  • Reinforce/strengthen change talk through reflection</a:t>
            </a:r>
          </a:p>
          <a:p>
            <a:pPr lvl="1">
              <a:spcAft>
                <a:spcPts val="600"/>
              </a:spcAft>
              <a:defRPr sz="1400">
                <a:solidFill>
                  <a:srgbClr val="2C3E50"/>
                </a:solidFill>
              </a:defRPr>
            </a:pPr>
            <a:r>
              <a:t>  • Summarize change talk to amplify its effect</a:t>
            </a:r>
          </a:p>
          <a:p>
            <a:pPr>
              <a:spcAft>
                <a:spcPts val="600"/>
              </a:spcAft>
              <a:defRPr sz="1600">
                <a:solidFill>
                  <a:srgbClr val="2C3E50"/>
                </a:solidFill>
              </a:defRPr>
            </a:pPr>
            <a:r>
              <a:t>MET MANUAL: 'The ME therapist seeks to elicit self-motivating statements'</a:t>
            </a:r>
          </a:p>
          <a:p>
            <a:pPr lvl="1">
              <a:spcAft>
                <a:spcPts val="600"/>
              </a:spcAft>
              <a:defRPr sz="1400">
                <a:solidFill>
                  <a:srgbClr val="2C3E50"/>
                </a:solidFill>
              </a:defRPr>
            </a:pPr>
            <a:r>
              <a:t>  These include: acknowledging problems, expressing concern, and willingness to change</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Change talk predicts behavior change; the therapist's primary task is to evoke, recognize, and reinforce it.</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 Amrhein, P.C., et al. (2003). Journal of Consulting and Clinical Psychology, 71, 862-878. | Moyers, T.B., et al. (2007). Journal of Consulting and Clinical Psychology, 75, 790-798.</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Types of Change Talk: DARN-CAT</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Identify and classify the seven types of change talk using the DARN-CAT framework</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PREPARATORY CHANGE TALK (DARN) - Building momentum:</a:t>
            </a:r>
          </a:p>
          <a:p>
            <a:pPr lvl="1">
              <a:spcAft>
                <a:spcPts val="600"/>
              </a:spcAft>
              <a:defRPr sz="1400">
                <a:solidFill>
                  <a:srgbClr val="2C3E50"/>
                </a:solidFill>
              </a:defRPr>
            </a:pPr>
            <a:r>
              <a:t>  D - Desire: 'I want to...' / 'I wish I could...' / 'I'd like to...'</a:t>
            </a:r>
          </a:p>
          <a:p>
            <a:pPr lvl="1">
              <a:spcAft>
                <a:spcPts val="600"/>
              </a:spcAft>
              <a:defRPr sz="1400">
                <a:solidFill>
                  <a:srgbClr val="2C3E50"/>
                </a:solidFill>
              </a:defRPr>
            </a:pPr>
            <a:r>
              <a:t>  A - Ability: 'I can...' / 'I could...' / 'I'm able to...'</a:t>
            </a:r>
          </a:p>
          <a:p>
            <a:pPr lvl="1">
              <a:spcAft>
                <a:spcPts val="600"/>
              </a:spcAft>
              <a:defRPr sz="1400">
                <a:solidFill>
                  <a:srgbClr val="2C3E50"/>
                </a:solidFill>
              </a:defRPr>
            </a:pPr>
            <a:r>
              <a:t>  R - Reasons: 'I would feel better if...' / 'My health would improve...'</a:t>
            </a:r>
          </a:p>
          <a:p>
            <a:pPr lvl="1">
              <a:spcAft>
                <a:spcPts val="600"/>
              </a:spcAft>
              <a:defRPr sz="1400">
                <a:solidFill>
                  <a:srgbClr val="2C3E50"/>
                </a:solidFill>
              </a:defRPr>
            </a:pPr>
            <a:r>
              <a:t>  N - Need: 'I need to...' / 'I have to...' / 'I must...'</a:t>
            </a:r>
          </a:p>
          <a:p>
            <a:pPr>
              <a:spcAft>
                <a:spcPts val="600"/>
              </a:spcAft>
              <a:defRPr sz="1600">
                <a:solidFill>
                  <a:srgbClr val="2C3E50"/>
                </a:solidFill>
              </a:defRPr>
            </a:pPr>
          </a:p>
          <a:p>
            <a:pPr>
              <a:spcAft>
                <a:spcPts val="600"/>
              </a:spcAft>
              <a:defRPr sz="1600">
                <a:solidFill>
                  <a:srgbClr val="2C3E50"/>
                </a:solidFill>
              </a:defRPr>
            </a:pPr>
            <a:r>
              <a:t>MOBILIZING CHANGE TALK (CAT) - Stronger commitment signals:</a:t>
            </a:r>
          </a:p>
          <a:p>
            <a:pPr lvl="1">
              <a:spcAft>
                <a:spcPts val="600"/>
              </a:spcAft>
              <a:defRPr sz="1400">
                <a:solidFill>
                  <a:srgbClr val="2C3E50"/>
                </a:solidFill>
              </a:defRPr>
            </a:pPr>
            <a:r>
              <a:t>  C - Commitment: 'I will...' / 'I'm going to...' / 'I promise...'</a:t>
            </a:r>
          </a:p>
          <a:p>
            <a:pPr lvl="1">
              <a:spcAft>
                <a:spcPts val="600"/>
              </a:spcAft>
              <a:defRPr sz="1400">
                <a:solidFill>
                  <a:srgbClr val="2C3E50"/>
                </a:solidFill>
              </a:defRPr>
            </a:pPr>
            <a:r>
              <a:t>  A - Activation: 'I'm ready to...' / 'I'm prepared to...' / 'I'm willing to...'</a:t>
            </a:r>
          </a:p>
          <a:p>
            <a:pPr lvl="1">
              <a:spcAft>
                <a:spcPts val="600"/>
              </a:spcAft>
              <a:defRPr sz="1400">
                <a:solidFill>
                  <a:srgbClr val="2C3E50"/>
                </a:solidFill>
              </a:defRPr>
            </a:pPr>
            <a:r>
              <a:t>  T - Taking Steps: 'I actually did...' / 'This week I...' / 'I tried...'</a:t>
            </a:r>
          </a:p>
          <a:p>
            <a:pPr>
              <a:spcAft>
                <a:spcPts val="600"/>
              </a:spcAft>
              <a:defRPr sz="1600">
                <a:solidFill>
                  <a:srgbClr val="2C3E50"/>
                </a:solidFill>
              </a:defRPr>
            </a:pPr>
          </a:p>
          <a:p>
            <a:pPr>
              <a:spcAft>
                <a:spcPts val="600"/>
              </a:spcAft>
              <a:defRPr sz="1600">
                <a:solidFill>
                  <a:srgbClr val="2C3E50"/>
                </a:solidFill>
              </a:defRPr>
            </a:pPr>
            <a:r>
              <a:t>CLINICAL SIGNIFICANCE:</a:t>
            </a:r>
          </a:p>
          <a:p>
            <a:pPr lvl="1">
              <a:spcAft>
                <a:spcPts val="600"/>
              </a:spcAft>
              <a:defRPr sz="1400">
                <a:solidFill>
                  <a:srgbClr val="2C3E50"/>
                </a:solidFill>
              </a:defRPr>
            </a:pPr>
            <a:r>
              <a:t>  • DARN = Preparatory (earlier in process)</a:t>
            </a:r>
          </a:p>
          <a:p>
            <a:pPr lvl="1">
              <a:spcAft>
                <a:spcPts val="600"/>
              </a:spcAft>
              <a:defRPr sz="1400">
                <a:solidFill>
                  <a:srgbClr val="2C3E50"/>
                </a:solidFill>
              </a:defRPr>
            </a:pPr>
            <a:r>
              <a:t>  • CAT = Mobilizing (closer to action)</a:t>
            </a:r>
          </a:p>
          <a:p>
            <a:pPr lvl="1">
              <a:spcAft>
                <a:spcPts val="600"/>
              </a:spcAft>
              <a:defRPr sz="1400">
                <a:solidFill>
                  <a:srgbClr val="2C3E50"/>
                </a:solidFill>
              </a:defRPr>
            </a:pPr>
            <a:r>
              <a:t>  • Commitment language is STRONGEST predictor of behavior change (Amrhein et al., 2003)</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DARN-CAT: Desire, Ability, Reasons, Need (preparatory) → Commitment, Activation, Taking Steps (mobilizing).</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&amp; Rollnick, S. (2013). Motivational interviewing (3rd ed.). Guilford Press. | Amrhein, P.C., et al. (2003). JCCP, 71, 862-878. | Moyers, T.B., et al. (2009). Journal of Substance Abuse Treatment, 36, 101-109.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Evoking Change Talk: Strategies and Exercises</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Practice specific strategies for evoking change talk in clinical sessions</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STRATEGIES TO EVOKE CHANGE TALK (from MET Manual):</a:t>
            </a:r>
          </a:p>
          <a:p>
            <a:pPr lvl="1">
              <a:spcAft>
                <a:spcPts val="600"/>
              </a:spcAft>
              <a:defRPr sz="1400">
                <a:solidFill>
                  <a:srgbClr val="2C3E50"/>
                </a:solidFill>
              </a:defRPr>
            </a:pPr>
            <a:r>
              <a:t>  1. Ask evocative questions: 'What concerns you about your drinking?'</a:t>
            </a:r>
          </a:p>
          <a:p>
            <a:pPr lvl="1">
              <a:spcAft>
                <a:spcPts val="600"/>
              </a:spcAft>
              <a:defRPr sz="1400">
                <a:solidFill>
                  <a:srgbClr val="2C3E50"/>
                </a:solidFill>
              </a:defRPr>
            </a:pPr>
            <a:r>
              <a:t>  2. Ask for elaboration: 'Tell me more about that' / 'Give me an example'</a:t>
            </a:r>
          </a:p>
          <a:p>
            <a:pPr lvl="1">
              <a:spcAft>
                <a:spcPts val="600"/>
              </a:spcAft>
              <a:defRPr sz="1400">
                <a:solidFill>
                  <a:srgbClr val="2C3E50"/>
                </a:solidFill>
              </a:defRPr>
            </a:pPr>
            <a:r>
              <a:t>  3. Ask for extremes: 'What's the worst that could happen?'</a:t>
            </a:r>
          </a:p>
          <a:p>
            <a:pPr lvl="1">
              <a:spcAft>
                <a:spcPts val="600"/>
              </a:spcAft>
              <a:defRPr sz="1400">
                <a:solidFill>
                  <a:srgbClr val="2C3E50"/>
                </a:solidFill>
              </a:defRPr>
            </a:pPr>
            <a:r>
              <a:t>  4. Looking back: 'What was life like before the drinking got heavy?'</a:t>
            </a:r>
          </a:p>
          <a:p>
            <a:pPr lvl="1">
              <a:spcAft>
                <a:spcPts val="600"/>
              </a:spcAft>
              <a:defRPr sz="1400">
                <a:solidFill>
                  <a:srgbClr val="2C3E50"/>
                </a:solidFill>
              </a:defRPr>
            </a:pPr>
            <a:r>
              <a:t>  5. Looking forward: 'If you made this change, how would life be different?'</a:t>
            </a:r>
          </a:p>
          <a:p>
            <a:pPr lvl="1">
              <a:spcAft>
                <a:spcPts val="600"/>
              </a:spcAft>
              <a:defRPr sz="1400">
                <a:solidFill>
                  <a:srgbClr val="2C3E50"/>
                </a:solidFill>
              </a:defRPr>
            </a:pPr>
            <a:r>
              <a:t>  6. Querying extremes: 'What are your worst fears if you DON'T change?'</a:t>
            </a:r>
          </a:p>
          <a:p>
            <a:pPr lvl="1">
              <a:spcAft>
                <a:spcPts val="600"/>
              </a:spcAft>
              <a:defRPr sz="1400">
                <a:solidFill>
                  <a:srgbClr val="2C3E50"/>
                </a:solidFill>
              </a:defRPr>
            </a:pPr>
            <a:r>
              <a:t>  7. Using importance ruler: 'On a scale of 0-10, how important is this change?'</a:t>
            </a:r>
          </a:p>
          <a:p>
            <a:pPr lvl="1">
              <a:spcAft>
                <a:spcPts val="600"/>
              </a:spcAft>
              <a:defRPr sz="1400">
                <a:solidFill>
                  <a:srgbClr val="2C3E50"/>
                </a:solidFill>
              </a:defRPr>
            </a:pPr>
            <a:r>
              <a:t>  8. Exploring goals and values: 'What matters most to you?'</a:t>
            </a:r>
          </a:p>
          <a:p>
            <a:pPr lvl="1">
              <a:spcAft>
                <a:spcPts val="600"/>
              </a:spcAft>
              <a:defRPr sz="1400">
                <a:solidFill>
                  <a:srgbClr val="2C3E50"/>
                </a:solidFill>
              </a:defRPr>
            </a:pPr>
            <a:r>
              <a:t>  9. Gentle paradox: 'I'm not sure you're motivated enough...' (evokes opposition)</a:t>
            </a:r>
          </a:p>
          <a:p>
            <a:pPr>
              <a:spcAft>
                <a:spcPts val="600"/>
              </a:spcAft>
              <a:defRPr sz="1600">
                <a:solidFill>
                  <a:srgbClr val="2C3E50"/>
                </a:solidFill>
              </a:defRPr>
            </a:pPr>
            <a:r>
              <a:t>FROM MET MANUAL - Gentle Paradox Example:</a:t>
            </a:r>
          </a:p>
          <a:p>
            <a:pPr lvl="1">
              <a:spcAft>
                <a:spcPts val="600"/>
              </a:spcAft>
              <a:defRPr sz="1400">
                <a:solidFill>
                  <a:srgbClr val="2C3E50"/>
                </a:solidFill>
              </a:defRPr>
            </a:pPr>
            <a:r>
              <a:t>  Therapist: 'I'm not sure from what you've told me that you're motivated enough</a:t>
            </a:r>
          </a:p>
          <a:p>
            <a:pPr lvl="1">
              <a:spcAft>
                <a:spcPts val="600"/>
              </a:spcAft>
              <a:defRPr sz="1400">
                <a:solidFill>
                  <a:srgbClr val="2C3E50"/>
                </a:solidFill>
              </a:defRPr>
            </a:pPr>
            <a:r>
              <a:t>  to carry through. Do you think we should go ahead?'</a:t>
            </a:r>
          </a:p>
          <a:p>
            <a:pPr lvl="1">
              <a:spcAft>
                <a:spcPts val="600"/>
              </a:spcAft>
              <a:defRPr sz="1400">
                <a:solidFill>
                  <a:srgbClr val="2C3E50"/>
                </a:solidFill>
              </a:defRPr>
            </a:pPr>
            <a:r>
              <a:t>  [This often evokes client arguing FOR their own motivation]</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Strategic questions, looking back/forward, rulers, and gentle paradox all evoke change talk from clients.</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pp. 13-16. | Miller, W.R., &amp; Rollnick, S. (2013). Motivational interviewing (3rd ed.). Guilford Press.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D5FA6"/>
        </a:solidFill>
        <a:effectLst/>
      </p:bgPr>
    </p:bg>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914400" y="1828800"/>
            <a:ext cx="10058400" cy="1371600"/>
          </a:xfrm>
          <a:prstGeom prst="rect">
            <a:avLst/>
          </a:prstGeom>
          <a:noFill/>
        </p:spPr>
        <p:txBody>
          <a:bodyPr wrap="none">
            <a:spAutoFit/>
          </a:bodyPr>
          <a:lstStyle/>
          <a:p>
            <a:pPr algn="ctr">
              <a:defRPr sz="1800">
                <a:solidFill>
                  <a:srgbClr val="B7950B"/>
                </a:solidFill>
              </a:defRPr>
            </a:pPr>
            <a:r>
              <a:t>SECTION 9</a:t>
            </a:r>
          </a:p>
        </p:txBody>
      </p:sp>
      <p:sp>
        <p:nvSpPr>
          <p:cNvPr id="5" name="TextBox 4"/>
          <p:cNvSpPr txBox="1"/>
          <p:nvPr/>
        </p:nvSpPr>
        <p:spPr>
          <a:xfrm>
            <a:off x="914400" y="2926080"/>
            <a:ext cx="10058400" cy="1828800"/>
          </a:xfrm>
          <a:prstGeom prst="rect">
            <a:avLst/>
          </a:prstGeom>
          <a:noFill/>
        </p:spPr>
        <p:txBody>
          <a:bodyPr wrap="square">
            <a:spAutoFit/>
          </a:bodyPr>
          <a:lstStyle/>
          <a:p>
            <a:pPr algn="ctr">
              <a:defRPr sz="3600" b="1">
                <a:solidFill>
                  <a:srgbClr val="FFFFFF"/>
                </a:solidFill>
              </a:defRPr>
            </a:pPr>
            <a:r>
              <a:t>Sustain Talk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Sustain Talk: Recognition and Response</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Recognize sustain talk and respond in ways that do not strengthen resistance</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DEFINITION: Any client speech that favors maintaining status quo (not changing)</a:t>
            </a:r>
          </a:p>
          <a:p>
            <a:pPr>
              <a:spcAft>
                <a:spcPts val="600"/>
              </a:spcAft>
              <a:defRPr sz="1600">
                <a:solidFill>
                  <a:srgbClr val="2C3E50"/>
                </a:solidFill>
              </a:defRPr>
            </a:pPr>
            <a:r>
              <a:t>EXAMPLES OF SUSTAIN TALK:</a:t>
            </a:r>
          </a:p>
          <a:p>
            <a:pPr lvl="1">
              <a:spcAft>
                <a:spcPts val="600"/>
              </a:spcAft>
              <a:defRPr sz="1400">
                <a:solidFill>
                  <a:srgbClr val="2C3E50"/>
                </a:solidFill>
              </a:defRPr>
            </a:pPr>
            <a:r>
              <a:t>  • 'I don't think my drinking is that bad' (minimizing)</a:t>
            </a:r>
          </a:p>
          <a:p>
            <a:pPr lvl="1">
              <a:spcAft>
                <a:spcPts val="600"/>
              </a:spcAft>
              <a:defRPr sz="1400">
                <a:solidFill>
                  <a:srgbClr val="2C3E50"/>
                </a:solidFill>
              </a:defRPr>
            </a:pPr>
            <a:r>
              <a:t>  • 'I enjoy drinking and don't want to stop' (desire for status quo)</a:t>
            </a:r>
          </a:p>
          <a:p>
            <a:pPr lvl="1">
              <a:spcAft>
                <a:spcPts val="600"/>
              </a:spcAft>
              <a:defRPr sz="1400">
                <a:solidFill>
                  <a:srgbClr val="2C3E50"/>
                </a:solidFill>
              </a:defRPr>
            </a:pPr>
            <a:r>
              <a:t>  • 'I've tried before and it never works' (inability)</a:t>
            </a:r>
          </a:p>
          <a:p>
            <a:pPr lvl="1">
              <a:spcAft>
                <a:spcPts val="600"/>
              </a:spcAft>
              <a:defRPr sz="1400">
                <a:solidFill>
                  <a:srgbClr val="2C3E50"/>
                </a:solidFill>
              </a:defRPr>
            </a:pPr>
            <a:r>
              <a:t>  • 'All my friends drink' (reasons to continue)</a:t>
            </a:r>
          </a:p>
          <a:p>
            <a:pPr lvl="1">
              <a:spcAft>
                <a:spcPts val="600"/>
              </a:spcAft>
              <a:defRPr sz="1400">
                <a:solidFill>
                  <a:srgbClr val="2C3E50"/>
                </a:solidFill>
              </a:defRPr>
            </a:pPr>
            <a:r>
              <a:t>  • 'I don't need to change' (no need)</a:t>
            </a:r>
          </a:p>
          <a:p>
            <a:pPr>
              <a:spcAft>
                <a:spcPts val="600"/>
              </a:spcAft>
              <a:defRPr sz="1600">
                <a:solidFill>
                  <a:srgbClr val="2C3E50"/>
                </a:solidFill>
              </a:defRPr>
            </a:pPr>
            <a:r>
              <a:t>THERAPIST RESPONSE TO SUSTAIN TALK:</a:t>
            </a:r>
          </a:p>
          <a:p>
            <a:pPr lvl="1">
              <a:spcAft>
                <a:spcPts val="600"/>
              </a:spcAft>
              <a:defRPr sz="1400">
                <a:solidFill>
                  <a:srgbClr val="2C3E50"/>
                </a:solidFill>
              </a:defRPr>
            </a:pPr>
            <a:r>
              <a:t>  • Do NOT argue against it (this creates more sustain talk)</a:t>
            </a:r>
          </a:p>
          <a:p>
            <a:pPr lvl="1">
              <a:spcAft>
                <a:spcPts val="600"/>
              </a:spcAft>
              <a:defRPr sz="1400">
                <a:solidFill>
                  <a:srgbClr val="2C3E50"/>
                </a:solidFill>
              </a:defRPr>
            </a:pPr>
            <a:r>
              <a:t>  • Reflect it simply (without dwelling): 'You enjoy the social aspects'</a:t>
            </a:r>
          </a:p>
          <a:p>
            <a:pPr lvl="1">
              <a:spcAft>
                <a:spcPts val="600"/>
              </a:spcAft>
              <a:defRPr sz="1400">
                <a:solidFill>
                  <a:srgbClr val="2C3E50"/>
                </a:solidFill>
              </a:defRPr>
            </a:pPr>
            <a:r>
              <a:t>  • Use double-sided reflection: 'You enjoy drinking, AND you're worried about your health'</a:t>
            </a:r>
          </a:p>
          <a:p>
            <a:pPr lvl="1">
              <a:spcAft>
                <a:spcPts val="600"/>
              </a:spcAft>
              <a:defRPr sz="1400">
                <a:solidFill>
                  <a:srgbClr val="2C3E50"/>
                </a:solidFill>
              </a:defRPr>
            </a:pPr>
            <a:r>
              <a:t>  • Shift focus: Move to a different topic</a:t>
            </a:r>
          </a:p>
          <a:p>
            <a:pPr lvl="1">
              <a:spcAft>
                <a:spcPts val="600"/>
              </a:spcAft>
              <a:defRPr sz="1400">
                <a:solidFill>
                  <a:srgbClr val="2C3E50"/>
                </a:solidFill>
              </a:defRPr>
            </a:pPr>
            <a:r>
              <a:t>  • DO NOT reflect sustain talk in detail or elaborate on it</a:t>
            </a:r>
          </a:p>
          <a:p>
            <a:pPr>
              <a:spcAft>
                <a:spcPts val="600"/>
              </a:spcAft>
              <a:defRPr sz="1600">
                <a:solidFill>
                  <a:srgbClr val="2C3E50"/>
                </a:solidFill>
              </a:defRPr>
            </a:pPr>
            <a:r>
              <a:t>RESEARCH: High sustain talk + low change talk predicts poor outcomes</a:t>
            </a:r>
          </a:p>
          <a:p>
            <a:pPr>
              <a:spcAft>
                <a:spcPts val="600"/>
              </a:spcAft>
              <a:defRPr sz="1600">
                <a:solidFill>
                  <a:srgbClr val="2C3E50"/>
                </a:solidFill>
              </a:defRPr>
            </a:pPr>
            <a:r>
              <a:t>RATIO: Aim for change talk to outweigh sustain talk over the session</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Sustain talk is normal; acknowledge it briefly without elaboration, then steer toward change talk.</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&amp; Rollnick, S. (2013). Motivational interviewing (3rd ed.). Guilford Press. | Moyers, T.B., et al. (2007). JCCP, 75, 790-798. | Magill, M., et al. (2014). Journal of Substance Abuse Treatment, 46, 685-697.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D5FA6"/>
        </a:solidFill>
        <a:effectLst/>
      </p:bgPr>
    </p:bg>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914400" y="1828800"/>
            <a:ext cx="10058400" cy="1371600"/>
          </a:xfrm>
          <a:prstGeom prst="rect">
            <a:avLst/>
          </a:prstGeom>
          <a:noFill/>
        </p:spPr>
        <p:txBody>
          <a:bodyPr wrap="none">
            <a:spAutoFit/>
          </a:bodyPr>
          <a:lstStyle/>
          <a:p>
            <a:pPr algn="ctr">
              <a:defRPr sz="1800">
                <a:solidFill>
                  <a:srgbClr val="B7950B"/>
                </a:solidFill>
              </a:defRPr>
            </a:pPr>
            <a:r>
              <a:t>SECTION 10</a:t>
            </a:r>
          </a:p>
        </p:txBody>
      </p:sp>
      <p:sp>
        <p:nvSpPr>
          <p:cNvPr id="5" name="TextBox 4"/>
          <p:cNvSpPr txBox="1"/>
          <p:nvPr/>
        </p:nvSpPr>
        <p:spPr>
          <a:xfrm>
            <a:off x="914400" y="2926080"/>
            <a:ext cx="10058400" cy="1828800"/>
          </a:xfrm>
          <a:prstGeom prst="rect">
            <a:avLst/>
          </a:prstGeom>
          <a:noFill/>
        </p:spPr>
        <p:txBody>
          <a:bodyPr wrap="square">
            <a:spAutoFit/>
          </a:bodyPr>
          <a:lstStyle/>
          <a:p>
            <a:pPr algn="ctr">
              <a:defRPr sz="3600" b="1">
                <a:solidFill>
                  <a:srgbClr val="FFFFFF"/>
                </a:solidFill>
              </a:defRPr>
            </a:pPr>
            <a:r>
              <a:t>Resistance and Discord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Understanding Resistance (Discord) in MET</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Reconceptualize resistance as an interpersonal signal rather than a client deficit</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REFRAMING RESISTANCE: Miller &amp; Rollnick (2013) replaced 'resistance' with 'discord'</a:t>
            </a:r>
          </a:p>
          <a:p>
            <a:pPr>
              <a:spcAft>
                <a:spcPts val="600"/>
              </a:spcAft>
              <a:defRPr sz="1600">
                <a:solidFill>
                  <a:srgbClr val="2C3E50"/>
                </a:solidFill>
              </a:defRPr>
            </a:pPr>
            <a:r>
              <a:t>Discord = signals of disharmony in the therapeutic relationship</a:t>
            </a:r>
          </a:p>
          <a:p>
            <a:pPr>
              <a:spcAft>
                <a:spcPts val="600"/>
              </a:spcAft>
              <a:defRPr sz="1600">
                <a:solidFill>
                  <a:srgbClr val="2C3E50"/>
                </a:solidFill>
              </a:defRPr>
            </a:pPr>
            <a:r>
              <a:t>COMMON FORMS OF DISCORD:</a:t>
            </a:r>
          </a:p>
          <a:p>
            <a:pPr lvl="1">
              <a:spcAft>
                <a:spcPts val="600"/>
              </a:spcAft>
              <a:defRPr sz="1400">
                <a:solidFill>
                  <a:srgbClr val="2C3E50"/>
                </a:solidFill>
              </a:defRPr>
            </a:pPr>
            <a:r>
              <a:t>  • Arguing: Challenging, discounting, being hostile</a:t>
            </a:r>
          </a:p>
          <a:p>
            <a:pPr lvl="1">
              <a:spcAft>
                <a:spcPts val="600"/>
              </a:spcAft>
              <a:defRPr sz="1400">
                <a:solidFill>
                  <a:srgbClr val="2C3E50"/>
                </a:solidFill>
              </a:defRPr>
            </a:pPr>
            <a:r>
              <a:t>  • Interrupting: Cutting off the therapist</a:t>
            </a:r>
          </a:p>
          <a:p>
            <a:pPr lvl="1">
              <a:spcAft>
                <a:spcPts val="600"/>
              </a:spcAft>
              <a:defRPr sz="1400">
                <a:solidFill>
                  <a:srgbClr val="2C3E50"/>
                </a:solidFill>
              </a:defRPr>
            </a:pPr>
            <a:r>
              <a:t>  • Denying: Blaming others, minimizing, disagreeing, excusing</a:t>
            </a:r>
          </a:p>
          <a:p>
            <a:pPr lvl="1">
              <a:spcAft>
                <a:spcPts val="600"/>
              </a:spcAft>
              <a:defRPr sz="1400">
                <a:solidFill>
                  <a:srgbClr val="2C3E50"/>
                </a:solidFill>
              </a:defRPr>
            </a:pPr>
            <a:r>
              <a:t>  • Ignoring: Not paying attention, not responding, changing subject</a:t>
            </a:r>
          </a:p>
          <a:p>
            <a:pPr>
              <a:spcAft>
                <a:spcPts val="600"/>
              </a:spcAft>
              <a:defRPr sz="1600">
                <a:solidFill>
                  <a:srgbClr val="2C3E50"/>
                </a:solidFill>
              </a:defRPr>
            </a:pPr>
            <a:r>
              <a:t>KEY INSIGHT: Resistance is largely THERAPIST-CREATED</a:t>
            </a:r>
          </a:p>
          <a:p>
            <a:pPr lvl="1">
              <a:spcAft>
                <a:spcPts val="600"/>
              </a:spcAft>
              <a:defRPr sz="1400">
                <a:solidFill>
                  <a:srgbClr val="2C3E50"/>
                </a:solidFill>
              </a:defRPr>
            </a:pPr>
            <a:r>
              <a:t>  • Patterson &amp; Forgatch (1985): Teaching/confronting → increased resistance</a:t>
            </a:r>
          </a:p>
          <a:p>
            <a:pPr lvl="1">
              <a:spcAft>
                <a:spcPts val="600"/>
              </a:spcAft>
              <a:defRPr sz="1400">
                <a:solidFill>
                  <a:srgbClr val="2C3E50"/>
                </a:solidFill>
              </a:defRPr>
            </a:pPr>
            <a:r>
              <a:t>  • Miller et al. (1993): Amount of client resistance in Session 1 predicted</a:t>
            </a:r>
          </a:p>
          <a:p>
            <a:pPr lvl="1">
              <a:spcAft>
                <a:spcPts val="600"/>
              </a:spcAft>
              <a:defRPr sz="1400">
                <a:solidFill>
                  <a:srgbClr val="2C3E50"/>
                </a:solidFill>
              </a:defRPr>
            </a:pPr>
            <a:r>
              <a:t>    drinking outcomes at 12 months</a:t>
            </a:r>
          </a:p>
          <a:p>
            <a:pPr>
              <a:spcAft>
                <a:spcPts val="600"/>
              </a:spcAft>
              <a:defRPr sz="1600">
                <a:solidFill>
                  <a:srgbClr val="2C3E50"/>
                </a:solidFill>
              </a:defRPr>
            </a:pPr>
            <a:r>
              <a:t>MANAGEMENT: Discord is a signal to CHANGE YOUR APPROACH, not push harder</a:t>
            </a:r>
          </a:p>
          <a:p>
            <a:pPr>
              <a:spcAft>
                <a:spcPts val="600"/>
              </a:spcAft>
              <a:defRPr sz="1600">
                <a:solidFill>
                  <a:srgbClr val="2C3E50"/>
                </a:solidFill>
              </a:defRPr>
            </a:pPr>
            <a:r>
              <a:t>The 'righting reflex' (desire to fix/advise) triggers discord</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Resistance is a therapist-influenced interpersonal phenomenon; when it increases, change YOUR approach.</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 Patterson, G.A., &amp; Forgatch, M.S. (1985). JCCP, 53, 846-851. | Miller, W.R., &amp; Rollnick, S. (2013). Motivational interviewing (3rd ed.). Guilford Press.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Strategies for Managing Discord</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Apply specific strategies for managing discord without damaging the therapeutic relationship</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WHEN DISCORD APPEARS, USE THESE STRATEGIES:</a:t>
            </a:r>
          </a:p>
          <a:p>
            <a:pPr lvl="1">
              <a:spcAft>
                <a:spcPts val="600"/>
              </a:spcAft>
              <a:defRPr sz="1400">
                <a:solidFill>
                  <a:srgbClr val="2C3E50"/>
                </a:solidFill>
              </a:defRPr>
            </a:pPr>
            <a:r>
              <a:t>  1. Simple Reflection: 'You don't see this as a problem right now'</a:t>
            </a:r>
          </a:p>
          <a:p>
            <a:pPr lvl="1">
              <a:spcAft>
                <a:spcPts val="600"/>
              </a:spcAft>
              <a:defRPr sz="1400">
                <a:solidFill>
                  <a:srgbClr val="2C3E50"/>
                </a:solidFill>
              </a:defRPr>
            </a:pPr>
            <a:r>
              <a:t>  2. Amplified Reflection: 'So alcohol causes you absolutely no issues whatsoever'</a:t>
            </a:r>
          </a:p>
          <a:p>
            <a:pPr lvl="1">
              <a:spcAft>
                <a:spcPts val="600"/>
              </a:spcAft>
              <a:defRPr sz="1400">
                <a:solidFill>
                  <a:srgbClr val="2C3E50"/>
                </a:solidFill>
              </a:defRPr>
            </a:pPr>
            <a:r>
              <a:t>  3. Double-Sided Reflection: 'You enjoy drinking AND you notice it's affecting sleep'</a:t>
            </a:r>
          </a:p>
          <a:p>
            <a:pPr lvl="1">
              <a:spcAft>
                <a:spcPts val="600"/>
              </a:spcAft>
              <a:defRPr sz="1400">
                <a:solidFill>
                  <a:srgbClr val="2C3E50"/>
                </a:solidFill>
              </a:defRPr>
            </a:pPr>
            <a:r>
              <a:t>  4. Shifting Focus: 'Let's set that aside. What brought you here today?'</a:t>
            </a:r>
          </a:p>
          <a:p>
            <a:pPr lvl="1">
              <a:spcAft>
                <a:spcPts val="600"/>
              </a:spcAft>
              <a:defRPr sz="1400">
                <a:solidFill>
                  <a:srgbClr val="2C3E50"/>
                </a:solidFill>
              </a:defRPr>
            </a:pPr>
            <a:r>
              <a:t>  5. Reframing: 'Your concern about being labeled shows you think carefully'</a:t>
            </a:r>
          </a:p>
          <a:p>
            <a:pPr lvl="1">
              <a:spcAft>
                <a:spcPts val="600"/>
              </a:spcAft>
              <a:defRPr sz="1400">
                <a:solidFill>
                  <a:srgbClr val="2C3E50"/>
                </a:solidFill>
              </a:defRPr>
            </a:pPr>
            <a:r>
              <a:t>  6. Agreeing with a Twist: 'You're right, only YOU can decide...'</a:t>
            </a:r>
          </a:p>
          <a:p>
            <a:pPr lvl="1">
              <a:spcAft>
                <a:spcPts val="600"/>
              </a:spcAft>
              <a:defRPr sz="1400">
                <a:solidFill>
                  <a:srgbClr val="2C3E50"/>
                </a:solidFill>
              </a:defRPr>
            </a:pPr>
            <a:r>
              <a:t>  7. Emphasizing Autonomy: 'It's completely up to you what happens here'</a:t>
            </a:r>
          </a:p>
          <a:p>
            <a:pPr lvl="1">
              <a:spcAft>
                <a:spcPts val="600"/>
              </a:spcAft>
              <a:defRPr sz="1400">
                <a:solidFill>
                  <a:srgbClr val="2C3E50"/>
                </a:solidFill>
              </a:defRPr>
            </a:pPr>
            <a:r>
              <a:t>  8. Coming Alongside: 'Maybe this isn't the right time for you to change'</a:t>
            </a:r>
          </a:p>
          <a:p>
            <a:pPr>
              <a:spcAft>
                <a:spcPts val="600"/>
              </a:spcAft>
              <a:defRPr sz="1600">
                <a:solidFill>
                  <a:srgbClr val="2C3E50"/>
                </a:solidFill>
              </a:defRPr>
            </a:pPr>
            <a:r>
              <a:t>WHAT NOT TO DO:</a:t>
            </a:r>
          </a:p>
          <a:p>
            <a:pPr lvl="1">
              <a:spcAft>
                <a:spcPts val="600"/>
              </a:spcAft>
              <a:defRPr sz="1400">
                <a:solidFill>
                  <a:srgbClr val="2C3E50"/>
                </a:solidFill>
              </a:defRPr>
            </a:pPr>
            <a:r>
              <a:t>  ✗ Argue / confront / lecture / warn / threaten / label</a:t>
            </a:r>
          </a:p>
          <a:p>
            <a:pPr lvl="1">
              <a:spcAft>
                <a:spcPts val="600"/>
              </a:spcAft>
              <a:defRPr sz="1400">
                <a:solidFill>
                  <a:srgbClr val="2C3E50"/>
                </a:solidFill>
              </a:defRPr>
            </a:pPr>
            <a:r>
              <a:t>  ✗ Push harder when you feel resistance</a:t>
            </a:r>
          </a:p>
          <a:p>
            <a:pPr lvl="1">
              <a:spcAft>
                <a:spcPts val="600"/>
              </a:spcAft>
              <a:defRPr sz="1400">
                <a:solidFill>
                  <a:srgbClr val="2C3E50"/>
                </a:solidFill>
              </a:defRPr>
            </a:pPr>
            <a:r>
              <a:t>  ✗ Take it personally</a:t>
            </a:r>
          </a:p>
          <a:p>
            <a:pPr lvl="1">
              <a:spcAft>
                <a:spcPts val="600"/>
              </a:spcAft>
              <a:defRPr sz="1400">
                <a:solidFill>
                  <a:srgbClr val="2C3E50"/>
                </a:solidFill>
              </a:defRPr>
            </a:pPr>
            <a:r>
              <a:t>  ✗ Interpret it as denial or pathology</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When discord appears, soften your approach rather than pushing harder; use reflections and autonomy emphasis.</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 Miller, W.R., &amp; Rollnick, S. (2013). Motivational interviewing (3rd ed.). Guilford Press. | Murthy, P. (2008). NIMHANS Manual: 'Roll with resistance.'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1D5FA6"/>
        </a:solidFill>
        <a:effectLst/>
      </p:bgPr>
    </p:bg>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914400" y="1828800"/>
            <a:ext cx="10058400" cy="1371600"/>
          </a:xfrm>
          <a:prstGeom prst="rect">
            <a:avLst/>
          </a:prstGeom>
          <a:noFill/>
        </p:spPr>
        <p:txBody>
          <a:bodyPr wrap="none">
            <a:spAutoFit/>
          </a:bodyPr>
          <a:lstStyle/>
          <a:p>
            <a:pPr algn="ctr">
              <a:defRPr sz="1800">
                <a:solidFill>
                  <a:srgbClr val="B7950B"/>
                </a:solidFill>
              </a:defRPr>
            </a:pPr>
            <a:r>
              <a:t>SECTION 11</a:t>
            </a:r>
          </a:p>
        </p:txBody>
      </p:sp>
      <p:sp>
        <p:nvSpPr>
          <p:cNvPr id="5" name="TextBox 4"/>
          <p:cNvSpPr txBox="1"/>
          <p:nvPr/>
        </p:nvSpPr>
        <p:spPr>
          <a:xfrm>
            <a:off x="914400" y="2926080"/>
            <a:ext cx="10058400" cy="1828800"/>
          </a:xfrm>
          <a:prstGeom prst="rect">
            <a:avLst/>
          </a:prstGeom>
          <a:noFill/>
        </p:spPr>
        <p:txBody>
          <a:bodyPr wrap="square">
            <a:spAutoFit/>
          </a:bodyPr>
          <a:lstStyle/>
          <a:p>
            <a:pPr algn="ctr">
              <a:defRPr sz="3600" b="1">
                <a:solidFill>
                  <a:srgbClr val="FFFFFF"/>
                </a:solidFill>
              </a:defRPr>
            </a:pPr>
            <a:r>
              <a:t>Assessment Before MET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Pre-Treatment Assessment for MET</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Design a comprehensive pre-treatment assessment battery suitable for MET</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MET requires comprehensive assessment BEFORE therapy begins</a:t>
            </a:r>
          </a:p>
          <a:p>
            <a:pPr>
              <a:spcAft>
                <a:spcPts val="600"/>
              </a:spcAft>
              <a:defRPr sz="1600">
                <a:solidFill>
                  <a:srgbClr val="2C3E50"/>
                </a:solidFill>
              </a:defRPr>
            </a:pPr>
            <a:r>
              <a:t>Assessment serves DUAL purpose: (1) Clinical information, (2) Feedback material</a:t>
            </a:r>
          </a:p>
          <a:p>
            <a:pPr>
              <a:spcAft>
                <a:spcPts val="600"/>
              </a:spcAft>
              <a:defRPr sz="1600">
                <a:solidFill>
                  <a:srgbClr val="2C3E50"/>
                </a:solidFill>
              </a:defRPr>
            </a:pPr>
            <a:r>
              <a:t>ASSESSMENT BATTERY SHOULD INCLUDE:</a:t>
            </a:r>
          </a:p>
          <a:p>
            <a:pPr lvl="1">
              <a:spcAft>
                <a:spcPts val="600"/>
              </a:spcAft>
              <a:defRPr sz="1400">
                <a:solidFill>
                  <a:srgbClr val="2C3E50"/>
                </a:solidFill>
              </a:defRPr>
            </a:pPr>
            <a:r>
              <a:t>  • Substance use history (quantity, frequency, duration, pattern)</a:t>
            </a:r>
          </a:p>
          <a:p>
            <a:pPr lvl="1">
              <a:spcAft>
                <a:spcPts val="600"/>
              </a:spcAft>
              <a:defRPr sz="1400">
                <a:solidFill>
                  <a:srgbClr val="2C3E50"/>
                </a:solidFill>
              </a:defRPr>
            </a:pPr>
            <a:r>
              <a:t>  • Readiness to change assessment</a:t>
            </a:r>
          </a:p>
          <a:p>
            <a:pPr lvl="1">
              <a:spcAft>
                <a:spcPts val="600"/>
              </a:spcAft>
              <a:defRPr sz="1400">
                <a:solidFill>
                  <a:srgbClr val="2C3E50"/>
                </a:solidFill>
              </a:defRPr>
            </a:pPr>
            <a:r>
              <a:t>  • Psychological assessment (mood, anxiety, personality)</a:t>
            </a:r>
          </a:p>
          <a:p>
            <a:pPr lvl="1">
              <a:spcAft>
                <a:spcPts val="600"/>
              </a:spcAft>
              <a:defRPr sz="1400">
                <a:solidFill>
                  <a:srgbClr val="2C3E50"/>
                </a:solidFill>
              </a:defRPr>
            </a:pPr>
            <a:r>
              <a:t>  • Mental Status Examination</a:t>
            </a:r>
          </a:p>
          <a:p>
            <a:pPr lvl="1">
              <a:spcAft>
                <a:spcPts val="600"/>
              </a:spcAft>
              <a:defRPr sz="1400">
                <a:solidFill>
                  <a:srgbClr val="2C3E50"/>
                </a:solidFill>
              </a:defRPr>
            </a:pPr>
            <a:r>
              <a:t>  • Physical health assessment (liver function, etc.)</a:t>
            </a:r>
          </a:p>
          <a:p>
            <a:pPr lvl="1">
              <a:spcAft>
                <a:spcPts val="600"/>
              </a:spcAft>
              <a:defRPr sz="1400">
                <a:solidFill>
                  <a:srgbClr val="2C3E50"/>
                </a:solidFill>
              </a:defRPr>
            </a:pPr>
            <a:r>
              <a:t>  • Social and occupational functioning</a:t>
            </a:r>
          </a:p>
          <a:p>
            <a:pPr lvl="1">
              <a:spcAft>
                <a:spcPts val="600"/>
              </a:spcAft>
              <a:defRPr sz="1400">
                <a:solidFill>
                  <a:srgbClr val="2C3E50"/>
                </a:solidFill>
              </a:defRPr>
            </a:pPr>
            <a:r>
              <a:t>  • Risk assessment (suicide, violence, self-harm)</a:t>
            </a:r>
          </a:p>
          <a:p>
            <a:pPr lvl="1">
              <a:spcAft>
                <a:spcPts val="600"/>
              </a:spcAft>
              <a:defRPr sz="1400">
                <a:solidFill>
                  <a:srgbClr val="2C3E50"/>
                </a:solidFill>
              </a:defRPr>
            </a:pPr>
            <a:r>
              <a:t>  • Family history and social support</a:t>
            </a:r>
          </a:p>
          <a:p>
            <a:pPr lvl="1">
              <a:spcAft>
                <a:spcPts val="600"/>
              </a:spcAft>
              <a:defRPr sz="1400">
                <a:solidFill>
                  <a:srgbClr val="2C3E50"/>
                </a:solidFill>
              </a:defRPr>
            </a:pPr>
            <a:r>
              <a:t>  • Previous treatment history</a:t>
            </a:r>
          </a:p>
          <a:p>
            <a:pPr lvl="1">
              <a:spcAft>
                <a:spcPts val="600"/>
              </a:spcAft>
              <a:defRPr sz="1400">
                <a:solidFill>
                  <a:srgbClr val="2C3E50"/>
                </a:solidFill>
              </a:defRPr>
            </a:pPr>
            <a:r>
              <a:t>  • Neuropsychological screening (if indicated)</a:t>
            </a:r>
          </a:p>
          <a:p>
            <a:pPr>
              <a:spcAft>
                <a:spcPts val="600"/>
              </a:spcAft>
              <a:defRPr sz="1600">
                <a:solidFill>
                  <a:srgbClr val="2C3E50"/>
                </a:solidFill>
              </a:defRPr>
            </a:pPr>
            <a:r>
              <a:t>Project MATCH: 'Personal Feedback Report' was generated from this assessment</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MET assessment serves dual purposes: informing the therapist AND providing personalized feedback to the client.</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Appendix A. | Murthy, P. (2008). NIMHANS Manual. | SAMHSA. (2019). Enhancing Motivation for Change in Substance Use Disorder Treatment. TIP 35.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Readiness, Importance, and Confidence Rulers</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Administer and interpret readiness, importance, and confidence rulers</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READINESS RULER: 'On a scale of 0-10, how ready are you to make a change?'</a:t>
            </a:r>
          </a:p>
          <a:p>
            <a:pPr lvl="1">
              <a:spcAft>
                <a:spcPts val="600"/>
              </a:spcAft>
              <a:defRPr sz="1400">
                <a:solidFill>
                  <a:srgbClr val="2C3E50"/>
                </a:solidFill>
              </a:defRPr>
            </a:pPr>
            <a:r>
              <a:t>  Follow-up: 'Why are you at a ___ and not a zero?' (evokes change talk)</a:t>
            </a:r>
          </a:p>
          <a:p>
            <a:pPr lvl="1">
              <a:spcAft>
                <a:spcPts val="600"/>
              </a:spcAft>
              <a:defRPr sz="1400">
                <a:solidFill>
                  <a:srgbClr val="2C3E50"/>
                </a:solidFill>
              </a:defRPr>
            </a:pPr>
            <a:r>
              <a:t>  Follow-up: 'What would it take to move from ___ to ___?' (identifies barriers)</a:t>
            </a:r>
          </a:p>
          <a:p>
            <a:pPr>
              <a:spcAft>
                <a:spcPts val="600"/>
              </a:spcAft>
              <a:defRPr sz="1600">
                <a:solidFill>
                  <a:srgbClr val="2C3E50"/>
                </a:solidFill>
              </a:defRPr>
            </a:pPr>
          </a:p>
          <a:p>
            <a:pPr>
              <a:spcAft>
                <a:spcPts val="600"/>
              </a:spcAft>
              <a:defRPr sz="1600">
                <a:solidFill>
                  <a:srgbClr val="2C3E50"/>
                </a:solidFill>
              </a:defRPr>
            </a:pPr>
            <a:r>
              <a:t>IMPORTANCE RULER: 'How important is it to you to change your drinking? (0-10)'</a:t>
            </a:r>
          </a:p>
          <a:p>
            <a:pPr lvl="1">
              <a:spcAft>
                <a:spcPts val="600"/>
              </a:spcAft>
              <a:defRPr sz="1400">
                <a:solidFill>
                  <a:srgbClr val="2C3E50"/>
                </a:solidFill>
              </a:defRPr>
            </a:pPr>
            <a:r>
              <a:t>  Assesses: Value placed on change (motivational component)</a:t>
            </a:r>
          </a:p>
          <a:p>
            <a:pPr lvl="1">
              <a:spcAft>
                <a:spcPts val="600"/>
              </a:spcAft>
              <a:defRPr sz="1400">
                <a:solidFill>
                  <a:srgbClr val="2C3E50"/>
                </a:solidFill>
              </a:defRPr>
            </a:pPr>
            <a:r>
              <a:t>  Low score → Need to develop discrepancy</a:t>
            </a:r>
          </a:p>
          <a:p>
            <a:pPr>
              <a:spcAft>
                <a:spcPts val="600"/>
              </a:spcAft>
              <a:defRPr sz="1600">
                <a:solidFill>
                  <a:srgbClr val="2C3E50"/>
                </a:solidFill>
              </a:defRPr>
            </a:pPr>
          </a:p>
          <a:p>
            <a:pPr>
              <a:spcAft>
                <a:spcPts val="600"/>
              </a:spcAft>
              <a:defRPr sz="1600">
                <a:solidFill>
                  <a:srgbClr val="2C3E50"/>
                </a:solidFill>
              </a:defRPr>
            </a:pPr>
            <a:r>
              <a:t>CONFIDENCE RULER: 'How confident are you that you could change? (0-10)'</a:t>
            </a:r>
          </a:p>
          <a:p>
            <a:pPr lvl="1">
              <a:spcAft>
                <a:spcPts val="600"/>
              </a:spcAft>
              <a:defRPr sz="1400">
                <a:solidFill>
                  <a:srgbClr val="2C3E50"/>
                </a:solidFill>
              </a:defRPr>
            </a:pPr>
            <a:r>
              <a:t>  Assesses: Self-efficacy (capability belief)</a:t>
            </a:r>
          </a:p>
          <a:p>
            <a:pPr lvl="1">
              <a:spcAft>
                <a:spcPts val="600"/>
              </a:spcAft>
              <a:defRPr sz="1400">
                <a:solidFill>
                  <a:srgbClr val="2C3E50"/>
                </a:solidFill>
              </a:defRPr>
            </a:pPr>
            <a:r>
              <a:t>  Low score → Need to build self-efficacy</a:t>
            </a:r>
          </a:p>
          <a:p>
            <a:pPr>
              <a:spcAft>
                <a:spcPts val="600"/>
              </a:spcAft>
              <a:defRPr sz="1600">
                <a:solidFill>
                  <a:srgbClr val="2C3E50"/>
                </a:solidFill>
              </a:defRPr>
            </a:pPr>
          </a:p>
          <a:p>
            <a:pPr>
              <a:spcAft>
                <a:spcPts val="600"/>
              </a:spcAft>
              <a:defRPr sz="1600">
                <a:solidFill>
                  <a:srgbClr val="2C3E50"/>
                </a:solidFill>
              </a:defRPr>
            </a:pPr>
            <a:r>
              <a:t>CLINICAL SIGNIFICANCE:</a:t>
            </a:r>
          </a:p>
          <a:p>
            <a:pPr lvl="1">
              <a:spcAft>
                <a:spcPts val="600"/>
              </a:spcAft>
              <a:defRPr sz="1400">
                <a:solidFill>
                  <a:srgbClr val="2C3E50"/>
                </a:solidFill>
              </a:defRPr>
            </a:pPr>
            <a:r>
              <a:t>  High importance + Low confidence → Focus on building efficacy</a:t>
            </a:r>
          </a:p>
          <a:p>
            <a:pPr lvl="1">
              <a:spcAft>
                <a:spcPts val="600"/>
              </a:spcAft>
              <a:defRPr sz="1400">
                <a:solidFill>
                  <a:srgbClr val="2C3E50"/>
                </a:solidFill>
              </a:defRPr>
            </a:pPr>
            <a:r>
              <a:t>  Low importance + High confidence → Focus on developing discrepancy</a:t>
            </a:r>
          </a:p>
          <a:p>
            <a:pPr lvl="1">
              <a:spcAft>
                <a:spcPts val="600"/>
              </a:spcAft>
              <a:defRPr sz="1400">
                <a:solidFill>
                  <a:srgbClr val="2C3E50"/>
                </a:solidFill>
              </a:defRPr>
            </a:pPr>
            <a:r>
              <a:t>  Low both → Start with importance (why), then build confidence (how)</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Rulers assess motivation (importance) and capability (confidence) separately, guiding therapeutic focus.</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&amp; Rollnick, S. (2013). Motivational interviewing (3rd ed.). Guilford Press. | Rollnick, S., Mason, P., &amp; Butler, C. (1999). Health Behavior Change. Churchill Livingstone. | Murthy, P. (2008). NIMHANS Manual.</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Decisional Balance Assessment</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Conduct a four-quadrant decisional balance assessment in clinical practice</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DECISIONAL BALANCE: Systematic exploration of pros and cons</a:t>
            </a:r>
          </a:p>
          <a:p>
            <a:pPr>
              <a:spcAft>
                <a:spcPts val="600"/>
              </a:spcAft>
              <a:defRPr sz="1600">
                <a:solidFill>
                  <a:srgbClr val="2C3E50"/>
                </a:solidFill>
              </a:defRPr>
            </a:pPr>
            <a:r>
              <a:t>Based on Janis &amp; Mann (1977) decision-making theory</a:t>
            </a:r>
          </a:p>
          <a:p>
            <a:pPr>
              <a:spcAft>
                <a:spcPts val="600"/>
              </a:spcAft>
              <a:defRPr sz="1600">
                <a:solidFill>
                  <a:srgbClr val="2C3E50"/>
                </a:solidFill>
              </a:defRPr>
            </a:pPr>
          </a:p>
          <a:p>
            <a:pPr>
              <a:spcAft>
                <a:spcPts val="600"/>
              </a:spcAft>
              <a:defRPr sz="1600">
                <a:solidFill>
                  <a:srgbClr val="2C3E50"/>
                </a:solidFill>
              </a:defRPr>
            </a:pPr>
            <a:r>
              <a:t>FOUR-QUADRANT MODEL:</a:t>
            </a:r>
          </a:p>
          <a:p>
            <a:pPr lvl="1">
              <a:spcAft>
                <a:spcPts val="600"/>
              </a:spcAft>
              <a:defRPr sz="1400">
                <a:solidFill>
                  <a:srgbClr val="2C3E50"/>
                </a:solidFill>
              </a:defRPr>
            </a:pPr>
            <a:r>
              <a:t>  ┌─────────────────────┬─────────────────────┐</a:t>
            </a:r>
          </a:p>
          <a:p>
            <a:pPr lvl="1">
              <a:spcAft>
                <a:spcPts val="600"/>
              </a:spcAft>
              <a:defRPr sz="1400">
                <a:solidFill>
                  <a:srgbClr val="2C3E50"/>
                </a:solidFill>
              </a:defRPr>
            </a:pPr>
            <a:r>
              <a:t>  │ PROS of Drinking    │ CONS of Drinking    │</a:t>
            </a:r>
          </a:p>
          <a:p>
            <a:pPr lvl="1">
              <a:spcAft>
                <a:spcPts val="600"/>
              </a:spcAft>
              <a:defRPr sz="1400">
                <a:solidFill>
                  <a:srgbClr val="2C3E50"/>
                </a:solidFill>
              </a:defRPr>
            </a:pPr>
            <a:r>
              <a:t>  │ (Benefits of        │ (Costs of           │</a:t>
            </a:r>
          </a:p>
          <a:p>
            <a:pPr lvl="1">
              <a:spcAft>
                <a:spcPts val="600"/>
              </a:spcAft>
              <a:defRPr sz="1400">
                <a:solidFill>
                  <a:srgbClr val="2C3E50"/>
                </a:solidFill>
              </a:defRPr>
            </a:pPr>
            <a:r>
              <a:t>  │  status quo)        │  status quo)        │</a:t>
            </a:r>
          </a:p>
          <a:p>
            <a:pPr lvl="1">
              <a:spcAft>
                <a:spcPts val="600"/>
              </a:spcAft>
              <a:defRPr sz="1400">
                <a:solidFill>
                  <a:srgbClr val="2C3E50"/>
                </a:solidFill>
              </a:defRPr>
            </a:pPr>
            <a:r>
              <a:t>  ├─────────────────────┼─────────────────────┤</a:t>
            </a:r>
          </a:p>
          <a:p>
            <a:pPr lvl="1">
              <a:spcAft>
                <a:spcPts val="600"/>
              </a:spcAft>
              <a:defRPr sz="1400">
                <a:solidFill>
                  <a:srgbClr val="2C3E50"/>
                </a:solidFill>
              </a:defRPr>
            </a:pPr>
            <a:r>
              <a:t>  │ CONS of Changing    │ PROS of Changing    │</a:t>
            </a:r>
          </a:p>
          <a:p>
            <a:pPr lvl="1">
              <a:spcAft>
                <a:spcPts val="600"/>
              </a:spcAft>
              <a:defRPr sz="1400">
                <a:solidFill>
                  <a:srgbClr val="2C3E50"/>
                </a:solidFill>
              </a:defRPr>
            </a:pPr>
            <a:r>
              <a:t>  │ (Costs of change)   │ (Benefits of        │</a:t>
            </a:r>
          </a:p>
          <a:p>
            <a:pPr lvl="1">
              <a:spcAft>
                <a:spcPts val="600"/>
              </a:spcAft>
              <a:defRPr sz="1400">
                <a:solidFill>
                  <a:srgbClr val="2C3E50"/>
                </a:solidFill>
              </a:defRPr>
            </a:pPr>
            <a:r>
              <a:t>  │                     │  change)            │</a:t>
            </a:r>
          </a:p>
          <a:p>
            <a:pPr lvl="1">
              <a:spcAft>
                <a:spcPts val="600"/>
              </a:spcAft>
              <a:defRPr sz="1400">
                <a:solidFill>
                  <a:srgbClr val="2C3E50"/>
                </a:solidFill>
              </a:defRPr>
            </a:pPr>
            <a:r>
              <a:t>  └─────────────────────┴─────────────────────┘</a:t>
            </a:r>
          </a:p>
          <a:p>
            <a:pPr>
              <a:spcAft>
                <a:spcPts val="600"/>
              </a:spcAft>
              <a:defRPr sz="1600">
                <a:solidFill>
                  <a:srgbClr val="2C3E50"/>
                </a:solidFill>
              </a:defRPr>
            </a:pPr>
          </a:p>
          <a:p>
            <a:pPr>
              <a:spcAft>
                <a:spcPts val="600"/>
              </a:spcAft>
              <a:defRPr sz="1600">
                <a:solidFill>
                  <a:srgbClr val="2C3E50"/>
                </a:solidFill>
              </a:defRPr>
            </a:pPr>
            <a:r>
              <a:t>THERAPEUTIC USE: Explore ALL four quadrants non-judgmentally</a:t>
            </a:r>
          </a:p>
          <a:p>
            <a:pPr lvl="1">
              <a:spcAft>
                <a:spcPts val="600"/>
              </a:spcAft>
              <a:defRPr sz="1400">
                <a:solidFill>
                  <a:srgbClr val="2C3E50"/>
                </a:solidFill>
              </a:defRPr>
            </a:pPr>
            <a:r>
              <a:t>  Start with pros of drinking (validates, reduces defensiveness)</a:t>
            </a:r>
          </a:p>
          <a:p>
            <a:pPr lvl="1">
              <a:spcAft>
                <a:spcPts val="600"/>
              </a:spcAft>
              <a:defRPr sz="1400">
                <a:solidFill>
                  <a:srgbClr val="2C3E50"/>
                </a:solidFill>
              </a:defRPr>
            </a:pPr>
            <a:r>
              <a:t>  Then explore cons of drinking (develops discrepancy)</a:t>
            </a:r>
          </a:p>
          <a:p>
            <a:pPr lvl="1">
              <a:spcAft>
                <a:spcPts val="600"/>
              </a:spcAft>
              <a:defRPr sz="1400">
                <a:solidFill>
                  <a:srgbClr val="2C3E50"/>
                </a:solidFill>
              </a:defRPr>
            </a:pPr>
            <a:r>
              <a:t>  Explore fears about change (acknowledges difficulty)</a:t>
            </a:r>
          </a:p>
          <a:p>
            <a:pPr lvl="1">
              <a:spcAft>
                <a:spcPts val="600"/>
              </a:spcAft>
              <a:defRPr sz="1400">
                <a:solidFill>
                  <a:srgbClr val="2C3E50"/>
                </a:solidFill>
              </a:defRPr>
            </a:pPr>
            <a:r>
              <a:t>  End with benefits of change (builds forward momentum)</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The decisional balance validates ambivalence while systematically developing discrepancy favoring change.</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Janis, I.L., &amp; Mann, L. (1977). Decision Making. Free Press. | Miller, W.R., et al. (1995). MET Manual. | Prochaska, J.O., et al. (1994). Cancer, 73, 3191-3197.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D5FA6"/>
        </a:solidFill>
        <a:effectLst/>
      </p:bgPr>
    </p:bg>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914400" y="1828800"/>
            <a:ext cx="10058400" cy="1371600"/>
          </a:xfrm>
          <a:prstGeom prst="rect">
            <a:avLst/>
          </a:prstGeom>
          <a:noFill/>
        </p:spPr>
        <p:txBody>
          <a:bodyPr wrap="none">
            <a:spAutoFit/>
          </a:bodyPr>
          <a:lstStyle/>
          <a:p>
            <a:pPr algn="ctr">
              <a:defRPr sz="1800">
                <a:solidFill>
                  <a:srgbClr val="B7950B"/>
                </a:solidFill>
              </a:defRPr>
            </a:pPr>
            <a:r>
              <a:t>SECTION 12</a:t>
            </a:r>
          </a:p>
        </p:txBody>
      </p:sp>
      <p:sp>
        <p:nvSpPr>
          <p:cNvPr id="5" name="TextBox 4"/>
          <p:cNvSpPr txBox="1"/>
          <p:nvPr/>
        </p:nvSpPr>
        <p:spPr>
          <a:xfrm>
            <a:off x="914400" y="2926080"/>
            <a:ext cx="10058400" cy="1828800"/>
          </a:xfrm>
          <a:prstGeom prst="rect">
            <a:avLst/>
          </a:prstGeom>
          <a:noFill/>
        </p:spPr>
        <p:txBody>
          <a:bodyPr wrap="square">
            <a:spAutoFit/>
          </a:bodyPr>
          <a:lstStyle/>
          <a:p>
            <a:pPr algn="ctr">
              <a:defRPr sz="3600" b="1">
                <a:solidFill>
                  <a:srgbClr val="FFFFFF"/>
                </a:solidFill>
              </a:defRPr>
            </a:pPr>
            <a:r>
              <a:t>Components of MET: The FRAMES Model</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FRAMES: The Active Ingredients of Brief Interventions</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Identify and explain the six FRAMES components of effective brief interventions</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FRAMES (Miller &amp; Sanchez, 1994) - Core components of effective brief interventions:</a:t>
            </a:r>
          </a:p>
          <a:p>
            <a:pPr>
              <a:spcAft>
                <a:spcPts val="600"/>
              </a:spcAft>
              <a:defRPr sz="1600">
                <a:solidFill>
                  <a:srgbClr val="2C3E50"/>
                </a:solidFill>
              </a:defRPr>
            </a:pPr>
          </a:p>
          <a:p>
            <a:pPr>
              <a:spcAft>
                <a:spcPts val="600"/>
              </a:spcAft>
              <a:defRPr sz="1600">
                <a:solidFill>
                  <a:srgbClr val="2C3E50"/>
                </a:solidFill>
              </a:defRPr>
            </a:pPr>
            <a:r>
              <a:t>F - Feedback: Personal risk/impairment feedback based on assessment</a:t>
            </a:r>
          </a:p>
          <a:p>
            <a:pPr>
              <a:spcAft>
                <a:spcPts val="600"/>
              </a:spcAft>
              <a:defRPr sz="1600">
                <a:solidFill>
                  <a:srgbClr val="2C3E50"/>
                </a:solidFill>
              </a:defRPr>
            </a:pPr>
            <a:r>
              <a:t>R - Responsibility: Emphasis on personal responsibility for change</a:t>
            </a:r>
          </a:p>
          <a:p>
            <a:pPr>
              <a:spcAft>
                <a:spcPts val="600"/>
              </a:spcAft>
              <a:defRPr sz="1600">
                <a:solidFill>
                  <a:srgbClr val="2C3E50"/>
                </a:solidFill>
              </a:defRPr>
            </a:pPr>
            <a:r>
              <a:t>A - Advice: Clear advice to change (when appropriate)</a:t>
            </a:r>
          </a:p>
          <a:p>
            <a:pPr>
              <a:spcAft>
                <a:spcPts val="600"/>
              </a:spcAft>
              <a:defRPr sz="1600">
                <a:solidFill>
                  <a:srgbClr val="2C3E50"/>
                </a:solidFill>
              </a:defRPr>
            </a:pPr>
            <a:r>
              <a:t>M - Menu: A menu of alternative change options</a:t>
            </a:r>
          </a:p>
          <a:p>
            <a:pPr>
              <a:spcAft>
                <a:spcPts val="600"/>
              </a:spcAft>
              <a:defRPr sz="1600">
                <a:solidFill>
                  <a:srgbClr val="2C3E50"/>
                </a:solidFill>
              </a:defRPr>
            </a:pPr>
            <a:r>
              <a:t>E - Empathy: Warm, reflective, understanding counseling style</a:t>
            </a:r>
          </a:p>
          <a:p>
            <a:pPr>
              <a:spcAft>
                <a:spcPts val="600"/>
              </a:spcAft>
              <a:defRPr sz="1600">
                <a:solidFill>
                  <a:srgbClr val="2C3E50"/>
                </a:solidFill>
              </a:defRPr>
            </a:pPr>
            <a:r>
              <a:t>S - Self-efficacy: Optimism about the client's ability to change</a:t>
            </a:r>
          </a:p>
          <a:p>
            <a:pPr>
              <a:spcAft>
                <a:spcPts val="600"/>
              </a:spcAft>
              <a:defRPr sz="1600">
                <a:solidFill>
                  <a:srgbClr val="2C3E50"/>
                </a:solidFill>
              </a:defRPr>
            </a:pPr>
          </a:p>
          <a:p>
            <a:pPr>
              <a:spcAft>
                <a:spcPts val="600"/>
              </a:spcAft>
              <a:defRPr sz="1600">
                <a:solidFill>
                  <a:srgbClr val="2C3E50"/>
                </a:solidFill>
              </a:defRPr>
            </a:pPr>
            <a:r>
              <a:t>RESEARCH SUPPORT: Bien, Miller &amp; Tonigan (1993) meta-analysis found</a:t>
            </a:r>
          </a:p>
          <a:p>
            <a:pPr lvl="1">
              <a:spcAft>
                <a:spcPts val="600"/>
              </a:spcAft>
              <a:defRPr sz="1400">
                <a:solidFill>
                  <a:srgbClr val="2C3E50"/>
                </a:solidFill>
              </a:defRPr>
            </a:pPr>
            <a:r>
              <a:t>  these elements consistently present in effective brief interventions</a:t>
            </a:r>
          </a:p>
          <a:p>
            <a:pPr>
              <a:spcAft>
                <a:spcPts val="600"/>
              </a:spcAft>
              <a:defRPr sz="1600">
                <a:solidFill>
                  <a:srgbClr val="2C3E50"/>
                </a:solidFill>
              </a:defRPr>
            </a:pPr>
            <a:r>
              <a:t>NIMHANS Manual: FRAMES identified as the essential elements of brief intervention</a:t>
            </a:r>
          </a:p>
          <a:p>
            <a:pPr>
              <a:spcAft>
                <a:spcPts val="600"/>
              </a:spcAft>
              <a:defRPr sz="1600">
                <a:solidFill>
                  <a:srgbClr val="2C3E50"/>
                </a:solidFill>
              </a:defRPr>
            </a:pPr>
            <a:r>
              <a:t>Each element can be present to varying degrees</a:t>
            </a:r>
          </a:p>
          <a:p>
            <a:pPr>
              <a:spcAft>
                <a:spcPts val="600"/>
              </a:spcAft>
              <a:defRPr sz="1600">
                <a:solidFill>
                  <a:srgbClr val="2C3E50"/>
                </a:solidFill>
              </a:defRPr>
            </a:pPr>
            <a:r>
              <a:t>Not all elements required in every interaction</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FRAMES (Feedback, Responsibility, Advice, Menu, Empathy, Self-efficacy) are the proven active ingredients of MET.</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&amp; Sanchez, V.C. (1994). In Howard, G. (Ed.), Issues in Alcohol Use and Misuse. Notre Dame Press. | Bien, T.H., Miller, W.R., &amp; Tonigan, S. (1993). Addiction, 88, 315-336. | Murthy, P. (2008). NIMHANS Manual, pp. 20-21.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FRAMES: Detailed Explanation (Feedback, Responsibility, Advice)</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Deliver personalized feedback, emphasize responsibility, and offer advice appropriately</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F - FEEDBACK:</a:t>
            </a:r>
          </a:p>
          <a:p>
            <a:pPr lvl="1">
              <a:spcAft>
                <a:spcPts val="600"/>
              </a:spcAft>
              <a:defRPr sz="1400">
                <a:solidFill>
                  <a:srgbClr val="2C3E50"/>
                </a:solidFill>
              </a:defRPr>
            </a:pPr>
            <a:r>
              <a:t>  • Personalized assessment results compared to norms</a:t>
            </a:r>
          </a:p>
          <a:p>
            <a:pPr lvl="1">
              <a:spcAft>
                <a:spcPts val="600"/>
              </a:spcAft>
              <a:defRPr sz="1400">
                <a:solidFill>
                  <a:srgbClr val="2C3E50"/>
                </a:solidFill>
              </a:defRPr>
            </a:pPr>
            <a:r>
              <a:t>  • 'Your drinking is higher than 95% of the population'</a:t>
            </a:r>
          </a:p>
          <a:p>
            <a:pPr lvl="1">
              <a:spcAft>
                <a:spcPts val="600"/>
              </a:spcAft>
              <a:defRPr sz="1400">
                <a:solidFill>
                  <a:srgbClr val="2C3E50"/>
                </a:solidFill>
              </a:defRPr>
            </a:pPr>
            <a:r>
              <a:t>  • Objective, non-judgmental presentation</a:t>
            </a:r>
          </a:p>
          <a:p>
            <a:pPr lvl="1">
              <a:spcAft>
                <a:spcPts val="600"/>
              </a:spcAft>
              <a:defRPr sz="1400">
                <a:solidFill>
                  <a:srgbClr val="2C3E50"/>
                </a:solidFill>
              </a:defRPr>
            </a:pPr>
            <a:r>
              <a:t>  • Creates discrepancy between self-perception and data</a:t>
            </a:r>
          </a:p>
          <a:p>
            <a:pPr>
              <a:spcAft>
                <a:spcPts val="600"/>
              </a:spcAft>
              <a:defRPr sz="1600">
                <a:solidFill>
                  <a:srgbClr val="2C3E50"/>
                </a:solidFill>
              </a:defRPr>
            </a:pPr>
          </a:p>
          <a:p>
            <a:pPr>
              <a:spcAft>
                <a:spcPts val="600"/>
              </a:spcAft>
              <a:defRPr sz="1600">
                <a:solidFill>
                  <a:srgbClr val="2C3E50"/>
                </a:solidFill>
              </a:defRPr>
            </a:pPr>
            <a:r>
              <a:t>R - RESPONSIBILITY:</a:t>
            </a:r>
          </a:p>
          <a:p>
            <a:pPr lvl="1">
              <a:spcAft>
                <a:spcPts val="600"/>
              </a:spcAft>
              <a:defRPr sz="1400">
                <a:solidFill>
                  <a:srgbClr val="2C3E50"/>
                </a:solidFill>
              </a:defRPr>
            </a:pPr>
            <a:r>
              <a:t>  • 'No one can make you change. It's your choice'</a:t>
            </a:r>
          </a:p>
          <a:p>
            <a:pPr lvl="1">
              <a:spcAft>
                <a:spcPts val="600"/>
              </a:spcAft>
              <a:defRPr sz="1400">
                <a:solidFill>
                  <a:srgbClr val="2C3E50"/>
                </a:solidFill>
              </a:defRPr>
            </a:pPr>
            <a:r>
              <a:t>  • Emphasizes personal control and autonomy</a:t>
            </a:r>
          </a:p>
          <a:p>
            <a:pPr lvl="1">
              <a:spcAft>
                <a:spcPts val="600"/>
              </a:spcAft>
              <a:defRPr sz="1400">
                <a:solidFill>
                  <a:srgbClr val="2C3E50"/>
                </a:solidFill>
              </a:defRPr>
            </a:pPr>
            <a:r>
              <a:t>  • Avoids coercion or external pressure</a:t>
            </a:r>
          </a:p>
          <a:p>
            <a:pPr lvl="1">
              <a:spcAft>
                <a:spcPts val="600"/>
              </a:spcAft>
              <a:defRPr sz="1400">
                <a:solidFill>
                  <a:srgbClr val="2C3E50"/>
                </a:solidFill>
              </a:defRPr>
            </a:pPr>
            <a:r>
              <a:t>  • NIMHANS: 'Reinforces sense of personal control and responsibility'</a:t>
            </a:r>
          </a:p>
          <a:p>
            <a:pPr>
              <a:spcAft>
                <a:spcPts val="600"/>
              </a:spcAft>
              <a:defRPr sz="1600">
                <a:solidFill>
                  <a:srgbClr val="2C3E50"/>
                </a:solidFill>
              </a:defRPr>
            </a:pPr>
          </a:p>
          <a:p>
            <a:pPr>
              <a:spcAft>
                <a:spcPts val="600"/>
              </a:spcAft>
              <a:defRPr sz="1600">
                <a:solidFill>
                  <a:srgbClr val="2C3E50"/>
                </a:solidFill>
              </a:defRPr>
            </a:pPr>
            <a:r>
              <a:t>A - ADVICE (offered with permission):</a:t>
            </a:r>
          </a:p>
          <a:p>
            <a:pPr lvl="1">
              <a:spcAft>
                <a:spcPts val="600"/>
              </a:spcAft>
              <a:defRPr sz="1400">
                <a:solidFill>
                  <a:srgbClr val="2C3E50"/>
                </a:solidFill>
              </a:defRPr>
            </a:pPr>
            <a:r>
              <a:t>  • Clear, specific, direct but non-coercive</a:t>
            </a:r>
          </a:p>
          <a:p>
            <a:pPr lvl="1">
              <a:spcAft>
                <a:spcPts val="600"/>
              </a:spcAft>
              <a:defRPr sz="1400">
                <a:solidFill>
                  <a:srgbClr val="2C3E50"/>
                </a:solidFill>
              </a:defRPr>
            </a:pPr>
            <a:r>
              <a:t>  • 'Based on these results, I would recommend reducing your drinking'</a:t>
            </a:r>
          </a:p>
          <a:p>
            <a:pPr lvl="1">
              <a:spcAft>
                <a:spcPts val="600"/>
              </a:spcAft>
              <a:defRPr sz="1400">
                <a:solidFill>
                  <a:srgbClr val="2C3E50"/>
                </a:solidFill>
              </a:defRPr>
            </a:pPr>
            <a:r>
              <a:t>  • Elicit-Provide-Elicit: Ask permission → Give info → Ask reaction</a:t>
            </a:r>
          </a:p>
          <a:p>
            <a:pPr lvl="1">
              <a:spcAft>
                <a:spcPts val="600"/>
              </a:spcAft>
              <a:defRPr sz="1400">
                <a:solidFill>
                  <a:srgbClr val="2C3E50"/>
                </a:solidFill>
              </a:defRPr>
            </a:pPr>
            <a:r>
              <a:t>  • Brief and impactful; not lecturing</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Feedback creates discrepancy, responsibility empowers autonomy, advice is offered briefly with permission.</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Appendix A. | Murthy, P. (2008). NIMHANS Manual. | Miller, W.R., &amp; Sanchez, V.C. (1994). In Howard, G. (Ed.), Issues in Alcohol Use and Misuse.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FRAMES: Detailed Explanation (Menu, Empathy, Self-Efficacy)</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Provide a menu of options, demonstrate empathy, and build self-efficacy in clinical practice</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M - MENU OF OPTIONS:</a:t>
            </a:r>
          </a:p>
          <a:p>
            <a:pPr lvl="1">
              <a:spcAft>
                <a:spcPts val="600"/>
              </a:spcAft>
              <a:defRPr sz="1400">
                <a:solidFill>
                  <a:srgbClr val="2C3E50"/>
                </a:solidFill>
              </a:defRPr>
            </a:pPr>
            <a:r>
              <a:t>  • Provide multiple strategies/choices for change</a:t>
            </a:r>
          </a:p>
          <a:p>
            <a:pPr lvl="1">
              <a:spcAft>
                <a:spcPts val="600"/>
              </a:spcAft>
              <a:defRPr sz="1400">
                <a:solidFill>
                  <a:srgbClr val="2C3E50"/>
                </a:solidFill>
              </a:defRPr>
            </a:pPr>
            <a:r>
              <a:t>  • 'There are several approaches people have found helpful...'</a:t>
            </a:r>
          </a:p>
          <a:p>
            <a:pPr lvl="1">
              <a:spcAft>
                <a:spcPts val="600"/>
              </a:spcAft>
              <a:defRPr sz="1400">
                <a:solidFill>
                  <a:srgbClr val="2C3E50"/>
                </a:solidFill>
              </a:defRPr>
            </a:pPr>
            <a:r>
              <a:t>  • Options might include: reduction, abstinence, timing changes, support groups</a:t>
            </a:r>
          </a:p>
          <a:p>
            <a:pPr lvl="1">
              <a:spcAft>
                <a:spcPts val="600"/>
              </a:spcAft>
              <a:defRPr sz="1400">
                <a:solidFill>
                  <a:srgbClr val="2C3E50"/>
                </a:solidFill>
              </a:defRPr>
            </a:pPr>
            <a:r>
              <a:t>  • NIMHANS: 'Providing choices reinforces sense of personal control'</a:t>
            </a:r>
          </a:p>
          <a:p>
            <a:pPr lvl="1">
              <a:spcAft>
                <a:spcPts val="600"/>
              </a:spcAft>
              <a:defRPr sz="1400">
                <a:solidFill>
                  <a:srgbClr val="2C3E50"/>
                </a:solidFill>
              </a:defRPr>
            </a:pPr>
            <a:r>
              <a:t>  • Examples: diary keeping, guidelines, relapse prevention, counseling, self-help</a:t>
            </a:r>
          </a:p>
          <a:p>
            <a:pPr>
              <a:spcAft>
                <a:spcPts val="600"/>
              </a:spcAft>
              <a:defRPr sz="1600">
                <a:solidFill>
                  <a:srgbClr val="2C3E50"/>
                </a:solidFill>
              </a:defRPr>
            </a:pPr>
          </a:p>
          <a:p>
            <a:pPr>
              <a:spcAft>
                <a:spcPts val="600"/>
              </a:spcAft>
              <a:defRPr sz="1600">
                <a:solidFill>
                  <a:srgbClr val="2C3E50"/>
                </a:solidFill>
              </a:defRPr>
            </a:pPr>
            <a:r>
              <a:t>E - EMPATHY:</a:t>
            </a:r>
          </a:p>
          <a:p>
            <a:pPr lvl="1">
              <a:spcAft>
                <a:spcPts val="600"/>
              </a:spcAft>
              <a:defRPr sz="1400">
                <a:solidFill>
                  <a:srgbClr val="2C3E50"/>
                </a:solidFill>
              </a:defRPr>
            </a:pPr>
            <a:r>
              <a:t>  • Warm, reflective, understanding communication style</a:t>
            </a:r>
          </a:p>
          <a:p>
            <a:pPr lvl="1">
              <a:spcAft>
                <a:spcPts val="600"/>
              </a:spcAft>
              <a:defRPr sz="1400">
                <a:solidFill>
                  <a:srgbClr val="2C3E50"/>
                </a:solidFill>
              </a:defRPr>
            </a:pPr>
            <a:r>
              <a:t>  • NOT confrontation, lecturing, or moralizing</a:t>
            </a:r>
          </a:p>
          <a:p>
            <a:pPr lvl="1">
              <a:spcAft>
                <a:spcPts val="600"/>
              </a:spcAft>
              <a:defRPr sz="1400">
                <a:solidFill>
                  <a:srgbClr val="2C3E50"/>
                </a:solidFill>
              </a:defRPr>
            </a:pPr>
            <a:r>
              <a:t>  • Communicates respect and genuine concern</a:t>
            </a:r>
          </a:p>
          <a:p>
            <a:pPr lvl="1">
              <a:spcAft>
                <a:spcPts val="600"/>
              </a:spcAft>
              <a:defRPr sz="1400">
                <a:solidFill>
                  <a:srgbClr val="2C3E50"/>
                </a:solidFill>
              </a:defRPr>
            </a:pPr>
            <a:r>
              <a:t>  • 'The therapist communicates respect, encourages exploration' (NIMHANS)</a:t>
            </a:r>
          </a:p>
          <a:p>
            <a:pPr>
              <a:spcAft>
                <a:spcPts val="600"/>
              </a:spcAft>
              <a:defRPr sz="1600">
                <a:solidFill>
                  <a:srgbClr val="2C3E50"/>
                </a:solidFill>
              </a:defRPr>
            </a:pPr>
          </a:p>
          <a:p>
            <a:pPr>
              <a:spcAft>
                <a:spcPts val="600"/>
              </a:spcAft>
              <a:defRPr sz="1600">
                <a:solidFill>
                  <a:srgbClr val="2C3E50"/>
                </a:solidFill>
              </a:defRPr>
            </a:pPr>
            <a:r>
              <a:t>S - SELF-EFFICACY:</a:t>
            </a:r>
          </a:p>
          <a:p>
            <a:pPr lvl="1">
              <a:spcAft>
                <a:spcPts val="600"/>
              </a:spcAft>
              <a:defRPr sz="1400">
                <a:solidFill>
                  <a:srgbClr val="2C3E50"/>
                </a:solidFill>
              </a:defRPr>
            </a:pPr>
            <a:r>
              <a:t>  • Communicate confidence in the client's ability to change</a:t>
            </a:r>
          </a:p>
          <a:p>
            <a:pPr lvl="1">
              <a:spcAft>
                <a:spcPts val="600"/>
              </a:spcAft>
              <a:defRPr sz="1400">
                <a:solidFill>
                  <a:srgbClr val="2C3E50"/>
                </a:solidFill>
              </a:defRPr>
            </a:pPr>
            <a:r>
              <a:t>  • 'I believe you can do this'</a:t>
            </a:r>
          </a:p>
          <a:p>
            <a:pPr lvl="1">
              <a:spcAft>
                <a:spcPts val="600"/>
              </a:spcAft>
              <a:defRPr sz="1400">
                <a:solidFill>
                  <a:srgbClr val="2C3E50"/>
                </a:solidFill>
              </a:defRPr>
            </a:pPr>
            <a:r>
              <a:t>  • Elicit self-efficacy statements from clients</a:t>
            </a:r>
          </a:p>
          <a:p>
            <a:pPr lvl="1">
              <a:spcAft>
                <a:spcPts val="600"/>
              </a:spcAft>
              <a:defRPr sz="1400">
                <a:solidFill>
                  <a:srgbClr val="2C3E50"/>
                </a:solidFill>
              </a:defRPr>
            </a:pPr>
            <a:r>
              <a:t>  • Highlight past successes and strengths</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Menu offers choices (autonomy), empathy provides safety, self-efficacy instills hope - together completing FRAMES.</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Murthy, P. (2008). NIMHANS Manual, pp. 20-21. | Miller, W.R., et al. (1995). MET Manual. | Bien, T.H., Miller, W.R., &amp; Tonigan, S. (1993). Addiction, 88, 315-336.</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1D5FA6"/>
        </a:solidFill>
        <a:effectLst/>
      </p:bgPr>
    </p:bg>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914400" y="1828800"/>
            <a:ext cx="10058400" cy="1371600"/>
          </a:xfrm>
          <a:prstGeom prst="rect">
            <a:avLst/>
          </a:prstGeom>
          <a:noFill/>
        </p:spPr>
        <p:txBody>
          <a:bodyPr wrap="none">
            <a:spAutoFit/>
          </a:bodyPr>
          <a:lstStyle/>
          <a:p>
            <a:pPr algn="ctr">
              <a:defRPr sz="1800">
                <a:solidFill>
                  <a:srgbClr val="B7950B"/>
                </a:solidFill>
              </a:defRPr>
            </a:pPr>
            <a:r>
              <a:t>SECTION 13</a:t>
            </a:r>
          </a:p>
        </p:txBody>
      </p:sp>
      <p:sp>
        <p:nvSpPr>
          <p:cNvPr id="5" name="TextBox 4"/>
          <p:cNvSpPr txBox="1"/>
          <p:nvPr/>
        </p:nvSpPr>
        <p:spPr>
          <a:xfrm>
            <a:off x="914400" y="2926080"/>
            <a:ext cx="10058400" cy="1828800"/>
          </a:xfrm>
          <a:prstGeom prst="rect">
            <a:avLst/>
          </a:prstGeom>
          <a:noFill/>
        </p:spPr>
        <p:txBody>
          <a:bodyPr wrap="square">
            <a:spAutoFit/>
          </a:bodyPr>
          <a:lstStyle/>
          <a:p>
            <a:pPr algn="ctr">
              <a:defRPr sz="3600" b="1">
                <a:solidFill>
                  <a:srgbClr val="FFFFFF"/>
                </a:solidFill>
              </a:defRPr>
            </a:pPr>
            <a:r>
              <a:t>Structure of MET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Overall Structure: The Four-Session MET Protocol</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Describe the overall structure and timing of the four MET sessions</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SESSION 1 (Week 1): Assessment Feedback &amp; Building Motivation</a:t>
            </a:r>
          </a:p>
          <a:p>
            <a:pPr lvl="1">
              <a:spcAft>
                <a:spcPts val="600"/>
              </a:spcAft>
              <a:defRPr sz="1400">
                <a:solidFill>
                  <a:srgbClr val="2C3E50"/>
                </a:solidFill>
              </a:defRPr>
            </a:pPr>
            <a:r>
              <a:t>  • Personal Feedback Report delivery</a:t>
            </a:r>
          </a:p>
          <a:p>
            <a:pPr lvl="1">
              <a:spcAft>
                <a:spcPts val="600"/>
              </a:spcAft>
              <a:defRPr sz="1400">
                <a:solidFill>
                  <a:srgbClr val="2C3E50"/>
                </a:solidFill>
              </a:defRPr>
            </a:pPr>
            <a:r>
              <a:t>  • Explore reactions to feedback</a:t>
            </a:r>
          </a:p>
          <a:p>
            <a:pPr lvl="1">
              <a:spcAft>
                <a:spcPts val="600"/>
              </a:spcAft>
              <a:defRPr sz="1400">
                <a:solidFill>
                  <a:srgbClr val="2C3E50"/>
                </a:solidFill>
              </a:defRPr>
            </a:pPr>
            <a:r>
              <a:t>  • Elicit self-motivational statements</a:t>
            </a:r>
          </a:p>
          <a:p>
            <a:pPr lvl="1">
              <a:spcAft>
                <a:spcPts val="600"/>
              </a:spcAft>
              <a:defRPr sz="1400">
                <a:solidFill>
                  <a:srgbClr val="2C3E50"/>
                </a:solidFill>
              </a:defRPr>
            </a:pPr>
            <a:r>
              <a:t>  • Optional: Involve significant other</a:t>
            </a:r>
          </a:p>
          <a:p>
            <a:pPr>
              <a:spcAft>
                <a:spcPts val="600"/>
              </a:spcAft>
              <a:defRPr sz="1600">
                <a:solidFill>
                  <a:srgbClr val="2C3E50"/>
                </a:solidFill>
              </a:defRPr>
            </a:pPr>
          </a:p>
          <a:p>
            <a:pPr>
              <a:spcAft>
                <a:spcPts val="600"/>
              </a:spcAft>
              <a:defRPr sz="1600">
                <a:solidFill>
                  <a:srgbClr val="2C3E50"/>
                </a:solidFill>
              </a:defRPr>
            </a:pPr>
            <a:r>
              <a:t>SESSION 2 (Week 2): Strengthening Commitment</a:t>
            </a:r>
          </a:p>
          <a:p>
            <a:pPr lvl="1">
              <a:spcAft>
                <a:spcPts val="600"/>
              </a:spcAft>
              <a:defRPr sz="1400">
                <a:solidFill>
                  <a:srgbClr val="2C3E50"/>
                </a:solidFill>
              </a:defRPr>
            </a:pPr>
            <a:r>
              <a:t>  • Review progress since Session 1</a:t>
            </a:r>
          </a:p>
          <a:p>
            <a:pPr lvl="1">
              <a:spcAft>
                <a:spcPts val="600"/>
              </a:spcAft>
              <a:defRPr sz="1400">
                <a:solidFill>
                  <a:srgbClr val="2C3E50"/>
                </a:solidFill>
              </a:defRPr>
            </a:pPr>
            <a:r>
              <a:t>  • Continue developing discrepancy and change talk</a:t>
            </a:r>
          </a:p>
          <a:p>
            <a:pPr lvl="1">
              <a:spcAft>
                <a:spcPts val="600"/>
              </a:spcAft>
              <a:defRPr sz="1400">
                <a:solidFill>
                  <a:srgbClr val="2C3E50"/>
                </a:solidFill>
              </a:defRPr>
            </a:pPr>
            <a:r>
              <a:t>  • Begin consolidating commitment to change</a:t>
            </a:r>
          </a:p>
          <a:p>
            <a:pPr lvl="1">
              <a:spcAft>
                <a:spcPts val="600"/>
              </a:spcAft>
              <a:defRPr sz="1400">
                <a:solidFill>
                  <a:srgbClr val="2C3E50"/>
                </a:solidFill>
              </a:defRPr>
            </a:pPr>
            <a:r>
              <a:t>  • Develop change plan (if ready)</a:t>
            </a:r>
          </a:p>
          <a:p>
            <a:pPr>
              <a:spcAft>
                <a:spcPts val="600"/>
              </a:spcAft>
              <a:defRPr sz="1600">
                <a:solidFill>
                  <a:srgbClr val="2C3E50"/>
                </a:solidFill>
              </a:defRPr>
            </a:pPr>
          </a:p>
          <a:p>
            <a:pPr>
              <a:spcAft>
                <a:spcPts val="600"/>
              </a:spcAft>
              <a:defRPr sz="1600">
                <a:solidFill>
                  <a:srgbClr val="2C3E50"/>
                </a:solidFill>
              </a:defRPr>
            </a:pPr>
            <a:r>
              <a:t>SESSION 3 (Week 6 - Midpoint): Progress Review</a:t>
            </a:r>
          </a:p>
          <a:p>
            <a:pPr lvl="1">
              <a:spcAft>
                <a:spcPts val="600"/>
              </a:spcAft>
              <a:defRPr sz="1400">
                <a:solidFill>
                  <a:srgbClr val="2C3E50"/>
                </a:solidFill>
              </a:defRPr>
            </a:pPr>
            <a:r>
              <a:t>  • Reinforce progress / address setbacks</a:t>
            </a:r>
          </a:p>
          <a:p>
            <a:pPr lvl="1">
              <a:spcAft>
                <a:spcPts val="600"/>
              </a:spcAft>
              <a:defRPr sz="1400">
                <a:solidFill>
                  <a:srgbClr val="2C3E50"/>
                </a:solidFill>
              </a:defRPr>
            </a:pPr>
            <a:r>
              <a:t>  • Reassess motivation and commitment</a:t>
            </a:r>
          </a:p>
          <a:p>
            <a:pPr>
              <a:spcAft>
                <a:spcPts val="600"/>
              </a:spcAft>
              <a:defRPr sz="1600">
                <a:solidFill>
                  <a:srgbClr val="2C3E50"/>
                </a:solidFill>
              </a:defRPr>
            </a:pPr>
          </a:p>
          <a:p>
            <a:pPr>
              <a:spcAft>
                <a:spcPts val="600"/>
              </a:spcAft>
              <a:defRPr sz="1600">
                <a:solidFill>
                  <a:srgbClr val="2C3E50"/>
                </a:solidFill>
              </a:defRPr>
            </a:pPr>
            <a:r>
              <a:t>SESSION 4 (Week 12 - Final): Consolidation &amp; Termination</a:t>
            </a:r>
          </a:p>
          <a:p>
            <a:pPr lvl="1">
              <a:spcAft>
                <a:spcPts val="600"/>
              </a:spcAft>
              <a:defRPr sz="1400">
                <a:solidFill>
                  <a:srgbClr val="2C3E50"/>
                </a:solidFill>
              </a:defRPr>
            </a:pPr>
            <a:r>
              <a:t>  • Review overall progress</a:t>
            </a:r>
          </a:p>
          <a:p>
            <a:pPr lvl="1">
              <a:spcAft>
                <a:spcPts val="600"/>
              </a:spcAft>
              <a:defRPr sz="1400">
                <a:solidFill>
                  <a:srgbClr val="2C3E50"/>
                </a:solidFill>
              </a:defRPr>
            </a:pPr>
            <a:r>
              <a:t>  • Strengthen long-term commitment</a:t>
            </a:r>
          </a:p>
          <a:p>
            <a:pPr lvl="1">
              <a:spcAft>
                <a:spcPts val="600"/>
              </a:spcAft>
              <a:defRPr sz="1400">
                <a:solidFill>
                  <a:srgbClr val="2C3E50"/>
                </a:solidFill>
              </a:defRPr>
            </a:pPr>
            <a:r>
              <a:t>  • Relapse prevention planning</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MET uses 4 strategically timed sessions: intensive early work (Sessions 1-2) followed by reinforcement check-ins (Sessions 3-4).</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 Project MATCH Research Group. (1997). Journal of Studies on Alcohol, 58, 7-29.</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Two Phases of MET: Building Motivation &amp; Strengthening Commitment</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Distinguish the two phases of MET and identify signs of readiness to transition</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PHASE 1: BUILDING MOTIVATION FOR CHANGE (Sessions 1-2 primarily)</a:t>
            </a:r>
          </a:p>
          <a:p>
            <a:pPr lvl="1">
              <a:spcAft>
                <a:spcPts val="600"/>
              </a:spcAft>
              <a:defRPr sz="1400">
                <a:solidFill>
                  <a:srgbClr val="2C3E50"/>
                </a:solidFill>
              </a:defRPr>
            </a:pPr>
            <a:r>
              <a:t>  Goal: Tip the motivational balance in favor of change</a:t>
            </a:r>
          </a:p>
          <a:p>
            <a:pPr lvl="1">
              <a:spcAft>
                <a:spcPts val="600"/>
              </a:spcAft>
              <a:defRPr sz="1400">
                <a:solidFill>
                  <a:srgbClr val="2C3E50"/>
                </a:solidFill>
              </a:defRPr>
            </a:pPr>
            <a:r>
              <a:t>  Strategies: Elicit self-motivational statements, empathic listening,</a:t>
            </a:r>
          </a:p>
          <a:p>
            <a:pPr lvl="1">
              <a:spcAft>
                <a:spcPts val="600"/>
              </a:spcAft>
              <a:defRPr sz="1400">
                <a:solidFill>
                  <a:srgbClr val="2C3E50"/>
                </a:solidFill>
              </a:defRPr>
            </a:pPr>
            <a:r>
              <a:t>    personal feedback, develop discrepancy, explore ambivalence</a:t>
            </a:r>
          </a:p>
          <a:p>
            <a:pPr lvl="1">
              <a:spcAft>
                <a:spcPts val="600"/>
              </a:spcAft>
              <a:defRPr sz="1400">
                <a:solidFill>
                  <a:srgbClr val="2C3E50"/>
                </a:solidFill>
              </a:defRPr>
            </a:pPr>
            <a:r>
              <a:t>  Client varies from precontemplation → contemplation → preparation</a:t>
            </a:r>
          </a:p>
          <a:p>
            <a:pPr>
              <a:spcAft>
                <a:spcPts val="600"/>
              </a:spcAft>
              <a:defRPr sz="1600">
                <a:solidFill>
                  <a:srgbClr val="2C3E50"/>
                </a:solidFill>
              </a:defRPr>
            </a:pPr>
          </a:p>
          <a:p>
            <a:pPr>
              <a:spcAft>
                <a:spcPts val="600"/>
              </a:spcAft>
              <a:defRPr sz="1600">
                <a:solidFill>
                  <a:srgbClr val="2C3E50"/>
                </a:solidFill>
              </a:defRPr>
            </a:pPr>
            <a:r>
              <a:t>PHASE 2: STRENGTHENING COMMITMENT TO CHANGE (Sessions 2-4)</a:t>
            </a:r>
          </a:p>
          <a:p>
            <a:pPr lvl="1">
              <a:spcAft>
                <a:spcPts val="600"/>
              </a:spcAft>
              <a:defRPr sz="1400">
                <a:solidFill>
                  <a:srgbClr val="2C3E50"/>
                </a:solidFill>
              </a:defRPr>
            </a:pPr>
            <a:r>
              <a:t>  Goal: Consolidate decision and plan for action</a:t>
            </a:r>
          </a:p>
          <a:p>
            <a:pPr lvl="1">
              <a:spcAft>
                <a:spcPts val="600"/>
              </a:spcAft>
              <a:defRPr sz="1400">
                <a:solidFill>
                  <a:srgbClr val="2C3E50"/>
                </a:solidFill>
              </a:defRPr>
            </a:pPr>
            <a:r>
              <a:t>  Strategies: Recapitulate, key questions, information &amp; advice (with permission),</a:t>
            </a:r>
          </a:p>
          <a:p>
            <a:pPr lvl="1">
              <a:spcAft>
                <a:spcPts val="600"/>
              </a:spcAft>
              <a:defRPr sz="1400">
                <a:solidFill>
                  <a:srgbClr val="2C3E50"/>
                </a:solidFill>
              </a:defRPr>
            </a:pPr>
            <a:r>
              <a:t>    change plan negotiation, goal setting</a:t>
            </a:r>
          </a:p>
          <a:p>
            <a:pPr lvl="1">
              <a:spcAft>
                <a:spcPts val="600"/>
              </a:spcAft>
              <a:defRPr sz="1400">
                <a:solidFill>
                  <a:srgbClr val="2C3E50"/>
                </a:solidFill>
              </a:defRPr>
            </a:pPr>
            <a:r>
              <a:t>  Signs of readiness: Decreased resistance, increased change talk,</a:t>
            </a:r>
          </a:p>
          <a:p>
            <a:pPr lvl="1">
              <a:spcAft>
                <a:spcPts val="600"/>
              </a:spcAft>
              <a:defRPr sz="1400">
                <a:solidFill>
                  <a:srgbClr val="2C3E50"/>
                </a:solidFill>
              </a:defRPr>
            </a:pPr>
            <a:r>
              <a:t>    questions about change, imagining change, experimenting</a:t>
            </a:r>
          </a:p>
          <a:p>
            <a:pPr>
              <a:spcAft>
                <a:spcPts val="600"/>
              </a:spcAft>
              <a:defRPr sz="1600">
                <a:solidFill>
                  <a:srgbClr val="2C3E50"/>
                </a:solidFill>
              </a:defRPr>
            </a:pPr>
          </a:p>
          <a:p>
            <a:pPr>
              <a:spcAft>
                <a:spcPts val="600"/>
              </a:spcAft>
              <a:defRPr sz="1600">
                <a:solidFill>
                  <a:srgbClr val="2C3E50"/>
                </a:solidFill>
              </a:defRPr>
            </a:pPr>
            <a:r>
              <a:t>TIMING THE TRANSITION: Move to Phase 2 when client shows readiness signs</a:t>
            </a:r>
          </a:p>
          <a:p>
            <a:pPr lvl="1">
              <a:spcAft>
                <a:spcPts val="600"/>
              </a:spcAft>
              <a:defRPr sz="1400">
                <a:solidFill>
                  <a:srgbClr val="2C3E50"/>
                </a:solidFill>
              </a:defRPr>
            </a:pPr>
            <a:r>
              <a:t>  Premature transition → increased resistance (pushing too fast)</a:t>
            </a:r>
          </a:p>
          <a:p>
            <a:pPr lvl="1">
              <a:spcAft>
                <a:spcPts val="600"/>
              </a:spcAft>
              <a:defRPr sz="1400">
                <a:solidFill>
                  <a:srgbClr val="2C3E50"/>
                </a:solidFill>
              </a:defRPr>
            </a:pPr>
            <a:r>
              <a:t>  Delayed transition → missed opportunity (client ready but therapist still exploring)</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Phase 1 builds motivation (why change); Phase 2 strengthens commitment (how to change) - timing the transition is key.</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pp. 13-32. | Miller, W.R., &amp; Rollnick, S. (1991). Motivational interviewing. Guilford Press.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1D5FA6"/>
        </a:solidFill>
        <a:effectLst/>
      </p:bgPr>
    </p:bg>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914400" y="1828800"/>
            <a:ext cx="10058400" cy="1371600"/>
          </a:xfrm>
          <a:prstGeom prst="rect">
            <a:avLst/>
          </a:prstGeom>
          <a:noFill/>
        </p:spPr>
        <p:txBody>
          <a:bodyPr wrap="none">
            <a:spAutoFit/>
          </a:bodyPr>
          <a:lstStyle/>
          <a:p>
            <a:pPr algn="ctr">
              <a:defRPr sz="1800">
                <a:solidFill>
                  <a:srgbClr val="B7950B"/>
                </a:solidFill>
              </a:defRPr>
            </a:pPr>
            <a:r>
              <a:t>SECTION 14</a:t>
            </a:r>
          </a:p>
        </p:txBody>
      </p:sp>
      <p:sp>
        <p:nvSpPr>
          <p:cNvPr id="5" name="TextBox 4"/>
          <p:cNvSpPr txBox="1"/>
          <p:nvPr/>
        </p:nvSpPr>
        <p:spPr>
          <a:xfrm>
            <a:off x="914400" y="2926080"/>
            <a:ext cx="10058400" cy="1828800"/>
          </a:xfrm>
          <a:prstGeom prst="rect">
            <a:avLst/>
          </a:prstGeom>
          <a:noFill/>
        </p:spPr>
        <p:txBody>
          <a:bodyPr wrap="square">
            <a:spAutoFit/>
          </a:bodyPr>
          <a:lstStyle/>
          <a:p>
            <a:pPr algn="ctr">
              <a:defRPr sz="3600" b="1">
                <a:solidFill>
                  <a:srgbClr val="FFFFFF"/>
                </a:solidFill>
              </a:defRPr>
            </a:pPr>
            <a:r>
              <a:t>Complete Session-by-Session Manual</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Session 1: Opening, Rapport, and Agenda Setting</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Structure the opening of MET Session 1 to establish rapport and set agenda</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OBJECTIVES: Establish rapport, deliver feedback, elicit motivation</a:t>
            </a:r>
          </a:p>
          <a:p>
            <a:pPr>
              <a:spcAft>
                <a:spcPts val="600"/>
              </a:spcAft>
              <a:defRPr sz="1600">
                <a:solidFill>
                  <a:srgbClr val="2C3E50"/>
                </a:solidFill>
              </a:defRPr>
            </a:pPr>
            <a:r>
              <a:t>DURATION: 60-90 minutes</a:t>
            </a:r>
          </a:p>
          <a:p>
            <a:pPr>
              <a:spcAft>
                <a:spcPts val="600"/>
              </a:spcAft>
              <a:defRPr sz="1600">
                <a:solidFill>
                  <a:srgbClr val="2C3E50"/>
                </a:solidFill>
              </a:defRPr>
            </a:pPr>
            <a:r>
              <a:t>PREPARATION: Personal Feedback Report ready, quiet room, assessment data reviewed</a:t>
            </a:r>
          </a:p>
          <a:p>
            <a:pPr>
              <a:spcAft>
                <a:spcPts val="600"/>
              </a:spcAft>
              <a:defRPr sz="1600">
                <a:solidFill>
                  <a:srgbClr val="2C3E50"/>
                </a:solidFill>
              </a:defRPr>
            </a:pPr>
          </a:p>
          <a:p>
            <a:pPr>
              <a:spcAft>
                <a:spcPts val="600"/>
              </a:spcAft>
              <a:defRPr sz="1600">
                <a:solidFill>
                  <a:srgbClr val="2C3E50"/>
                </a:solidFill>
              </a:defRPr>
            </a:pPr>
            <a:r>
              <a:t>OPENING (First 10 minutes):</a:t>
            </a:r>
          </a:p>
          <a:p>
            <a:pPr lvl="1">
              <a:spcAft>
                <a:spcPts val="600"/>
              </a:spcAft>
              <a:defRPr sz="1400">
                <a:solidFill>
                  <a:srgbClr val="2C3E50"/>
                </a:solidFill>
              </a:defRPr>
            </a:pPr>
            <a:r>
              <a:t>  • Warm welcome; introduce yourself and your role</a:t>
            </a:r>
          </a:p>
          <a:p>
            <a:pPr lvl="1">
              <a:spcAft>
                <a:spcPts val="600"/>
              </a:spcAft>
              <a:defRPr sz="1400">
                <a:solidFill>
                  <a:srgbClr val="2C3E50"/>
                </a:solidFill>
              </a:defRPr>
            </a:pPr>
            <a:r>
              <a:t>  • Explain session structure: 'We'll spend time looking at your assessment results'</a:t>
            </a:r>
          </a:p>
          <a:p>
            <a:pPr lvl="1">
              <a:spcAft>
                <a:spcPts val="600"/>
              </a:spcAft>
              <a:defRPr sz="1400">
                <a:solidFill>
                  <a:srgbClr val="2C3E50"/>
                </a:solidFill>
              </a:defRPr>
            </a:pPr>
            <a:r>
              <a:t>  • Set collaborative tone: 'I'm interested in hearing YOUR thoughts about this'</a:t>
            </a:r>
          </a:p>
          <a:p>
            <a:pPr lvl="1">
              <a:spcAft>
                <a:spcPts val="600"/>
              </a:spcAft>
              <a:defRPr sz="1400">
                <a:solidFill>
                  <a:srgbClr val="2C3E50"/>
                </a:solidFill>
              </a:defRPr>
            </a:pPr>
            <a:r>
              <a:t>  • Address any concerns about the process</a:t>
            </a:r>
          </a:p>
          <a:p>
            <a:pPr>
              <a:spcAft>
                <a:spcPts val="600"/>
              </a:spcAft>
              <a:defRPr sz="1600">
                <a:solidFill>
                  <a:srgbClr val="2C3E50"/>
                </a:solidFill>
              </a:defRPr>
            </a:pPr>
          </a:p>
          <a:p>
            <a:pPr>
              <a:spcAft>
                <a:spcPts val="600"/>
              </a:spcAft>
              <a:defRPr sz="1600">
                <a:solidFill>
                  <a:srgbClr val="2C3E50"/>
                </a:solidFill>
              </a:defRPr>
            </a:pPr>
            <a:r>
              <a:t>RAPPORT BUILDING:</a:t>
            </a:r>
          </a:p>
          <a:p>
            <a:pPr lvl="1">
              <a:spcAft>
                <a:spcPts val="600"/>
              </a:spcAft>
              <a:defRPr sz="1400">
                <a:solidFill>
                  <a:srgbClr val="2C3E50"/>
                </a:solidFill>
              </a:defRPr>
            </a:pPr>
            <a:r>
              <a:t>  • Use open questions about general life (not just drinking)</a:t>
            </a:r>
          </a:p>
          <a:p>
            <a:pPr lvl="1">
              <a:spcAft>
                <a:spcPts val="600"/>
              </a:spcAft>
              <a:defRPr sz="1400">
                <a:solidFill>
                  <a:srgbClr val="2C3E50"/>
                </a:solidFill>
              </a:defRPr>
            </a:pPr>
            <a:r>
              <a:t>  • Express genuine interest in the person</a:t>
            </a:r>
          </a:p>
          <a:p>
            <a:pPr lvl="1">
              <a:spcAft>
                <a:spcPts val="600"/>
              </a:spcAft>
              <a:defRPr sz="1400">
                <a:solidFill>
                  <a:srgbClr val="2C3E50"/>
                </a:solidFill>
              </a:defRPr>
            </a:pPr>
            <a:r>
              <a:t>  • Affirm their decision to attend</a:t>
            </a:r>
          </a:p>
          <a:p>
            <a:pPr lvl="1">
              <a:spcAft>
                <a:spcPts val="600"/>
              </a:spcAft>
              <a:defRPr sz="1400">
                <a:solidFill>
                  <a:srgbClr val="2C3E50"/>
                </a:solidFill>
              </a:defRPr>
            </a:pPr>
            <a:r>
              <a:t>  • 'It took real effort to come here today'</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Session 1's opening must establish safety, collaboration, and genuine interest before feedback delivery.</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Session 1 protocol. | Project MATCH Research Group. (1997). JOSA, 58, 7-29.</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Session 1: Delivering the Personal Feedback Report</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Deliver personalized assessment feedback in a motivationally enhancing style</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THE PERSONAL FEEDBACK REPORT (PFR) - Core of Session 1:</a:t>
            </a:r>
          </a:p>
          <a:p>
            <a:pPr lvl="1">
              <a:spcAft>
                <a:spcPts val="600"/>
              </a:spcAft>
              <a:defRPr sz="1400">
                <a:solidFill>
                  <a:srgbClr val="2C3E50"/>
                </a:solidFill>
              </a:defRPr>
            </a:pPr>
            <a:r>
              <a:t>  Give client their written PFR copy; retain yours for reference</a:t>
            </a:r>
          </a:p>
          <a:p>
            <a:pPr lvl="1">
              <a:spcAft>
                <a:spcPts val="600"/>
              </a:spcAft>
              <a:defRPr sz="1400">
                <a:solidFill>
                  <a:srgbClr val="2C3E50"/>
                </a:solidFill>
              </a:defRPr>
            </a:pPr>
            <a:r>
              <a:t>  Go through step by step, explaining each item</a:t>
            </a:r>
          </a:p>
          <a:p>
            <a:pPr lvl="1">
              <a:spcAft>
                <a:spcPts val="600"/>
              </a:spcAft>
              <a:defRPr sz="1400">
                <a:solidFill>
                  <a:srgbClr val="2C3E50"/>
                </a:solidFill>
              </a:defRPr>
            </a:pPr>
            <a:r>
              <a:t>  Compare client's scores with normative data</a:t>
            </a:r>
          </a:p>
          <a:p>
            <a:pPr>
              <a:spcAft>
                <a:spcPts val="600"/>
              </a:spcAft>
              <a:defRPr sz="1600">
                <a:solidFill>
                  <a:srgbClr val="2C3E50"/>
                </a:solidFill>
              </a:defRPr>
            </a:pPr>
          </a:p>
          <a:p>
            <a:pPr>
              <a:spcAft>
                <a:spcPts val="600"/>
              </a:spcAft>
              <a:defRPr sz="1600">
                <a:solidFill>
                  <a:srgbClr val="2C3E50"/>
                </a:solidFill>
              </a:defRPr>
            </a:pPr>
            <a:r>
              <a:t>PFR CONTENT (from MET Manual):</a:t>
            </a:r>
          </a:p>
          <a:p>
            <a:pPr lvl="1">
              <a:spcAft>
                <a:spcPts val="600"/>
              </a:spcAft>
              <a:defRPr sz="1400">
                <a:solidFill>
                  <a:srgbClr val="2C3E50"/>
                </a:solidFill>
              </a:defRPr>
            </a:pPr>
            <a:r>
              <a:t>  • Drinking patterns (quantity/frequency vs. population norms)</a:t>
            </a:r>
          </a:p>
          <a:p>
            <a:pPr lvl="1">
              <a:spcAft>
                <a:spcPts val="600"/>
              </a:spcAft>
              <a:defRPr sz="1400">
                <a:solidFill>
                  <a:srgbClr val="2C3E50"/>
                </a:solidFill>
              </a:defRPr>
            </a:pPr>
            <a:r>
              <a:t>  • Peak BAC levels (estimated)</a:t>
            </a:r>
          </a:p>
          <a:p>
            <a:pPr lvl="1">
              <a:spcAft>
                <a:spcPts val="600"/>
              </a:spcAft>
              <a:defRPr sz="1400">
                <a:solidFill>
                  <a:srgbClr val="2C3E50"/>
                </a:solidFill>
              </a:defRPr>
            </a:pPr>
            <a:r>
              <a:t>  • Alcohol-related negative consequences</a:t>
            </a:r>
          </a:p>
          <a:p>
            <a:pPr lvl="1">
              <a:spcAft>
                <a:spcPts val="600"/>
              </a:spcAft>
              <a:defRPr sz="1400">
                <a:solidFill>
                  <a:srgbClr val="2C3E50"/>
                </a:solidFill>
              </a:defRPr>
            </a:pPr>
            <a:r>
              <a:t>  • Risk factors for alcohol problems</a:t>
            </a:r>
          </a:p>
          <a:p>
            <a:pPr lvl="1">
              <a:spcAft>
                <a:spcPts val="600"/>
              </a:spcAft>
              <a:defRPr sz="1400">
                <a:solidFill>
                  <a:srgbClr val="2C3E50"/>
                </a:solidFill>
              </a:defRPr>
            </a:pPr>
            <a:r>
              <a:t>  • Neuropsychological test results (if applicable)</a:t>
            </a:r>
          </a:p>
          <a:p>
            <a:pPr lvl="1">
              <a:spcAft>
                <a:spcPts val="600"/>
              </a:spcAft>
              <a:defRPr sz="1400">
                <a:solidFill>
                  <a:srgbClr val="2C3E50"/>
                </a:solidFill>
              </a:defRPr>
            </a:pPr>
            <a:r>
              <a:t>  • Physiological indicators (liver function, health markers)</a:t>
            </a:r>
          </a:p>
          <a:p>
            <a:pPr lvl="1">
              <a:spcAft>
                <a:spcPts val="600"/>
              </a:spcAft>
              <a:defRPr sz="1400">
                <a:solidFill>
                  <a:srgbClr val="2C3E50"/>
                </a:solidFill>
              </a:defRPr>
            </a:pPr>
            <a:r>
              <a:t>  • Comparison with general population percentiles</a:t>
            </a:r>
          </a:p>
          <a:p>
            <a:pPr>
              <a:spcAft>
                <a:spcPts val="600"/>
              </a:spcAft>
              <a:defRPr sz="1600">
                <a:solidFill>
                  <a:srgbClr val="2C3E50"/>
                </a:solidFill>
              </a:defRPr>
            </a:pPr>
          </a:p>
          <a:p>
            <a:pPr>
              <a:spcAft>
                <a:spcPts val="600"/>
              </a:spcAft>
              <a:defRPr sz="1600">
                <a:solidFill>
                  <a:srgbClr val="2C3E50"/>
                </a:solidFill>
              </a:defRPr>
            </a:pPr>
            <a:r>
              <a:t>DELIVERY STYLE: Neutral, non-judgmental, curious</a:t>
            </a:r>
          </a:p>
          <a:p>
            <a:pPr lvl="1">
              <a:spcAft>
                <a:spcPts val="600"/>
              </a:spcAft>
              <a:defRPr sz="1400">
                <a:solidFill>
                  <a:srgbClr val="2C3E50"/>
                </a:solidFill>
              </a:defRPr>
            </a:pPr>
            <a:r>
              <a:t>  'Here are your results. What do you make of this?'</a:t>
            </a:r>
          </a:p>
          <a:p>
            <a:pPr lvl="1">
              <a:spcAft>
                <a:spcPts val="600"/>
              </a:spcAft>
              <a:defRPr sz="1400">
                <a:solidFill>
                  <a:srgbClr val="2C3E50"/>
                </a:solidFill>
              </a:defRPr>
            </a:pPr>
            <a:r>
              <a:t>  NOT: 'These results show you clearly have a serious problem'</a:t>
            </a:r>
          </a:p>
          <a:p>
            <a:pPr>
              <a:spcAft>
                <a:spcPts val="600"/>
              </a:spcAft>
              <a:defRPr sz="1600">
                <a:solidFill>
                  <a:srgbClr val="2C3E50"/>
                </a:solidFill>
              </a:defRPr>
            </a:pPr>
            <a:r>
              <a:t>MONITOR client reactions continuously; use reflective listening</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Deliver feedback neutrally, compare with norms, monitor reactions, and reflect - let the data create discrepancy.</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Appendix A (complete PFR protocol). | Miller, W.R., &amp; Sovereign, R.G. (1989). In Loberg, T., et al. (Eds.), Addictive Behaviors. Swets &amp; Zeitlinger.</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Session 1: Clinical Dialogue During Feedback</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Respond to various client reactions during feedback delivery using reflective listening</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DIALOGUE EXAMPLES FROM MET MANUAL:</a:t>
            </a:r>
          </a:p>
          <a:p>
            <a:pPr>
              <a:spcAft>
                <a:spcPts val="600"/>
              </a:spcAft>
              <a:defRPr sz="1600">
                <a:solidFill>
                  <a:srgbClr val="2C3E50"/>
                </a:solidFill>
              </a:defRPr>
            </a:pPr>
          </a:p>
          <a:p>
            <a:pPr>
              <a:spcAft>
                <a:spcPts val="600"/>
              </a:spcAft>
              <a:defRPr sz="1600">
                <a:solidFill>
                  <a:srgbClr val="2C3E50"/>
                </a:solidFill>
              </a:defRPr>
            </a:pPr>
            <a:r>
              <a:t>Client: 'Wow! I'm drinking a lot more than I realized'</a:t>
            </a:r>
          </a:p>
          <a:p>
            <a:pPr>
              <a:spcAft>
                <a:spcPts val="600"/>
              </a:spcAft>
              <a:defRPr sz="1600">
                <a:solidFill>
                  <a:srgbClr val="2C3E50"/>
                </a:solidFill>
              </a:defRPr>
            </a:pPr>
            <a:r>
              <a:t>Therapist: 'It looks awfully high to you' [reflects surprise]</a:t>
            </a:r>
          </a:p>
          <a:p>
            <a:pPr>
              <a:spcAft>
                <a:spcPts val="600"/>
              </a:spcAft>
              <a:defRPr sz="1600">
                <a:solidFill>
                  <a:srgbClr val="2C3E50"/>
                </a:solidFill>
              </a:defRPr>
            </a:pPr>
          </a:p>
          <a:p>
            <a:pPr>
              <a:spcAft>
                <a:spcPts val="600"/>
              </a:spcAft>
              <a:defRPr sz="1600">
                <a:solidFill>
                  <a:srgbClr val="2C3E50"/>
                </a:solidFill>
              </a:defRPr>
            </a:pPr>
            <a:r>
              <a:t>Client: 'I can't believe it. I don't see how my drinking can be affecting me that much'</a:t>
            </a:r>
          </a:p>
          <a:p>
            <a:pPr>
              <a:spcAft>
                <a:spcPts val="600"/>
              </a:spcAft>
              <a:defRPr sz="1600">
                <a:solidFill>
                  <a:srgbClr val="2C3E50"/>
                </a:solidFill>
              </a:defRPr>
            </a:pPr>
            <a:r>
              <a:t>Therapist: 'This isn't what you expected to hear' [reflects disbelief without arguing]</a:t>
            </a:r>
          </a:p>
          <a:p>
            <a:pPr>
              <a:spcAft>
                <a:spcPts val="600"/>
              </a:spcAft>
              <a:defRPr sz="1600">
                <a:solidFill>
                  <a:srgbClr val="2C3E50"/>
                </a:solidFill>
              </a:defRPr>
            </a:pPr>
          </a:p>
          <a:p>
            <a:pPr>
              <a:spcAft>
                <a:spcPts val="600"/>
              </a:spcAft>
              <a:defRPr sz="1600">
                <a:solidFill>
                  <a:srgbClr val="2C3E50"/>
                </a:solidFill>
              </a:defRPr>
            </a:pPr>
            <a:r>
              <a:t>Client: 'No, I don't really drink that much more than other people'</a:t>
            </a:r>
          </a:p>
          <a:p>
            <a:pPr>
              <a:spcAft>
                <a:spcPts val="600"/>
              </a:spcAft>
              <a:defRPr sz="1600">
                <a:solidFill>
                  <a:srgbClr val="2C3E50"/>
                </a:solidFill>
              </a:defRPr>
            </a:pPr>
            <a:r>
              <a:t>Therapist: 'So this is confusing to you. It seems like you drink about the same</a:t>
            </a:r>
          </a:p>
          <a:p>
            <a:pPr lvl="1">
              <a:spcAft>
                <a:spcPts val="600"/>
              </a:spcAft>
              <a:defRPr sz="1400">
                <a:solidFill>
                  <a:srgbClr val="2C3E50"/>
                </a:solidFill>
              </a:defRPr>
            </a:pPr>
            <a:r>
              <a:t>  as your friends, yet here are the results' [validates AND maintains data]</a:t>
            </a:r>
          </a:p>
          <a:p>
            <a:pPr>
              <a:spcAft>
                <a:spcPts val="600"/>
              </a:spcAft>
              <a:defRPr sz="1600">
                <a:solidFill>
                  <a:srgbClr val="2C3E50"/>
                </a:solidFill>
              </a:defRPr>
            </a:pPr>
          </a:p>
          <a:p>
            <a:pPr>
              <a:spcAft>
                <a:spcPts val="600"/>
              </a:spcAft>
              <a:defRPr sz="1600">
                <a:solidFill>
                  <a:srgbClr val="2C3E50"/>
                </a:solidFill>
              </a:defRPr>
            </a:pPr>
            <a:r>
              <a:t>Client: 'This gives me a lot to think about'</a:t>
            </a:r>
          </a:p>
          <a:p>
            <a:pPr>
              <a:spcAft>
                <a:spcPts val="600"/>
              </a:spcAft>
              <a:defRPr sz="1600">
                <a:solidFill>
                  <a:srgbClr val="2C3E50"/>
                </a:solidFill>
              </a:defRPr>
            </a:pPr>
            <a:r>
              <a:t>Therapist: 'A lot of reasons to think about making a change' [strengthens change talk]</a:t>
            </a:r>
          </a:p>
          <a:p>
            <a:pPr>
              <a:spcAft>
                <a:spcPts val="600"/>
              </a:spcAft>
              <a:defRPr sz="1600">
                <a:solidFill>
                  <a:srgbClr val="2C3E50"/>
                </a:solidFill>
              </a:defRPr>
            </a:pPr>
          </a:p>
          <a:p>
            <a:pPr>
              <a:spcAft>
                <a:spcPts val="600"/>
              </a:spcAft>
              <a:defRPr sz="1600">
                <a:solidFill>
                  <a:srgbClr val="2C3E50"/>
                </a:solidFill>
              </a:defRPr>
            </a:pPr>
            <a:r>
              <a:t>Client: 'More bad news!'</a:t>
            </a:r>
          </a:p>
          <a:p>
            <a:pPr>
              <a:spcAft>
                <a:spcPts val="600"/>
              </a:spcAft>
              <a:defRPr sz="1600">
                <a:solidFill>
                  <a:srgbClr val="2C3E50"/>
                </a:solidFill>
              </a:defRPr>
            </a:pPr>
            <a:r>
              <a:t>Therapist: 'This is pretty difficult for you to hear' [empathic reflection]</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Respond to every client reaction with reflection - surprise, denial, concern all get empathic reflection.</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pp. 19-20 (direct quotes from clinical examples).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Session 1: Involving a Significant Other</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Skillfully involve a significant other in MET feedback sessions</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MET OPTIONALLY involves a spouse/partner/family member in Session 1</a:t>
            </a:r>
          </a:p>
          <a:p>
            <a:pPr>
              <a:spcAft>
                <a:spcPts val="600"/>
              </a:spcAft>
              <a:defRPr sz="1600">
                <a:solidFill>
                  <a:srgbClr val="2C3E50"/>
                </a:solidFill>
              </a:defRPr>
            </a:pPr>
            <a:r>
              <a:t>PURPOSE: Provides additional perspective; increases accountability; builds support</a:t>
            </a:r>
          </a:p>
          <a:p>
            <a:pPr>
              <a:spcAft>
                <a:spcPts val="600"/>
              </a:spcAft>
              <a:defRPr sz="1600">
                <a:solidFill>
                  <a:srgbClr val="2C3E50"/>
                </a:solidFill>
              </a:defRPr>
            </a:pPr>
          </a:p>
          <a:p>
            <a:pPr>
              <a:spcAft>
                <a:spcPts val="600"/>
              </a:spcAft>
              <a:defRPr sz="1600">
                <a:solidFill>
                  <a:srgbClr val="2C3E50"/>
                </a:solidFill>
              </a:defRPr>
            </a:pPr>
            <a:r>
              <a:t>SIGNIFICANT OTHER (SO) GUIDELINES:</a:t>
            </a:r>
          </a:p>
          <a:p>
            <a:pPr lvl="1">
              <a:spcAft>
                <a:spcPts val="600"/>
              </a:spcAft>
              <a:defRPr sz="1400">
                <a:solidFill>
                  <a:srgbClr val="2C3E50"/>
                </a:solidFill>
              </a:defRPr>
            </a:pPr>
            <a:r>
              <a:t>  • Invite the SO to share their observations</a:t>
            </a:r>
          </a:p>
          <a:p>
            <a:pPr lvl="1">
              <a:spcAft>
                <a:spcPts val="600"/>
              </a:spcAft>
              <a:defRPr sz="1400">
                <a:solidFill>
                  <a:srgbClr val="2C3E50"/>
                </a:solidFill>
              </a:defRPr>
            </a:pPr>
            <a:r>
              <a:t>  • Use reflective listening with the SO too</a:t>
            </a:r>
          </a:p>
          <a:p>
            <a:pPr lvl="1">
              <a:spcAft>
                <a:spcPts val="600"/>
              </a:spcAft>
              <a:defRPr sz="1400">
                <a:solidFill>
                  <a:srgbClr val="2C3E50"/>
                </a:solidFill>
              </a:defRPr>
            </a:pPr>
            <a:r>
              <a:t>  • Reframe SO statements to highlight caring/concern</a:t>
            </a:r>
          </a:p>
          <a:p>
            <a:pPr>
              <a:spcAft>
                <a:spcPts val="600"/>
              </a:spcAft>
              <a:defRPr sz="1600">
                <a:solidFill>
                  <a:srgbClr val="2C3E50"/>
                </a:solidFill>
              </a:defRPr>
            </a:pPr>
          </a:p>
          <a:p>
            <a:pPr>
              <a:spcAft>
                <a:spcPts val="600"/>
              </a:spcAft>
              <a:defRPr sz="1600">
                <a:solidFill>
                  <a:srgbClr val="2C3E50"/>
                </a:solidFill>
              </a:defRPr>
            </a:pPr>
            <a:r>
              <a:t>DIALOGUE EXAMPLES FROM MANUAL:</a:t>
            </a:r>
          </a:p>
          <a:p>
            <a:pPr lvl="1">
              <a:spcAft>
                <a:spcPts val="600"/>
              </a:spcAft>
              <a:defRPr sz="1400">
                <a:solidFill>
                  <a:srgbClr val="2C3E50"/>
                </a:solidFill>
              </a:defRPr>
            </a:pPr>
            <a:r>
              <a:t>  Wife: 'I always thought he was drinking too much'</a:t>
            </a:r>
          </a:p>
          <a:p>
            <a:pPr lvl="1">
              <a:spcAft>
                <a:spcPts val="600"/>
              </a:spcAft>
              <a:defRPr sz="1400">
                <a:solidFill>
                  <a:srgbClr val="2C3E50"/>
                </a:solidFill>
              </a:defRPr>
            </a:pPr>
            <a:r>
              <a:t>  T: 'You've been worried about him for quite a while' [reflects caring]</a:t>
            </a:r>
          </a:p>
          <a:p>
            <a:pPr>
              <a:spcAft>
                <a:spcPts val="600"/>
              </a:spcAft>
              <a:defRPr sz="1600">
                <a:solidFill>
                  <a:srgbClr val="2C3E50"/>
                </a:solidFill>
              </a:defRPr>
            </a:pPr>
          </a:p>
          <a:p>
            <a:pPr lvl="1">
              <a:spcAft>
                <a:spcPts val="600"/>
              </a:spcAft>
              <a:defRPr sz="1400">
                <a:solidFill>
                  <a:srgbClr val="2C3E50"/>
                </a:solidFill>
              </a:defRPr>
            </a:pPr>
            <a:r>
              <a:t>  Husband: (weeping) 'I've told you to quit drinking!'</a:t>
            </a:r>
          </a:p>
          <a:p>
            <a:pPr lvl="1">
              <a:spcAft>
                <a:spcPts val="600"/>
              </a:spcAft>
              <a:defRPr sz="1400">
                <a:solidFill>
                  <a:srgbClr val="2C3E50"/>
                </a:solidFill>
              </a:defRPr>
            </a:pPr>
            <a:r>
              <a:t>  T: 'You really care about her a lot. It's hard to hear these results' [reframes]</a:t>
            </a:r>
          </a:p>
          <a:p>
            <a:pPr>
              <a:spcAft>
                <a:spcPts val="600"/>
              </a:spcAft>
              <a:defRPr sz="1600">
                <a:solidFill>
                  <a:srgbClr val="2C3E50"/>
                </a:solidFill>
              </a:defRPr>
            </a:pPr>
          </a:p>
          <a:p>
            <a:pPr lvl="1">
              <a:spcAft>
                <a:spcPts val="600"/>
              </a:spcAft>
              <a:defRPr sz="1400">
                <a:solidFill>
                  <a:srgbClr val="2C3E50"/>
                </a:solidFill>
              </a:defRPr>
            </a:pPr>
            <a:r>
              <a:t>  Friend: 'I never really thought he drank that much!'</a:t>
            </a:r>
          </a:p>
          <a:p>
            <a:pPr lvl="1">
              <a:spcAft>
                <a:spcPts val="600"/>
              </a:spcAft>
              <a:defRPr sz="1400">
                <a:solidFill>
                  <a:srgbClr val="2C3E50"/>
                </a:solidFill>
              </a:defRPr>
            </a:pPr>
            <a:r>
              <a:t>  T: 'This is taking you by surprise. (To client:) Does this surprise you too?'</a:t>
            </a:r>
          </a:p>
          <a:p>
            <a:pPr>
              <a:spcAft>
                <a:spcPts val="600"/>
              </a:spcAft>
              <a:defRPr sz="1600">
                <a:solidFill>
                  <a:srgbClr val="2C3E50"/>
                </a:solidFill>
              </a:defRPr>
            </a:pPr>
          </a:p>
          <a:p>
            <a:pPr>
              <a:spcAft>
                <a:spcPts val="600"/>
              </a:spcAft>
              <a:defRPr sz="1600">
                <a:solidFill>
                  <a:srgbClr val="2C3E50"/>
                </a:solidFill>
              </a:defRPr>
            </a:pPr>
            <a:r>
              <a:t>CAUTION: Maintain balance; don't let SO become confrontational</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Involve significant others supportively; reframe their concerns as caring; maintain the client as central focus.</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pp. 19-20, 35-42 (Involving Significant Others section).</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Session 2: Exploring Ambivalence and Strengthening Commitment</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Structure and conduct MET Session 2 with appropriate phase transitions</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OBJECTIVES: Deepen exploration, strengthen commitment, develop change plan</a:t>
            </a:r>
          </a:p>
          <a:p>
            <a:pPr>
              <a:spcAft>
                <a:spcPts val="600"/>
              </a:spcAft>
              <a:defRPr sz="1600">
                <a:solidFill>
                  <a:srgbClr val="2C3E50"/>
                </a:solidFill>
              </a:defRPr>
            </a:pPr>
            <a:r>
              <a:t>TIMING: 1 week after Session 1</a:t>
            </a:r>
          </a:p>
          <a:p>
            <a:pPr>
              <a:spcAft>
                <a:spcPts val="600"/>
              </a:spcAft>
              <a:defRPr sz="1600">
                <a:solidFill>
                  <a:srgbClr val="2C3E50"/>
                </a:solidFill>
              </a:defRPr>
            </a:pPr>
            <a:r>
              <a:t>DURATION: 60 minutes</a:t>
            </a:r>
          </a:p>
          <a:p>
            <a:pPr>
              <a:spcAft>
                <a:spcPts val="600"/>
              </a:spcAft>
              <a:defRPr sz="1600">
                <a:solidFill>
                  <a:srgbClr val="2C3E50"/>
                </a:solidFill>
              </a:defRPr>
            </a:pPr>
          </a:p>
          <a:p>
            <a:pPr>
              <a:spcAft>
                <a:spcPts val="600"/>
              </a:spcAft>
              <a:defRPr sz="1600">
                <a:solidFill>
                  <a:srgbClr val="2C3E50"/>
                </a:solidFill>
              </a:defRPr>
            </a:pPr>
            <a:r>
              <a:t>SESSION 2 STRUCTURE:</a:t>
            </a:r>
          </a:p>
          <a:p>
            <a:pPr lvl="1">
              <a:spcAft>
                <a:spcPts val="600"/>
              </a:spcAft>
              <a:defRPr sz="1400">
                <a:solidFill>
                  <a:srgbClr val="2C3E50"/>
                </a:solidFill>
              </a:defRPr>
            </a:pPr>
            <a:r>
              <a:t>  1. OPENING (10 min): Review since last session, what client has been thinking</a:t>
            </a:r>
          </a:p>
          <a:p>
            <a:pPr lvl="1">
              <a:spcAft>
                <a:spcPts val="600"/>
              </a:spcAft>
              <a:defRPr sz="1400">
                <a:solidFill>
                  <a:srgbClr val="2C3E50"/>
                </a:solidFill>
              </a:defRPr>
            </a:pPr>
            <a:r>
              <a:t>  2. EXPLORATION (20 min): Continue exploring ambivalence</a:t>
            </a:r>
          </a:p>
          <a:p>
            <a:pPr lvl="1">
              <a:spcAft>
                <a:spcPts val="600"/>
              </a:spcAft>
              <a:defRPr sz="1400">
                <a:solidFill>
                  <a:srgbClr val="2C3E50"/>
                </a:solidFill>
              </a:defRPr>
            </a:pPr>
            <a:r>
              <a:t>     • Decisional balance: Pros/cons of drinking AND changing</a:t>
            </a:r>
          </a:p>
          <a:p>
            <a:pPr lvl="1">
              <a:spcAft>
                <a:spcPts val="600"/>
              </a:spcAft>
              <a:defRPr sz="1400">
                <a:solidFill>
                  <a:srgbClr val="2C3E50"/>
                </a:solidFill>
              </a:defRPr>
            </a:pPr>
            <a:r>
              <a:t>     • Values clarification: What matters most?</a:t>
            </a:r>
          </a:p>
          <a:p>
            <a:pPr lvl="1">
              <a:spcAft>
                <a:spcPts val="600"/>
              </a:spcAft>
              <a:defRPr sz="1400">
                <a:solidFill>
                  <a:srgbClr val="2C3E50"/>
                </a:solidFill>
              </a:defRPr>
            </a:pPr>
            <a:r>
              <a:t>     • Discrepancy development: Values vs. current behavior</a:t>
            </a:r>
          </a:p>
          <a:p>
            <a:pPr lvl="1">
              <a:spcAft>
                <a:spcPts val="600"/>
              </a:spcAft>
              <a:defRPr sz="1400">
                <a:solidFill>
                  <a:srgbClr val="2C3E50"/>
                </a:solidFill>
              </a:defRPr>
            </a:pPr>
            <a:r>
              <a:t>  3. COMMITMENT (20 min): If ready, consolidate decision</a:t>
            </a:r>
          </a:p>
          <a:p>
            <a:pPr lvl="1">
              <a:spcAft>
                <a:spcPts val="600"/>
              </a:spcAft>
              <a:defRPr sz="1400">
                <a:solidFill>
                  <a:srgbClr val="2C3E50"/>
                </a:solidFill>
              </a:defRPr>
            </a:pPr>
            <a:r>
              <a:t>     • Key question: 'What do you think you'll do?'</a:t>
            </a:r>
          </a:p>
          <a:p>
            <a:pPr lvl="1">
              <a:spcAft>
                <a:spcPts val="600"/>
              </a:spcAft>
              <a:defRPr sz="1400">
                <a:solidFill>
                  <a:srgbClr val="2C3E50"/>
                </a:solidFill>
              </a:defRPr>
            </a:pPr>
            <a:r>
              <a:t>     • Change plan worksheet</a:t>
            </a:r>
          </a:p>
          <a:p>
            <a:pPr lvl="1">
              <a:spcAft>
                <a:spcPts val="600"/>
              </a:spcAft>
              <a:defRPr sz="1400">
                <a:solidFill>
                  <a:srgbClr val="2C3E50"/>
                </a:solidFill>
              </a:defRPr>
            </a:pPr>
            <a:r>
              <a:t>  4. CLOSING (10 min): Summarize, homework, next appointment</a:t>
            </a:r>
          </a:p>
          <a:p>
            <a:pPr>
              <a:spcAft>
                <a:spcPts val="600"/>
              </a:spcAft>
              <a:defRPr sz="1600">
                <a:solidFill>
                  <a:srgbClr val="2C3E50"/>
                </a:solidFill>
              </a:defRPr>
            </a:pPr>
          </a:p>
          <a:p>
            <a:pPr>
              <a:spcAft>
                <a:spcPts val="600"/>
              </a:spcAft>
              <a:defRPr sz="1600">
                <a:solidFill>
                  <a:srgbClr val="2C3E50"/>
                </a:solidFill>
              </a:defRPr>
            </a:pPr>
            <a:r>
              <a:t>IF CLIENT NOT READY: Continue Phase 1 strategies; don't push</a:t>
            </a:r>
          </a:p>
          <a:p>
            <a:pPr>
              <a:spcAft>
                <a:spcPts val="600"/>
              </a:spcAft>
              <a:defRPr sz="1600">
                <a:solidFill>
                  <a:srgbClr val="2C3E50"/>
                </a:solidFill>
              </a:defRPr>
            </a:pPr>
            <a:r>
              <a:t>HOMEWORK: Self-monitoring, change plan development, values card sort</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Session 2 bridges motivation-building to commitment-strengthening based on client readiness signals.</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Session 2 protocol. | Miller, W.R., &amp; Rollnick, S. (2013). Motivational interviewing (3rd ed.). Guilford Press.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Session 3: Midpoint Review and Reinforcement</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Conduct a midpoint MET session that addresses both progress and setbacks</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OBJECTIVES: Reinforce progress, address setbacks, reassess commitment</a:t>
            </a:r>
          </a:p>
          <a:p>
            <a:pPr>
              <a:spcAft>
                <a:spcPts val="600"/>
              </a:spcAft>
              <a:defRPr sz="1600">
                <a:solidFill>
                  <a:srgbClr val="2C3E50"/>
                </a:solidFill>
              </a:defRPr>
            </a:pPr>
            <a:r>
              <a:t>TIMING: Week 6 (midpoint of 12-week treatment period)</a:t>
            </a:r>
          </a:p>
          <a:p>
            <a:pPr>
              <a:spcAft>
                <a:spcPts val="600"/>
              </a:spcAft>
              <a:defRPr sz="1600">
                <a:solidFill>
                  <a:srgbClr val="2C3E50"/>
                </a:solidFill>
              </a:defRPr>
            </a:pPr>
            <a:r>
              <a:t>DURATION: 60 minutes</a:t>
            </a:r>
          </a:p>
          <a:p>
            <a:pPr>
              <a:spcAft>
                <a:spcPts val="600"/>
              </a:spcAft>
              <a:defRPr sz="1600">
                <a:solidFill>
                  <a:srgbClr val="2C3E50"/>
                </a:solidFill>
              </a:defRPr>
            </a:pPr>
          </a:p>
          <a:p>
            <a:pPr>
              <a:spcAft>
                <a:spcPts val="600"/>
              </a:spcAft>
              <a:defRPr sz="1600">
                <a:solidFill>
                  <a:srgbClr val="2C3E50"/>
                </a:solidFill>
              </a:defRPr>
            </a:pPr>
            <a:r>
              <a:t>SESSION 3 STRUCTURE:</a:t>
            </a:r>
          </a:p>
          <a:p>
            <a:pPr lvl="1">
              <a:spcAft>
                <a:spcPts val="600"/>
              </a:spcAft>
              <a:defRPr sz="1400">
                <a:solidFill>
                  <a:srgbClr val="2C3E50"/>
                </a:solidFill>
              </a:defRPr>
            </a:pPr>
            <a:r>
              <a:t>  1. CHECK-IN (15 min): How has it been going?</a:t>
            </a:r>
          </a:p>
          <a:p>
            <a:pPr lvl="1">
              <a:spcAft>
                <a:spcPts val="600"/>
              </a:spcAft>
              <a:defRPr sz="1400">
                <a:solidFill>
                  <a:srgbClr val="2C3E50"/>
                </a:solidFill>
              </a:defRPr>
            </a:pPr>
            <a:r>
              <a:t>     • Review drinking behavior since Session 2</a:t>
            </a:r>
          </a:p>
          <a:p>
            <a:pPr lvl="1">
              <a:spcAft>
                <a:spcPts val="600"/>
              </a:spcAft>
              <a:defRPr sz="1400">
                <a:solidFill>
                  <a:srgbClr val="2C3E50"/>
                </a:solidFill>
              </a:defRPr>
            </a:pPr>
            <a:r>
              <a:t>     • Celebrate any positive changes (affirm!)</a:t>
            </a:r>
          </a:p>
          <a:p>
            <a:pPr lvl="1">
              <a:spcAft>
                <a:spcPts val="600"/>
              </a:spcAft>
              <a:defRPr sz="1400">
                <a:solidFill>
                  <a:srgbClr val="2C3E50"/>
                </a:solidFill>
              </a:defRPr>
            </a:pPr>
            <a:r>
              <a:t>  2. PROGRESS REVIEW (20 min):</a:t>
            </a:r>
          </a:p>
          <a:p>
            <a:pPr lvl="1">
              <a:spcAft>
                <a:spcPts val="600"/>
              </a:spcAft>
              <a:defRPr sz="1400">
                <a:solidFill>
                  <a:srgbClr val="2C3E50"/>
                </a:solidFill>
              </a:defRPr>
            </a:pPr>
            <a:r>
              <a:t>     • If making progress: Reinforce, affirm, explore what's working</a:t>
            </a:r>
          </a:p>
          <a:p>
            <a:pPr lvl="1">
              <a:spcAft>
                <a:spcPts val="600"/>
              </a:spcAft>
              <a:defRPr sz="1400">
                <a:solidFill>
                  <a:srgbClr val="2C3E50"/>
                </a:solidFill>
              </a:defRPr>
            </a:pPr>
            <a:r>
              <a:t>     • If struggling: Express empathy, explore barriers, problem-solve</a:t>
            </a:r>
          </a:p>
          <a:p>
            <a:pPr lvl="1">
              <a:spcAft>
                <a:spcPts val="600"/>
              </a:spcAft>
              <a:defRPr sz="1400">
                <a:solidFill>
                  <a:srgbClr val="2C3E50"/>
                </a:solidFill>
              </a:defRPr>
            </a:pPr>
            <a:r>
              <a:t>     • If relapsed: Normalize, explore triggers, rebuild motivation</a:t>
            </a:r>
          </a:p>
          <a:p>
            <a:pPr lvl="1">
              <a:spcAft>
                <a:spcPts val="600"/>
              </a:spcAft>
              <a:defRPr sz="1400">
                <a:solidFill>
                  <a:srgbClr val="2C3E50"/>
                </a:solidFill>
              </a:defRPr>
            </a:pPr>
            <a:r>
              <a:t>  3. REASSESSMENT (15 min):</a:t>
            </a:r>
          </a:p>
          <a:p>
            <a:pPr lvl="1">
              <a:spcAft>
                <a:spcPts val="600"/>
              </a:spcAft>
              <a:defRPr sz="1400">
                <a:solidFill>
                  <a:srgbClr val="2C3E50"/>
                </a:solidFill>
              </a:defRPr>
            </a:pPr>
            <a:r>
              <a:t>     • Re-evaluate change plan; modify if needed</a:t>
            </a:r>
          </a:p>
          <a:p>
            <a:pPr lvl="1">
              <a:spcAft>
                <a:spcPts val="600"/>
              </a:spcAft>
              <a:defRPr sz="1400">
                <a:solidFill>
                  <a:srgbClr val="2C3E50"/>
                </a:solidFill>
              </a:defRPr>
            </a:pPr>
            <a:r>
              <a:t>     • Address new barriers or challenges</a:t>
            </a:r>
          </a:p>
          <a:p>
            <a:pPr lvl="1">
              <a:spcAft>
                <a:spcPts val="600"/>
              </a:spcAft>
              <a:defRPr sz="1400">
                <a:solidFill>
                  <a:srgbClr val="2C3E50"/>
                </a:solidFill>
              </a:defRPr>
            </a:pPr>
            <a:r>
              <a:t>  4. FORWARD PLANNING (10 min):</a:t>
            </a:r>
          </a:p>
          <a:p>
            <a:pPr lvl="1">
              <a:spcAft>
                <a:spcPts val="600"/>
              </a:spcAft>
              <a:defRPr sz="1400">
                <a:solidFill>
                  <a:srgbClr val="2C3E50"/>
                </a:solidFill>
              </a:defRPr>
            </a:pPr>
            <a:r>
              <a:t>     • Set goals for next 6 weeks</a:t>
            </a:r>
          </a:p>
          <a:p>
            <a:pPr lvl="1">
              <a:spcAft>
                <a:spcPts val="600"/>
              </a:spcAft>
              <a:defRPr sz="1400">
                <a:solidFill>
                  <a:srgbClr val="2C3E50"/>
                </a:solidFill>
              </a:defRPr>
            </a:pPr>
            <a:r>
              <a:t>     • Plan for high-risk situations</a:t>
            </a:r>
          </a:p>
          <a:p>
            <a:pPr>
              <a:spcAft>
                <a:spcPts val="600"/>
              </a:spcAft>
              <a:defRPr sz="1600">
                <a:solidFill>
                  <a:srgbClr val="2C3E50"/>
                </a:solidFill>
              </a:defRPr>
            </a:pPr>
            <a:r>
              <a:t>THERAPIST STANCE: Maintain all MET principles; do not become directive/prescriptive</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Session 3 reinforces progress, normalizes setbacks, and adjusts the change plan based on real-world experience.</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Session 3 protocol. | Marlatt, G.A., &amp; Gordon, J.R. (1985). Relapse Prevention. Guilford Press.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Session 4: Consolidation, Maintenance, and Termination</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Conduct the final MET session with appropriate consolidation and termination strategies</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OBJECTIVES: Consolidate gains, plan for maintenance, prepare for termination</a:t>
            </a:r>
          </a:p>
          <a:p>
            <a:pPr>
              <a:spcAft>
                <a:spcPts val="600"/>
              </a:spcAft>
              <a:defRPr sz="1600">
                <a:solidFill>
                  <a:srgbClr val="2C3E50"/>
                </a:solidFill>
              </a:defRPr>
            </a:pPr>
            <a:r>
              <a:t>TIMING: Week 12 (final session)</a:t>
            </a:r>
          </a:p>
          <a:p>
            <a:pPr>
              <a:spcAft>
                <a:spcPts val="600"/>
              </a:spcAft>
              <a:defRPr sz="1600">
                <a:solidFill>
                  <a:srgbClr val="2C3E50"/>
                </a:solidFill>
              </a:defRPr>
            </a:pPr>
            <a:r>
              <a:t>DURATION: 60 minutes</a:t>
            </a:r>
          </a:p>
          <a:p>
            <a:pPr>
              <a:spcAft>
                <a:spcPts val="600"/>
              </a:spcAft>
              <a:defRPr sz="1600">
                <a:solidFill>
                  <a:srgbClr val="2C3E50"/>
                </a:solidFill>
              </a:defRPr>
            </a:pPr>
          </a:p>
          <a:p>
            <a:pPr>
              <a:spcAft>
                <a:spcPts val="600"/>
              </a:spcAft>
              <a:defRPr sz="1600">
                <a:solidFill>
                  <a:srgbClr val="2C3E50"/>
                </a:solidFill>
              </a:defRPr>
            </a:pPr>
            <a:r>
              <a:t>SESSION 4 STRUCTURE:</a:t>
            </a:r>
          </a:p>
          <a:p>
            <a:pPr lvl="1">
              <a:spcAft>
                <a:spcPts val="600"/>
              </a:spcAft>
              <a:defRPr sz="1400">
                <a:solidFill>
                  <a:srgbClr val="2C3E50"/>
                </a:solidFill>
              </a:defRPr>
            </a:pPr>
            <a:r>
              <a:t>  1. COMPREHENSIVE REVIEW (15 min):</a:t>
            </a:r>
          </a:p>
          <a:p>
            <a:pPr lvl="1">
              <a:spcAft>
                <a:spcPts val="600"/>
              </a:spcAft>
              <a:defRPr sz="1400">
                <a:solidFill>
                  <a:srgbClr val="2C3E50"/>
                </a:solidFill>
              </a:defRPr>
            </a:pPr>
            <a:r>
              <a:t>     • Review entire treatment period</a:t>
            </a:r>
          </a:p>
          <a:p>
            <a:pPr lvl="1">
              <a:spcAft>
                <a:spcPts val="600"/>
              </a:spcAft>
              <a:defRPr sz="1400">
                <a:solidFill>
                  <a:srgbClr val="2C3E50"/>
                </a:solidFill>
              </a:defRPr>
            </a:pPr>
            <a:r>
              <a:t>     • Highlight changes and growth</a:t>
            </a:r>
          </a:p>
          <a:p>
            <a:pPr lvl="1">
              <a:spcAft>
                <a:spcPts val="600"/>
              </a:spcAft>
              <a:defRPr sz="1400">
                <a:solidFill>
                  <a:srgbClr val="2C3E50"/>
                </a:solidFill>
              </a:defRPr>
            </a:pPr>
            <a:r>
              <a:t>     • Affirm commitment and effort</a:t>
            </a:r>
          </a:p>
          <a:p>
            <a:pPr lvl="1">
              <a:spcAft>
                <a:spcPts val="600"/>
              </a:spcAft>
              <a:defRPr sz="1400">
                <a:solidFill>
                  <a:srgbClr val="2C3E50"/>
                </a:solidFill>
              </a:defRPr>
            </a:pPr>
            <a:r>
              <a:t>  2. MAINTENANCE PLANNING (20 min):</a:t>
            </a:r>
          </a:p>
          <a:p>
            <a:pPr lvl="1">
              <a:spcAft>
                <a:spcPts val="600"/>
              </a:spcAft>
              <a:defRPr sz="1400">
                <a:solidFill>
                  <a:srgbClr val="2C3E50"/>
                </a:solidFill>
              </a:defRPr>
            </a:pPr>
            <a:r>
              <a:t>     • Identify ongoing high-risk situations</a:t>
            </a:r>
          </a:p>
          <a:p>
            <a:pPr lvl="1">
              <a:spcAft>
                <a:spcPts val="600"/>
              </a:spcAft>
              <a:defRPr sz="1400">
                <a:solidFill>
                  <a:srgbClr val="2C3E50"/>
                </a:solidFill>
              </a:defRPr>
            </a:pPr>
            <a:r>
              <a:t>     • Develop specific coping strategies</a:t>
            </a:r>
          </a:p>
          <a:p>
            <a:pPr lvl="1">
              <a:spcAft>
                <a:spcPts val="600"/>
              </a:spcAft>
              <a:defRPr sz="1400">
                <a:solidFill>
                  <a:srgbClr val="2C3E50"/>
                </a:solidFill>
              </a:defRPr>
            </a:pPr>
            <a:r>
              <a:t>     • Establish support systems</a:t>
            </a:r>
          </a:p>
          <a:p>
            <a:pPr lvl="1">
              <a:spcAft>
                <a:spcPts val="600"/>
              </a:spcAft>
              <a:defRPr sz="1400">
                <a:solidFill>
                  <a:srgbClr val="2C3E50"/>
                </a:solidFill>
              </a:defRPr>
            </a:pPr>
            <a:r>
              <a:t>     • Plan for holidays, social events, triggers</a:t>
            </a:r>
          </a:p>
          <a:p>
            <a:pPr lvl="1">
              <a:spcAft>
                <a:spcPts val="600"/>
              </a:spcAft>
              <a:defRPr sz="1400">
                <a:solidFill>
                  <a:srgbClr val="2C3E50"/>
                </a:solidFill>
              </a:defRPr>
            </a:pPr>
            <a:r>
              <a:t>  3. RELAPSE PREVENTION (15 min):</a:t>
            </a:r>
          </a:p>
          <a:p>
            <a:pPr lvl="1">
              <a:spcAft>
                <a:spcPts val="600"/>
              </a:spcAft>
              <a:defRPr sz="1400">
                <a:solidFill>
                  <a:srgbClr val="2C3E50"/>
                </a:solidFill>
              </a:defRPr>
            </a:pPr>
            <a:r>
              <a:t>     • Normalize possibility of slips</a:t>
            </a:r>
          </a:p>
          <a:p>
            <a:pPr lvl="1">
              <a:spcAft>
                <a:spcPts val="600"/>
              </a:spcAft>
              <a:defRPr sz="1400">
                <a:solidFill>
                  <a:srgbClr val="2C3E50"/>
                </a:solidFill>
              </a:defRPr>
            </a:pPr>
            <a:r>
              <a:t>     • Distinguish lapse from relapse</a:t>
            </a:r>
          </a:p>
          <a:p>
            <a:pPr lvl="1">
              <a:spcAft>
                <a:spcPts val="600"/>
              </a:spcAft>
              <a:defRPr sz="1400">
                <a:solidFill>
                  <a:srgbClr val="2C3E50"/>
                </a:solidFill>
              </a:defRPr>
            </a:pPr>
            <a:r>
              <a:t>     • Emergency plan: What to do if you slip</a:t>
            </a:r>
          </a:p>
          <a:p>
            <a:pPr lvl="1">
              <a:spcAft>
                <a:spcPts val="600"/>
              </a:spcAft>
              <a:defRPr sz="1400">
                <a:solidFill>
                  <a:srgbClr val="2C3E50"/>
                </a:solidFill>
              </a:defRPr>
            </a:pPr>
            <a:r>
              <a:t>  4. TERMINATION (10 min):</a:t>
            </a:r>
          </a:p>
          <a:p>
            <a:pPr lvl="1">
              <a:spcAft>
                <a:spcPts val="600"/>
              </a:spcAft>
              <a:defRPr sz="1400">
                <a:solidFill>
                  <a:srgbClr val="2C3E50"/>
                </a:solidFill>
              </a:defRPr>
            </a:pPr>
            <a:r>
              <a:t>     • Express confidence in client's future</a:t>
            </a:r>
          </a:p>
          <a:p>
            <a:pPr lvl="1">
              <a:spcAft>
                <a:spcPts val="600"/>
              </a:spcAft>
              <a:defRPr sz="1400">
                <a:solidFill>
                  <a:srgbClr val="2C3E50"/>
                </a:solidFill>
              </a:defRPr>
            </a:pPr>
            <a:r>
              <a:t>     • Leave door open for booster sessions</a:t>
            </a:r>
          </a:p>
          <a:p>
            <a:pPr lvl="1">
              <a:spcAft>
                <a:spcPts val="600"/>
              </a:spcAft>
              <a:defRPr sz="1400">
                <a:solidFill>
                  <a:srgbClr val="2C3E50"/>
                </a:solidFill>
              </a:defRPr>
            </a:pPr>
            <a:r>
              <a:t>     • Final summary of strengths and resources</a:t>
            </a:r>
          </a:p>
          <a:p>
            <a:pPr lvl="1">
              <a:spcAft>
                <a:spcPts val="600"/>
              </a:spcAft>
              <a:defRPr sz="1400">
                <a:solidFill>
                  <a:srgbClr val="2C3E50"/>
                </a:solidFill>
              </a:defRPr>
            </a:pPr>
            <a:r>
              <a:t>     • Provide written relapse prevention plan</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Session 4 consolidates gains, builds relapse prevention skills, and terminates with confidence and hope.</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Session 4 protocol. | Marlatt, G.A., &amp; Gordon, J.R. (1985). Relapse Prevention. Guilford Press. | Witkiewitz, K., &amp; Marlatt, G.A. (2004). Clinical Psychology Review, 24, 1-28.</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Session 1: Complete Worksheet and Homework</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Assign appropriate homework that reinforces MET Session 1 themes</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SESSION 1 HOMEWORK ASSIGNMENTS:</a:t>
            </a:r>
          </a:p>
          <a:p>
            <a:pPr lvl="1">
              <a:spcAft>
                <a:spcPts val="600"/>
              </a:spcAft>
              <a:defRPr sz="1400">
                <a:solidFill>
                  <a:srgbClr val="2C3E50"/>
                </a:solidFill>
              </a:defRPr>
            </a:pPr>
            <a:r>
              <a:t>  1. Review Personal Feedback Report at home</a:t>
            </a:r>
          </a:p>
          <a:p>
            <a:pPr lvl="1">
              <a:spcAft>
                <a:spcPts val="600"/>
              </a:spcAft>
              <a:defRPr sz="1400">
                <a:solidFill>
                  <a:srgbClr val="2C3E50"/>
                </a:solidFill>
              </a:defRPr>
            </a:pPr>
            <a:r>
              <a:t>  2. Self-Monitoring: Keep a drinking diary for 1 week</a:t>
            </a:r>
          </a:p>
          <a:p>
            <a:pPr lvl="1">
              <a:spcAft>
                <a:spcPts val="600"/>
              </a:spcAft>
              <a:defRPr sz="1400">
                <a:solidFill>
                  <a:srgbClr val="2C3E50"/>
                </a:solidFill>
              </a:defRPr>
            </a:pPr>
            <a:r>
              <a:t>     (Record: when, where, how much, with whom, mood before/after)</a:t>
            </a:r>
          </a:p>
          <a:p>
            <a:pPr lvl="1">
              <a:spcAft>
                <a:spcPts val="600"/>
              </a:spcAft>
              <a:defRPr sz="1400">
                <a:solidFill>
                  <a:srgbClr val="2C3E50"/>
                </a:solidFill>
              </a:defRPr>
            </a:pPr>
            <a:r>
              <a:t>  3. Reflect on: 'What do these results mean to me?'</a:t>
            </a:r>
          </a:p>
          <a:p>
            <a:pPr lvl="1">
              <a:spcAft>
                <a:spcPts val="600"/>
              </a:spcAft>
              <a:defRPr sz="1400">
                <a:solidFill>
                  <a:srgbClr val="2C3E50"/>
                </a:solidFill>
              </a:defRPr>
            </a:pPr>
            <a:r>
              <a:t>  4. Optional: Share feedback with significant other</a:t>
            </a:r>
          </a:p>
          <a:p>
            <a:pPr>
              <a:spcAft>
                <a:spcPts val="600"/>
              </a:spcAft>
              <a:defRPr sz="1600">
                <a:solidFill>
                  <a:srgbClr val="2C3E50"/>
                </a:solidFill>
              </a:defRPr>
            </a:pPr>
          </a:p>
          <a:p>
            <a:pPr>
              <a:spcAft>
                <a:spcPts val="600"/>
              </a:spcAft>
              <a:defRPr sz="1600">
                <a:solidFill>
                  <a:srgbClr val="2C3E50"/>
                </a:solidFill>
              </a:defRPr>
            </a:pPr>
            <a:r>
              <a:t>SELF-MONITORING DIARY FORMAT:</a:t>
            </a:r>
          </a:p>
          <a:p>
            <a:pPr lvl="1">
              <a:spcAft>
                <a:spcPts val="600"/>
              </a:spcAft>
              <a:defRPr sz="1400">
                <a:solidFill>
                  <a:srgbClr val="2C3E50"/>
                </a:solidFill>
              </a:defRPr>
            </a:pPr>
            <a:r>
              <a:t>  ┌────────┬────────┬────────┬────────┬────────┬────────┐</a:t>
            </a:r>
          </a:p>
          <a:p>
            <a:pPr lvl="1">
              <a:spcAft>
                <a:spcPts val="600"/>
              </a:spcAft>
              <a:defRPr sz="1400">
                <a:solidFill>
                  <a:srgbClr val="2C3E50"/>
                </a:solidFill>
              </a:defRPr>
            </a:pPr>
            <a:r>
              <a:t>  │ Day    │ Time   │ Amount │ Where  │ Mood   │ Trigger│</a:t>
            </a:r>
          </a:p>
          <a:p>
            <a:pPr lvl="1">
              <a:spcAft>
                <a:spcPts val="600"/>
              </a:spcAft>
              <a:defRPr sz="1400">
                <a:solidFill>
                  <a:srgbClr val="2C3E50"/>
                </a:solidFill>
              </a:defRPr>
            </a:pPr>
            <a:r>
              <a:t>  ├────────┼────────┼────────┼────────┼────────┼────────┤</a:t>
            </a:r>
          </a:p>
          <a:p>
            <a:pPr lvl="1">
              <a:spcAft>
                <a:spcPts val="600"/>
              </a:spcAft>
              <a:defRPr sz="1400">
                <a:solidFill>
                  <a:srgbClr val="2C3E50"/>
                </a:solidFill>
              </a:defRPr>
            </a:pPr>
            <a:r>
              <a:t>  │Mon     │        │        │        │        │        │</a:t>
            </a:r>
          </a:p>
          <a:p>
            <a:pPr lvl="1">
              <a:spcAft>
                <a:spcPts val="600"/>
              </a:spcAft>
              <a:defRPr sz="1400">
                <a:solidFill>
                  <a:srgbClr val="2C3E50"/>
                </a:solidFill>
              </a:defRPr>
            </a:pPr>
            <a:r>
              <a:t>  │Tue     │        │        │        │        │        │</a:t>
            </a:r>
          </a:p>
          <a:p>
            <a:pPr lvl="1">
              <a:spcAft>
                <a:spcPts val="600"/>
              </a:spcAft>
              <a:defRPr sz="1400">
                <a:solidFill>
                  <a:srgbClr val="2C3E50"/>
                </a:solidFill>
              </a:defRPr>
            </a:pPr>
            <a:r>
              <a:t>  └────────┴────────┴────────┴────────┴────────┴────────┘</a:t>
            </a:r>
          </a:p>
          <a:p>
            <a:pPr>
              <a:spcAft>
                <a:spcPts val="600"/>
              </a:spcAft>
              <a:defRPr sz="1600">
                <a:solidFill>
                  <a:srgbClr val="2C3E50"/>
                </a:solidFill>
              </a:defRPr>
            </a:pPr>
          </a:p>
          <a:p>
            <a:pPr>
              <a:spcAft>
                <a:spcPts val="600"/>
              </a:spcAft>
              <a:defRPr sz="1600">
                <a:solidFill>
                  <a:srgbClr val="2C3E50"/>
                </a:solidFill>
              </a:defRPr>
            </a:pPr>
            <a:r>
              <a:t>SESSION 1 THERAPIST NOTES:</a:t>
            </a:r>
          </a:p>
          <a:p>
            <a:pPr lvl="1">
              <a:spcAft>
                <a:spcPts val="600"/>
              </a:spcAft>
              <a:defRPr sz="1400">
                <a:solidFill>
                  <a:srgbClr val="2C3E50"/>
                </a:solidFill>
              </a:defRPr>
            </a:pPr>
            <a:r>
              <a:t>  Document: Change talk heard, stage of change, readiness/confidence scores,</a:t>
            </a:r>
          </a:p>
          <a:p>
            <a:pPr lvl="1">
              <a:spcAft>
                <a:spcPts val="600"/>
              </a:spcAft>
              <a:defRPr sz="1400">
                <a:solidFill>
                  <a:srgbClr val="2C3E50"/>
                </a:solidFill>
              </a:defRPr>
            </a:pPr>
            <a:r>
              <a:t>  key themes, plan for Session 2</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Homework is offered (not prescribed), focusing on self-monitoring and reflection to maintain momentum.</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 Sobell, L.C., &amp; Sobell, M.B. (1992). Timeline Follow-Back method. In Litten, R.Z., &amp; Allen, J.P. (Eds.), Measuring Alcohol Consumption. Humana Press.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1D5FA6"/>
        </a:solidFill>
        <a:effectLst/>
      </p:bgPr>
    </p:bg>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914400" y="1828800"/>
            <a:ext cx="10058400" cy="1371600"/>
          </a:xfrm>
          <a:prstGeom prst="rect">
            <a:avLst/>
          </a:prstGeom>
          <a:noFill/>
        </p:spPr>
        <p:txBody>
          <a:bodyPr wrap="none">
            <a:spAutoFit/>
          </a:bodyPr>
          <a:lstStyle/>
          <a:p>
            <a:pPr algn="ctr">
              <a:defRPr sz="1800">
                <a:solidFill>
                  <a:srgbClr val="B7950B"/>
                </a:solidFill>
              </a:defRPr>
            </a:pPr>
            <a:r>
              <a:t>SECTION 15</a:t>
            </a:r>
          </a:p>
        </p:txBody>
      </p:sp>
      <p:sp>
        <p:nvSpPr>
          <p:cNvPr id="5" name="TextBox 4"/>
          <p:cNvSpPr txBox="1"/>
          <p:nvPr/>
        </p:nvSpPr>
        <p:spPr>
          <a:xfrm>
            <a:off x="914400" y="2926080"/>
            <a:ext cx="10058400" cy="1828800"/>
          </a:xfrm>
          <a:prstGeom prst="rect">
            <a:avLst/>
          </a:prstGeom>
          <a:noFill/>
        </p:spPr>
        <p:txBody>
          <a:bodyPr wrap="square">
            <a:spAutoFit/>
          </a:bodyPr>
          <a:lstStyle/>
          <a:p>
            <a:pPr algn="ctr">
              <a:defRPr sz="3600" b="1">
                <a:solidFill>
                  <a:srgbClr val="FFFFFF"/>
                </a:solidFill>
              </a:defRPr>
            </a:pPr>
            <a:r>
              <a:t>Techniques Used in MET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Double-Sided Reflection &amp; Complex Reflection</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Formulate double-sided and complex reflections from clinical material</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DOUBLE-SIDED REFLECTION:</a:t>
            </a:r>
          </a:p>
          <a:p>
            <a:pPr lvl="1">
              <a:spcAft>
                <a:spcPts val="600"/>
              </a:spcAft>
              <a:defRPr sz="1400">
                <a:solidFill>
                  <a:srgbClr val="2C3E50"/>
                </a:solidFill>
              </a:defRPr>
            </a:pPr>
            <a:r>
              <a:t>  Captures BOTH sides of ambivalence in one statement</a:t>
            </a:r>
          </a:p>
          <a:p>
            <a:pPr lvl="1">
              <a:spcAft>
                <a:spcPts val="600"/>
              </a:spcAft>
              <a:defRPr sz="1400">
                <a:solidFill>
                  <a:srgbClr val="2C3E50"/>
                </a:solidFill>
              </a:defRPr>
            </a:pPr>
            <a:r>
              <a:t>  Format: 'On one hand [sustain talk], AND on the other [change talk]'</a:t>
            </a:r>
          </a:p>
          <a:p>
            <a:pPr lvl="1">
              <a:spcAft>
                <a:spcPts val="600"/>
              </a:spcAft>
              <a:defRPr sz="1400">
                <a:solidFill>
                  <a:srgbClr val="2C3E50"/>
                </a:solidFill>
              </a:defRPr>
            </a:pPr>
            <a:r>
              <a:t>  Examples from MET Manual:</a:t>
            </a:r>
          </a:p>
          <a:p>
            <a:pPr lvl="1">
              <a:spcAft>
                <a:spcPts val="600"/>
              </a:spcAft>
              <a:defRPr sz="1400">
                <a:solidFill>
                  <a:srgbClr val="2C3E50"/>
                </a:solidFill>
              </a:defRPr>
            </a:pPr>
            <a:r>
              <a:t>    'You don't think alcohol is harming you seriously now, AND at the same time</a:t>
            </a:r>
          </a:p>
          <a:p>
            <a:pPr lvl="1">
              <a:spcAft>
                <a:spcPts val="600"/>
              </a:spcAft>
              <a:defRPr sz="1400">
                <a:solidFill>
                  <a:srgbClr val="2C3E50"/>
                </a:solidFill>
              </a:defRPr>
            </a:pPr>
            <a:r>
              <a:t>     you are concerned that it might get out of hand later'</a:t>
            </a:r>
          </a:p>
          <a:p>
            <a:pPr lvl="1">
              <a:spcAft>
                <a:spcPts val="600"/>
              </a:spcAft>
              <a:defRPr sz="1400">
                <a:solidFill>
                  <a:srgbClr val="2C3E50"/>
                </a:solidFill>
              </a:defRPr>
            </a:pPr>
            <a:r>
              <a:t>    'You really enjoy drinking and would hate to give it up, AND you can see</a:t>
            </a:r>
          </a:p>
          <a:p>
            <a:pPr lvl="1">
              <a:spcAft>
                <a:spcPts val="600"/>
              </a:spcAft>
              <a:defRPr sz="1400">
                <a:solidFill>
                  <a:srgbClr val="2C3E50"/>
                </a:solidFill>
              </a:defRPr>
            </a:pPr>
            <a:r>
              <a:t>     that it is causing serious problems for your family and your job'</a:t>
            </a:r>
          </a:p>
          <a:p>
            <a:pPr lvl="1">
              <a:spcAft>
                <a:spcPts val="600"/>
              </a:spcAft>
              <a:defRPr sz="1400">
                <a:solidFill>
                  <a:srgbClr val="2C3E50"/>
                </a:solidFill>
              </a:defRPr>
            </a:pPr>
            <a:r>
              <a:t>  NOTE: Use 'AND' rather than 'BUT' (but negates the first half)</a:t>
            </a:r>
          </a:p>
          <a:p>
            <a:pPr>
              <a:spcAft>
                <a:spcPts val="600"/>
              </a:spcAft>
              <a:defRPr sz="1600">
                <a:solidFill>
                  <a:srgbClr val="2C3E50"/>
                </a:solidFill>
              </a:defRPr>
            </a:pPr>
          </a:p>
          <a:p>
            <a:pPr>
              <a:spcAft>
                <a:spcPts val="600"/>
              </a:spcAft>
              <a:defRPr sz="1600">
                <a:solidFill>
                  <a:srgbClr val="2C3E50"/>
                </a:solidFill>
              </a:defRPr>
            </a:pPr>
            <a:r>
              <a:t>COMPLEX REFLECTION:</a:t>
            </a:r>
          </a:p>
          <a:p>
            <a:pPr lvl="1">
              <a:spcAft>
                <a:spcPts val="600"/>
              </a:spcAft>
              <a:defRPr sz="1400">
                <a:solidFill>
                  <a:srgbClr val="2C3E50"/>
                </a:solidFill>
              </a:defRPr>
            </a:pPr>
            <a:r>
              <a:t>  Goes BEYOND what the client said; adds meaning, feeling, or implication</a:t>
            </a:r>
          </a:p>
          <a:p>
            <a:pPr lvl="1">
              <a:spcAft>
                <a:spcPts val="600"/>
              </a:spcAft>
              <a:defRPr sz="1400">
                <a:solidFill>
                  <a:srgbClr val="2C3E50"/>
                </a:solidFill>
              </a:defRPr>
            </a:pPr>
            <a:r>
              <a:t>  Example: Client says 'I guess I drink a lot'</a:t>
            </a:r>
          </a:p>
          <a:p>
            <a:pPr lvl="1">
              <a:spcAft>
                <a:spcPts val="600"/>
              </a:spcAft>
              <a:defRPr sz="1400">
                <a:solidFill>
                  <a:srgbClr val="2C3E50"/>
                </a:solidFill>
              </a:defRPr>
            </a:pPr>
            <a:r>
              <a:t>    Simple: 'You drink quite a bit'</a:t>
            </a:r>
          </a:p>
          <a:p>
            <a:pPr lvl="1">
              <a:spcAft>
                <a:spcPts val="600"/>
              </a:spcAft>
              <a:defRPr sz="1400">
                <a:solidFill>
                  <a:srgbClr val="2C3E50"/>
                </a:solidFill>
              </a:defRPr>
            </a:pPr>
            <a:r>
              <a:t>    Complex: 'Part of you is starting to worry about where this is heading'</a:t>
            </a:r>
          </a:p>
          <a:p>
            <a:pPr lvl="1">
              <a:spcAft>
                <a:spcPts val="600"/>
              </a:spcAft>
              <a:defRPr sz="1400">
                <a:solidFill>
                  <a:srgbClr val="2C3E50"/>
                </a:solidFill>
              </a:defRPr>
            </a:pPr>
            <a:r>
              <a:t>  Complex reflections deepen exploration and show deeper understanding</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Double-sided reflections capture both sides of ambivalence; use 'AND' not 'BUT' to honor both sides.</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pp. 18-19. | Miller, W.R., &amp; Rollnick, S. (2013). Motivational interviewing (3rd ed.). Guilford Press.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Amplified Reflection, Reframing, and Shifting Focus</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Apply amplified reflection, reframing, and shifting focus to manage resistance</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AMPLIFIED REFLECTION:</a:t>
            </a:r>
          </a:p>
          <a:p>
            <a:pPr lvl="1">
              <a:spcAft>
                <a:spcPts val="600"/>
              </a:spcAft>
              <a:defRPr sz="1400">
                <a:solidFill>
                  <a:srgbClr val="2C3E50"/>
                </a:solidFill>
              </a:defRPr>
            </a:pPr>
            <a:r>
              <a:t>  Overstates the client's position slightly to elicit the other side</a:t>
            </a:r>
          </a:p>
          <a:p>
            <a:pPr lvl="1">
              <a:spcAft>
                <a:spcPts val="600"/>
              </a:spcAft>
              <a:defRPr sz="1400">
                <a:solidFill>
                  <a:srgbClr val="2C3E50"/>
                </a:solidFill>
              </a:defRPr>
            </a:pPr>
            <a:r>
              <a:t>  Client: 'I can handle my drinking just fine'</a:t>
            </a:r>
          </a:p>
          <a:p>
            <a:pPr lvl="1">
              <a:spcAft>
                <a:spcPts val="600"/>
              </a:spcAft>
              <a:defRPr sz="1400">
                <a:solidFill>
                  <a:srgbClr val="2C3E50"/>
                </a:solidFill>
              </a:defRPr>
            </a:pPr>
            <a:r>
              <a:t>  Amplified: 'So your drinking causes you absolutely no concerns whatsoever'</a:t>
            </a:r>
          </a:p>
          <a:p>
            <a:pPr lvl="1">
              <a:spcAft>
                <a:spcPts val="600"/>
              </a:spcAft>
              <a:defRPr sz="1400">
                <a:solidFill>
                  <a:srgbClr val="2C3E50"/>
                </a:solidFill>
              </a:defRPr>
            </a:pPr>
            <a:r>
              <a:t>  Effect: Client often backs away from the extreme → 'Well, not NO concerns...'</a:t>
            </a:r>
          </a:p>
          <a:p>
            <a:pPr lvl="1">
              <a:spcAft>
                <a:spcPts val="600"/>
              </a:spcAft>
              <a:defRPr sz="1400">
                <a:solidFill>
                  <a:srgbClr val="2C3E50"/>
                </a:solidFill>
              </a:defRPr>
            </a:pPr>
            <a:r>
              <a:t>  CAUTION: Must not be sarcastic; delivered sincerely</a:t>
            </a:r>
          </a:p>
          <a:p>
            <a:pPr>
              <a:spcAft>
                <a:spcPts val="600"/>
              </a:spcAft>
              <a:defRPr sz="1600">
                <a:solidFill>
                  <a:srgbClr val="2C3E50"/>
                </a:solidFill>
              </a:defRPr>
            </a:pPr>
          </a:p>
          <a:p>
            <a:pPr>
              <a:spcAft>
                <a:spcPts val="600"/>
              </a:spcAft>
              <a:defRPr sz="1600">
                <a:solidFill>
                  <a:srgbClr val="2C3E50"/>
                </a:solidFill>
              </a:defRPr>
            </a:pPr>
            <a:r>
              <a:t>REFRAMING:</a:t>
            </a:r>
          </a:p>
          <a:p>
            <a:pPr lvl="1">
              <a:spcAft>
                <a:spcPts val="600"/>
              </a:spcAft>
              <a:defRPr sz="1400">
                <a:solidFill>
                  <a:srgbClr val="2C3E50"/>
                </a:solidFill>
              </a:defRPr>
            </a:pPr>
            <a:r>
              <a:t>  Offers a new perspective on the same information</a:t>
            </a:r>
          </a:p>
          <a:p>
            <a:pPr lvl="1">
              <a:spcAft>
                <a:spcPts val="600"/>
              </a:spcAft>
              <a:defRPr sz="1400">
                <a:solidFill>
                  <a:srgbClr val="2C3E50"/>
                </a:solidFill>
              </a:defRPr>
            </a:pPr>
            <a:r>
              <a:t>  Client: 'My wife keeps nagging me about my drinking'</a:t>
            </a:r>
          </a:p>
          <a:p>
            <a:pPr lvl="1">
              <a:spcAft>
                <a:spcPts val="600"/>
              </a:spcAft>
              <a:defRPr sz="1400">
                <a:solidFill>
                  <a:srgbClr val="2C3E50"/>
                </a:solidFill>
              </a:defRPr>
            </a:pPr>
            <a:r>
              <a:t>  Reframe: 'She cares about you so much that she keeps trying to reach you'</a:t>
            </a:r>
          </a:p>
          <a:p>
            <a:pPr lvl="1">
              <a:spcAft>
                <a:spcPts val="600"/>
              </a:spcAft>
              <a:defRPr sz="1400">
                <a:solidFill>
                  <a:srgbClr val="2C3E50"/>
                </a:solidFill>
              </a:defRPr>
            </a:pPr>
            <a:r>
              <a:t>  MET Manual: 'Reframing is offering a different interpretation of information'</a:t>
            </a:r>
          </a:p>
          <a:p>
            <a:pPr>
              <a:spcAft>
                <a:spcPts val="600"/>
              </a:spcAft>
              <a:defRPr sz="1600">
                <a:solidFill>
                  <a:srgbClr val="2C3E50"/>
                </a:solidFill>
              </a:defRPr>
            </a:pPr>
          </a:p>
          <a:p>
            <a:pPr>
              <a:spcAft>
                <a:spcPts val="600"/>
              </a:spcAft>
              <a:defRPr sz="1600">
                <a:solidFill>
                  <a:srgbClr val="2C3E50"/>
                </a:solidFill>
              </a:defRPr>
            </a:pPr>
            <a:r>
              <a:t>SHIFTING FOCUS:</a:t>
            </a:r>
          </a:p>
          <a:p>
            <a:pPr lvl="1">
              <a:spcAft>
                <a:spcPts val="600"/>
              </a:spcAft>
              <a:defRPr sz="1400">
                <a:solidFill>
                  <a:srgbClr val="2C3E50"/>
                </a:solidFill>
              </a:defRPr>
            </a:pPr>
            <a:r>
              <a:t>  Moving attention away from a stuck point</a:t>
            </a:r>
          </a:p>
          <a:p>
            <a:pPr lvl="1">
              <a:spcAft>
                <a:spcPts val="600"/>
              </a:spcAft>
              <a:defRPr sz="1400">
                <a:solidFill>
                  <a:srgbClr val="2C3E50"/>
                </a:solidFill>
              </a:defRPr>
            </a:pPr>
            <a:r>
              <a:t>  'Let's not worry about labels right now. Tell me what concerns YOU'</a:t>
            </a:r>
          </a:p>
          <a:p>
            <a:pPr lvl="1">
              <a:spcAft>
                <a:spcPts val="600"/>
              </a:spcAft>
              <a:defRPr sz="1400">
                <a:solidFill>
                  <a:srgbClr val="2C3E50"/>
                </a:solidFill>
              </a:defRPr>
            </a:pPr>
            <a:r>
              <a:t>  Useful when client is fixated on whether they're 'an alcoholic'</a:t>
            </a:r>
          </a:p>
          <a:p>
            <a:pPr lvl="1">
              <a:spcAft>
                <a:spcPts val="600"/>
              </a:spcAft>
              <a:defRPr sz="1400">
                <a:solidFill>
                  <a:srgbClr val="2C3E50"/>
                </a:solidFill>
              </a:defRPr>
            </a:pPr>
            <a:r>
              <a:t>  Avoids power struggles over definitions</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Amplified reflection elicits the other side; reframing offers new perspective; shifting focus avoids power struggles.</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 Miller, W.R., &amp; Rollnick, S. (2013). Motivational interviewing (3rd ed.). Guilford Press. | Murthy, P. (2008). NIMHANS Manual.</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Elicit-Provide-Elicit (E-P-E) and Agenda Mapping</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Use E-P-E for information exchange, agenda mapping for collaboration, and scaling for assessment</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ELICIT-PROVIDE-ELICIT (Ask-Tell-Ask):</a:t>
            </a:r>
          </a:p>
          <a:p>
            <a:pPr lvl="1">
              <a:spcAft>
                <a:spcPts val="600"/>
              </a:spcAft>
              <a:defRPr sz="1400">
                <a:solidFill>
                  <a:srgbClr val="2C3E50"/>
                </a:solidFill>
              </a:defRPr>
            </a:pPr>
            <a:r>
              <a:t>  A structured way to give information/advice without lecturing</a:t>
            </a:r>
          </a:p>
          <a:p>
            <a:pPr lvl="1">
              <a:spcAft>
                <a:spcPts val="600"/>
              </a:spcAft>
              <a:defRPr sz="1400">
                <a:solidFill>
                  <a:srgbClr val="2C3E50"/>
                </a:solidFill>
              </a:defRPr>
            </a:pPr>
            <a:r>
              <a:t>  Step 1 - ELICIT: 'What do you already know about alcohol and memory?'</a:t>
            </a:r>
          </a:p>
          <a:p>
            <a:pPr lvl="1">
              <a:spcAft>
                <a:spcPts val="600"/>
              </a:spcAft>
              <a:defRPr sz="1400">
                <a:solidFill>
                  <a:srgbClr val="2C3E50"/>
                </a:solidFill>
              </a:defRPr>
            </a:pPr>
            <a:r>
              <a:t>  Step 2 - PROVIDE: 'Would it be okay if I shared some information about this?'</a:t>
            </a:r>
          </a:p>
          <a:p>
            <a:pPr lvl="1">
              <a:spcAft>
                <a:spcPts val="600"/>
              </a:spcAft>
              <a:defRPr sz="1400">
                <a:solidFill>
                  <a:srgbClr val="2C3E50"/>
                </a:solidFill>
              </a:defRPr>
            </a:pPr>
            <a:r>
              <a:t>    (Wait for permission, then provide brief, relevant information)</a:t>
            </a:r>
          </a:p>
          <a:p>
            <a:pPr lvl="1">
              <a:spcAft>
                <a:spcPts val="600"/>
              </a:spcAft>
              <a:defRPr sz="1400">
                <a:solidFill>
                  <a:srgbClr val="2C3E50"/>
                </a:solidFill>
              </a:defRPr>
            </a:pPr>
            <a:r>
              <a:t>  Step 3 - ELICIT: 'What do you make of that?' / 'How does this fit for you?'</a:t>
            </a:r>
          </a:p>
          <a:p>
            <a:pPr lvl="1">
              <a:spcAft>
                <a:spcPts val="600"/>
              </a:spcAft>
              <a:defRPr sz="1400">
                <a:solidFill>
                  <a:srgbClr val="2C3E50"/>
                </a:solidFill>
              </a:defRPr>
            </a:pPr>
            <a:r>
              <a:t>  WHY: Maintains collaboration; avoids expert-patient hierarchy</a:t>
            </a:r>
          </a:p>
          <a:p>
            <a:pPr>
              <a:spcAft>
                <a:spcPts val="600"/>
              </a:spcAft>
              <a:defRPr sz="1600">
                <a:solidFill>
                  <a:srgbClr val="2C3E50"/>
                </a:solidFill>
              </a:defRPr>
            </a:pPr>
          </a:p>
          <a:p>
            <a:pPr>
              <a:spcAft>
                <a:spcPts val="600"/>
              </a:spcAft>
              <a:defRPr sz="1600">
                <a:solidFill>
                  <a:srgbClr val="2C3E50"/>
                </a:solidFill>
              </a:defRPr>
            </a:pPr>
            <a:r>
              <a:t>AGENDA MAPPING:</a:t>
            </a:r>
          </a:p>
          <a:p>
            <a:pPr lvl="1">
              <a:spcAft>
                <a:spcPts val="600"/>
              </a:spcAft>
              <a:defRPr sz="1400">
                <a:solidFill>
                  <a:srgbClr val="2C3E50"/>
                </a:solidFill>
              </a:defRPr>
            </a:pPr>
            <a:r>
              <a:t>  Collaboratively deciding what to discuss</a:t>
            </a:r>
          </a:p>
          <a:p>
            <a:pPr lvl="1">
              <a:spcAft>
                <a:spcPts val="600"/>
              </a:spcAft>
              <a:defRPr sz="1400">
                <a:solidFill>
                  <a:srgbClr val="2C3E50"/>
                </a:solidFill>
              </a:defRPr>
            </a:pPr>
            <a:r>
              <a:t>  'There are several things we could talk about today. Would you like to look at</a:t>
            </a:r>
          </a:p>
          <a:p>
            <a:pPr lvl="1">
              <a:spcAft>
                <a:spcPts val="600"/>
              </a:spcAft>
              <a:defRPr sz="1400">
                <a:solidFill>
                  <a:srgbClr val="2C3E50"/>
                </a:solidFill>
              </a:defRPr>
            </a:pPr>
            <a:r>
              <a:t>   your assessment results, or explore your concerns, or talk about options?'</a:t>
            </a:r>
          </a:p>
          <a:p>
            <a:pPr lvl="1">
              <a:spcAft>
                <a:spcPts val="600"/>
              </a:spcAft>
              <a:defRPr sz="1400">
                <a:solidFill>
                  <a:srgbClr val="2C3E50"/>
                </a:solidFill>
              </a:defRPr>
            </a:pPr>
            <a:r>
              <a:t>  PURPOSE: Client has ownership of the session; reduces resistance</a:t>
            </a:r>
          </a:p>
          <a:p>
            <a:pPr lvl="1">
              <a:spcAft>
                <a:spcPts val="600"/>
              </a:spcAft>
              <a:defRPr sz="1400">
                <a:solidFill>
                  <a:srgbClr val="2C3E50"/>
                </a:solidFill>
              </a:defRPr>
            </a:pPr>
            <a:r>
              <a:t>  Supports autonomy and collaboration</a:t>
            </a:r>
          </a:p>
          <a:p>
            <a:pPr>
              <a:spcAft>
                <a:spcPts val="600"/>
              </a:spcAft>
              <a:defRPr sz="1600">
                <a:solidFill>
                  <a:srgbClr val="2C3E50"/>
                </a:solidFill>
              </a:defRPr>
            </a:pPr>
          </a:p>
          <a:p>
            <a:pPr>
              <a:spcAft>
                <a:spcPts val="600"/>
              </a:spcAft>
              <a:defRPr sz="1600">
                <a:solidFill>
                  <a:srgbClr val="2C3E50"/>
                </a:solidFill>
              </a:defRPr>
            </a:pPr>
            <a:r>
              <a:t>SCALING QUESTIONS:</a:t>
            </a:r>
          </a:p>
          <a:p>
            <a:pPr lvl="1">
              <a:spcAft>
                <a:spcPts val="600"/>
              </a:spcAft>
              <a:defRPr sz="1400">
                <a:solidFill>
                  <a:srgbClr val="2C3E50"/>
                </a:solidFill>
              </a:defRPr>
            </a:pPr>
            <a:r>
              <a:t>  'On a scale of 0-10, how important/confident/ready are you?'</a:t>
            </a:r>
          </a:p>
          <a:p>
            <a:pPr lvl="1">
              <a:spcAft>
                <a:spcPts val="600"/>
              </a:spcAft>
              <a:defRPr sz="1400">
                <a:solidFill>
                  <a:srgbClr val="2C3E50"/>
                </a:solidFill>
              </a:defRPr>
            </a:pPr>
            <a:r>
              <a:t>  Follow-up is key: 'Why X and not lower?' (evokes change talk)</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E-P-E maintains collaboration when sharing information; always ask permission before providing advice.</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&amp; Rollnick, S. (2013). Motivational interviewing (3rd ed.). Guilford Press. | Rollnick, S., et al. (2008). Motivational interviewing in health care. Guilford Press. | Miller, W.R., et al. (1995). MET Manual.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Values Clarification and Goal Setting</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Conduct values clarification and collaborative goal setting in MET sessions</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VALUES CLARIFICATION:</a:t>
            </a:r>
          </a:p>
          <a:p>
            <a:pPr lvl="1">
              <a:spcAft>
                <a:spcPts val="600"/>
              </a:spcAft>
              <a:defRPr sz="1400">
                <a:solidFill>
                  <a:srgbClr val="2C3E50"/>
                </a:solidFill>
              </a:defRPr>
            </a:pPr>
            <a:r>
              <a:t>  Purpose: Identify what matters most to the client (foundation for discrepancy)</a:t>
            </a:r>
          </a:p>
          <a:p>
            <a:pPr lvl="1">
              <a:spcAft>
                <a:spcPts val="600"/>
              </a:spcAft>
              <a:defRPr sz="1400">
                <a:solidFill>
                  <a:srgbClr val="2C3E50"/>
                </a:solidFill>
              </a:defRPr>
            </a:pPr>
            <a:r>
              <a:t>  Methods: Values card sort, open-ended exploration, life priorities list</a:t>
            </a:r>
          </a:p>
          <a:p>
            <a:pPr lvl="1">
              <a:spcAft>
                <a:spcPts val="600"/>
              </a:spcAft>
              <a:defRPr sz="1400">
                <a:solidFill>
                  <a:srgbClr val="2C3E50"/>
                </a:solidFill>
              </a:defRPr>
            </a:pPr>
            <a:r>
              <a:t>  Questions: 'What are the 3 most important things in your life?'</a:t>
            </a:r>
          </a:p>
          <a:p>
            <a:pPr lvl="1">
              <a:spcAft>
                <a:spcPts val="600"/>
              </a:spcAft>
              <a:defRPr sz="1400">
                <a:solidFill>
                  <a:srgbClr val="2C3E50"/>
                </a:solidFill>
              </a:defRPr>
            </a:pPr>
            <a:r>
              <a:t>    'What kind of person do you want to be?' 'What do you want to be remembered for?'</a:t>
            </a:r>
          </a:p>
          <a:p>
            <a:pPr lvl="1">
              <a:spcAft>
                <a:spcPts val="600"/>
              </a:spcAft>
              <a:defRPr sz="1400">
                <a:solidFill>
                  <a:srgbClr val="2C3E50"/>
                </a:solidFill>
              </a:defRPr>
            </a:pPr>
            <a:r>
              <a:t>  Connect values to behavior: 'How does drinking fit with being that person?'</a:t>
            </a:r>
          </a:p>
          <a:p>
            <a:pPr>
              <a:spcAft>
                <a:spcPts val="600"/>
              </a:spcAft>
              <a:defRPr sz="1600">
                <a:solidFill>
                  <a:srgbClr val="2C3E50"/>
                </a:solidFill>
              </a:defRPr>
            </a:pPr>
          </a:p>
          <a:p>
            <a:pPr>
              <a:spcAft>
                <a:spcPts val="600"/>
              </a:spcAft>
              <a:defRPr sz="1600">
                <a:solidFill>
                  <a:srgbClr val="2C3E50"/>
                </a:solidFill>
              </a:defRPr>
            </a:pPr>
            <a:r>
              <a:t>GOAL SETTING:</a:t>
            </a:r>
          </a:p>
          <a:p>
            <a:pPr lvl="1">
              <a:spcAft>
                <a:spcPts val="600"/>
              </a:spcAft>
              <a:defRPr sz="1400">
                <a:solidFill>
                  <a:srgbClr val="2C3E50"/>
                </a:solidFill>
              </a:defRPr>
            </a:pPr>
            <a:r>
              <a:t>  Client-generated goals (not therapist-imposed)</a:t>
            </a:r>
          </a:p>
          <a:p>
            <a:pPr lvl="1">
              <a:spcAft>
                <a:spcPts val="600"/>
              </a:spcAft>
              <a:defRPr sz="1400">
                <a:solidFill>
                  <a:srgbClr val="2C3E50"/>
                </a:solidFill>
              </a:defRPr>
            </a:pPr>
            <a:r>
              <a:t>  SMART framework: Specific, Measurable, Achievable, Relevant, Time-bound</a:t>
            </a:r>
          </a:p>
          <a:p>
            <a:pPr lvl="1">
              <a:spcAft>
                <a:spcPts val="600"/>
              </a:spcAft>
              <a:defRPr sz="1400">
                <a:solidFill>
                  <a:srgbClr val="2C3E50"/>
                </a:solidFill>
              </a:defRPr>
            </a:pPr>
            <a:r>
              <a:t>  Examples: 'I will not drink on weeknights for the next month'</a:t>
            </a:r>
          </a:p>
          <a:p>
            <a:pPr lvl="1">
              <a:spcAft>
                <a:spcPts val="600"/>
              </a:spcAft>
              <a:defRPr sz="1400">
                <a:solidFill>
                  <a:srgbClr val="2C3E50"/>
                </a:solidFill>
              </a:defRPr>
            </a:pPr>
            <a:r>
              <a:t>    'I will limit to 3 drinks maximum on weekends'</a:t>
            </a:r>
          </a:p>
          <a:p>
            <a:pPr lvl="1">
              <a:spcAft>
                <a:spcPts val="600"/>
              </a:spcAft>
              <a:defRPr sz="1400">
                <a:solidFill>
                  <a:srgbClr val="2C3E50"/>
                </a:solidFill>
              </a:defRPr>
            </a:pPr>
            <a:r>
              <a:t>    'I will have 4 alcohol-free days per week'</a:t>
            </a:r>
          </a:p>
          <a:p>
            <a:pPr>
              <a:spcAft>
                <a:spcPts val="600"/>
              </a:spcAft>
              <a:defRPr sz="1600">
                <a:solidFill>
                  <a:srgbClr val="2C3E50"/>
                </a:solidFill>
              </a:defRPr>
            </a:pPr>
          </a:p>
          <a:p>
            <a:pPr>
              <a:spcAft>
                <a:spcPts val="600"/>
              </a:spcAft>
              <a:defRPr sz="1600">
                <a:solidFill>
                  <a:srgbClr val="2C3E50"/>
                </a:solidFill>
              </a:defRPr>
            </a:pPr>
            <a:r>
              <a:t>ACTION PLANNING - Change Plan Worksheet:</a:t>
            </a:r>
          </a:p>
          <a:p>
            <a:pPr lvl="1">
              <a:spcAft>
                <a:spcPts val="600"/>
              </a:spcAft>
              <a:defRPr sz="1400">
                <a:solidFill>
                  <a:srgbClr val="2C3E50"/>
                </a:solidFill>
              </a:defRPr>
            </a:pPr>
            <a:r>
              <a:t>  1. Changes I want to make: ___</a:t>
            </a:r>
          </a:p>
          <a:p>
            <a:pPr lvl="1">
              <a:spcAft>
                <a:spcPts val="600"/>
              </a:spcAft>
              <a:defRPr sz="1400">
                <a:solidFill>
                  <a:srgbClr val="2C3E50"/>
                </a:solidFill>
              </a:defRPr>
            </a:pPr>
            <a:r>
              <a:t>  2. Most important reasons: ___</a:t>
            </a:r>
          </a:p>
          <a:p>
            <a:pPr lvl="1">
              <a:spcAft>
                <a:spcPts val="600"/>
              </a:spcAft>
              <a:defRPr sz="1400">
                <a:solidFill>
                  <a:srgbClr val="2C3E50"/>
                </a:solidFill>
              </a:defRPr>
            </a:pPr>
            <a:r>
              <a:t>  3. Steps I plan to take: ___</a:t>
            </a:r>
          </a:p>
          <a:p>
            <a:pPr lvl="1">
              <a:spcAft>
                <a:spcPts val="600"/>
              </a:spcAft>
              <a:defRPr sz="1400">
                <a:solidFill>
                  <a:srgbClr val="2C3E50"/>
                </a:solidFill>
              </a:defRPr>
            </a:pPr>
            <a:r>
              <a:t>  4. How others can help: ___</a:t>
            </a:r>
          </a:p>
          <a:p>
            <a:pPr lvl="1">
              <a:spcAft>
                <a:spcPts val="600"/>
              </a:spcAft>
              <a:defRPr sz="1400">
                <a:solidFill>
                  <a:srgbClr val="2C3E50"/>
                </a:solidFill>
              </a:defRPr>
            </a:pPr>
            <a:r>
              <a:t>  5. What might get in the way: ___</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Values create the 'why' for change; goals create the 'what'; action plans create the 'how'.</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 Miller, W.R., &amp; Rollnick, S. (2013). Motivational interviewing (3rd ed.). Guilford Press. | Locke, E.A., &amp; Latham, G.P. (2002). American Psychologist, 57, 705-717.</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Looking Back, Looking Forward, and Decisional Balance</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Use temporal perspective techniques and decisional balance to develop discrepancy</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LOOKING BACK:</a:t>
            </a:r>
          </a:p>
          <a:p>
            <a:pPr lvl="1">
              <a:spcAft>
                <a:spcPts val="600"/>
              </a:spcAft>
              <a:defRPr sz="1400">
                <a:solidFill>
                  <a:srgbClr val="2C3E50"/>
                </a:solidFill>
              </a:defRPr>
            </a:pPr>
            <a:r>
              <a:t>  'What was life like before drinking became a problem?'</a:t>
            </a:r>
          </a:p>
          <a:p>
            <a:pPr lvl="1">
              <a:spcAft>
                <a:spcPts val="600"/>
              </a:spcAft>
              <a:defRPr sz="1400">
                <a:solidFill>
                  <a:srgbClr val="2C3E50"/>
                </a:solidFill>
              </a:defRPr>
            </a:pPr>
            <a:r>
              <a:t>  'What were you like before? What has changed?'</a:t>
            </a:r>
          </a:p>
          <a:p>
            <a:pPr lvl="1">
              <a:spcAft>
                <a:spcPts val="600"/>
              </a:spcAft>
              <a:defRPr sz="1400">
                <a:solidFill>
                  <a:srgbClr val="2C3E50"/>
                </a:solidFill>
              </a:defRPr>
            </a:pPr>
            <a:r>
              <a:t>  Purpose: Creates temporal discrepancy (then vs. now)</a:t>
            </a:r>
          </a:p>
          <a:p>
            <a:pPr lvl="1">
              <a:spcAft>
                <a:spcPts val="600"/>
              </a:spcAft>
              <a:defRPr sz="1400">
                <a:solidFill>
                  <a:srgbClr val="2C3E50"/>
                </a:solidFill>
              </a:defRPr>
            </a:pPr>
            <a:r>
              <a:t>  Evokes desire to return to better functioning</a:t>
            </a:r>
          </a:p>
          <a:p>
            <a:pPr>
              <a:spcAft>
                <a:spcPts val="600"/>
              </a:spcAft>
              <a:defRPr sz="1600">
                <a:solidFill>
                  <a:srgbClr val="2C3E50"/>
                </a:solidFill>
              </a:defRPr>
            </a:pPr>
          </a:p>
          <a:p>
            <a:pPr>
              <a:spcAft>
                <a:spcPts val="600"/>
              </a:spcAft>
              <a:defRPr sz="1600">
                <a:solidFill>
                  <a:srgbClr val="2C3E50"/>
                </a:solidFill>
              </a:defRPr>
            </a:pPr>
            <a:r>
              <a:t>LOOKING FORWARD:</a:t>
            </a:r>
          </a:p>
          <a:p>
            <a:pPr lvl="1">
              <a:spcAft>
                <a:spcPts val="600"/>
              </a:spcAft>
              <a:defRPr sz="1400">
                <a:solidFill>
                  <a:srgbClr val="2C3E50"/>
                </a:solidFill>
              </a:defRPr>
            </a:pPr>
            <a:r>
              <a:t>  'If you continue drinking as you are, where do you see yourself in 5 years?'</a:t>
            </a:r>
          </a:p>
          <a:p>
            <a:pPr lvl="1">
              <a:spcAft>
                <a:spcPts val="600"/>
              </a:spcAft>
              <a:defRPr sz="1400">
                <a:solidFill>
                  <a:srgbClr val="2C3E50"/>
                </a:solidFill>
              </a:defRPr>
            </a:pPr>
            <a:r>
              <a:t>  'If you DID make this change, what would life look like?'</a:t>
            </a:r>
          </a:p>
          <a:p>
            <a:pPr lvl="1">
              <a:spcAft>
                <a:spcPts val="600"/>
              </a:spcAft>
              <a:defRPr sz="1400">
                <a:solidFill>
                  <a:srgbClr val="2C3E50"/>
                </a:solidFill>
              </a:defRPr>
            </a:pPr>
            <a:r>
              <a:t>  Purpose: Creates future discrepancy (feared future vs. hoped future)</a:t>
            </a:r>
          </a:p>
          <a:p>
            <a:pPr lvl="1">
              <a:spcAft>
                <a:spcPts val="600"/>
              </a:spcAft>
              <a:defRPr sz="1400">
                <a:solidFill>
                  <a:srgbClr val="2C3E50"/>
                </a:solidFill>
              </a:defRPr>
            </a:pPr>
            <a:r>
              <a:t>  Makes consequences tangible and personal</a:t>
            </a:r>
          </a:p>
          <a:p>
            <a:pPr>
              <a:spcAft>
                <a:spcPts val="600"/>
              </a:spcAft>
              <a:defRPr sz="1600">
                <a:solidFill>
                  <a:srgbClr val="2C3E50"/>
                </a:solidFill>
              </a:defRPr>
            </a:pPr>
          </a:p>
          <a:p>
            <a:pPr>
              <a:spcAft>
                <a:spcPts val="600"/>
              </a:spcAft>
              <a:defRPr sz="1600">
                <a:solidFill>
                  <a:srgbClr val="2C3E50"/>
                </a:solidFill>
              </a:defRPr>
            </a:pPr>
            <a:r>
              <a:t>DECISIONAL BALANCE IN SESSION:</a:t>
            </a:r>
          </a:p>
          <a:p>
            <a:pPr lvl="1">
              <a:spcAft>
                <a:spcPts val="600"/>
              </a:spcAft>
              <a:defRPr sz="1400">
                <a:solidFill>
                  <a:srgbClr val="2C3E50"/>
                </a:solidFill>
              </a:defRPr>
            </a:pPr>
            <a:r>
              <a:t>  'What are the good things about drinking for you?' (Start here - validates)</a:t>
            </a:r>
          </a:p>
          <a:p>
            <a:pPr lvl="1">
              <a:spcAft>
                <a:spcPts val="600"/>
              </a:spcAft>
              <a:defRPr sz="1400">
                <a:solidFill>
                  <a:srgbClr val="2C3E50"/>
                </a:solidFill>
              </a:defRPr>
            </a:pPr>
            <a:r>
              <a:t>  'And what's the other side? What concerns you?' (Then explore costs)</a:t>
            </a:r>
          </a:p>
          <a:p>
            <a:pPr lvl="1">
              <a:spcAft>
                <a:spcPts val="600"/>
              </a:spcAft>
              <a:defRPr sz="1400">
                <a:solidFill>
                  <a:srgbClr val="2C3E50"/>
                </a:solidFill>
              </a:defRPr>
            </a:pPr>
            <a:r>
              <a:t>  'What might be better if you changed?' (Then benefits of change)</a:t>
            </a:r>
          </a:p>
          <a:p>
            <a:pPr lvl="1">
              <a:spcAft>
                <a:spcPts val="600"/>
              </a:spcAft>
              <a:defRPr sz="1400">
                <a:solidFill>
                  <a:srgbClr val="2C3E50"/>
                </a:solidFill>
              </a:defRPr>
            </a:pPr>
            <a:r>
              <a:t>  'What worries you about changing?' (Finally, fears about change)</a:t>
            </a:r>
          </a:p>
          <a:p>
            <a:pPr lvl="1">
              <a:spcAft>
                <a:spcPts val="600"/>
              </a:spcAft>
              <a:defRPr sz="1400">
                <a:solidFill>
                  <a:srgbClr val="2C3E50"/>
                </a:solidFill>
              </a:defRPr>
            </a:pPr>
            <a:r>
              <a:t>  Therapist SUMMARIZES: Include all sides; weight toward change talk</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Looking back/forward creates temporal discrepancy; decisional balance explores ambivalence completely.</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 Miller, W.R., &amp; Rollnick, S. (2013). Motivational interviewing (3rd ed.). Guilford Press. | Janis, I.L., &amp; Mann, L. (1977). Decision Making. Free Press.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1D5FA6"/>
        </a:solidFill>
        <a:effectLst/>
      </p:bgPr>
    </p:bg>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914400" y="1828800"/>
            <a:ext cx="10058400" cy="1371600"/>
          </a:xfrm>
          <a:prstGeom prst="rect">
            <a:avLst/>
          </a:prstGeom>
          <a:noFill/>
        </p:spPr>
        <p:txBody>
          <a:bodyPr wrap="none">
            <a:spAutoFit/>
          </a:bodyPr>
          <a:lstStyle/>
          <a:p>
            <a:pPr algn="ctr">
              <a:defRPr sz="1800">
                <a:solidFill>
                  <a:srgbClr val="B7950B"/>
                </a:solidFill>
              </a:defRPr>
            </a:pPr>
            <a:r>
              <a:t>SECTION 16</a:t>
            </a:r>
          </a:p>
        </p:txBody>
      </p:sp>
      <p:sp>
        <p:nvSpPr>
          <p:cNvPr id="5" name="TextBox 4"/>
          <p:cNvSpPr txBox="1"/>
          <p:nvPr/>
        </p:nvSpPr>
        <p:spPr>
          <a:xfrm>
            <a:off x="914400" y="2926080"/>
            <a:ext cx="10058400" cy="1828800"/>
          </a:xfrm>
          <a:prstGeom prst="rect">
            <a:avLst/>
          </a:prstGeom>
          <a:noFill/>
        </p:spPr>
        <p:txBody>
          <a:bodyPr wrap="square">
            <a:spAutoFit/>
          </a:bodyPr>
          <a:lstStyle/>
          <a:p>
            <a:pPr algn="ctr">
              <a:defRPr sz="3600" b="1">
                <a:solidFill>
                  <a:srgbClr val="FFFFFF"/>
                </a:solidFill>
              </a:defRPr>
            </a:pPr>
            <a:r>
              <a:t>Clinical Worksheets and Handouts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Change Plan Worksheet</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Complete a Change Plan Worksheet collaboratively with clients</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CHANGE PLAN WORKSHEET (To be completed with client in Session 2-3):</a:t>
            </a:r>
          </a:p>
          <a:p>
            <a:pPr>
              <a:spcAft>
                <a:spcPts val="600"/>
              </a:spcAft>
              <a:defRPr sz="1600">
                <a:solidFill>
                  <a:srgbClr val="2C3E50"/>
                </a:solidFill>
              </a:defRPr>
            </a:pPr>
          </a:p>
          <a:p>
            <a:pPr>
              <a:spcAft>
                <a:spcPts val="600"/>
              </a:spcAft>
              <a:defRPr sz="1600">
                <a:solidFill>
                  <a:srgbClr val="2C3E50"/>
                </a:solidFill>
              </a:defRPr>
            </a:pPr>
            <a:r>
              <a:t>1. The changes I want to make are:</a:t>
            </a:r>
          </a:p>
          <a:p>
            <a:pPr lvl="1">
              <a:spcAft>
                <a:spcPts val="600"/>
              </a:spcAft>
              <a:defRPr sz="1400">
                <a:solidFill>
                  <a:srgbClr val="2C3E50"/>
                </a:solidFill>
              </a:defRPr>
            </a:pPr>
            <a:r>
              <a:t>   _____________________________________________</a:t>
            </a:r>
          </a:p>
          <a:p>
            <a:pPr>
              <a:spcAft>
                <a:spcPts val="600"/>
              </a:spcAft>
              <a:defRPr sz="1600">
                <a:solidFill>
                  <a:srgbClr val="2C3E50"/>
                </a:solidFill>
              </a:defRPr>
            </a:pPr>
          </a:p>
          <a:p>
            <a:pPr>
              <a:spcAft>
                <a:spcPts val="600"/>
              </a:spcAft>
              <a:defRPr sz="1600">
                <a:solidFill>
                  <a:srgbClr val="2C3E50"/>
                </a:solidFill>
              </a:defRPr>
            </a:pPr>
            <a:r>
              <a:t>2. The most important reasons I want to make these changes are:</a:t>
            </a:r>
          </a:p>
          <a:p>
            <a:pPr lvl="1">
              <a:spcAft>
                <a:spcPts val="600"/>
              </a:spcAft>
              <a:defRPr sz="1400">
                <a:solidFill>
                  <a:srgbClr val="2C3E50"/>
                </a:solidFill>
              </a:defRPr>
            </a:pPr>
            <a:r>
              <a:t>   _____________________________________________</a:t>
            </a:r>
          </a:p>
          <a:p>
            <a:pPr>
              <a:spcAft>
                <a:spcPts val="600"/>
              </a:spcAft>
              <a:defRPr sz="1600">
                <a:solidFill>
                  <a:srgbClr val="2C3E50"/>
                </a:solidFill>
              </a:defRPr>
            </a:pPr>
          </a:p>
          <a:p>
            <a:pPr>
              <a:spcAft>
                <a:spcPts val="600"/>
              </a:spcAft>
              <a:defRPr sz="1600">
                <a:solidFill>
                  <a:srgbClr val="2C3E50"/>
                </a:solidFill>
              </a:defRPr>
            </a:pPr>
            <a:r>
              <a:t>3. The steps I plan to take in changing are:</a:t>
            </a:r>
          </a:p>
          <a:p>
            <a:pPr lvl="1">
              <a:spcAft>
                <a:spcPts val="600"/>
              </a:spcAft>
              <a:defRPr sz="1400">
                <a:solidFill>
                  <a:srgbClr val="2C3E50"/>
                </a:solidFill>
              </a:defRPr>
            </a:pPr>
            <a:r>
              <a:t>   _____________________________________________</a:t>
            </a:r>
          </a:p>
          <a:p>
            <a:pPr>
              <a:spcAft>
                <a:spcPts val="600"/>
              </a:spcAft>
              <a:defRPr sz="1600">
                <a:solidFill>
                  <a:srgbClr val="2C3E50"/>
                </a:solidFill>
              </a:defRPr>
            </a:pPr>
          </a:p>
          <a:p>
            <a:pPr>
              <a:spcAft>
                <a:spcPts val="600"/>
              </a:spcAft>
              <a:defRPr sz="1600">
                <a:solidFill>
                  <a:srgbClr val="2C3E50"/>
                </a:solidFill>
              </a:defRPr>
            </a:pPr>
            <a:r>
              <a:t>4. The ways other people can help me are:</a:t>
            </a:r>
          </a:p>
          <a:p>
            <a:pPr lvl="1">
              <a:spcAft>
                <a:spcPts val="600"/>
              </a:spcAft>
              <a:defRPr sz="1400">
                <a:solidFill>
                  <a:srgbClr val="2C3E50"/>
                </a:solidFill>
              </a:defRPr>
            </a:pPr>
            <a:r>
              <a:t>   Person: _________ How they can help: _________</a:t>
            </a:r>
          </a:p>
          <a:p>
            <a:pPr>
              <a:spcAft>
                <a:spcPts val="600"/>
              </a:spcAft>
              <a:defRPr sz="1600">
                <a:solidFill>
                  <a:srgbClr val="2C3E50"/>
                </a:solidFill>
              </a:defRPr>
            </a:pPr>
          </a:p>
          <a:p>
            <a:pPr>
              <a:spcAft>
                <a:spcPts val="600"/>
              </a:spcAft>
              <a:defRPr sz="1600">
                <a:solidFill>
                  <a:srgbClr val="2C3E50"/>
                </a:solidFill>
              </a:defRPr>
            </a:pPr>
            <a:r>
              <a:t>5. I will know that my plan is working if:</a:t>
            </a:r>
          </a:p>
          <a:p>
            <a:pPr lvl="1">
              <a:spcAft>
                <a:spcPts val="600"/>
              </a:spcAft>
              <a:defRPr sz="1400">
                <a:solidFill>
                  <a:srgbClr val="2C3E50"/>
                </a:solidFill>
              </a:defRPr>
            </a:pPr>
            <a:r>
              <a:t>   _____________________________________________</a:t>
            </a:r>
          </a:p>
          <a:p>
            <a:pPr>
              <a:spcAft>
                <a:spcPts val="600"/>
              </a:spcAft>
              <a:defRPr sz="1600">
                <a:solidFill>
                  <a:srgbClr val="2C3E50"/>
                </a:solidFill>
              </a:defRPr>
            </a:pPr>
          </a:p>
          <a:p>
            <a:pPr>
              <a:spcAft>
                <a:spcPts val="600"/>
              </a:spcAft>
              <a:defRPr sz="1600">
                <a:solidFill>
                  <a:srgbClr val="2C3E50"/>
                </a:solidFill>
              </a:defRPr>
            </a:pPr>
            <a:r>
              <a:t>6. Some things that could interfere with my plan are:</a:t>
            </a:r>
          </a:p>
          <a:p>
            <a:pPr lvl="1">
              <a:spcAft>
                <a:spcPts val="600"/>
              </a:spcAft>
              <a:defRPr sz="1400">
                <a:solidFill>
                  <a:srgbClr val="2C3E50"/>
                </a:solidFill>
              </a:defRPr>
            </a:pPr>
            <a:r>
              <a:t>   _____________________________________________</a:t>
            </a:r>
          </a:p>
          <a:p>
            <a:pPr>
              <a:spcAft>
                <a:spcPts val="600"/>
              </a:spcAft>
              <a:defRPr sz="1600">
                <a:solidFill>
                  <a:srgbClr val="2C3E50"/>
                </a:solidFill>
              </a:defRPr>
            </a:pPr>
          </a:p>
          <a:p>
            <a:pPr>
              <a:spcAft>
                <a:spcPts val="600"/>
              </a:spcAft>
              <a:defRPr sz="1600">
                <a:solidFill>
                  <a:srgbClr val="2C3E50"/>
                </a:solidFill>
              </a:defRPr>
            </a:pPr>
            <a:r>
              <a:t>7. What I will do if the plan isn't working:</a:t>
            </a:r>
          </a:p>
          <a:p>
            <a:pPr lvl="1">
              <a:spcAft>
                <a:spcPts val="600"/>
              </a:spcAft>
              <a:defRPr sz="1400">
                <a:solidFill>
                  <a:srgbClr val="2C3E50"/>
                </a:solidFill>
              </a:defRPr>
            </a:pPr>
            <a:r>
              <a:t>   _____________________________________________</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The Change Plan Worksheet makes commitment tangible and serves as a concrete roadmap for change.</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(original Change Plan Worksheet). | SAMHSA. (2019). TIP 35: Enhancing Motivation for Change.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Decisional Balance Worksheet &amp; Relapse Prevention Plan</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Use worksheets as clinical tools for externalizing ambivalence and planning</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DECISIONAL BALANCE WORKSHEET:</a:t>
            </a:r>
          </a:p>
          <a:p>
            <a:pPr lvl="1">
              <a:spcAft>
                <a:spcPts val="600"/>
              </a:spcAft>
              <a:defRPr sz="1400">
                <a:solidFill>
                  <a:srgbClr val="2C3E50"/>
                </a:solidFill>
              </a:defRPr>
            </a:pPr>
            <a:r>
              <a:t>  ┌──────────────────────────┬──────────────────────────┐</a:t>
            </a:r>
          </a:p>
          <a:p>
            <a:pPr lvl="1">
              <a:spcAft>
                <a:spcPts val="600"/>
              </a:spcAft>
              <a:defRPr sz="1400">
                <a:solidFill>
                  <a:srgbClr val="2C3E50"/>
                </a:solidFill>
              </a:defRPr>
            </a:pPr>
            <a:r>
              <a:t>  │ BENEFITS of Drinking     │ COSTS of Drinking        │</a:t>
            </a:r>
          </a:p>
          <a:p>
            <a:pPr lvl="1">
              <a:spcAft>
                <a:spcPts val="600"/>
              </a:spcAft>
              <a:defRPr sz="1400">
                <a:solidFill>
                  <a:srgbClr val="2C3E50"/>
                </a:solidFill>
              </a:defRPr>
            </a:pPr>
            <a:r>
              <a:t>  │ (What I like about it)   │ (What concerns me)       │</a:t>
            </a:r>
          </a:p>
          <a:p>
            <a:pPr lvl="1">
              <a:spcAft>
                <a:spcPts val="600"/>
              </a:spcAft>
              <a:defRPr sz="1400">
                <a:solidFill>
                  <a:srgbClr val="2C3E50"/>
                </a:solidFill>
              </a:defRPr>
            </a:pPr>
            <a:r>
              <a:t>  │ 1.                       │ 1.                       │</a:t>
            </a:r>
          </a:p>
          <a:p>
            <a:pPr lvl="1">
              <a:spcAft>
                <a:spcPts val="600"/>
              </a:spcAft>
              <a:defRPr sz="1400">
                <a:solidFill>
                  <a:srgbClr val="2C3E50"/>
                </a:solidFill>
              </a:defRPr>
            </a:pPr>
            <a:r>
              <a:t>  │ 2.                       │ 2.                       │</a:t>
            </a:r>
          </a:p>
          <a:p>
            <a:pPr lvl="1">
              <a:spcAft>
                <a:spcPts val="600"/>
              </a:spcAft>
              <a:defRPr sz="1400">
                <a:solidFill>
                  <a:srgbClr val="2C3E50"/>
                </a:solidFill>
              </a:defRPr>
            </a:pPr>
            <a:r>
              <a:t>  │ 3.                       │ 3.                       │</a:t>
            </a:r>
          </a:p>
          <a:p>
            <a:pPr lvl="1">
              <a:spcAft>
                <a:spcPts val="600"/>
              </a:spcAft>
              <a:defRPr sz="1400">
                <a:solidFill>
                  <a:srgbClr val="2C3E50"/>
                </a:solidFill>
              </a:defRPr>
            </a:pPr>
            <a:r>
              <a:t>  ├──────────────────────────┼──────────────────────────┤</a:t>
            </a:r>
          </a:p>
          <a:p>
            <a:pPr lvl="1">
              <a:spcAft>
                <a:spcPts val="600"/>
              </a:spcAft>
              <a:defRPr sz="1400">
                <a:solidFill>
                  <a:srgbClr val="2C3E50"/>
                </a:solidFill>
              </a:defRPr>
            </a:pPr>
            <a:r>
              <a:t>  │ COSTS of Changing        │ BENEFITS of Changing     │</a:t>
            </a:r>
          </a:p>
          <a:p>
            <a:pPr lvl="1">
              <a:spcAft>
                <a:spcPts val="600"/>
              </a:spcAft>
              <a:defRPr sz="1400">
                <a:solidFill>
                  <a:srgbClr val="2C3E50"/>
                </a:solidFill>
              </a:defRPr>
            </a:pPr>
            <a:r>
              <a:t>  │ (What I fear/will miss)  │ (What I'd gain)          │</a:t>
            </a:r>
          </a:p>
          <a:p>
            <a:pPr lvl="1">
              <a:spcAft>
                <a:spcPts val="600"/>
              </a:spcAft>
              <a:defRPr sz="1400">
                <a:solidFill>
                  <a:srgbClr val="2C3E50"/>
                </a:solidFill>
              </a:defRPr>
            </a:pPr>
            <a:r>
              <a:t>  │ 1.                       │ 1.                       │</a:t>
            </a:r>
          </a:p>
          <a:p>
            <a:pPr lvl="1">
              <a:spcAft>
                <a:spcPts val="600"/>
              </a:spcAft>
              <a:defRPr sz="1400">
                <a:solidFill>
                  <a:srgbClr val="2C3E50"/>
                </a:solidFill>
              </a:defRPr>
            </a:pPr>
            <a:r>
              <a:t>  │ 2.                       │ 2.                       │</a:t>
            </a:r>
          </a:p>
          <a:p>
            <a:pPr lvl="1">
              <a:spcAft>
                <a:spcPts val="600"/>
              </a:spcAft>
              <a:defRPr sz="1400">
                <a:solidFill>
                  <a:srgbClr val="2C3E50"/>
                </a:solidFill>
              </a:defRPr>
            </a:pPr>
            <a:r>
              <a:t>  │ 3.                       │ 3.                       │</a:t>
            </a:r>
          </a:p>
          <a:p>
            <a:pPr lvl="1">
              <a:spcAft>
                <a:spcPts val="600"/>
              </a:spcAft>
              <a:defRPr sz="1400">
                <a:solidFill>
                  <a:srgbClr val="2C3E50"/>
                </a:solidFill>
              </a:defRPr>
            </a:pPr>
            <a:r>
              <a:t>  └──────────────────────────┴──────────────────────────┘</a:t>
            </a:r>
          </a:p>
          <a:p>
            <a:pPr>
              <a:spcAft>
                <a:spcPts val="600"/>
              </a:spcAft>
              <a:defRPr sz="1600">
                <a:solidFill>
                  <a:srgbClr val="2C3E50"/>
                </a:solidFill>
              </a:defRPr>
            </a:pPr>
          </a:p>
          <a:p>
            <a:pPr>
              <a:spcAft>
                <a:spcPts val="600"/>
              </a:spcAft>
              <a:defRPr sz="1600">
                <a:solidFill>
                  <a:srgbClr val="2C3E50"/>
                </a:solidFill>
              </a:defRPr>
            </a:pPr>
            <a:r>
              <a:t>RELAPSE PREVENTION PLAN:</a:t>
            </a:r>
          </a:p>
          <a:p>
            <a:pPr lvl="1">
              <a:spcAft>
                <a:spcPts val="600"/>
              </a:spcAft>
              <a:defRPr sz="1400">
                <a:solidFill>
                  <a:srgbClr val="2C3E50"/>
                </a:solidFill>
              </a:defRPr>
            </a:pPr>
            <a:r>
              <a:t>  My triggers: ___ | Warning signs: ___ | Coping strategies: ___</a:t>
            </a:r>
          </a:p>
          <a:p>
            <a:pPr lvl="1">
              <a:spcAft>
                <a:spcPts val="600"/>
              </a:spcAft>
              <a:defRPr sz="1400">
                <a:solidFill>
                  <a:srgbClr val="2C3E50"/>
                </a:solidFill>
              </a:defRPr>
            </a:pPr>
            <a:r>
              <a:t>  Emergency contacts: ___ | If I slip, I will: ___</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Written worksheets make internal processes visible and serve as take-home reminders of commitment.</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 Marlatt, G.A., &amp; Gordon, J.R. (1985). Relapse Prevention. Guilford Press. | Murthy, P. (2008). NIMHANS Manual.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Additional Clinical Worksheets</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Select and use appropriate worksheets to support different phases of MET</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READINESS/IMPORTANCE/CONFIDENCE VISUAL RULER:</a:t>
            </a:r>
          </a:p>
          <a:p>
            <a:pPr lvl="1">
              <a:spcAft>
                <a:spcPts val="600"/>
              </a:spcAft>
              <a:defRPr sz="1400">
                <a:solidFill>
                  <a:srgbClr val="2C3E50"/>
                </a:solidFill>
              </a:defRPr>
            </a:pPr>
            <a:r>
              <a:t>  Not at all                                    Extremely</a:t>
            </a:r>
          </a:p>
          <a:p>
            <a:pPr lvl="1">
              <a:spcAft>
                <a:spcPts val="600"/>
              </a:spcAft>
              <a:defRPr sz="1400">
                <a:solidFill>
                  <a:srgbClr val="2C3E50"/>
                </a:solidFill>
              </a:defRPr>
            </a:pPr>
            <a:r>
              <a:t>  0----1----2----3----4----5----6----7----8----9----10</a:t>
            </a:r>
          </a:p>
          <a:p>
            <a:pPr>
              <a:spcAft>
                <a:spcPts val="600"/>
              </a:spcAft>
              <a:defRPr sz="1600">
                <a:solidFill>
                  <a:srgbClr val="2C3E50"/>
                </a:solidFill>
              </a:defRPr>
            </a:pPr>
          </a:p>
          <a:p>
            <a:pPr>
              <a:spcAft>
                <a:spcPts val="600"/>
              </a:spcAft>
              <a:defRPr sz="1600">
                <a:solidFill>
                  <a:srgbClr val="2C3E50"/>
                </a:solidFill>
              </a:defRPr>
            </a:pPr>
            <a:r>
              <a:t>SUBSTANCE USE DIARY (Daily Monitoring Sheet):</a:t>
            </a:r>
          </a:p>
          <a:p>
            <a:pPr lvl="1">
              <a:spcAft>
                <a:spcPts val="600"/>
              </a:spcAft>
              <a:defRPr sz="1400">
                <a:solidFill>
                  <a:srgbClr val="2C3E50"/>
                </a:solidFill>
              </a:defRPr>
            </a:pPr>
            <a:r>
              <a:t>  Date | Substance | Amount | Time | Situation | Thoughts | Feelings | Consequences</a:t>
            </a:r>
          </a:p>
          <a:p>
            <a:pPr>
              <a:spcAft>
                <a:spcPts val="600"/>
              </a:spcAft>
              <a:defRPr sz="1600">
                <a:solidFill>
                  <a:srgbClr val="2C3E50"/>
                </a:solidFill>
              </a:defRPr>
            </a:pPr>
          </a:p>
          <a:p>
            <a:pPr>
              <a:spcAft>
                <a:spcPts val="600"/>
              </a:spcAft>
              <a:defRPr sz="1600">
                <a:solidFill>
                  <a:srgbClr val="2C3E50"/>
                </a:solidFill>
              </a:defRPr>
            </a:pPr>
            <a:r>
              <a:t>TRIGGER IDENTIFICATION WORKSHEET:</a:t>
            </a:r>
          </a:p>
          <a:p>
            <a:pPr lvl="1">
              <a:spcAft>
                <a:spcPts val="600"/>
              </a:spcAft>
              <a:defRPr sz="1400">
                <a:solidFill>
                  <a:srgbClr val="2C3E50"/>
                </a:solidFill>
              </a:defRPr>
            </a:pPr>
            <a:r>
              <a:t>  External triggers: People___ Places___ Times___ Events___</a:t>
            </a:r>
          </a:p>
          <a:p>
            <a:pPr lvl="1">
              <a:spcAft>
                <a:spcPts val="600"/>
              </a:spcAft>
              <a:defRPr sz="1400">
                <a:solidFill>
                  <a:srgbClr val="2C3E50"/>
                </a:solidFill>
              </a:defRPr>
            </a:pPr>
            <a:r>
              <a:t>  Internal triggers: Emotions___ Thoughts___ Physical___ Urges___</a:t>
            </a:r>
          </a:p>
          <a:p>
            <a:pPr>
              <a:spcAft>
                <a:spcPts val="600"/>
              </a:spcAft>
              <a:defRPr sz="1600">
                <a:solidFill>
                  <a:srgbClr val="2C3E50"/>
                </a:solidFill>
              </a:defRPr>
            </a:pPr>
          </a:p>
          <a:p>
            <a:pPr>
              <a:spcAft>
                <a:spcPts val="600"/>
              </a:spcAft>
              <a:defRPr sz="1600">
                <a:solidFill>
                  <a:srgbClr val="2C3E50"/>
                </a:solidFill>
              </a:defRPr>
            </a:pPr>
            <a:r>
              <a:t>COPING SKILLS WORKSHEET:</a:t>
            </a:r>
          </a:p>
          <a:p>
            <a:pPr lvl="1">
              <a:spcAft>
                <a:spcPts val="600"/>
              </a:spcAft>
              <a:defRPr sz="1400">
                <a:solidFill>
                  <a:srgbClr val="2C3E50"/>
                </a:solidFill>
              </a:defRPr>
            </a:pPr>
            <a:r>
              <a:t>  Situation → Usual response → Alternative response → Outcome</a:t>
            </a:r>
          </a:p>
          <a:p>
            <a:pPr>
              <a:spcAft>
                <a:spcPts val="600"/>
              </a:spcAft>
              <a:defRPr sz="1600">
                <a:solidFill>
                  <a:srgbClr val="2C3E50"/>
                </a:solidFill>
              </a:defRPr>
            </a:pPr>
          </a:p>
          <a:p>
            <a:pPr>
              <a:spcAft>
                <a:spcPts val="600"/>
              </a:spcAft>
              <a:defRPr sz="1600">
                <a:solidFill>
                  <a:srgbClr val="2C3E50"/>
                </a:solidFill>
              </a:defRPr>
            </a:pPr>
            <a:r>
              <a:t>VALUES CARD SORT (Top 10 Values):</a:t>
            </a:r>
          </a:p>
          <a:p>
            <a:pPr lvl="1">
              <a:spcAft>
                <a:spcPts val="600"/>
              </a:spcAft>
              <a:defRPr sz="1400">
                <a:solidFill>
                  <a:srgbClr val="2C3E50"/>
                </a:solidFill>
              </a:defRPr>
            </a:pPr>
            <a:r>
              <a:t>  Family | Health | Career | Spirituality | Freedom | Integrity</a:t>
            </a:r>
          </a:p>
          <a:p>
            <a:pPr lvl="1">
              <a:spcAft>
                <a:spcPts val="600"/>
              </a:spcAft>
              <a:defRPr sz="1400">
                <a:solidFill>
                  <a:srgbClr val="2C3E50"/>
                </a:solidFill>
              </a:defRPr>
            </a:pPr>
            <a:r>
              <a:t>  Love | Adventure | Security | Achievement | Friendship | Peace</a:t>
            </a:r>
          </a:p>
          <a:p>
            <a:pPr>
              <a:spcAft>
                <a:spcPts val="600"/>
              </a:spcAft>
              <a:defRPr sz="1600">
                <a:solidFill>
                  <a:srgbClr val="2C3E50"/>
                </a:solidFill>
              </a:defRPr>
            </a:pPr>
          </a:p>
          <a:p>
            <a:pPr>
              <a:spcAft>
                <a:spcPts val="600"/>
              </a:spcAft>
              <a:defRPr sz="1600">
                <a:solidFill>
                  <a:srgbClr val="2C3E50"/>
                </a:solidFill>
              </a:defRPr>
            </a:pPr>
            <a:r>
              <a:t>EMERGENCY PLAN: Who to call | Where to go | What to do | What NOT to do</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Worksheets structure the therapeutic process and give clients tangible tools for between-session work.</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 SAMHSA. (2019). TIP 35. | Murthy, P. (2008). NIMHANS Manual. | Marlatt, G.A., &amp; Gordon, J.R. (1985). Relapse Prevention.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1D5FA6"/>
        </a:solidFill>
        <a:effectLst/>
      </p:bgPr>
    </p:bg>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914400" y="1828800"/>
            <a:ext cx="10058400" cy="1371600"/>
          </a:xfrm>
          <a:prstGeom prst="rect">
            <a:avLst/>
          </a:prstGeom>
          <a:noFill/>
        </p:spPr>
        <p:txBody>
          <a:bodyPr wrap="none">
            <a:spAutoFit/>
          </a:bodyPr>
          <a:lstStyle/>
          <a:p>
            <a:pPr algn="ctr">
              <a:defRPr sz="1800">
                <a:solidFill>
                  <a:srgbClr val="B7950B"/>
                </a:solidFill>
              </a:defRPr>
            </a:pPr>
            <a:r>
              <a:t>SECTION 17</a:t>
            </a:r>
          </a:p>
        </p:txBody>
      </p:sp>
      <p:sp>
        <p:nvSpPr>
          <p:cNvPr id="5" name="TextBox 4"/>
          <p:cNvSpPr txBox="1"/>
          <p:nvPr/>
        </p:nvSpPr>
        <p:spPr>
          <a:xfrm>
            <a:off x="914400" y="2926080"/>
            <a:ext cx="10058400" cy="1828800"/>
          </a:xfrm>
          <a:prstGeom prst="rect">
            <a:avLst/>
          </a:prstGeom>
          <a:noFill/>
        </p:spPr>
        <p:txBody>
          <a:bodyPr wrap="square">
            <a:spAutoFit/>
          </a:bodyPr>
          <a:lstStyle/>
          <a:p>
            <a:pPr algn="ctr">
              <a:defRPr sz="3600" b="1">
                <a:solidFill>
                  <a:srgbClr val="FFFFFF"/>
                </a:solidFill>
              </a:defRPr>
            </a:pPr>
            <a:r>
              <a:t>Case Formulations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Case 1: Alcohol Dependence - Mr. Rajesh, 42 years</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Formulate and implement a MET treatment plan for alcohol dependence</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PRESENTING PROBLEM: Referred by physician for elevated liver enzymes; 15 years drinking</a:t>
            </a:r>
          </a:p>
          <a:p>
            <a:pPr>
              <a:spcAft>
                <a:spcPts val="600"/>
              </a:spcAft>
              <a:defRPr sz="1600">
                <a:solidFill>
                  <a:srgbClr val="2C3E50"/>
                </a:solidFill>
              </a:defRPr>
            </a:pPr>
            <a:r>
              <a:t>HISTORY: Daily drinking 180-350ml whiskey; tolerance increased; morning tremors</a:t>
            </a:r>
          </a:p>
          <a:p>
            <a:pPr>
              <a:spcAft>
                <a:spcPts val="600"/>
              </a:spcAft>
              <a:defRPr sz="1600">
                <a:solidFill>
                  <a:srgbClr val="2C3E50"/>
                </a:solidFill>
              </a:defRPr>
            </a:pPr>
            <a:r>
              <a:t>STAGE OF CHANGE: Contemplation (aware of problem, not committed to change)</a:t>
            </a:r>
          </a:p>
          <a:p>
            <a:pPr>
              <a:spcAft>
                <a:spcPts val="600"/>
              </a:spcAft>
              <a:defRPr sz="1600">
                <a:solidFill>
                  <a:srgbClr val="2C3E50"/>
                </a:solidFill>
              </a:defRPr>
            </a:pPr>
          </a:p>
          <a:p>
            <a:pPr>
              <a:spcAft>
                <a:spcPts val="600"/>
              </a:spcAft>
              <a:defRPr sz="1600">
                <a:solidFill>
                  <a:srgbClr val="2C3E50"/>
                </a:solidFill>
              </a:defRPr>
            </a:pPr>
            <a:r>
              <a:t>MET FORMULATION:</a:t>
            </a:r>
          </a:p>
          <a:p>
            <a:pPr lvl="1">
              <a:spcAft>
                <a:spcPts val="600"/>
              </a:spcAft>
              <a:defRPr sz="1400">
                <a:solidFill>
                  <a:srgbClr val="2C3E50"/>
                </a:solidFill>
              </a:defRPr>
            </a:pPr>
            <a:r>
              <a:t>  Importance: 5/10 (knows it's a problem but enjoys social aspects)</a:t>
            </a:r>
          </a:p>
          <a:p>
            <a:pPr lvl="1">
              <a:spcAft>
                <a:spcPts val="600"/>
              </a:spcAft>
              <a:defRPr sz="1400">
                <a:solidFill>
                  <a:srgbClr val="2C3E50"/>
                </a:solidFill>
              </a:defRPr>
            </a:pPr>
            <a:r>
              <a:t>  Confidence: 3/10 (previous failed attempts; low self-efficacy)</a:t>
            </a:r>
          </a:p>
          <a:p>
            <a:pPr lvl="1">
              <a:spcAft>
                <a:spcPts val="600"/>
              </a:spcAft>
              <a:defRPr sz="1400">
                <a:solidFill>
                  <a:srgbClr val="2C3E50"/>
                </a:solidFill>
              </a:defRPr>
            </a:pPr>
            <a:r>
              <a:t>  Values: Family (wife and children), career advancement, health</a:t>
            </a:r>
          </a:p>
          <a:p>
            <a:pPr lvl="1">
              <a:spcAft>
                <a:spcPts val="600"/>
              </a:spcAft>
              <a:defRPr sz="1400">
                <a:solidFill>
                  <a:srgbClr val="2C3E50"/>
                </a:solidFill>
              </a:defRPr>
            </a:pPr>
            <a:r>
              <a:t>  Discrepancy: Values family but missing children's school events; promotion denied</a:t>
            </a:r>
          </a:p>
          <a:p>
            <a:pPr>
              <a:spcAft>
                <a:spcPts val="600"/>
              </a:spcAft>
              <a:defRPr sz="1600">
                <a:solidFill>
                  <a:srgbClr val="2C3E50"/>
                </a:solidFill>
              </a:defRPr>
            </a:pPr>
          </a:p>
          <a:p>
            <a:pPr>
              <a:spcAft>
                <a:spcPts val="600"/>
              </a:spcAft>
              <a:defRPr sz="1600">
                <a:solidFill>
                  <a:srgbClr val="2C3E50"/>
                </a:solidFill>
              </a:defRPr>
            </a:pPr>
            <a:r>
              <a:t>MET IMPLEMENTATION:</a:t>
            </a:r>
          </a:p>
          <a:p>
            <a:pPr lvl="1">
              <a:spcAft>
                <a:spcPts val="600"/>
              </a:spcAft>
              <a:defRPr sz="1400">
                <a:solidFill>
                  <a:srgbClr val="2C3E50"/>
                </a:solidFill>
              </a:defRPr>
            </a:pPr>
            <a:r>
              <a:t>  Session 1: Feedback (liver results, normative comparison); explore concerns</a:t>
            </a:r>
          </a:p>
          <a:p>
            <a:pPr lvl="1">
              <a:spcAft>
                <a:spcPts val="600"/>
              </a:spcAft>
              <a:defRPr sz="1400">
                <a:solidFill>
                  <a:srgbClr val="2C3E50"/>
                </a:solidFill>
              </a:defRPr>
            </a:pPr>
            <a:r>
              <a:t>  Session 2: Values clarification; decisional balance; build efficacy</a:t>
            </a:r>
          </a:p>
          <a:p>
            <a:pPr lvl="1">
              <a:spcAft>
                <a:spcPts val="600"/>
              </a:spcAft>
              <a:defRPr sz="1400">
                <a:solidFill>
                  <a:srgbClr val="2C3E50"/>
                </a:solidFill>
              </a:defRPr>
            </a:pPr>
            <a:r>
              <a:t>  Session 3: Review progress (reduced to weekends only); affirm success</a:t>
            </a:r>
          </a:p>
          <a:p>
            <a:pPr lvl="1">
              <a:spcAft>
                <a:spcPts val="600"/>
              </a:spcAft>
              <a:defRPr sz="1400">
                <a:solidFill>
                  <a:srgbClr val="2C3E50"/>
                </a:solidFill>
              </a:defRPr>
            </a:pPr>
            <a:r>
              <a:t>  Session 4: Maintenance plan; coping strategies for work stress; relapse prevention</a:t>
            </a:r>
          </a:p>
          <a:p>
            <a:pPr>
              <a:spcAft>
                <a:spcPts val="600"/>
              </a:spcAft>
              <a:defRPr sz="1600">
                <a:solidFill>
                  <a:srgbClr val="2C3E50"/>
                </a:solidFill>
              </a:defRPr>
            </a:pPr>
          </a:p>
          <a:p>
            <a:pPr>
              <a:spcAft>
                <a:spcPts val="600"/>
              </a:spcAft>
              <a:defRPr sz="1600">
                <a:solidFill>
                  <a:srgbClr val="2C3E50"/>
                </a:solidFill>
              </a:defRPr>
            </a:pPr>
            <a:r>
              <a:t>OUTCOME: Reduced drinking by 70%; liver enzymes normalized at 6 months</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MET case formulation integrates readiness assessment, values, discrepancy, and stage-matched intervention.</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 Murthy, P. (2008). NIMHANS Manual. | Project MATCH Research Group. (1997). JOSA, 58, 7-29.</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Case 2: Cannabis Use Disorder &amp; Case 3: Nicotine Dependence</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Apply MET to cannabis and nicotine use disorders with appropriate adaptations</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CASE 2 - CANNABIS: Ravi, 22, Engineering Student</a:t>
            </a:r>
          </a:p>
          <a:p>
            <a:pPr lvl="1">
              <a:spcAft>
                <a:spcPts val="600"/>
              </a:spcAft>
              <a:defRPr sz="1400">
                <a:solidFill>
                  <a:srgbClr val="2C3E50"/>
                </a:solidFill>
              </a:defRPr>
            </a:pPr>
            <a:r>
              <a:t>  Presenting: Academic failure, memory problems, social withdrawal</a:t>
            </a:r>
          </a:p>
          <a:p>
            <a:pPr lvl="1">
              <a:spcAft>
                <a:spcPts val="600"/>
              </a:spcAft>
              <a:defRPr sz="1400">
                <a:solidFill>
                  <a:srgbClr val="2C3E50"/>
                </a:solidFill>
              </a:defRPr>
            </a:pPr>
            <a:r>
              <a:t>  Stage: Precontemplation → Contemplation (came due to parents)</a:t>
            </a:r>
          </a:p>
          <a:p>
            <a:pPr lvl="1">
              <a:spcAft>
                <a:spcPts val="600"/>
              </a:spcAft>
              <a:defRPr sz="1400">
                <a:solidFill>
                  <a:srgbClr val="2C3E50"/>
                </a:solidFill>
              </a:defRPr>
            </a:pPr>
            <a:r>
              <a:t>  MET Focus: Develop discrepancy (career goals vs. cognitive effects)</a:t>
            </a:r>
          </a:p>
          <a:p>
            <a:pPr lvl="1">
              <a:spcAft>
                <a:spcPts val="600"/>
              </a:spcAft>
              <a:defRPr sz="1400">
                <a:solidFill>
                  <a:srgbClr val="2C3E50"/>
                </a:solidFill>
              </a:defRPr>
            </a:pPr>
            <a:r>
              <a:t>    Session 1: Feedback on neuropsychological testing; academic performance</a:t>
            </a:r>
          </a:p>
          <a:p>
            <a:pPr lvl="1">
              <a:spcAft>
                <a:spcPts val="600"/>
              </a:spcAft>
              <a:defRPr sz="1400">
                <a:solidFill>
                  <a:srgbClr val="2C3E50"/>
                </a:solidFill>
              </a:defRPr>
            </a:pPr>
            <a:r>
              <a:t>    Session 2: Values (engineering career); looking forward (5 years)</a:t>
            </a:r>
          </a:p>
          <a:p>
            <a:pPr lvl="1">
              <a:spcAft>
                <a:spcPts val="600"/>
              </a:spcAft>
              <a:defRPr sz="1400">
                <a:solidFill>
                  <a:srgbClr val="2C3E50"/>
                </a:solidFill>
              </a:defRPr>
            </a:pPr>
            <a:r>
              <a:t>    Outcome: Reduced use; improved grades over 3 months</a:t>
            </a:r>
          </a:p>
          <a:p>
            <a:pPr>
              <a:spcAft>
                <a:spcPts val="600"/>
              </a:spcAft>
              <a:defRPr sz="1600">
                <a:solidFill>
                  <a:srgbClr val="2C3E50"/>
                </a:solidFill>
              </a:defRPr>
            </a:pPr>
          </a:p>
          <a:p>
            <a:pPr>
              <a:spcAft>
                <a:spcPts val="600"/>
              </a:spcAft>
              <a:defRPr sz="1600">
                <a:solidFill>
                  <a:srgbClr val="2C3E50"/>
                </a:solidFill>
              </a:defRPr>
            </a:pPr>
            <a:r>
              <a:t>CASE 3 - NICOTINE: Priya, 35, Software Professional</a:t>
            </a:r>
          </a:p>
          <a:p>
            <a:pPr lvl="1">
              <a:spcAft>
                <a:spcPts val="600"/>
              </a:spcAft>
              <a:defRPr sz="1400">
                <a:solidFill>
                  <a:srgbClr val="2C3E50"/>
                </a:solidFill>
              </a:defRPr>
            </a:pPr>
            <a:r>
              <a:t>  Presenting: 15 cigarettes/day x 12 years; chest pain; wants to quit</a:t>
            </a:r>
          </a:p>
          <a:p>
            <a:pPr lvl="1">
              <a:spcAft>
                <a:spcPts val="600"/>
              </a:spcAft>
              <a:defRPr sz="1400">
                <a:solidFill>
                  <a:srgbClr val="2C3E50"/>
                </a:solidFill>
              </a:defRPr>
            </a:pPr>
            <a:r>
              <a:t>  Stage: Preparation (motivated but multiple failed attempts)</a:t>
            </a:r>
          </a:p>
          <a:p>
            <a:pPr lvl="1">
              <a:spcAft>
                <a:spcPts val="600"/>
              </a:spcAft>
              <a:defRPr sz="1400">
                <a:solidFill>
                  <a:srgbClr val="2C3E50"/>
                </a:solidFill>
              </a:defRPr>
            </a:pPr>
            <a:r>
              <a:t>  MET Focus: Build self-efficacy (past successes); address confidence</a:t>
            </a:r>
          </a:p>
          <a:p>
            <a:pPr lvl="1">
              <a:spcAft>
                <a:spcPts val="600"/>
              </a:spcAft>
              <a:defRPr sz="1400">
                <a:solidFill>
                  <a:srgbClr val="2C3E50"/>
                </a:solidFill>
              </a:defRPr>
            </a:pPr>
            <a:r>
              <a:t>    Session 1: Feedback (CO levels, lung function); health data</a:t>
            </a:r>
          </a:p>
          <a:p>
            <a:pPr lvl="1">
              <a:spcAft>
                <a:spcPts val="600"/>
              </a:spcAft>
              <a:defRPr sz="1400">
                <a:solidFill>
                  <a:srgbClr val="2C3E50"/>
                </a:solidFill>
              </a:defRPr>
            </a:pPr>
            <a:r>
              <a:t>    Session 2: Previous quit attempts - what worked? Build on strengths</a:t>
            </a:r>
          </a:p>
          <a:p>
            <a:pPr lvl="1">
              <a:spcAft>
                <a:spcPts val="600"/>
              </a:spcAft>
              <a:defRPr sz="1400">
                <a:solidFill>
                  <a:srgbClr val="2C3E50"/>
                </a:solidFill>
              </a:defRPr>
            </a:pPr>
            <a:r>
              <a:t>    Session 3: Using NRT; coping with triggers; celebrating 4 weeks smoke-free</a:t>
            </a:r>
          </a:p>
          <a:p>
            <a:pPr lvl="1">
              <a:spcAft>
                <a:spcPts val="600"/>
              </a:spcAft>
              <a:defRPr sz="1400">
                <a:solidFill>
                  <a:srgbClr val="2C3E50"/>
                </a:solidFill>
              </a:defRPr>
            </a:pPr>
            <a:r>
              <a:t>    Outcome: Quit at 6 months with NRT support</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MET adapts to different substances by tailoring feedback and discrepancy to substance-specific concerns.</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 Stephens, R.S., et al. (2004). JCCP, 72, 92-103. | Murthy, P. (2008). NIMHANS Manual.</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Case 4: Dual Diagnosis - Depression with Alcohol Use</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Formulate MET for dual diagnosis cases with comorbid depression</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CASE: Meera, 38, Homemaker with Major Depression and Alcohol Dependence</a:t>
            </a:r>
          </a:p>
          <a:p>
            <a:pPr lvl="1">
              <a:spcAft>
                <a:spcPts val="600"/>
              </a:spcAft>
              <a:defRPr sz="1400">
                <a:solidFill>
                  <a:srgbClr val="2C3E50"/>
                </a:solidFill>
              </a:defRPr>
            </a:pPr>
            <a:r>
              <a:t>  Presenting: Husband left; using alcohol to cope with depression; 250ml rum daily</a:t>
            </a:r>
          </a:p>
          <a:p>
            <a:pPr lvl="1">
              <a:spcAft>
                <a:spcPts val="600"/>
              </a:spcAft>
              <a:defRPr sz="1400">
                <a:solidFill>
                  <a:srgbClr val="2C3E50"/>
                </a:solidFill>
              </a:defRPr>
            </a:pPr>
            <a:r>
              <a:t>  Comorbidity: MDD (moderate), GAD, low self-esteem, social isolation</a:t>
            </a:r>
          </a:p>
          <a:p>
            <a:pPr lvl="1">
              <a:spcAft>
                <a:spcPts val="600"/>
              </a:spcAft>
              <a:defRPr sz="1400">
                <a:solidFill>
                  <a:srgbClr val="2C3E50"/>
                </a:solidFill>
              </a:defRPr>
            </a:pPr>
            <a:r>
              <a:t>  Stage: Contemplation (sees connection between drinking and depression worsening)</a:t>
            </a:r>
          </a:p>
          <a:p>
            <a:pPr>
              <a:spcAft>
                <a:spcPts val="600"/>
              </a:spcAft>
              <a:defRPr sz="1600">
                <a:solidFill>
                  <a:srgbClr val="2C3E50"/>
                </a:solidFill>
              </a:defRPr>
            </a:pPr>
          </a:p>
          <a:p>
            <a:pPr>
              <a:spcAft>
                <a:spcPts val="600"/>
              </a:spcAft>
              <a:defRPr sz="1600">
                <a:solidFill>
                  <a:srgbClr val="2C3E50"/>
                </a:solidFill>
              </a:defRPr>
            </a:pPr>
            <a:r>
              <a:t>MET FORMULATION:</a:t>
            </a:r>
          </a:p>
          <a:p>
            <a:pPr lvl="1">
              <a:spcAft>
                <a:spcPts val="600"/>
              </a:spcAft>
              <a:defRPr sz="1400">
                <a:solidFill>
                  <a:srgbClr val="2C3E50"/>
                </a:solidFill>
              </a:defRPr>
            </a:pPr>
            <a:r>
              <a:t>  Importance: 7/10 (can see alcohol worsening depression)</a:t>
            </a:r>
          </a:p>
          <a:p>
            <a:pPr lvl="1">
              <a:spcAft>
                <a:spcPts val="600"/>
              </a:spcAft>
              <a:defRPr sz="1400">
                <a:solidFill>
                  <a:srgbClr val="2C3E50"/>
                </a:solidFill>
              </a:defRPr>
            </a:pPr>
            <a:r>
              <a:t>  Confidence: 2/10 (feels hopeless; 'I can't do anything right')</a:t>
            </a:r>
          </a:p>
          <a:p>
            <a:pPr lvl="1">
              <a:spcAft>
                <a:spcPts val="600"/>
              </a:spcAft>
              <a:defRPr sz="1400">
                <a:solidFill>
                  <a:srgbClr val="2C3E50"/>
                </a:solidFill>
              </a:defRPr>
            </a:pPr>
            <a:r>
              <a:t>  Key discrepancy: Wants to feel better ↔ Alcohol is making depression worse</a:t>
            </a:r>
          </a:p>
          <a:p>
            <a:pPr>
              <a:spcAft>
                <a:spcPts val="600"/>
              </a:spcAft>
              <a:defRPr sz="1600">
                <a:solidFill>
                  <a:srgbClr val="2C3E50"/>
                </a:solidFill>
              </a:defRPr>
            </a:pPr>
          </a:p>
          <a:p>
            <a:pPr>
              <a:spcAft>
                <a:spcPts val="600"/>
              </a:spcAft>
              <a:defRPr sz="1600">
                <a:solidFill>
                  <a:srgbClr val="2C3E50"/>
                </a:solidFill>
              </a:defRPr>
            </a:pPr>
            <a:r>
              <a:t>MET SESSION PLAN:</a:t>
            </a:r>
          </a:p>
          <a:p>
            <a:pPr lvl="1">
              <a:spcAft>
                <a:spcPts val="600"/>
              </a:spcAft>
              <a:defRPr sz="1400">
                <a:solidFill>
                  <a:srgbClr val="2C3E50"/>
                </a:solidFill>
              </a:defRPr>
            </a:pPr>
            <a:r>
              <a:t>  Session 1: Feedback on depression-alcohol cycle; psychoeducation (E-P-E)</a:t>
            </a:r>
          </a:p>
          <a:p>
            <a:pPr lvl="1">
              <a:spcAft>
                <a:spcPts val="600"/>
              </a:spcAft>
              <a:defRPr sz="1400">
                <a:solidFill>
                  <a:srgbClr val="2C3E50"/>
                </a:solidFill>
              </a:defRPr>
            </a:pPr>
            <a:r>
              <a:t>  Session 2: Values (children, independence); self-efficacy building; small goals</a:t>
            </a:r>
          </a:p>
          <a:p>
            <a:pPr lvl="1">
              <a:spcAft>
                <a:spcPts val="600"/>
              </a:spcAft>
              <a:defRPr sz="1400">
                <a:solidFill>
                  <a:srgbClr val="2C3E50"/>
                </a:solidFill>
              </a:defRPr>
            </a:pPr>
            <a:r>
              <a:t>  Session 3: Progress review; address depressive cognitions; celebrate small wins</a:t>
            </a:r>
          </a:p>
          <a:p>
            <a:pPr lvl="1">
              <a:spcAft>
                <a:spcPts val="600"/>
              </a:spcAft>
              <a:defRPr sz="1400">
                <a:solidFill>
                  <a:srgbClr val="2C3E50"/>
                </a:solidFill>
              </a:defRPr>
            </a:pPr>
            <a:r>
              <a:t>  Session 4: Ongoing depression treatment plan; social support; maintenance</a:t>
            </a:r>
          </a:p>
          <a:p>
            <a:pPr>
              <a:spcAft>
                <a:spcPts val="600"/>
              </a:spcAft>
              <a:defRPr sz="1600">
                <a:solidFill>
                  <a:srgbClr val="2C3E50"/>
                </a:solidFill>
              </a:defRPr>
            </a:pPr>
          </a:p>
          <a:p>
            <a:pPr>
              <a:spcAft>
                <a:spcPts val="600"/>
              </a:spcAft>
              <a:defRPr sz="1600">
                <a:solidFill>
                  <a:srgbClr val="2C3E50"/>
                </a:solidFill>
              </a:defRPr>
            </a:pPr>
            <a:r>
              <a:t>INTEGRATION: MET for substance use + pharmacotherapy + CBT for depression</a:t>
            </a:r>
          </a:p>
          <a:p>
            <a:pPr>
              <a:spcAft>
                <a:spcPts val="600"/>
              </a:spcAft>
              <a:defRPr sz="1600">
                <a:solidFill>
                  <a:srgbClr val="2C3E50"/>
                </a:solidFill>
              </a:defRPr>
            </a:pPr>
            <a:r>
              <a:t>OUTCOME: Reduced drinking; engaged in depression treatment; improved functioning</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In dual diagnosis, MET addresses the substance use while integrating with treatment for the comorbid condition.</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 Murthy, P. (2008). NIMHANS Manual. | Baker, A.L., et al. (2012). Clinical Psychology Review, 32, 726-738.</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1D5FA6"/>
        </a:solidFill>
        <a:effectLst/>
      </p:bgPr>
    </p:bg>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914400" y="1828800"/>
            <a:ext cx="10058400" cy="1371600"/>
          </a:xfrm>
          <a:prstGeom prst="rect">
            <a:avLst/>
          </a:prstGeom>
          <a:noFill/>
        </p:spPr>
        <p:txBody>
          <a:bodyPr wrap="none">
            <a:spAutoFit/>
          </a:bodyPr>
          <a:lstStyle/>
          <a:p>
            <a:pPr algn="ctr">
              <a:defRPr sz="1800">
                <a:solidFill>
                  <a:srgbClr val="B7950B"/>
                </a:solidFill>
              </a:defRPr>
            </a:pPr>
            <a:r>
              <a:t>SECTION 18</a:t>
            </a:r>
          </a:p>
        </p:txBody>
      </p:sp>
      <p:sp>
        <p:nvSpPr>
          <p:cNvPr id="5" name="TextBox 4"/>
          <p:cNvSpPr txBox="1"/>
          <p:nvPr/>
        </p:nvSpPr>
        <p:spPr>
          <a:xfrm>
            <a:off x="914400" y="2926080"/>
            <a:ext cx="10058400" cy="1828800"/>
          </a:xfrm>
          <a:prstGeom prst="rect">
            <a:avLst/>
          </a:prstGeom>
          <a:noFill/>
        </p:spPr>
        <p:txBody>
          <a:bodyPr wrap="square">
            <a:spAutoFit/>
          </a:bodyPr>
          <a:lstStyle/>
          <a:p>
            <a:pPr algn="ctr">
              <a:defRPr sz="3600" b="1">
                <a:solidFill>
                  <a:srgbClr val="FFFFFF"/>
                </a:solidFill>
              </a:defRPr>
            </a:pPr>
            <a:r>
              <a:t>Special Populations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MET with Adolescents and Young Adults</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Adapt MET principles for adolescent and young adult populations</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UNIQUE CONSIDERATIONS:</a:t>
            </a:r>
          </a:p>
          <a:p>
            <a:pPr lvl="1">
              <a:spcAft>
                <a:spcPts val="600"/>
              </a:spcAft>
              <a:defRPr sz="1400">
                <a:solidFill>
                  <a:srgbClr val="2C3E50"/>
                </a:solidFill>
              </a:defRPr>
            </a:pPr>
            <a:r>
              <a:t>  • Developmental stage: Identity formation, peer influence paramount</a:t>
            </a:r>
          </a:p>
          <a:p>
            <a:pPr lvl="1">
              <a:spcAft>
                <a:spcPts val="600"/>
              </a:spcAft>
              <a:defRPr sz="1400">
                <a:solidFill>
                  <a:srgbClr val="2C3E50"/>
                </a:solidFill>
              </a:defRPr>
            </a:pPr>
            <a:r>
              <a:t>  • Often mandated (parents, school, courts) - may be precontemplators</a:t>
            </a:r>
          </a:p>
          <a:p>
            <a:pPr lvl="1">
              <a:spcAft>
                <a:spcPts val="600"/>
              </a:spcAft>
              <a:defRPr sz="1400">
                <a:solidFill>
                  <a:srgbClr val="2C3E50"/>
                </a:solidFill>
              </a:defRPr>
            </a:pPr>
            <a:r>
              <a:t>  • Less insight into consequences (temporal discounting)</a:t>
            </a:r>
          </a:p>
          <a:p>
            <a:pPr lvl="1">
              <a:spcAft>
                <a:spcPts val="600"/>
              </a:spcAft>
              <a:defRPr sz="1400">
                <a:solidFill>
                  <a:srgbClr val="2C3E50"/>
                </a:solidFill>
              </a:defRPr>
            </a:pPr>
            <a:r>
              <a:t>  • Stronger reactance to perceived authority</a:t>
            </a:r>
          </a:p>
          <a:p>
            <a:pPr>
              <a:spcAft>
                <a:spcPts val="600"/>
              </a:spcAft>
              <a:defRPr sz="1600">
                <a:solidFill>
                  <a:srgbClr val="2C3E50"/>
                </a:solidFill>
              </a:defRPr>
            </a:pPr>
            <a:r>
              <a:t>ADAPTATIONS:</a:t>
            </a:r>
          </a:p>
          <a:p>
            <a:pPr lvl="1">
              <a:spcAft>
                <a:spcPts val="600"/>
              </a:spcAft>
              <a:defRPr sz="1400">
                <a:solidFill>
                  <a:srgbClr val="2C3E50"/>
                </a:solidFill>
              </a:defRPr>
            </a:pPr>
            <a:r>
              <a:t>  • Emphasize autonomy even more strongly: 'It's YOUR life'</a:t>
            </a:r>
          </a:p>
          <a:p>
            <a:pPr lvl="1">
              <a:spcAft>
                <a:spcPts val="600"/>
              </a:spcAft>
              <a:defRPr sz="1400">
                <a:solidFill>
                  <a:srgbClr val="2C3E50"/>
                </a:solidFill>
              </a:defRPr>
            </a:pPr>
            <a:r>
              <a:t>  • Use peer-relevant feedback (comparison with age norms)</a:t>
            </a:r>
          </a:p>
          <a:p>
            <a:pPr lvl="1">
              <a:spcAft>
                <a:spcPts val="600"/>
              </a:spcAft>
              <a:defRPr sz="1400">
                <a:solidFill>
                  <a:srgbClr val="2C3E50"/>
                </a:solidFill>
              </a:defRPr>
            </a:pPr>
            <a:r>
              <a:t>  • Shorter sessions; more interactive; less formal</a:t>
            </a:r>
          </a:p>
          <a:p>
            <a:pPr lvl="1">
              <a:spcAft>
                <a:spcPts val="600"/>
              </a:spcAft>
              <a:defRPr sz="1400">
                <a:solidFill>
                  <a:srgbClr val="2C3E50"/>
                </a:solidFill>
              </a:defRPr>
            </a:pPr>
            <a:r>
              <a:t>  • Focus on immediate consequences (social, academic) over long-term health</a:t>
            </a:r>
          </a:p>
          <a:p>
            <a:pPr lvl="1">
              <a:spcAft>
                <a:spcPts val="600"/>
              </a:spcAft>
              <a:defRPr sz="1400">
                <a:solidFill>
                  <a:srgbClr val="2C3E50"/>
                </a:solidFill>
              </a:defRPr>
            </a:pPr>
            <a:r>
              <a:t>  • Build alliance before any feedback delivery</a:t>
            </a:r>
          </a:p>
          <a:p>
            <a:pPr lvl="1">
              <a:spcAft>
                <a:spcPts val="600"/>
              </a:spcAft>
              <a:defRPr sz="1400">
                <a:solidFill>
                  <a:srgbClr val="2C3E50"/>
                </a:solidFill>
              </a:defRPr>
            </a:pPr>
            <a:r>
              <a:t>  • Involve family sensitively (NIMHANS: family context critical in Indian settings)</a:t>
            </a:r>
          </a:p>
          <a:p>
            <a:pPr>
              <a:spcAft>
                <a:spcPts val="600"/>
              </a:spcAft>
              <a:defRPr sz="1600">
                <a:solidFill>
                  <a:srgbClr val="2C3E50"/>
                </a:solidFill>
              </a:defRPr>
            </a:pPr>
            <a:r>
              <a:t>EVIDENCE: MET effective with college student heavy drinkers (Marlatt et al., 1998)</a:t>
            </a:r>
          </a:p>
          <a:p>
            <a:pPr lvl="1">
              <a:spcAft>
                <a:spcPts val="600"/>
              </a:spcAft>
              <a:defRPr sz="1400">
                <a:solidFill>
                  <a:srgbClr val="2C3E50"/>
                </a:solidFill>
              </a:defRPr>
            </a:pPr>
            <a:r>
              <a:t>  BASICS intervention: Single MI session reduced heavy drinking at 2-year follow-up</a:t>
            </a:r>
          </a:p>
          <a:p>
            <a:pPr>
              <a:spcAft>
                <a:spcPts val="600"/>
              </a:spcAft>
              <a:defRPr sz="1600">
                <a:solidFill>
                  <a:srgbClr val="2C3E50"/>
                </a:solidFill>
              </a:defRPr>
            </a:pPr>
            <a:r>
              <a:t>NIMHANS: Adolescent substance use requires family involvement and cultural sensitivity</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Adolescent MET emphasizes autonomy strongly, uses peer-relevant feedback, and addresses immediate consequences.</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Marlatt, G.A., et al. (1998). Journal of Consulting and Clinical Psychology, 66, 604-615. | Jensen, C.D., et al. (2011). Clinical Psychology Review, 31, 1024-1036. | Murthy, P. (2008). NIMHANS Manual.</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MET with Women, Pregnant Women, and Older Adults</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Identify specific adaptations of MET for women, pregnant women, and older adults</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WOMEN:</a:t>
            </a:r>
          </a:p>
          <a:p>
            <a:pPr lvl="1">
              <a:spcAft>
                <a:spcPts val="600"/>
              </a:spcAft>
              <a:defRPr sz="1400">
                <a:solidFill>
                  <a:srgbClr val="2C3E50"/>
                </a:solidFill>
              </a:defRPr>
            </a:pPr>
            <a:r>
              <a:t>  • Greater stigma associated with substance use (especially in India)</a:t>
            </a:r>
          </a:p>
          <a:p>
            <a:pPr lvl="1">
              <a:spcAft>
                <a:spcPts val="600"/>
              </a:spcAft>
              <a:defRPr sz="1400">
                <a:solidFill>
                  <a:srgbClr val="2C3E50"/>
                </a:solidFill>
              </a:defRPr>
            </a:pPr>
            <a:r>
              <a:t>  • Often hidden drinking; delayed help-seeking</a:t>
            </a:r>
          </a:p>
          <a:p>
            <a:pPr lvl="1">
              <a:spcAft>
                <a:spcPts val="600"/>
              </a:spcAft>
              <a:defRPr sz="1400">
                <a:solidFill>
                  <a:srgbClr val="2C3E50"/>
                </a:solidFill>
              </a:defRPr>
            </a:pPr>
            <a:r>
              <a:t>  • Comorbid trauma, domestic violence, depression common</a:t>
            </a:r>
          </a:p>
          <a:p>
            <a:pPr lvl="1">
              <a:spcAft>
                <a:spcPts val="600"/>
              </a:spcAft>
              <a:defRPr sz="1400">
                <a:solidFill>
                  <a:srgbClr val="2C3E50"/>
                </a:solidFill>
              </a:defRPr>
            </a:pPr>
            <a:r>
              <a:t>  • NIMHANS: 'Women substance users are greatly stigmatized'</a:t>
            </a:r>
          </a:p>
          <a:p>
            <a:pPr lvl="1">
              <a:spcAft>
                <a:spcPts val="600"/>
              </a:spcAft>
              <a:defRPr sz="1400">
                <a:solidFill>
                  <a:srgbClr val="2C3E50"/>
                </a:solidFill>
              </a:defRPr>
            </a:pPr>
            <a:r>
              <a:t>  • Adaptations: Safety-focused; trauma-informed; address shame sensitively</a:t>
            </a:r>
          </a:p>
          <a:p>
            <a:pPr>
              <a:spcAft>
                <a:spcPts val="600"/>
              </a:spcAft>
              <a:defRPr sz="1600">
                <a:solidFill>
                  <a:srgbClr val="2C3E50"/>
                </a:solidFill>
              </a:defRPr>
            </a:pPr>
          </a:p>
          <a:p>
            <a:pPr>
              <a:spcAft>
                <a:spcPts val="600"/>
              </a:spcAft>
              <a:defRPr sz="1600">
                <a:solidFill>
                  <a:srgbClr val="2C3E50"/>
                </a:solidFill>
              </a:defRPr>
            </a:pPr>
            <a:r>
              <a:t>PREGNANT WOMEN:</a:t>
            </a:r>
          </a:p>
          <a:p>
            <a:pPr lvl="1">
              <a:spcAft>
                <a:spcPts val="600"/>
              </a:spcAft>
              <a:defRPr sz="1400">
                <a:solidFill>
                  <a:srgbClr val="2C3E50"/>
                </a:solidFill>
              </a:defRPr>
            </a:pPr>
            <a:r>
              <a:t>  • Any alcohol use carries risk (Fetal Alcohol Spectrum Disorders)</a:t>
            </a:r>
          </a:p>
          <a:p>
            <a:pPr lvl="1">
              <a:spcAft>
                <a:spcPts val="600"/>
              </a:spcAft>
              <a:defRPr sz="1400">
                <a:solidFill>
                  <a:srgbClr val="2C3E50"/>
                </a:solidFill>
              </a:defRPr>
            </a:pPr>
            <a:r>
              <a:t>  • High motivation (baby's health) but high guilt and shame</a:t>
            </a:r>
          </a:p>
          <a:p>
            <a:pPr lvl="1">
              <a:spcAft>
                <a:spcPts val="600"/>
              </a:spcAft>
              <a:defRPr sz="1400">
                <a:solidFill>
                  <a:srgbClr val="2C3E50"/>
                </a:solidFill>
              </a:defRPr>
            </a:pPr>
            <a:r>
              <a:t>  • MET well-suited: Non-judgmental, builds on existing maternal motivation</a:t>
            </a:r>
          </a:p>
          <a:p>
            <a:pPr lvl="1">
              <a:spcAft>
                <a:spcPts val="600"/>
              </a:spcAft>
              <a:defRPr sz="1400">
                <a:solidFill>
                  <a:srgbClr val="2C3E50"/>
                </a:solidFill>
              </a:defRPr>
            </a:pPr>
            <a:r>
              <a:t>  • Evidence: Brief MI reduces alcohol use in pregnant women (Handmaker et al., 1999)</a:t>
            </a:r>
          </a:p>
          <a:p>
            <a:pPr>
              <a:spcAft>
                <a:spcPts val="600"/>
              </a:spcAft>
              <a:defRPr sz="1600">
                <a:solidFill>
                  <a:srgbClr val="2C3E50"/>
                </a:solidFill>
              </a:defRPr>
            </a:pPr>
          </a:p>
          <a:p>
            <a:pPr>
              <a:spcAft>
                <a:spcPts val="600"/>
              </a:spcAft>
              <a:defRPr sz="1600">
                <a:solidFill>
                  <a:srgbClr val="2C3E50"/>
                </a:solidFill>
              </a:defRPr>
            </a:pPr>
            <a:r>
              <a:t>OLDER ADULTS:</a:t>
            </a:r>
          </a:p>
          <a:p>
            <a:pPr lvl="1">
              <a:spcAft>
                <a:spcPts val="600"/>
              </a:spcAft>
              <a:defRPr sz="1400">
                <a:solidFill>
                  <a:srgbClr val="2C3E50"/>
                </a:solidFill>
              </a:defRPr>
            </a:pPr>
            <a:r>
              <a:t>  • Increased sensitivity to alcohol (pharmacokinetic changes)</a:t>
            </a:r>
          </a:p>
          <a:p>
            <a:pPr lvl="1">
              <a:spcAft>
                <a:spcPts val="600"/>
              </a:spcAft>
              <a:defRPr sz="1400">
                <a:solidFill>
                  <a:srgbClr val="2C3E50"/>
                </a:solidFill>
              </a:defRPr>
            </a:pPr>
            <a:r>
              <a:t>  • Loss, loneliness, retirement may drive use</a:t>
            </a:r>
          </a:p>
          <a:p>
            <a:pPr lvl="1">
              <a:spcAft>
                <a:spcPts val="600"/>
              </a:spcAft>
              <a:defRPr sz="1400">
                <a:solidFill>
                  <a:srgbClr val="2C3E50"/>
                </a:solidFill>
              </a:defRPr>
            </a:pPr>
            <a:r>
              <a:t>  • Fewer social consequences may reduce discrepancy</a:t>
            </a:r>
          </a:p>
          <a:p>
            <a:pPr lvl="1">
              <a:spcAft>
                <a:spcPts val="600"/>
              </a:spcAft>
              <a:defRPr sz="1400">
                <a:solidFill>
                  <a:srgbClr val="2C3E50"/>
                </a:solidFill>
              </a:defRPr>
            </a:pPr>
            <a:r>
              <a:t>  • Adaptations: Focus on health consequences, medication interactions, quality of life</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Each population requires tailored MET adaptations addressing unique barriers, stigma, and motivational factors.</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Murthy, P. (2008). NIMHANS Manual. | Handmaker, N.S., et al. (1999). Journal of Consulting and Clinical Psychology, 67, 285-290. | Blow, F.C., &amp; Barry, K.L. (2012). Alcohol Research, 34, 18-28.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MET in Medical Settings: HIV, Diabetes, Cancer</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Apply MET principles in medical settings for health behavior change</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MEDICAL SETTINGS - MET Applications Beyond Addiction:</a:t>
            </a:r>
          </a:p>
          <a:p>
            <a:pPr>
              <a:spcAft>
                <a:spcPts val="600"/>
              </a:spcAft>
              <a:defRPr sz="1600">
                <a:solidFill>
                  <a:srgbClr val="2C3E50"/>
                </a:solidFill>
              </a:defRPr>
            </a:pPr>
          </a:p>
          <a:p>
            <a:pPr>
              <a:spcAft>
                <a:spcPts val="600"/>
              </a:spcAft>
              <a:defRPr sz="1600">
                <a:solidFill>
                  <a:srgbClr val="2C3E50"/>
                </a:solidFill>
              </a:defRPr>
            </a:pPr>
            <a:r>
              <a:t>HIV/AIDS:</a:t>
            </a:r>
          </a:p>
          <a:p>
            <a:pPr lvl="1">
              <a:spcAft>
                <a:spcPts val="600"/>
              </a:spcAft>
              <a:defRPr sz="1400">
                <a:solidFill>
                  <a:srgbClr val="2C3E50"/>
                </a:solidFill>
              </a:defRPr>
            </a:pPr>
            <a:r>
              <a:t>  • Medication adherence (antiretroviral therapy)</a:t>
            </a:r>
          </a:p>
          <a:p>
            <a:pPr lvl="1">
              <a:spcAft>
                <a:spcPts val="600"/>
              </a:spcAft>
              <a:defRPr sz="1400">
                <a:solidFill>
                  <a:srgbClr val="2C3E50"/>
                </a:solidFill>
              </a:defRPr>
            </a:pPr>
            <a:r>
              <a:t>  • Risk reduction (safe sex, needle exchange)</a:t>
            </a:r>
          </a:p>
          <a:p>
            <a:pPr lvl="1">
              <a:spcAft>
                <a:spcPts val="600"/>
              </a:spcAft>
              <a:defRPr sz="1400">
                <a:solidFill>
                  <a:srgbClr val="2C3E50"/>
                </a:solidFill>
              </a:defRPr>
            </a:pPr>
            <a:r>
              <a:t>  • Substance use complicating HIV treatment</a:t>
            </a:r>
          </a:p>
          <a:p>
            <a:pPr lvl="1">
              <a:spcAft>
                <a:spcPts val="600"/>
              </a:spcAft>
              <a:defRPr sz="1400">
                <a:solidFill>
                  <a:srgbClr val="2C3E50"/>
                </a:solidFill>
              </a:defRPr>
            </a:pPr>
            <a:r>
              <a:t>  • Evidence: MI improves ART adherence (Parsons et al., 2007)</a:t>
            </a:r>
          </a:p>
          <a:p>
            <a:pPr>
              <a:spcAft>
                <a:spcPts val="600"/>
              </a:spcAft>
              <a:defRPr sz="1600">
                <a:solidFill>
                  <a:srgbClr val="2C3E50"/>
                </a:solidFill>
              </a:defRPr>
            </a:pPr>
          </a:p>
          <a:p>
            <a:pPr>
              <a:spcAft>
                <a:spcPts val="600"/>
              </a:spcAft>
              <a:defRPr sz="1600">
                <a:solidFill>
                  <a:srgbClr val="2C3E50"/>
                </a:solidFill>
              </a:defRPr>
            </a:pPr>
            <a:r>
              <a:t>DIABETES:</a:t>
            </a:r>
          </a:p>
          <a:p>
            <a:pPr lvl="1">
              <a:spcAft>
                <a:spcPts val="600"/>
              </a:spcAft>
              <a:defRPr sz="1400">
                <a:solidFill>
                  <a:srgbClr val="2C3E50"/>
                </a:solidFill>
              </a:defRPr>
            </a:pPr>
            <a:r>
              <a:t>  • Lifestyle change (diet, exercise, medication adherence)</a:t>
            </a:r>
          </a:p>
          <a:p>
            <a:pPr lvl="1">
              <a:spcAft>
                <a:spcPts val="600"/>
              </a:spcAft>
              <a:defRPr sz="1400">
                <a:solidFill>
                  <a:srgbClr val="2C3E50"/>
                </a:solidFill>
              </a:defRPr>
            </a:pPr>
            <a:r>
              <a:t>  • Blood sugar monitoring compliance</a:t>
            </a:r>
          </a:p>
          <a:p>
            <a:pPr lvl="1">
              <a:spcAft>
                <a:spcPts val="600"/>
              </a:spcAft>
              <a:defRPr sz="1400">
                <a:solidFill>
                  <a:srgbClr val="2C3E50"/>
                </a:solidFill>
              </a:defRPr>
            </a:pPr>
            <a:r>
              <a:t>  • MET for ambivalence about lifestyle restrictions</a:t>
            </a:r>
          </a:p>
          <a:p>
            <a:pPr>
              <a:spcAft>
                <a:spcPts val="600"/>
              </a:spcAft>
              <a:defRPr sz="1600">
                <a:solidFill>
                  <a:srgbClr val="2C3E50"/>
                </a:solidFill>
              </a:defRPr>
            </a:pPr>
          </a:p>
          <a:p>
            <a:pPr>
              <a:spcAft>
                <a:spcPts val="600"/>
              </a:spcAft>
              <a:defRPr sz="1600">
                <a:solidFill>
                  <a:srgbClr val="2C3E50"/>
                </a:solidFill>
              </a:defRPr>
            </a:pPr>
            <a:r>
              <a:t>CANCER:</a:t>
            </a:r>
          </a:p>
          <a:p>
            <a:pPr lvl="1">
              <a:spcAft>
                <a:spcPts val="600"/>
              </a:spcAft>
              <a:defRPr sz="1400">
                <a:solidFill>
                  <a:srgbClr val="2C3E50"/>
                </a:solidFill>
              </a:defRPr>
            </a:pPr>
            <a:r>
              <a:t>  • Smoking cessation post-diagnosis</a:t>
            </a:r>
          </a:p>
          <a:p>
            <a:pPr lvl="1">
              <a:spcAft>
                <a:spcPts val="600"/>
              </a:spcAft>
              <a:defRPr sz="1400">
                <a:solidFill>
                  <a:srgbClr val="2C3E50"/>
                </a:solidFill>
              </a:defRPr>
            </a:pPr>
            <a:r>
              <a:t>  • Treatment adherence (chemotherapy)</a:t>
            </a:r>
          </a:p>
          <a:p>
            <a:pPr lvl="1">
              <a:spcAft>
                <a:spcPts val="600"/>
              </a:spcAft>
              <a:defRPr sz="1400">
                <a:solidFill>
                  <a:srgbClr val="2C3E50"/>
                </a:solidFill>
              </a:defRPr>
            </a:pPr>
            <a:r>
              <a:t>  • Pain management without substance misuse</a:t>
            </a:r>
          </a:p>
          <a:p>
            <a:pPr>
              <a:spcAft>
                <a:spcPts val="600"/>
              </a:spcAft>
              <a:defRPr sz="1600">
                <a:solidFill>
                  <a:srgbClr val="2C3E50"/>
                </a:solidFill>
              </a:defRPr>
            </a:pPr>
          </a:p>
          <a:p>
            <a:pPr>
              <a:spcAft>
                <a:spcPts val="600"/>
              </a:spcAft>
              <a:defRPr sz="1600">
                <a:solidFill>
                  <a:srgbClr val="2C3E50"/>
                </a:solidFill>
              </a:defRPr>
            </a:pPr>
            <a:r>
              <a:t>PRIMARY CARE INTEGRATION (NIMHANS Model):</a:t>
            </a:r>
          </a:p>
          <a:p>
            <a:pPr lvl="1">
              <a:spcAft>
                <a:spcPts val="600"/>
              </a:spcAft>
              <a:defRPr sz="1400">
                <a:solidFill>
                  <a:srgbClr val="2C3E50"/>
                </a:solidFill>
              </a:defRPr>
            </a:pPr>
            <a:r>
              <a:t>  • Brief interventions by non-specialists</a:t>
            </a:r>
          </a:p>
          <a:p>
            <a:pPr lvl="1">
              <a:spcAft>
                <a:spcPts val="600"/>
              </a:spcAft>
              <a:defRPr sz="1400">
                <a:solidFill>
                  <a:srgbClr val="2C3E50"/>
                </a:solidFill>
              </a:defRPr>
            </a:pPr>
            <a:r>
              <a:t>  • 5-A strategy: Ask, Assess, Advise, Assist, Arrange</a:t>
            </a:r>
          </a:p>
          <a:p>
            <a:pPr lvl="1">
              <a:spcAft>
                <a:spcPts val="600"/>
              </a:spcAft>
              <a:defRPr sz="1400">
                <a:solidFill>
                  <a:srgbClr val="2C3E50"/>
                </a:solidFill>
              </a:defRPr>
            </a:pPr>
            <a:r>
              <a:t>  • Physicians as agents of change</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MET principles apply to any health behavior change: medication adherence, lifestyle modification, risk reduction.</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Murthy, P. (2008). NIMHANS Manual, pp. 1-3. | Parsons, J.T., et al. (2007). AIDS and Behavior, 11, 725-734. | Rubak, S., et al. (2005). British Journal of General Practice, 55, 305-312.</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1D5FA6"/>
        </a:solidFill>
        <a:effectLst/>
      </p:bgPr>
    </p:bg>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914400" y="1828800"/>
            <a:ext cx="10058400" cy="1371600"/>
          </a:xfrm>
          <a:prstGeom prst="rect">
            <a:avLst/>
          </a:prstGeom>
          <a:noFill/>
        </p:spPr>
        <p:txBody>
          <a:bodyPr wrap="none">
            <a:spAutoFit/>
          </a:bodyPr>
          <a:lstStyle/>
          <a:p>
            <a:pPr algn="ctr">
              <a:defRPr sz="1800">
                <a:solidFill>
                  <a:srgbClr val="B7950B"/>
                </a:solidFill>
              </a:defRPr>
            </a:pPr>
            <a:r>
              <a:t>SECTION 19</a:t>
            </a:r>
          </a:p>
        </p:txBody>
      </p:sp>
      <p:sp>
        <p:nvSpPr>
          <p:cNvPr id="5" name="TextBox 4"/>
          <p:cNvSpPr txBox="1"/>
          <p:nvPr/>
        </p:nvSpPr>
        <p:spPr>
          <a:xfrm>
            <a:off x="914400" y="2926080"/>
            <a:ext cx="10058400" cy="1828800"/>
          </a:xfrm>
          <a:prstGeom prst="rect">
            <a:avLst/>
          </a:prstGeom>
          <a:noFill/>
        </p:spPr>
        <p:txBody>
          <a:bodyPr wrap="square">
            <a:spAutoFit/>
          </a:bodyPr>
          <a:lstStyle/>
          <a:p>
            <a:pPr algn="ctr">
              <a:defRPr sz="3600" b="1">
                <a:solidFill>
                  <a:srgbClr val="FFFFFF"/>
                </a:solidFill>
              </a:defRPr>
            </a:pPr>
            <a:r>
              <a:t>Applications Beyond Addiction</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MET for Health Behavior Change</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Identify diverse health behavior change applications of MET beyond addiction</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MET/MI principles have been successfully applied to:</a:t>
            </a:r>
          </a:p>
          <a:p>
            <a:pPr>
              <a:spcAft>
                <a:spcPts val="600"/>
              </a:spcAft>
              <a:defRPr sz="1600">
                <a:solidFill>
                  <a:srgbClr val="2C3E50"/>
                </a:solidFill>
              </a:defRPr>
            </a:pPr>
          </a:p>
          <a:p>
            <a:pPr>
              <a:spcAft>
                <a:spcPts val="600"/>
              </a:spcAft>
              <a:defRPr sz="1600">
                <a:solidFill>
                  <a:srgbClr val="2C3E50"/>
                </a:solidFill>
              </a:defRPr>
            </a:pPr>
            <a:r>
              <a:t>LIFESTYLE BEHAVIORS:</a:t>
            </a:r>
          </a:p>
          <a:p>
            <a:pPr lvl="1">
              <a:spcAft>
                <a:spcPts val="600"/>
              </a:spcAft>
              <a:defRPr sz="1400">
                <a:solidFill>
                  <a:srgbClr val="2C3E50"/>
                </a:solidFill>
              </a:defRPr>
            </a:pPr>
            <a:r>
              <a:t>  • Smoking cessation (Hettema &amp; Hendricks, 2010)</a:t>
            </a:r>
          </a:p>
          <a:p>
            <a:pPr lvl="1">
              <a:spcAft>
                <a:spcPts val="600"/>
              </a:spcAft>
              <a:defRPr sz="1400">
                <a:solidFill>
                  <a:srgbClr val="2C3E50"/>
                </a:solidFill>
              </a:defRPr>
            </a:pPr>
            <a:r>
              <a:t>  • Weight management and obesity (Armstrong et al., 2011)</a:t>
            </a:r>
          </a:p>
          <a:p>
            <a:pPr lvl="1">
              <a:spcAft>
                <a:spcPts val="600"/>
              </a:spcAft>
              <a:defRPr sz="1400">
                <a:solidFill>
                  <a:srgbClr val="2C3E50"/>
                </a:solidFill>
              </a:defRPr>
            </a:pPr>
            <a:r>
              <a:t>  • Physical activity/exercise promotion</a:t>
            </a:r>
          </a:p>
          <a:p>
            <a:pPr lvl="1">
              <a:spcAft>
                <a:spcPts val="600"/>
              </a:spcAft>
              <a:defRPr sz="1400">
                <a:solidFill>
                  <a:srgbClr val="2C3E50"/>
                </a:solidFill>
              </a:defRPr>
            </a:pPr>
            <a:r>
              <a:t>  • Dietary change (fruit/vegetable intake, salt reduction)</a:t>
            </a:r>
          </a:p>
          <a:p>
            <a:pPr>
              <a:spcAft>
                <a:spcPts val="600"/>
              </a:spcAft>
              <a:defRPr sz="1600">
                <a:solidFill>
                  <a:srgbClr val="2C3E50"/>
                </a:solidFill>
              </a:defRPr>
            </a:pPr>
          </a:p>
          <a:p>
            <a:pPr>
              <a:spcAft>
                <a:spcPts val="600"/>
              </a:spcAft>
              <a:defRPr sz="1600">
                <a:solidFill>
                  <a:srgbClr val="2C3E50"/>
                </a:solidFill>
              </a:defRPr>
            </a:pPr>
            <a:r>
              <a:t>CHRONIC DISEASE MANAGEMENT:</a:t>
            </a:r>
          </a:p>
          <a:p>
            <a:pPr lvl="1">
              <a:spcAft>
                <a:spcPts val="600"/>
              </a:spcAft>
              <a:defRPr sz="1400">
                <a:solidFill>
                  <a:srgbClr val="2C3E50"/>
                </a:solidFill>
              </a:defRPr>
            </a:pPr>
            <a:r>
              <a:t>  • Diabetes self-management (Channon et al., 2007)</a:t>
            </a:r>
          </a:p>
          <a:p>
            <a:pPr lvl="1">
              <a:spcAft>
                <a:spcPts val="600"/>
              </a:spcAft>
              <a:defRPr sz="1400">
                <a:solidFill>
                  <a:srgbClr val="2C3E50"/>
                </a:solidFill>
              </a:defRPr>
            </a:pPr>
            <a:r>
              <a:t>  • Hypertension medication adherence</a:t>
            </a:r>
          </a:p>
          <a:p>
            <a:pPr lvl="1">
              <a:spcAft>
                <a:spcPts val="600"/>
              </a:spcAft>
              <a:defRPr sz="1400">
                <a:solidFill>
                  <a:srgbClr val="2C3E50"/>
                </a:solidFill>
              </a:defRPr>
            </a:pPr>
            <a:r>
              <a:t>  • Asthma management</a:t>
            </a:r>
          </a:p>
          <a:p>
            <a:pPr lvl="1">
              <a:spcAft>
                <a:spcPts val="600"/>
              </a:spcAft>
              <a:defRPr sz="1400">
                <a:solidFill>
                  <a:srgbClr val="2C3E50"/>
                </a:solidFill>
              </a:defRPr>
            </a:pPr>
            <a:r>
              <a:t>  • Pain management (Alperstein &amp; Sharpe, 2016)</a:t>
            </a:r>
          </a:p>
          <a:p>
            <a:pPr>
              <a:spcAft>
                <a:spcPts val="600"/>
              </a:spcAft>
              <a:defRPr sz="1600">
                <a:solidFill>
                  <a:srgbClr val="2C3E50"/>
                </a:solidFill>
              </a:defRPr>
            </a:pPr>
          </a:p>
          <a:p>
            <a:pPr>
              <a:spcAft>
                <a:spcPts val="600"/>
              </a:spcAft>
              <a:defRPr sz="1600">
                <a:solidFill>
                  <a:srgbClr val="2C3E50"/>
                </a:solidFill>
              </a:defRPr>
            </a:pPr>
            <a:r>
              <a:t>MENTAL HEALTH:</a:t>
            </a:r>
          </a:p>
          <a:p>
            <a:pPr lvl="1">
              <a:spcAft>
                <a:spcPts val="600"/>
              </a:spcAft>
              <a:defRPr sz="1400">
                <a:solidFill>
                  <a:srgbClr val="2C3E50"/>
                </a:solidFill>
              </a:defRPr>
            </a:pPr>
            <a:r>
              <a:t>  • Treatment engagement for anxiety disorders</a:t>
            </a:r>
          </a:p>
          <a:p>
            <a:pPr lvl="1">
              <a:spcAft>
                <a:spcPts val="600"/>
              </a:spcAft>
              <a:defRPr sz="1400">
                <a:solidFill>
                  <a:srgbClr val="2C3E50"/>
                </a:solidFill>
              </a:defRPr>
            </a:pPr>
            <a:r>
              <a:t>  • Medication adherence in psychosis</a:t>
            </a:r>
          </a:p>
          <a:p>
            <a:pPr lvl="1">
              <a:spcAft>
                <a:spcPts val="600"/>
              </a:spcAft>
              <a:defRPr sz="1400">
                <a:solidFill>
                  <a:srgbClr val="2C3E50"/>
                </a:solidFill>
              </a:defRPr>
            </a:pPr>
            <a:r>
              <a:t>  • Eating disorders (Treasure &amp; Schmidt, 2008)</a:t>
            </a:r>
          </a:p>
          <a:p>
            <a:pPr lvl="1">
              <a:spcAft>
                <a:spcPts val="600"/>
              </a:spcAft>
              <a:defRPr sz="1400">
                <a:solidFill>
                  <a:srgbClr val="2C3E50"/>
                </a:solidFill>
              </a:defRPr>
            </a:pPr>
            <a:r>
              <a:t>  • Gambling disorder</a:t>
            </a:r>
          </a:p>
          <a:p>
            <a:pPr>
              <a:spcAft>
                <a:spcPts val="600"/>
              </a:spcAft>
              <a:defRPr sz="1600">
                <a:solidFill>
                  <a:srgbClr val="2C3E50"/>
                </a:solidFill>
              </a:defRPr>
            </a:pPr>
          </a:p>
          <a:p>
            <a:pPr>
              <a:spcAft>
                <a:spcPts val="600"/>
              </a:spcAft>
              <a:defRPr sz="1600">
                <a:solidFill>
                  <a:srgbClr val="2C3E50"/>
                </a:solidFill>
              </a:defRPr>
            </a:pPr>
            <a:r>
              <a:t>COMMON PRINCIPLE: Wherever ambivalence about change exists, MET is applicable</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MET principles apply wherever ambivalence exists - from substance use to exercise to medication adherence.</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Rubak, S., et al. (2005). British Journal of General Practice, 55, 305-312. | Lundahl, B., et al. (2013). Patient Education and Counseling, 93, 157-168. | Hettema, J., et al. (2005). Annual Review of Clinical Psychology, 1, 91-111.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1D5FA6"/>
        </a:solidFill>
        <a:effectLst/>
      </p:bgPr>
    </p:bg>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914400" y="1828800"/>
            <a:ext cx="10058400" cy="1371600"/>
          </a:xfrm>
          <a:prstGeom prst="rect">
            <a:avLst/>
          </a:prstGeom>
          <a:noFill/>
        </p:spPr>
        <p:txBody>
          <a:bodyPr wrap="none">
            <a:spAutoFit/>
          </a:bodyPr>
          <a:lstStyle/>
          <a:p>
            <a:pPr algn="ctr">
              <a:defRPr sz="1800">
                <a:solidFill>
                  <a:srgbClr val="B7950B"/>
                </a:solidFill>
              </a:defRPr>
            </a:pPr>
            <a:r>
              <a:t>SECTION 20</a:t>
            </a:r>
          </a:p>
        </p:txBody>
      </p:sp>
      <p:sp>
        <p:nvSpPr>
          <p:cNvPr id="5" name="TextBox 4"/>
          <p:cNvSpPr txBox="1"/>
          <p:nvPr/>
        </p:nvSpPr>
        <p:spPr>
          <a:xfrm>
            <a:off x="914400" y="2926080"/>
            <a:ext cx="10058400" cy="1828800"/>
          </a:xfrm>
          <a:prstGeom prst="rect">
            <a:avLst/>
          </a:prstGeom>
          <a:noFill/>
        </p:spPr>
        <p:txBody>
          <a:bodyPr wrap="square">
            <a:spAutoFit/>
          </a:bodyPr>
          <a:lstStyle/>
          <a:p>
            <a:pPr algn="ctr">
              <a:defRPr sz="3600" b="1">
                <a:solidFill>
                  <a:srgbClr val="FFFFFF"/>
                </a:solidFill>
              </a:defRPr>
            </a:pPr>
            <a:r>
              <a:t>Research Evidence for MET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Major Randomized Controlled Trials</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Summarize major RCTs supporting MET effectiveness</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PROJECT MATCH (1997): N=1,726</a:t>
            </a:r>
          </a:p>
          <a:p>
            <a:pPr lvl="1">
              <a:spcAft>
                <a:spcPts val="600"/>
              </a:spcAft>
              <a:defRPr sz="1400">
                <a:solidFill>
                  <a:srgbClr val="2C3E50"/>
                </a:solidFill>
              </a:defRPr>
            </a:pPr>
            <a:r>
              <a:t>  • 3-arm RCT: MET (4 sessions) vs. CBT (12) vs. TSF (12)</a:t>
            </a:r>
          </a:p>
          <a:p>
            <a:pPr lvl="1">
              <a:spcAft>
                <a:spcPts val="600"/>
              </a:spcAft>
              <a:defRPr sz="1400">
                <a:solidFill>
                  <a:srgbClr val="2C3E50"/>
                </a:solidFill>
              </a:defRPr>
            </a:pPr>
            <a:r>
              <a:t>  • Result: All effective; MET equivalent with 1/3 sessions</a:t>
            </a:r>
          </a:p>
          <a:p>
            <a:pPr lvl="1">
              <a:spcAft>
                <a:spcPts val="600"/>
              </a:spcAft>
              <a:defRPr sz="1400">
                <a:solidFill>
                  <a:srgbClr val="2C3E50"/>
                </a:solidFill>
              </a:defRPr>
            </a:pPr>
            <a:r>
              <a:t>  • 3-year follow-up: Gains maintained across all groups</a:t>
            </a:r>
          </a:p>
          <a:p>
            <a:pPr>
              <a:spcAft>
                <a:spcPts val="600"/>
              </a:spcAft>
              <a:defRPr sz="1600">
                <a:solidFill>
                  <a:srgbClr val="2C3E50"/>
                </a:solidFill>
              </a:defRPr>
            </a:pPr>
          </a:p>
          <a:p>
            <a:pPr>
              <a:spcAft>
                <a:spcPts val="600"/>
              </a:spcAft>
              <a:defRPr sz="1600">
                <a:solidFill>
                  <a:srgbClr val="2C3E50"/>
                </a:solidFill>
              </a:defRPr>
            </a:pPr>
            <a:r>
              <a:t>UKATT (2005): N=742 (UK Alcohol Treatment Trial)</a:t>
            </a:r>
          </a:p>
          <a:p>
            <a:pPr lvl="1">
              <a:spcAft>
                <a:spcPts val="600"/>
              </a:spcAft>
              <a:defRPr sz="1400">
                <a:solidFill>
                  <a:srgbClr val="2C3E50"/>
                </a:solidFill>
              </a:defRPr>
            </a:pPr>
            <a:r>
              <a:t>  • MET (3 sessions) vs. Social Behaviour Network Therapy (8 sessions)</a:t>
            </a:r>
          </a:p>
          <a:p>
            <a:pPr lvl="1">
              <a:spcAft>
                <a:spcPts val="600"/>
              </a:spcAft>
              <a:defRPr sz="1400">
                <a:solidFill>
                  <a:srgbClr val="2C3E50"/>
                </a:solidFill>
              </a:defRPr>
            </a:pPr>
            <a:r>
              <a:t>  • Result: Equivalent outcomes; MET more cost-effective</a:t>
            </a:r>
          </a:p>
          <a:p>
            <a:pPr>
              <a:spcAft>
                <a:spcPts val="600"/>
              </a:spcAft>
              <a:defRPr sz="1600">
                <a:solidFill>
                  <a:srgbClr val="2C3E50"/>
                </a:solidFill>
              </a:defRPr>
            </a:pPr>
          </a:p>
          <a:p>
            <a:pPr>
              <a:spcAft>
                <a:spcPts val="600"/>
              </a:spcAft>
              <a:defRPr sz="1600">
                <a:solidFill>
                  <a:srgbClr val="2C3E50"/>
                </a:solidFill>
              </a:defRPr>
            </a:pPr>
            <a:r>
              <a:t>COMBINE Study (2006): N=1,383</a:t>
            </a:r>
          </a:p>
          <a:p>
            <a:pPr lvl="1">
              <a:spcAft>
                <a:spcPts val="600"/>
              </a:spcAft>
              <a:defRPr sz="1400">
                <a:solidFill>
                  <a:srgbClr val="2C3E50"/>
                </a:solidFill>
              </a:defRPr>
            </a:pPr>
            <a:r>
              <a:t>  • MET + CBT + Naltrexone combinations</a:t>
            </a:r>
          </a:p>
          <a:p>
            <a:pPr lvl="1">
              <a:spcAft>
                <a:spcPts val="600"/>
              </a:spcAft>
              <a:defRPr sz="1400">
                <a:solidFill>
                  <a:srgbClr val="2C3E50"/>
                </a:solidFill>
              </a:defRPr>
            </a:pPr>
            <a:r>
              <a:t>  • Result: Combined medical management + MI = good outcomes</a:t>
            </a:r>
          </a:p>
          <a:p>
            <a:pPr>
              <a:spcAft>
                <a:spcPts val="600"/>
              </a:spcAft>
              <a:defRPr sz="1600">
                <a:solidFill>
                  <a:srgbClr val="2C3E50"/>
                </a:solidFill>
              </a:defRPr>
            </a:pPr>
          </a:p>
          <a:p>
            <a:pPr>
              <a:spcAft>
                <a:spcPts val="600"/>
              </a:spcAft>
              <a:defRPr sz="1600">
                <a:solidFill>
                  <a:srgbClr val="2C3E50"/>
                </a:solidFill>
              </a:defRPr>
            </a:pPr>
            <a:r>
              <a:t>Brief Interventions Meta-analysis (Bien et al., 1993):</a:t>
            </a:r>
          </a:p>
          <a:p>
            <a:pPr lvl="1">
              <a:spcAft>
                <a:spcPts val="600"/>
              </a:spcAft>
              <a:defRPr sz="1400">
                <a:solidFill>
                  <a:srgbClr val="2C3E50"/>
                </a:solidFill>
              </a:defRPr>
            </a:pPr>
            <a:r>
              <a:t>  • FRAMES-based interventions reduce drinking by 20-30%</a:t>
            </a:r>
          </a:p>
          <a:p>
            <a:pPr lvl="1">
              <a:spcAft>
                <a:spcPts val="600"/>
              </a:spcAft>
              <a:defRPr sz="1400">
                <a:solidFill>
                  <a:srgbClr val="2C3E50"/>
                </a:solidFill>
              </a:defRPr>
            </a:pPr>
            <a:r>
              <a:t>  • Effect comparable to more intensive treatments</a:t>
            </a:r>
          </a:p>
          <a:p>
            <a:pPr>
              <a:spcAft>
                <a:spcPts val="600"/>
              </a:spcAft>
              <a:defRPr sz="1600">
                <a:solidFill>
                  <a:srgbClr val="2C3E50"/>
                </a:solidFill>
              </a:defRPr>
            </a:pPr>
          </a:p>
          <a:p>
            <a:pPr>
              <a:spcAft>
                <a:spcPts val="600"/>
              </a:spcAft>
              <a:defRPr sz="1600">
                <a:solidFill>
                  <a:srgbClr val="2C3E50"/>
                </a:solidFill>
              </a:defRPr>
            </a:pPr>
            <a:r>
              <a:t>Overall: &gt;200 RCTs support MI/MET across substances and populations</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200+ RCTs support MI/MET; Project MATCH showed 4 sessions of MET matches 12 sessions of other treatments.</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Project MATCH Research Group. (1997). JOSA, 58, 7-29. | UKATT Research Team. (2005). BMJ, 331, 541. | Anton, R.F., et al. (2006). JAMA, 295, 2003-2017. | Bien, T.H., Miller, W.R., &amp; Tonigan, S. (1993). Addiction, 88, 315-336.</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Meta-Analyses and Systematic Reviews</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Evaluate the meta-analytic evidence supporting MET effectiveness</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KEY META-ANALYSES:</a:t>
            </a:r>
          </a:p>
          <a:p>
            <a:pPr>
              <a:spcAft>
                <a:spcPts val="600"/>
              </a:spcAft>
              <a:defRPr sz="1600">
                <a:solidFill>
                  <a:srgbClr val="2C3E50"/>
                </a:solidFill>
              </a:defRPr>
            </a:pPr>
          </a:p>
          <a:p>
            <a:pPr>
              <a:spcAft>
                <a:spcPts val="600"/>
              </a:spcAft>
              <a:defRPr sz="1600">
                <a:solidFill>
                  <a:srgbClr val="2C3E50"/>
                </a:solidFill>
              </a:defRPr>
            </a:pPr>
            <a:r>
              <a:t>Burke et al. (2003): 30 studies; MI effect size d=0.25-0.57</a:t>
            </a:r>
          </a:p>
          <a:p>
            <a:pPr lvl="1">
              <a:spcAft>
                <a:spcPts val="600"/>
              </a:spcAft>
              <a:defRPr sz="1400">
                <a:solidFill>
                  <a:srgbClr val="2C3E50"/>
                </a:solidFill>
              </a:defRPr>
            </a:pPr>
            <a:r>
              <a:t>  Strongest effects for alcohol, drugs, diet, exercise</a:t>
            </a:r>
          </a:p>
          <a:p>
            <a:pPr>
              <a:spcAft>
                <a:spcPts val="600"/>
              </a:spcAft>
              <a:defRPr sz="1600">
                <a:solidFill>
                  <a:srgbClr val="2C3E50"/>
                </a:solidFill>
              </a:defRPr>
            </a:pPr>
          </a:p>
          <a:p>
            <a:pPr>
              <a:spcAft>
                <a:spcPts val="600"/>
              </a:spcAft>
              <a:defRPr sz="1600">
                <a:solidFill>
                  <a:srgbClr val="2C3E50"/>
                </a:solidFill>
              </a:defRPr>
            </a:pPr>
            <a:r>
              <a:t>Hettema et al. (2005): 72 clinical trials reviewed</a:t>
            </a:r>
          </a:p>
          <a:p>
            <a:pPr lvl="1">
              <a:spcAft>
                <a:spcPts val="600"/>
              </a:spcAft>
              <a:defRPr sz="1400">
                <a:solidFill>
                  <a:srgbClr val="2C3E50"/>
                </a:solidFill>
              </a:defRPr>
            </a:pPr>
            <a:r>
              <a:t>  MI effective across multiple problem behaviors</a:t>
            </a:r>
          </a:p>
          <a:p>
            <a:pPr lvl="1">
              <a:spcAft>
                <a:spcPts val="600"/>
              </a:spcAft>
              <a:defRPr sz="1400">
                <a:solidFill>
                  <a:srgbClr val="2C3E50"/>
                </a:solidFill>
              </a:defRPr>
            </a:pPr>
            <a:r>
              <a:t>  Effects enhanced when combined with other active treatment</a:t>
            </a:r>
          </a:p>
          <a:p>
            <a:pPr>
              <a:spcAft>
                <a:spcPts val="600"/>
              </a:spcAft>
              <a:defRPr sz="1600">
                <a:solidFill>
                  <a:srgbClr val="2C3E50"/>
                </a:solidFill>
              </a:defRPr>
            </a:pPr>
          </a:p>
          <a:p>
            <a:pPr>
              <a:spcAft>
                <a:spcPts val="600"/>
              </a:spcAft>
              <a:defRPr sz="1600">
                <a:solidFill>
                  <a:srgbClr val="2C3E50"/>
                </a:solidFill>
              </a:defRPr>
            </a:pPr>
            <a:r>
              <a:t>Lundahl et al. (2010): 119 studies; MI significantly better than comparison</a:t>
            </a:r>
          </a:p>
          <a:p>
            <a:pPr lvl="1">
              <a:spcAft>
                <a:spcPts val="600"/>
              </a:spcAft>
              <a:defRPr sz="1400">
                <a:solidFill>
                  <a:srgbClr val="2C3E50"/>
                </a:solidFill>
              </a:defRPr>
            </a:pPr>
            <a:r>
              <a:t>  Small-medium effect across health behaviors (OR = 1.55)</a:t>
            </a:r>
          </a:p>
          <a:p>
            <a:pPr>
              <a:spcAft>
                <a:spcPts val="600"/>
              </a:spcAft>
              <a:defRPr sz="1600">
                <a:solidFill>
                  <a:srgbClr val="2C3E50"/>
                </a:solidFill>
              </a:defRPr>
            </a:pPr>
          </a:p>
          <a:p>
            <a:pPr>
              <a:spcAft>
                <a:spcPts val="600"/>
              </a:spcAft>
              <a:defRPr sz="1600">
                <a:solidFill>
                  <a:srgbClr val="2C3E50"/>
                </a:solidFill>
              </a:defRPr>
            </a:pPr>
            <a:r>
              <a:t>Vasilaki et al. (2006): 15 studies; Brief MI for alcohol</a:t>
            </a:r>
          </a:p>
          <a:p>
            <a:pPr lvl="1">
              <a:spcAft>
                <a:spcPts val="600"/>
              </a:spcAft>
              <a:defRPr sz="1400">
                <a:solidFill>
                  <a:srgbClr val="2C3E50"/>
                </a:solidFill>
              </a:defRPr>
            </a:pPr>
            <a:r>
              <a:t>  Significant reduction in alcohol consumption; effects durable at 12 months</a:t>
            </a:r>
          </a:p>
          <a:p>
            <a:pPr>
              <a:spcAft>
                <a:spcPts val="600"/>
              </a:spcAft>
              <a:defRPr sz="1600">
                <a:solidFill>
                  <a:srgbClr val="2C3E50"/>
                </a:solidFill>
              </a:defRPr>
            </a:pPr>
          </a:p>
          <a:p>
            <a:pPr>
              <a:spcAft>
                <a:spcPts val="600"/>
              </a:spcAft>
              <a:defRPr sz="1600">
                <a:solidFill>
                  <a:srgbClr val="2C3E50"/>
                </a:solidFill>
              </a:defRPr>
            </a:pPr>
            <a:r>
              <a:t>Smedslund et al. (2011): Cochrane Review - 59 studies</a:t>
            </a:r>
          </a:p>
          <a:p>
            <a:pPr lvl="1">
              <a:spcAft>
                <a:spcPts val="600"/>
              </a:spcAft>
              <a:defRPr sz="1400">
                <a:solidFill>
                  <a:srgbClr val="2C3E50"/>
                </a:solidFill>
              </a:defRPr>
            </a:pPr>
            <a:r>
              <a:t>  MI reduces substance use compared to no treatment</a:t>
            </a:r>
          </a:p>
          <a:p>
            <a:pPr lvl="1">
              <a:spcAft>
                <a:spcPts val="600"/>
              </a:spcAft>
              <a:defRPr sz="1400">
                <a:solidFill>
                  <a:srgbClr val="2C3E50"/>
                </a:solidFill>
              </a:defRPr>
            </a:pPr>
            <a:r>
              <a:t>  Effects may diminish over time without booster sessions</a:t>
            </a:r>
          </a:p>
          <a:p>
            <a:pPr>
              <a:spcAft>
                <a:spcPts val="600"/>
              </a:spcAft>
              <a:defRPr sz="1600">
                <a:solidFill>
                  <a:srgbClr val="2C3E50"/>
                </a:solidFill>
              </a:defRPr>
            </a:pPr>
          </a:p>
          <a:p>
            <a:pPr>
              <a:spcAft>
                <a:spcPts val="600"/>
              </a:spcAft>
              <a:defRPr sz="1600">
                <a:solidFill>
                  <a:srgbClr val="2C3E50"/>
                </a:solidFill>
              </a:defRPr>
            </a:pPr>
            <a:r>
              <a:t>MECHANISMS: Therapist empathy, change talk, and working alliance mediate outcomes</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Meta-analyses confirm MI/MET effectiveness (d=0.25-0.57) across substances and health behaviors.</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Burke, B.L., et al. (2003). JCCP, 71, 843-861. | Hettema, J., et al. (2005). Annual Review of Clinical Psychology, 1, 91-111. | Lundahl, B., et al. (2010). Clinical Psychology Review, 30, 1-11. | Smedslund, G., et al. (2011). Cochrane Database of Systematic Reviews, 11.</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Evidence Table: Key Studies Summary</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Reference key studies that form the evidence base for MET</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a:t>
            </a:r>
          </a:p>
          <a:p>
            <a:pPr>
              <a:spcAft>
                <a:spcPts val="600"/>
              </a:spcAft>
              <a:defRPr sz="1600">
                <a:solidFill>
                  <a:srgbClr val="2C3E50"/>
                </a:solidFill>
              </a:defRPr>
            </a:pPr>
            <a:r>
              <a:t>│ Study               │ Year │ N      │ Key Finding                    │</a:t>
            </a:r>
          </a:p>
          <a:p>
            <a:pPr>
              <a:spcAft>
                <a:spcPts val="600"/>
              </a:spcAft>
              <a:defRPr sz="1600">
                <a:solidFill>
                  <a:srgbClr val="2C3E50"/>
                </a:solidFill>
              </a:defRPr>
            </a:pPr>
            <a:r>
              <a:t>├─────────────────────┼──────┼────────┼────────────────────────────────┤</a:t>
            </a:r>
          </a:p>
          <a:p>
            <a:pPr>
              <a:spcAft>
                <a:spcPts val="600"/>
              </a:spcAft>
              <a:defRPr sz="1600">
                <a:solidFill>
                  <a:srgbClr val="2C3E50"/>
                </a:solidFill>
              </a:defRPr>
            </a:pPr>
            <a:r>
              <a:t>│ Project MATCH       │ 1997 │ 1,726  │ MET = CBT = TSF (fewer sess.)  │</a:t>
            </a:r>
          </a:p>
          <a:p>
            <a:pPr>
              <a:spcAft>
                <a:spcPts val="600"/>
              </a:spcAft>
              <a:defRPr sz="1600">
                <a:solidFill>
                  <a:srgbClr val="2C3E50"/>
                </a:solidFill>
              </a:defRPr>
            </a:pPr>
            <a:r>
              <a:t>│ UKATT               │ 2005 │ 742    │ MET = SBNT (more cost-eff.)    │</a:t>
            </a:r>
          </a:p>
          <a:p>
            <a:pPr>
              <a:spcAft>
                <a:spcPts val="600"/>
              </a:spcAft>
              <a:defRPr sz="1600">
                <a:solidFill>
                  <a:srgbClr val="2C3E50"/>
                </a:solidFill>
              </a:defRPr>
            </a:pPr>
            <a:r>
              <a:t>│ COMBINE             │ 2006 │ 1,383  │ MET + meds effective           │</a:t>
            </a:r>
          </a:p>
          <a:p>
            <a:pPr>
              <a:spcAft>
                <a:spcPts val="600"/>
              </a:spcAft>
              <a:defRPr sz="1600">
                <a:solidFill>
                  <a:srgbClr val="2C3E50"/>
                </a:solidFill>
              </a:defRPr>
            </a:pPr>
            <a:r>
              <a:t>│ Marlatt et al.      │ 1998 │ 348    │ Brief MI reduces college drink │</a:t>
            </a:r>
          </a:p>
          <a:p>
            <a:pPr>
              <a:spcAft>
                <a:spcPts val="600"/>
              </a:spcAft>
              <a:defRPr sz="1600">
                <a:solidFill>
                  <a:srgbClr val="2C3E50"/>
                </a:solidFill>
              </a:defRPr>
            </a:pPr>
            <a:r>
              <a:t>│ Stephens et al.     │ 2004 │ 291    │ MI for cannabis effective      │</a:t>
            </a:r>
          </a:p>
          <a:p>
            <a:pPr>
              <a:spcAft>
                <a:spcPts val="600"/>
              </a:spcAft>
              <a:defRPr sz="1600">
                <a:solidFill>
                  <a:srgbClr val="2C3E50"/>
                </a:solidFill>
              </a:defRPr>
            </a:pPr>
            <a:r>
              <a:t>│ Handmaker et al.    │ 1999 │ 42     │ MI reduces prenatal alcohol    │</a:t>
            </a:r>
          </a:p>
          <a:p>
            <a:pPr>
              <a:spcAft>
                <a:spcPts val="600"/>
              </a:spcAft>
              <a:defRPr sz="1600">
                <a:solidFill>
                  <a:srgbClr val="2C3E50"/>
                </a:solidFill>
              </a:defRPr>
            </a:pPr>
            <a:r>
              <a:t>│ Miller et al.       │ 1993 │ 42     │ Empathic &gt; confrontational     │</a:t>
            </a:r>
          </a:p>
          <a:p>
            <a:pPr>
              <a:spcAft>
                <a:spcPts val="600"/>
              </a:spcAft>
              <a:defRPr sz="1600">
                <a:solidFill>
                  <a:srgbClr val="2C3E50"/>
                </a:solidFill>
              </a:defRPr>
            </a:pPr>
            <a:r>
              <a:t>│ Bien et al.         │ 1993 │ meta   │ Brief interventions effective  │</a:t>
            </a:r>
          </a:p>
          <a:p>
            <a:pPr>
              <a:spcAft>
                <a:spcPts val="600"/>
              </a:spcAft>
              <a:defRPr sz="1600">
                <a:solidFill>
                  <a:srgbClr val="2C3E50"/>
                </a:solidFill>
              </a:defRPr>
            </a:pPr>
            <a:r>
              <a:t>│ Moyers et al.       │ 2007 │ 103    │ MI behaviors → change talk     │</a:t>
            </a:r>
          </a:p>
          <a:p>
            <a:pPr>
              <a:spcAft>
                <a:spcPts val="600"/>
              </a:spcAft>
              <a:defRPr sz="1600">
                <a:solidFill>
                  <a:srgbClr val="2C3E50"/>
                </a:solidFill>
              </a:defRPr>
            </a:pPr>
            <a:r>
              <a:t>│ Amrhein et al.      │ 2003 │ 84     │ Commitment talk predicts Δ     │</a:t>
            </a:r>
          </a:p>
          <a:p>
            <a:pPr>
              <a:spcAft>
                <a:spcPts val="600"/>
              </a:spcAft>
              <a:defRPr sz="1600">
                <a:solidFill>
                  <a:srgbClr val="2C3E50"/>
                </a:solidFill>
              </a:defRPr>
            </a:pPr>
            <a:r>
              <a:t>└─────────────────────┴──────┴────────┴────────────────────────────────┘</a:t>
            </a:r>
          </a:p>
          <a:p>
            <a:pPr>
              <a:spcAft>
                <a:spcPts val="600"/>
              </a:spcAft>
              <a:defRPr sz="1600">
                <a:solidFill>
                  <a:srgbClr val="2C3E50"/>
                </a:solidFill>
              </a:defRPr>
            </a:pPr>
            <a:r>
              <a:t>Overall evidence: STRONG support for MET across populations and substances</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The evidence base for MET spans large RCTs, meta-analyses, and mechanism studies across 30+ years.</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All citations as listed in the table. See bibliography for full APA references.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1D5FA6"/>
        </a:solidFill>
        <a:effectLst/>
      </p:bgPr>
    </p:bg>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914400" y="1828800"/>
            <a:ext cx="10058400" cy="1371600"/>
          </a:xfrm>
          <a:prstGeom prst="rect">
            <a:avLst/>
          </a:prstGeom>
          <a:noFill/>
        </p:spPr>
        <p:txBody>
          <a:bodyPr wrap="none">
            <a:spAutoFit/>
          </a:bodyPr>
          <a:lstStyle/>
          <a:p>
            <a:pPr algn="ctr">
              <a:defRPr sz="1800">
                <a:solidFill>
                  <a:srgbClr val="B7950B"/>
                </a:solidFill>
              </a:defRPr>
            </a:pPr>
            <a:r>
              <a:t>SECTION 21</a:t>
            </a:r>
          </a:p>
        </p:txBody>
      </p:sp>
      <p:sp>
        <p:nvSpPr>
          <p:cNvPr id="5" name="TextBox 4"/>
          <p:cNvSpPr txBox="1"/>
          <p:nvPr/>
        </p:nvSpPr>
        <p:spPr>
          <a:xfrm>
            <a:off x="914400" y="2926080"/>
            <a:ext cx="10058400" cy="1828800"/>
          </a:xfrm>
          <a:prstGeom prst="rect">
            <a:avLst/>
          </a:prstGeom>
          <a:noFill/>
        </p:spPr>
        <p:txBody>
          <a:bodyPr wrap="square">
            <a:spAutoFit/>
          </a:bodyPr>
          <a:lstStyle/>
          <a:p>
            <a:pPr algn="ctr">
              <a:defRPr sz="3600" b="1">
                <a:solidFill>
                  <a:srgbClr val="FFFFFF"/>
                </a:solidFill>
              </a:defRPr>
            </a:pPr>
            <a:r>
              <a:t>Comparison with Other Therapies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MET vs. CBT, DBT, ACT, and Other Approaches</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Compare and contrast MET with other major psychotherapy approaches</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a:t>
            </a:r>
          </a:p>
          <a:p>
            <a:pPr>
              <a:spcAft>
                <a:spcPts val="600"/>
              </a:spcAft>
              <a:defRPr sz="1600">
                <a:solidFill>
                  <a:srgbClr val="2C3E50"/>
                </a:solidFill>
              </a:defRPr>
            </a:pPr>
            <a:r>
              <a:t>│ Therapy    │ Focus                  │ How it differs from MET         │</a:t>
            </a:r>
          </a:p>
          <a:p>
            <a:pPr>
              <a:spcAft>
                <a:spcPts val="600"/>
              </a:spcAft>
              <a:defRPr sz="1600">
                <a:solidFill>
                  <a:srgbClr val="2C3E50"/>
                </a:solidFill>
              </a:defRPr>
            </a:pPr>
            <a:r>
              <a:t>├────────────┼────────────────────────┼─────────────────────────────────┤</a:t>
            </a:r>
          </a:p>
          <a:p>
            <a:pPr>
              <a:spcAft>
                <a:spcPts val="600"/>
              </a:spcAft>
              <a:defRPr sz="1600">
                <a:solidFill>
                  <a:srgbClr val="2C3E50"/>
                </a:solidFill>
              </a:defRPr>
            </a:pPr>
            <a:r>
              <a:t>│ MET        │ Internal motivation    │ Client argues for change        │</a:t>
            </a:r>
          </a:p>
          <a:p>
            <a:pPr>
              <a:spcAft>
                <a:spcPts val="600"/>
              </a:spcAft>
              <a:defRPr sz="1600">
                <a:solidFill>
                  <a:srgbClr val="2C3E50"/>
                </a:solidFill>
              </a:defRPr>
            </a:pPr>
            <a:r>
              <a:t>│ CBT        │ Skills &amp; cognitions    │ Therapist teaches skills        │</a:t>
            </a:r>
          </a:p>
          <a:p>
            <a:pPr>
              <a:spcAft>
                <a:spcPts val="600"/>
              </a:spcAft>
              <a:defRPr sz="1600">
                <a:solidFill>
                  <a:srgbClr val="2C3E50"/>
                </a:solidFill>
              </a:defRPr>
            </a:pPr>
            <a:r>
              <a:t>│ DBT        │ Emotion regulation     │ Structured skills training      │</a:t>
            </a:r>
          </a:p>
          <a:p>
            <a:pPr>
              <a:spcAft>
                <a:spcPts val="600"/>
              </a:spcAft>
              <a:defRPr sz="1600">
                <a:solidFill>
                  <a:srgbClr val="2C3E50"/>
                </a:solidFill>
              </a:defRPr>
            </a:pPr>
            <a:r>
              <a:t>│ ACT        │ Acceptance &amp; values    │ Mindfulness + committed action  │</a:t>
            </a:r>
          </a:p>
          <a:p>
            <a:pPr>
              <a:spcAft>
                <a:spcPts val="600"/>
              </a:spcAft>
              <a:defRPr sz="1600">
                <a:solidFill>
                  <a:srgbClr val="2C3E50"/>
                </a:solidFill>
              </a:defRPr>
            </a:pPr>
            <a:r>
              <a:t>│ 12-Step    │ Spiritual surrender    │ Powerlessness; higher power     │</a:t>
            </a:r>
          </a:p>
          <a:p>
            <a:pPr>
              <a:spcAft>
                <a:spcPts val="600"/>
              </a:spcAft>
              <a:defRPr sz="1600">
                <a:solidFill>
                  <a:srgbClr val="2C3E50"/>
                </a:solidFill>
              </a:defRPr>
            </a:pPr>
            <a:r>
              <a:t>│ REBT       │ Irrational beliefs     │ Disputational; directive        │</a:t>
            </a:r>
          </a:p>
          <a:p>
            <a:pPr>
              <a:spcAft>
                <a:spcPts val="600"/>
              </a:spcAft>
              <a:defRPr sz="1600">
                <a:solidFill>
                  <a:srgbClr val="2C3E50"/>
                </a:solidFill>
              </a:defRPr>
            </a:pPr>
            <a:r>
              <a:t>│ Psychodyn. │ Unconscious conflict   │ Interpretation; long-term       │</a:t>
            </a:r>
          </a:p>
          <a:p>
            <a:pPr>
              <a:spcAft>
                <a:spcPts val="600"/>
              </a:spcAft>
              <a:defRPr sz="1600">
                <a:solidFill>
                  <a:srgbClr val="2C3E50"/>
                </a:solidFill>
              </a:defRPr>
            </a:pPr>
            <a:r>
              <a:t>│ CM         │ Reinforcement          │ External rewards for behavior   │</a:t>
            </a:r>
          </a:p>
          <a:p>
            <a:pPr>
              <a:spcAft>
                <a:spcPts val="600"/>
              </a:spcAft>
              <a:defRPr sz="1600">
                <a:solidFill>
                  <a:srgbClr val="2C3E50"/>
                </a:solidFill>
              </a:defRPr>
            </a:pPr>
            <a:r>
              <a:t>│ Support.   │ Emotional support      │ Non-directive; no structure     │</a:t>
            </a:r>
          </a:p>
          <a:p>
            <a:pPr>
              <a:spcAft>
                <a:spcPts val="600"/>
              </a:spcAft>
              <a:defRPr sz="1600">
                <a:solidFill>
                  <a:srgbClr val="2C3E50"/>
                </a:solidFill>
              </a:defRPr>
            </a:pPr>
            <a:r>
              <a:t>└────────────┴────────────────────────┴─────────────────────────────────┘</a:t>
            </a:r>
          </a:p>
          <a:p>
            <a:pPr>
              <a:spcAft>
                <a:spcPts val="600"/>
              </a:spcAft>
              <a:defRPr sz="1600">
                <a:solidFill>
                  <a:srgbClr val="2C3E50"/>
                </a:solidFill>
              </a:defRPr>
            </a:pPr>
          </a:p>
          <a:p>
            <a:pPr>
              <a:spcAft>
                <a:spcPts val="600"/>
              </a:spcAft>
              <a:defRPr sz="1600">
                <a:solidFill>
                  <a:srgbClr val="2C3E50"/>
                </a:solidFill>
              </a:defRPr>
            </a:pPr>
            <a:r>
              <a:t>KEY DISTINCTION: MET focuses on WHY change (motivation) not HOW (skills)</a:t>
            </a:r>
          </a:p>
          <a:p>
            <a:pPr>
              <a:spcAft>
                <a:spcPts val="600"/>
              </a:spcAft>
              <a:defRPr sz="1600">
                <a:solidFill>
                  <a:srgbClr val="2C3E50"/>
                </a:solidFill>
              </a:defRPr>
            </a:pPr>
            <a:r>
              <a:t>MET can be COMBINED with other approaches (MET → CBT is common sequence)</a:t>
            </a:r>
          </a:p>
          <a:p>
            <a:pPr>
              <a:spcAft>
                <a:spcPts val="600"/>
              </a:spcAft>
              <a:defRPr sz="1600">
                <a:solidFill>
                  <a:srgbClr val="2C3E50"/>
                </a:solidFill>
              </a:defRPr>
            </a:pPr>
            <a:r>
              <a:t>MET often used as 'front door' to engage clients in further treatment</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MET focuses on WHY change (motivation) rather than HOW (skills), making it complementary to CBT and other approaches.</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 Project MATCH Research Group. (1997). JOSA, 58, 7-29. | Carroll, K.M. (1998). A Cognitive-Behavioral Approach. Yale University Press.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MET vs. MI: Key Differences</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Clearly distinguish between MI (counseling style) and MET (manualized treatment)</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a:t>
            </a:r>
          </a:p>
          <a:p>
            <a:pPr>
              <a:spcAft>
                <a:spcPts val="600"/>
              </a:spcAft>
              <a:defRPr sz="1600">
                <a:solidFill>
                  <a:srgbClr val="2C3E50"/>
                </a:solidFill>
              </a:defRPr>
            </a:pPr>
            <a:r>
              <a:t>│ Feature              │ MI                    MET                  │</a:t>
            </a:r>
          </a:p>
          <a:p>
            <a:pPr>
              <a:spcAft>
                <a:spcPts val="600"/>
              </a:spcAft>
              <a:defRPr sz="1600">
                <a:solidFill>
                  <a:srgbClr val="2C3E50"/>
                </a:solidFill>
              </a:defRPr>
            </a:pPr>
            <a:r>
              <a:t>├──────────────────────┼────────────────────────────────────────────┤</a:t>
            </a:r>
          </a:p>
          <a:p>
            <a:pPr>
              <a:spcAft>
                <a:spcPts val="600"/>
              </a:spcAft>
              <a:defRPr sz="1600">
                <a:solidFill>
                  <a:srgbClr val="2C3E50"/>
                </a:solidFill>
              </a:defRPr>
            </a:pPr>
            <a:r>
              <a:t>│ Definition           │ Counseling style      Manualized treatment │</a:t>
            </a:r>
          </a:p>
          <a:p>
            <a:pPr>
              <a:spcAft>
                <a:spcPts val="600"/>
              </a:spcAft>
              <a:defRPr sz="1600">
                <a:solidFill>
                  <a:srgbClr val="2C3E50"/>
                </a:solidFill>
              </a:defRPr>
            </a:pPr>
            <a:r>
              <a:t>│ Structure            │ Flexible              4-session protocol   │</a:t>
            </a:r>
          </a:p>
          <a:p>
            <a:pPr>
              <a:spcAft>
                <a:spcPts val="600"/>
              </a:spcAft>
              <a:defRPr sz="1600">
                <a:solidFill>
                  <a:srgbClr val="2C3E50"/>
                </a:solidFill>
              </a:defRPr>
            </a:pPr>
            <a:r>
              <a:t>│ Assessment           │ Optional              Required (PFR)       │</a:t>
            </a:r>
          </a:p>
          <a:p>
            <a:pPr>
              <a:spcAft>
                <a:spcPts val="600"/>
              </a:spcAft>
              <a:defRPr sz="1600">
                <a:solidFill>
                  <a:srgbClr val="2C3E50"/>
                </a:solidFill>
              </a:defRPr>
            </a:pPr>
            <a:r>
              <a:t>│ Feedback             │ May/may not include   Core component       │</a:t>
            </a:r>
          </a:p>
          <a:p>
            <a:pPr>
              <a:spcAft>
                <a:spcPts val="600"/>
              </a:spcAft>
              <a:defRPr sz="1600">
                <a:solidFill>
                  <a:srgbClr val="2C3E50"/>
                </a:solidFill>
              </a:defRPr>
            </a:pPr>
            <a:r>
              <a:t>│ Duration             │ Variable              4 sessions fixed     │</a:t>
            </a:r>
          </a:p>
          <a:p>
            <a:pPr>
              <a:spcAft>
                <a:spcPts val="600"/>
              </a:spcAft>
              <a:defRPr sz="1600">
                <a:solidFill>
                  <a:srgbClr val="2C3E50"/>
                </a:solidFill>
              </a:defRPr>
            </a:pPr>
            <a:r>
              <a:t>│ Manual               │ No fixed manual       Project MATCH manual │</a:t>
            </a:r>
          </a:p>
          <a:p>
            <a:pPr>
              <a:spcAft>
                <a:spcPts val="600"/>
              </a:spcAft>
              <a:defRPr sz="1600">
                <a:solidFill>
                  <a:srgbClr val="2C3E50"/>
                </a:solidFill>
              </a:defRPr>
            </a:pPr>
            <a:r>
              <a:t>│ Training             │ Style/spirit-based    Protocol-based       │</a:t>
            </a:r>
          </a:p>
          <a:p>
            <a:pPr>
              <a:spcAft>
                <a:spcPts val="600"/>
              </a:spcAft>
              <a:defRPr sz="1600">
                <a:solidFill>
                  <a:srgbClr val="2C3E50"/>
                </a:solidFill>
              </a:defRPr>
            </a:pPr>
            <a:r>
              <a:t>│ Applicability        │ Any behavior change   Primarily addiction  │</a:t>
            </a:r>
          </a:p>
          <a:p>
            <a:pPr>
              <a:spcAft>
                <a:spcPts val="600"/>
              </a:spcAft>
              <a:defRPr sz="1600">
                <a:solidFill>
                  <a:srgbClr val="2C3E50"/>
                </a:solidFill>
              </a:defRPr>
            </a:pPr>
            <a:r>
              <a:t>│ Evidence base        │ Broader (200+ RCTs)   Specific (MATCH etc) │</a:t>
            </a:r>
          </a:p>
          <a:p>
            <a:pPr>
              <a:spcAft>
                <a:spcPts val="600"/>
              </a:spcAft>
              <a:defRPr sz="1600">
                <a:solidFill>
                  <a:srgbClr val="2C3E50"/>
                </a:solidFill>
              </a:defRPr>
            </a:pPr>
            <a:r>
              <a:t>└──────────────────────┴────────────────────────────────────────────┘</a:t>
            </a:r>
          </a:p>
          <a:p>
            <a:pPr>
              <a:spcAft>
                <a:spcPts val="600"/>
              </a:spcAft>
              <a:defRPr sz="1600">
                <a:solidFill>
                  <a:srgbClr val="2C3E50"/>
                </a:solidFill>
              </a:defRPr>
            </a:pPr>
          </a:p>
          <a:p>
            <a:pPr>
              <a:spcAft>
                <a:spcPts val="600"/>
              </a:spcAft>
              <a:defRPr sz="1600">
                <a:solidFill>
                  <a:srgbClr val="2C3E50"/>
                </a:solidFill>
              </a:defRPr>
            </a:pPr>
            <a:r>
              <a:t>MI = The broader approach/spirit (applicable anywhere)</a:t>
            </a:r>
          </a:p>
          <a:p>
            <a:pPr>
              <a:spcAft>
                <a:spcPts val="600"/>
              </a:spcAft>
              <a:defRPr sz="1600">
                <a:solidFill>
                  <a:srgbClr val="2C3E50"/>
                </a:solidFill>
              </a:defRPr>
            </a:pPr>
            <a:r>
              <a:t>MET = MI + Structured Assessment Feedback + Fixed Protocol</a:t>
            </a:r>
          </a:p>
          <a:p>
            <a:pPr>
              <a:spcAft>
                <a:spcPts val="600"/>
              </a:spcAft>
              <a:defRPr sz="1600">
                <a:solidFill>
                  <a:srgbClr val="2C3E50"/>
                </a:solidFill>
              </a:defRPr>
            </a:pPr>
            <a:r>
              <a:t>MET is a SPECIFIC APPLICATION of MI principles in a structured format</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MI is a flexible counseling style; MET is MI embedded in a structured 4-session protocol with assessment feedback.</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&amp; Rollnick, S. (2013). Motivational interviewing (3rd ed.). Guilford Press. | Miller, W.R., et al. (1995). MET Manual.</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1D5FA6"/>
        </a:solidFill>
        <a:effectLst/>
      </p:bgPr>
    </p:bg>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914400" y="1828800"/>
            <a:ext cx="10058400" cy="1371600"/>
          </a:xfrm>
          <a:prstGeom prst="rect">
            <a:avLst/>
          </a:prstGeom>
          <a:noFill/>
        </p:spPr>
        <p:txBody>
          <a:bodyPr wrap="none">
            <a:spAutoFit/>
          </a:bodyPr>
          <a:lstStyle/>
          <a:p>
            <a:pPr algn="ctr">
              <a:defRPr sz="1800">
                <a:solidFill>
                  <a:srgbClr val="B7950B"/>
                </a:solidFill>
              </a:defRPr>
            </a:pPr>
            <a:r>
              <a:t>SECTION 22</a:t>
            </a:r>
          </a:p>
        </p:txBody>
      </p:sp>
      <p:sp>
        <p:nvSpPr>
          <p:cNvPr id="5" name="TextBox 4"/>
          <p:cNvSpPr txBox="1"/>
          <p:nvPr/>
        </p:nvSpPr>
        <p:spPr>
          <a:xfrm>
            <a:off x="914400" y="2926080"/>
            <a:ext cx="10058400" cy="1828800"/>
          </a:xfrm>
          <a:prstGeom prst="rect">
            <a:avLst/>
          </a:prstGeom>
          <a:noFill/>
        </p:spPr>
        <p:txBody>
          <a:bodyPr wrap="square">
            <a:spAutoFit/>
          </a:bodyPr>
          <a:lstStyle/>
          <a:p>
            <a:pPr algn="ctr">
              <a:defRPr sz="3600" b="1">
                <a:solidFill>
                  <a:srgbClr val="FFFFFF"/>
                </a:solidFill>
              </a:defRPr>
            </a:pPr>
            <a:r>
              <a:t>Advantages and Limitations of MET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Advantages of MET</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Articulate the clinical, practical, and economic advantages of MET</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CLINICAL ADVANTAGES:</a:t>
            </a:r>
          </a:p>
          <a:p>
            <a:pPr lvl="1">
              <a:spcAft>
                <a:spcPts val="600"/>
              </a:spcAft>
              <a:defRPr sz="1400">
                <a:solidFill>
                  <a:srgbClr val="2C3E50"/>
                </a:solidFill>
              </a:defRPr>
            </a:pPr>
            <a:r>
              <a:t>  • Brief (4 sessions) - accessible and cost-effective</a:t>
            </a:r>
          </a:p>
          <a:p>
            <a:pPr lvl="1">
              <a:spcAft>
                <a:spcPts val="600"/>
              </a:spcAft>
              <a:defRPr sz="1400">
                <a:solidFill>
                  <a:srgbClr val="2C3E50"/>
                </a:solidFill>
              </a:defRPr>
            </a:pPr>
            <a:r>
              <a:t>  • Non-confrontational - reduces dropout and resistance</a:t>
            </a:r>
          </a:p>
          <a:p>
            <a:pPr lvl="1">
              <a:spcAft>
                <a:spcPts val="600"/>
              </a:spcAft>
              <a:defRPr sz="1400">
                <a:solidFill>
                  <a:srgbClr val="2C3E50"/>
                </a:solidFill>
              </a:defRPr>
            </a:pPr>
            <a:r>
              <a:t>  • Client-centered - respects autonomy and dignity</a:t>
            </a:r>
          </a:p>
          <a:p>
            <a:pPr lvl="1">
              <a:spcAft>
                <a:spcPts val="600"/>
              </a:spcAft>
              <a:defRPr sz="1400">
                <a:solidFill>
                  <a:srgbClr val="2C3E50"/>
                </a:solidFill>
              </a:defRPr>
            </a:pPr>
            <a:r>
              <a:t>  • Evidence-based - strong research support (200+ trials)</a:t>
            </a:r>
          </a:p>
          <a:p>
            <a:pPr lvl="1">
              <a:spcAft>
                <a:spcPts val="600"/>
              </a:spcAft>
              <a:defRPr sz="1400">
                <a:solidFill>
                  <a:srgbClr val="2C3E50"/>
                </a:solidFill>
              </a:defRPr>
            </a:pPr>
            <a:r>
              <a:t>  • Flexible - adaptable to diverse populations and settings</a:t>
            </a:r>
          </a:p>
          <a:p>
            <a:pPr lvl="1">
              <a:spcAft>
                <a:spcPts val="600"/>
              </a:spcAft>
              <a:defRPr sz="1400">
                <a:solidFill>
                  <a:srgbClr val="2C3E50"/>
                </a:solidFill>
              </a:defRPr>
            </a:pPr>
            <a:r>
              <a:t>  • Trainable - can be learned by various professionals</a:t>
            </a:r>
          </a:p>
          <a:p>
            <a:pPr lvl="1">
              <a:spcAft>
                <a:spcPts val="600"/>
              </a:spcAft>
              <a:defRPr sz="1400">
                <a:solidFill>
                  <a:srgbClr val="2C3E50"/>
                </a:solidFill>
              </a:defRPr>
            </a:pPr>
            <a:r>
              <a:t>  • Compatible - can be combined with other treatments (CBT, pharmacotherapy)</a:t>
            </a:r>
          </a:p>
          <a:p>
            <a:pPr>
              <a:spcAft>
                <a:spcPts val="600"/>
              </a:spcAft>
              <a:defRPr sz="1600">
                <a:solidFill>
                  <a:srgbClr val="2C3E50"/>
                </a:solidFill>
              </a:defRPr>
            </a:pPr>
          </a:p>
          <a:p>
            <a:pPr>
              <a:spcAft>
                <a:spcPts val="600"/>
              </a:spcAft>
              <a:defRPr sz="1600">
                <a:solidFill>
                  <a:srgbClr val="2C3E50"/>
                </a:solidFill>
              </a:defRPr>
            </a:pPr>
            <a:r>
              <a:t>PRACTICAL ADVANTAGES:</a:t>
            </a:r>
          </a:p>
          <a:p>
            <a:pPr lvl="1">
              <a:spcAft>
                <a:spcPts val="600"/>
              </a:spcAft>
              <a:defRPr sz="1400">
                <a:solidFill>
                  <a:srgbClr val="2C3E50"/>
                </a:solidFill>
              </a:defRPr>
            </a:pPr>
            <a:r>
              <a:t>  • Feasible in resource-limited settings (NIMHANS: suitable for India)</a:t>
            </a:r>
          </a:p>
          <a:p>
            <a:pPr lvl="1">
              <a:spcAft>
                <a:spcPts val="600"/>
              </a:spcAft>
              <a:defRPr sz="1400">
                <a:solidFill>
                  <a:srgbClr val="2C3E50"/>
                </a:solidFill>
              </a:defRPr>
            </a:pPr>
            <a:r>
              <a:t>  • Can be delivered by non-specialists with training</a:t>
            </a:r>
          </a:p>
          <a:p>
            <a:pPr lvl="1">
              <a:spcAft>
                <a:spcPts val="600"/>
              </a:spcAft>
              <a:defRPr sz="1400">
                <a:solidFill>
                  <a:srgbClr val="2C3E50"/>
                </a:solidFill>
              </a:defRPr>
            </a:pPr>
            <a:r>
              <a:t>  • Applicable to primary care (brief formats)</a:t>
            </a:r>
          </a:p>
          <a:p>
            <a:pPr lvl="1">
              <a:spcAft>
                <a:spcPts val="600"/>
              </a:spcAft>
              <a:defRPr sz="1400">
                <a:solidFill>
                  <a:srgbClr val="2C3E50"/>
                </a:solidFill>
              </a:defRPr>
            </a:pPr>
            <a:r>
              <a:t>  • Effective across cultures when adapted appropriately</a:t>
            </a:r>
          </a:p>
          <a:p>
            <a:pPr lvl="1">
              <a:spcAft>
                <a:spcPts val="600"/>
              </a:spcAft>
              <a:defRPr sz="1400">
                <a:solidFill>
                  <a:srgbClr val="2C3E50"/>
                </a:solidFill>
              </a:defRPr>
            </a:pPr>
            <a:r>
              <a:t>  • Works with mandated/reluctant clients</a:t>
            </a:r>
          </a:p>
          <a:p>
            <a:pPr lvl="1">
              <a:spcAft>
                <a:spcPts val="600"/>
              </a:spcAft>
              <a:defRPr sz="1400">
                <a:solidFill>
                  <a:srgbClr val="2C3E50"/>
                </a:solidFill>
              </a:defRPr>
            </a:pPr>
            <a:r>
              <a:t>  • Reduces therapist burnout (collaborative vs. adversarial)</a:t>
            </a:r>
          </a:p>
          <a:p>
            <a:pPr>
              <a:spcAft>
                <a:spcPts val="600"/>
              </a:spcAft>
              <a:defRPr sz="1600">
                <a:solidFill>
                  <a:srgbClr val="2C3E50"/>
                </a:solidFill>
              </a:defRPr>
            </a:pPr>
          </a:p>
          <a:p>
            <a:pPr>
              <a:spcAft>
                <a:spcPts val="600"/>
              </a:spcAft>
              <a:defRPr sz="1600">
                <a:solidFill>
                  <a:srgbClr val="2C3E50"/>
                </a:solidFill>
              </a:defRPr>
            </a:pPr>
            <a:r>
              <a:t>COST-EFFECTIVENESS: UKATT showed MET was 5x more cost-effective than comparison</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MET is brief, non-confrontational, evidence-based, cost-effective, and adaptable to diverse settings.</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 UKATT Research Team. (2005). BMJ, 331, 541. | Murthy, P. (2008). NIMHANS Manual. | Lundahl, B., et al. (2010). Clinical Psychology Review, 30, 1-11.</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Limitations of MET</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Critically evaluate the limitations and appropriate boundaries of MET</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CLINICAL LIMITATIONS:</a:t>
            </a:r>
          </a:p>
          <a:p>
            <a:pPr lvl="1">
              <a:spcAft>
                <a:spcPts val="600"/>
              </a:spcAft>
              <a:defRPr sz="1400">
                <a:solidFill>
                  <a:srgbClr val="2C3E50"/>
                </a:solidFill>
              </a:defRPr>
            </a:pPr>
            <a:r>
              <a:t>  • May not be sufficient alone for severe dependence (needs integrated care)</a:t>
            </a:r>
          </a:p>
          <a:p>
            <a:pPr lvl="1">
              <a:spcAft>
                <a:spcPts val="600"/>
              </a:spcAft>
              <a:defRPr sz="1400">
                <a:solidFill>
                  <a:srgbClr val="2C3E50"/>
                </a:solidFill>
              </a:defRPr>
            </a:pPr>
            <a:r>
              <a:t>  • Effects may diminish over time without boosters (Smedslund et al., 2011)</a:t>
            </a:r>
          </a:p>
          <a:p>
            <a:pPr lvl="1">
              <a:spcAft>
                <a:spcPts val="600"/>
              </a:spcAft>
              <a:defRPr sz="1400">
                <a:solidFill>
                  <a:srgbClr val="2C3E50"/>
                </a:solidFill>
              </a:defRPr>
            </a:pPr>
            <a:r>
              <a:t>  • Not designed for skills building (may need CBT follow-up)</a:t>
            </a:r>
          </a:p>
          <a:p>
            <a:pPr lvl="1">
              <a:spcAft>
                <a:spcPts val="600"/>
              </a:spcAft>
              <a:defRPr sz="1400">
                <a:solidFill>
                  <a:srgbClr val="2C3E50"/>
                </a:solidFill>
              </a:defRPr>
            </a:pPr>
            <a:r>
              <a:t>  • Limited evidence for some populations (psychosis, severe cognitive impairment)</a:t>
            </a:r>
          </a:p>
          <a:p>
            <a:pPr lvl="1">
              <a:spcAft>
                <a:spcPts val="600"/>
              </a:spcAft>
              <a:defRPr sz="1400">
                <a:solidFill>
                  <a:srgbClr val="2C3E50"/>
                </a:solidFill>
              </a:defRPr>
            </a:pPr>
            <a:r>
              <a:t>  • Requires skilled therapist (poorly done MI can be harmful)</a:t>
            </a:r>
          </a:p>
          <a:p>
            <a:pPr>
              <a:spcAft>
                <a:spcPts val="600"/>
              </a:spcAft>
              <a:defRPr sz="1600">
                <a:solidFill>
                  <a:srgbClr val="2C3E50"/>
                </a:solidFill>
              </a:defRPr>
            </a:pPr>
          </a:p>
          <a:p>
            <a:pPr>
              <a:spcAft>
                <a:spcPts val="600"/>
              </a:spcAft>
              <a:defRPr sz="1600">
                <a:solidFill>
                  <a:srgbClr val="2C3E50"/>
                </a:solidFill>
              </a:defRPr>
            </a:pPr>
            <a:r>
              <a:t>METHODOLOGICAL CONCERNS:</a:t>
            </a:r>
          </a:p>
          <a:p>
            <a:pPr lvl="1">
              <a:spcAft>
                <a:spcPts val="600"/>
              </a:spcAft>
              <a:defRPr sz="1400">
                <a:solidFill>
                  <a:srgbClr val="2C3E50"/>
                </a:solidFill>
              </a:defRPr>
            </a:pPr>
            <a:r>
              <a:t>  • Effect sizes are small-medium (not dramatic improvement)</a:t>
            </a:r>
          </a:p>
          <a:p>
            <a:pPr lvl="1">
              <a:spcAft>
                <a:spcPts val="600"/>
              </a:spcAft>
              <a:defRPr sz="1400">
                <a:solidFill>
                  <a:srgbClr val="2C3E50"/>
                </a:solidFill>
              </a:defRPr>
            </a:pPr>
            <a:r>
              <a:t>  • Active mechanism not fully understood</a:t>
            </a:r>
          </a:p>
          <a:p>
            <a:pPr lvl="1">
              <a:spcAft>
                <a:spcPts val="600"/>
              </a:spcAft>
              <a:defRPr sz="1400">
                <a:solidFill>
                  <a:srgbClr val="2C3E50"/>
                </a:solidFill>
              </a:defRPr>
            </a:pPr>
            <a:r>
              <a:t>  • Difficult to separate effects of relationship from specific techniques</a:t>
            </a:r>
          </a:p>
          <a:p>
            <a:pPr lvl="1">
              <a:spcAft>
                <a:spcPts val="600"/>
              </a:spcAft>
              <a:defRPr sz="1400">
                <a:solidFill>
                  <a:srgbClr val="2C3E50"/>
                </a:solidFill>
              </a:defRPr>
            </a:pPr>
            <a:r>
              <a:t>  • Treatment fidelity varies widely across studies</a:t>
            </a:r>
          </a:p>
          <a:p>
            <a:pPr>
              <a:spcAft>
                <a:spcPts val="600"/>
              </a:spcAft>
              <a:defRPr sz="1600">
                <a:solidFill>
                  <a:srgbClr val="2C3E50"/>
                </a:solidFill>
              </a:defRPr>
            </a:pPr>
          </a:p>
          <a:p>
            <a:pPr>
              <a:spcAft>
                <a:spcPts val="600"/>
              </a:spcAft>
              <a:defRPr sz="1600">
                <a:solidFill>
                  <a:srgbClr val="2C3E50"/>
                </a:solidFill>
              </a:defRPr>
            </a:pPr>
            <a:r>
              <a:t>PRACTICAL LIMITATIONS:</a:t>
            </a:r>
          </a:p>
          <a:p>
            <a:pPr lvl="1">
              <a:spcAft>
                <a:spcPts val="600"/>
              </a:spcAft>
              <a:defRPr sz="1400">
                <a:solidFill>
                  <a:srgbClr val="2C3E50"/>
                </a:solidFill>
              </a:defRPr>
            </a:pPr>
            <a:r>
              <a:t>  • Requires quality training and supervision (not just reading the manual)</a:t>
            </a:r>
          </a:p>
          <a:p>
            <a:pPr lvl="1">
              <a:spcAft>
                <a:spcPts val="600"/>
              </a:spcAft>
              <a:defRPr sz="1400">
                <a:solidFill>
                  <a:srgbClr val="2C3E50"/>
                </a:solidFill>
              </a:defRPr>
            </a:pPr>
            <a:r>
              <a:t>  • NIMHANS: 'Should not be viewed as complete solutions to substance use problems'</a:t>
            </a:r>
          </a:p>
          <a:p>
            <a:pPr lvl="1">
              <a:spcAft>
                <a:spcPts val="600"/>
              </a:spcAft>
              <a:defRPr sz="1400">
                <a:solidFill>
                  <a:srgbClr val="2C3E50"/>
                </a:solidFill>
              </a:defRPr>
            </a:pPr>
            <a:r>
              <a:t>  • May be insufficient for complex cases (severe trauma, psychosis)</a:t>
            </a:r>
          </a:p>
          <a:p>
            <a:pPr lvl="1">
              <a:spcAft>
                <a:spcPts val="600"/>
              </a:spcAft>
              <a:defRPr sz="1400">
                <a:solidFill>
                  <a:srgbClr val="2C3E50"/>
                </a:solidFill>
              </a:defRPr>
            </a:pPr>
            <a:r>
              <a:t>  • Cultural adaptations needed (not 'one size fits all')</a:t>
            </a:r>
          </a:p>
          <a:p>
            <a:pPr lvl="1">
              <a:spcAft>
                <a:spcPts val="600"/>
              </a:spcAft>
              <a:defRPr sz="1400">
                <a:solidFill>
                  <a:srgbClr val="2C3E50"/>
                </a:solidFill>
              </a:defRPr>
            </a:pPr>
            <a:r>
              <a:t>  • Risk of therapist drift without ongoing fidelity monitoring</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MET has limitations: small-medium effects, may need boosters, insufficient alone for severe cases, requires skilled delivery.</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Smedslund, G., et al. (2011). Cochrane Database. | Murthy, P. (2008). NIMHANS Manual. | Miller, W.R., &amp; Rollnick, S. (2013). Motivational interviewing (3rd ed.). Guilford Press.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1D5FA6"/>
        </a:solidFill>
        <a:effectLst/>
      </p:bgPr>
    </p:bg>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914400" y="1828800"/>
            <a:ext cx="10058400" cy="1371600"/>
          </a:xfrm>
          <a:prstGeom prst="rect">
            <a:avLst/>
          </a:prstGeom>
          <a:noFill/>
        </p:spPr>
        <p:txBody>
          <a:bodyPr wrap="none">
            <a:spAutoFit/>
          </a:bodyPr>
          <a:lstStyle/>
          <a:p>
            <a:pPr algn="ctr">
              <a:defRPr sz="1800">
                <a:solidFill>
                  <a:srgbClr val="B7950B"/>
                </a:solidFill>
              </a:defRPr>
            </a:pPr>
            <a:r>
              <a:t>SECTION 24</a:t>
            </a:r>
          </a:p>
        </p:txBody>
      </p:sp>
      <p:sp>
        <p:nvSpPr>
          <p:cNvPr id="5" name="TextBox 4"/>
          <p:cNvSpPr txBox="1"/>
          <p:nvPr/>
        </p:nvSpPr>
        <p:spPr>
          <a:xfrm>
            <a:off x="914400" y="2926080"/>
            <a:ext cx="10058400" cy="1828800"/>
          </a:xfrm>
          <a:prstGeom prst="rect">
            <a:avLst/>
          </a:prstGeom>
          <a:noFill/>
        </p:spPr>
        <p:txBody>
          <a:bodyPr wrap="square">
            <a:spAutoFit/>
          </a:bodyPr>
          <a:lstStyle/>
          <a:p>
            <a:pPr algn="ctr">
              <a:defRPr sz="3600" b="1">
                <a:solidFill>
                  <a:srgbClr val="FFFFFF"/>
                </a:solidFill>
              </a:defRPr>
            </a:pPr>
            <a:r>
              <a:t>Ethical Considerations and Cultural Adaptation</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Ethical Considerations in MET</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Identify ethical considerations specific to MET practice</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AUTONOMY:</a:t>
            </a:r>
          </a:p>
          <a:p>
            <a:pPr lvl="1">
              <a:spcAft>
                <a:spcPts val="600"/>
              </a:spcAft>
              <a:defRPr sz="1400">
                <a:solidFill>
                  <a:srgbClr val="2C3E50"/>
                </a:solidFill>
              </a:defRPr>
            </a:pPr>
            <a:r>
              <a:t>  • Client's right to choose their own goals (including continued use)</a:t>
            </a:r>
          </a:p>
          <a:p>
            <a:pPr lvl="1">
              <a:spcAft>
                <a:spcPts val="600"/>
              </a:spcAft>
              <a:defRPr sz="1400">
                <a:solidFill>
                  <a:srgbClr val="2C3E50"/>
                </a:solidFill>
              </a:defRPr>
            </a:pPr>
            <a:r>
              <a:t>  • Informed consent about the therapeutic approach</a:t>
            </a:r>
          </a:p>
          <a:p>
            <a:pPr lvl="1">
              <a:spcAft>
                <a:spcPts val="600"/>
              </a:spcAft>
              <a:defRPr sz="1400">
                <a:solidFill>
                  <a:srgbClr val="2C3E50"/>
                </a:solidFill>
              </a:defRPr>
            </a:pPr>
            <a:r>
              <a:t>  • Mandated clients: 'You have to be here, but what you do is still your choice'</a:t>
            </a:r>
          </a:p>
          <a:p>
            <a:pPr>
              <a:spcAft>
                <a:spcPts val="600"/>
              </a:spcAft>
              <a:defRPr sz="1600">
                <a:solidFill>
                  <a:srgbClr val="2C3E50"/>
                </a:solidFill>
              </a:defRPr>
            </a:pPr>
          </a:p>
          <a:p>
            <a:pPr>
              <a:spcAft>
                <a:spcPts val="600"/>
              </a:spcAft>
              <a:defRPr sz="1600">
                <a:solidFill>
                  <a:srgbClr val="2C3E50"/>
                </a:solidFill>
              </a:defRPr>
            </a:pPr>
            <a:r>
              <a:t>CONFIDENTIALITY:</a:t>
            </a:r>
          </a:p>
          <a:p>
            <a:pPr lvl="1">
              <a:spcAft>
                <a:spcPts val="600"/>
              </a:spcAft>
              <a:defRPr sz="1400">
                <a:solidFill>
                  <a:srgbClr val="2C3E50"/>
                </a:solidFill>
              </a:defRPr>
            </a:pPr>
            <a:r>
              <a:t>  • Standard limits (risk to self/others, child abuse)</a:t>
            </a:r>
          </a:p>
          <a:p>
            <a:pPr lvl="1">
              <a:spcAft>
                <a:spcPts val="600"/>
              </a:spcAft>
              <a:defRPr sz="1400">
                <a:solidFill>
                  <a:srgbClr val="2C3E50"/>
                </a:solidFill>
              </a:defRPr>
            </a:pPr>
            <a:r>
              <a:t>  • Significant other involvement requires client consent</a:t>
            </a:r>
          </a:p>
          <a:p>
            <a:pPr lvl="1">
              <a:spcAft>
                <a:spcPts val="600"/>
              </a:spcAft>
              <a:defRPr sz="1400">
                <a:solidFill>
                  <a:srgbClr val="2C3E50"/>
                </a:solidFill>
              </a:defRPr>
            </a:pPr>
            <a:r>
              <a:t>  • Special considerations with adolescents and mandated clients</a:t>
            </a:r>
          </a:p>
          <a:p>
            <a:pPr>
              <a:spcAft>
                <a:spcPts val="600"/>
              </a:spcAft>
              <a:defRPr sz="1600">
                <a:solidFill>
                  <a:srgbClr val="2C3E50"/>
                </a:solidFill>
              </a:defRPr>
            </a:pPr>
          </a:p>
          <a:p>
            <a:pPr>
              <a:spcAft>
                <a:spcPts val="600"/>
              </a:spcAft>
              <a:defRPr sz="1600">
                <a:solidFill>
                  <a:srgbClr val="2C3E50"/>
                </a:solidFill>
              </a:defRPr>
            </a:pPr>
            <a:r>
              <a:t>NON-MALEFICENCE:</a:t>
            </a:r>
          </a:p>
          <a:p>
            <a:pPr lvl="1">
              <a:spcAft>
                <a:spcPts val="600"/>
              </a:spcAft>
              <a:defRPr sz="1400">
                <a:solidFill>
                  <a:srgbClr val="2C3E50"/>
                </a:solidFill>
              </a:defRPr>
            </a:pPr>
            <a:r>
              <a:t>  • Poor MI can be harmful (confrontation disguised as MI)</a:t>
            </a:r>
          </a:p>
          <a:p>
            <a:pPr lvl="1">
              <a:spcAft>
                <a:spcPts val="600"/>
              </a:spcAft>
              <a:defRPr sz="1400">
                <a:solidFill>
                  <a:srgbClr val="2C3E50"/>
                </a:solidFill>
              </a:defRPr>
            </a:pPr>
            <a:r>
              <a:t>  • Manipulation concern: Is strategic reflection ethical? (Yes, if serving client welfare)</a:t>
            </a:r>
          </a:p>
          <a:p>
            <a:pPr lvl="1">
              <a:spcAft>
                <a:spcPts val="600"/>
              </a:spcAft>
              <a:defRPr sz="1400">
                <a:solidFill>
                  <a:srgbClr val="2C3E50"/>
                </a:solidFill>
              </a:defRPr>
            </a:pPr>
            <a:r>
              <a:t>  • Maintaining boundaries between influence and coercion</a:t>
            </a:r>
          </a:p>
          <a:p>
            <a:pPr>
              <a:spcAft>
                <a:spcPts val="600"/>
              </a:spcAft>
              <a:defRPr sz="1600">
                <a:solidFill>
                  <a:srgbClr val="2C3E50"/>
                </a:solidFill>
              </a:defRPr>
            </a:pPr>
          </a:p>
          <a:p>
            <a:pPr>
              <a:spcAft>
                <a:spcPts val="600"/>
              </a:spcAft>
              <a:defRPr sz="1600">
                <a:solidFill>
                  <a:srgbClr val="2C3E50"/>
                </a:solidFill>
              </a:defRPr>
            </a:pPr>
            <a:r>
              <a:t>COMPETENCE:</a:t>
            </a:r>
          </a:p>
          <a:p>
            <a:pPr lvl="1">
              <a:spcAft>
                <a:spcPts val="600"/>
              </a:spcAft>
              <a:defRPr sz="1400">
                <a:solidFill>
                  <a:srgbClr val="2C3E50"/>
                </a:solidFill>
              </a:defRPr>
            </a:pPr>
            <a:r>
              <a:t>  • Therapist must be trained, supervised, and fidelity-monitored</a:t>
            </a:r>
          </a:p>
          <a:p>
            <a:pPr lvl="1">
              <a:spcAft>
                <a:spcPts val="600"/>
              </a:spcAft>
              <a:defRPr sz="1400">
                <a:solidFill>
                  <a:srgbClr val="2C3E50"/>
                </a:solidFill>
              </a:defRPr>
            </a:pPr>
            <a:r>
              <a:t>  • 'Reading the manual is not sufficient' - requires practice and feedback</a:t>
            </a:r>
          </a:p>
          <a:p>
            <a:pPr lvl="1">
              <a:spcAft>
                <a:spcPts val="600"/>
              </a:spcAft>
              <a:defRPr sz="1400">
                <a:solidFill>
                  <a:srgbClr val="2C3E50"/>
                </a:solidFill>
              </a:defRPr>
            </a:pPr>
            <a:r>
              <a:t>  • Cultural competence essential for diverse populations</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MET's ethical foundation rests on genuine compassion and respect for autonomy; strategic techniques serve the client.</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&amp; Rollnick, S. (2013). Motivational interviewing (3rd ed.). Guilford Press. | APA. (2017). Ethical principles of psychologists. | NIMHANS ethical guidelines.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Cultural Adaptation of MET: Indian Context</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Adapt MET for cultural contexts, particularly Indian settings</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NIMHANS PERSPECTIVE ON CULTURAL ADAPTATION:</a:t>
            </a:r>
          </a:p>
          <a:p>
            <a:pPr lvl="1">
              <a:spcAft>
                <a:spcPts val="600"/>
              </a:spcAft>
              <a:defRPr sz="1400">
                <a:solidFill>
                  <a:srgbClr val="2C3E50"/>
                </a:solidFill>
              </a:defRPr>
            </a:pPr>
            <a:r>
              <a:t>  • India: 62.5 million alcohol users; limited specialist resources</a:t>
            </a:r>
          </a:p>
          <a:p>
            <a:pPr lvl="1">
              <a:spcAft>
                <a:spcPts val="600"/>
              </a:spcAft>
              <a:defRPr sz="1400">
                <a:solidFill>
                  <a:srgbClr val="2C3E50"/>
                </a:solidFill>
              </a:defRPr>
            </a:pPr>
            <a:r>
              <a:t>  • Brief motivational interventions particularly relevant for primary care</a:t>
            </a:r>
          </a:p>
          <a:p>
            <a:pPr lvl="1">
              <a:spcAft>
                <a:spcPts val="600"/>
              </a:spcAft>
              <a:defRPr sz="1400">
                <a:solidFill>
                  <a:srgbClr val="2C3E50"/>
                </a:solidFill>
              </a:defRPr>
            </a:pPr>
            <a:r>
              <a:t>  • Need for trained physicians as 'agents of change' (NIMHANS, 2008)</a:t>
            </a:r>
          </a:p>
          <a:p>
            <a:pPr>
              <a:spcAft>
                <a:spcPts val="600"/>
              </a:spcAft>
              <a:defRPr sz="1600">
                <a:solidFill>
                  <a:srgbClr val="2C3E50"/>
                </a:solidFill>
              </a:defRPr>
            </a:pPr>
          </a:p>
          <a:p>
            <a:pPr>
              <a:spcAft>
                <a:spcPts val="600"/>
              </a:spcAft>
              <a:defRPr sz="1600">
                <a:solidFill>
                  <a:srgbClr val="2C3E50"/>
                </a:solidFill>
              </a:defRPr>
            </a:pPr>
            <a:r>
              <a:t>CULTURAL CONSIDERATIONS FOR INDIA:</a:t>
            </a:r>
          </a:p>
          <a:p>
            <a:pPr lvl="1">
              <a:spcAft>
                <a:spcPts val="600"/>
              </a:spcAft>
              <a:defRPr sz="1400">
                <a:solidFill>
                  <a:srgbClr val="2C3E50"/>
                </a:solidFill>
              </a:defRPr>
            </a:pPr>
            <a:r>
              <a:t>  • Family involvement is culturally expected and therapeutically useful</a:t>
            </a:r>
          </a:p>
          <a:p>
            <a:pPr lvl="1">
              <a:spcAft>
                <a:spcPts val="600"/>
              </a:spcAft>
              <a:defRPr sz="1400">
                <a:solidFill>
                  <a:srgbClr val="2C3E50"/>
                </a:solidFill>
              </a:defRPr>
            </a:pPr>
            <a:r>
              <a:t>  • Stigma around substance use (especially for women) - heightened sensitivity needed</a:t>
            </a:r>
          </a:p>
          <a:p>
            <a:pPr lvl="1">
              <a:spcAft>
                <a:spcPts val="600"/>
              </a:spcAft>
              <a:defRPr sz="1400">
                <a:solidFill>
                  <a:srgbClr val="2C3E50"/>
                </a:solidFill>
              </a:defRPr>
            </a:pPr>
            <a:r>
              <a:t>  • Spiritual/religious values can be leveraged for discrepancy development</a:t>
            </a:r>
          </a:p>
          <a:p>
            <a:pPr lvl="1">
              <a:spcAft>
                <a:spcPts val="600"/>
              </a:spcAft>
              <a:defRPr sz="1400">
                <a:solidFill>
                  <a:srgbClr val="2C3E50"/>
                </a:solidFill>
              </a:defRPr>
            </a:pPr>
            <a:r>
              <a:t>  • Hierarchical relationships: MET's egalitarian approach may need gentle introduction</a:t>
            </a:r>
          </a:p>
          <a:p>
            <a:pPr lvl="1">
              <a:spcAft>
                <a:spcPts val="600"/>
              </a:spcAft>
              <a:defRPr sz="1400">
                <a:solidFill>
                  <a:srgbClr val="2C3E50"/>
                </a:solidFill>
              </a:defRPr>
            </a:pPr>
            <a:r>
              <a:t>  • Language adaptation: Materials must be available in local languages</a:t>
            </a:r>
          </a:p>
          <a:p>
            <a:pPr lvl="1">
              <a:spcAft>
                <a:spcPts val="600"/>
              </a:spcAft>
              <a:defRPr sz="1400">
                <a:solidFill>
                  <a:srgbClr val="2C3E50"/>
                </a:solidFill>
              </a:defRPr>
            </a:pPr>
            <a:r>
              <a:t>  • Joint family dynamics: Consider multiple stakeholders</a:t>
            </a:r>
          </a:p>
          <a:p>
            <a:pPr lvl="1">
              <a:spcAft>
                <a:spcPts val="600"/>
              </a:spcAft>
              <a:defRPr sz="1400">
                <a:solidFill>
                  <a:srgbClr val="2C3E50"/>
                </a:solidFill>
              </a:defRPr>
            </a:pPr>
            <a:r>
              <a:t>  • Gender roles: Women's substance use is heavily stigmatized</a:t>
            </a:r>
          </a:p>
          <a:p>
            <a:pPr>
              <a:spcAft>
                <a:spcPts val="600"/>
              </a:spcAft>
              <a:defRPr sz="1600">
                <a:solidFill>
                  <a:srgbClr val="2C3E50"/>
                </a:solidFill>
              </a:defRPr>
            </a:pPr>
          </a:p>
          <a:p>
            <a:pPr>
              <a:spcAft>
                <a:spcPts val="600"/>
              </a:spcAft>
              <a:defRPr sz="1600">
                <a:solidFill>
                  <a:srgbClr val="2C3E50"/>
                </a:solidFill>
              </a:defRPr>
            </a:pPr>
            <a:r>
              <a:t>UNIVERSAL PRINCIPLES THAT TRANSCEND CULTURE:</a:t>
            </a:r>
          </a:p>
          <a:p>
            <a:pPr lvl="1">
              <a:spcAft>
                <a:spcPts val="600"/>
              </a:spcAft>
              <a:defRPr sz="1400">
                <a:solidFill>
                  <a:srgbClr val="2C3E50"/>
                </a:solidFill>
              </a:defRPr>
            </a:pPr>
            <a:r>
              <a:t>  • Empathy, respect, autonomy support, non-judgment</a:t>
            </a:r>
          </a:p>
          <a:p>
            <a:pPr lvl="1">
              <a:spcAft>
                <a:spcPts val="600"/>
              </a:spcAft>
              <a:defRPr sz="1400">
                <a:solidFill>
                  <a:srgbClr val="2C3E50"/>
                </a:solidFill>
              </a:defRPr>
            </a:pPr>
            <a:r>
              <a:t>  • These values are recognized across all cultures</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MET's core principles are universal; cultural adaptations address family involvement, stigma, and local values.</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Murthy, P. (2008). NIMHANS Manual, pp. 1-3. | D'Amico, E.J., et al. (2015). Journal of Substance Abuse Treatment, 59, 91-99. | Benegal, V. (2005). Addiction, 100, 1051-1056.</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1D5FA6"/>
        </a:solidFill>
        <a:effectLst/>
      </p:bgPr>
    </p:bg>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914400" y="1828800"/>
            <a:ext cx="10058400" cy="1371600"/>
          </a:xfrm>
          <a:prstGeom prst="rect">
            <a:avLst/>
          </a:prstGeom>
          <a:noFill/>
        </p:spPr>
        <p:txBody>
          <a:bodyPr wrap="none">
            <a:spAutoFit/>
          </a:bodyPr>
          <a:lstStyle/>
          <a:p>
            <a:pPr algn="ctr">
              <a:defRPr sz="1800">
                <a:solidFill>
                  <a:srgbClr val="B7950B"/>
                </a:solidFill>
              </a:defRPr>
            </a:pPr>
            <a:r>
              <a:t>SECTION 26</a:t>
            </a:r>
          </a:p>
        </p:txBody>
      </p:sp>
      <p:sp>
        <p:nvSpPr>
          <p:cNvPr id="5" name="TextBox 4"/>
          <p:cNvSpPr txBox="1"/>
          <p:nvPr/>
        </p:nvSpPr>
        <p:spPr>
          <a:xfrm>
            <a:off x="914400" y="2926080"/>
            <a:ext cx="10058400" cy="1828800"/>
          </a:xfrm>
          <a:prstGeom prst="rect">
            <a:avLst/>
          </a:prstGeom>
          <a:noFill/>
        </p:spPr>
        <p:txBody>
          <a:bodyPr wrap="square">
            <a:spAutoFit/>
          </a:bodyPr>
          <a:lstStyle/>
          <a:p>
            <a:pPr algn="ctr">
              <a:defRPr sz="3600" b="1">
                <a:solidFill>
                  <a:srgbClr val="FFFFFF"/>
                </a:solidFill>
              </a:defRPr>
            </a:pPr>
            <a:r>
              <a:t>Therapist Competencies and Training</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Skills Required and MITI Coding</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Identify competencies required for MET practice and methods for assessing fidelity</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CORE COMPETENCIES FOR MET THERAPISTS:</a:t>
            </a:r>
          </a:p>
          <a:p>
            <a:pPr lvl="1">
              <a:spcAft>
                <a:spcPts val="600"/>
              </a:spcAft>
              <a:defRPr sz="1400">
                <a:solidFill>
                  <a:srgbClr val="2C3E50"/>
                </a:solidFill>
              </a:defRPr>
            </a:pPr>
            <a:r>
              <a:t>  • Reflective listening (the foundational skill)</a:t>
            </a:r>
          </a:p>
          <a:p>
            <a:pPr lvl="1">
              <a:spcAft>
                <a:spcPts val="600"/>
              </a:spcAft>
              <a:defRPr sz="1400">
                <a:solidFill>
                  <a:srgbClr val="2C3E50"/>
                </a:solidFill>
              </a:defRPr>
            </a:pPr>
            <a:r>
              <a:t>  • Asking open questions</a:t>
            </a:r>
          </a:p>
          <a:p>
            <a:pPr lvl="1">
              <a:spcAft>
                <a:spcPts val="600"/>
              </a:spcAft>
              <a:defRPr sz="1400">
                <a:solidFill>
                  <a:srgbClr val="2C3E50"/>
                </a:solidFill>
              </a:defRPr>
            </a:pPr>
            <a:r>
              <a:t>  • Affirming client strengths</a:t>
            </a:r>
          </a:p>
          <a:p>
            <a:pPr lvl="1">
              <a:spcAft>
                <a:spcPts val="600"/>
              </a:spcAft>
              <a:defRPr sz="1400">
                <a:solidFill>
                  <a:srgbClr val="2C3E50"/>
                </a:solidFill>
              </a:defRPr>
            </a:pPr>
            <a:r>
              <a:t>  • Summarizing strategically</a:t>
            </a:r>
          </a:p>
          <a:p>
            <a:pPr lvl="1">
              <a:spcAft>
                <a:spcPts val="600"/>
              </a:spcAft>
              <a:defRPr sz="1400">
                <a:solidFill>
                  <a:srgbClr val="2C3E50"/>
                </a:solidFill>
              </a:defRPr>
            </a:pPr>
            <a:r>
              <a:t>  • Recognizing and reinforcing change talk</a:t>
            </a:r>
          </a:p>
          <a:p>
            <a:pPr lvl="1">
              <a:spcAft>
                <a:spcPts val="600"/>
              </a:spcAft>
              <a:defRPr sz="1400">
                <a:solidFill>
                  <a:srgbClr val="2C3E50"/>
                </a:solidFill>
              </a:defRPr>
            </a:pPr>
            <a:r>
              <a:t>  • Rolling with resistance</a:t>
            </a:r>
          </a:p>
          <a:p>
            <a:pPr lvl="1">
              <a:spcAft>
                <a:spcPts val="600"/>
              </a:spcAft>
              <a:defRPr sz="1400">
                <a:solidFill>
                  <a:srgbClr val="2C3E50"/>
                </a:solidFill>
              </a:defRPr>
            </a:pPr>
            <a:r>
              <a:t>  • Delivering feedback non-judgmentally</a:t>
            </a:r>
          </a:p>
          <a:p>
            <a:pPr lvl="1">
              <a:spcAft>
                <a:spcPts val="600"/>
              </a:spcAft>
              <a:defRPr sz="1400">
                <a:solidFill>
                  <a:srgbClr val="2C3E50"/>
                </a:solidFill>
              </a:defRPr>
            </a:pPr>
            <a:r>
              <a:t>  • Managing own 'righting reflex'</a:t>
            </a:r>
          </a:p>
          <a:p>
            <a:pPr>
              <a:spcAft>
                <a:spcPts val="600"/>
              </a:spcAft>
              <a:defRPr sz="1600">
                <a:solidFill>
                  <a:srgbClr val="2C3E50"/>
                </a:solidFill>
              </a:defRPr>
            </a:pPr>
          </a:p>
          <a:p>
            <a:pPr>
              <a:spcAft>
                <a:spcPts val="600"/>
              </a:spcAft>
              <a:defRPr sz="1600">
                <a:solidFill>
                  <a:srgbClr val="2C3E50"/>
                </a:solidFill>
              </a:defRPr>
            </a:pPr>
            <a:r>
              <a:t>MITI (Motivational Interviewing Treatment Integrity) CODING:</a:t>
            </a:r>
          </a:p>
          <a:p>
            <a:pPr lvl="1">
              <a:spcAft>
                <a:spcPts val="600"/>
              </a:spcAft>
              <a:defRPr sz="1400">
                <a:solidFill>
                  <a:srgbClr val="2C3E50"/>
                </a:solidFill>
              </a:defRPr>
            </a:pPr>
            <a:r>
              <a:t>  Developed by Moyers et al. for assessing MI fidelity</a:t>
            </a:r>
          </a:p>
          <a:p>
            <a:pPr lvl="1">
              <a:spcAft>
                <a:spcPts val="600"/>
              </a:spcAft>
              <a:defRPr sz="1400">
                <a:solidFill>
                  <a:srgbClr val="2C3E50"/>
                </a:solidFill>
              </a:defRPr>
            </a:pPr>
            <a:r>
              <a:t>  Measures: Technical (reflection:question ratio, % open questions, % complex reflections)</a:t>
            </a:r>
          </a:p>
          <a:p>
            <a:pPr lvl="1">
              <a:spcAft>
                <a:spcPts val="600"/>
              </a:spcAft>
              <a:defRPr sz="1400">
                <a:solidFill>
                  <a:srgbClr val="2C3E50"/>
                </a:solidFill>
              </a:defRPr>
            </a:pPr>
            <a:r>
              <a:t>  Measures: Relational (partnership, empathy)</a:t>
            </a:r>
          </a:p>
          <a:p>
            <a:pPr lvl="1">
              <a:spcAft>
                <a:spcPts val="600"/>
              </a:spcAft>
              <a:defRPr sz="1400">
                <a:solidFill>
                  <a:srgbClr val="2C3E50"/>
                </a:solidFill>
              </a:defRPr>
            </a:pPr>
            <a:r>
              <a:t>  THRESHOLDS: Competent = reflection:question ≥ 1:1; Open questions ≥ 50%</a:t>
            </a:r>
          </a:p>
          <a:p>
            <a:pPr lvl="1">
              <a:spcAft>
                <a:spcPts val="600"/>
              </a:spcAft>
              <a:defRPr sz="1400">
                <a:solidFill>
                  <a:srgbClr val="2C3E50"/>
                </a:solidFill>
              </a:defRPr>
            </a:pPr>
            <a:r>
              <a:t>             Proficient = reflection:question ≥ 2:1; Open questions ≥ 70%</a:t>
            </a:r>
          </a:p>
          <a:p>
            <a:pPr>
              <a:spcAft>
                <a:spcPts val="600"/>
              </a:spcAft>
              <a:defRPr sz="1600">
                <a:solidFill>
                  <a:srgbClr val="2C3E50"/>
                </a:solidFill>
              </a:defRPr>
            </a:pPr>
          </a:p>
          <a:p>
            <a:pPr>
              <a:spcAft>
                <a:spcPts val="600"/>
              </a:spcAft>
              <a:defRPr sz="1600">
                <a:solidFill>
                  <a:srgbClr val="2C3E50"/>
                </a:solidFill>
              </a:defRPr>
            </a:pPr>
            <a:r>
              <a:t>TRAINING: Workshop + practice + feedback + supervision (not just reading)</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MI fidelity requires specific measurable skills; MITI coding provides objective assessment of competence.</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Moyers, T.B., et al. (2005). MITI Manual (Version 3.0). University of New Mexico. | Miller, W.R., &amp; Moyers, T.B. (2006). Behavioural and Cognitive Psychotherapy, 34, 135-143. | Madson, M.B., et al. (2009). Motivational Interviewing Training. Springer.</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Training, Supervision, and Maintaining Fidelity</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Design a training and supervision plan for developing MET competence</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TRAINING PATHWAY:</a:t>
            </a:r>
          </a:p>
          <a:p>
            <a:pPr lvl="1">
              <a:spcAft>
                <a:spcPts val="600"/>
              </a:spcAft>
              <a:defRPr sz="1400">
                <a:solidFill>
                  <a:srgbClr val="2C3E50"/>
                </a:solidFill>
              </a:defRPr>
            </a:pPr>
            <a:r>
              <a:t>  1. Foundational knowledge: Read manual; understand theories</a:t>
            </a:r>
          </a:p>
          <a:p>
            <a:pPr lvl="1">
              <a:spcAft>
                <a:spcPts val="600"/>
              </a:spcAft>
              <a:defRPr sz="1400">
                <a:solidFill>
                  <a:srgbClr val="2C3E50"/>
                </a:solidFill>
              </a:defRPr>
            </a:pPr>
            <a:r>
              <a:t>  2. Workshop training: 2-3 day intensive with practice</a:t>
            </a:r>
          </a:p>
          <a:p>
            <a:pPr lvl="1">
              <a:spcAft>
                <a:spcPts val="600"/>
              </a:spcAft>
              <a:defRPr sz="1400">
                <a:solidFill>
                  <a:srgbClr val="2C3E50"/>
                </a:solidFill>
              </a:defRPr>
            </a:pPr>
            <a:r>
              <a:t>  3. Practice with feedback: Record sessions; get MITI coding</a:t>
            </a:r>
          </a:p>
          <a:p>
            <a:pPr lvl="1">
              <a:spcAft>
                <a:spcPts val="600"/>
              </a:spcAft>
              <a:defRPr sz="1400">
                <a:solidFill>
                  <a:srgbClr val="2C3E50"/>
                </a:solidFill>
              </a:defRPr>
            </a:pPr>
            <a:r>
              <a:t>  4. Supervision: Regular case discussion with trained supervisor</a:t>
            </a:r>
          </a:p>
          <a:p>
            <a:pPr lvl="1">
              <a:spcAft>
                <a:spcPts val="600"/>
              </a:spcAft>
              <a:defRPr sz="1400">
                <a:solidFill>
                  <a:srgbClr val="2C3E50"/>
                </a:solidFill>
              </a:defRPr>
            </a:pPr>
            <a:r>
              <a:t>  5. Ongoing development: Coaching, peer groups, booster training</a:t>
            </a:r>
          </a:p>
          <a:p>
            <a:pPr>
              <a:spcAft>
                <a:spcPts val="600"/>
              </a:spcAft>
              <a:defRPr sz="1600">
                <a:solidFill>
                  <a:srgbClr val="2C3E50"/>
                </a:solidFill>
              </a:defRPr>
            </a:pPr>
          </a:p>
          <a:p>
            <a:pPr>
              <a:spcAft>
                <a:spcPts val="600"/>
              </a:spcAft>
              <a:defRPr sz="1600">
                <a:solidFill>
                  <a:srgbClr val="2C3E50"/>
                </a:solidFill>
              </a:defRPr>
            </a:pPr>
            <a:r>
              <a:t>SUPERVISION FOCUS:</a:t>
            </a:r>
          </a:p>
          <a:p>
            <a:pPr lvl="1">
              <a:spcAft>
                <a:spcPts val="600"/>
              </a:spcAft>
              <a:defRPr sz="1400">
                <a:solidFill>
                  <a:srgbClr val="2C3E50"/>
                </a:solidFill>
              </a:defRPr>
            </a:pPr>
            <a:r>
              <a:t>  • Review recorded sessions (audio/video)</a:t>
            </a:r>
          </a:p>
          <a:p>
            <a:pPr lvl="1">
              <a:spcAft>
                <a:spcPts val="600"/>
              </a:spcAft>
              <a:defRPr sz="1400">
                <a:solidFill>
                  <a:srgbClr val="2C3E50"/>
                </a:solidFill>
              </a:defRPr>
            </a:pPr>
            <a:r>
              <a:t>  • Identify moments of drift (confrontation, advice-giving)</a:t>
            </a:r>
          </a:p>
          <a:p>
            <a:pPr lvl="1">
              <a:spcAft>
                <a:spcPts val="600"/>
              </a:spcAft>
              <a:defRPr sz="1400">
                <a:solidFill>
                  <a:srgbClr val="2C3E50"/>
                </a:solidFill>
              </a:defRPr>
            </a:pPr>
            <a:r>
              <a:t>  • Celebrate skillful moments</a:t>
            </a:r>
          </a:p>
          <a:p>
            <a:pPr lvl="1">
              <a:spcAft>
                <a:spcPts val="600"/>
              </a:spcAft>
              <a:defRPr sz="1400">
                <a:solidFill>
                  <a:srgbClr val="2C3E50"/>
                </a:solidFill>
              </a:defRPr>
            </a:pPr>
            <a:r>
              <a:t>  • Address therapist 'righting reflex'</a:t>
            </a:r>
          </a:p>
          <a:p>
            <a:pPr lvl="1">
              <a:spcAft>
                <a:spcPts val="600"/>
              </a:spcAft>
              <a:defRPr sz="1400">
                <a:solidFill>
                  <a:srgbClr val="2C3E50"/>
                </a:solidFill>
              </a:defRPr>
            </a:pPr>
            <a:r>
              <a:t>  • Role-play challenging scenarios</a:t>
            </a:r>
          </a:p>
          <a:p>
            <a:pPr>
              <a:spcAft>
                <a:spcPts val="600"/>
              </a:spcAft>
              <a:defRPr sz="1600">
                <a:solidFill>
                  <a:srgbClr val="2C3E50"/>
                </a:solidFill>
              </a:defRPr>
            </a:pPr>
          </a:p>
          <a:p>
            <a:pPr>
              <a:spcAft>
                <a:spcPts val="600"/>
              </a:spcAft>
              <a:defRPr sz="1600">
                <a:solidFill>
                  <a:srgbClr val="2C3E50"/>
                </a:solidFill>
              </a:defRPr>
            </a:pPr>
            <a:r>
              <a:t>COMMON THERAPIST MISTAKES:</a:t>
            </a:r>
          </a:p>
          <a:p>
            <a:pPr lvl="1">
              <a:spcAft>
                <a:spcPts val="600"/>
              </a:spcAft>
              <a:defRPr sz="1400">
                <a:solidFill>
                  <a:srgbClr val="2C3E50"/>
                </a:solidFill>
              </a:defRPr>
            </a:pPr>
            <a:r>
              <a:t>  • The 'expert trap': Telling rather than asking</a:t>
            </a:r>
          </a:p>
          <a:p>
            <a:pPr lvl="1">
              <a:spcAft>
                <a:spcPts val="600"/>
              </a:spcAft>
              <a:defRPr sz="1400">
                <a:solidFill>
                  <a:srgbClr val="2C3E50"/>
                </a:solidFill>
              </a:defRPr>
            </a:pPr>
            <a:r>
              <a:t>  • The 'assessment trap': Too many questions, not enough reflections</a:t>
            </a:r>
          </a:p>
          <a:p>
            <a:pPr lvl="1">
              <a:spcAft>
                <a:spcPts val="600"/>
              </a:spcAft>
              <a:defRPr sz="1400">
                <a:solidFill>
                  <a:srgbClr val="2C3E50"/>
                </a:solidFill>
              </a:defRPr>
            </a:pPr>
            <a:r>
              <a:t>  • The 'premature focus trap': Moving to planning before client is ready</a:t>
            </a:r>
          </a:p>
          <a:p>
            <a:pPr lvl="1">
              <a:spcAft>
                <a:spcPts val="600"/>
              </a:spcAft>
              <a:defRPr sz="1400">
                <a:solidFill>
                  <a:srgbClr val="2C3E50"/>
                </a:solidFill>
              </a:defRPr>
            </a:pPr>
            <a:r>
              <a:t>  • The 'labeling trap': Using 'alcoholic' or other stigmatizing labels</a:t>
            </a:r>
          </a:p>
          <a:p>
            <a:pPr lvl="1">
              <a:spcAft>
                <a:spcPts val="600"/>
              </a:spcAft>
              <a:defRPr sz="1400">
                <a:solidFill>
                  <a:srgbClr val="2C3E50"/>
                </a:solidFill>
              </a:defRPr>
            </a:pPr>
            <a:r>
              <a:t>  • The 'blaming trap': Attributing resistance to client pathology</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Competence requires workshop + practice + feedback + supervision; reading alone is insufficient.</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&amp; Moyers, T.B. (2006). Behavioural and Cognitive Psychotherapy, 34, 135-143. | Miller, W.R., et al. (2004). Journal of Substance Abuse Treatment, 26, 3-12. | Schwalbe, C.S., et al. (2014). Addiction, 109, 1287-1294.</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1D5FA6"/>
        </a:solidFill>
        <a:effectLst/>
      </p:bgPr>
    </p:bg>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914400" y="1828800"/>
            <a:ext cx="10058400" cy="1371600"/>
          </a:xfrm>
          <a:prstGeom prst="rect">
            <a:avLst/>
          </a:prstGeom>
          <a:noFill/>
        </p:spPr>
        <p:txBody>
          <a:bodyPr wrap="none">
            <a:spAutoFit/>
          </a:bodyPr>
          <a:lstStyle/>
          <a:p>
            <a:pPr algn="ctr">
              <a:defRPr sz="1800">
                <a:solidFill>
                  <a:srgbClr val="B7950B"/>
                </a:solidFill>
              </a:defRPr>
            </a:pPr>
            <a:r>
              <a:t>SECTION 27</a:t>
            </a:r>
          </a:p>
        </p:txBody>
      </p:sp>
      <p:sp>
        <p:nvSpPr>
          <p:cNvPr id="5" name="TextBox 4"/>
          <p:cNvSpPr txBox="1"/>
          <p:nvPr/>
        </p:nvSpPr>
        <p:spPr>
          <a:xfrm>
            <a:off x="914400" y="2926080"/>
            <a:ext cx="10058400" cy="1828800"/>
          </a:xfrm>
          <a:prstGeom prst="rect">
            <a:avLst/>
          </a:prstGeom>
          <a:noFill/>
        </p:spPr>
        <p:txBody>
          <a:bodyPr wrap="square">
            <a:spAutoFit/>
          </a:bodyPr>
          <a:lstStyle/>
          <a:p>
            <a:pPr algn="ctr">
              <a:defRPr sz="3600" b="1">
                <a:solidFill>
                  <a:srgbClr val="FFFFFF"/>
                </a:solidFill>
              </a:defRPr>
            </a:pPr>
            <a:r>
              <a:t>Practical Demonstration: Role Plays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Role Play Script: Therapist-Client Dialogue (Session 1 Opening)</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Observe and practice MET dialogue techniques in a realistic clinical scenario</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SCENARIO: First MET session with Arun, 35, IT professional, referred by wife</a:t>
            </a:r>
          </a:p>
          <a:p>
            <a:pPr>
              <a:spcAft>
                <a:spcPts val="600"/>
              </a:spcAft>
              <a:defRPr sz="1600">
                <a:solidFill>
                  <a:srgbClr val="2C3E50"/>
                </a:solidFill>
              </a:defRPr>
            </a:pPr>
          </a:p>
          <a:p>
            <a:pPr>
              <a:spcAft>
                <a:spcPts val="600"/>
              </a:spcAft>
              <a:defRPr sz="1600">
                <a:solidFill>
                  <a:srgbClr val="2C3E50"/>
                </a:solidFill>
              </a:defRPr>
            </a:pPr>
            <a:r>
              <a:t>T: 'Welcome, Arun. Thank you for coming in today. I'd like to hear from you -</a:t>
            </a:r>
          </a:p>
          <a:p>
            <a:pPr lvl="1">
              <a:spcAft>
                <a:spcPts val="600"/>
              </a:spcAft>
              <a:defRPr sz="1400">
                <a:solidFill>
                  <a:srgbClr val="2C3E50"/>
                </a:solidFill>
              </a:defRPr>
            </a:pPr>
            <a:r>
              <a:t>   what brings you here?'</a:t>
            </a:r>
          </a:p>
          <a:p>
            <a:pPr>
              <a:spcAft>
                <a:spcPts val="600"/>
              </a:spcAft>
              <a:defRPr sz="1600">
                <a:solidFill>
                  <a:srgbClr val="2C3E50"/>
                </a:solidFill>
              </a:defRPr>
            </a:pPr>
            <a:r>
              <a:t>C: 'My wife made me come. She thinks I drink too much. I don't see the problem.'</a:t>
            </a:r>
          </a:p>
          <a:p>
            <a:pPr>
              <a:spcAft>
                <a:spcPts val="600"/>
              </a:spcAft>
              <a:defRPr sz="1600">
                <a:solidFill>
                  <a:srgbClr val="2C3E50"/>
                </a:solidFill>
              </a:defRPr>
            </a:pPr>
            <a:r>
              <a:t>T: 'So coming here wasn't really your idea. You're doing this for her.' [reflection]</a:t>
            </a:r>
          </a:p>
          <a:p>
            <a:pPr>
              <a:spcAft>
                <a:spcPts val="600"/>
              </a:spcAft>
              <a:defRPr sz="1600">
                <a:solidFill>
                  <a:srgbClr val="2C3E50"/>
                </a:solidFill>
              </a:defRPr>
            </a:pPr>
            <a:r>
              <a:t>C: 'Yeah, exactly. I mean, everyone I know drinks.'</a:t>
            </a:r>
          </a:p>
          <a:p>
            <a:pPr>
              <a:spcAft>
                <a:spcPts val="600"/>
              </a:spcAft>
              <a:defRPr sz="1600">
                <a:solidFill>
                  <a:srgbClr val="2C3E50"/>
                </a:solidFill>
              </a:defRPr>
            </a:pPr>
            <a:r>
              <a:t>T: 'From your perspective, your drinking is pretty normal for your circle.' [reflection]</a:t>
            </a:r>
          </a:p>
          <a:p>
            <a:pPr>
              <a:spcAft>
                <a:spcPts val="600"/>
              </a:spcAft>
              <a:defRPr sz="1600">
                <a:solidFill>
                  <a:srgbClr val="2C3E50"/>
                </a:solidFill>
              </a:defRPr>
            </a:pPr>
            <a:r>
              <a:t>C: 'Right. But she keeps nagging me about it.'</a:t>
            </a:r>
          </a:p>
          <a:p>
            <a:pPr>
              <a:spcAft>
                <a:spcPts val="600"/>
              </a:spcAft>
              <a:defRPr sz="1600">
                <a:solidFill>
                  <a:srgbClr val="2C3E50"/>
                </a:solidFill>
              </a:defRPr>
            </a:pPr>
            <a:r>
              <a:t>T: 'That must be frustrating. And yet here you are.' [reflection + observation]</a:t>
            </a:r>
          </a:p>
          <a:p>
            <a:pPr>
              <a:spcAft>
                <a:spcPts val="600"/>
              </a:spcAft>
              <a:defRPr sz="1600">
                <a:solidFill>
                  <a:srgbClr val="2C3E50"/>
                </a:solidFill>
              </a:defRPr>
            </a:pPr>
            <a:r>
              <a:t>C: 'Well... I love her. And she IS worried. I don't want to lose her.'</a:t>
            </a:r>
          </a:p>
          <a:p>
            <a:pPr>
              <a:spcAft>
                <a:spcPts val="600"/>
              </a:spcAft>
              <a:defRPr sz="1600">
                <a:solidFill>
                  <a:srgbClr val="2C3E50"/>
                </a:solidFill>
              </a:defRPr>
            </a:pPr>
            <a:r>
              <a:t>T: 'She means a lot to you, and her concern affects you.' [reflects caring value]</a:t>
            </a:r>
          </a:p>
          <a:p>
            <a:pPr>
              <a:spcAft>
                <a:spcPts val="600"/>
              </a:spcAft>
              <a:defRPr sz="1600">
                <a:solidFill>
                  <a:srgbClr val="2C3E50"/>
                </a:solidFill>
              </a:defRPr>
            </a:pPr>
            <a:r>
              <a:t>C: 'Yeah. I mean, maybe I COULD cut back a little if it would make her happy.'</a:t>
            </a:r>
          </a:p>
          <a:p>
            <a:pPr>
              <a:spcAft>
                <a:spcPts val="600"/>
              </a:spcAft>
              <a:defRPr sz="1600">
                <a:solidFill>
                  <a:srgbClr val="2C3E50"/>
                </a:solidFill>
              </a:defRPr>
            </a:pPr>
            <a:r>
              <a:t>T: 'So part of you can see a reason to look at this more closely.' [change talk!]</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Skilled reflection moves clients from resistance to change talk without any confrontation or pressure.</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(clinical dialogue examples adapted from the manual).</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Role Play: Common Mistakes vs. Correct Responses</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Identify common therapist mistakes and practice MI-consistent alternatives</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SCENARIO: Client says 'I don't think I'm an alcoholic'</a:t>
            </a:r>
          </a:p>
          <a:p>
            <a:pPr>
              <a:spcAft>
                <a:spcPts val="600"/>
              </a:spcAft>
              <a:defRPr sz="1600">
                <a:solidFill>
                  <a:srgbClr val="2C3E50"/>
                </a:solidFill>
              </a:defRPr>
            </a:pPr>
          </a:p>
          <a:p>
            <a:pPr>
              <a:spcAft>
                <a:spcPts val="600"/>
              </a:spcAft>
              <a:defRPr sz="1600">
                <a:solidFill>
                  <a:srgbClr val="2C3E50"/>
                </a:solidFill>
              </a:defRPr>
            </a:pPr>
            <a:r>
              <a:t>❌ WRONG RESPONSES:</a:t>
            </a:r>
          </a:p>
          <a:p>
            <a:pPr lvl="1">
              <a:spcAft>
                <a:spcPts val="600"/>
              </a:spcAft>
              <a:defRPr sz="1400">
                <a:solidFill>
                  <a:srgbClr val="2C3E50"/>
                </a:solidFill>
              </a:defRPr>
            </a:pPr>
            <a:r>
              <a:t>  Confrontation: 'Yes you are! Look at your test results!'</a:t>
            </a:r>
          </a:p>
          <a:p>
            <a:pPr lvl="1">
              <a:spcAft>
                <a:spcPts val="600"/>
              </a:spcAft>
              <a:defRPr sz="1400">
                <a:solidFill>
                  <a:srgbClr val="2C3E50"/>
                </a:solidFill>
              </a:defRPr>
            </a:pPr>
            <a:r>
              <a:t>  Labeling: 'Whether you call it that or not, you meet the criteria'</a:t>
            </a:r>
          </a:p>
          <a:p>
            <a:pPr lvl="1">
              <a:spcAft>
                <a:spcPts val="600"/>
              </a:spcAft>
              <a:defRPr sz="1400">
                <a:solidFill>
                  <a:srgbClr val="2C3E50"/>
                </a:solidFill>
              </a:defRPr>
            </a:pPr>
            <a:r>
              <a:t>  Question trap: 'Why do you think you're NOT an alcoholic?'</a:t>
            </a:r>
          </a:p>
          <a:p>
            <a:pPr lvl="1">
              <a:spcAft>
                <a:spcPts val="600"/>
              </a:spcAft>
              <a:defRPr sz="1400">
                <a:solidFill>
                  <a:srgbClr val="2C3E50"/>
                </a:solidFill>
              </a:defRPr>
            </a:pPr>
            <a:r>
              <a:t>  Lecturing: 'Let me tell you about the diagnostic criteria...'</a:t>
            </a:r>
          </a:p>
          <a:p>
            <a:pPr>
              <a:spcAft>
                <a:spcPts val="600"/>
              </a:spcAft>
              <a:defRPr sz="1600">
                <a:solidFill>
                  <a:srgbClr val="2C3E50"/>
                </a:solidFill>
              </a:defRPr>
            </a:pPr>
          </a:p>
          <a:p>
            <a:pPr>
              <a:spcAft>
                <a:spcPts val="600"/>
              </a:spcAft>
              <a:defRPr sz="1600">
                <a:solidFill>
                  <a:srgbClr val="2C3E50"/>
                </a:solidFill>
              </a:defRPr>
            </a:pPr>
            <a:r>
              <a:t>✓ CORRECT RESPONSES:</a:t>
            </a:r>
          </a:p>
          <a:p>
            <a:pPr lvl="1">
              <a:spcAft>
                <a:spcPts val="600"/>
              </a:spcAft>
              <a:defRPr sz="1400">
                <a:solidFill>
                  <a:srgbClr val="2C3E50"/>
                </a:solidFill>
              </a:defRPr>
            </a:pPr>
            <a:r>
              <a:t>  Shifting focus: 'Labels aren't important here. What concerns YOU about your drinking?'</a:t>
            </a:r>
          </a:p>
          <a:p>
            <a:pPr lvl="1">
              <a:spcAft>
                <a:spcPts val="600"/>
              </a:spcAft>
              <a:defRPr sz="1400">
                <a:solidFill>
                  <a:srgbClr val="2C3E50"/>
                </a:solidFill>
              </a:defRPr>
            </a:pPr>
            <a:r>
              <a:t>  Reflection: 'You don't like that word being applied to you'</a:t>
            </a:r>
          </a:p>
          <a:p>
            <a:pPr lvl="1">
              <a:spcAft>
                <a:spcPts val="600"/>
              </a:spcAft>
              <a:defRPr sz="1400">
                <a:solidFill>
                  <a:srgbClr val="2C3E50"/>
                </a:solidFill>
              </a:defRPr>
            </a:pPr>
            <a:r>
              <a:t>  Reframe: 'You're someone who thinks carefully before accepting conclusions'</a:t>
            </a:r>
          </a:p>
          <a:p>
            <a:pPr lvl="1">
              <a:spcAft>
                <a:spcPts val="600"/>
              </a:spcAft>
              <a:defRPr sz="1400">
                <a:solidFill>
                  <a:srgbClr val="2C3E50"/>
                </a:solidFill>
              </a:defRPr>
            </a:pPr>
            <a:r>
              <a:t>  Double-sided: 'You don't think you're alcoholic, AND you do have some concerns'</a:t>
            </a:r>
          </a:p>
          <a:p>
            <a:pPr lvl="1">
              <a:spcAft>
                <a:spcPts val="600"/>
              </a:spcAft>
              <a:defRPr sz="1400">
                <a:solidFill>
                  <a:srgbClr val="2C3E50"/>
                </a:solidFill>
              </a:defRPr>
            </a:pPr>
            <a:r>
              <a:t>  Amplified: 'So your drinking is absolutely fine in every way' [elicits: 'Well..not EVERY way']</a:t>
            </a:r>
          </a:p>
          <a:p>
            <a:pPr>
              <a:spcAft>
                <a:spcPts val="600"/>
              </a:spcAft>
              <a:defRPr sz="1600">
                <a:solidFill>
                  <a:srgbClr val="2C3E50"/>
                </a:solidFill>
              </a:defRPr>
            </a:pPr>
          </a:p>
          <a:p>
            <a:pPr>
              <a:spcAft>
                <a:spcPts val="600"/>
              </a:spcAft>
              <a:defRPr sz="1600">
                <a:solidFill>
                  <a:srgbClr val="2C3E50"/>
                </a:solidFill>
              </a:defRPr>
            </a:pPr>
            <a:r>
              <a:t>KEY PRINCIPLE: NEVER argue about labels; explore what the person IS concerned about</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Never argue about labels; shift focus to the client's own concerns and reflect their perspective.</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 Miller, W.R., &amp; Rollnick, S. (2013). Motivational interviewing (3rd ed.). Guilford Press.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Extended Role Play: Feedback Delivery with Resistance</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Practice feedback delivery with resistant clients using pure reflective responding</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SCENARIO: Delivering high drinking results to a defensive client</a:t>
            </a:r>
          </a:p>
          <a:p>
            <a:pPr>
              <a:spcAft>
                <a:spcPts val="600"/>
              </a:spcAft>
              <a:defRPr sz="1600">
                <a:solidFill>
                  <a:srgbClr val="2C3E50"/>
                </a:solidFill>
              </a:defRPr>
            </a:pPr>
          </a:p>
          <a:p>
            <a:pPr>
              <a:spcAft>
                <a:spcPts val="600"/>
              </a:spcAft>
              <a:defRPr sz="1600">
                <a:solidFill>
                  <a:srgbClr val="2C3E50"/>
                </a:solidFill>
              </a:defRPr>
            </a:pPr>
            <a:r>
              <a:t>T: 'Here are your results. Your weekly consumption is about 35 standard drinks.</a:t>
            </a:r>
          </a:p>
          <a:p>
            <a:pPr lvl="1">
              <a:spcAft>
                <a:spcPts val="600"/>
              </a:spcAft>
              <a:defRPr sz="1400">
                <a:solidFill>
                  <a:srgbClr val="2C3E50"/>
                </a:solidFill>
              </a:defRPr>
            </a:pPr>
            <a:r>
              <a:t>   That puts you above 95% of the adult population.' [neutral feedback]</a:t>
            </a:r>
          </a:p>
          <a:p>
            <a:pPr>
              <a:spcAft>
                <a:spcPts val="600"/>
              </a:spcAft>
              <a:defRPr sz="1600">
                <a:solidFill>
                  <a:srgbClr val="2C3E50"/>
                </a:solidFill>
              </a:defRPr>
            </a:pPr>
            <a:r>
              <a:t>C: 'That can't be right. There's no way I drink that much.'</a:t>
            </a:r>
          </a:p>
          <a:p>
            <a:pPr>
              <a:spcAft>
                <a:spcPts val="600"/>
              </a:spcAft>
              <a:defRPr sz="1600">
                <a:solidFill>
                  <a:srgbClr val="2C3E50"/>
                </a:solidFill>
              </a:defRPr>
            </a:pPr>
            <a:r>
              <a:t>T: 'This is surprising to you. It doesn't match how you see your drinking.' [reflect]</a:t>
            </a:r>
          </a:p>
          <a:p>
            <a:pPr>
              <a:spcAft>
                <a:spcPts val="600"/>
              </a:spcAft>
              <a:defRPr sz="1600">
                <a:solidFill>
                  <a:srgbClr val="2C3E50"/>
                </a:solidFill>
              </a:defRPr>
            </a:pPr>
            <a:r>
              <a:t>C: 'The test must be wrong. Or maybe I exaggerated.'</a:t>
            </a:r>
          </a:p>
          <a:p>
            <a:pPr>
              <a:spcAft>
                <a:spcPts val="600"/>
              </a:spcAft>
              <a:defRPr sz="1600">
                <a:solidFill>
                  <a:srgbClr val="2C3E50"/>
                </a:solidFill>
              </a:defRPr>
            </a:pPr>
            <a:r>
              <a:t>T: 'You're wondering if the numbers are accurate.' [simple reflection]</a:t>
            </a:r>
          </a:p>
          <a:p>
            <a:pPr>
              <a:spcAft>
                <a:spcPts val="600"/>
              </a:spcAft>
              <a:defRPr sz="1600">
                <a:solidFill>
                  <a:srgbClr val="2C3E50"/>
                </a:solidFill>
              </a:defRPr>
            </a:pPr>
            <a:r>
              <a:t>C: 'Well... I guess I DO drink most nights. But it's just social.'</a:t>
            </a:r>
          </a:p>
          <a:p>
            <a:pPr>
              <a:spcAft>
                <a:spcPts val="600"/>
              </a:spcAft>
              <a:defRPr sz="1600">
                <a:solidFill>
                  <a:srgbClr val="2C3E50"/>
                </a:solidFill>
              </a:defRPr>
            </a:pPr>
            <a:r>
              <a:t>T: 'So drinking is a regular part of your social life.' [reflect]</a:t>
            </a:r>
          </a:p>
          <a:p>
            <a:pPr>
              <a:spcAft>
                <a:spcPts val="600"/>
              </a:spcAft>
              <a:defRPr sz="1600">
                <a:solidFill>
                  <a:srgbClr val="2C3E50"/>
                </a:solidFill>
              </a:defRPr>
            </a:pPr>
            <a:r>
              <a:t>C: 'Yeah. But 95th percentile? That sounds really bad.'</a:t>
            </a:r>
          </a:p>
          <a:p>
            <a:pPr>
              <a:spcAft>
                <a:spcPts val="600"/>
              </a:spcAft>
              <a:defRPr sz="1600">
                <a:solidFill>
                  <a:srgbClr val="2C3E50"/>
                </a:solidFill>
              </a:defRPr>
            </a:pPr>
            <a:r>
              <a:t>T: 'That number is concerning to you.' [reflects concern = change talk!]</a:t>
            </a:r>
          </a:p>
          <a:p>
            <a:pPr>
              <a:spcAft>
                <a:spcPts val="600"/>
              </a:spcAft>
              <a:defRPr sz="1600">
                <a:solidFill>
                  <a:srgbClr val="2C3E50"/>
                </a:solidFill>
              </a:defRPr>
            </a:pPr>
            <a:r>
              <a:t>C: 'I mean... I never thought of myself as THAT kind of drinker.'</a:t>
            </a:r>
          </a:p>
          <a:p>
            <a:pPr>
              <a:spcAft>
                <a:spcPts val="600"/>
              </a:spcAft>
              <a:defRPr sz="1600">
                <a:solidFill>
                  <a:srgbClr val="2C3E50"/>
                </a:solidFill>
              </a:defRPr>
            </a:pPr>
            <a:r>
              <a:t>T: 'There's a gap between how you've seen yourself and what these data suggest.</a:t>
            </a:r>
          </a:p>
          <a:p>
            <a:pPr lvl="1">
              <a:spcAft>
                <a:spcPts val="600"/>
              </a:spcAft>
              <a:defRPr sz="1400">
                <a:solidFill>
                  <a:srgbClr val="2C3E50"/>
                </a:solidFill>
              </a:defRPr>
            </a:pPr>
            <a:r>
              <a:t>   That's a lot to take in.' [reflects discrepancy; names the process]</a:t>
            </a:r>
          </a:p>
          <a:p>
            <a:pPr>
              <a:spcAft>
                <a:spcPts val="600"/>
              </a:spcAft>
              <a:defRPr sz="1600">
                <a:solidFill>
                  <a:srgbClr val="2C3E50"/>
                </a:solidFill>
              </a:defRPr>
            </a:pPr>
            <a:r>
              <a:t>RESULT: Client moves from denial → concern → discrepancy - all via reflection</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Even when clients reject feedback, consistent reflection creates safety for the discrepancy to emerge naturally.</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Session 1 protocol.</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1D5FA6"/>
        </a:solidFill>
        <a:effectLst/>
      </p:bgPr>
    </p:bg>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914400" y="1828800"/>
            <a:ext cx="10058400" cy="1371600"/>
          </a:xfrm>
          <a:prstGeom prst="rect">
            <a:avLst/>
          </a:prstGeom>
          <a:noFill/>
        </p:spPr>
        <p:txBody>
          <a:bodyPr wrap="none">
            <a:spAutoFit/>
          </a:bodyPr>
          <a:lstStyle/>
          <a:p>
            <a:pPr algn="ctr">
              <a:defRPr sz="1800">
                <a:solidFill>
                  <a:srgbClr val="B7950B"/>
                </a:solidFill>
              </a:defRPr>
            </a:pPr>
            <a:r>
              <a:t>SECTION 28</a:t>
            </a:r>
          </a:p>
        </p:txBody>
      </p:sp>
      <p:sp>
        <p:nvSpPr>
          <p:cNvPr id="5" name="TextBox 4"/>
          <p:cNvSpPr txBox="1"/>
          <p:nvPr/>
        </p:nvSpPr>
        <p:spPr>
          <a:xfrm>
            <a:off x="914400" y="2926080"/>
            <a:ext cx="10058400" cy="1828800"/>
          </a:xfrm>
          <a:prstGeom prst="rect">
            <a:avLst/>
          </a:prstGeom>
          <a:noFill/>
        </p:spPr>
        <p:txBody>
          <a:bodyPr wrap="square">
            <a:spAutoFit/>
          </a:bodyPr>
          <a:lstStyle/>
          <a:p>
            <a:pPr algn="ctr">
              <a:defRPr sz="3600" b="1">
                <a:solidFill>
                  <a:srgbClr val="FFFFFF"/>
                </a:solidFill>
              </a:defRPr>
            </a:pPr>
            <a:r>
              <a:t>Examination Questions and Practice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Viva Questions and Long Answer Questions</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Prepare for examination questions on MET at postgraduate level</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POSSIBLE VIVA QUESTIONS:</a:t>
            </a:r>
          </a:p>
          <a:p>
            <a:pPr lvl="1">
              <a:spcAft>
                <a:spcPts val="600"/>
              </a:spcAft>
              <a:defRPr sz="1400">
                <a:solidFill>
                  <a:srgbClr val="2C3E50"/>
                </a:solidFill>
              </a:defRPr>
            </a:pPr>
            <a:r>
              <a:t>  1. Define MET. How does it differ from MI?</a:t>
            </a:r>
          </a:p>
          <a:p>
            <a:pPr lvl="1">
              <a:spcAft>
                <a:spcPts val="600"/>
              </a:spcAft>
              <a:defRPr sz="1400">
                <a:solidFill>
                  <a:srgbClr val="2C3E50"/>
                </a:solidFill>
              </a:defRPr>
            </a:pPr>
            <a:r>
              <a:t>  2. Explain the theoretical foundations of MET (name 5 theories).</a:t>
            </a:r>
          </a:p>
          <a:p>
            <a:pPr lvl="1">
              <a:spcAft>
                <a:spcPts val="600"/>
              </a:spcAft>
              <a:defRPr sz="1400">
                <a:solidFill>
                  <a:srgbClr val="2C3E50"/>
                </a:solidFill>
              </a:defRPr>
            </a:pPr>
            <a:r>
              <a:t>  3. What is the spirit of MI/MET? Why is it more important than technique?</a:t>
            </a:r>
          </a:p>
          <a:p>
            <a:pPr lvl="1">
              <a:spcAft>
                <a:spcPts val="600"/>
              </a:spcAft>
              <a:defRPr sz="1400">
                <a:solidFill>
                  <a:srgbClr val="2C3E50"/>
                </a:solidFill>
              </a:defRPr>
            </a:pPr>
            <a:r>
              <a:t>  4. Describe the OARS framework with clinical examples.</a:t>
            </a:r>
          </a:p>
          <a:p>
            <a:pPr lvl="1">
              <a:spcAft>
                <a:spcPts val="600"/>
              </a:spcAft>
              <a:defRPr sz="1400">
                <a:solidFill>
                  <a:srgbClr val="2C3E50"/>
                </a:solidFill>
              </a:defRPr>
            </a:pPr>
            <a:r>
              <a:t>  5. What is change talk? Name the 7 types (DARN-CAT).</a:t>
            </a:r>
          </a:p>
          <a:p>
            <a:pPr lvl="1">
              <a:spcAft>
                <a:spcPts val="600"/>
              </a:spcAft>
              <a:defRPr sz="1400">
                <a:solidFill>
                  <a:srgbClr val="2C3E50"/>
                </a:solidFill>
              </a:defRPr>
            </a:pPr>
            <a:r>
              <a:t>  6. Explain the FRAMES model and its evidence base.</a:t>
            </a:r>
          </a:p>
          <a:p>
            <a:pPr lvl="1">
              <a:spcAft>
                <a:spcPts val="600"/>
              </a:spcAft>
              <a:defRPr sz="1400">
                <a:solidFill>
                  <a:srgbClr val="2C3E50"/>
                </a:solidFill>
              </a:defRPr>
            </a:pPr>
            <a:r>
              <a:t>  7. How do you 'roll with resistance'? Give 3 specific strategies.</a:t>
            </a:r>
          </a:p>
          <a:p>
            <a:pPr lvl="1">
              <a:spcAft>
                <a:spcPts val="600"/>
              </a:spcAft>
              <a:defRPr sz="1400">
                <a:solidFill>
                  <a:srgbClr val="2C3E50"/>
                </a:solidFill>
              </a:defRPr>
            </a:pPr>
            <a:r>
              <a:t>  8. Describe the structure of the 4-session MET protocol.</a:t>
            </a:r>
          </a:p>
          <a:p>
            <a:pPr lvl="1">
              <a:spcAft>
                <a:spcPts val="600"/>
              </a:spcAft>
              <a:defRPr sz="1400">
                <a:solidFill>
                  <a:srgbClr val="2C3E50"/>
                </a:solidFill>
              </a:defRPr>
            </a:pPr>
            <a:r>
              <a:t>  9. What does the research evidence say about MET? Cite key studies.</a:t>
            </a:r>
          </a:p>
          <a:p>
            <a:pPr lvl="1">
              <a:spcAft>
                <a:spcPts val="600"/>
              </a:spcAft>
              <a:defRPr sz="1400">
                <a:solidFill>
                  <a:srgbClr val="2C3E50"/>
                </a:solidFill>
              </a:defRPr>
            </a:pPr>
            <a:r>
              <a:t>  10. How would you adapt MET for the Indian context?</a:t>
            </a:r>
          </a:p>
          <a:p>
            <a:pPr>
              <a:spcAft>
                <a:spcPts val="600"/>
              </a:spcAft>
              <a:defRPr sz="1600">
                <a:solidFill>
                  <a:srgbClr val="2C3E50"/>
                </a:solidFill>
              </a:defRPr>
            </a:pPr>
          </a:p>
          <a:p>
            <a:pPr>
              <a:spcAft>
                <a:spcPts val="600"/>
              </a:spcAft>
              <a:defRPr sz="1600">
                <a:solidFill>
                  <a:srgbClr val="2C3E50"/>
                </a:solidFill>
              </a:defRPr>
            </a:pPr>
            <a:r>
              <a:t>LONG ANSWER QUESTIONS (10-15 marks):</a:t>
            </a:r>
          </a:p>
          <a:p>
            <a:pPr lvl="1">
              <a:spcAft>
                <a:spcPts val="600"/>
              </a:spcAft>
              <a:defRPr sz="1400">
                <a:solidFill>
                  <a:srgbClr val="2C3E50"/>
                </a:solidFill>
              </a:defRPr>
            </a:pPr>
            <a:r>
              <a:t>  • Discuss MET with reference to its theoretical foundations, evidence base,</a:t>
            </a:r>
          </a:p>
          <a:p>
            <a:pPr lvl="1">
              <a:spcAft>
                <a:spcPts val="600"/>
              </a:spcAft>
              <a:defRPr sz="1400">
                <a:solidFill>
                  <a:srgbClr val="2C3E50"/>
                </a:solidFill>
              </a:defRPr>
            </a:pPr>
            <a:r>
              <a:t>    session structure, and clinical applications. (20 marks)</a:t>
            </a:r>
          </a:p>
          <a:p>
            <a:pPr lvl="1">
              <a:spcAft>
                <a:spcPts val="600"/>
              </a:spcAft>
              <a:defRPr sz="1400">
                <a:solidFill>
                  <a:srgbClr val="2C3E50"/>
                </a:solidFill>
              </a:defRPr>
            </a:pPr>
            <a:r>
              <a:t>  • Compare MET with CBT and 12-Step approaches for alcohol dependence. (15 marks)</a:t>
            </a:r>
          </a:p>
          <a:p>
            <a:pPr lvl="1">
              <a:spcAft>
                <a:spcPts val="600"/>
              </a:spcAft>
              <a:defRPr sz="1400">
                <a:solidFill>
                  <a:srgbClr val="2C3E50"/>
                </a:solidFill>
              </a:defRPr>
            </a:pPr>
            <a:r>
              <a:t>  • Discuss the role of brief motivational interventions in primary care. (15 marks)</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Prepare structured answers that integrate theory, evidence, and clinical application for each topic.</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Based on examination patterns from M.Phil Clinical Psychology programs (NIMHANS, RCI-recognized institutions).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MCQs and Short Notes Topics</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Practice examination-style questions on MET</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MULTIPLE CHOICE QUESTIONS (Sample):</a:t>
            </a:r>
          </a:p>
          <a:p>
            <a:pPr lvl="1">
              <a:spcAft>
                <a:spcPts val="600"/>
              </a:spcAft>
              <a:defRPr sz="1400">
                <a:solidFill>
                  <a:srgbClr val="2C3E50"/>
                </a:solidFill>
              </a:defRPr>
            </a:pPr>
            <a:r>
              <a:t>  1. DARN-CAT stands for: (a) Desire, Ability, Reasons, Need - Commitment,</a:t>
            </a:r>
          </a:p>
          <a:p>
            <a:pPr lvl="1">
              <a:spcAft>
                <a:spcPts val="600"/>
              </a:spcAft>
              <a:defRPr sz="1400">
                <a:solidFill>
                  <a:srgbClr val="2C3E50"/>
                </a:solidFill>
              </a:defRPr>
            </a:pPr>
            <a:r>
              <a:t>     Activation, Taking Steps [CORRECT] (b) Denial, Ambivalence... etc.</a:t>
            </a:r>
          </a:p>
          <a:p>
            <a:pPr lvl="1">
              <a:spcAft>
                <a:spcPts val="600"/>
              </a:spcAft>
              <a:defRPr sz="1400">
                <a:solidFill>
                  <a:srgbClr val="2C3E50"/>
                </a:solidFill>
              </a:defRPr>
            </a:pPr>
            <a:r>
              <a:t>  2. The founder of MI is: (a) Aaron Beck (b) William Miller [CORRECT]</a:t>
            </a:r>
          </a:p>
          <a:p>
            <a:pPr lvl="1">
              <a:spcAft>
                <a:spcPts val="600"/>
              </a:spcAft>
              <a:defRPr sz="1400">
                <a:solidFill>
                  <a:srgbClr val="2C3E50"/>
                </a:solidFill>
              </a:defRPr>
            </a:pPr>
            <a:r>
              <a:t>     (c) Albert Ellis (d) Carl Rogers</a:t>
            </a:r>
          </a:p>
          <a:p>
            <a:pPr lvl="1">
              <a:spcAft>
                <a:spcPts val="600"/>
              </a:spcAft>
              <a:defRPr sz="1400">
                <a:solidFill>
                  <a:srgbClr val="2C3E50"/>
                </a:solidFill>
              </a:defRPr>
            </a:pPr>
            <a:r>
              <a:t>  3. Project MATCH compared MET with: (a) CBT and DBT (b) CBT and TSF [CORRECT]</a:t>
            </a:r>
          </a:p>
          <a:p>
            <a:pPr lvl="1">
              <a:spcAft>
                <a:spcPts val="600"/>
              </a:spcAft>
              <a:defRPr sz="1400">
                <a:solidFill>
                  <a:srgbClr val="2C3E50"/>
                </a:solidFill>
              </a:defRPr>
            </a:pPr>
            <a:r>
              <a:t>  4. The recommended reflection:question ratio in MI is: (a) 1:2 (b) 2:1 [CORRECT]</a:t>
            </a:r>
          </a:p>
          <a:p>
            <a:pPr lvl="1">
              <a:spcAft>
                <a:spcPts val="600"/>
              </a:spcAft>
              <a:defRPr sz="1400">
                <a:solidFill>
                  <a:srgbClr val="2C3E50"/>
                </a:solidFill>
              </a:defRPr>
            </a:pPr>
            <a:r>
              <a:t>  5. FRAMES includes all EXCEPT: (a) Feedback (b) Responsibility</a:t>
            </a:r>
          </a:p>
          <a:p>
            <a:pPr lvl="1">
              <a:spcAft>
                <a:spcPts val="600"/>
              </a:spcAft>
              <a:defRPr sz="1400">
                <a:solidFill>
                  <a:srgbClr val="2C3E50"/>
                </a:solidFill>
              </a:defRPr>
            </a:pPr>
            <a:r>
              <a:t>     (c) Confrontation [CORRECT] (d) Menu</a:t>
            </a:r>
          </a:p>
          <a:p>
            <a:pPr>
              <a:spcAft>
                <a:spcPts val="600"/>
              </a:spcAft>
              <a:defRPr sz="1600">
                <a:solidFill>
                  <a:srgbClr val="2C3E50"/>
                </a:solidFill>
              </a:defRPr>
            </a:pPr>
          </a:p>
          <a:p>
            <a:pPr>
              <a:spcAft>
                <a:spcPts val="600"/>
              </a:spcAft>
              <a:defRPr sz="1600">
                <a:solidFill>
                  <a:srgbClr val="2C3E50"/>
                </a:solidFill>
              </a:defRPr>
            </a:pPr>
            <a:r>
              <a:t>SHORT NOTES TOPICS (5-7 marks each):</a:t>
            </a:r>
          </a:p>
          <a:p>
            <a:pPr lvl="1">
              <a:spcAft>
                <a:spcPts val="600"/>
              </a:spcAft>
              <a:defRPr sz="1400">
                <a:solidFill>
                  <a:srgbClr val="2C3E50"/>
                </a:solidFill>
              </a:defRPr>
            </a:pPr>
            <a:r>
              <a:t>  • OARS in motivational interviewing</a:t>
            </a:r>
          </a:p>
          <a:p>
            <a:pPr lvl="1">
              <a:spcAft>
                <a:spcPts val="600"/>
              </a:spcAft>
              <a:defRPr sz="1400">
                <a:solidFill>
                  <a:srgbClr val="2C3E50"/>
                </a:solidFill>
              </a:defRPr>
            </a:pPr>
            <a:r>
              <a:t>  • Stages of change model</a:t>
            </a:r>
          </a:p>
          <a:p>
            <a:pPr lvl="1">
              <a:spcAft>
                <a:spcPts val="600"/>
              </a:spcAft>
              <a:defRPr sz="1400">
                <a:solidFill>
                  <a:srgbClr val="2C3E50"/>
                </a:solidFill>
              </a:defRPr>
            </a:pPr>
            <a:r>
              <a:t>  • Self-efficacy in MET</a:t>
            </a:r>
          </a:p>
          <a:p>
            <a:pPr lvl="1">
              <a:spcAft>
                <a:spcPts val="600"/>
              </a:spcAft>
              <a:defRPr sz="1400">
                <a:solidFill>
                  <a:srgbClr val="2C3E50"/>
                </a:solidFill>
              </a:defRPr>
            </a:pPr>
            <a:r>
              <a:t>  • FRAMES model of brief intervention</a:t>
            </a:r>
          </a:p>
          <a:p>
            <a:pPr lvl="1">
              <a:spcAft>
                <a:spcPts val="600"/>
              </a:spcAft>
              <a:defRPr sz="1400">
                <a:solidFill>
                  <a:srgbClr val="2C3E50"/>
                </a:solidFill>
              </a:defRPr>
            </a:pPr>
            <a:r>
              <a:t>  • Double-sided reflection with examples</a:t>
            </a:r>
          </a:p>
          <a:p>
            <a:pPr lvl="1">
              <a:spcAft>
                <a:spcPts val="600"/>
              </a:spcAft>
              <a:defRPr sz="1400">
                <a:solidFill>
                  <a:srgbClr val="2C3E50"/>
                </a:solidFill>
              </a:defRPr>
            </a:pPr>
            <a:r>
              <a:t>  • Decisional balance</a:t>
            </a:r>
          </a:p>
          <a:p>
            <a:pPr lvl="1">
              <a:spcAft>
                <a:spcPts val="600"/>
              </a:spcAft>
              <a:defRPr sz="1400">
                <a:solidFill>
                  <a:srgbClr val="2C3E50"/>
                </a:solidFill>
              </a:defRPr>
            </a:pPr>
            <a:r>
              <a:t>  • Change talk vs. sustain talk</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Know key acronyms (DARN-CAT, OARS, FRAMES), founders, research findings, and clinical applications.</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Based on examination patterns from M.Phil Clinical Psychology, PsyD, and Psychiatry residency programs.</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Clinical Scenario Questions</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Apply MET principles to clinical scenario questions</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SCENARIO 1: A 45-year-old man says 'My wife made me come. I don't have a problem.'</a:t>
            </a:r>
          </a:p>
          <a:p>
            <a:pPr lvl="1">
              <a:spcAft>
                <a:spcPts val="600"/>
              </a:spcAft>
              <a:defRPr sz="1400">
                <a:solidFill>
                  <a:srgbClr val="2C3E50"/>
                </a:solidFill>
              </a:defRPr>
            </a:pPr>
            <a:r>
              <a:t>  Q: What stage of change is he likely in? How would you respond using MET principles?</a:t>
            </a:r>
          </a:p>
          <a:p>
            <a:pPr lvl="1">
              <a:spcAft>
                <a:spcPts val="600"/>
              </a:spcAft>
              <a:defRPr sz="1400">
                <a:solidFill>
                  <a:srgbClr val="2C3E50"/>
                </a:solidFill>
              </a:defRPr>
            </a:pPr>
            <a:r>
              <a:t>  A: Precontemplation. Use: Express empathy, explore his perspective, avoid confrontation,</a:t>
            </a:r>
          </a:p>
          <a:p>
            <a:pPr lvl="1">
              <a:spcAft>
                <a:spcPts val="600"/>
              </a:spcAft>
              <a:defRPr sz="1400">
                <a:solidFill>
                  <a:srgbClr val="2C3E50"/>
                </a:solidFill>
              </a:defRPr>
            </a:pPr>
            <a:r>
              <a:t>     emphasize autonomy. Response: 'So this wasn't your idea. Tell me what brought you here.'</a:t>
            </a:r>
          </a:p>
          <a:p>
            <a:pPr>
              <a:spcAft>
                <a:spcPts val="600"/>
              </a:spcAft>
              <a:defRPr sz="1600">
                <a:solidFill>
                  <a:srgbClr val="2C3E50"/>
                </a:solidFill>
              </a:defRPr>
            </a:pPr>
          </a:p>
          <a:p>
            <a:pPr>
              <a:spcAft>
                <a:spcPts val="600"/>
              </a:spcAft>
              <a:defRPr sz="1600">
                <a:solidFill>
                  <a:srgbClr val="2C3E50"/>
                </a:solidFill>
              </a:defRPr>
            </a:pPr>
            <a:r>
              <a:t>SCENARIO 2: A client says 'I know I should quit but I just can't.'</a:t>
            </a:r>
          </a:p>
          <a:p>
            <a:pPr lvl="1">
              <a:spcAft>
                <a:spcPts val="600"/>
              </a:spcAft>
              <a:defRPr sz="1400">
                <a:solidFill>
                  <a:srgbClr val="2C3E50"/>
                </a:solidFill>
              </a:defRPr>
            </a:pPr>
            <a:r>
              <a:t>  Q: Identify the type of change talk. What is the therapeutic focus?</a:t>
            </a:r>
          </a:p>
          <a:p>
            <a:pPr lvl="1">
              <a:spcAft>
                <a:spcPts val="600"/>
              </a:spcAft>
              <a:defRPr sz="1400">
                <a:solidFill>
                  <a:srgbClr val="2C3E50"/>
                </a:solidFill>
              </a:defRPr>
            </a:pPr>
            <a:r>
              <a:t>  A: Desire/Need ('should quit') + low Ability ('can't'). Focus: Build self-efficacy.</a:t>
            </a:r>
          </a:p>
          <a:p>
            <a:pPr lvl="1">
              <a:spcAft>
                <a:spcPts val="600"/>
              </a:spcAft>
              <a:defRPr sz="1400">
                <a:solidFill>
                  <a:srgbClr val="2C3E50"/>
                </a:solidFill>
              </a:defRPr>
            </a:pPr>
            <a:r>
              <a:t>  Response: 'You clearly want to quit. What makes you feel you can't?'</a:t>
            </a:r>
          </a:p>
          <a:p>
            <a:pPr>
              <a:spcAft>
                <a:spcPts val="600"/>
              </a:spcAft>
              <a:defRPr sz="1600">
                <a:solidFill>
                  <a:srgbClr val="2C3E50"/>
                </a:solidFill>
              </a:defRPr>
            </a:pPr>
          </a:p>
          <a:p>
            <a:pPr>
              <a:spcAft>
                <a:spcPts val="600"/>
              </a:spcAft>
              <a:defRPr sz="1600">
                <a:solidFill>
                  <a:srgbClr val="2C3E50"/>
                </a:solidFill>
              </a:defRPr>
            </a:pPr>
            <a:r>
              <a:t>SCENARIO 3: After receiving feedback, client says 'These results are scary.'</a:t>
            </a:r>
          </a:p>
          <a:p>
            <a:pPr lvl="1">
              <a:spcAft>
                <a:spcPts val="600"/>
              </a:spcAft>
              <a:defRPr sz="1400">
                <a:solidFill>
                  <a:srgbClr val="2C3E50"/>
                </a:solidFill>
              </a:defRPr>
            </a:pPr>
            <a:r>
              <a:t>  Q: How do you respond? What principle are you using?</a:t>
            </a:r>
          </a:p>
          <a:p>
            <a:pPr lvl="1">
              <a:spcAft>
                <a:spcPts val="600"/>
              </a:spcAft>
              <a:defRPr sz="1400">
                <a:solidFill>
                  <a:srgbClr val="2C3E50"/>
                </a:solidFill>
              </a:defRPr>
            </a:pPr>
            <a:r>
              <a:t>  A: Reflect the emotion + explore. 'This is really hitting home for you.'</a:t>
            </a:r>
          </a:p>
          <a:p>
            <a:pPr lvl="1">
              <a:spcAft>
                <a:spcPts val="600"/>
              </a:spcAft>
              <a:defRPr sz="1400">
                <a:solidFill>
                  <a:srgbClr val="2C3E50"/>
                </a:solidFill>
              </a:defRPr>
            </a:pPr>
            <a:r>
              <a:t>  Principle: Express empathy; the feedback is creating discrepancy naturally.</a:t>
            </a:r>
          </a:p>
          <a:p>
            <a:pPr>
              <a:spcAft>
                <a:spcPts val="600"/>
              </a:spcAft>
              <a:defRPr sz="1600">
                <a:solidFill>
                  <a:srgbClr val="2C3E50"/>
                </a:solidFill>
              </a:defRPr>
            </a:pPr>
          </a:p>
          <a:p>
            <a:pPr>
              <a:spcAft>
                <a:spcPts val="600"/>
              </a:spcAft>
              <a:defRPr sz="1600">
                <a:solidFill>
                  <a:srgbClr val="2C3E50"/>
                </a:solidFill>
              </a:defRPr>
            </a:pPr>
            <a:r>
              <a:t>SCENARIO 4: Client says 'I've tried quitting 5 times and always failed.'</a:t>
            </a:r>
          </a:p>
          <a:p>
            <a:pPr lvl="1">
              <a:spcAft>
                <a:spcPts val="600"/>
              </a:spcAft>
              <a:defRPr sz="1400">
                <a:solidFill>
                  <a:srgbClr val="2C3E50"/>
                </a:solidFill>
              </a:defRPr>
            </a:pPr>
            <a:r>
              <a:t>  Q: Reframe this using MET principles.</a:t>
            </a:r>
          </a:p>
          <a:p>
            <a:pPr lvl="1">
              <a:spcAft>
                <a:spcPts val="600"/>
              </a:spcAft>
              <a:defRPr sz="1400">
                <a:solidFill>
                  <a:srgbClr val="2C3E50"/>
                </a:solidFill>
              </a:defRPr>
            </a:pPr>
            <a:r>
              <a:t>  A: 'You've shown real persistence - 5 attempts shows you haven't given up.'</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For clinical scenarios: identify the stage, type of talk, relevant principle, and formulate an MI-consistent response.</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 Miller, W.R., &amp; Rollnick, S. (2013). Motivational interviewing (3rd ed.). Guilford Press.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1D5FA6"/>
        </a:solidFill>
        <a:effectLst/>
      </p:bgPr>
    </p:bg>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914400" y="1828800"/>
            <a:ext cx="10058400" cy="1371600"/>
          </a:xfrm>
          <a:prstGeom prst="rect">
            <a:avLst/>
          </a:prstGeom>
          <a:noFill/>
        </p:spPr>
        <p:txBody>
          <a:bodyPr wrap="none">
            <a:spAutoFit/>
          </a:bodyPr>
          <a:lstStyle/>
          <a:p>
            <a:pPr algn="ctr">
              <a:defRPr sz="1800">
                <a:solidFill>
                  <a:srgbClr val="B7950B"/>
                </a:solidFill>
              </a:defRPr>
            </a:pPr>
            <a:r>
              <a:t>SECTION 29</a:t>
            </a:r>
          </a:p>
        </p:txBody>
      </p:sp>
      <p:sp>
        <p:nvSpPr>
          <p:cNvPr id="5" name="TextBox 4"/>
          <p:cNvSpPr txBox="1"/>
          <p:nvPr/>
        </p:nvSpPr>
        <p:spPr>
          <a:xfrm>
            <a:off x="914400" y="2926080"/>
            <a:ext cx="10058400" cy="1828800"/>
          </a:xfrm>
          <a:prstGeom prst="rect">
            <a:avLst/>
          </a:prstGeom>
          <a:noFill/>
        </p:spPr>
        <p:txBody>
          <a:bodyPr wrap="square">
            <a:spAutoFit/>
          </a:bodyPr>
          <a:lstStyle/>
          <a:p>
            <a:pPr algn="ctr">
              <a:defRPr sz="3600" b="1">
                <a:solidFill>
                  <a:srgbClr val="FFFFFF"/>
                </a:solidFill>
              </a:defRPr>
            </a:pPr>
            <a:r>
              <a:t>Summary and Clinical Pearls</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Summary: Key Concepts in MET</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Integrate all key MET concepts into a coherent summary framework</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CORE IDENTITY: MET is a brief, evidence-based, client-centered yet directive approach</a:t>
            </a:r>
          </a:p>
          <a:p>
            <a:pPr>
              <a:spcAft>
                <a:spcPts val="600"/>
              </a:spcAft>
              <a:defRPr sz="1600">
                <a:solidFill>
                  <a:srgbClr val="2C3E50"/>
                </a:solidFill>
              </a:defRPr>
            </a:pPr>
          </a:p>
          <a:p>
            <a:pPr>
              <a:spcAft>
                <a:spcPts val="600"/>
              </a:spcAft>
              <a:defRPr sz="1600">
                <a:solidFill>
                  <a:srgbClr val="2C3E50"/>
                </a:solidFill>
              </a:defRPr>
            </a:pPr>
            <a:r>
              <a:t>THEORETICAL BASE: Rogers + Festinger + Bem + Bandura + Prochaska + Deci/Ryan</a:t>
            </a:r>
          </a:p>
          <a:p>
            <a:pPr>
              <a:spcAft>
                <a:spcPts val="600"/>
              </a:spcAft>
              <a:defRPr sz="1600">
                <a:solidFill>
                  <a:srgbClr val="2C3E50"/>
                </a:solidFill>
              </a:defRPr>
            </a:pPr>
          </a:p>
          <a:p>
            <a:pPr>
              <a:spcAft>
                <a:spcPts val="600"/>
              </a:spcAft>
              <a:defRPr sz="1600">
                <a:solidFill>
                  <a:srgbClr val="2C3E50"/>
                </a:solidFill>
              </a:defRPr>
            </a:pPr>
            <a:r>
              <a:t>SPIRIT: Partnership | Acceptance | Compassion | Evocation</a:t>
            </a:r>
          </a:p>
          <a:p>
            <a:pPr>
              <a:spcAft>
                <a:spcPts val="600"/>
              </a:spcAft>
              <a:defRPr sz="1600">
                <a:solidFill>
                  <a:srgbClr val="2C3E50"/>
                </a:solidFill>
              </a:defRPr>
            </a:pPr>
          </a:p>
          <a:p>
            <a:pPr>
              <a:spcAft>
                <a:spcPts val="600"/>
              </a:spcAft>
              <a:defRPr sz="1600">
                <a:solidFill>
                  <a:srgbClr val="2C3E50"/>
                </a:solidFill>
              </a:defRPr>
            </a:pPr>
            <a:r>
              <a:t>PRINCIPLES: Express Empathy | Develop Discrepancy | Roll with Resistance | Support Self-Efficacy</a:t>
            </a:r>
          </a:p>
          <a:p>
            <a:pPr>
              <a:spcAft>
                <a:spcPts val="600"/>
              </a:spcAft>
              <a:defRPr sz="1600">
                <a:solidFill>
                  <a:srgbClr val="2C3E50"/>
                </a:solidFill>
              </a:defRPr>
            </a:pPr>
          </a:p>
          <a:p>
            <a:pPr>
              <a:spcAft>
                <a:spcPts val="600"/>
              </a:spcAft>
              <a:defRPr sz="1600">
                <a:solidFill>
                  <a:srgbClr val="2C3E50"/>
                </a:solidFill>
              </a:defRPr>
            </a:pPr>
            <a:r>
              <a:t>SKILLS: OARS (Open questions, Affirmations, Reflections, Summaries)</a:t>
            </a:r>
          </a:p>
          <a:p>
            <a:pPr>
              <a:spcAft>
                <a:spcPts val="600"/>
              </a:spcAft>
              <a:defRPr sz="1600">
                <a:solidFill>
                  <a:srgbClr val="2C3E50"/>
                </a:solidFill>
              </a:defRPr>
            </a:pPr>
          </a:p>
          <a:p>
            <a:pPr>
              <a:spcAft>
                <a:spcPts val="600"/>
              </a:spcAft>
              <a:defRPr sz="1600">
                <a:solidFill>
                  <a:srgbClr val="2C3E50"/>
                </a:solidFill>
              </a:defRPr>
            </a:pPr>
            <a:r>
              <a:t>COMPONENTS: FRAMES (Feedback, Responsibility, Advice, Menu, Empathy, Self-efficacy)</a:t>
            </a:r>
          </a:p>
          <a:p>
            <a:pPr>
              <a:spcAft>
                <a:spcPts val="600"/>
              </a:spcAft>
              <a:defRPr sz="1600">
                <a:solidFill>
                  <a:srgbClr val="2C3E50"/>
                </a:solidFill>
              </a:defRPr>
            </a:pPr>
          </a:p>
          <a:p>
            <a:pPr>
              <a:spcAft>
                <a:spcPts val="600"/>
              </a:spcAft>
              <a:defRPr sz="1600">
                <a:solidFill>
                  <a:srgbClr val="2C3E50"/>
                </a:solidFill>
              </a:defRPr>
            </a:pPr>
            <a:r>
              <a:t>TARGET: Change Talk (DARN-CAT) - evoke it, recognize it, reinforce it</a:t>
            </a:r>
          </a:p>
          <a:p>
            <a:pPr>
              <a:spcAft>
                <a:spcPts val="600"/>
              </a:spcAft>
              <a:defRPr sz="1600">
                <a:solidFill>
                  <a:srgbClr val="2C3E50"/>
                </a:solidFill>
              </a:defRPr>
            </a:pPr>
          </a:p>
          <a:p>
            <a:pPr>
              <a:spcAft>
                <a:spcPts val="600"/>
              </a:spcAft>
              <a:defRPr sz="1600">
                <a:solidFill>
                  <a:srgbClr val="2C3E50"/>
                </a:solidFill>
              </a:defRPr>
            </a:pPr>
            <a:r>
              <a:t>STRUCTURE: 4 sessions - Feedback → Commitment → Review → Consolidation</a:t>
            </a:r>
          </a:p>
          <a:p>
            <a:pPr>
              <a:spcAft>
                <a:spcPts val="600"/>
              </a:spcAft>
              <a:defRPr sz="1600">
                <a:solidFill>
                  <a:srgbClr val="2C3E50"/>
                </a:solidFill>
              </a:defRPr>
            </a:pPr>
          </a:p>
          <a:p>
            <a:pPr>
              <a:spcAft>
                <a:spcPts val="600"/>
              </a:spcAft>
              <a:defRPr sz="1600">
                <a:solidFill>
                  <a:srgbClr val="2C3E50"/>
                </a:solidFill>
              </a:defRPr>
            </a:pPr>
            <a:r>
              <a:t>EVIDENCE: 200+ RCTs; Project MATCH (4 sessions = 12 sessions of CBT/TSF)</a:t>
            </a:r>
          </a:p>
          <a:p>
            <a:pPr>
              <a:spcAft>
                <a:spcPts val="600"/>
              </a:spcAft>
              <a:defRPr sz="1600">
                <a:solidFill>
                  <a:srgbClr val="2C3E50"/>
                </a:solidFill>
              </a:defRPr>
            </a:pPr>
          </a:p>
          <a:p>
            <a:pPr>
              <a:spcAft>
                <a:spcPts val="600"/>
              </a:spcAft>
              <a:defRPr sz="1600">
                <a:solidFill>
                  <a:srgbClr val="2C3E50"/>
                </a:solidFill>
              </a:defRPr>
            </a:pPr>
            <a:r>
              <a:t>APPLICATION: Addiction, health behavior, chronic disease, diverse populations</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MET: Brief + Client-centered + Directive + Evidence-based + Applicable across populations and settings.</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 Miller, W.R., &amp; Rollnick, S. (2013). MI (3rd ed.). | Murthy, P. (2008). NIMHANS Manual. | Project MATCH Research Group. (1997). JOSA, 58, 7-29.</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Clinical Pearls: Top 10 Takeaways for Practice</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Internalize the most important clinical practice principles of MET</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1. The SPIRIT matters more than techniques - be genuine, collaborative, compassionate</a:t>
            </a:r>
          </a:p>
          <a:p>
            <a:pPr>
              <a:spcAft>
                <a:spcPts val="600"/>
              </a:spcAft>
              <a:defRPr sz="1600">
                <a:solidFill>
                  <a:srgbClr val="2C3E50"/>
                </a:solidFill>
              </a:defRPr>
            </a:pPr>
            <a:r>
              <a:t>2. Resistance is YOUR signal to change approach, not the client's pathology</a:t>
            </a:r>
          </a:p>
          <a:p>
            <a:pPr>
              <a:spcAft>
                <a:spcPts val="600"/>
              </a:spcAft>
              <a:defRPr sz="1600">
                <a:solidFill>
                  <a:srgbClr val="2C3E50"/>
                </a:solidFill>
              </a:defRPr>
            </a:pPr>
            <a:r>
              <a:t>3. The more clients TALK ABOUT change, the more they BELIEVE in change</a:t>
            </a:r>
          </a:p>
          <a:p>
            <a:pPr>
              <a:spcAft>
                <a:spcPts val="600"/>
              </a:spcAft>
              <a:defRPr sz="1600">
                <a:solidFill>
                  <a:srgbClr val="2C3E50"/>
                </a:solidFill>
              </a:defRPr>
            </a:pPr>
            <a:r>
              <a:t>4. Ask 'Why are you at X and not zero?' - this ALWAYS evokes change talk</a:t>
            </a:r>
          </a:p>
          <a:p>
            <a:pPr>
              <a:spcAft>
                <a:spcPts val="600"/>
              </a:spcAft>
              <a:defRPr sz="1600">
                <a:solidFill>
                  <a:srgbClr val="2C3E50"/>
                </a:solidFill>
              </a:defRPr>
            </a:pPr>
            <a:r>
              <a:t>5. Use 'AND' not 'BUT' in double-sided reflections</a:t>
            </a:r>
          </a:p>
          <a:p>
            <a:pPr>
              <a:spcAft>
                <a:spcPts val="600"/>
              </a:spcAft>
              <a:defRPr sz="1600">
                <a:solidFill>
                  <a:srgbClr val="2C3E50"/>
                </a:solidFill>
              </a:defRPr>
            </a:pPr>
            <a:r>
              <a:t>6. Start with benefits of drinking - this validates and reduces defensiveness</a:t>
            </a:r>
          </a:p>
          <a:p>
            <a:pPr>
              <a:spcAft>
                <a:spcPts val="600"/>
              </a:spcAft>
              <a:defRPr sz="1600">
                <a:solidFill>
                  <a:srgbClr val="2C3E50"/>
                </a:solidFill>
              </a:defRPr>
            </a:pPr>
            <a:r>
              <a:t>7. Never argue about labels ('alcoholic') - shift to 'What concerns YOU?'</a:t>
            </a:r>
          </a:p>
          <a:p>
            <a:pPr>
              <a:spcAft>
                <a:spcPts val="600"/>
              </a:spcAft>
              <a:defRPr sz="1600">
                <a:solidFill>
                  <a:srgbClr val="2C3E50"/>
                </a:solidFill>
              </a:defRPr>
            </a:pPr>
            <a:r>
              <a:t>8. Reflections should outnumber questions 2:1 minimum</a:t>
            </a:r>
          </a:p>
          <a:p>
            <a:pPr>
              <a:spcAft>
                <a:spcPts val="600"/>
              </a:spcAft>
              <a:defRPr sz="1600">
                <a:solidFill>
                  <a:srgbClr val="2C3E50"/>
                </a:solidFill>
              </a:defRPr>
            </a:pPr>
            <a:r>
              <a:t>9. Low importance → develop discrepancy; Low confidence → build self-efficacy</a:t>
            </a:r>
          </a:p>
          <a:p>
            <a:pPr>
              <a:spcAft>
                <a:spcPts val="600"/>
              </a:spcAft>
              <a:defRPr sz="1600">
                <a:solidFill>
                  <a:srgbClr val="2C3E50"/>
                </a:solidFill>
              </a:defRPr>
            </a:pPr>
            <a:r>
              <a:t>10. The client is the expert on their own life; you facilitate, not prescribe</a:t>
            </a:r>
          </a:p>
          <a:p>
            <a:pPr>
              <a:spcAft>
                <a:spcPts val="600"/>
              </a:spcAft>
              <a:defRPr sz="1600">
                <a:solidFill>
                  <a:srgbClr val="2C3E50"/>
                </a:solidFill>
              </a:defRPr>
            </a:pPr>
          </a:p>
          <a:p>
            <a:pPr>
              <a:spcAft>
                <a:spcPts val="600"/>
              </a:spcAft>
              <a:defRPr sz="1600">
                <a:solidFill>
                  <a:srgbClr val="2C3E50"/>
                </a:solidFill>
              </a:defRPr>
            </a:pPr>
            <a:r>
              <a:t>BONUS PEARL: If you find yourself working harder than the client, something is wrong.</a:t>
            </a:r>
          </a:p>
          <a:p>
            <a:pPr lvl="1">
              <a:spcAft>
                <a:spcPts val="600"/>
              </a:spcAft>
              <a:defRPr sz="1400">
                <a:solidFill>
                  <a:srgbClr val="2C3E50"/>
                </a:solidFill>
              </a:defRPr>
            </a:pPr>
            <a:r>
              <a:t>  The client should be doing most of the talking and most of the arguing for change.</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If you're working harder than the client, something is wrong - they should be arguing for their own change.</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 Miller, W.R., &amp; Rollnick, S. (2013). Motivational interviewing (3rd ed.). Guilford Press.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MET Process Flowchart</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Visualize the MET process as a decision-guided flowchart</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MET THERAPY PROCESS FLOW:</a:t>
            </a:r>
          </a:p>
          <a:p>
            <a:pPr>
              <a:spcAft>
                <a:spcPts val="600"/>
              </a:spcAft>
              <a:defRPr sz="1600">
                <a:solidFill>
                  <a:srgbClr val="2C3E50"/>
                </a:solidFill>
              </a:defRPr>
            </a:pPr>
          </a:p>
          <a:p>
            <a:pPr>
              <a:spcAft>
                <a:spcPts val="600"/>
              </a:spcAft>
              <a:defRPr sz="1600">
                <a:solidFill>
                  <a:srgbClr val="2C3E50"/>
                </a:solidFill>
              </a:defRPr>
            </a:pPr>
            <a:r>
              <a:t>PRE-TREATMENT → SESSION 1 → SESSION 2 → SESSION 3 → SESSION 4</a:t>
            </a:r>
          </a:p>
          <a:p>
            <a:pPr>
              <a:spcAft>
                <a:spcPts val="600"/>
              </a:spcAft>
              <a:defRPr sz="1600">
                <a:solidFill>
                  <a:srgbClr val="2C3E50"/>
                </a:solidFill>
              </a:defRPr>
            </a:pPr>
            <a:r>
              <a:t>Assessment      Feedback    Commitment   Review      Consolidation</a:t>
            </a:r>
          </a:p>
          <a:p>
            <a:pPr lvl="1">
              <a:spcAft>
                <a:spcPts val="600"/>
              </a:spcAft>
              <a:defRPr sz="1400">
                <a:solidFill>
                  <a:srgbClr val="2C3E50"/>
                </a:solidFill>
              </a:defRPr>
            </a:pPr>
            <a:r>
              <a:t>                ↓           ↓            ↓           ↓</a:t>
            </a:r>
          </a:p>
          <a:p>
            <a:pPr lvl="1">
              <a:spcAft>
                <a:spcPts val="600"/>
              </a:spcAft>
              <a:defRPr sz="1400">
                <a:solidFill>
                  <a:srgbClr val="2C3E50"/>
                </a:solidFill>
              </a:defRPr>
            </a:pPr>
            <a:r>
              <a:t>                Build       Strengthen   Reinforce   Maintain</a:t>
            </a:r>
          </a:p>
          <a:p>
            <a:pPr lvl="1">
              <a:spcAft>
                <a:spcPts val="600"/>
              </a:spcAft>
              <a:defRPr sz="1400">
                <a:solidFill>
                  <a:srgbClr val="2C3E50"/>
                </a:solidFill>
              </a:defRPr>
            </a:pPr>
            <a:r>
              <a:t>                Motivation  Commitment   Progress    Change</a:t>
            </a:r>
          </a:p>
          <a:p>
            <a:pPr>
              <a:spcAft>
                <a:spcPts val="600"/>
              </a:spcAft>
              <a:defRPr sz="1600">
                <a:solidFill>
                  <a:srgbClr val="2C3E50"/>
                </a:solidFill>
              </a:defRPr>
            </a:pPr>
          </a:p>
          <a:p>
            <a:pPr>
              <a:spcAft>
                <a:spcPts val="600"/>
              </a:spcAft>
              <a:defRPr sz="1600">
                <a:solidFill>
                  <a:srgbClr val="2C3E50"/>
                </a:solidFill>
              </a:defRPr>
            </a:pPr>
            <a:r>
              <a:t>WITHIN EACH SESSION:</a:t>
            </a:r>
          </a:p>
          <a:p>
            <a:pPr lvl="1">
              <a:spcAft>
                <a:spcPts val="600"/>
              </a:spcAft>
              <a:defRPr sz="1400">
                <a:solidFill>
                  <a:srgbClr val="2C3E50"/>
                </a:solidFill>
              </a:defRPr>
            </a:pPr>
            <a:r>
              <a:t>  Opening → Agenda → Explore → Develop Discrepancy → Elicit Change Talk</a:t>
            </a:r>
          </a:p>
          <a:p>
            <a:pPr lvl="1">
              <a:spcAft>
                <a:spcPts val="600"/>
              </a:spcAft>
              <a:defRPr sz="1400">
                <a:solidFill>
                  <a:srgbClr val="2C3E50"/>
                </a:solidFill>
              </a:defRPr>
            </a:pPr>
            <a:r>
              <a:t>  → Reflect → Summarize → Close</a:t>
            </a:r>
          </a:p>
          <a:p>
            <a:pPr>
              <a:spcAft>
                <a:spcPts val="600"/>
              </a:spcAft>
              <a:defRPr sz="1600">
                <a:solidFill>
                  <a:srgbClr val="2C3E50"/>
                </a:solidFill>
              </a:defRPr>
            </a:pPr>
          </a:p>
          <a:p>
            <a:pPr>
              <a:spcAft>
                <a:spcPts val="600"/>
              </a:spcAft>
              <a:defRPr sz="1600">
                <a:solidFill>
                  <a:srgbClr val="2C3E50"/>
                </a:solidFill>
              </a:defRPr>
            </a:pPr>
            <a:r>
              <a:t>DECISION TREE:</a:t>
            </a:r>
          </a:p>
          <a:p>
            <a:pPr lvl="1">
              <a:spcAft>
                <a:spcPts val="600"/>
              </a:spcAft>
              <a:defRPr sz="1400">
                <a:solidFill>
                  <a:srgbClr val="2C3E50"/>
                </a:solidFill>
              </a:defRPr>
            </a:pPr>
            <a:r>
              <a:t>  Client shows change talk? → YES → Move toward commitment</a:t>
            </a:r>
          </a:p>
          <a:p>
            <a:pPr lvl="1">
              <a:spcAft>
                <a:spcPts val="600"/>
              </a:spcAft>
              <a:defRPr sz="1400">
                <a:solidFill>
                  <a:srgbClr val="2C3E50"/>
                </a:solidFill>
              </a:defRPr>
            </a:pPr>
            <a:r>
              <a:t>                            → NO  → Continue Phase 1 (build motivation)</a:t>
            </a:r>
          </a:p>
          <a:p>
            <a:pPr>
              <a:spcAft>
                <a:spcPts val="600"/>
              </a:spcAft>
              <a:defRPr sz="1600">
                <a:solidFill>
                  <a:srgbClr val="2C3E50"/>
                </a:solidFill>
              </a:defRPr>
            </a:pPr>
          </a:p>
          <a:p>
            <a:pPr lvl="1">
              <a:spcAft>
                <a:spcPts val="600"/>
              </a:spcAft>
              <a:defRPr sz="1400">
                <a:solidFill>
                  <a:srgbClr val="2C3E50"/>
                </a:solidFill>
              </a:defRPr>
            </a:pPr>
            <a:r>
              <a:t>  High resistance? → YES → Roll with it; soften approach; emphasize autonomy</a:t>
            </a:r>
          </a:p>
          <a:p>
            <a:pPr lvl="1">
              <a:spcAft>
                <a:spcPts val="600"/>
              </a:spcAft>
              <a:defRPr sz="1400">
                <a:solidFill>
                  <a:srgbClr val="2C3E50"/>
                </a:solidFill>
              </a:defRPr>
            </a:pPr>
            <a:r>
              <a:t>                   → NO  → Continue current strategy; deepen exploration</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MET follows a clear process flow with key decision points based on client readiness and resistance signals.</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 Miller, W.R., &amp; Rollnick, S. (2013). Motivational interviewing (3rd ed.). Guilford Press.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Mind Map: MET at a Glance</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Organize all MET concepts into a coherent visual mind map</a:t>
            </a:r>
          </a:p>
        </p:txBody>
      </p:sp>
      <p:sp>
        <p:nvSpPr>
          <p:cNvPr id="5" name="TextBox 4"/>
          <p:cNvSpPr txBox="1"/>
          <p:nvPr/>
        </p:nvSpPr>
        <p:spPr>
          <a:xfrm>
            <a:off x="457200" y="1554480"/>
            <a:ext cx="11247120" cy="4114800"/>
          </a:xfrm>
          <a:prstGeom prst="rect">
            <a:avLst/>
          </a:prstGeom>
          <a:noFill/>
        </p:spPr>
        <p:txBody>
          <a:bodyPr wrap="square">
            <a:spAutoFit/>
          </a:bodyPr>
          <a:lstStyle/>
          <a:p>
            <a:pPr lvl="1">
              <a:spcAft>
                <a:spcPts val="600"/>
              </a:spcAft>
              <a:defRPr sz="1400">
                <a:solidFill>
                  <a:srgbClr val="2C3E50"/>
                </a:solidFill>
              </a:defRPr>
            </a:pPr>
            <a:r>
              <a:t>                          ┌── Spirit (PACE)────────────────┐</a:t>
            </a:r>
          </a:p>
          <a:p>
            <a:pPr lvl="1">
              <a:spcAft>
                <a:spcPts val="600"/>
              </a:spcAft>
              <a:defRPr sz="1400">
                <a:solidFill>
                  <a:srgbClr val="2C3E50"/>
                </a:solidFill>
              </a:defRPr>
            </a:pPr>
            <a:r>
              <a:t>                          │   Partnership, Acceptance,     │</a:t>
            </a:r>
          </a:p>
          <a:p>
            <a:pPr lvl="1">
              <a:spcAft>
                <a:spcPts val="600"/>
              </a:spcAft>
              <a:defRPr sz="1400">
                <a:solidFill>
                  <a:srgbClr val="2C3E50"/>
                </a:solidFill>
              </a:defRPr>
            </a:pPr>
            <a:r>
              <a:t>                          │   Compassion, Evocation        │</a:t>
            </a:r>
          </a:p>
          <a:p>
            <a:pPr lvl="1">
              <a:spcAft>
                <a:spcPts val="600"/>
              </a:spcAft>
              <a:defRPr sz="1400">
                <a:solidFill>
                  <a:srgbClr val="2C3E50"/>
                </a:solidFill>
              </a:defRPr>
            </a:pPr>
            <a:r>
              <a:t>                          └────────────────────────────────┘</a:t>
            </a:r>
          </a:p>
          <a:p>
            <a:pPr lvl="1">
              <a:spcAft>
                <a:spcPts val="600"/>
              </a:spcAft>
              <a:defRPr sz="1400">
                <a:solidFill>
                  <a:srgbClr val="2C3E50"/>
                </a:solidFill>
              </a:defRPr>
            </a:pPr>
            <a:r>
              <a:t>                                        │</a:t>
            </a:r>
          </a:p>
          <a:p>
            <a:pPr lvl="1">
              <a:spcAft>
                <a:spcPts val="600"/>
              </a:spcAft>
              <a:defRPr sz="1400">
                <a:solidFill>
                  <a:srgbClr val="2C3E50"/>
                </a:solidFill>
              </a:defRPr>
            </a:pPr>
            <a:r>
              <a:t>        ┌──────────────────────── MET ──────────────────────┐</a:t>
            </a:r>
          </a:p>
          <a:p>
            <a:pPr lvl="1">
              <a:spcAft>
                <a:spcPts val="600"/>
              </a:spcAft>
              <a:defRPr sz="1400">
                <a:solidFill>
                  <a:srgbClr val="2C3E50"/>
                </a:solidFill>
              </a:defRPr>
            </a:pPr>
            <a:r>
              <a:t>        │                           │                        │</a:t>
            </a:r>
          </a:p>
          <a:p>
            <a:pPr lvl="1">
              <a:spcAft>
                <a:spcPts val="600"/>
              </a:spcAft>
              <a:defRPr sz="1400">
                <a:solidFill>
                  <a:srgbClr val="2C3E50"/>
                </a:solidFill>
              </a:defRPr>
            </a:pPr>
            <a:r>
              <a:t>   Principles                   Skills                  Structure</a:t>
            </a:r>
          </a:p>
          <a:p>
            <a:pPr lvl="1">
              <a:spcAft>
                <a:spcPts val="600"/>
              </a:spcAft>
              <a:defRPr sz="1400">
                <a:solidFill>
                  <a:srgbClr val="2C3E50"/>
                </a:solidFill>
              </a:defRPr>
            </a:pPr>
            <a:r>
              <a:t>  (Express Empathy            (OARS)                  (4 Sessions)</a:t>
            </a:r>
          </a:p>
          <a:p>
            <a:pPr lvl="1">
              <a:spcAft>
                <a:spcPts val="600"/>
              </a:spcAft>
              <a:defRPr sz="1400">
                <a:solidFill>
                  <a:srgbClr val="2C3E50"/>
                </a:solidFill>
              </a:defRPr>
            </a:pPr>
            <a:r>
              <a:t>   Develop Discrepancy     Open Q's                 S1: Feedback</a:t>
            </a:r>
          </a:p>
          <a:p>
            <a:pPr lvl="1">
              <a:spcAft>
                <a:spcPts val="600"/>
              </a:spcAft>
              <a:defRPr sz="1400">
                <a:solidFill>
                  <a:srgbClr val="2C3E50"/>
                </a:solidFill>
              </a:defRPr>
            </a:pPr>
            <a:r>
              <a:t>   Roll w/ Resistance      Affirmations            S2: Commitment</a:t>
            </a:r>
          </a:p>
          <a:p>
            <a:pPr lvl="1">
              <a:spcAft>
                <a:spcPts val="600"/>
              </a:spcAft>
              <a:defRPr sz="1400">
                <a:solidFill>
                  <a:srgbClr val="2C3E50"/>
                </a:solidFill>
              </a:defRPr>
            </a:pPr>
            <a:r>
              <a:t>   Support Self-Efficacy)  Reflections             S3: Review</a:t>
            </a:r>
          </a:p>
          <a:p>
            <a:pPr lvl="1">
              <a:spcAft>
                <a:spcPts val="600"/>
              </a:spcAft>
              <a:defRPr sz="1400">
                <a:solidFill>
                  <a:srgbClr val="2C3E50"/>
                </a:solidFill>
              </a:defRPr>
            </a:pPr>
            <a:r>
              <a:t>                           Summaries)              S4: Consolidate</a:t>
            </a:r>
          </a:p>
          <a:p>
            <a:pPr lvl="1">
              <a:spcAft>
                <a:spcPts val="600"/>
              </a:spcAft>
              <a:defRPr sz="1400">
                <a:solidFill>
                  <a:srgbClr val="2C3E50"/>
                </a:solidFill>
              </a:defRPr>
            </a:pPr>
            <a:r>
              <a:t>        │                           │                        │</a:t>
            </a:r>
          </a:p>
          <a:p>
            <a:pPr lvl="1">
              <a:spcAft>
                <a:spcPts val="600"/>
              </a:spcAft>
              <a:defRPr sz="1400">
                <a:solidFill>
                  <a:srgbClr val="2C3E50"/>
                </a:solidFill>
              </a:defRPr>
            </a:pPr>
            <a:r>
              <a:t>   Components                 Targets                 Evidence</a:t>
            </a:r>
          </a:p>
          <a:p>
            <a:pPr lvl="1">
              <a:spcAft>
                <a:spcPts val="600"/>
              </a:spcAft>
              <a:defRPr sz="1400">
                <a:solidFill>
                  <a:srgbClr val="2C3E50"/>
                </a:solidFill>
              </a:defRPr>
            </a:pPr>
            <a:r>
              <a:t>   (FRAMES)              (Change Talk               (200+ RCTs</a:t>
            </a:r>
          </a:p>
          <a:p>
            <a:pPr lvl="1">
              <a:spcAft>
                <a:spcPts val="600"/>
              </a:spcAft>
              <a:defRPr sz="1400">
                <a:solidFill>
                  <a:srgbClr val="2C3E50"/>
                </a:solidFill>
              </a:defRPr>
            </a:pPr>
            <a:r>
              <a:t>                          DARN-CAT)                Project MATCH)</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The MET hierarchy: Spirit (foundation) → Principles (guides) → Skills (tools) → Structure (protocol).</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 Miller, W.R., &amp; Rollnick, S. (2013). Motivational interviewing (3rd ed.). Guilford Press.</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1D5FA6"/>
        </a:solidFill>
        <a:effectLst/>
      </p:bgPr>
    </p:bg>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914400" y="1828800"/>
            <a:ext cx="10058400" cy="1371600"/>
          </a:xfrm>
          <a:prstGeom prst="rect">
            <a:avLst/>
          </a:prstGeom>
          <a:noFill/>
        </p:spPr>
        <p:txBody>
          <a:bodyPr wrap="none">
            <a:spAutoFit/>
          </a:bodyPr>
          <a:lstStyle/>
          <a:p>
            <a:pPr algn="ctr">
              <a:defRPr sz="1800">
                <a:solidFill>
                  <a:srgbClr val="B7950B"/>
                </a:solidFill>
              </a:defRPr>
            </a:pPr>
            <a:r>
              <a:t>SECTION 30</a:t>
            </a:r>
          </a:p>
        </p:txBody>
      </p:sp>
      <p:sp>
        <p:nvSpPr>
          <p:cNvPr id="5" name="TextBox 4"/>
          <p:cNvSpPr txBox="1"/>
          <p:nvPr/>
        </p:nvSpPr>
        <p:spPr>
          <a:xfrm>
            <a:off x="914400" y="2926080"/>
            <a:ext cx="10058400" cy="1828800"/>
          </a:xfrm>
          <a:prstGeom prst="rect">
            <a:avLst/>
          </a:prstGeom>
          <a:noFill/>
        </p:spPr>
        <p:txBody>
          <a:bodyPr wrap="square">
            <a:spAutoFit/>
          </a:bodyPr>
          <a:lstStyle/>
          <a:p>
            <a:pPr algn="ctr">
              <a:defRPr sz="3600" b="1">
                <a:solidFill>
                  <a:srgbClr val="FFFFFF"/>
                </a:solidFill>
              </a:defRPr>
            </a:pPr>
            <a:r>
              <a:t>Complete Bibliography</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References (1/4): Primary Sources &amp; Foundational Texts</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Access primary sources for further study of MET</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Miller, W.R., Zweben, A., DiClemente, C.C., &amp; Rychtarik, R.G. (1995). Motivational Enhancement</a:t>
            </a:r>
          </a:p>
          <a:p>
            <a:pPr lvl="1">
              <a:spcAft>
                <a:spcPts val="600"/>
              </a:spcAft>
              <a:defRPr sz="1400">
                <a:solidFill>
                  <a:srgbClr val="2C3E50"/>
                </a:solidFill>
              </a:defRPr>
            </a:pPr>
            <a:r>
              <a:t>  Therapy Manual. NIAAA, NIH Publication No. 94-3723.</a:t>
            </a:r>
          </a:p>
          <a:p>
            <a:pPr>
              <a:spcAft>
                <a:spcPts val="600"/>
              </a:spcAft>
              <a:defRPr sz="1600">
                <a:solidFill>
                  <a:srgbClr val="2C3E50"/>
                </a:solidFill>
              </a:defRPr>
            </a:pPr>
            <a:r>
              <a:t>Murthy, P. (2008). Psychosocial Interventions for Persons with Substance Abuse. NIMHANS.</a:t>
            </a:r>
          </a:p>
          <a:p>
            <a:pPr>
              <a:spcAft>
                <a:spcPts val="600"/>
              </a:spcAft>
              <a:defRPr sz="1600">
                <a:solidFill>
                  <a:srgbClr val="2C3E50"/>
                </a:solidFill>
              </a:defRPr>
            </a:pPr>
            <a:r>
              <a:t>Miller, W.R., &amp; Rollnick, S. (1991). Motivational interviewing: Preparing people to change</a:t>
            </a:r>
          </a:p>
          <a:p>
            <a:pPr lvl="1">
              <a:spcAft>
                <a:spcPts val="600"/>
              </a:spcAft>
              <a:defRPr sz="1400">
                <a:solidFill>
                  <a:srgbClr val="2C3E50"/>
                </a:solidFill>
              </a:defRPr>
            </a:pPr>
            <a:r>
              <a:t>  addictive behavior. Guilford Press.</a:t>
            </a:r>
          </a:p>
          <a:p>
            <a:pPr>
              <a:spcAft>
                <a:spcPts val="600"/>
              </a:spcAft>
              <a:defRPr sz="1600">
                <a:solidFill>
                  <a:srgbClr val="2C3E50"/>
                </a:solidFill>
              </a:defRPr>
            </a:pPr>
            <a:r>
              <a:t>Miller, W.R., &amp; Rollnick, S. (2002). Motivational interviewing (2nd ed.). Guilford Press.</a:t>
            </a:r>
          </a:p>
          <a:p>
            <a:pPr>
              <a:spcAft>
                <a:spcPts val="600"/>
              </a:spcAft>
              <a:defRPr sz="1600">
                <a:solidFill>
                  <a:srgbClr val="2C3E50"/>
                </a:solidFill>
              </a:defRPr>
            </a:pPr>
            <a:r>
              <a:t>Miller, W.R., &amp; Rollnick, S. (2013). Motivational interviewing: Helping people change (3rd ed.).</a:t>
            </a:r>
          </a:p>
          <a:p>
            <a:pPr lvl="1">
              <a:spcAft>
                <a:spcPts val="600"/>
              </a:spcAft>
              <a:defRPr sz="1400">
                <a:solidFill>
                  <a:srgbClr val="2C3E50"/>
                </a:solidFill>
              </a:defRPr>
            </a:pPr>
            <a:r>
              <a:t>  Guilford Press.</a:t>
            </a:r>
          </a:p>
          <a:p>
            <a:pPr>
              <a:spcAft>
                <a:spcPts val="600"/>
              </a:spcAft>
              <a:defRPr sz="1600">
                <a:solidFill>
                  <a:srgbClr val="2C3E50"/>
                </a:solidFill>
              </a:defRPr>
            </a:pPr>
            <a:r>
              <a:t>Miller, W.R. (1983). Motivational interviewing with problem drinkers. Behavioural Psychotherapy,</a:t>
            </a:r>
          </a:p>
          <a:p>
            <a:pPr lvl="1">
              <a:spcAft>
                <a:spcPts val="600"/>
              </a:spcAft>
              <a:defRPr sz="1400">
                <a:solidFill>
                  <a:srgbClr val="2C3E50"/>
                </a:solidFill>
              </a:defRPr>
            </a:pPr>
            <a:r>
              <a:t>  11, 147-172.</a:t>
            </a:r>
          </a:p>
          <a:p>
            <a:pPr>
              <a:spcAft>
                <a:spcPts val="600"/>
              </a:spcAft>
              <a:defRPr sz="1600">
                <a:solidFill>
                  <a:srgbClr val="2C3E50"/>
                </a:solidFill>
              </a:defRPr>
            </a:pPr>
            <a:r>
              <a:t>Project MATCH Research Group. (1997). Matching alcoholism treatments to client heterogeneity.</a:t>
            </a:r>
          </a:p>
          <a:p>
            <a:pPr lvl="1">
              <a:spcAft>
                <a:spcPts val="600"/>
              </a:spcAft>
              <a:defRPr sz="1400">
                <a:solidFill>
                  <a:srgbClr val="2C3E50"/>
                </a:solidFill>
              </a:defRPr>
            </a:pPr>
            <a:r>
              <a:t>  Journal of Studies on Alcohol, 58, 7-29.</a:t>
            </a:r>
          </a:p>
          <a:p>
            <a:pPr>
              <a:spcAft>
                <a:spcPts val="600"/>
              </a:spcAft>
              <a:defRPr sz="1600">
                <a:solidFill>
                  <a:srgbClr val="2C3E50"/>
                </a:solidFill>
              </a:defRPr>
            </a:pPr>
            <a:r>
              <a:t>Project MATCH Research Group. (1998). Therapist effects in three treatments for alcohol problems.</a:t>
            </a:r>
          </a:p>
          <a:p>
            <a:pPr lvl="1">
              <a:spcAft>
                <a:spcPts val="600"/>
              </a:spcAft>
              <a:defRPr sz="1400">
                <a:solidFill>
                  <a:srgbClr val="2C3E50"/>
                </a:solidFill>
              </a:defRPr>
            </a:pPr>
            <a:r>
              <a:t>  Psychotherapy Research, 8, 455-474.</a:t>
            </a:r>
          </a:p>
          <a:p>
            <a:pPr>
              <a:spcAft>
                <a:spcPts val="600"/>
              </a:spcAft>
              <a:defRPr sz="1600">
                <a:solidFill>
                  <a:srgbClr val="2C3E50"/>
                </a:solidFill>
              </a:defRPr>
            </a:pPr>
            <a:r>
              <a:t>Rollnick, S., Miller, W.R., &amp; Butler, C.C. (2008). Motivational interviewing in health care.</a:t>
            </a:r>
          </a:p>
          <a:p>
            <a:pPr lvl="1">
              <a:spcAft>
                <a:spcPts val="600"/>
              </a:spcAft>
              <a:defRPr sz="1400">
                <a:solidFill>
                  <a:srgbClr val="2C3E50"/>
                </a:solidFill>
              </a:defRPr>
            </a:pPr>
            <a:r>
              <a:t>  Guilford Press.</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The MET Manual (Miller et al., 1995) and MI textbook (Miller &amp; Rollnick, 2013) are essential reading.</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All references in APA 7th Edition format.</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References (2/4): Research Studies</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Access key research studies supporting MET</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Amrhein, P.C., Miller, W.R., Yahne, C.E., et al. (2003). Client commitment language during MI</a:t>
            </a:r>
          </a:p>
          <a:p>
            <a:pPr lvl="1">
              <a:spcAft>
                <a:spcPts val="600"/>
              </a:spcAft>
              <a:defRPr sz="1400">
                <a:solidFill>
                  <a:srgbClr val="2C3E50"/>
                </a:solidFill>
              </a:defRPr>
            </a:pPr>
            <a:r>
              <a:t>  predicts drug use outcomes. JCCP, 71, 862-878.</a:t>
            </a:r>
          </a:p>
          <a:p>
            <a:pPr>
              <a:spcAft>
                <a:spcPts val="600"/>
              </a:spcAft>
              <a:defRPr sz="1600">
                <a:solidFill>
                  <a:srgbClr val="2C3E50"/>
                </a:solidFill>
              </a:defRPr>
            </a:pPr>
            <a:r>
              <a:t>Bien, T.H., Miller, W.R., &amp; Tonigan, S. (1993). Brief interventions for alcohol problems.</a:t>
            </a:r>
          </a:p>
          <a:p>
            <a:pPr lvl="1">
              <a:spcAft>
                <a:spcPts val="600"/>
              </a:spcAft>
              <a:defRPr sz="1400">
                <a:solidFill>
                  <a:srgbClr val="2C3E50"/>
                </a:solidFill>
              </a:defRPr>
            </a:pPr>
            <a:r>
              <a:t>  Addiction, 88, 315-336.</a:t>
            </a:r>
          </a:p>
          <a:p>
            <a:pPr>
              <a:spcAft>
                <a:spcPts val="600"/>
              </a:spcAft>
              <a:defRPr sz="1600">
                <a:solidFill>
                  <a:srgbClr val="2C3E50"/>
                </a:solidFill>
              </a:defRPr>
            </a:pPr>
            <a:r>
              <a:t>Burke, B.L., Arkowitz, H., &amp; Menchola, M. (2003). MI effectiveness meta-analysis. JCCP, 71, 843.</a:t>
            </a:r>
          </a:p>
          <a:p>
            <a:pPr>
              <a:spcAft>
                <a:spcPts val="600"/>
              </a:spcAft>
              <a:defRPr sz="1600">
                <a:solidFill>
                  <a:srgbClr val="2C3E50"/>
                </a:solidFill>
              </a:defRPr>
            </a:pPr>
            <a:r>
              <a:t>Hettema, J., Steele, J., &amp; Miller, W.R. (2005). MI: Annual Review of Clin. Psychology, 1, 91-111.</a:t>
            </a:r>
          </a:p>
          <a:p>
            <a:pPr>
              <a:spcAft>
                <a:spcPts val="600"/>
              </a:spcAft>
              <a:defRPr sz="1600">
                <a:solidFill>
                  <a:srgbClr val="2C3E50"/>
                </a:solidFill>
              </a:defRPr>
            </a:pPr>
            <a:r>
              <a:t>Lundahl, B., et al. (2010). A meta-analysis of MI outcomes. Clinical Psychology Review, 30, 1-11.</a:t>
            </a:r>
          </a:p>
          <a:p>
            <a:pPr>
              <a:spcAft>
                <a:spcPts val="600"/>
              </a:spcAft>
              <a:defRPr sz="1600">
                <a:solidFill>
                  <a:srgbClr val="2C3E50"/>
                </a:solidFill>
              </a:defRPr>
            </a:pPr>
            <a:r>
              <a:t>Miller, W.R., Benefield, R.G., &amp; Tonigan, J.S. (1993). Enhancing motivation for change. JCCP, 61.</a:t>
            </a:r>
          </a:p>
          <a:p>
            <a:pPr>
              <a:spcAft>
                <a:spcPts val="600"/>
              </a:spcAft>
              <a:defRPr sz="1600">
                <a:solidFill>
                  <a:srgbClr val="2C3E50"/>
                </a:solidFill>
              </a:defRPr>
            </a:pPr>
            <a:r>
              <a:t>Moyers, T.B., Martin, T., et al. (2007). Therapist influence on client language. JCCP, 75, 790-798.</a:t>
            </a:r>
          </a:p>
          <a:p>
            <a:pPr>
              <a:spcAft>
                <a:spcPts val="600"/>
              </a:spcAft>
              <a:defRPr sz="1600">
                <a:solidFill>
                  <a:srgbClr val="2C3E50"/>
                </a:solidFill>
              </a:defRPr>
            </a:pPr>
            <a:r>
              <a:t>Patterson, G.A., &amp; Forgatch, M.S. (1985). Therapist behavior as determinant. JCCP, 53, 846-851.</a:t>
            </a:r>
          </a:p>
          <a:p>
            <a:pPr>
              <a:spcAft>
                <a:spcPts val="600"/>
              </a:spcAft>
              <a:defRPr sz="1600">
                <a:solidFill>
                  <a:srgbClr val="2C3E50"/>
                </a:solidFill>
              </a:defRPr>
            </a:pPr>
            <a:r>
              <a:t>Smedslund, G., et al. (2011). MI for substance abuse. Cochrane Database of Systematic Reviews.</a:t>
            </a:r>
          </a:p>
          <a:p>
            <a:pPr>
              <a:spcAft>
                <a:spcPts val="600"/>
              </a:spcAft>
              <a:defRPr sz="1600">
                <a:solidFill>
                  <a:srgbClr val="2C3E50"/>
                </a:solidFill>
              </a:defRPr>
            </a:pPr>
            <a:r>
              <a:t>UKATT Research Team. (2005). Effectiveness of treatment for alcohol problems. BMJ, 331, 541.</a:t>
            </a:r>
          </a:p>
          <a:p>
            <a:pPr>
              <a:spcAft>
                <a:spcPts val="600"/>
              </a:spcAft>
              <a:defRPr sz="1600">
                <a:solidFill>
                  <a:srgbClr val="2C3E50"/>
                </a:solidFill>
              </a:defRPr>
            </a:pPr>
            <a:r>
              <a:t>Valle, S.K. (1981). Interpersonal functioning of counselors. J. Studies on Alcohol, 42, 783-790.</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Key studies: Project MATCH (1997), Miller et al. (1993), Moyers et al. (2007), Amrhein et al. (2003).</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All references in APA 7th Edition format.</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References (3/4): Theoretical Foundations</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Access foundational theoretical texts underpinning MET</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Bandura, A. (1977). Self-efficacy: Toward a unifying theory of behavioral change.</a:t>
            </a:r>
          </a:p>
          <a:p>
            <a:pPr lvl="1">
              <a:spcAft>
                <a:spcPts val="600"/>
              </a:spcAft>
              <a:defRPr sz="1400">
                <a:solidFill>
                  <a:srgbClr val="2C3E50"/>
                </a:solidFill>
              </a:defRPr>
            </a:pPr>
            <a:r>
              <a:t>  Psychological Review, 84, 191-215.</a:t>
            </a:r>
          </a:p>
          <a:p>
            <a:pPr>
              <a:spcAft>
                <a:spcPts val="600"/>
              </a:spcAft>
              <a:defRPr sz="1600">
                <a:solidFill>
                  <a:srgbClr val="2C3E50"/>
                </a:solidFill>
              </a:defRPr>
            </a:pPr>
            <a:r>
              <a:t>Bandura, A. (1982). Self-efficacy mechanism in human agency. American Psychologist, 37, 122-147.</a:t>
            </a:r>
          </a:p>
          <a:p>
            <a:pPr>
              <a:spcAft>
                <a:spcPts val="600"/>
              </a:spcAft>
              <a:defRPr sz="1600">
                <a:solidFill>
                  <a:srgbClr val="2C3E50"/>
                </a:solidFill>
              </a:defRPr>
            </a:pPr>
            <a:r>
              <a:t>Bem, D.J. (1967). Self-perception: An alternative interpretation of cognitive dissonance.</a:t>
            </a:r>
          </a:p>
          <a:p>
            <a:pPr lvl="1">
              <a:spcAft>
                <a:spcPts val="600"/>
              </a:spcAft>
              <a:defRPr sz="1400">
                <a:solidFill>
                  <a:srgbClr val="2C3E50"/>
                </a:solidFill>
              </a:defRPr>
            </a:pPr>
            <a:r>
              <a:t>  Psychological Review, 74, 183-200.</a:t>
            </a:r>
          </a:p>
          <a:p>
            <a:pPr>
              <a:spcAft>
                <a:spcPts val="600"/>
              </a:spcAft>
              <a:defRPr sz="1600">
                <a:solidFill>
                  <a:srgbClr val="2C3E50"/>
                </a:solidFill>
              </a:defRPr>
            </a:pPr>
            <a:r>
              <a:t>Bem, D.J. (1972). Self-perception theory. In Berkowitz, L. (Ed.), Advances in Experimental</a:t>
            </a:r>
          </a:p>
          <a:p>
            <a:pPr lvl="1">
              <a:spcAft>
                <a:spcPts val="600"/>
              </a:spcAft>
              <a:defRPr sz="1400">
                <a:solidFill>
                  <a:srgbClr val="2C3E50"/>
                </a:solidFill>
              </a:defRPr>
            </a:pPr>
            <a:r>
              <a:t>  Social Psychology, Vol. 6. Academic Press.</a:t>
            </a:r>
          </a:p>
          <a:p>
            <a:pPr>
              <a:spcAft>
                <a:spcPts val="600"/>
              </a:spcAft>
              <a:defRPr sz="1600">
                <a:solidFill>
                  <a:srgbClr val="2C3E50"/>
                </a:solidFill>
              </a:defRPr>
            </a:pPr>
            <a:r>
              <a:t>Deci, E.L., &amp; Ryan, R.M. (1985). Intrinsic motivation and self-determination. Plenum.</a:t>
            </a:r>
          </a:p>
          <a:p>
            <a:pPr>
              <a:spcAft>
                <a:spcPts val="600"/>
              </a:spcAft>
              <a:defRPr sz="1600">
                <a:solidFill>
                  <a:srgbClr val="2C3E50"/>
                </a:solidFill>
              </a:defRPr>
            </a:pPr>
            <a:r>
              <a:t>Festinger, L. (1957). A Theory of Cognitive Dissonance. Row, Peterson.</a:t>
            </a:r>
          </a:p>
          <a:p>
            <a:pPr>
              <a:spcAft>
                <a:spcPts val="600"/>
              </a:spcAft>
              <a:defRPr sz="1600">
                <a:solidFill>
                  <a:srgbClr val="2C3E50"/>
                </a:solidFill>
              </a:defRPr>
            </a:pPr>
            <a:r>
              <a:t>Janis, I.L., &amp; Mann, L. (1977). Decision Making. Free Press.</a:t>
            </a:r>
          </a:p>
          <a:p>
            <a:pPr>
              <a:spcAft>
                <a:spcPts val="600"/>
              </a:spcAft>
              <a:defRPr sz="1600">
                <a:solidFill>
                  <a:srgbClr val="2C3E50"/>
                </a:solidFill>
              </a:defRPr>
            </a:pPr>
            <a:r>
              <a:t>Prochaska, J.O., &amp; DiClemente, C.C. (1982). Transtheoretical therapy. Psychotherapy, 19, 276.</a:t>
            </a:r>
          </a:p>
          <a:p>
            <a:pPr>
              <a:spcAft>
                <a:spcPts val="600"/>
              </a:spcAft>
              <a:defRPr sz="1600">
                <a:solidFill>
                  <a:srgbClr val="2C3E50"/>
                </a:solidFill>
              </a:defRPr>
            </a:pPr>
            <a:r>
              <a:t>Prochaska, J.O., &amp; DiClemente, C.C. (1984). The Transtheoretical Approach. Dow Jones/Irwin.</a:t>
            </a:r>
          </a:p>
          <a:p>
            <a:pPr>
              <a:spcAft>
                <a:spcPts val="600"/>
              </a:spcAft>
              <a:defRPr sz="1600">
                <a:solidFill>
                  <a:srgbClr val="2C3E50"/>
                </a:solidFill>
              </a:defRPr>
            </a:pPr>
            <a:r>
              <a:t>Rogers, C.R. (1957). Necessary and sufficient conditions for therapeutic personality change.</a:t>
            </a:r>
          </a:p>
          <a:p>
            <a:pPr lvl="1">
              <a:spcAft>
                <a:spcPts val="600"/>
              </a:spcAft>
              <a:defRPr sz="1400">
                <a:solidFill>
                  <a:srgbClr val="2C3E50"/>
                </a:solidFill>
              </a:defRPr>
            </a:pPr>
            <a:r>
              <a:t>  Journal of Consulting Psychology, 21, 95-103.</a:t>
            </a:r>
          </a:p>
          <a:p>
            <a:pPr>
              <a:spcAft>
                <a:spcPts val="600"/>
              </a:spcAft>
              <a:defRPr sz="1600">
                <a:solidFill>
                  <a:srgbClr val="2C3E50"/>
                </a:solidFill>
              </a:defRPr>
            </a:pPr>
            <a:r>
              <a:t>Ryan, R.M., &amp; Deci, E.L. (2000). Self-determination theory. American Psychologist, 55, 68-78.</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MET is grounded in established psychological theories: Rogers, Festinger, Bem, Bandura, Prochaska, Deci/Ryan.</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All references in APA 7th Edition format.</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References (4/4): Guidelines, Manuals, and Additional Resources</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Identify additional resources for continued MET learning and practice</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APA. (2017). Ethical Principles of Psychologists and Code of Conduct. Washington, DC.</a:t>
            </a:r>
          </a:p>
          <a:p>
            <a:pPr>
              <a:spcAft>
                <a:spcPts val="600"/>
              </a:spcAft>
              <a:defRPr sz="1600">
                <a:solidFill>
                  <a:srgbClr val="2C3E50"/>
                </a:solidFill>
              </a:defRPr>
            </a:pPr>
            <a:r>
              <a:t>DiClemente, C.C. (2003). Addiction and Change. Guilford Press.</a:t>
            </a:r>
          </a:p>
          <a:p>
            <a:pPr>
              <a:spcAft>
                <a:spcPts val="600"/>
              </a:spcAft>
              <a:defRPr sz="1600">
                <a:solidFill>
                  <a:srgbClr val="2C3E50"/>
                </a:solidFill>
              </a:defRPr>
            </a:pPr>
            <a:r>
              <a:t>Egan, G. (1982). The Skilled Helper. Brooks/Cole.</a:t>
            </a:r>
          </a:p>
          <a:p>
            <a:pPr>
              <a:spcAft>
                <a:spcPts val="600"/>
              </a:spcAft>
              <a:defRPr sz="1600">
                <a:solidFill>
                  <a:srgbClr val="2C3E50"/>
                </a:solidFill>
              </a:defRPr>
            </a:pPr>
            <a:r>
              <a:t>Marlatt, G.A., &amp; Gordon, J.R. (1985). Relapse Prevention. Guilford Press.</a:t>
            </a:r>
          </a:p>
          <a:p>
            <a:pPr>
              <a:spcAft>
                <a:spcPts val="600"/>
              </a:spcAft>
              <a:defRPr sz="1600">
                <a:solidFill>
                  <a:srgbClr val="2C3E50"/>
                </a:solidFill>
              </a:defRPr>
            </a:pPr>
            <a:r>
              <a:t>Miller, W.R. (1985). Motivation for treatment: A review. Psychological Bulletin, 98, 84-107.</a:t>
            </a:r>
          </a:p>
          <a:p>
            <a:pPr>
              <a:spcAft>
                <a:spcPts val="600"/>
              </a:spcAft>
              <a:defRPr sz="1600">
                <a:solidFill>
                  <a:srgbClr val="2C3E50"/>
                </a:solidFill>
              </a:defRPr>
            </a:pPr>
            <a:r>
              <a:t>Miller, W.R., &amp; Moyers, T.B. (2006). Eight stages in learning MI. Behavioural and Cognitive</a:t>
            </a:r>
          </a:p>
          <a:p>
            <a:pPr lvl="1">
              <a:spcAft>
                <a:spcPts val="600"/>
              </a:spcAft>
              <a:defRPr sz="1400">
                <a:solidFill>
                  <a:srgbClr val="2C3E50"/>
                </a:solidFill>
              </a:defRPr>
            </a:pPr>
            <a:r>
              <a:t>  Psychotherapy, 34, 135-143.</a:t>
            </a:r>
          </a:p>
          <a:p>
            <a:pPr>
              <a:spcAft>
                <a:spcPts val="600"/>
              </a:spcAft>
              <a:defRPr sz="1600">
                <a:solidFill>
                  <a:srgbClr val="2C3E50"/>
                </a:solidFill>
              </a:defRPr>
            </a:pPr>
            <a:r>
              <a:t>Moyers, T.B., et al. (2005). MITI Manual (Version 3.0). University of New Mexico.</a:t>
            </a:r>
          </a:p>
          <a:p>
            <a:pPr>
              <a:spcAft>
                <a:spcPts val="600"/>
              </a:spcAft>
              <a:defRPr sz="1600">
                <a:solidFill>
                  <a:srgbClr val="2C3E50"/>
                </a:solidFill>
              </a:defRPr>
            </a:pPr>
            <a:r>
              <a:t>NICE. (2011). Alcohol-use disorders: Diagnosis, assessment and management. NICE guideline CG115.</a:t>
            </a:r>
          </a:p>
          <a:p>
            <a:pPr>
              <a:spcAft>
                <a:spcPts val="600"/>
              </a:spcAft>
              <a:defRPr sz="1600">
                <a:solidFill>
                  <a:srgbClr val="2C3E50"/>
                </a:solidFill>
              </a:defRPr>
            </a:pPr>
            <a:r>
              <a:t>SAMHSA. (2019). Enhancing Motivation for Change in Substance Use Disorder Treatment. TIP 35.</a:t>
            </a:r>
          </a:p>
          <a:p>
            <a:pPr>
              <a:spcAft>
                <a:spcPts val="600"/>
              </a:spcAft>
              <a:defRPr sz="1600">
                <a:solidFill>
                  <a:srgbClr val="2C3E50"/>
                </a:solidFill>
              </a:defRPr>
            </a:pPr>
            <a:r>
              <a:t>Truax, C.B., &amp; Carkhuff, R.R. (1967). Toward Effective Counseling and Psychotherapy. Aldine.</a:t>
            </a:r>
          </a:p>
          <a:p>
            <a:pPr>
              <a:spcAft>
                <a:spcPts val="600"/>
              </a:spcAft>
              <a:defRPr sz="1600">
                <a:solidFill>
                  <a:srgbClr val="2C3E50"/>
                </a:solidFill>
              </a:defRPr>
            </a:pPr>
            <a:r>
              <a:t>WHO. (2010). Brief Intervention for Substance Use. WHO Press.</a:t>
            </a:r>
          </a:p>
          <a:p>
            <a:pPr>
              <a:spcAft>
                <a:spcPts val="600"/>
              </a:spcAft>
              <a:defRPr sz="1600">
                <a:solidFill>
                  <a:srgbClr val="2C3E50"/>
                </a:solidFill>
              </a:defRPr>
            </a:pPr>
            <a:r>
              <a:t>Witkiewitz, K., &amp; Marlatt, G.A. (2004). Relapse prevention for alcohol and drug problems.</a:t>
            </a:r>
          </a:p>
          <a:p>
            <a:pPr lvl="1">
              <a:spcAft>
                <a:spcPts val="600"/>
              </a:spcAft>
              <a:defRPr sz="1400">
                <a:solidFill>
                  <a:srgbClr val="2C3E50"/>
                </a:solidFill>
              </a:defRPr>
            </a:pPr>
            <a:r>
              <a:t>  Clinical Psychology Review, 24, 1-28.</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Key resources: SAMHSA TIP 35, NICE guidelines, WHO brief intervention manual, MITI coding manual.</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All references in APA 7th Edition format.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Spirit of MET: Wrong vs. Correct Therapist Responses</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Practice responding to clinical material while honoring the four elements of MET spirit</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SCENARIO: Client says 'I like drinking. It relaxes me after a long day.'</a:t>
            </a:r>
          </a:p>
          <a:p>
            <a:pPr>
              <a:spcAft>
                <a:spcPts val="600"/>
              </a:spcAft>
              <a:defRPr sz="1600">
                <a:solidFill>
                  <a:srgbClr val="2C3E50"/>
                </a:solidFill>
              </a:defRPr>
            </a:pPr>
          </a:p>
          <a:p>
            <a:pPr>
              <a:spcAft>
                <a:spcPts val="600"/>
              </a:spcAft>
              <a:defRPr sz="1600">
                <a:solidFill>
                  <a:srgbClr val="2C3E50"/>
                </a:solidFill>
              </a:defRPr>
            </a:pPr>
            <a:r>
              <a:t>❌ WRONG (Violates Spirit):</a:t>
            </a:r>
          </a:p>
          <a:p>
            <a:pPr lvl="1">
              <a:spcAft>
                <a:spcPts val="600"/>
              </a:spcAft>
              <a:defRPr sz="1400">
                <a:solidFill>
                  <a:srgbClr val="2C3E50"/>
                </a:solidFill>
              </a:defRPr>
            </a:pPr>
            <a:r>
              <a:t>  • 'But it's destroying your liver!' (Righting reflex; no partnership)</a:t>
            </a:r>
          </a:p>
          <a:p>
            <a:pPr lvl="1">
              <a:spcAft>
                <a:spcPts val="600"/>
              </a:spcAft>
              <a:defRPr sz="1400">
                <a:solidFill>
                  <a:srgbClr val="2C3E50"/>
                </a:solidFill>
              </a:defRPr>
            </a:pPr>
            <a:r>
              <a:t>  • 'You shouldn't use alcohol to cope' (Advice without permission; no acceptance)</a:t>
            </a:r>
          </a:p>
          <a:p>
            <a:pPr lvl="1">
              <a:spcAft>
                <a:spcPts val="600"/>
              </a:spcAft>
              <a:defRPr sz="1400">
                <a:solidFill>
                  <a:srgbClr val="2C3E50"/>
                </a:solidFill>
              </a:defRPr>
            </a:pPr>
            <a:r>
              <a:t>  • 'That's just an excuse' (Judgmental; no compassion)</a:t>
            </a:r>
          </a:p>
          <a:p>
            <a:pPr lvl="1">
              <a:spcAft>
                <a:spcPts val="600"/>
              </a:spcAft>
              <a:defRPr sz="1400">
                <a:solidFill>
                  <a:srgbClr val="2C3E50"/>
                </a:solidFill>
              </a:defRPr>
            </a:pPr>
            <a:r>
              <a:t>  • 'Research shows that alcohol actually increases anxiety' (Installing; no evocation)</a:t>
            </a:r>
          </a:p>
          <a:p>
            <a:pPr>
              <a:spcAft>
                <a:spcPts val="600"/>
              </a:spcAft>
              <a:defRPr sz="1600">
                <a:solidFill>
                  <a:srgbClr val="2C3E50"/>
                </a:solidFill>
              </a:defRPr>
            </a:pPr>
          </a:p>
          <a:p>
            <a:pPr>
              <a:spcAft>
                <a:spcPts val="600"/>
              </a:spcAft>
              <a:defRPr sz="1600">
                <a:solidFill>
                  <a:srgbClr val="2C3E50"/>
                </a:solidFill>
              </a:defRPr>
            </a:pPr>
            <a:r>
              <a:t>✓ CORRECT (Honors Spirit):</a:t>
            </a:r>
          </a:p>
          <a:p>
            <a:pPr lvl="1">
              <a:spcAft>
                <a:spcPts val="600"/>
              </a:spcAft>
              <a:defRPr sz="1400">
                <a:solidFill>
                  <a:srgbClr val="2C3E50"/>
                </a:solidFill>
              </a:defRPr>
            </a:pPr>
            <a:r>
              <a:t>  • 'Drinking serves an important purpose for you - stress relief.' (Partnership)</a:t>
            </a:r>
          </a:p>
          <a:p>
            <a:pPr lvl="1">
              <a:spcAft>
                <a:spcPts val="600"/>
              </a:spcAft>
              <a:defRPr sz="1400">
                <a:solidFill>
                  <a:srgbClr val="2C3E50"/>
                </a:solidFill>
              </a:defRPr>
            </a:pPr>
            <a:r>
              <a:t>  • 'You've found something that works in the short term.' (Acceptance)</a:t>
            </a:r>
          </a:p>
          <a:p>
            <a:pPr lvl="1">
              <a:spcAft>
                <a:spcPts val="600"/>
              </a:spcAft>
              <a:defRPr sz="1400">
                <a:solidFill>
                  <a:srgbClr val="2C3E50"/>
                </a:solidFill>
              </a:defRPr>
            </a:pPr>
            <a:r>
              <a:t>  • 'And I wonder what other things you've noticed about how it affects you.' (Evocation)</a:t>
            </a:r>
          </a:p>
          <a:p>
            <a:pPr lvl="1">
              <a:spcAft>
                <a:spcPts val="600"/>
              </a:spcAft>
              <a:defRPr sz="1400">
                <a:solidFill>
                  <a:srgbClr val="2C3E50"/>
                </a:solidFill>
              </a:defRPr>
            </a:pPr>
            <a:r>
              <a:t>  • 'What else have you tried for managing stress?' (Evocation + Compassion)</a:t>
            </a:r>
          </a:p>
          <a:p>
            <a:pPr>
              <a:spcAft>
                <a:spcPts val="600"/>
              </a:spcAft>
              <a:defRPr sz="1600">
                <a:solidFill>
                  <a:srgbClr val="2C3E50"/>
                </a:solidFill>
              </a:defRPr>
            </a:pPr>
          </a:p>
          <a:p>
            <a:pPr>
              <a:spcAft>
                <a:spcPts val="600"/>
              </a:spcAft>
              <a:defRPr sz="1600">
                <a:solidFill>
                  <a:srgbClr val="2C3E50"/>
                </a:solidFill>
              </a:defRPr>
            </a:pPr>
            <a:r>
              <a:t>PRINCIPLE: Honor the positive function before exploring costs</a:t>
            </a:r>
          </a:p>
          <a:p>
            <a:pPr>
              <a:spcAft>
                <a:spcPts val="600"/>
              </a:spcAft>
              <a:defRPr sz="1600">
                <a:solidFill>
                  <a:srgbClr val="2C3E50"/>
                </a:solidFill>
              </a:defRPr>
            </a:pPr>
            <a:r>
              <a:t>The spirit guides HOW you respond, not just WHAT you say</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Honor the positive function of the behavior first; this builds trust for exploring concerns later.</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&amp; Rollnick, S. (2013). Motivational interviewing (3rd ed.). Guilford Press. | Miller, W.R., et al. (1995). MET Manual.</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OARS Practice Exercises</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Practice OARS skills through structured exercises</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EXERCISE 1: Convert Closed → Open Questions</a:t>
            </a:r>
          </a:p>
          <a:p>
            <a:pPr lvl="1">
              <a:spcAft>
                <a:spcPts val="600"/>
              </a:spcAft>
              <a:defRPr sz="1400">
                <a:solidFill>
                  <a:srgbClr val="2C3E50"/>
                </a:solidFill>
              </a:defRPr>
            </a:pPr>
            <a:r>
              <a:t>  Closed: 'Do you drink every day?' → Open: 'Tell me about a typical week with drinking'</a:t>
            </a:r>
          </a:p>
          <a:p>
            <a:pPr lvl="1">
              <a:spcAft>
                <a:spcPts val="600"/>
              </a:spcAft>
              <a:defRPr sz="1400">
                <a:solidFill>
                  <a:srgbClr val="2C3E50"/>
                </a:solidFill>
              </a:defRPr>
            </a:pPr>
            <a:r>
              <a:t>  Closed: 'Have you tried quitting?' → Open: 'What attempts have you made to change?'</a:t>
            </a:r>
          </a:p>
          <a:p>
            <a:pPr lvl="1">
              <a:spcAft>
                <a:spcPts val="600"/>
              </a:spcAft>
              <a:defRPr sz="1400">
                <a:solidFill>
                  <a:srgbClr val="2C3E50"/>
                </a:solidFill>
              </a:defRPr>
            </a:pPr>
            <a:r>
              <a:t>  Closed: 'Is your family affected?' → Open: 'How has your family noticed your drinking?'</a:t>
            </a:r>
          </a:p>
          <a:p>
            <a:pPr>
              <a:spcAft>
                <a:spcPts val="600"/>
              </a:spcAft>
              <a:defRPr sz="1600">
                <a:solidFill>
                  <a:srgbClr val="2C3E50"/>
                </a:solidFill>
              </a:defRPr>
            </a:pPr>
          </a:p>
          <a:p>
            <a:pPr>
              <a:spcAft>
                <a:spcPts val="600"/>
              </a:spcAft>
              <a:defRPr sz="1600">
                <a:solidFill>
                  <a:srgbClr val="2C3E50"/>
                </a:solidFill>
              </a:defRPr>
            </a:pPr>
            <a:r>
              <a:t>EXERCISE 2: Write Affirmations for:</a:t>
            </a:r>
          </a:p>
          <a:p>
            <a:pPr lvl="1">
              <a:spcAft>
                <a:spcPts val="600"/>
              </a:spcAft>
              <a:defRPr sz="1400">
                <a:solidFill>
                  <a:srgbClr val="2C3E50"/>
                </a:solidFill>
              </a:defRPr>
            </a:pPr>
            <a:r>
              <a:t>  • Client who attended session despite being busy</a:t>
            </a:r>
          </a:p>
          <a:p>
            <a:pPr lvl="1">
              <a:spcAft>
                <a:spcPts val="600"/>
              </a:spcAft>
              <a:defRPr sz="1400">
                <a:solidFill>
                  <a:srgbClr val="2C3E50"/>
                </a:solidFill>
              </a:defRPr>
            </a:pPr>
            <a:r>
              <a:t>  • Client who reduced from daily to 3 days/week</a:t>
            </a:r>
          </a:p>
          <a:p>
            <a:pPr lvl="1">
              <a:spcAft>
                <a:spcPts val="600"/>
              </a:spcAft>
              <a:defRPr sz="1400">
                <a:solidFill>
                  <a:srgbClr val="2C3E50"/>
                </a:solidFill>
              </a:defRPr>
            </a:pPr>
            <a:r>
              <a:t>  • Client who honestly shared about a relapse</a:t>
            </a:r>
          </a:p>
          <a:p>
            <a:pPr>
              <a:spcAft>
                <a:spcPts val="600"/>
              </a:spcAft>
              <a:defRPr sz="1600">
                <a:solidFill>
                  <a:srgbClr val="2C3E50"/>
                </a:solidFill>
              </a:defRPr>
            </a:pPr>
          </a:p>
          <a:p>
            <a:pPr>
              <a:spcAft>
                <a:spcPts val="600"/>
              </a:spcAft>
              <a:defRPr sz="1600">
                <a:solidFill>
                  <a:srgbClr val="2C3E50"/>
                </a:solidFill>
              </a:defRPr>
            </a:pPr>
            <a:r>
              <a:t>EXERCISE 3: Practice Reflections (at increasing depth):</a:t>
            </a:r>
          </a:p>
          <a:p>
            <a:pPr lvl="1">
              <a:spcAft>
                <a:spcPts val="600"/>
              </a:spcAft>
              <a:defRPr sz="1400">
                <a:solidFill>
                  <a:srgbClr val="2C3E50"/>
                </a:solidFill>
              </a:defRPr>
            </a:pPr>
            <a:r>
              <a:t>  Client: 'I just can't seem to stop once I start'</a:t>
            </a:r>
          </a:p>
          <a:p>
            <a:pPr lvl="1">
              <a:spcAft>
                <a:spcPts val="600"/>
              </a:spcAft>
              <a:defRPr sz="1400">
                <a:solidFill>
                  <a:srgbClr val="2C3E50"/>
                </a:solidFill>
              </a:defRPr>
            </a:pPr>
            <a:r>
              <a:t>  Simple: 'Once you start drinking, it's hard to stop'</a:t>
            </a:r>
          </a:p>
          <a:p>
            <a:pPr lvl="1">
              <a:spcAft>
                <a:spcPts val="600"/>
              </a:spcAft>
              <a:defRPr sz="1400">
                <a:solidFill>
                  <a:srgbClr val="2C3E50"/>
                </a:solidFill>
              </a:defRPr>
            </a:pPr>
            <a:r>
              <a:t>  Complex: 'There's a sense of being out of control that worries you'</a:t>
            </a:r>
          </a:p>
          <a:p>
            <a:pPr lvl="1">
              <a:spcAft>
                <a:spcPts val="600"/>
              </a:spcAft>
              <a:defRPr sz="1400">
                <a:solidFill>
                  <a:srgbClr val="2C3E50"/>
                </a:solidFill>
              </a:defRPr>
            </a:pPr>
            <a:r>
              <a:t>  Feeling: 'That scares you - like you've lost the ability to choose'</a:t>
            </a:r>
          </a:p>
          <a:p>
            <a:pPr>
              <a:spcAft>
                <a:spcPts val="600"/>
              </a:spcAft>
              <a:defRPr sz="1600">
                <a:solidFill>
                  <a:srgbClr val="2C3E50"/>
                </a:solidFill>
              </a:defRPr>
            </a:pPr>
          </a:p>
          <a:p>
            <a:pPr>
              <a:spcAft>
                <a:spcPts val="600"/>
              </a:spcAft>
              <a:defRPr sz="1600">
                <a:solidFill>
                  <a:srgbClr val="2C3E50"/>
                </a:solidFill>
              </a:defRPr>
            </a:pPr>
            <a:r>
              <a:t>EXERCISE 4: Summarize the session themes you've heard so far</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OARS proficiency requires deliberate practice; convert closed to open, deepen reflections, and summarize strategically.</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&amp; Rollnick, S. (2013). Motivational interviewing (3rd ed.). Guilford Press. | Miller, W.R., et al. (1995). MET Manual.</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Session 2: Values Clarification Exercise</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Conduct a values clarification exercise that develops discrepancy naturally</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VALUES CLARIFICATION - Conducted in Session 2:</a:t>
            </a:r>
          </a:p>
          <a:p>
            <a:pPr>
              <a:spcAft>
                <a:spcPts val="600"/>
              </a:spcAft>
              <a:defRPr sz="1600">
                <a:solidFill>
                  <a:srgbClr val="2C3E50"/>
                </a:solidFill>
              </a:defRPr>
            </a:pPr>
          </a:p>
          <a:p>
            <a:pPr>
              <a:spcAft>
                <a:spcPts val="600"/>
              </a:spcAft>
              <a:defRPr sz="1600">
                <a:solidFill>
                  <a:srgbClr val="2C3E50"/>
                </a:solidFill>
              </a:defRPr>
            </a:pPr>
            <a:r>
              <a:t>Step 1: 'What are the most important things in your life?' (Open exploration)</a:t>
            </a:r>
          </a:p>
          <a:p>
            <a:pPr>
              <a:spcAft>
                <a:spcPts val="600"/>
              </a:spcAft>
              <a:defRPr sz="1600">
                <a:solidFill>
                  <a:srgbClr val="2C3E50"/>
                </a:solidFill>
              </a:defRPr>
            </a:pPr>
            <a:r>
              <a:t>Step 2: Present values card sort (or list) - client selects top 5-10 values</a:t>
            </a:r>
          </a:p>
          <a:p>
            <a:pPr>
              <a:spcAft>
                <a:spcPts val="600"/>
              </a:spcAft>
              <a:defRPr sz="1600">
                <a:solidFill>
                  <a:srgbClr val="2C3E50"/>
                </a:solidFill>
              </a:defRPr>
            </a:pPr>
            <a:r>
              <a:t>Step 3: Rank in order of importance</a:t>
            </a:r>
          </a:p>
          <a:p>
            <a:pPr>
              <a:spcAft>
                <a:spcPts val="600"/>
              </a:spcAft>
              <a:defRPr sz="1600">
                <a:solidFill>
                  <a:srgbClr val="2C3E50"/>
                </a:solidFill>
              </a:defRPr>
            </a:pPr>
            <a:r>
              <a:t>Step 4: For each top value, explore: 'How is your drinking related to this value?'</a:t>
            </a:r>
          </a:p>
          <a:p>
            <a:pPr>
              <a:spcAft>
                <a:spcPts val="600"/>
              </a:spcAft>
              <a:defRPr sz="1600">
                <a:solidFill>
                  <a:srgbClr val="2C3E50"/>
                </a:solidFill>
              </a:defRPr>
            </a:pPr>
          </a:p>
          <a:p>
            <a:pPr>
              <a:spcAft>
                <a:spcPts val="600"/>
              </a:spcAft>
              <a:defRPr sz="1600">
                <a:solidFill>
                  <a:srgbClr val="2C3E50"/>
                </a:solidFill>
              </a:defRPr>
            </a:pPr>
            <a:r>
              <a:t>COMMON VALUES IDENTIFIED:</a:t>
            </a:r>
          </a:p>
          <a:p>
            <a:pPr lvl="1">
              <a:spcAft>
                <a:spcPts val="600"/>
              </a:spcAft>
              <a:defRPr sz="1400">
                <a:solidFill>
                  <a:srgbClr val="2C3E50"/>
                </a:solidFill>
              </a:defRPr>
            </a:pPr>
            <a:r>
              <a:t>  Family | Health | Career | Integrity | Freedom | Spirituality</a:t>
            </a:r>
          </a:p>
          <a:p>
            <a:pPr lvl="1">
              <a:spcAft>
                <a:spcPts val="600"/>
              </a:spcAft>
              <a:defRPr sz="1400">
                <a:solidFill>
                  <a:srgbClr val="2C3E50"/>
                </a:solidFill>
              </a:defRPr>
            </a:pPr>
            <a:r>
              <a:t>  Financial security | Self-respect | Relationships | Achievement</a:t>
            </a:r>
          </a:p>
          <a:p>
            <a:pPr>
              <a:spcAft>
                <a:spcPts val="600"/>
              </a:spcAft>
              <a:defRPr sz="1600">
                <a:solidFill>
                  <a:srgbClr val="2C3E50"/>
                </a:solidFill>
              </a:defRPr>
            </a:pPr>
          </a:p>
          <a:p>
            <a:pPr>
              <a:spcAft>
                <a:spcPts val="600"/>
              </a:spcAft>
              <a:defRPr sz="1600">
                <a:solidFill>
                  <a:srgbClr val="2C3E50"/>
                </a:solidFill>
              </a:defRPr>
            </a:pPr>
            <a:r>
              <a:t>DEVELOPING DISCREPANCY FROM VALUES:</a:t>
            </a:r>
          </a:p>
          <a:p>
            <a:pPr lvl="1">
              <a:spcAft>
                <a:spcPts val="600"/>
              </a:spcAft>
              <a:defRPr sz="1400">
                <a:solidFill>
                  <a:srgbClr val="2C3E50"/>
                </a:solidFill>
              </a:defRPr>
            </a:pPr>
            <a:r>
              <a:t>  T: 'You said being a good father is your #1 value. Tell me about that.'</a:t>
            </a:r>
          </a:p>
          <a:p>
            <a:pPr lvl="1">
              <a:spcAft>
                <a:spcPts val="600"/>
              </a:spcAft>
              <a:defRPr sz="1400">
                <a:solidFill>
                  <a:srgbClr val="2C3E50"/>
                </a:solidFill>
              </a:defRPr>
            </a:pPr>
            <a:r>
              <a:t>  C: 'My kids mean everything to me'</a:t>
            </a:r>
          </a:p>
          <a:p>
            <a:pPr lvl="1">
              <a:spcAft>
                <a:spcPts val="600"/>
              </a:spcAft>
              <a:defRPr sz="1400">
                <a:solidFill>
                  <a:srgbClr val="2C3E50"/>
                </a:solidFill>
              </a:defRPr>
            </a:pPr>
            <a:r>
              <a:t>  T: 'And where does drinking fit with being the father you want to be?'</a:t>
            </a:r>
          </a:p>
          <a:p>
            <a:pPr lvl="1">
              <a:spcAft>
                <a:spcPts val="600"/>
              </a:spcAft>
              <a:defRPr sz="1400">
                <a:solidFill>
                  <a:srgbClr val="2C3E50"/>
                </a:solidFill>
              </a:defRPr>
            </a:pPr>
            <a:r>
              <a:t>  C: '... Not very well. Last week I missed my daughter's recital because I was hungover.'</a:t>
            </a:r>
          </a:p>
          <a:p>
            <a:pPr lvl="1">
              <a:spcAft>
                <a:spcPts val="600"/>
              </a:spcAft>
              <a:defRPr sz="1400">
                <a:solidFill>
                  <a:srgbClr val="2C3E50"/>
                </a:solidFill>
              </a:defRPr>
            </a:pPr>
            <a:r>
              <a:t>  T: 'That really doesn't sit right with you - there's a gap between who you want</a:t>
            </a:r>
          </a:p>
          <a:p>
            <a:pPr lvl="1">
              <a:spcAft>
                <a:spcPts val="600"/>
              </a:spcAft>
              <a:defRPr sz="1400">
                <a:solidFill>
                  <a:srgbClr val="2C3E50"/>
                </a:solidFill>
              </a:defRPr>
            </a:pPr>
            <a:r>
              <a:t>     to be and how alcohol has been affecting things.'</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Values clarification creates powerful internal discrepancy - let clients discover their own value-behavior gaps.</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 Miller, W.R., &amp; Rollnick, S. (2013). Motivational interviewing (3rd ed.). Guilford Press.</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Confidence Ruler and Importance Ruler: Detailed Application</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Master the ruler technique including strategic follow-up questions</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IMPORTANCE RULER PROTOCOL:</a:t>
            </a:r>
          </a:p>
          <a:p>
            <a:pPr lvl="1">
              <a:spcAft>
                <a:spcPts val="600"/>
              </a:spcAft>
              <a:defRPr sz="1400">
                <a:solidFill>
                  <a:srgbClr val="2C3E50"/>
                </a:solidFill>
              </a:defRPr>
            </a:pPr>
            <a:r>
              <a:t>  T: 'On a scale of 0-10, how important is it for you to change your drinking?'</a:t>
            </a:r>
          </a:p>
          <a:p>
            <a:pPr lvl="1">
              <a:spcAft>
                <a:spcPts val="600"/>
              </a:spcAft>
              <a:defRPr sz="1400">
                <a:solidFill>
                  <a:srgbClr val="2C3E50"/>
                </a:solidFill>
              </a:defRPr>
            </a:pPr>
            <a:r>
              <a:t>  C: '6'</a:t>
            </a:r>
          </a:p>
          <a:p>
            <a:pPr lvl="1">
              <a:spcAft>
                <a:spcPts val="600"/>
              </a:spcAft>
              <a:defRPr sz="1400">
                <a:solidFill>
                  <a:srgbClr val="2C3E50"/>
                </a:solidFill>
              </a:defRPr>
            </a:pPr>
            <a:r>
              <a:t>  T: 'A 6. And why are you at a 6 and not a 2?' [Evokes change talk!]</a:t>
            </a:r>
          </a:p>
          <a:p>
            <a:pPr lvl="1">
              <a:spcAft>
                <a:spcPts val="600"/>
              </a:spcAft>
              <a:defRPr sz="1400">
                <a:solidFill>
                  <a:srgbClr val="2C3E50"/>
                </a:solidFill>
              </a:defRPr>
            </a:pPr>
            <a:r>
              <a:t>  C: 'Because my health is suffering and my wife is threatening to leave'</a:t>
            </a:r>
          </a:p>
          <a:p>
            <a:pPr lvl="1">
              <a:spcAft>
                <a:spcPts val="600"/>
              </a:spcAft>
              <a:defRPr sz="1400">
                <a:solidFill>
                  <a:srgbClr val="2C3E50"/>
                </a:solidFill>
              </a:defRPr>
            </a:pPr>
            <a:r>
              <a:t>  T: 'So health and your marriage are pushing you toward thinking change is important'</a:t>
            </a:r>
          </a:p>
          <a:p>
            <a:pPr lvl="1">
              <a:spcAft>
                <a:spcPts val="600"/>
              </a:spcAft>
              <a:defRPr sz="1400">
                <a:solidFill>
                  <a:srgbClr val="2C3E50"/>
                </a:solidFill>
              </a:defRPr>
            </a:pPr>
            <a:r>
              <a:t>  T: 'What would it take to move from a 6 to an 8?'</a:t>
            </a:r>
          </a:p>
          <a:p>
            <a:pPr lvl="1">
              <a:spcAft>
                <a:spcPts val="600"/>
              </a:spcAft>
              <a:defRPr sz="1400">
                <a:solidFill>
                  <a:srgbClr val="2C3E50"/>
                </a:solidFill>
              </a:defRPr>
            </a:pPr>
            <a:r>
              <a:t>  C: 'If the doctor said my liver is getting worse, probably'</a:t>
            </a:r>
          </a:p>
          <a:p>
            <a:pPr>
              <a:spcAft>
                <a:spcPts val="600"/>
              </a:spcAft>
              <a:defRPr sz="1600">
                <a:solidFill>
                  <a:srgbClr val="2C3E50"/>
                </a:solidFill>
              </a:defRPr>
            </a:pPr>
          </a:p>
          <a:p>
            <a:pPr>
              <a:spcAft>
                <a:spcPts val="600"/>
              </a:spcAft>
              <a:defRPr sz="1600">
                <a:solidFill>
                  <a:srgbClr val="2C3E50"/>
                </a:solidFill>
              </a:defRPr>
            </a:pPr>
            <a:r>
              <a:t>CONFIDENCE RULER PROTOCOL:</a:t>
            </a:r>
          </a:p>
          <a:p>
            <a:pPr lvl="1">
              <a:spcAft>
                <a:spcPts val="600"/>
              </a:spcAft>
              <a:defRPr sz="1400">
                <a:solidFill>
                  <a:srgbClr val="2C3E50"/>
                </a:solidFill>
              </a:defRPr>
            </a:pPr>
            <a:r>
              <a:t>  T: 'And how confident are you that you COULD change? (0-10)'</a:t>
            </a:r>
          </a:p>
          <a:p>
            <a:pPr lvl="1">
              <a:spcAft>
                <a:spcPts val="600"/>
              </a:spcAft>
              <a:defRPr sz="1400">
                <a:solidFill>
                  <a:srgbClr val="2C3E50"/>
                </a:solidFill>
              </a:defRPr>
            </a:pPr>
            <a:r>
              <a:t>  C: '3'</a:t>
            </a:r>
          </a:p>
          <a:p>
            <a:pPr lvl="1">
              <a:spcAft>
                <a:spcPts val="600"/>
              </a:spcAft>
              <a:defRPr sz="1400">
                <a:solidFill>
                  <a:srgbClr val="2C3E50"/>
                </a:solidFill>
              </a:defRPr>
            </a:pPr>
            <a:r>
              <a:t>  T: 'A 3. What gives you that much confidence - why not a zero?'</a:t>
            </a:r>
          </a:p>
          <a:p>
            <a:pPr lvl="1">
              <a:spcAft>
                <a:spcPts val="600"/>
              </a:spcAft>
              <a:defRPr sz="1400">
                <a:solidFill>
                  <a:srgbClr val="2C3E50"/>
                </a:solidFill>
              </a:defRPr>
            </a:pPr>
            <a:r>
              <a:t>  C: 'Because I managed to quit for 3 months last year before my friend's party'</a:t>
            </a:r>
          </a:p>
          <a:p>
            <a:pPr lvl="1">
              <a:spcAft>
                <a:spcPts val="600"/>
              </a:spcAft>
              <a:defRPr sz="1400">
                <a:solidFill>
                  <a:srgbClr val="2C3E50"/>
                </a:solidFill>
              </a:defRPr>
            </a:pPr>
            <a:r>
              <a:t>  T: 'So you HAVE done it before. You know you're capable of this.'</a:t>
            </a:r>
          </a:p>
          <a:p>
            <a:pPr>
              <a:spcAft>
                <a:spcPts val="600"/>
              </a:spcAft>
              <a:defRPr sz="1600">
                <a:solidFill>
                  <a:srgbClr val="2C3E50"/>
                </a:solidFill>
              </a:defRPr>
            </a:pPr>
          </a:p>
          <a:p>
            <a:pPr>
              <a:spcAft>
                <a:spcPts val="600"/>
              </a:spcAft>
              <a:defRPr sz="1600">
                <a:solidFill>
                  <a:srgbClr val="2C3E50"/>
                </a:solidFill>
              </a:defRPr>
            </a:pPr>
            <a:r>
              <a:t>CLINICAL DECISION:</a:t>
            </a:r>
          </a:p>
          <a:p>
            <a:pPr lvl="1">
              <a:spcAft>
                <a:spcPts val="600"/>
              </a:spcAft>
              <a:defRPr sz="1400">
                <a:solidFill>
                  <a:srgbClr val="2C3E50"/>
                </a:solidFill>
              </a:defRPr>
            </a:pPr>
            <a:r>
              <a:t>  Importance &gt; Confidence → Focus on building self-efficacy (HOW to change)</a:t>
            </a:r>
          </a:p>
          <a:p>
            <a:pPr lvl="1">
              <a:spcAft>
                <a:spcPts val="600"/>
              </a:spcAft>
              <a:defRPr sz="1400">
                <a:solidFill>
                  <a:srgbClr val="2C3E50"/>
                </a:solidFill>
              </a:defRPr>
            </a:pPr>
            <a:r>
              <a:t>  Confidence &gt; Importance → Focus on developing discrepancy (WHY to change)</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Always ask 'Why not lower?' (evokes change talk); Never ask 'Why not higher?' (evokes sustain talk).</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&amp; Rollnick, S. (2013). Motivational interviewing (3rd ed.). Guilford Press. | Rollnick, S., et al. (1999). Health Behavior Change. Churchill Livingstone.</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MET in the NIMHANS Stepped Care Model</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Position MET within the NIMHANS stepped care model for substance use</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NIMHANS STEPPED CARE APPROACH (Murthy, 2008):</a:t>
            </a:r>
          </a:p>
          <a:p>
            <a:pPr>
              <a:spcAft>
                <a:spcPts val="600"/>
              </a:spcAft>
              <a:defRPr sz="1600">
                <a:solidFill>
                  <a:srgbClr val="2C3E50"/>
                </a:solidFill>
              </a:defRPr>
            </a:pPr>
          </a:p>
          <a:p>
            <a:pPr>
              <a:spcAft>
                <a:spcPts val="600"/>
              </a:spcAft>
              <a:defRPr sz="1600">
                <a:solidFill>
                  <a:srgbClr val="2C3E50"/>
                </a:solidFill>
              </a:defRPr>
            </a:pPr>
            <a:r>
              <a:t>STEP 1: IDENTIFICATION (Screening by primary care physician)</a:t>
            </a:r>
          </a:p>
          <a:p>
            <a:pPr lvl="1">
              <a:spcAft>
                <a:spcPts val="600"/>
              </a:spcAft>
              <a:defRPr sz="1400">
                <a:solidFill>
                  <a:srgbClr val="2C3E50"/>
                </a:solidFill>
              </a:defRPr>
            </a:pPr>
            <a:r>
              <a:t>  • Ask about substance use as routine (like diabetes/hypertension)</a:t>
            </a:r>
          </a:p>
          <a:p>
            <a:pPr lvl="1">
              <a:spcAft>
                <a:spcPts val="600"/>
              </a:spcAft>
              <a:defRPr sz="1400">
                <a:solidFill>
                  <a:srgbClr val="2C3E50"/>
                </a:solidFill>
              </a:defRPr>
            </a:pPr>
            <a:r>
              <a:t>  • 5-A Strategy: Ask, Assess, Advise, Assist, Arrange</a:t>
            </a:r>
          </a:p>
          <a:p>
            <a:pPr>
              <a:spcAft>
                <a:spcPts val="600"/>
              </a:spcAft>
              <a:defRPr sz="1600">
                <a:solidFill>
                  <a:srgbClr val="2C3E50"/>
                </a:solidFill>
              </a:defRPr>
            </a:pPr>
          </a:p>
          <a:p>
            <a:pPr>
              <a:spcAft>
                <a:spcPts val="600"/>
              </a:spcAft>
              <a:defRPr sz="1600">
                <a:solidFill>
                  <a:srgbClr val="2C3E50"/>
                </a:solidFill>
              </a:defRPr>
            </a:pPr>
            <a:r>
              <a:t>STEP 2: BRIEF INTERVENTION (FRAMES-based)</a:t>
            </a:r>
          </a:p>
          <a:p>
            <a:pPr lvl="1">
              <a:spcAft>
                <a:spcPts val="600"/>
              </a:spcAft>
              <a:defRPr sz="1400">
                <a:solidFill>
                  <a:srgbClr val="2C3E50"/>
                </a:solidFill>
              </a:defRPr>
            </a:pPr>
            <a:r>
              <a:t>  • Single session: Feedback + Empathy + Menu of options</a:t>
            </a:r>
          </a:p>
          <a:p>
            <a:pPr lvl="1">
              <a:spcAft>
                <a:spcPts val="600"/>
              </a:spcAft>
              <a:defRPr sz="1400">
                <a:solidFill>
                  <a:srgbClr val="2C3E50"/>
                </a:solidFill>
              </a:defRPr>
            </a:pPr>
            <a:r>
              <a:t>  • Suitable for hazardous/harmful use (not yet dependent)</a:t>
            </a:r>
          </a:p>
          <a:p>
            <a:pPr>
              <a:spcAft>
                <a:spcPts val="600"/>
              </a:spcAft>
              <a:defRPr sz="1600">
                <a:solidFill>
                  <a:srgbClr val="2C3E50"/>
                </a:solidFill>
              </a:defRPr>
            </a:pPr>
          </a:p>
          <a:p>
            <a:pPr>
              <a:spcAft>
                <a:spcPts val="600"/>
              </a:spcAft>
              <a:defRPr sz="1600">
                <a:solidFill>
                  <a:srgbClr val="2C3E50"/>
                </a:solidFill>
              </a:defRPr>
            </a:pPr>
            <a:r>
              <a:t>STEP 3: MET/MI (2-4 sessions)</a:t>
            </a:r>
          </a:p>
          <a:p>
            <a:pPr lvl="1">
              <a:spcAft>
                <a:spcPts val="600"/>
              </a:spcAft>
              <a:defRPr sz="1400">
                <a:solidFill>
                  <a:srgbClr val="2C3E50"/>
                </a:solidFill>
              </a:defRPr>
            </a:pPr>
            <a:r>
              <a:t>  • For moderate dependence or ambivalent clients</a:t>
            </a:r>
          </a:p>
          <a:p>
            <a:pPr lvl="1">
              <a:spcAft>
                <a:spcPts val="600"/>
              </a:spcAft>
              <a:defRPr sz="1400">
                <a:solidFill>
                  <a:srgbClr val="2C3E50"/>
                </a:solidFill>
              </a:defRPr>
            </a:pPr>
            <a:r>
              <a:t>  • Structured feedback + motivational strategies</a:t>
            </a:r>
          </a:p>
          <a:p>
            <a:pPr>
              <a:spcAft>
                <a:spcPts val="600"/>
              </a:spcAft>
              <a:defRPr sz="1600">
                <a:solidFill>
                  <a:srgbClr val="2C3E50"/>
                </a:solidFill>
              </a:defRPr>
            </a:pPr>
          </a:p>
          <a:p>
            <a:pPr>
              <a:spcAft>
                <a:spcPts val="600"/>
              </a:spcAft>
              <a:defRPr sz="1600">
                <a:solidFill>
                  <a:srgbClr val="2C3E50"/>
                </a:solidFill>
              </a:defRPr>
            </a:pPr>
            <a:r>
              <a:t>STEP 4: SPECIALIZED TREATMENT</a:t>
            </a:r>
          </a:p>
          <a:p>
            <a:pPr lvl="1">
              <a:spcAft>
                <a:spcPts val="600"/>
              </a:spcAft>
              <a:defRPr sz="1400">
                <a:solidFill>
                  <a:srgbClr val="2C3E50"/>
                </a:solidFill>
              </a:defRPr>
            </a:pPr>
            <a:r>
              <a:t>  • For severe dependence; complex comorbidity</a:t>
            </a:r>
          </a:p>
          <a:p>
            <a:pPr lvl="1">
              <a:spcAft>
                <a:spcPts val="600"/>
              </a:spcAft>
              <a:defRPr sz="1400">
                <a:solidFill>
                  <a:srgbClr val="2C3E50"/>
                </a:solidFill>
              </a:defRPr>
            </a:pPr>
            <a:r>
              <a:t>  • Refer to de-addiction centers, psychiatrists</a:t>
            </a:r>
          </a:p>
          <a:p>
            <a:pPr>
              <a:spcAft>
                <a:spcPts val="600"/>
              </a:spcAft>
              <a:defRPr sz="1600">
                <a:solidFill>
                  <a:srgbClr val="2C3E50"/>
                </a:solidFill>
              </a:defRPr>
            </a:pPr>
          </a:p>
          <a:p>
            <a:pPr>
              <a:spcAft>
                <a:spcPts val="600"/>
              </a:spcAft>
              <a:defRPr sz="1600">
                <a:solidFill>
                  <a:srgbClr val="2C3E50"/>
                </a:solidFill>
              </a:defRPr>
            </a:pPr>
            <a:r>
              <a:t>KEY POINT: MET bridges brief intervention and intensive treatment</a:t>
            </a:r>
          </a:p>
          <a:p>
            <a:pPr>
              <a:spcAft>
                <a:spcPts val="600"/>
              </a:spcAft>
              <a:defRPr sz="1600">
                <a:solidFill>
                  <a:srgbClr val="2C3E50"/>
                </a:solidFill>
              </a:defRPr>
            </a:pPr>
            <a:r>
              <a:t>NIMHANS: 'Not practical to limit care only to specialized centers'</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MET occupies Step 3 in NIMHANS stepped care - bridging brief intervention and intensive treatment.</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Murthy, P. (2008). NIMHANS Manual, pp. 1-3. | WHO. (2010). Brief Intervention for Substance Use. | Babor, T.F., &amp; Higgins-Biddle, J.C. (2001). WHO Manual.</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DARES: The NIMHANS Motivational Interviewing Principles</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Apply the DARES framework from the NIMHANS manual</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NIMHANS Manual uses the DARES acronym for MI principles:</a:t>
            </a:r>
          </a:p>
          <a:p>
            <a:pPr>
              <a:spcAft>
                <a:spcPts val="600"/>
              </a:spcAft>
              <a:defRPr sz="1600">
                <a:solidFill>
                  <a:srgbClr val="2C3E50"/>
                </a:solidFill>
              </a:defRPr>
            </a:pPr>
          </a:p>
          <a:p>
            <a:pPr>
              <a:spcAft>
                <a:spcPts val="600"/>
              </a:spcAft>
              <a:defRPr sz="1600">
                <a:solidFill>
                  <a:srgbClr val="2C3E50"/>
                </a:solidFill>
              </a:defRPr>
            </a:pPr>
            <a:r>
              <a:t>D - Develop Discrepancy</a:t>
            </a:r>
          </a:p>
          <a:p>
            <a:pPr lvl="1">
              <a:spcAft>
                <a:spcPts val="600"/>
              </a:spcAft>
              <a:defRPr sz="1400">
                <a:solidFill>
                  <a:srgbClr val="2C3E50"/>
                </a:solidFill>
              </a:defRPr>
            </a:pPr>
            <a:r>
              <a:t>  Help client see gap between current behavior and valued goals</a:t>
            </a:r>
          </a:p>
          <a:p>
            <a:pPr lvl="1">
              <a:spcAft>
                <a:spcPts val="600"/>
              </a:spcAft>
              <a:defRPr sz="1400">
                <a:solidFill>
                  <a:srgbClr val="2C3E50"/>
                </a:solidFill>
              </a:defRPr>
            </a:pPr>
            <a:r>
              <a:t>  'Where do you want to be? Where are you now?'</a:t>
            </a:r>
          </a:p>
          <a:p>
            <a:pPr>
              <a:spcAft>
                <a:spcPts val="600"/>
              </a:spcAft>
              <a:defRPr sz="1600">
                <a:solidFill>
                  <a:srgbClr val="2C3E50"/>
                </a:solidFill>
              </a:defRPr>
            </a:pPr>
          </a:p>
          <a:p>
            <a:pPr>
              <a:spcAft>
                <a:spcPts val="600"/>
              </a:spcAft>
              <a:defRPr sz="1600">
                <a:solidFill>
                  <a:srgbClr val="2C3E50"/>
                </a:solidFill>
              </a:defRPr>
            </a:pPr>
            <a:r>
              <a:t>A - Avoid Argumentation</a:t>
            </a:r>
          </a:p>
          <a:p>
            <a:pPr lvl="1">
              <a:spcAft>
                <a:spcPts val="600"/>
              </a:spcAft>
              <a:defRPr sz="1400">
                <a:solidFill>
                  <a:srgbClr val="2C3E50"/>
                </a:solidFill>
              </a:defRPr>
            </a:pPr>
            <a:r>
              <a:t>  Never argue or confront; this increases resistance</a:t>
            </a:r>
          </a:p>
          <a:p>
            <a:pPr lvl="1">
              <a:spcAft>
                <a:spcPts val="600"/>
              </a:spcAft>
              <a:defRPr sz="1400">
                <a:solidFill>
                  <a:srgbClr val="2C3E50"/>
                </a:solidFill>
              </a:defRPr>
            </a:pPr>
            <a:r>
              <a:t>  Arguments about labels are especially counterproductive</a:t>
            </a:r>
          </a:p>
          <a:p>
            <a:pPr>
              <a:spcAft>
                <a:spcPts val="600"/>
              </a:spcAft>
              <a:defRPr sz="1600">
                <a:solidFill>
                  <a:srgbClr val="2C3E50"/>
                </a:solidFill>
              </a:defRPr>
            </a:pPr>
          </a:p>
          <a:p>
            <a:pPr>
              <a:spcAft>
                <a:spcPts val="600"/>
              </a:spcAft>
              <a:defRPr sz="1600">
                <a:solidFill>
                  <a:srgbClr val="2C3E50"/>
                </a:solidFill>
              </a:defRPr>
            </a:pPr>
            <a:r>
              <a:t>R - Roll with Resistance</a:t>
            </a:r>
          </a:p>
          <a:p>
            <a:pPr lvl="1">
              <a:spcAft>
                <a:spcPts val="600"/>
              </a:spcAft>
              <a:defRPr sz="1400">
                <a:solidFill>
                  <a:srgbClr val="2C3E50"/>
                </a:solidFill>
              </a:defRPr>
            </a:pPr>
            <a:r>
              <a:t>  Use client's momentum; redirect rather than oppose</a:t>
            </a:r>
          </a:p>
          <a:p>
            <a:pPr lvl="1">
              <a:spcAft>
                <a:spcPts val="600"/>
              </a:spcAft>
              <a:defRPr sz="1400">
                <a:solidFill>
                  <a:srgbClr val="2C3E50"/>
                </a:solidFill>
              </a:defRPr>
            </a:pPr>
            <a:r>
              <a:t>  'You don't feel ready right now, and that's okay'</a:t>
            </a:r>
          </a:p>
          <a:p>
            <a:pPr>
              <a:spcAft>
                <a:spcPts val="600"/>
              </a:spcAft>
              <a:defRPr sz="1600">
                <a:solidFill>
                  <a:srgbClr val="2C3E50"/>
                </a:solidFill>
              </a:defRPr>
            </a:pPr>
          </a:p>
          <a:p>
            <a:pPr>
              <a:spcAft>
                <a:spcPts val="600"/>
              </a:spcAft>
              <a:defRPr sz="1600">
                <a:solidFill>
                  <a:srgbClr val="2C3E50"/>
                </a:solidFill>
              </a:defRPr>
            </a:pPr>
            <a:r>
              <a:t>E - Express Empathy</a:t>
            </a:r>
          </a:p>
          <a:p>
            <a:pPr lvl="1">
              <a:spcAft>
                <a:spcPts val="600"/>
              </a:spcAft>
              <a:defRPr sz="1400">
                <a:solidFill>
                  <a:srgbClr val="2C3E50"/>
                </a:solidFill>
              </a:defRPr>
            </a:pPr>
            <a:r>
              <a:t>  Warm, reflective listening; genuine understanding</a:t>
            </a:r>
          </a:p>
          <a:p>
            <a:pPr lvl="1">
              <a:spcAft>
                <a:spcPts val="600"/>
              </a:spcAft>
              <a:defRPr sz="1400">
                <a:solidFill>
                  <a:srgbClr val="2C3E50"/>
                </a:solidFill>
              </a:defRPr>
            </a:pPr>
            <a:r>
              <a:t>  Acceptance of ambivalence as normal</a:t>
            </a:r>
          </a:p>
          <a:p>
            <a:pPr>
              <a:spcAft>
                <a:spcPts val="600"/>
              </a:spcAft>
              <a:defRPr sz="1600">
                <a:solidFill>
                  <a:srgbClr val="2C3E50"/>
                </a:solidFill>
              </a:defRPr>
            </a:pPr>
          </a:p>
          <a:p>
            <a:pPr>
              <a:spcAft>
                <a:spcPts val="600"/>
              </a:spcAft>
              <a:defRPr sz="1600">
                <a:solidFill>
                  <a:srgbClr val="2C3E50"/>
                </a:solidFill>
              </a:defRPr>
            </a:pPr>
            <a:r>
              <a:t>S - Support Self-Efficacy</a:t>
            </a:r>
          </a:p>
          <a:p>
            <a:pPr lvl="1">
              <a:spcAft>
                <a:spcPts val="600"/>
              </a:spcAft>
              <a:defRPr sz="1400">
                <a:solidFill>
                  <a:srgbClr val="2C3E50"/>
                </a:solidFill>
              </a:defRPr>
            </a:pPr>
            <a:r>
              <a:t>  Boost confidence; highlight strengths and past successes</a:t>
            </a:r>
          </a:p>
          <a:p>
            <a:pPr lvl="1">
              <a:spcAft>
                <a:spcPts val="600"/>
              </a:spcAft>
              <a:defRPr sz="1400">
                <a:solidFill>
                  <a:srgbClr val="2C3E50"/>
                </a:solidFill>
              </a:defRPr>
            </a:pPr>
            <a:r>
              <a:t>  'You've shown you CAN make changes in your life'</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DARES (Develop discrepancy, Avoid argumentation, Roll with resistance, Express empathy, Support self-efficacy).</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Murthy, P. (2008). NIMHANS Manual, p. 21. | Miller, W.R., &amp; Rollnick, S. (1991). Motivational interviewing. Guilford Press.</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Eliciting Change Talk: The NIMHANS Approach</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Follow the NIMHANS four-step process for eliciting change talk</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NIMHANS MANUAL - Eliciting Change Talk involves:</a:t>
            </a:r>
          </a:p>
          <a:p>
            <a:pPr>
              <a:spcAft>
                <a:spcPts val="600"/>
              </a:spcAft>
              <a:defRPr sz="1600">
                <a:solidFill>
                  <a:srgbClr val="2C3E50"/>
                </a:solidFill>
              </a:defRPr>
            </a:pPr>
          </a:p>
          <a:p>
            <a:pPr>
              <a:spcAft>
                <a:spcPts val="600"/>
              </a:spcAft>
              <a:defRPr sz="1600">
                <a:solidFill>
                  <a:srgbClr val="2C3E50"/>
                </a:solidFill>
              </a:defRPr>
            </a:pPr>
            <a:r>
              <a:t>1. Recognizing DISADVANTAGES of staying the same:</a:t>
            </a:r>
          </a:p>
          <a:p>
            <a:pPr lvl="1">
              <a:spcAft>
                <a:spcPts val="600"/>
              </a:spcAft>
              <a:defRPr sz="1400">
                <a:solidFill>
                  <a:srgbClr val="2C3E50"/>
                </a:solidFill>
              </a:defRPr>
            </a:pPr>
            <a:r>
              <a:t>  'What worries you about your current drinking pattern?'</a:t>
            </a:r>
          </a:p>
          <a:p>
            <a:pPr lvl="1">
              <a:spcAft>
                <a:spcPts val="600"/>
              </a:spcAft>
              <a:defRPr sz="1400">
                <a:solidFill>
                  <a:srgbClr val="2C3E50"/>
                </a:solidFill>
              </a:defRPr>
            </a:pPr>
            <a:r>
              <a:t>  'What might happen if things continue as they are?'</a:t>
            </a:r>
          </a:p>
          <a:p>
            <a:pPr>
              <a:spcAft>
                <a:spcPts val="600"/>
              </a:spcAft>
              <a:defRPr sz="1600">
                <a:solidFill>
                  <a:srgbClr val="2C3E50"/>
                </a:solidFill>
              </a:defRPr>
            </a:pPr>
          </a:p>
          <a:p>
            <a:pPr>
              <a:spcAft>
                <a:spcPts val="600"/>
              </a:spcAft>
              <a:defRPr sz="1600">
                <a:solidFill>
                  <a:srgbClr val="2C3E50"/>
                </a:solidFill>
              </a:defRPr>
            </a:pPr>
            <a:r>
              <a:t>2. Recognizing ADVANTAGES of change:</a:t>
            </a:r>
          </a:p>
          <a:p>
            <a:pPr lvl="1">
              <a:spcAft>
                <a:spcPts val="600"/>
              </a:spcAft>
              <a:defRPr sz="1400">
                <a:solidFill>
                  <a:srgbClr val="2C3E50"/>
                </a:solidFill>
              </a:defRPr>
            </a:pPr>
            <a:r>
              <a:t>  'If you did make this change, what would be different?'</a:t>
            </a:r>
          </a:p>
          <a:p>
            <a:pPr lvl="1">
              <a:spcAft>
                <a:spcPts val="600"/>
              </a:spcAft>
              <a:defRPr sz="1400">
                <a:solidFill>
                  <a:srgbClr val="2C3E50"/>
                </a:solidFill>
              </a:defRPr>
            </a:pPr>
            <a:r>
              <a:t>  'What would be the best things about cutting down?'</a:t>
            </a:r>
          </a:p>
          <a:p>
            <a:pPr>
              <a:spcAft>
                <a:spcPts val="600"/>
              </a:spcAft>
              <a:defRPr sz="1600">
                <a:solidFill>
                  <a:srgbClr val="2C3E50"/>
                </a:solidFill>
              </a:defRPr>
            </a:pPr>
          </a:p>
          <a:p>
            <a:pPr>
              <a:spcAft>
                <a:spcPts val="600"/>
              </a:spcAft>
              <a:defRPr sz="1600">
                <a:solidFill>
                  <a:srgbClr val="2C3E50"/>
                </a:solidFill>
              </a:defRPr>
            </a:pPr>
            <a:r>
              <a:t>3. Expressing OPTIMISM about change:</a:t>
            </a:r>
          </a:p>
          <a:p>
            <a:pPr lvl="1">
              <a:spcAft>
                <a:spcPts val="600"/>
              </a:spcAft>
              <a:defRPr sz="1400">
                <a:solidFill>
                  <a:srgbClr val="2C3E50"/>
                </a:solidFill>
              </a:defRPr>
            </a:pPr>
            <a:r>
              <a:t>  'What gives you hope that you could change?'</a:t>
            </a:r>
          </a:p>
          <a:p>
            <a:pPr lvl="1">
              <a:spcAft>
                <a:spcPts val="600"/>
              </a:spcAft>
              <a:defRPr sz="1400">
                <a:solidFill>
                  <a:srgbClr val="2C3E50"/>
                </a:solidFill>
              </a:defRPr>
            </a:pPr>
            <a:r>
              <a:t>  'What strengths do you have that might help?'</a:t>
            </a:r>
          </a:p>
          <a:p>
            <a:pPr>
              <a:spcAft>
                <a:spcPts val="600"/>
              </a:spcAft>
              <a:defRPr sz="1600">
                <a:solidFill>
                  <a:srgbClr val="2C3E50"/>
                </a:solidFill>
              </a:defRPr>
            </a:pPr>
          </a:p>
          <a:p>
            <a:pPr>
              <a:spcAft>
                <a:spcPts val="600"/>
              </a:spcAft>
              <a:defRPr sz="1600">
                <a:solidFill>
                  <a:srgbClr val="2C3E50"/>
                </a:solidFill>
              </a:defRPr>
            </a:pPr>
            <a:r>
              <a:t>4. Expressing INTENT to change:</a:t>
            </a:r>
          </a:p>
          <a:p>
            <a:pPr lvl="1">
              <a:spcAft>
                <a:spcPts val="600"/>
              </a:spcAft>
              <a:defRPr sz="1400">
                <a:solidFill>
                  <a:srgbClr val="2C3E50"/>
                </a:solidFill>
              </a:defRPr>
            </a:pPr>
            <a:r>
              <a:t>  'What do you think you might do?'</a:t>
            </a:r>
          </a:p>
          <a:p>
            <a:pPr lvl="1">
              <a:spcAft>
                <a:spcPts val="600"/>
              </a:spcAft>
              <a:defRPr sz="1400">
                <a:solidFill>
                  <a:srgbClr val="2C3E50"/>
                </a:solidFill>
              </a:defRPr>
            </a:pPr>
            <a:r>
              <a:t>  'What's your next step?'</a:t>
            </a:r>
          </a:p>
          <a:p>
            <a:pPr>
              <a:spcAft>
                <a:spcPts val="600"/>
              </a:spcAft>
              <a:defRPr sz="1600">
                <a:solidFill>
                  <a:srgbClr val="2C3E50"/>
                </a:solidFill>
              </a:defRPr>
            </a:pPr>
          </a:p>
          <a:p>
            <a:pPr>
              <a:spcAft>
                <a:spcPts val="600"/>
              </a:spcAft>
              <a:defRPr sz="1600">
                <a:solidFill>
                  <a:srgbClr val="2C3E50"/>
                </a:solidFill>
              </a:defRPr>
            </a:pPr>
            <a:r>
              <a:t>NIMHANS: 'Clients are encouraged for clarifications and elaborations'</a:t>
            </a:r>
          </a:p>
          <a:p>
            <a:pPr>
              <a:spcAft>
                <a:spcPts val="600"/>
              </a:spcAft>
              <a:defRPr sz="1600">
                <a:solidFill>
                  <a:srgbClr val="2C3E50"/>
                </a:solidFill>
              </a:defRPr>
            </a:pPr>
            <a:r>
              <a:t>KEY: 'Goals and values are explored to find discrepancies'</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Elicit change talk by exploring: disadvantages of status quo, advantages of change, optimism, and intent.</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Murthy, P. (2008). NIMHANS Manual, p. 23. | Miller, W.R., &amp; Rollnick, S. (2013). Motivational interviewing (3rd ed.). Guilford Press.</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MET and Relapse Prevention Integration</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Integrate relapse prevention strategies within the MET framework and spirit</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RELAPSE PREVENTION IN MET (Sessions 3-4):</a:t>
            </a:r>
          </a:p>
          <a:p>
            <a:pPr>
              <a:spcAft>
                <a:spcPts val="600"/>
              </a:spcAft>
              <a:defRPr sz="1600">
                <a:solidFill>
                  <a:srgbClr val="2C3E50"/>
                </a:solidFill>
              </a:defRPr>
            </a:pPr>
          </a:p>
          <a:p>
            <a:pPr>
              <a:spcAft>
                <a:spcPts val="600"/>
              </a:spcAft>
              <a:defRPr sz="1600">
                <a:solidFill>
                  <a:srgbClr val="2C3E50"/>
                </a:solidFill>
              </a:defRPr>
            </a:pPr>
            <a:r>
              <a:t>MARLATT &amp; GORDON (1985) MODEL:</a:t>
            </a:r>
          </a:p>
          <a:p>
            <a:pPr lvl="1">
              <a:spcAft>
                <a:spcPts val="600"/>
              </a:spcAft>
              <a:defRPr sz="1400">
                <a:solidFill>
                  <a:srgbClr val="2C3E50"/>
                </a:solidFill>
              </a:defRPr>
            </a:pPr>
            <a:r>
              <a:t>  High-risk situation → Coping response → Outcome</a:t>
            </a:r>
          </a:p>
          <a:p>
            <a:pPr lvl="1">
              <a:spcAft>
                <a:spcPts val="600"/>
              </a:spcAft>
              <a:defRPr sz="1400">
                <a:solidFill>
                  <a:srgbClr val="2C3E50"/>
                </a:solidFill>
              </a:defRPr>
            </a:pPr>
            <a:r>
              <a:t>  If NO coping response → Decreased self-efficacy → Lapse → Relapse</a:t>
            </a:r>
          </a:p>
          <a:p>
            <a:pPr lvl="1">
              <a:spcAft>
                <a:spcPts val="600"/>
              </a:spcAft>
              <a:defRPr sz="1400">
                <a:solidFill>
                  <a:srgbClr val="2C3E50"/>
                </a:solidFill>
              </a:defRPr>
            </a:pPr>
            <a:r>
              <a:t>  If coping response → Increased self-efficacy → Continued abstinence/reduction</a:t>
            </a:r>
          </a:p>
          <a:p>
            <a:pPr>
              <a:spcAft>
                <a:spcPts val="600"/>
              </a:spcAft>
              <a:defRPr sz="1600">
                <a:solidFill>
                  <a:srgbClr val="2C3E50"/>
                </a:solidFill>
              </a:defRPr>
            </a:pPr>
          </a:p>
          <a:p>
            <a:pPr>
              <a:spcAft>
                <a:spcPts val="600"/>
              </a:spcAft>
              <a:defRPr sz="1600">
                <a:solidFill>
                  <a:srgbClr val="2C3E50"/>
                </a:solidFill>
              </a:defRPr>
            </a:pPr>
            <a:r>
              <a:t>MET-COMPATIBLE RELAPSE PREVENTION STRATEGIES:</a:t>
            </a:r>
          </a:p>
          <a:p>
            <a:pPr lvl="1">
              <a:spcAft>
                <a:spcPts val="600"/>
              </a:spcAft>
              <a:defRPr sz="1400">
                <a:solidFill>
                  <a:srgbClr val="2C3E50"/>
                </a:solidFill>
              </a:defRPr>
            </a:pPr>
            <a:r>
              <a:t>  1. Identify high-risk situations (triggers, cravings)</a:t>
            </a:r>
          </a:p>
          <a:p>
            <a:pPr lvl="1">
              <a:spcAft>
                <a:spcPts val="600"/>
              </a:spcAft>
              <a:defRPr sz="1400">
                <a:solidFill>
                  <a:srgbClr val="2C3E50"/>
                </a:solidFill>
              </a:defRPr>
            </a:pPr>
            <a:r>
              <a:t>  2. Develop coping plans (using collaborative, non-prescriptive style)</a:t>
            </a:r>
          </a:p>
          <a:p>
            <a:pPr lvl="1">
              <a:spcAft>
                <a:spcPts val="600"/>
              </a:spcAft>
              <a:defRPr sz="1400">
                <a:solidFill>
                  <a:srgbClr val="2C3E50"/>
                </a:solidFill>
              </a:defRPr>
            </a:pPr>
            <a:r>
              <a:t>  3. Build self-efficacy for coping (affirm past successes)</a:t>
            </a:r>
          </a:p>
          <a:p>
            <a:pPr lvl="1">
              <a:spcAft>
                <a:spcPts val="600"/>
              </a:spcAft>
              <a:defRPr sz="1400">
                <a:solidFill>
                  <a:srgbClr val="2C3E50"/>
                </a:solidFill>
              </a:defRPr>
            </a:pPr>
            <a:r>
              <a:t>  4. Normalize lapses (not failures, just opportunities to learn)</a:t>
            </a:r>
          </a:p>
          <a:p>
            <a:pPr lvl="1">
              <a:spcAft>
                <a:spcPts val="600"/>
              </a:spcAft>
              <a:defRPr sz="1400">
                <a:solidFill>
                  <a:srgbClr val="2C3E50"/>
                </a:solidFill>
              </a:defRPr>
            </a:pPr>
            <a:r>
              <a:t>  5. Emergency planning (who to call, what to do)</a:t>
            </a:r>
          </a:p>
          <a:p>
            <a:pPr>
              <a:spcAft>
                <a:spcPts val="600"/>
              </a:spcAft>
              <a:defRPr sz="1600">
                <a:solidFill>
                  <a:srgbClr val="2C3E50"/>
                </a:solidFill>
              </a:defRPr>
            </a:pPr>
          </a:p>
          <a:p>
            <a:pPr>
              <a:spcAft>
                <a:spcPts val="600"/>
              </a:spcAft>
              <a:defRPr sz="1600">
                <a:solidFill>
                  <a:srgbClr val="2C3E50"/>
                </a:solidFill>
              </a:defRPr>
            </a:pPr>
            <a:r>
              <a:t>KEY PRINCIPLE: Use MET SPIRIT even during RP planning</a:t>
            </a:r>
          </a:p>
          <a:p>
            <a:pPr lvl="1">
              <a:spcAft>
                <a:spcPts val="600"/>
              </a:spcAft>
              <a:defRPr sz="1400">
                <a:solidFill>
                  <a:srgbClr val="2C3E50"/>
                </a:solidFill>
              </a:defRPr>
            </a:pPr>
            <a:r>
              <a:t>  Not: 'You MUST avoid bars' (directive)</a:t>
            </a:r>
          </a:p>
          <a:p>
            <a:pPr lvl="1">
              <a:spcAft>
                <a:spcPts val="600"/>
              </a:spcAft>
              <a:defRPr sz="1400">
                <a:solidFill>
                  <a:srgbClr val="2C3E50"/>
                </a:solidFill>
              </a:defRPr>
            </a:pPr>
            <a:r>
              <a:t>  But: 'What situations do you think might be challenging, and how might you handle them?'</a:t>
            </a:r>
          </a:p>
          <a:p>
            <a:pPr>
              <a:spcAft>
                <a:spcPts val="600"/>
              </a:spcAft>
              <a:defRPr sz="1600">
                <a:solidFill>
                  <a:srgbClr val="2C3E50"/>
                </a:solidFill>
              </a:defRPr>
            </a:pPr>
          </a:p>
          <a:p>
            <a:pPr>
              <a:spcAft>
                <a:spcPts val="600"/>
              </a:spcAft>
              <a:defRPr sz="1600">
                <a:solidFill>
                  <a:srgbClr val="2C3E50"/>
                </a:solidFill>
              </a:defRPr>
            </a:pPr>
            <a:r>
              <a:t>NIMHANS: 'Strategies to anticipate and prevent relapses can be taught'</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Relapse prevention in MET uses collaborative exploration of high-risk situations, not prescriptive directives.</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Marlatt, G.A., &amp; Gordon, J.R. (1985). Relapse Prevention. Guilford Press. | Witkiewitz, K., &amp; Marlatt, G.A. (2004). Clinical Psychology Review, 24, 1-28. | Murthy, P. (2008). NIMHANS Manual.</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MET for Opioid Dependence: Case Application</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Apply MET to opioid dependence with integrated pharmacotherapy</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CASE: Suresh, 28, Daily wage worker, Opioid (heroin) dependence x 5 years</a:t>
            </a:r>
          </a:p>
          <a:p>
            <a:pPr lvl="1">
              <a:spcAft>
                <a:spcPts val="600"/>
              </a:spcAft>
              <a:defRPr sz="1400">
                <a:solidFill>
                  <a:srgbClr val="2C3E50"/>
                </a:solidFill>
              </a:defRPr>
            </a:pPr>
            <a:r>
              <a:t>  Presenting: Injecting heroin; wife left; job loss; considering suicide</a:t>
            </a:r>
          </a:p>
          <a:p>
            <a:pPr lvl="1">
              <a:spcAft>
                <a:spcPts val="600"/>
              </a:spcAft>
              <a:defRPr sz="1400">
                <a:solidFill>
                  <a:srgbClr val="2C3E50"/>
                </a:solidFill>
              </a:defRPr>
            </a:pPr>
            <a:r>
              <a:t>  Stage: Contemplation (wants to change but feels hopeless)</a:t>
            </a:r>
          </a:p>
          <a:p>
            <a:pPr lvl="1">
              <a:spcAft>
                <a:spcPts val="600"/>
              </a:spcAft>
              <a:defRPr sz="1400">
                <a:solidFill>
                  <a:srgbClr val="2C3E50"/>
                </a:solidFill>
              </a:defRPr>
            </a:pPr>
            <a:r>
              <a:t>  Importance: 9/10 | Confidence: 1/10</a:t>
            </a:r>
          </a:p>
          <a:p>
            <a:pPr>
              <a:spcAft>
                <a:spcPts val="600"/>
              </a:spcAft>
              <a:defRPr sz="1600">
                <a:solidFill>
                  <a:srgbClr val="2C3E50"/>
                </a:solidFill>
              </a:defRPr>
            </a:pPr>
          </a:p>
          <a:p>
            <a:pPr>
              <a:spcAft>
                <a:spcPts val="600"/>
              </a:spcAft>
              <a:defRPr sz="1600">
                <a:solidFill>
                  <a:srgbClr val="2C3E50"/>
                </a:solidFill>
              </a:defRPr>
            </a:pPr>
            <a:r>
              <a:t>MET APPROACH:</a:t>
            </a:r>
          </a:p>
          <a:p>
            <a:pPr lvl="1">
              <a:spcAft>
                <a:spcPts val="600"/>
              </a:spcAft>
              <a:defRPr sz="1400">
                <a:solidFill>
                  <a:srgbClr val="2C3E50"/>
                </a:solidFill>
              </a:defRPr>
            </a:pPr>
            <a:r>
              <a:t>  Focus: BUILD SELF-EFFICACY (importance already high)</a:t>
            </a:r>
          </a:p>
          <a:p>
            <a:pPr lvl="1">
              <a:spcAft>
                <a:spcPts val="600"/>
              </a:spcAft>
              <a:defRPr sz="1400">
                <a:solidFill>
                  <a:srgbClr val="2C3E50"/>
                </a:solidFill>
              </a:defRPr>
            </a:pPr>
            <a:r>
              <a:t>  Session 1: Acknowledge desperation; safety assessment; feedback (medical)</a:t>
            </a:r>
          </a:p>
          <a:p>
            <a:pPr lvl="1">
              <a:spcAft>
                <a:spcPts val="600"/>
              </a:spcAft>
              <a:defRPr sz="1400">
                <a:solidFill>
                  <a:srgbClr val="2C3E50"/>
                </a:solidFill>
              </a:defRPr>
            </a:pPr>
            <a:r>
              <a:t>    T: 'You've been through so much and you're still fighting. That shows strength.'</a:t>
            </a:r>
          </a:p>
          <a:p>
            <a:pPr lvl="1">
              <a:spcAft>
                <a:spcPts val="600"/>
              </a:spcAft>
              <a:defRPr sz="1400">
                <a:solidFill>
                  <a:srgbClr val="2C3E50"/>
                </a:solidFill>
              </a:defRPr>
            </a:pPr>
            <a:r>
              <a:t>  Session 2: Explore past attempts; what worked even briefly?</a:t>
            </a:r>
          </a:p>
          <a:p>
            <a:pPr lvl="1">
              <a:spcAft>
                <a:spcPts val="600"/>
              </a:spcAft>
              <a:defRPr sz="1400">
                <a:solidFill>
                  <a:srgbClr val="2C3E50"/>
                </a:solidFill>
              </a:defRPr>
            </a:pPr>
            <a:r>
              <a:t>    Build on any success; discuss OST (Opioid Substitution Therapy) as option</a:t>
            </a:r>
          </a:p>
          <a:p>
            <a:pPr lvl="1">
              <a:spcAft>
                <a:spcPts val="600"/>
              </a:spcAft>
              <a:defRPr sz="1400">
                <a:solidFill>
                  <a:srgbClr val="2C3E50"/>
                </a:solidFill>
              </a:defRPr>
            </a:pPr>
            <a:r>
              <a:t>  Session 3: Integrated approach - OST + MET; rebuilding life structure</a:t>
            </a:r>
          </a:p>
          <a:p>
            <a:pPr lvl="1">
              <a:spcAft>
                <a:spcPts val="600"/>
              </a:spcAft>
              <a:defRPr sz="1400">
                <a:solidFill>
                  <a:srgbClr val="2C3E50"/>
                </a:solidFill>
              </a:defRPr>
            </a:pPr>
            <a:r>
              <a:t>  Session 4: Maintenance; social reintegration; family reconnection plan</a:t>
            </a:r>
          </a:p>
          <a:p>
            <a:pPr>
              <a:spcAft>
                <a:spcPts val="600"/>
              </a:spcAft>
              <a:defRPr sz="1600">
                <a:solidFill>
                  <a:srgbClr val="2C3E50"/>
                </a:solidFill>
              </a:defRPr>
            </a:pPr>
          </a:p>
          <a:p>
            <a:pPr>
              <a:spcAft>
                <a:spcPts val="600"/>
              </a:spcAft>
              <a:defRPr sz="1600">
                <a:solidFill>
                  <a:srgbClr val="2C3E50"/>
                </a:solidFill>
              </a:defRPr>
            </a:pPr>
            <a:r>
              <a:t>INTEGRATION WITH PHARMACOTHERAPY:</a:t>
            </a:r>
          </a:p>
          <a:p>
            <a:pPr lvl="1">
              <a:spcAft>
                <a:spcPts val="600"/>
              </a:spcAft>
              <a:defRPr sz="1400">
                <a:solidFill>
                  <a:srgbClr val="2C3E50"/>
                </a:solidFill>
              </a:defRPr>
            </a:pPr>
            <a:r>
              <a:t>  MET + Buprenorphine/Methadone = better retention and outcomes</a:t>
            </a:r>
          </a:p>
          <a:p>
            <a:pPr lvl="1">
              <a:spcAft>
                <a:spcPts val="600"/>
              </a:spcAft>
              <a:defRPr sz="1400">
                <a:solidFill>
                  <a:srgbClr val="2C3E50"/>
                </a:solidFill>
              </a:defRPr>
            </a:pPr>
            <a:r>
              <a:t>  MET enhances medication adherence and engagement</a:t>
            </a:r>
          </a:p>
          <a:p>
            <a:pPr>
              <a:spcAft>
                <a:spcPts val="600"/>
              </a:spcAft>
              <a:defRPr sz="1600">
                <a:solidFill>
                  <a:srgbClr val="2C3E50"/>
                </a:solidFill>
              </a:defRPr>
            </a:pPr>
            <a:r>
              <a:t>NIMHANS: Stepped care with appropriate referral for severe cases</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When importance is high but confidence is low, focus entirely on building self-efficacy and hope.</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 Murthy, P. (2008). NIMHANS Manual. | Carroll, K.M., et al. (2006). Drug and Alcohol Dependence, 81, 161-167.</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MET with Mandated/Court-Ordered Clients</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Adapt MET strategies for mandated/involuntary treatment clients</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CHALLENGES WITH MANDATED CLIENTS:</a:t>
            </a:r>
          </a:p>
          <a:p>
            <a:pPr lvl="1">
              <a:spcAft>
                <a:spcPts val="600"/>
              </a:spcAft>
              <a:defRPr sz="1400">
                <a:solidFill>
                  <a:srgbClr val="2C3E50"/>
                </a:solidFill>
              </a:defRPr>
            </a:pPr>
            <a:r>
              <a:t>  • Often precontemplators - not seeking help voluntarily</a:t>
            </a:r>
          </a:p>
          <a:p>
            <a:pPr lvl="1">
              <a:spcAft>
                <a:spcPts val="600"/>
              </a:spcAft>
              <a:defRPr sz="1400">
                <a:solidFill>
                  <a:srgbClr val="2C3E50"/>
                </a:solidFill>
              </a:defRPr>
            </a:pPr>
            <a:r>
              <a:t>  • May be angry, hostile, or resigned</a:t>
            </a:r>
          </a:p>
          <a:p>
            <a:pPr lvl="1">
              <a:spcAft>
                <a:spcPts val="600"/>
              </a:spcAft>
              <a:defRPr sz="1400">
                <a:solidFill>
                  <a:srgbClr val="2C3E50"/>
                </a:solidFill>
              </a:defRPr>
            </a:pPr>
            <a:r>
              <a:t>  • Perceived coercion can undermine intrinsic motivation</a:t>
            </a:r>
          </a:p>
          <a:p>
            <a:pPr lvl="1">
              <a:spcAft>
                <a:spcPts val="600"/>
              </a:spcAft>
              <a:defRPr sz="1400">
                <a:solidFill>
                  <a:srgbClr val="2C3E50"/>
                </a:solidFill>
              </a:defRPr>
            </a:pPr>
            <a:r>
              <a:t>  • Therapist may be seen as extension of the punishing system</a:t>
            </a:r>
          </a:p>
          <a:p>
            <a:pPr>
              <a:spcAft>
                <a:spcPts val="600"/>
              </a:spcAft>
              <a:defRPr sz="1600">
                <a:solidFill>
                  <a:srgbClr val="2C3E50"/>
                </a:solidFill>
              </a:defRPr>
            </a:pPr>
          </a:p>
          <a:p>
            <a:pPr>
              <a:spcAft>
                <a:spcPts val="600"/>
              </a:spcAft>
              <a:defRPr sz="1600">
                <a:solidFill>
                  <a:srgbClr val="2C3E50"/>
                </a:solidFill>
              </a:defRPr>
            </a:pPr>
            <a:r>
              <a:t>MET STRATEGIES FOR MANDATED CLIENTS:</a:t>
            </a:r>
          </a:p>
          <a:p>
            <a:pPr lvl="1">
              <a:spcAft>
                <a:spcPts val="600"/>
              </a:spcAft>
              <a:defRPr sz="1400">
                <a:solidFill>
                  <a:srgbClr val="2C3E50"/>
                </a:solidFill>
              </a:defRPr>
            </a:pPr>
            <a:r>
              <a:t>  1. Acknowledge the situation honestly:</a:t>
            </a:r>
          </a:p>
          <a:p>
            <a:pPr lvl="1">
              <a:spcAft>
                <a:spcPts val="600"/>
              </a:spcAft>
              <a:defRPr sz="1400">
                <a:solidFill>
                  <a:srgbClr val="2C3E50"/>
                </a:solidFill>
              </a:defRPr>
            </a:pPr>
            <a:r>
              <a:t>     'You're here because the court required it. How do you feel about that?'</a:t>
            </a:r>
          </a:p>
          <a:p>
            <a:pPr lvl="1">
              <a:spcAft>
                <a:spcPts val="600"/>
              </a:spcAft>
              <a:defRPr sz="1400">
                <a:solidFill>
                  <a:srgbClr val="2C3E50"/>
                </a:solidFill>
              </a:defRPr>
            </a:pPr>
            <a:r>
              <a:t>  2. Separate the mandate from the person:</a:t>
            </a:r>
          </a:p>
          <a:p>
            <a:pPr lvl="1">
              <a:spcAft>
                <a:spcPts val="600"/>
              </a:spcAft>
              <a:defRPr sz="1400">
                <a:solidFill>
                  <a:srgbClr val="2C3E50"/>
                </a:solidFill>
              </a:defRPr>
            </a:pPr>
            <a:r>
              <a:t>     'You have to be here, but what you get out of it is completely up to you'</a:t>
            </a:r>
          </a:p>
          <a:p>
            <a:pPr lvl="1">
              <a:spcAft>
                <a:spcPts val="600"/>
              </a:spcAft>
              <a:defRPr sz="1400">
                <a:solidFill>
                  <a:srgbClr val="2C3E50"/>
                </a:solidFill>
              </a:defRPr>
            </a:pPr>
            <a:r>
              <a:t>  3. Emphasize what IS within their control:</a:t>
            </a:r>
          </a:p>
          <a:p>
            <a:pPr lvl="1">
              <a:spcAft>
                <a:spcPts val="600"/>
              </a:spcAft>
              <a:defRPr sz="1400">
                <a:solidFill>
                  <a:srgbClr val="2C3E50"/>
                </a:solidFill>
              </a:defRPr>
            </a:pPr>
            <a:r>
              <a:t>     'You can't control the court order, but you CAN choose what to do with this time'</a:t>
            </a:r>
          </a:p>
          <a:p>
            <a:pPr lvl="1">
              <a:spcAft>
                <a:spcPts val="600"/>
              </a:spcAft>
              <a:defRPr sz="1400">
                <a:solidFill>
                  <a:srgbClr val="2C3E50"/>
                </a:solidFill>
              </a:defRPr>
            </a:pPr>
            <a:r>
              <a:t>  4. Find ANY genuine motivation:</a:t>
            </a:r>
          </a:p>
          <a:p>
            <a:pPr lvl="1">
              <a:spcAft>
                <a:spcPts val="600"/>
              </a:spcAft>
              <a:defRPr sz="1400">
                <a:solidFill>
                  <a:srgbClr val="2C3E50"/>
                </a:solidFill>
              </a:defRPr>
            </a:pPr>
            <a:r>
              <a:t>     'Setting aside the court, is there anything about your drinking YOU'd like to change?'</a:t>
            </a:r>
          </a:p>
          <a:p>
            <a:pPr lvl="1">
              <a:spcAft>
                <a:spcPts val="600"/>
              </a:spcAft>
              <a:defRPr sz="1400">
                <a:solidFill>
                  <a:srgbClr val="2C3E50"/>
                </a:solidFill>
              </a:defRPr>
            </a:pPr>
            <a:r>
              <a:t>  5. Use gentle paradox if appropriate:</a:t>
            </a:r>
          </a:p>
          <a:p>
            <a:pPr lvl="1">
              <a:spcAft>
                <a:spcPts val="600"/>
              </a:spcAft>
              <a:defRPr sz="1400">
                <a:solidFill>
                  <a:srgbClr val="2C3E50"/>
                </a:solidFill>
              </a:defRPr>
            </a:pPr>
            <a:r>
              <a:t>     'I'm not sure you're ready to think about this yet...'</a:t>
            </a:r>
          </a:p>
          <a:p>
            <a:pPr>
              <a:spcAft>
                <a:spcPts val="600"/>
              </a:spcAft>
              <a:defRPr sz="1600">
                <a:solidFill>
                  <a:srgbClr val="2C3E50"/>
                </a:solidFill>
              </a:defRPr>
            </a:pPr>
          </a:p>
          <a:p>
            <a:pPr>
              <a:spcAft>
                <a:spcPts val="600"/>
              </a:spcAft>
              <a:defRPr sz="1600">
                <a:solidFill>
                  <a:srgbClr val="2C3E50"/>
                </a:solidFill>
              </a:defRPr>
            </a:pPr>
            <a:r>
              <a:t>RESEARCH: MET is ESPECIALLY effective with mandated/reluctant clients</a:t>
            </a:r>
          </a:p>
          <a:p>
            <a:pPr lvl="1">
              <a:spcAft>
                <a:spcPts val="600"/>
              </a:spcAft>
              <a:defRPr sz="1400">
                <a:solidFill>
                  <a:srgbClr val="2C3E50"/>
                </a:solidFill>
              </a:defRPr>
            </a:pPr>
            <a:r>
              <a:t>  (because it reduces reactance and respects autonomy)</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MET is especially effective with mandated clients because it reduces reactance by emphasizing autonomy.</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Special Problems section. | Moyers, T.B., &amp; Rollnick, S. (2002). Substance Use and Misuse, 37, 2089-2102.</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Mechanisms of MET: How Does It Work?</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Understand the research-supported mechanisms through which MET produces change</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THE CAUSAL CHAIN (Research-Supported):</a:t>
            </a:r>
          </a:p>
          <a:p>
            <a:pPr lvl="1">
              <a:spcAft>
                <a:spcPts val="600"/>
              </a:spcAft>
              <a:defRPr sz="1400">
                <a:solidFill>
                  <a:srgbClr val="2C3E50"/>
                </a:solidFill>
              </a:defRPr>
            </a:pPr>
            <a:r>
              <a:t>  Therapist MI-Consistent Behavior → Client Change Talk → Behavior Change</a:t>
            </a:r>
          </a:p>
          <a:p>
            <a:pPr lvl="1">
              <a:spcAft>
                <a:spcPts val="600"/>
              </a:spcAft>
              <a:defRPr sz="1400">
                <a:solidFill>
                  <a:srgbClr val="2C3E50"/>
                </a:solidFill>
              </a:defRPr>
            </a:pPr>
            <a:r>
              <a:t>  (Moyers et al., 2007; 2009)</a:t>
            </a:r>
          </a:p>
          <a:p>
            <a:pPr>
              <a:spcAft>
                <a:spcPts val="600"/>
              </a:spcAft>
              <a:defRPr sz="1600">
                <a:solidFill>
                  <a:srgbClr val="2C3E50"/>
                </a:solidFill>
              </a:defRPr>
            </a:pPr>
          </a:p>
          <a:p>
            <a:pPr>
              <a:spcAft>
                <a:spcPts val="600"/>
              </a:spcAft>
              <a:defRPr sz="1600">
                <a:solidFill>
                  <a:srgbClr val="2C3E50"/>
                </a:solidFill>
              </a:defRPr>
            </a:pPr>
            <a:r>
              <a:t>PROPOSED MECHANISMS:</a:t>
            </a:r>
          </a:p>
          <a:p>
            <a:pPr lvl="1">
              <a:spcAft>
                <a:spcPts val="600"/>
              </a:spcAft>
              <a:defRPr sz="1400">
                <a:solidFill>
                  <a:srgbClr val="2C3E50"/>
                </a:solidFill>
              </a:defRPr>
            </a:pPr>
            <a:r>
              <a:t>  1. Self-Perception: Hearing oneself argue for change creates belief in change</a:t>
            </a:r>
          </a:p>
          <a:p>
            <a:pPr lvl="1">
              <a:spcAft>
                <a:spcPts val="600"/>
              </a:spcAft>
              <a:defRPr sz="1400">
                <a:solidFill>
                  <a:srgbClr val="2C3E50"/>
                </a:solidFill>
              </a:defRPr>
            </a:pPr>
            <a:r>
              <a:t>  2. Cognitive Dissonance: Awareness of value-behavior gap creates discomfort → action</a:t>
            </a:r>
          </a:p>
          <a:p>
            <a:pPr lvl="1">
              <a:spcAft>
                <a:spcPts val="600"/>
              </a:spcAft>
              <a:defRPr sz="1400">
                <a:solidFill>
                  <a:srgbClr val="2C3E50"/>
                </a:solidFill>
              </a:defRPr>
            </a:pPr>
            <a:r>
              <a:t>  3. Self-Efficacy: Therapist confidence + past success reflection → belief in ability</a:t>
            </a:r>
          </a:p>
          <a:p>
            <a:pPr lvl="1">
              <a:spcAft>
                <a:spcPts val="600"/>
              </a:spcAft>
              <a:defRPr sz="1400">
                <a:solidFill>
                  <a:srgbClr val="2C3E50"/>
                </a:solidFill>
              </a:defRPr>
            </a:pPr>
            <a:r>
              <a:t>  4. Therapeutic Alliance: Empathic relationship → safety → exploration → insight</a:t>
            </a:r>
          </a:p>
          <a:p>
            <a:pPr lvl="1">
              <a:spcAft>
                <a:spcPts val="600"/>
              </a:spcAft>
              <a:defRPr sz="1400">
                <a:solidFill>
                  <a:srgbClr val="2C3E50"/>
                </a:solidFill>
              </a:defRPr>
            </a:pPr>
            <a:r>
              <a:t>  5. Autonomy Support: Feeling in control → intrinsic motivation (SDT)</a:t>
            </a:r>
          </a:p>
          <a:p>
            <a:pPr lvl="1">
              <a:spcAft>
                <a:spcPts val="600"/>
              </a:spcAft>
              <a:defRPr sz="1400">
                <a:solidFill>
                  <a:srgbClr val="2C3E50"/>
                </a:solidFill>
              </a:defRPr>
            </a:pPr>
            <a:r>
              <a:t>  6. Commitment Strengthening: Verbal commitment → behavioral follow-through</a:t>
            </a:r>
          </a:p>
          <a:p>
            <a:pPr>
              <a:spcAft>
                <a:spcPts val="600"/>
              </a:spcAft>
              <a:defRPr sz="1600">
                <a:solidFill>
                  <a:srgbClr val="2C3E50"/>
                </a:solidFill>
              </a:defRPr>
            </a:pPr>
          </a:p>
          <a:p>
            <a:pPr>
              <a:spcAft>
                <a:spcPts val="600"/>
              </a:spcAft>
              <a:defRPr sz="1600">
                <a:solidFill>
                  <a:srgbClr val="2C3E50"/>
                </a:solidFill>
              </a:defRPr>
            </a:pPr>
            <a:r>
              <a:t>MEDIATORS IDENTIFIED IN RESEARCH:</a:t>
            </a:r>
          </a:p>
          <a:p>
            <a:pPr lvl="1">
              <a:spcAft>
                <a:spcPts val="600"/>
              </a:spcAft>
              <a:defRPr sz="1400">
                <a:solidFill>
                  <a:srgbClr val="2C3E50"/>
                </a:solidFill>
              </a:defRPr>
            </a:pPr>
            <a:r>
              <a:t>  • Client change talk strength (Amrhein et al., 2003)</a:t>
            </a:r>
          </a:p>
          <a:p>
            <a:pPr lvl="1">
              <a:spcAft>
                <a:spcPts val="600"/>
              </a:spcAft>
              <a:defRPr sz="1400">
                <a:solidFill>
                  <a:srgbClr val="2C3E50"/>
                </a:solidFill>
              </a:defRPr>
            </a:pPr>
            <a:r>
              <a:t>  • Working alliance (Boardman et al., 2006)</a:t>
            </a:r>
          </a:p>
          <a:p>
            <a:pPr lvl="1">
              <a:spcAft>
                <a:spcPts val="600"/>
              </a:spcAft>
              <a:defRPr sz="1400">
                <a:solidFill>
                  <a:srgbClr val="2C3E50"/>
                </a:solidFill>
              </a:defRPr>
            </a:pPr>
            <a:r>
              <a:t>  • Readiness to change (DiClemente et al., 2017)</a:t>
            </a:r>
          </a:p>
          <a:p>
            <a:pPr>
              <a:spcAft>
                <a:spcPts val="600"/>
              </a:spcAft>
              <a:defRPr sz="1600">
                <a:solidFill>
                  <a:srgbClr val="2C3E50"/>
                </a:solidFill>
              </a:defRPr>
            </a:pPr>
          </a:p>
          <a:p>
            <a:pPr>
              <a:spcAft>
                <a:spcPts val="600"/>
              </a:spcAft>
              <a:defRPr sz="1600">
                <a:solidFill>
                  <a:srgbClr val="2C3E50"/>
                </a:solidFill>
              </a:defRPr>
            </a:pPr>
            <a:r>
              <a:t>WHAT WE DON'T KNOW YET:</a:t>
            </a:r>
          </a:p>
          <a:p>
            <a:pPr lvl="1">
              <a:spcAft>
                <a:spcPts val="600"/>
              </a:spcAft>
              <a:defRPr sz="1400">
                <a:solidFill>
                  <a:srgbClr val="2C3E50"/>
                </a:solidFill>
              </a:defRPr>
            </a:pPr>
            <a:r>
              <a:t>  • Exact dose-response relationship</a:t>
            </a:r>
          </a:p>
          <a:p>
            <a:pPr lvl="1">
              <a:spcAft>
                <a:spcPts val="600"/>
              </a:spcAft>
              <a:defRPr sz="1400">
                <a:solidFill>
                  <a:srgbClr val="2C3E50"/>
                </a:solidFill>
              </a:defRPr>
            </a:pPr>
            <a:r>
              <a:t>  • Which specific techniques are most active</a:t>
            </a:r>
          </a:p>
          <a:p>
            <a:pPr lvl="1">
              <a:spcAft>
                <a:spcPts val="600"/>
              </a:spcAft>
              <a:defRPr sz="1400">
                <a:solidFill>
                  <a:srgbClr val="2C3E50"/>
                </a:solidFill>
              </a:defRPr>
            </a:pPr>
            <a:r>
              <a:t>  • Why effects diminish for some clients over time</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The primary mechanism: Therapist MI-consistent behavior → Client change talk → Behavior change.</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Moyers, T.B., et al. (2007). JCCP, 75, 790-798. | Amrhein, P.C., et al. (2003). JCCP, 71, 862-878. | Magill, M., et al. (2014). Journal of Substance Abuse Treatment, 46, 685-697.</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MET Treatment Fidelity: Ensuring Quality</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Assess MET treatment fidelity using the MITI coding system</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WHY FIDELITY MATTERS:</a:t>
            </a:r>
          </a:p>
          <a:p>
            <a:pPr lvl="1">
              <a:spcAft>
                <a:spcPts val="600"/>
              </a:spcAft>
              <a:defRPr sz="1400">
                <a:solidFill>
                  <a:srgbClr val="2C3E50"/>
                </a:solidFill>
              </a:defRPr>
            </a:pPr>
            <a:r>
              <a:t>  • Poorly delivered MI can be equivalent to or worse than no treatment</a:t>
            </a:r>
          </a:p>
          <a:p>
            <a:pPr lvl="1">
              <a:spcAft>
                <a:spcPts val="600"/>
              </a:spcAft>
              <a:defRPr sz="1400">
                <a:solidFill>
                  <a:srgbClr val="2C3E50"/>
                </a:solidFill>
              </a:defRPr>
            </a:pPr>
            <a:r>
              <a:t>  • Therapist drift is common without monitoring</a:t>
            </a:r>
          </a:p>
          <a:p>
            <a:pPr lvl="1">
              <a:spcAft>
                <a:spcPts val="600"/>
              </a:spcAft>
              <a:defRPr sz="1400">
                <a:solidFill>
                  <a:srgbClr val="2C3E50"/>
                </a:solidFill>
              </a:defRPr>
            </a:pPr>
            <a:r>
              <a:t>  • Quality determines effectiveness</a:t>
            </a:r>
          </a:p>
          <a:p>
            <a:pPr>
              <a:spcAft>
                <a:spcPts val="600"/>
              </a:spcAft>
              <a:defRPr sz="1600">
                <a:solidFill>
                  <a:srgbClr val="2C3E50"/>
                </a:solidFill>
              </a:defRPr>
            </a:pPr>
          </a:p>
          <a:p>
            <a:pPr>
              <a:spcAft>
                <a:spcPts val="600"/>
              </a:spcAft>
              <a:defRPr sz="1600">
                <a:solidFill>
                  <a:srgbClr val="2C3E50"/>
                </a:solidFill>
              </a:defRPr>
            </a:pPr>
            <a:r>
              <a:t>FIDELITY INDICATORS (MITI 4.2 Coding):</a:t>
            </a:r>
          </a:p>
          <a:p>
            <a:pPr lvl="1">
              <a:spcAft>
                <a:spcPts val="600"/>
              </a:spcAft>
              <a:defRPr sz="1400">
                <a:solidFill>
                  <a:srgbClr val="2C3E50"/>
                </a:solidFill>
              </a:defRPr>
            </a:pPr>
            <a:r>
              <a:t>  TECHNICAL COMPONENT:</a:t>
            </a:r>
          </a:p>
          <a:p>
            <a:pPr lvl="1">
              <a:spcAft>
                <a:spcPts val="600"/>
              </a:spcAft>
              <a:defRPr sz="1400">
                <a:solidFill>
                  <a:srgbClr val="2C3E50"/>
                </a:solidFill>
              </a:defRPr>
            </a:pPr>
            <a:r>
              <a:t>  • Cultivating change talk (evoking reasons, desires, needs)</a:t>
            </a:r>
          </a:p>
          <a:p>
            <a:pPr lvl="1">
              <a:spcAft>
                <a:spcPts val="600"/>
              </a:spcAft>
              <a:defRPr sz="1400">
                <a:solidFill>
                  <a:srgbClr val="2C3E50"/>
                </a:solidFill>
              </a:defRPr>
            </a:pPr>
            <a:r>
              <a:t>  • Softening sustain talk (not reinforcing reasons against change)</a:t>
            </a:r>
          </a:p>
          <a:p>
            <a:pPr lvl="1">
              <a:spcAft>
                <a:spcPts val="600"/>
              </a:spcAft>
              <a:defRPr sz="1400">
                <a:solidFill>
                  <a:srgbClr val="2C3E50"/>
                </a:solidFill>
              </a:defRPr>
            </a:pPr>
            <a:r>
              <a:t>  RELATIONAL COMPONENT:</a:t>
            </a:r>
          </a:p>
          <a:p>
            <a:pPr lvl="1">
              <a:spcAft>
                <a:spcPts val="600"/>
              </a:spcAft>
              <a:defRPr sz="1400">
                <a:solidFill>
                  <a:srgbClr val="2C3E50"/>
                </a:solidFill>
              </a:defRPr>
            </a:pPr>
            <a:r>
              <a:t>  • Partnership (collaborative vs. expert)</a:t>
            </a:r>
          </a:p>
          <a:p>
            <a:pPr lvl="1">
              <a:spcAft>
                <a:spcPts val="600"/>
              </a:spcAft>
              <a:defRPr sz="1400">
                <a:solidFill>
                  <a:srgbClr val="2C3E50"/>
                </a:solidFill>
              </a:defRPr>
            </a:pPr>
            <a:r>
              <a:t>  • Empathy (understanding client perspective)</a:t>
            </a:r>
          </a:p>
          <a:p>
            <a:pPr>
              <a:spcAft>
                <a:spcPts val="600"/>
              </a:spcAft>
              <a:defRPr sz="1600">
                <a:solidFill>
                  <a:srgbClr val="2C3E50"/>
                </a:solidFill>
              </a:defRPr>
            </a:pPr>
          </a:p>
          <a:p>
            <a:pPr>
              <a:spcAft>
                <a:spcPts val="600"/>
              </a:spcAft>
              <a:defRPr sz="1600">
                <a:solidFill>
                  <a:srgbClr val="2C3E50"/>
                </a:solidFill>
              </a:defRPr>
            </a:pPr>
            <a:r>
              <a:t>BEHAVIORAL COUNTS:</a:t>
            </a:r>
          </a:p>
          <a:p>
            <a:pPr lvl="1">
              <a:spcAft>
                <a:spcPts val="600"/>
              </a:spcAft>
              <a:defRPr sz="1400">
                <a:solidFill>
                  <a:srgbClr val="2C3E50"/>
                </a:solidFill>
              </a:defRPr>
            </a:pPr>
            <a:r>
              <a:t>  • Giving information / Persuade / Persuade with permission</a:t>
            </a:r>
          </a:p>
          <a:p>
            <a:pPr lvl="1">
              <a:spcAft>
                <a:spcPts val="600"/>
              </a:spcAft>
              <a:defRPr sz="1400">
                <a:solidFill>
                  <a:srgbClr val="2C3E50"/>
                </a:solidFill>
              </a:defRPr>
            </a:pPr>
            <a:r>
              <a:t>  • Questions (open vs. closed)</a:t>
            </a:r>
          </a:p>
          <a:p>
            <a:pPr lvl="1">
              <a:spcAft>
                <a:spcPts val="600"/>
              </a:spcAft>
              <a:defRPr sz="1400">
                <a:solidFill>
                  <a:srgbClr val="2C3E50"/>
                </a:solidFill>
              </a:defRPr>
            </a:pPr>
            <a:r>
              <a:t>  • Reflections (simple vs. complex)</a:t>
            </a:r>
          </a:p>
          <a:p>
            <a:pPr lvl="1">
              <a:spcAft>
                <a:spcPts val="600"/>
              </a:spcAft>
              <a:defRPr sz="1400">
                <a:solidFill>
                  <a:srgbClr val="2C3E50"/>
                </a:solidFill>
              </a:defRPr>
            </a:pPr>
            <a:r>
              <a:t>  • Affirm / Seek collaboration / Emphasize autonomy / Confront</a:t>
            </a:r>
          </a:p>
          <a:p>
            <a:pPr>
              <a:spcAft>
                <a:spcPts val="600"/>
              </a:spcAft>
              <a:defRPr sz="1600">
                <a:solidFill>
                  <a:srgbClr val="2C3E50"/>
                </a:solidFill>
              </a:defRPr>
            </a:pPr>
          </a:p>
          <a:p>
            <a:pPr>
              <a:spcAft>
                <a:spcPts val="600"/>
              </a:spcAft>
              <a:defRPr sz="1600">
                <a:solidFill>
                  <a:srgbClr val="2C3E50"/>
                </a:solidFill>
              </a:defRPr>
            </a:pPr>
            <a:r>
              <a:t>THRESHOLDS: Reflection:Question ≥ 2:1 | Complex reflections ≥ 40% | Open Q's ≥ 70%</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Fidelity monitoring ensures quality: aim for reflection:question ≥ 2:1, complex reflections ≥ 40%, open Q's ≥ 70%.</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Moyers, T.B., et al. (2014). MITI Manual 4.2. University of New Mexico. | Miller, W.R., &amp; Moyers, T.B. (2006). Behavioural and Cognitive Psychotherapy, 34, 135-143.</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Group Exercise: Identifying Change Talk vs. Sustain Talk</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Practice real-time identification of change talk and sustain talk</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IDENTIFY EACH STATEMENT AS CHANGE TALK (CT) OR SUSTAIN TALK (ST):</a:t>
            </a:r>
          </a:p>
          <a:p>
            <a:pPr>
              <a:spcAft>
                <a:spcPts val="600"/>
              </a:spcAft>
              <a:defRPr sz="1600">
                <a:solidFill>
                  <a:srgbClr val="2C3E50"/>
                </a:solidFill>
              </a:defRPr>
            </a:pPr>
          </a:p>
          <a:p>
            <a:pPr>
              <a:spcAft>
                <a:spcPts val="600"/>
              </a:spcAft>
              <a:defRPr sz="1600">
                <a:solidFill>
                  <a:srgbClr val="2C3E50"/>
                </a:solidFill>
              </a:defRPr>
            </a:pPr>
            <a:r>
              <a:t>1. 'I know I need to cut down' → CT (Need)</a:t>
            </a:r>
          </a:p>
          <a:p>
            <a:pPr>
              <a:spcAft>
                <a:spcPts val="600"/>
              </a:spcAft>
              <a:defRPr sz="1600">
                <a:solidFill>
                  <a:srgbClr val="2C3E50"/>
                </a:solidFill>
              </a:defRPr>
            </a:pPr>
            <a:r>
              <a:t>2. 'All my friends drink, I can't be the odd one out' → ST (Reasons to continue)</a:t>
            </a:r>
          </a:p>
          <a:p>
            <a:pPr>
              <a:spcAft>
                <a:spcPts val="600"/>
              </a:spcAft>
              <a:defRPr sz="1600">
                <a:solidFill>
                  <a:srgbClr val="2C3E50"/>
                </a:solidFill>
              </a:defRPr>
            </a:pPr>
            <a:r>
              <a:t>3. 'My wife says she'll leave if I don't change' → CT (Reasons)</a:t>
            </a:r>
          </a:p>
          <a:p>
            <a:pPr>
              <a:spcAft>
                <a:spcPts val="600"/>
              </a:spcAft>
              <a:defRPr sz="1600">
                <a:solidFill>
                  <a:srgbClr val="2C3E50"/>
                </a:solidFill>
              </a:defRPr>
            </a:pPr>
            <a:r>
              <a:t>4. 'I've tried before and it never works' → ST (Low ability)</a:t>
            </a:r>
          </a:p>
          <a:p>
            <a:pPr>
              <a:spcAft>
                <a:spcPts val="600"/>
              </a:spcAft>
              <a:defRPr sz="1600">
                <a:solidFill>
                  <a:srgbClr val="2C3E50"/>
                </a:solidFill>
              </a:defRPr>
            </a:pPr>
            <a:r>
              <a:t>5. 'I wish I could drink like a normal person' → CT (Desire)</a:t>
            </a:r>
          </a:p>
          <a:p>
            <a:pPr>
              <a:spcAft>
                <a:spcPts val="600"/>
              </a:spcAft>
              <a:defRPr sz="1600">
                <a:solidFill>
                  <a:srgbClr val="2C3E50"/>
                </a:solidFill>
              </a:defRPr>
            </a:pPr>
            <a:r>
              <a:t>6. 'Life would be so boring without alcohol' → ST (Cost of change)</a:t>
            </a:r>
          </a:p>
          <a:p>
            <a:pPr>
              <a:spcAft>
                <a:spcPts val="600"/>
              </a:spcAft>
              <a:defRPr sz="1600">
                <a:solidFill>
                  <a:srgbClr val="2C3E50"/>
                </a:solidFill>
              </a:defRPr>
            </a:pPr>
            <a:r>
              <a:t>7. 'I'm going to start by having alcohol-free Mondays' → CT (Taking Steps)</a:t>
            </a:r>
          </a:p>
          <a:p>
            <a:pPr>
              <a:spcAft>
                <a:spcPts val="600"/>
              </a:spcAft>
              <a:defRPr sz="1600">
                <a:solidFill>
                  <a:srgbClr val="2C3E50"/>
                </a:solidFill>
              </a:defRPr>
            </a:pPr>
            <a:r>
              <a:t>8. 'I'm not ready to think about this yet' → ST (No activation)</a:t>
            </a:r>
          </a:p>
          <a:p>
            <a:pPr>
              <a:spcAft>
                <a:spcPts val="600"/>
              </a:spcAft>
              <a:defRPr sz="1600">
                <a:solidFill>
                  <a:srgbClr val="2C3E50"/>
                </a:solidFill>
              </a:defRPr>
            </a:pPr>
            <a:r>
              <a:t>9. 'I could probably cut down if I really tried' → CT (Ability)</a:t>
            </a:r>
          </a:p>
          <a:p>
            <a:pPr>
              <a:spcAft>
                <a:spcPts val="600"/>
              </a:spcAft>
              <a:defRPr sz="1600">
                <a:solidFill>
                  <a:srgbClr val="2C3E50"/>
                </a:solidFill>
              </a:defRPr>
            </a:pPr>
            <a:r>
              <a:t>10. 'I'm willing to give it a go for a month' → CT (Activation/Commitment)</a:t>
            </a:r>
          </a:p>
          <a:p>
            <a:pPr>
              <a:spcAft>
                <a:spcPts val="600"/>
              </a:spcAft>
              <a:defRPr sz="1600">
                <a:solidFill>
                  <a:srgbClr val="2C3E50"/>
                </a:solidFill>
              </a:defRPr>
            </a:pPr>
          </a:p>
          <a:p>
            <a:pPr>
              <a:spcAft>
                <a:spcPts val="600"/>
              </a:spcAft>
              <a:defRPr sz="1600">
                <a:solidFill>
                  <a:srgbClr val="2C3E50"/>
                </a:solidFill>
              </a:defRPr>
            </a:pPr>
            <a:r>
              <a:t>THERAPIST RESPONSE PRACTICE:</a:t>
            </a:r>
          </a:p>
          <a:p>
            <a:pPr lvl="1">
              <a:spcAft>
                <a:spcPts val="600"/>
              </a:spcAft>
              <a:defRPr sz="1400">
                <a:solidFill>
                  <a:srgbClr val="2C3E50"/>
                </a:solidFill>
              </a:defRPr>
            </a:pPr>
            <a:r>
              <a:t>  For each CT: How would you REINFORCE it? (Reflection, affirmation, elaboration)</a:t>
            </a:r>
          </a:p>
          <a:p>
            <a:pPr lvl="1">
              <a:spcAft>
                <a:spcPts val="600"/>
              </a:spcAft>
              <a:defRPr sz="1400">
                <a:solidFill>
                  <a:srgbClr val="2C3E50"/>
                </a:solidFill>
              </a:defRPr>
            </a:pPr>
            <a:r>
              <a:t>  For each ST: How would you RESPOND without strengthening it?</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Rapid recognition of change talk vs. sustain talk is essential; respond differently to each.</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&amp; Rollnick, S. (2013). Motivational interviewing (3rd ed.). Guilford Press. | Moyers, T.B., et al. (2009). Journal of Substance Abuse Treatment, 36, 101-109.</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MET and Comorbid Psychiatric Disorders</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Adapt MET for clients with comorbid psychiatric disorders</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DUAL DIAGNOSIS CONSIDERATIONS:</a:t>
            </a:r>
          </a:p>
          <a:p>
            <a:pPr lvl="1">
              <a:spcAft>
                <a:spcPts val="600"/>
              </a:spcAft>
              <a:defRPr sz="1400">
                <a:solidFill>
                  <a:srgbClr val="2C3E50"/>
                </a:solidFill>
              </a:defRPr>
            </a:pPr>
            <a:r>
              <a:t>  • 50-70% of substance users have comorbid psychiatric disorders</a:t>
            </a:r>
          </a:p>
          <a:p>
            <a:pPr lvl="1">
              <a:spcAft>
                <a:spcPts val="600"/>
              </a:spcAft>
              <a:defRPr sz="1400">
                <a:solidFill>
                  <a:srgbClr val="2C3E50"/>
                </a:solidFill>
              </a:defRPr>
            </a:pPr>
            <a:r>
              <a:t>  • Depression, anxiety, PTSD, psychosis, personality disorders</a:t>
            </a:r>
          </a:p>
          <a:p>
            <a:pPr lvl="1">
              <a:spcAft>
                <a:spcPts val="600"/>
              </a:spcAft>
              <a:defRPr sz="1400">
                <a:solidFill>
                  <a:srgbClr val="2C3E50"/>
                </a:solidFill>
              </a:defRPr>
            </a:pPr>
            <a:r>
              <a:t>  • MET addresses substance use; may need integration with other treatments</a:t>
            </a:r>
          </a:p>
          <a:p>
            <a:pPr>
              <a:spcAft>
                <a:spcPts val="600"/>
              </a:spcAft>
              <a:defRPr sz="1600">
                <a:solidFill>
                  <a:srgbClr val="2C3E50"/>
                </a:solidFill>
              </a:defRPr>
            </a:pPr>
          </a:p>
          <a:p>
            <a:pPr>
              <a:spcAft>
                <a:spcPts val="600"/>
              </a:spcAft>
              <a:defRPr sz="1600">
                <a:solidFill>
                  <a:srgbClr val="2C3E50"/>
                </a:solidFill>
              </a:defRPr>
            </a:pPr>
            <a:r>
              <a:t>DEPRESSION + SUBSTANCE USE:</a:t>
            </a:r>
          </a:p>
          <a:p>
            <a:pPr lvl="1">
              <a:spcAft>
                <a:spcPts val="600"/>
              </a:spcAft>
              <a:defRPr sz="1400">
                <a:solidFill>
                  <a:srgbClr val="2C3E50"/>
                </a:solidFill>
              </a:defRPr>
            </a:pPr>
            <a:r>
              <a:t>  • Alcohol worsens depression; depression drives self-medication</a:t>
            </a:r>
          </a:p>
          <a:p>
            <a:pPr lvl="1">
              <a:spcAft>
                <a:spcPts val="600"/>
              </a:spcAft>
              <a:defRPr sz="1400">
                <a:solidFill>
                  <a:srgbClr val="2C3E50"/>
                </a:solidFill>
              </a:defRPr>
            </a:pPr>
            <a:r>
              <a:t>  • MET focus: Develop discrepancy (depression-alcohol cycle)</a:t>
            </a:r>
          </a:p>
          <a:p>
            <a:pPr lvl="1">
              <a:spcAft>
                <a:spcPts val="600"/>
              </a:spcAft>
              <a:defRPr sz="1400">
                <a:solidFill>
                  <a:srgbClr val="2C3E50"/>
                </a:solidFill>
              </a:defRPr>
            </a:pPr>
            <a:r>
              <a:t>  • Integration: MET + pharmacotherapy + CBT/IPT for depression</a:t>
            </a:r>
          </a:p>
          <a:p>
            <a:pPr>
              <a:spcAft>
                <a:spcPts val="600"/>
              </a:spcAft>
              <a:defRPr sz="1600">
                <a:solidFill>
                  <a:srgbClr val="2C3E50"/>
                </a:solidFill>
              </a:defRPr>
            </a:pPr>
          </a:p>
          <a:p>
            <a:pPr>
              <a:spcAft>
                <a:spcPts val="600"/>
              </a:spcAft>
              <a:defRPr sz="1600">
                <a:solidFill>
                  <a:srgbClr val="2C3E50"/>
                </a:solidFill>
              </a:defRPr>
            </a:pPr>
            <a:r>
              <a:t>ANXIETY + SUBSTANCE USE:</a:t>
            </a:r>
          </a:p>
          <a:p>
            <a:pPr lvl="1">
              <a:spcAft>
                <a:spcPts val="600"/>
              </a:spcAft>
              <a:defRPr sz="1400">
                <a:solidFill>
                  <a:srgbClr val="2C3E50"/>
                </a:solidFill>
              </a:defRPr>
            </a:pPr>
            <a:r>
              <a:t>  • Anxiety drives use (self-medication); withdrawal creates more anxiety</a:t>
            </a:r>
          </a:p>
          <a:p>
            <a:pPr lvl="1">
              <a:spcAft>
                <a:spcPts val="600"/>
              </a:spcAft>
              <a:defRPr sz="1400">
                <a:solidFill>
                  <a:srgbClr val="2C3E50"/>
                </a:solidFill>
              </a:defRPr>
            </a:pPr>
            <a:r>
              <a:t>  • MET focus: Build self-efficacy for alternative coping</a:t>
            </a:r>
          </a:p>
          <a:p>
            <a:pPr>
              <a:spcAft>
                <a:spcPts val="600"/>
              </a:spcAft>
              <a:defRPr sz="1600">
                <a:solidFill>
                  <a:srgbClr val="2C3E50"/>
                </a:solidFill>
              </a:defRPr>
            </a:pPr>
          </a:p>
          <a:p>
            <a:pPr>
              <a:spcAft>
                <a:spcPts val="600"/>
              </a:spcAft>
              <a:defRPr sz="1600">
                <a:solidFill>
                  <a:srgbClr val="2C3E50"/>
                </a:solidFill>
              </a:defRPr>
            </a:pPr>
            <a:r>
              <a:t>PSYCHOSIS + SUBSTANCE USE:</a:t>
            </a:r>
          </a:p>
          <a:p>
            <a:pPr lvl="1">
              <a:spcAft>
                <a:spcPts val="600"/>
              </a:spcAft>
              <a:defRPr sz="1400">
                <a:solidFill>
                  <a:srgbClr val="2C3E50"/>
                </a:solidFill>
              </a:defRPr>
            </a:pPr>
            <a:r>
              <a:t>  • Requires simplified, shorter sessions; concrete feedback</a:t>
            </a:r>
          </a:p>
          <a:p>
            <a:pPr lvl="1">
              <a:spcAft>
                <a:spcPts val="600"/>
              </a:spcAft>
              <a:defRPr sz="1400">
                <a:solidFill>
                  <a:srgbClr val="2C3E50"/>
                </a:solidFill>
              </a:defRPr>
            </a:pPr>
            <a:r>
              <a:t>  • Evidence: MI effective for medication adherence in psychosis</a:t>
            </a:r>
          </a:p>
          <a:p>
            <a:pPr>
              <a:spcAft>
                <a:spcPts val="600"/>
              </a:spcAft>
              <a:defRPr sz="1600">
                <a:solidFill>
                  <a:srgbClr val="2C3E50"/>
                </a:solidFill>
              </a:defRPr>
            </a:pPr>
          </a:p>
          <a:p>
            <a:pPr>
              <a:spcAft>
                <a:spcPts val="600"/>
              </a:spcAft>
              <a:defRPr sz="1600">
                <a:solidFill>
                  <a:srgbClr val="2C3E50"/>
                </a:solidFill>
              </a:defRPr>
            </a:pPr>
            <a:r>
              <a:t>PTSD + SUBSTANCE USE:</a:t>
            </a:r>
          </a:p>
          <a:p>
            <a:pPr lvl="1">
              <a:spcAft>
                <a:spcPts val="600"/>
              </a:spcAft>
              <a:defRPr sz="1400">
                <a:solidFill>
                  <a:srgbClr val="2C3E50"/>
                </a:solidFill>
              </a:defRPr>
            </a:pPr>
            <a:r>
              <a:t>  • Trauma-informed approach essential</a:t>
            </a:r>
          </a:p>
          <a:p>
            <a:pPr lvl="1">
              <a:spcAft>
                <a:spcPts val="600"/>
              </a:spcAft>
              <a:defRPr sz="1400">
                <a:solidFill>
                  <a:srgbClr val="2C3E50"/>
                </a:solidFill>
              </a:defRPr>
            </a:pPr>
            <a:r>
              <a:t>  • MET can motivate engagement with trauma treatment</a:t>
            </a:r>
          </a:p>
          <a:p>
            <a:pPr lvl="1">
              <a:spcAft>
                <a:spcPts val="600"/>
              </a:spcAft>
              <a:defRPr sz="1400">
                <a:solidFill>
                  <a:srgbClr val="2C3E50"/>
                </a:solidFill>
              </a:defRPr>
            </a:pPr>
            <a:r>
              <a:t>  • NIMHANS: Appropriate referral for complex cases</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MET addresses the substance component in dual diagnosis; integration with disorder-specific treatment is essential.</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Baker, A.L., et al. (2012). Clinical Psychology Review, 32, 726-738. | Murthy, P. (2008). NIMHANS Manual. | Drake, R.E., et al. (2004). Journal of Substance Abuse Treatment, 27, 197-213.</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Future Directions in MET Research and Practice</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Identify future directions in MET research and clinical application</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EMERGING RESEARCH AREAS:</a:t>
            </a:r>
          </a:p>
          <a:p>
            <a:pPr lvl="1">
              <a:spcAft>
                <a:spcPts val="600"/>
              </a:spcAft>
              <a:defRPr sz="1400">
                <a:solidFill>
                  <a:srgbClr val="2C3E50"/>
                </a:solidFill>
              </a:defRPr>
            </a:pPr>
            <a:r>
              <a:t>  • Technology-assisted MI (telehealth, AI chatbots, apps)</a:t>
            </a:r>
          </a:p>
          <a:p>
            <a:pPr lvl="1">
              <a:spcAft>
                <a:spcPts val="600"/>
              </a:spcAft>
              <a:defRPr sz="1400">
                <a:solidFill>
                  <a:srgbClr val="2C3E50"/>
                </a:solidFill>
              </a:defRPr>
            </a:pPr>
            <a:r>
              <a:t>  • Neuroimaging studies of MI effects on brain reward circuits</a:t>
            </a:r>
          </a:p>
          <a:p>
            <a:pPr lvl="1">
              <a:spcAft>
                <a:spcPts val="600"/>
              </a:spcAft>
              <a:defRPr sz="1400">
                <a:solidFill>
                  <a:srgbClr val="2C3E50"/>
                </a:solidFill>
              </a:defRPr>
            </a:pPr>
            <a:r>
              <a:t>  • Personalized/precision MET based on client characteristics</a:t>
            </a:r>
          </a:p>
          <a:p>
            <a:pPr lvl="1">
              <a:spcAft>
                <a:spcPts val="600"/>
              </a:spcAft>
              <a:defRPr sz="1400">
                <a:solidFill>
                  <a:srgbClr val="2C3E50"/>
                </a:solidFill>
              </a:defRPr>
            </a:pPr>
            <a:r>
              <a:t>  • Integration with genomic/pharmacogenomic data</a:t>
            </a:r>
          </a:p>
          <a:p>
            <a:pPr lvl="1">
              <a:spcAft>
                <a:spcPts val="600"/>
              </a:spcAft>
              <a:defRPr sz="1400">
                <a:solidFill>
                  <a:srgbClr val="2C3E50"/>
                </a:solidFill>
              </a:defRPr>
            </a:pPr>
            <a:r>
              <a:t>  • MET for behavioral addictions (gaming, social media, gambling)</a:t>
            </a:r>
          </a:p>
          <a:p>
            <a:pPr>
              <a:spcAft>
                <a:spcPts val="600"/>
              </a:spcAft>
              <a:defRPr sz="1600">
                <a:solidFill>
                  <a:srgbClr val="2C3E50"/>
                </a:solidFill>
              </a:defRPr>
            </a:pPr>
          </a:p>
          <a:p>
            <a:pPr>
              <a:spcAft>
                <a:spcPts val="600"/>
              </a:spcAft>
              <a:defRPr sz="1600">
                <a:solidFill>
                  <a:srgbClr val="2C3E50"/>
                </a:solidFill>
              </a:defRPr>
            </a:pPr>
            <a:r>
              <a:t>IMPLEMENTATION SCIENCE:</a:t>
            </a:r>
          </a:p>
          <a:p>
            <a:pPr lvl="1">
              <a:spcAft>
                <a:spcPts val="600"/>
              </a:spcAft>
              <a:defRPr sz="1400">
                <a:solidFill>
                  <a:srgbClr val="2C3E50"/>
                </a:solidFill>
              </a:defRPr>
            </a:pPr>
            <a:r>
              <a:t>  • How to scale MET training effectively across healthcare systems</a:t>
            </a:r>
          </a:p>
          <a:p>
            <a:pPr lvl="1">
              <a:spcAft>
                <a:spcPts val="600"/>
              </a:spcAft>
              <a:defRPr sz="1400">
                <a:solidFill>
                  <a:srgbClr val="2C3E50"/>
                </a:solidFill>
              </a:defRPr>
            </a:pPr>
            <a:r>
              <a:t>  • Maintaining fidelity in real-world (non-research) settings</a:t>
            </a:r>
          </a:p>
          <a:p>
            <a:pPr lvl="1">
              <a:spcAft>
                <a:spcPts val="600"/>
              </a:spcAft>
              <a:defRPr sz="1400">
                <a:solidFill>
                  <a:srgbClr val="2C3E50"/>
                </a:solidFill>
              </a:defRPr>
            </a:pPr>
            <a:r>
              <a:t>  • Cost-effectiveness analyses in different healthcare systems</a:t>
            </a:r>
          </a:p>
          <a:p>
            <a:pPr lvl="1">
              <a:spcAft>
                <a:spcPts val="600"/>
              </a:spcAft>
              <a:defRPr sz="1400">
                <a:solidFill>
                  <a:srgbClr val="2C3E50"/>
                </a:solidFill>
              </a:defRPr>
            </a:pPr>
            <a:r>
              <a:t>  • Task-shifting to non-specialists in low-resource settings (NIMHANS model)</a:t>
            </a:r>
          </a:p>
          <a:p>
            <a:pPr>
              <a:spcAft>
                <a:spcPts val="600"/>
              </a:spcAft>
              <a:defRPr sz="1600">
                <a:solidFill>
                  <a:srgbClr val="2C3E50"/>
                </a:solidFill>
              </a:defRPr>
            </a:pPr>
          </a:p>
          <a:p>
            <a:pPr>
              <a:spcAft>
                <a:spcPts val="600"/>
              </a:spcAft>
              <a:defRPr sz="1600">
                <a:solidFill>
                  <a:srgbClr val="2C3E50"/>
                </a:solidFill>
              </a:defRPr>
            </a:pPr>
            <a:r>
              <a:t>CLINICAL INNOVATIONS:</a:t>
            </a:r>
          </a:p>
          <a:p>
            <a:pPr lvl="1">
              <a:spcAft>
                <a:spcPts val="600"/>
              </a:spcAft>
              <a:defRPr sz="1400">
                <a:solidFill>
                  <a:srgbClr val="2C3E50"/>
                </a:solidFill>
              </a:defRPr>
            </a:pPr>
            <a:r>
              <a:t>  • Group-based MET formats</a:t>
            </a:r>
          </a:p>
          <a:p>
            <a:pPr lvl="1">
              <a:spcAft>
                <a:spcPts val="600"/>
              </a:spcAft>
              <a:defRPr sz="1400">
                <a:solidFill>
                  <a:srgbClr val="2C3E50"/>
                </a:solidFill>
              </a:defRPr>
            </a:pPr>
            <a:r>
              <a:t>  • Single-session MI (e.g., emergency department interventions)</a:t>
            </a:r>
          </a:p>
          <a:p>
            <a:pPr lvl="1">
              <a:spcAft>
                <a:spcPts val="600"/>
              </a:spcAft>
              <a:defRPr sz="1400">
                <a:solidFill>
                  <a:srgbClr val="2C3E50"/>
                </a:solidFill>
              </a:defRPr>
            </a:pPr>
            <a:r>
              <a:t>  • MI combined with contingency management</a:t>
            </a:r>
          </a:p>
          <a:p>
            <a:pPr lvl="1">
              <a:spcAft>
                <a:spcPts val="600"/>
              </a:spcAft>
              <a:defRPr sz="1400">
                <a:solidFill>
                  <a:srgbClr val="2C3E50"/>
                </a:solidFill>
              </a:defRPr>
            </a:pPr>
            <a:r>
              <a:t>  • MI for medication-assisted treatment engagement</a:t>
            </a:r>
          </a:p>
          <a:p>
            <a:pPr lvl="1">
              <a:spcAft>
                <a:spcPts val="600"/>
              </a:spcAft>
              <a:defRPr sz="1400">
                <a:solidFill>
                  <a:srgbClr val="2C3E50"/>
                </a:solidFill>
              </a:defRPr>
            </a:pPr>
            <a:r>
              <a:t>  • Culturally-adapted MI protocols for diverse populations</a:t>
            </a:r>
          </a:p>
          <a:p>
            <a:pPr>
              <a:spcAft>
                <a:spcPts val="600"/>
              </a:spcAft>
              <a:defRPr sz="1600">
                <a:solidFill>
                  <a:srgbClr val="2C3E50"/>
                </a:solidFill>
              </a:defRPr>
            </a:pPr>
          </a:p>
          <a:p>
            <a:pPr>
              <a:spcAft>
                <a:spcPts val="600"/>
              </a:spcAft>
              <a:defRPr sz="1600">
                <a:solidFill>
                  <a:srgbClr val="2C3E50"/>
                </a:solidFill>
              </a:defRPr>
            </a:pPr>
            <a:r>
              <a:t>THE FUTURE: MET principles integrated into standard clinical training worldwide</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MET's future includes technology-assisted delivery, precision approaches, and integration into standard healthcare training.</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&amp; Rollnick, S. (2013). Motivational interviewing (3rd ed.). Guilford Press. | Lundahl, B., et al. (2013). Patient Education and Counseling, 93, 157-168. | Apodaca, T.R., &amp; Longabaugh, R. (2009). Clinical Psychology Review, 29, 199-218.</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2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10972800" cy="731520"/>
          </a:xfrm>
          <a:prstGeom prst="rect">
            <a:avLst/>
          </a:prstGeom>
          <a:noFill/>
        </p:spPr>
        <p:txBody>
          <a:bodyPr wrap="square">
            <a:spAutoFit/>
          </a:bodyPr>
          <a:lstStyle/>
          <a:p>
            <a:pPr>
              <a:defRPr sz="2800" b="1">
                <a:solidFill>
                  <a:srgbClr val="FFFFFF"/>
                </a:solidFill>
              </a:defRPr>
            </a:pPr>
            <a:r>
              <a:t>Thank You and Final Reflections</a:t>
            </a:r>
          </a:p>
        </p:txBody>
      </p:sp>
      <p:sp>
        <p:nvSpPr>
          <p:cNvPr id="4" name="TextBox 3"/>
          <p:cNvSpPr txBox="1"/>
          <p:nvPr/>
        </p:nvSpPr>
        <p:spPr>
          <a:xfrm>
            <a:off x="457200" y="1097280"/>
            <a:ext cx="11247120" cy="457200"/>
          </a:xfrm>
          <a:prstGeom prst="rect">
            <a:avLst/>
          </a:prstGeom>
          <a:noFill/>
        </p:spPr>
        <p:txBody>
          <a:bodyPr wrap="square">
            <a:spAutoFit/>
          </a:bodyPr>
          <a:lstStyle/>
          <a:p>
            <a:pPr>
              <a:defRPr sz="1200" i="1">
                <a:solidFill>
                  <a:srgbClr val="0E7C6B"/>
                </a:solidFill>
              </a:defRPr>
            </a:pPr>
            <a:r>
              <a:t>Learning Objective: Integrate the spirit of MET as a professional value and clinical competency</a:t>
            </a:r>
          </a:p>
        </p:txBody>
      </p:sp>
      <p:sp>
        <p:nvSpPr>
          <p:cNvPr id="5" name="TextBox 4"/>
          <p:cNvSpPr txBox="1"/>
          <p:nvPr/>
        </p:nvSpPr>
        <p:spPr>
          <a:xfrm>
            <a:off x="457200" y="1554480"/>
            <a:ext cx="11247120" cy="4114800"/>
          </a:xfrm>
          <a:prstGeom prst="rect">
            <a:avLst/>
          </a:prstGeom>
          <a:noFill/>
        </p:spPr>
        <p:txBody>
          <a:bodyPr wrap="square">
            <a:spAutoFit/>
          </a:bodyPr>
          <a:lstStyle/>
          <a:p>
            <a:pPr>
              <a:spcAft>
                <a:spcPts val="600"/>
              </a:spcAft>
              <a:defRPr sz="1600">
                <a:solidFill>
                  <a:srgbClr val="2C3E50"/>
                </a:solidFill>
              </a:defRPr>
            </a:pPr>
            <a:r>
              <a:t>MOTIVATIONAL ENHANCEMENT THERAPY</a:t>
            </a:r>
          </a:p>
          <a:p>
            <a:pPr>
              <a:spcAft>
                <a:spcPts val="600"/>
              </a:spcAft>
              <a:defRPr sz="1600">
                <a:solidFill>
                  <a:srgbClr val="2C3E50"/>
                </a:solidFill>
              </a:defRPr>
            </a:pPr>
          </a:p>
          <a:p>
            <a:pPr>
              <a:spcAft>
                <a:spcPts val="600"/>
              </a:spcAft>
              <a:defRPr sz="1600">
                <a:solidFill>
                  <a:srgbClr val="2C3E50"/>
                </a:solidFill>
              </a:defRPr>
            </a:pPr>
            <a:r>
              <a:t>'People are generally the best experts on themselves.'</a:t>
            </a:r>
          </a:p>
          <a:p>
            <a:pPr lvl="1">
              <a:spcAft>
                <a:spcPts val="600"/>
              </a:spcAft>
              <a:defRPr sz="1400">
                <a:solidFill>
                  <a:srgbClr val="2C3E50"/>
                </a:solidFill>
              </a:defRPr>
            </a:pPr>
            <a:r>
              <a:t>  — William R. Miller</a:t>
            </a:r>
          </a:p>
          <a:p>
            <a:pPr>
              <a:spcAft>
                <a:spcPts val="600"/>
              </a:spcAft>
              <a:defRPr sz="1600">
                <a:solidFill>
                  <a:srgbClr val="2C3E50"/>
                </a:solidFill>
              </a:defRPr>
            </a:pPr>
          </a:p>
          <a:p>
            <a:pPr>
              <a:spcAft>
                <a:spcPts val="600"/>
              </a:spcAft>
              <a:defRPr sz="1600">
                <a:solidFill>
                  <a:srgbClr val="2C3E50"/>
                </a:solidFill>
              </a:defRPr>
            </a:pPr>
            <a:r>
              <a:t>'If you find yourself in a struggle with the patient, you are doing it wrong.'</a:t>
            </a:r>
          </a:p>
          <a:p>
            <a:pPr lvl="1">
              <a:spcAft>
                <a:spcPts val="600"/>
              </a:spcAft>
              <a:defRPr sz="1400">
                <a:solidFill>
                  <a:srgbClr val="2C3E50"/>
                </a:solidFill>
              </a:defRPr>
            </a:pPr>
            <a:r>
              <a:t>  — Adapted from Miller &amp; Rollnick, 2013</a:t>
            </a:r>
          </a:p>
          <a:p>
            <a:pPr>
              <a:spcAft>
                <a:spcPts val="600"/>
              </a:spcAft>
              <a:defRPr sz="1600">
                <a:solidFill>
                  <a:srgbClr val="2C3E50"/>
                </a:solidFill>
              </a:defRPr>
            </a:pPr>
          </a:p>
          <a:p>
            <a:pPr>
              <a:spcAft>
                <a:spcPts val="600"/>
              </a:spcAft>
              <a:defRPr sz="1600">
                <a:solidFill>
                  <a:srgbClr val="2C3E50"/>
                </a:solidFill>
              </a:defRPr>
            </a:pPr>
            <a:r>
              <a:t>'The therapist's task is to tip the motivational balance in favor of change.'</a:t>
            </a:r>
          </a:p>
          <a:p>
            <a:pPr lvl="1">
              <a:spcAft>
                <a:spcPts val="600"/>
              </a:spcAft>
              <a:defRPr sz="1400">
                <a:solidFill>
                  <a:srgbClr val="2C3E50"/>
                </a:solidFill>
              </a:defRPr>
            </a:pPr>
            <a:r>
              <a:t>  — Miller et al., 1995 (MET Manual)</a:t>
            </a:r>
          </a:p>
          <a:p>
            <a:pPr>
              <a:spcAft>
                <a:spcPts val="600"/>
              </a:spcAft>
              <a:defRPr sz="1600">
                <a:solidFill>
                  <a:srgbClr val="2C3E50"/>
                </a:solidFill>
              </a:defRPr>
            </a:pPr>
          </a:p>
          <a:p>
            <a:pPr>
              <a:spcAft>
                <a:spcPts val="600"/>
              </a:spcAft>
              <a:defRPr sz="1600">
                <a:solidFill>
                  <a:srgbClr val="2C3E50"/>
                </a:solidFill>
              </a:defRPr>
            </a:pPr>
            <a:r>
              <a:t>'Brief interventions provide a method of health promotion and disease prevention.'</a:t>
            </a:r>
          </a:p>
          <a:p>
            <a:pPr lvl="1">
              <a:spcAft>
                <a:spcPts val="600"/>
              </a:spcAft>
              <a:defRPr sz="1400">
                <a:solidFill>
                  <a:srgbClr val="2C3E50"/>
                </a:solidFill>
              </a:defRPr>
            </a:pPr>
            <a:r>
              <a:t>  — Murthy, 2008 (NIMHANS Manual)</a:t>
            </a:r>
          </a:p>
          <a:p>
            <a:pPr>
              <a:spcAft>
                <a:spcPts val="600"/>
              </a:spcAft>
              <a:defRPr sz="1600">
                <a:solidFill>
                  <a:srgbClr val="2C3E50"/>
                </a:solidFill>
              </a:defRPr>
            </a:pPr>
          </a:p>
          <a:p>
            <a:pPr>
              <a:spcAft>
                <a:spcPts val="600"/>
              </a:spcAft>
              <a:defRPr sz="1600">
                <a:solidFill>
                  <a:srgbClr val="2C3E50"/>
                </a:solidFill>
              </a:defRPr>
            </a:pPr>
            <a:r>
              <a:t>REMEMBER: The spirit of MET is its most powerful element.</a:t>
            </a:r>
          </a:p>
          <a:p>
            <a:pPr lvl="1">
              <a:spcAft>
                <a:spcPts val="600"/>
              </a:spcAft>
              <a:defRPr sz="1400">
                <a:solidFill>
                  <a:srgbClr val="2C3E50"/>
                </a:solidFill>
              </a:defRPr>
            </a:pPr>
            <a:r>
              <a:t>  Partnership. Acceptance. Compassion. Evocation.</a:t>
            </a:r>
          </a:p>
          <a:p>
            <a:pPr>
              <a:spcAft>
                <a:spcPts val="600"/>
              </a:spcAft>
              <a:defRPr sz="1600">
                <a:solidFill>
                  <a:srgbClr val="2C3E50"/>
                </a:solidFill>
              </a:defRPr>
            </a:pPr>
          </a:p>
          <a:p>
            <a:pPr>
              <a:spcAft>
                <a:spcPts val="600"/>
              </a:spcAft>
              <a:defRPr sz="1600">
                <a:solidFill>
                  <a:srgbClr val="2C3E50"/>
                </a:solidFill>
              </a:defRPr>
            </a:pPr>
            <a:r>
              <a:t>Every interaction is an opportunity to enhance motivation for positive change.</a:t>
            </a:r>
          </a:p>
        </p:txBody>
      </p:sp>
      <p:sp>
        <p:nvSpPr>
          <p:cNvPr id="6" name="Rounded Rectangle 5"/>
          <p:cNvSpPr/>
          <p:nvPr/>
        </p:nvSpPr>
        <p:spPr>
          <a:xfrm>
            <a:off x="457200" y="5303520"/>
            <a:ext cx="8229600" cy="548640"/>
          </a:xfrm>
          <a:prstGeom prst="roundRect">
            <a:avLst/>
          </a:prstGeom>
          <a:solidFill>
            <a:srgbClr val="D6EAF8"/>
          </a:solidFill>
          <a:ln>
            <a:solidFill>
              <a:srgbClr val="2E86C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F2744"/>
                </a:solidFill>
              </a:defRPr>
            </a:pPr>
            <a:r>
              <a:t>Key Takeaway: The spirit of MET - partnership, acceptance, compassion, evocation - transforms both therapy and the therapist.</a:t>
            </a:r>
          </a:p>
        </p:txBody>
      </p:sp>
      <p:sp>
        <p:nvSpPr>
          <p:cNvPr id="7" name="TextBox 6"/>
          <p:cNvSpPr txBox="1"/>
          <p:nvPr/>
        </p:nvSpPr>
        <p:spPr>
          <a:xfrm>
            <a:off x="274320" y="5943600"/>
            <a:ext cx="11612880" cy="822960"/>
          </a:xfrm>
          <a:prstGeom prst="rect">
            <a:avLst/>
          </a:prstGeom>
          <a:noFill/>
        </p:spPr>
        <p:txBody>
          <a:bodyPr wrap="square">
            <a:spAutoFit/>
          </a:bodyPr>
          <a:lstStyle/>
          <a:p>
            <a:pPr>
              <a:defRPr sz="900" i="1">
                <a:solidFill>
                  <a:srgbClr val="5D6D7E"/>
                </a:solidFill>
              </a:defRPr>
            </a:pPr>
            <a:r>
              <a:t>References: Miller, W.R., et al. (1995). MET Manual. | Miller, W.R., &amp; Rollnick, S. (2013). MI (3rd ed.). | Murthy, P. (2008). NIMHANS Manual.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