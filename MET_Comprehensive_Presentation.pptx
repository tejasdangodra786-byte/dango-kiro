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560320"/>
            <a:ext cx="85340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84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D700"/>
                </a:solidFill>
                <a:latin typeface="Times New Roman"/>
              </a:rPr>
              <a:t>Motivational Enhancement Therapy (MET)</a:t>
            </a:r>
          </a:p>
          <a:p>
            <a:pPr algn="ctr"/>
            <a:r>
              <a:rPr sz="2800">
                <a:solidFill>
                  <a:srgbClr val="FFFFFF"/>
                </a:solidFill>
                <a:latin typeface="Times New Roman"/>
              </a:rPr>
              <a:t>A Comprehensive Clinical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8534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>Based on the MET Manual (Miller, Zweben, DiClemente &amp; Rychtarik, 1992)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>NIAAA Project MATCH Monograph Series, Volume 2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>&amp; NIMHANS Substance Use Disorders Manual (2016)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/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>80-Slide Educational Presentation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D6EAF8"/>
                </a:solidFill>
                <a:latin typeface="Times New Roman"/>
              </a:rPr>
              <a:t>For Clinical Training &amp; Academic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Table of Contents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TABLE OF CONTENTS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1: Introduction (Slides 1-8)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2: Theoretical Foundations (Slides 9-18)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3: Principles &amp; Spirit of MI (Slides 19-26)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4: Session-by-Session Guide (Slides 27-38)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5: Clinical Techniques (Slides 39-44)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6: Case Conceptualization (Slides 45-50)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7: Worksheets &amp; Tools (Slides 51-56)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8: Comparison with Other Therapies (57-64)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9: Comorbid Disorders (Slides 65-72)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Section 10: Research &amp; Effectiveness (Slides 73-80)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(1992). MET Manual, NIAAA Project MATCH Monograph Vol.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What is MET? -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WHAT IS MOTIVATIONAL ENHANCEMENT THERAPY?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is a brief, systematic intervention designed to produce rapid,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internally motivated change in persons with substance use problems.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Features: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Uses 4 carefully structured sessions (not 12 or more)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Does NOT teach skills or give advice directly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Instead, it mobilizes the client's OWN internal motivation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Uses empathic, non-confrontational strategies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Relies on personalized assessment feedback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Based on Motivational Interviewing principles (Miller &amp; Rollnick)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Think of it this way: MET does not push you to change.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It helps YOU find your own reasons to change.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(1992). MET Manual, p.1; NIMHANS SUD Manual (2016), Ch.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MET vs Traditional Approaches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TRADITIONAL APPROACHES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Therapist is the expert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Confrontation of denial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Prescribes specific steps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Labels client (e.g., 'alcoholic')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Teaches coping skills directly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Long-term (12+ sessions typical)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Resistance = client's fault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External motivation 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MET APPROACH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Client is the expert on self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Empathy and reflection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Elicits client's own solutions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Avoids labels entirely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Mobilizes internal resources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Brief (4 sessions total)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Resistance = therapist signal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Internal motivation activated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(1992). MET Manual, pp. 1-5; Miller &amp; Rollnick (2002)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Origins: Project MATCH &amp; MI History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ORIGINS &amp; HISTORY OF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1983: William R. Miller publishes foundational paper on Motivational Interviewing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1991: Miller &amp; Rollnick publish first MI book - clinical framework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1989-1997: Project MATCH - largest psychotherapy trial for alcohol (1,726 clients)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1992: MET Manual developed for Project MATCH (4-session adaptation of MI)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Project MATCH compared three treatments: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1. Motivational Enhancement Therapy (MET) - 4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2. Cognitive-Behavioral Therapy (CBT) - 12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3. Twelve-Step Facilitation (TSF) - 12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Finding: MET achieved COMPARABLE outcomes in only 4 sessions!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This proved brief motivational approaches can match intensive treatments.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(1992); Project MATCH Research Group (1997); Miller &amp; Rollnick (1991)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Who is MET For? - Target Populations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WHO IS MET DESIGNED FOR?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Primary Target Populations: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Adults with alcohol use disorders (originally developed for)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Adults with other substance use disorders (adapted)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Dual diagnosis clients (substance + mental health)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Individuals ambivalent about change (contemplation stage)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Settings Where MET is Used: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Outpatient addiction clinics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Primary healthcare (brief interventions)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Emergency departments (screening &amp; brief MET)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Community mental health centers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Correctional / forensic settings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is especially effective for those NOT yet ready to change.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5-8; NIMHANS SUD Manual (2016), Ch.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The MET Therapist's Role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THE MET THERAPIST'S ROLE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therapist in MET is NOT a teacher, advisor, or expert.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Instead, the therapist is a skilled GUIDE who: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Expresses genuine empathy (understands without judging)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Creates a safe, non-threatening atmosphere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Avoids arguments and confrontation at all costs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Elicits the client's own concerns and motivations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Provides objective personal feedback (from assessments)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Highlights discrepancies between goals and current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Supports self-efficacy (belief in ability to change)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Rolls with resistance rather than opposing it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therapist's tone is warm, curious, and collaborative.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Think: 'Dancing with the client' rather than 'wrestling.'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12-18; Miller &amp; Rollnick (2002), Ch.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Overview of the 4-Session MET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SESSION 1: Building Motivation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assessment results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Provide Personal Feedback Report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Elicit client's reactions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Develop discrepancy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Assess readiness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2: Strengthening Commitment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progress since Session 1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Reinforce change talk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Develop written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Consolidate commitment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SESSION 3: Review &amp; Renewal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progress on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Affirm positive changes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Address barriers encountered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Renew or revise commitment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4: Final Review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overall progress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Anticipate future challenges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Handle any relapse/slip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Plan for continued self-change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Termination &amp; referrals if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(1992). MET Manual, pp. 29-70 (Session-by-session guide)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2
Theoretical Foundations of MET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Transtheoretical Model - Stages of Change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THE TRANSTHEORETICAL MODEL (Prochaska &amp; DiClemente, 1983)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This model describes HOW people change. Change is not an event - it is a PROCESS.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People move through predictable stages: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1. PRECONTEMPLATION - Not thinking about change (unaware/unwilling)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2. CONTEMPLATION - Aware of problem, weighing pros &amp; cons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3. PREPARATION - Decided to change, making plans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4. ACTION - Actively modifying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5. MAINTENANCE - Sustaining new behavior over time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6. RELAPSE - Return to old patterns (normal part of cycle)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Insight for MET: The therapist must MATCH the intervention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to the client's current stage. Pushing action on a precontemplator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creates resistance. MET meets clients WHERE THEY 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Prochaska &amp; DiClemente (1983); Miller et al. (1992), pp. 8-12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Precontemplation Stage (Detailed)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PRECONTEMPLATION STAGE - 'I Don't Have a Problem'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Characteristics of the Precontemplator: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Does not perceive their substance use as problematic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Often enters therapy due to external pressure (family, court, job)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May be defensive, minimizing, or rationalizing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Unaware of consequences or in active denial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Therapist's Task at This Stage: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DO NOT argue or confront - this increases resistance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Raise doubt gently by exploring consequences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 personalized feedback to create awareness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Plant seeds of concern without demanding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Express empathy and build rapport first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Move from 'no concern' to 'some awareness' (raise doubt).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DiClemente &amp; Prochaska (1998); Miller et al. (1992), p.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Contemplation Stage (Detailed)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CONTEMPLATION STAGE - 'I Know It's a Problem, But...'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Characteristics of the Contemplator: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Acknowledges the problem exists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Weighing pros and cons of change (ambivalence)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May have been thinking about change for months/years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'Stuck' - aware but not committed to action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Classic statement: 'I want to quit, but I'm not sure I can'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Therapist's Task at This Stage: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Tip the decisional balance (help pros of change outweigh cons)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Develop discrepancy between values and current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Explore the 'good things' and 'less good things' about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 reflective listening to amplify change talk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Normalize ambivalence - it's okay to be unsure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Resolve ambivalence in favor of change.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10-11; Miller &amp; Rollnick (2002), Ch.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Preparation Stage (Detailed)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PREPARATION STAGE - 'I'm Going to Do Something About This'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Characteristics of Someone in Preparation: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Has decided to change (tipping point reached)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May have already taken small steps (cut down, told someone)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Seeks information about HOW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May set a quit date or ask for help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Window of opportunity - relatively brief stage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Therapist's Task at This Stage: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Help develop a concrete, written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Explore options (not prescribe) for change methods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 the decision and build confidence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Negotiate goals that are realistic and client-chosen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practical barriers proactively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Assist in creating a workable change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11-12; DiClemente (2003)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Action &amp; Maintenance Stages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ACTION STAGE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Client is actively changing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May have stopped or reduced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Implementing the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Visible behavioral modifications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 Tasks: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Affirm steps taken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Help identify and address barriers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Support self-efficacy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and adjust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Connect to additional resources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MAINTENANCE STAGE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Sustaining changes over time (6+ months)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Developing new lifestyle patterns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Building relapse prevention skills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Integrating new identity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 Tasks: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Reinforce long-term commitment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Anticipate high-risk situations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Normalize ongoing challenges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Plan for future without therapy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Celebrate progress and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Prochaska &amp; DiClemente (1983); Miller et al. (1992), pp. 60-70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Relapse as Part of the Change 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RELAPSE AS PART OF THE CHANGE CYCLE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Critical Concept: Relapse is NOT failure - it is a NORMAL part of change.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Facts About Relapse: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Most people cycle through stages 3-7 times before sustained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Relapse provides learning opportunities about triggers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reframes relapse as a 'slip' not a catastrophe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Each attempt builds skills and self-knowledge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Response to Relapse: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 shame, blame, or labeling (never say 'you failed')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Explore what led to the slip (functional analysis)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Reconnect with original motivations for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Renew and revise the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Strengthen self-efficacy: 'You did it before, you can do it again'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Re-engage in the change cycle at the appropriate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60-65; Marlatt &amp; Gordon (1985)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Self-Efficacy Theory (Bandura) &amp;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SELF-EFFICACY THEORY (Bandura, 1977) &amp;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Self-efficacy = A person's BELIEF in their ability to succeed at a task.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Why It Matters in MET: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People who believe they CAN change are more likely to actually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Low self-efficacy predicts dropout and continued substance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actively builds self-efficacy throughout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MET Builds Self-Efficacy: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Affirming past successes (however small)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Highlighting personal strengths and resources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Using confidence rulers to track improvement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Providing examples of others who have succeeded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Avoiding criticism that would undermine confidence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Supporting autonomy: 'Only YOU can make this change'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Principle: Support Self-Efficacy is one of the 5 core MI principles.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Bandura (1977); Miller et al. (1992), pp. 18-20; Miller &amp; Rollnick (2002)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Cognitive Dissonance Theory &amp;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COGNITIVE DISSONANCE THEORY (Festinger, 1957) &amp;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Core Idea: When a person holds two contradictory beliefs simultaneously,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they experience psychological discomfort (dissonance) that motivates change.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Application in MET - 'Developing Discrepancy':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Client says: 'I value being a good parent'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Reality: 'My drinking has caused me to miss my child's events'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This GAP between values and behavior = DISCREPANCY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The discomfort from this gap drives motivation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MET Creates Therapeutic Discrepancy: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Personal feedback shows objective consequences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Exploring 'what matters most to you' vs current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Reflecting back contradictions gently (not confrontationally)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Letting the CLIENT notice the gap (not pointing it out directly)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Key: The motivation comes FROM WITHIN when the person sees the gap.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Festinger (1957); Miller et al. (1992), pp. 14-16; Miller &amp; Rollnick (2002)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Decision-Making Theory (Janis &amp; Mann) &amp;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0F0F2"/>
          </a:solidFill>
          <a:ln w="2540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B83"/>
                </a:solidFill>
                <a:latin typeface="Times New Roman"/>
              </a:rPr>
              <a:t>DECISION-MAKING THEORY (Janis &amp; Mann, 1977) &amp;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Core Idea: People make decisions by weighing utilities - gains and losses.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Decisional conflict occurs when all options have significant pros AND cons.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Janis &amp; Mann's Conflict Model: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Unconflicted adherence - ignore the problem (precontemplation)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Unconflicted change - impulsive action without planning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Defensive avoidance - procrastination, buck-passing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Hypervigilance - panic-driven decisions (poor quality)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Vigilance - careful weighing of all options (BEST outcomes)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MET Uses This Theory: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Decisional Balance exercise helps structure the weighing process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Therapist creates conditions for 'vigilant' decision-making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Avoids creating hypervigilance (no pressure, no deadlines)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Supports thorough consideration of all options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aims to help clients make HIGH-QUALITY decisions about change.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Janis &amp; Mann (1977); Miller et al. (1992), pp. 16-18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3
Principles &amp; Spirit of
Motivational Interviewing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Five Principles of Motivational Interviewing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THE 5 PRINCIPLES OF MI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EXPRESS EMPATHY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Understand the client's perspective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without judging. Acceptance facilitates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change. Ambivalence is normal.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DEVELOP DISCREPANCY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Help client see gap between current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behavior and important personal goals/values.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AVOID ARGUMENTATION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Arguments are counterproductive.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Defending creates defensiveness.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ROLL WITH RESISTANCE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Don't fight resistance - use it.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New perspectives are invited, not imposed.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The client is the primary resource.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SUPPORT SELF-EFFICACY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Belief in possibility of change is 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powerful motivator. The client IS capable.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Hope and optimism are therapeutic.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These 5 principles guide EVERY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interaction in MET sessions.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&amp; Rollnick (1991, 2002); Miller et al. (1992), pp. 12-20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FRAMES - Brief Intervention Elements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FRAMES - Brief Intervention Elements (Miller &amp; Sanchez, 1994)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 = FEEDBACK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Provide personal, objective feedback about the client's substance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(e.g., how their drinking compares to norms, health risks identified)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 = RESPONSIBILITY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Emphasize that change is the CLIENT's choice and responsibility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(e.g., 'Only you can decide what to do about this')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 = ADVICE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Offer clear advice to change (when appropriate, with permission)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 = MENU OF OPTIONS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Provide multiple options for change (not just one 'right way')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 = EMPATHY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Use warm, reflective, understanding counseling style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 = SELF-EFFICACY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Express confidence in client's ability to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&amp; Sanchez (1994); Miller et al. (1992), pp. 21-28; NIMHANS (2016)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OARS - Core Microskills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OARS - Core Microskills of MI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O = OPEN-ENDED QUESTIONS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Questions that cannot be answered with just 'yes' or 'no'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Example: 'Tell me about your drinking' vs 'Do you drink?'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 = AFFIRMATIONS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Genuine statements recognizing client's strengths and efforts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Example: 'It took courage to come here today'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 = REFLECTIVE LISTENING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Restating/rephrasing what client says to show understanding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Example: Client: 'I guess my wife worries' / Therapist: 'Your drinking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is affecting your marriage in ways that concern you'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 = SUMMARIES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Collecting and organizing what client has said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Links themes, reinforces change talk, transitions conversation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These 4 skills are the TOOLS the MET therapist uses in every moment.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&amp; Rollnick (2002); Miller et al. (1992), pp. 21-25; NIMHANS (2016)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DARES - Change Talk Categories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DARES - Recognizing Change Talk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Change talk = Any statement by the client that favors change.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therapist's job is to ELICIT and REINFORCE change talk.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 = DESIRE ('I want to quit', 'I wish things were different')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 = ABILITY ('I could probably cut down', 'I've done it before')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 = REASONS ('My health is suffering', 'I'm losing my family')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 = NEED ('I've got to do something', 'I need to change')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 = COMMITMENT ('I will stop', 'I'm going to do this')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Opposite = SUSTAIN TALK (arguments for NOT changing)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Example: 'Drinking helps me relax' or 'I can handle it'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Principle: Reinforce DARES, reflect sustain talk without arguing.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&amp; Rollnick (2002); Amrhein et al. (2003); NIMHANS (2016)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Spirit of MI: Collaboration, Evocation, Autonomy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THE SPIRIT OF MI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(The 'Way of Being' with Clients)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COLLABORATION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Partnership, not expert-patient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Working together side-by-side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Honoring client's expertise on self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Power is shared equally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EVOCATION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Drawing out what's already there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Client has the answers within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Therapist's role: ask, not tell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Motivation is elicited, not installed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AUTONOMY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Client's right to choose respected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No coercion, no pressure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'It's up to you' is genuine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Freedom to choose NOT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WHY THIS MATTERS: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When people feel controlled, they resist.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When people feel free, they choose wisely.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MI Spirit creates conditions where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becomes the client's own natural choice.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&amp; Rollnick (2002), Ch. 2; Miller et al. (1992), pp. 12-14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Handling Resistance - Types &amp;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HANDLING RESISTANCE - Types &amp; Strategies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Types of Resistance (Miller et al., 1992):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Arguing - Challenging, discounting, being hostile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Interrupting - Talking over, cutting off therapist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Denying - Blaming, disagreeing, excusing, minimizing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Ignoring - Inattention, sidetracking, no response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Strategies for Resistance: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Simple Reflection - Acknowledge without judgment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Amplified Reflection - Slightly exaggerate to prompt correction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Double-Sided Reflection - Reflect both sides of ambivalence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Shifting Focus - Move away from contentious topic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Reframing - Offer new interpretation of information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Agreement with a Twist - Agree but add new direction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Emphasizing Personal Choice - 'It's entirely up to you'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Golden Rule: If resistance increases, CHANGE WHAT YOU'RE DOING.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22-28; Miller &amp; Rollnick (2002), Ch.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Clinical Dialogue: Resistance &amp; Change Talk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RESISTANCE DIALOGUE EXAMPLE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Client: 'I don't have a problem. My wife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is just overreacting as usual.'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BAD Response (confrontational):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'Well, your blood tests say otherwise.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You clearly have a drinking problem.'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(This creates MORE resistance)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GOOD Response (rolling with resistance):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'So from your perspective, your wife's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concerns seem exaggerated. Tell me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more about how you see things.'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(This opens dialogue)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CHANGE TALK DIALOGUE EXAMPLE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Client: 'I suppose my drinking has caused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some problems at work lately.'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BAD Response (missing change talk):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'Okay, what else is going on?'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(Missed opportunity to reinforce)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GOOD Response (reinforcing change talk):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'You're noticing that alcohol is starting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to affect important areas of your life,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like your career. That takes awareness.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Tell me more about what you've noticed.'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(Amplifies and reinforces change talk)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22-28; Miller &amp; Rollnick (2002), Clinical 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4
Session-by-Session Guide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 Overview: Building Motivation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1 OVERVIEW: BUILDING MOTIVATION FOR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Duration: 60-90 minutes (the longest session)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Timing: After assessment battery is completed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Primary Goals: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Establish therapeutic rapport and trust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Provide structured Personal Feedback Report (PFR)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Elicit client's reactions to feedback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Begin developing discrepancy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Assess current readiness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Materials Needed: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Completed assessment results (drinking profile, consequences)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Personal Feedback Report prepared in advance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Readiness to Change Ruler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Change Plan Worksheet (in case client is ready)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 Mindset: Be curious, not corrective.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29-42 (Session 1 protocol)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1: Opening &amp; Rapport Building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1: OPENING &amp; BUILDING RAPPORT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Opening the Session (First 10-15 minutes):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Start with an open-ended question about the client's experience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Example: 'What brought you here today?'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Acknowledge any coercion or external pressure without judgment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Example: 'So your boss suggested you come. How do you feel about that?'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Establish a collaborative tone from the first moment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Explain the session structure briefly: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'Today I'd like to share some results from your assessment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and hear your thoughts about them.'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Rapport-Building Tips: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 client's name naturally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Match their language and pace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 them for showing up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Be genuinely curious about their world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 premature focus on 'the problem'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30-33; Miller &amp; Rollnick (2002)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1: Personal Feedback Report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1: THE PERSONAL FEEDBACK REPORT (PFR)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PFR is the CORE TOOL of Session 1. It contains: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1. DRINKING/USE PROFILE: Quantity, frequency, patterns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2. NORMATIVE COMPARISON: How client compares to general population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(e.g., 'Your drinking places you in the top 5% of adults')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3. RISK FACTORS: Blood alcohol levels, tolerance indicators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4. CONSEQUENCES: Physical, social, legal, emotional problems reported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5. DEPENDENCE INDICATORS: Signs of physiological dependence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6. NEUROPSYCHOLOGICAL FUNCTIONING: Any cognitive impacts detected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7. FAMILY RISK FACTORS: Genetic/family history of substance problems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to Present the PFR: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Give the report TO the client (their copy)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Go through each section, asking for reactions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'What do you make of this?' / 'Does this surprise you?'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Let the client process - don't rush or interpret for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33-38 (Feedback protocol)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1: Eliciting Change Talk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1: ELICITING CHANGE TALK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After presenting feedback, actively draw out the client's motivation: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Questions to Elicit Change Talk: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'What concerns you most about what you've heard?'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'In what ways does this worry you?'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'What would happen if you didn't change anything?'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'What are the best reasons for making a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'What would be different in your life if you changed?'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'On a scale of 0-10, how important is it for you to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When You Hear Change Talk: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Reflect it back (amplify it)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Ask for more: 'Tell me more about that'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Affirm: 'That's an important realization'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Summarize change talk you've heard so far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When You Hear Sustain Talk: Reflect it, then ask the other side.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38-40; Miller &amp; Rollnick (2002), Ch.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1: Closing &amp; Readiness Assessment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1: CLOSING &amp; READINESS ASSESSMENT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Closing the First Session (Last 10-15 minutes):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Provide a SUMMARY of what you've discussed: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'Let me pull together what you've shared today...'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Include both sides of ambivalence, ending with change talk.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Assess READINESS TO CHANGE: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Use the Readiness Ruler (0-10):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'On a scale of 0 to 10, how ready are you to make a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Follow up: 'Why a [number] and not a lower number?'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Based on Readiness Level: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Low (1-3): 'Thank you for being open. Let's talk again next time.'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Medium (4-6): 'You're considering change. Let's explore that more.'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High (7-10): 'You seem quite ready. Would you like to start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making a plan?' (Introduce Change Plan Worksheet)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Schedule Session 2 and give client the PFR to take home.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40-42; Rollnick et al. (1999)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2 Overview: Strengthening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2 OVERVIEW: STRENGTHENING COMMITMENT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Duration: 45-60 minutes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Timing: 1-2 weeks after Session 1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Primary Goals: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Review what happened since Session 1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Reinforce and amplify any change talk or steps taken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ongoing ambivalence if present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Develop a formal, written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Consolidate commitment to the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Principle: The Session 2 approach depends on the client's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current readiness level: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If still ambivalent: Continue building motivation (don't force)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If ready: Move to Change Plan development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If already acting: Affirm, support, help structure efforts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2 is where the 'bridge' from motivation to action is built.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43-54 (Session 2 protocol)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2: Change Plan Development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 2: THE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Change Plan Worksheet has these components: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THE CHANGES I WANT TO MAKE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(Specific, client-chosen goals)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THE MOST IMPORTANT REASONS TO CHANGE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(Client's own reasons, in their own words)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THE STEPS I PLAN TO TAKE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(Concrete, achievable action steps)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THE WAYS OTHER PEOPLE CAN HELP ME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(Social support identified)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I WILL KNOW MY PLAN IS WORKING IF: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(Observable, measurable indicators)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6. THINGS THAT COULD INTERFERE AND HOW I'LL HANDLE THEM: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(Anticipating obstacles and creating coping strategies)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46-50 (Change Plan Worksheet)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2: Adapting to Readiness Level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IF CLIENT IS NOT YET READY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(Readiness = 1-4)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Do NOT push the Change Plan.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Instead: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Continue exploring ambivalence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Ask evocative questions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Use decisional balance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Provide more information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Respect their pace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Review personal feedback again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End with door open for next time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'There's no rush. I'm here when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you're ready to talk more.'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7D32"/>
                </a:solidFill>
                <a:latin typeface="Times New Roman"/>
              </a:rPr>
              <a:t>IF CLIENT IS READY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(Readiness = 7-10)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Move to Change Plan directly.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Set clear, specific goals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Brainstorm strategies together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Identify support people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Write out the plan formally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Have client sign/commit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Give them a copy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Plan for obstacles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'Let's put this into a plan that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works for you.'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43-54; Rollnick et al. (1999)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Sessions 3-4: Review &amp; Renewal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SESSIONS 3 AND 4: REVIEW &amp; RENEWAL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Timing: Typically at weeks 6 and 12 (spaced out intentionally)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3 Goals: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Review progress on the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 positive changes observed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any barriers or difficulties encountered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Renew or revise commitment as needed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Reinforce self-efficacy with evidence of progress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4 Goals: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Final review of treatment goals and progress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Anticipate future challenges and high-risk situations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Plan for long-term maintenance without therapy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Discuss options for continued care if needed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Celebrate achievements and mark the ending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Principle: These sessions match the client's current stage.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55-70 (Sessions 3-4 protocol)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Handling Relapse in Sessions 3-4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HANDLING RELAPSE IN SESSIONS 3-4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If the client has relapsed or slipped since Session 2: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 1: NORMALIZE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'Setbacks are a normal part of change. Most people experience them.'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 2: EXPLORE (without blame)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'What happened? Walk me through the situation.'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'What were you feeling before the slip?'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 3: LEARN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'What did you learn from this about your triggers?'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'What might you do differently next time?'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 4: RECONNECT WITH MOTIVATION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'What were your main reasons for wanting to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'Are those reasons still important to you?'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 5: REVISE THE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'Let's look at your Change Plan and see what needs adjusting.'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60-65; Marlatt &amp; Gordon (1985)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Clinical Dialogue: Full Session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CLINICAL DIALOGUE: SESSION 1 EXCERPT (Feedback Phase)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Therapist: 'I'd like to share some results from your assessment. Your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drinking pattern places you at the 95th percentile - meaning you drink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more than 95% of adults your age. What do you make of that?'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Client: 'I guess I didn't realize it was that much compared to others.'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Therapist: 'It's a bit surprising to you. [Reflection] You also reported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some memory lapses and missed days at work. How do these fit together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for you?'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Client: 'I mean... I suppose the drinking is causing some of that. But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I still think I can handle it.'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Therapist: 'So on one hand, you're seeing some connections between your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drinking and these consequences. On the other hand, part of you feels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you have it under control. [Double-sided reflection]'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Client: 'Yeah... but honestly, the memory thing worries me.'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Therapist: 'That worry tells me something matters to you here.' [Affirm]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33-40 (Session 1 examples); adapted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5
Clinical Techniques in MET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Reflective Listening - Levels &amp; Examples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REFLECTIVE LISTENING - Levels &amp; Examples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Level 1: SIMPLE REFLECTION (Repeat/Rephrase)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Client: 'I drink every evening after work.'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Therapist: 'You drink every evening.' (Minimal change)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Level 2: PARAPHRASE (Same meaning, different words)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Client: 'My wife keeps nagging me about my drinking.'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Therapist: 'Your wife's concern about your drinking frustrates you.'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Level 3: REFLECTION OF FEELING (Identify unstated emotion)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Client: 'I just don't know what to do anymore.'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Therapist: 'You're feeling overwhelmed and stuck.'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Level 4: REFLECTION OF MEANING (Connect to values/identity)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Client: 'I missed my daughter's recital because I was hungover.'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Therapist: 'Being a present father matters deeply to you, and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alcohol got in the way of that.'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uses primarily Level 2-4 reflections. Aim for 2:1 reflection-to-question ratio.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21-23; Miller &amp; Rollnick (2002), Ch.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Decisional Balance Technique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DECISIONAL BALANCE TECHNIQUE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 structured way to explore ambivalence.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Creates a 4-cell matrix: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BENEFITS OF STAYING THE SAME: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Relaxation, social connection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Avoids withdrawal discomfort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Familiar routine, pleasure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COSTS OF STAYING THE SAME: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Health problems, money lost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Relationship damage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Work problems, legal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BENEFITS OF CHANGING: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Better health, save money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Improved relationships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More energy, clarity, pride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COSTS OF CHANGING: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Withdrawal, loss of coping tool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Social pressure, boredom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Hard work, uncertainty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therapist explores ALL four quadrants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without favoring one side.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16-18; Janis &amp; Mann (1977)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Importance &amp; Confidence Rulers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IMPORTANCE &amp; CONFIDENCE RULERS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Simple, powerful tools for assessing motivation: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IMPORTANCE RULER: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'On a scale of 0 to 10, how IMPORTANT is it for you to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0 = Not at all important .............. 10 = Most important thing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Follow-up: 'Why did you say [N] and not a lower number?'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(This elicits change talk - reasons for change)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Follow-up: 'What would it take to move from [N] to [N+2]?'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(This identifies barriers and needed conditions)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CONFIDENCE RULER: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'On a scale of 0 to 10, how CONFIDENT are you that you could change?'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0 = Not at all confident .............. 10 = Completely confident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Follow-up: 'Why not a zero?' (Elicits self-efficacy)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Follow-up: 'What would increase your confidence?' (Identifies support needs)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These rulers make abstract feelings concrete and measurable.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Rollnick et al. (1999); Miller et al. (1992), pp. 40-41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Normative Feedback Presentation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NORMATIVE FEEDBACK - Showing How the Client Compares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What is Normative Feedback?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Presenting the client's data alongside population norms.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This creates discrepancy through objective comparison.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Example Presentation: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'The average adult in your age group drinks about 3 drinks per week.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Your assessment shows you're averaging about 28 drinks per week.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That puts you in the top 3% of drinkers nationally.'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Types of Normative Data Used in MET: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Quantity/frequency compared to age/gender norms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Blood alcohol content estimates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Liver function test results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Number of consequences experienced vs. typical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Dependence severity compared to clinical populations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Key: Present OBJECTIVELY. Let the numbers speak.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Don't add judgment. Ask: 'What do you make of this?'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33-38; Agostinelli et al. (1995)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Therapist Traps to Avoid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THERAPIST TRAPS TO AVOID IN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THE QUESTION-ANSWER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Asking too many closed questions in a row (feels like interrogation)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Use more reflections, fewer questions (2:1 ratio)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THE CONFRONTATION-DENIAL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Arguing with the client about their problem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Roll with resistance, avoid 'you have a problem' statements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THE EXPERT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Telling the client what to do (advice-giving without permission)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Elicit the client's own ideas first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THE LABELING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Insisting on diagnostic labels ('You're an alcoholic')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Focus on behavior and consequences, not labels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THE PREMATURE FOCUS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Jumping to 'the problem' before the client is ready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Follow the client's pace; build rapport first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6. THE BLAMING TRAP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Focusing on whose 'fault' the problem is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Fix: Focus forward on solutions, not backward on blame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23-28; Miller &amp; Rollnick (2002), Ch.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6
Case Conceptualization
(MET Application)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Case Background - Anonymized Client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CASE BACKGROUND (Anonymized)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Demographics: 25-year-old male, recently divorced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Presenting Problem: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Polysubstance use (alcohol + other substances)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Relationship breakdown (divorce)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Occupational difficulties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Emotional dysregulation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History: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Substance use escalated over past 3 years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Multiple failed attempts at controlled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Family history of substance use problems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Divorce triggered increase in consumption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Currently referred by family for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Stage of Change at Intake: Precontemplation/early Contemplation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(Acknowledges some problems but minimizes their connection to substance use)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Case formulation based on MET Manual framework (Miller et al., 1992)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Psychological Profile &amp; Assessment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PSYCHOLOGICAL ASSESSMENT FINDINGS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Cognitive-Emotional Profile: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Externalizing personality organization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Pervasively extratensive style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(EB = 2:10, emotion-driven coping)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Poorly modulated affect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(FC:CF+C = 3:7 - emotions overflow)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Adequate resources (EA=12) but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poorly utilized under stress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Information Processing: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Extreme underincorporative style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(Zd = -14, hasty scanning)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Rushes through decisions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Misses important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Self-Image &amp; Relationships: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Damaged self-concept (MOR=5)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Low self-esteem (Egocentricity low)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Socially engaged but avoids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emotional intimacy (Sum T = 0)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Guarded attachment style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Risk &amp; Clinical Concerns: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Elevated risk indicators (S-CON=7)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Poor impulse control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Limited reflective capacity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Therapeutic Needs: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Affect regulation training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Reflective delay development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Self-image repair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* Building distress tolerance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Assessment interpreted per Exner (2003); Rorschach CS norms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1 Plan: This Client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MET SESSION 1 PLAN FOR THIS CLIENT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Given Profile: Precontemplator, externalizing, emotion-driven, guarded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Opening (10 min): Build rapport without pressure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T: 'I appreciate you coming today. What's brought you here?'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C: 'My family dragged me. I don't think I need this.'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T: 'So this wasn't your idea. Tell me about your situation in your words.'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Feedback Phase (30 min): Present gently, ask for reactions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T: 'Your assessment shows some interesting patterns. For example, your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substance use is in a range that puts you at elevated health risk.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What do you make of that?'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Adaptation: Slow pace (matches his hasty processing - model reflective delay)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Eliciting Change Talk (15 min):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T: 'What matters most to you in life right now?'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T: 'How does your substance use fit with those things that matter?'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Adaptation: Connect to damaged self-image - 'who do you want to be?'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Closing: Readiness ruler, affirm courage, schedule Session 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Session 1 protocol; adapted for case profile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 2: Change Plan for This Client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SESSION 2: CHANGE PLAN FOR THIS CLIENT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Assuming client moved to early Contemplation after Session 1: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CHANGES I WANT TO MAKE: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'Reduce drinking to weekends only; stop using other substances'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MOST IMPORTANT REASONS: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'I want to feel better about myself; I want my family to respect me'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(Leverages damaged self-image as motivator)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STEPS I PLAN TO TAKE: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 triggers (certain friends, places) - addresses hasty processing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Pause before acting on urges (builds reflective delay)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Tell one person about my goals (addresses intimacy avoidance)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Track use daily (self-monitoring)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WHAT COULD GO WRONG: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'Strong emotions, loneliness, old friends' - (matches extratensive style)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Plan: Call support person; leave situation; use breathing exercises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PROGRESS INDICATORS: Fewer use days, better mood, family engagement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46-50; adapted for case formulation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Sessions 3-4 &amp; Long-Term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CE4EC"/>
          </a:solidFill>
          <a:ln w="2540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80038"/>
                </a:solidFill>
                <a:latin typeface="Times New Roman"/>
              </a:rPr>
              <a:t>SESSIONS 3-4 &amp; LONG-TERM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3 (Week 6) - Expected Focus: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Review Change Plan adherence (likely partial compliance)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relapses with empathy and normalization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Reconnect with motivations (self-image, family respect)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Modify plan based on what worked/didn't work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Affirm: 'You came back. That shows commitment.'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 4 (Week 12) - Expected Focus: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Review overall progress across 12 weeks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Celebrate gains, no matter how small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Plan for ongoing maintenance without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Discuss referral options (group therapy, individual therapy)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LONG-TERM RECOMMENDATIONS: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Follow-up with CBT for affect regulation skills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Schema therapy for self-image repair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Possible 12-step or SMART Recovery for social support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Periodic MET 'booster' sessions as needed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Family involvement through CRAFT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55-70; NIMHANS SUD Manual (2016)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7
Worksheets &amp; Clinical Tools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Change Plan Worksheet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CHANGE PLAN WORKSHEET (Miller et al., 1992)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-------------------------------------------------------------------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changes I want to make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most important reasons why I want to make these changes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steps I plan to take in changing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 ways other people can help me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Person: _________________ How: 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 will know that my plan is working if: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Some things that could interfere with my plan are: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-------------------------------------------------------------------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Client Signature: _________________ Date: _____________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(1992), pp. 46-50 (Change Plan Worksheet - Appendix)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Decisional Balance Grid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DECISIONAL BALANCE GRID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BENEFITS OF CURRENT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(What I like about my substance use)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COSTS OF CHANGING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(What I would lose/miss if I changed)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COSTS OF CURRENT BEHAVIOR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(What I don't like about my use)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BENEFITS OF CHANGING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(What I would gain if I changed)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Janis &amp; Mann (1977); Miller et al. (1992), pp. 16-18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Importance / Confidence / Readiness Rulers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IMPORTANCE / CONFIDENCE / READINESS RULERS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IMPORTANCE: How important is it for you to make this change?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0----1----2----3----4----5----6----7----8----9----10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Not at all                                    Extremely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important                                     important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CONFIDENCE: How confident are you that you COULD change?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0----1----2----3----4----5----6----7----8----9----10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Not at all                                    Completely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confident                                     confident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READINESS: How ready are you to make a change RIGHT NOW?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0----1----2----3----4----5----6----7----8----9----10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Not ready                                     Very ready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at all                                        right now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Follow-up Questions: 'Why not a lower number?' / 'What would move you up?'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Rollnick et al. (1999); Miller et al. (1992), pp. 40-41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Daily Self-Monitoring Diary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DAILY SELF-MONITORING DIARY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Instructions: Record each day's substance use, triggers, and mood.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Day    | Substance | Amount | Trigger/Situation | Mood (0-10) | Urge (0-10)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|--------|-----------|--------|-------------------|-------------|-------------|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Mon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Tue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Wed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Thu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Fri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Sat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| Sun    | _________ | ______ | _________________ | ___________ | ___________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Weekly Summary: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Total days used: ___  Total amount: ___  Highest urge day: 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Most common trigger: _______________________________________________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Coping strategy used: ______________________________________________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Bring this diary to your next MET session for review.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NIMHANS SUD Manual (2016); Sobell &amp; Sobell (1992) - Timeline Follow-back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Relapse Prevention Plan &amp; Values Worksheet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RELAPSE PREVENTION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High-Risk Situations: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Warning Signs: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Coping Strategies: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Emergency Contacts: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FFDF0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VALUES CARD SORT (Abbreviated)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My Top 5 Values: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my substance use CONFLICTS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with these values: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How CHANGING would serve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these values: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_________________________________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Marlatt &amp; Gordon (1985); Miller et al. (1992); W. Miller Values Card Sort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8
MET Compared with
Other Therapies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MET vs CBT - Detailed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MET (Motivational Enhancement Therapy)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Focus: Building internal motivation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Sessions: 4 (brief)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Approach: Non-directive, client-led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Technique: MI principles, feedback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Client finds OWN reasons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 Role: Guide, mirror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Homework: Minimal (self-monitoring)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Best For: Ambivalent clients,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early stages of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Theory: Stages of Change, MI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Resistance: Rolled with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Skills: Not taught directly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B3A5C"/>
                </a:solidFill>
                <a:latin typeface="Times New Roman"/>
              </a:rPr>
              <a:t>CBT (Cognitive-Behavioral Therapy)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Focus: Changing thoughts &amp; behaviors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Sessions: 12-16 (intensive)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Approach: Structured, therapist-led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Technique: Skills training, practice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Therapist teaches new skills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Therapist Role: Teacher, coach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Homework: Extensive (skill practice)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Best For: Action/maintenance stage,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skill deficits identified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Theory: Learning theory, cognition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Resistance: Addressed as cognition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Skills: Directly taught &amp; practiced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Project MATCH Research Group (1997); Miller et al. (1992); Carroll (1998)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MET vs 12-Step Facilitation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94960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Philosophy: Client-driven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Higher Power: Not involved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Labels: Avoided entirely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Disease Model: Not assumed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Flexible (abstinence or reduction)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Groups: Not required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Sponsor: Not required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Duration: 4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Steps/Stages: Stages of Change model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Confrontation: Never used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Evidence: Strong RCT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097280"/>
            <a:ext cx="5394960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12-STEP FACILITATION (TSF)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Philosophy: Surrender to higher power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Higher Power: Central to recovery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Labels: 'I am an alcoholic' is expected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Disease Model: Core assumption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Goal: Total abstinence only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Groups: AA/NA attendance required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Sponsor: Encouraged strongly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Duration: 12 sessions + lifelong meetings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Steps/Stages: 12 sequential steps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Confrontation: Common in groups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Evidence: Moderate evidence (MATCH, Cochrane)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Project MATCH (1997); Nowinski et al. (1992); Ferri et al. (2006, Cochrane)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6 Therapies Compared - Comprehensive 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COMPREHENSIVE COMPARISON TABLE: 6 THERAPY APPROACHES FOR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Therapy      | Sessions | Focus           | Best For          | Evidence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-------------|----------|-----------------|-------------------|----------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         | 4        | Motivation      | Ambivalent clients| Strong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CBT          | 12-16    | Skills/Thoughts | Skill deficits    | Strong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TSF(12-Step) | 12+life  | Spiritual/Group | Community-oriented| Moderate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CRA          | 12-24    | Environmental   | Social isolation  | Strong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CRAFT        | 6-12     | Family system   | Concerned others  | Strong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Contingency  | Ongoing  | Reinforcement   | Concrete thinkers | Strong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Mgmt (CM)    |          |                 |                   |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Insight from Research: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No single therapy works for everyone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MET's advantage: cost-effective, brief, works across stages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Combined approaches often work best (MET + CBT, MET + CM)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Client preference and matching matter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is uniquely cost-effective: achieves comparable results in 1/3 the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Project MATCH (1997); UKATT (2005); NIMHANS (2016); Magill &amp; Ray (2009)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Why MET is More Effective in Specific Contexts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WHY MET IS MORE EFFECTIVE IN SPECIFIC CONTEXTS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outperforms other therapies when: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CLIENTS ARE AMBIVALENT OR NOT READY TO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CBT and TSF assume readiness - MET doesn't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MET builds motivation FIRST, then supports action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CLIENTS ARE ANGRY OR RESISTANT TO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Project MATCH: Angry clients did BETTER with MET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Confrontation makes resistance worse; empathy reduces it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RESOURCES ARE LIMITED (Time, Money, Staff)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4 sessions vs 12-16: massive cost savings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Equal outcomes with fewer resources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CLIENTS HAVE HIGH SOCIAL NETWORKS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MATCH: High social support + MET = best outcomes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AS A PRETREATMENT ENHANCER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MET before other therapies increases retention &amp;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Project MATCH (1997); Bien et al. (1993); Hettema et al. (2005)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Family &amp; Caregiver Involvement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FAMILY &amp; CAREGIVER INVOLVEMENT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CRAFT (Community Reinforcement &amp; Family Training):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Teaches family members MI skills to support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Family learns to reinforce sobriety, not enable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64% of resistant clients entered treatment via CRAFT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Works WITHOUT the user needing to attend initially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Stepped Care Model with MET: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Step 1: Brief MET (4 sessions) for all clients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Step 2: Add CBT skills if insufficient progress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Step 3: Add intensive outpatient or residential if needed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Step 4: Long-term aftercare (meetings, booster sessions)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Family Involvement in MET Sessions: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Significant other can attend feedback session (with consent)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Family member can provide collateral information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Support person can be part of the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Miller (1999): 'The social network is a powerful motivator'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Meyers et al. (2002) CRAFT; NIMHANS (2016); Miller et al. (1999)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Therapies Used Alongside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THERAPIES USED ALONGSIDE MET (Combined Treatment)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+ CBT: Most common and most researched combination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first (builds motivation) then CBT (teaches skills)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Used in COMBINE study for alcohol dependence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Particularly effective for clients with skill deficits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+ Contingency Management (CM):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provides motivation; CM provides immediate reinforcement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Effective for stimulant and opioid use disorders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+ Pharmacotherapy: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improves medication adherence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Naltrexone + MET: better outcomes for alcohol (COMBINE, 2006)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Nicotine Replacement + MI: improved quit rates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+ Group Therapy: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Individual MET sessions prepare clients for group work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Reduces dropout from group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Principle: MET works as a 'motivational booster' for ANY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COMBINE Study (Anton et al., 2006); Carroll et al. (2006); NIMHANS (2016)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MET as Pretreatment Enhancer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65C00"/>
                </a:solidFill>
                <a:latin typeface="Times New Roman"/>
              </a:rPr>
              <a:t>MET AS A PRETREATMENT ENHANCER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What Does 'Pretreatment' Mean?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Using MET sessions BEFORE another therapy begins to: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Increase engagement and retention in primary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Reduce dropout rates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Build therapeutic alliance faster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Resolve ambivalence before skills training starts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Research Evidence: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Bien et al. (1993): Brief MI before treatment increased completion by 50%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Connors et al. (2002): MET pretreatment improved 12-month outcomes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Carroll et al. (2006): MI + CBT &gt; CBT alone for cannabis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Hettema et al. (2005) meta-analysis: pretreatment MI effect size d=0.77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Practical Application: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1-2 MET sessions before ANY therapy program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Especially valuable for mandated/coerced clients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Can reduce no-shows to first treatment session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Cost-effective: adds only 1-2 hours of therapist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Bien et al. (1993); Hettema et al. (2005); Carroll et al. (2006)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9
MET for Comorbid
Psychiatric Disorders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Dual Diagnosis Overview - Prevalence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DUAL DIAGNOSIS: OVERVIEW &amp; PREVALENCE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Definition: Co-occurring substance use disorder AND another mental disorder.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Prevalence (Key Statistics):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50-60% of people with SUD have a comorbid mental disorder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20-30% of people with mental disorders have comorbid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Depression + SUD: ~40% co-occurrence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Anxiety + SUD: ~30% co-occurrence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Personality Disorders + SUD: ~50-70% (ASPD highest)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PTSD + SUD: ~25-40% co-occurrence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Why This Matters for MET: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Comorbidity complicates motivation and readiness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Mental health symptoms may maintain substance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Treatment must address both conditions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can be adapted for dual diagnosis populations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Standard MET protocols may need modification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NIMHANS Data: Comorbidity is the RULE, not the exception, in Indian settings.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NIMHANS SUD Manual (2016); Regier et al. (1990); Kessler et al. (1994)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Personality Disorders + MET Adaptations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PERSONALITY DISORDERS + MET: ADAPTATIONS &amp; RESEARCH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Challenges: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Interpersonal difficulties affect therapeutic alliance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Borderline PD: Emotional instability, splitting, impulsivity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Antisocial PD: Low empathy, manipulation, treatment resistance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Narcissistic PD: Defensiveness, difficulty with feedback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Adaptations: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Longer rapport-building phase (patience is critical)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 power struggles at all costs (especially ASPD)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Use more affirmations (builds damaged self-image)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Focus on client-defined values, not therapist agenda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Set clear boundaries without being punitive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Expect slower progress - adjust expectations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relationship patterns that maintain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Research: Ball et al. (2007): Dual-focus Schema Therapy + MI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improved outcomes in PD + SUD. MET helps engage PD clients who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typically drop out of confrontational programs.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Ball et al. (2007); Martino et al. (2002); NIMHANS (2016)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Depression + MET Adaptations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DEPRESSION + MET: ADAPTATIONS &amp; RESEARCH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Challenges: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Low energy, hopelessness reduce motivation for change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Anhedonia: Substance use may be only source of pleasure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Negative thinking: 'I can't change' / 'What's the point?'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Suicidal ideation requires careful monitoring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Withdrawal from social support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Adaptations: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Extra emphasis on self-efficacy (counter hopelessness)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Smaller, more achievable goals in Change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Acknowledge depression openly as part of the picture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Connect substance reduction to mood improvement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Provide psychoeducation: alcohol is a depressant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Safety planning if suicidal ideation present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More frequent check-ins between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Research: Baker et al. (2010): MI + CBT for depression +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reduced both drinking and depression symptoms at 12 months.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Baker et al. (2010); Hides et al. (2010); NIMHANS (2016)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Anxiety &amp; PTSD + MET Adaptations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ANXIETY &amp; PTSD + MET: ADAPTATIONS &amp; RESEARCH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Challenges (Anxiety):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Substance use as self-medication for anxiety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Fear of withdrawal symptoms (anxiety about anxiety)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Social anxiety may prevent group treatments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Avoidance patterns complicate engagement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Challenges (PTSD):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Substances numb traumatic memories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Trauma disclosure requires extreme safety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Hypervigilance makes trust-building slower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Re-traumatization risk with confrontational approaches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MET Adaptations: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Create exceptionally safe therapeutic environment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Psychoeducation: 'using to cope with feelings makes sense'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Develop alternative coping BEFORE reducing substance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Don't force trauma processing - respect avoidance initially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For PTSD: Integrated MI + trauma therapy (COPE model)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Research: Sannibale et al. (2013): MI + CBT for comorbid PTSD/AUD effective.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Sannibale et al. (2013); Back et al. (2014) COPE; NIMHANS (2016)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Bipolar &amp; Psychotic Disorders +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BIPOLAR &amp; PSYCHOTIC DISORDERS + MET ADAPTATIONS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BIPOLAR DISORDER + SUD: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Substance use often escalates during manic episodes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Medication non-adherence common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can address medication motivation alongside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Adaptations: Simpler language during episodes, shorter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Graeber et al. (2003): MI improved lithium adherence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PSYCHOTIC DISORDERS + SUD: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40-50% of people with schizophrenia have comorbid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Cognitive impairment requires simpler, slower approach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Paranoia may affect trust (extra rapport-building needed)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Adaptations for psychosis: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- Use concrete, simple language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- Shorter sessions (20-30 min instead of 60)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- More repetition and visual aids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- Focus on immediate, tangible benefits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- Integrate with psychiatric medication management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Research: Barrowclough et al. (2010): MI + CBT for psychosis + SUD - effective.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Graeber et al. (2003); Barrowclough et al. (2010); NIMHANS (2016)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Summary: Comorbid Adaptations 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SUMMARY TABLE: MET ADAPTATIONS FOR COMORBID DISORDERS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Disorder         | Key Challenge           | MET Adaptation                 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-----------------|-------------------------|----------------------------------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Depression       | Hopelessness, low energy| Extra self-efficacy, small goals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Anxiety          | Self-medication, fear   | Safety first, alternative coping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PTSD             | Numbing, trust issues   | Slow pace, no forced disclosure 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Borderline PD    | Instability, splitting  | Consistency, clear boundaries   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Antisocial PD    | Power struggles         | Avoid confrontation, use autonomy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Bipolar          | Episode-driven use      | Medication adherence focus      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Psychosis        | Cognitive impairment    | Simple language, shorter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ADHD             | Impulsivity, boredom    | Structure, novelty, brief tasks  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Universal Principles Across All Comorbidities: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Maintain MI spirit (empathy, collaboration, autonomy)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Adapt pace and complexity to cognitive capacity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Address the RELATIONSHIP between conditions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Integrated treatment &gt; sequential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Safety always comes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NIMHANS SUD Manual (2016); Martino et al. (2002); Mueser et al. (2003)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General Principles for Integrated Treatment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A1B9A"/>
                </a:solidFill>
                <a:latin typeface="Times New Roman"/>
              </a:rPr>
              <a:t>GENERAL PRINCIPLES FOR INTEGRATED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TREAT BOTH CONDITIONS SIMULTANEOUSLY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Don't wait for one to resolve before addressing the other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Substance use and mental health interact bidirectionally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ONE TREATMENT TEAM / COORDINATED CARE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Avoid split treatment where providers don't communicate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MET therapist should know the psychiatric treatment plan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STAGE-MATCHED INTERVENTIONS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Match both SUD readiness AND mental health readiness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Client may be in action for depression but precontemplation for SUD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HARM REDUCTION ORIENTATION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Any positive change is worthwhile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Abstinence is ideal but not the only acceptable goal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LONG-TERM PERSPECTIVE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Both conditions are chronic/relapsing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Recovery is a process, not an event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* Ongoing monitoring and booster sessions recommended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NIMHANS SUD Manual (2016); Mueser et al. (2003); Drake et al. (2001)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926080"/>
            <a:ext cx="85340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Times New Roman"/>
              </a:rPr>
              <a:t>SECTION 10
Research Evidence &amp;
Effectiveness of MET</a:t>
            </a:r>
          </a:p>
          <a:p>
            <a:pPr algn="ctr"/>
            <a:r>
              <a:rPr sz="1400"/>
              <a:t> 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Project MATCH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PROJECT MATCH RESULTS - The Landmark Study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Study Design (1989-1997):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1,726 clients with alcohol use disorders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9 sites across USA, randomized controlled trial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Three treatments: MET (4 sessions), CBT (12), TSF (12)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Follow-up: 1 year, then 3 years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Findings: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ALL THREE treatments produced significant improvement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achieved COMPARABLE outcomes to CBT and TSF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MET required only 33% of the sessions!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At 3-year follow-up: no significant differences between groups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Matching Findings (Client-Treatment):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Angry clients: BETTER with MET (less confrontation)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Low readiness clients: MET outperformed others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High social support: MET worked especially well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Network supportive of drinking: TSF worked better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Conclusion: MET is a cost-effective, time-efficient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Project MATCH Research Group (1997, 1998); Matching hypotheses report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UKATT &amp; International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UKATT &amp; INTERNATIONAL EVIDENCE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UKATT Study (UK Alcohol Treatment Trial, 2005):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742 clients across 7 UK sites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Compared: MET (3 sessions) vs Social Behaviour &amp; Network Therapy (8)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Result: MET equally effective with FEWER sessions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Cost analysis: MET significantly more cost-effective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WHO Brief Intervention Study (International):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10 countries, primary care settings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Brief motivational intervention (single session) effective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20% reduction in alcohol consumption at follow-up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Australian SHADE Project (2010):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 + CBT for comorbid depression + alcohol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Superior to standard treatment on both outcomes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European Studies: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Netherlands: MI effective for cannabis use (De Jonge et al., 2016)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Sweden: MI in emergency departments reduced drinking (Soderstrom et al.)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Multi-site reviews confirm cross-cultural effectiveness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UKATT Research Team (2005); WHO Brief Intervention Study; Baker et al. (2010)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Meta-Analyses Summary 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META-ANALYSES SUMMARY TABLE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Study                  | Year | Finding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-----------------------|------|--------------------------------------------------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Bien et al.            | 1993 | Brief interventions effective (review of 32 studies)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Noonan &amp; Moyers        | 1997 | MI effective across substances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Burke et al.           | 2003 | 30 RCTs: MI effect size d=0.25-0.57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Hettema et al.         | 2005 | 72 studies: MI works for alcohol, drugs, diet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                  |      | Effect size: d=0.77 as pretreatment adjunct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Lundahl et al.         | 2010 | 119 studies: MI &gt; no treatment, = active treatments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                    |      | With fewer sessions needed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Smedslund et al.       | 2011 | Cochrane: MI reduces substance use vs no treatment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DiClemente et al.      | 2017 | MI retains effectiveness in diverse populations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Consistent Findings Across Meta-Analyses: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MI/MET is effective (better than no treatment)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MI/MET is as effective as other active treatments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MI/MET achieves results in fewer sessions (cost-effective)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Effects are durable (maintained at long-term follow-up)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Works across cultures, substances, and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Hettema et al. (2005); Lundahl et al. (2010); Smedslund et al. (2011, Cochrane)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Indian Research: NIMHANS, PREMIUM, AIIMS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INDIAN RESEARCH: NIMHANS, PREMIUM, AIIMS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NIMHANS Contributions (Bangalore):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NIMHANS SUD Manual (2016): Comprehensive treatment guidelines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MI/MET integrated into standard SUD treatment protocols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Training programs for counselors across India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Brief interventions adapted for Indian cultural context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PREMIUM Project (Programme for Effective Mental health Interventions):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Patel et al. (2014): Task-shifting MI to lay counselors in Goa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PREMIUM Alcohol: Brief MI by non-specialists - EFFECTIVE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Proved MI works even when delivered by trained community workers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Lancet publication: Global mental health milestone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AIIMS (Delhi) &amp; Other Indian Centers: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Adapted MI protocols for tobacco cessation (Varghese et al.)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MI for opioid use in Punjab (community health workers)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* Integration of MI in ICTC (HIV prevention) settings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Insight: MI/MET is feasible and effective in Indian public health settings.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NIMHANS SUD Manual (2016); Patel et al. (2014, Lancet); Varghese et al.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Evidence by Population 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EVIDENCE BY POPULATION - WHO BENEFITS FROM MET?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Population              | Evidence Level | Key Findings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------------------------|---------------|-----------------------------------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Adults with AUD         | Strong (A)    | Project MATCH, UKATT - comparable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Adults with drug use    | Strong (A)    | Cannabis, cocaine, opioids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Adolescents             | Strong (A)    | Brief MI effective (Jensen et al.)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Dual diagnosis          | Moderate (B)  | Adapted MI effective (Baker et al.)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Mandated/coerced clients| Strong (A)    | MI reduces resistance significantly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Emergency Dept. patients| Strong (A)    | Brief MI reduces repeat visits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Pregnant women          | Moderate (B)  | Reduced substance use in pregnancy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College students        | Strong (A)    | BASICS program (Dimeff et al.)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HIV+ individuals        | Moderate (B)  | Improved ART adherence + reduced use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Smokers/Tobacco         | Strong (A)    | MI + NRT improves quit rates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Gamblers                | Moderate (B)  | Brief MI reduces gambling severity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Older adults            | Emerging      | Few studies, promising results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Key Pattern: MI/MET works across populations, substances, and settings.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It is one of the most versatile evidence-based approaches available.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Hettema et al. (2005); Lundahl et al. (2010); NIMHANS (2016)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FFFFFF"/>
                </a:solidFill>
                <a:latin typeface="Times New Roman"/>
              </a:rPr>
              <a:t>   Key Takeaways - 6 Essential 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448056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D47A1"/>
                </a:solidFill>
                <a:latin typeface="Times New Roman"/>
              </a:rPr>
              <a:t>KEY TAKEAWAYS - 6 Essential Points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1. MET IS BRIEF BUT POWERFUL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4 sessions achieve what others need 12+ to accomplish.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Cost-effective, time-efficient, resource-friendly.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2. MOTIVATION IS ELICITED, NOT INSTALLED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People already have reasons to change. MET helps them find and voice these.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3. THE THERAPIST'S STYLE MATTERS MORE THAN TECHNIQUE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Empathy, warmth, and collaboration predict outcomes more than any tool.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4. RESISTANCE IS A SIGNAL, NOT A CHARACTER FLAW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When resistance rises, change YOUR approach, not the client.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5. CHANGE IS A PROCESS, NOT AN EVENT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Stages are cyclical. Relapse is learning. Patience is essential.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6. MET WORKS ACROSS POPULATIONS AND SETTINGS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From rural India to urban ERs, from adolescents to elderly,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imes New Roman"/>
              </a:rPr>
              <a:t>   from alcohol to gambling - the principles are universal.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i="1">
                <a:solidFill>
                  <a:srgbClr val="666666"/>
                </a:solidFill>
                <a:latin typeface="Times New Roman"/>
              </a:rPr>
              <a:t>   Ref: Miller et al. (1992); Miller &amp; Rollnick (2002); NIMHANS (2016)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377440"/>
            <a:ext cx="85340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4484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Times New Roman"/>
              </a:rPr>
              <a:t>Thank You</a:t>
            </a:r>
          </a:p>
          <a:p>
            <a:pPr algn="ctr"/>
            <a:r>
              <a:rPr sz="2000">
                <a:solidFill>
                  <a:srgbClr val="FFFFFF"/>
                </a:solidFill>
                <a:latin typeface="Times New Roman"/>
              </a:rPr>
              <a:t>Motivational Enhancement Therapy - A Comprehensive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10728655" cy="3474720"/>
          </a:xfrm>
          <a:prstGeom prst="roundRect">
            <a:avLst/>
          </a:prstGeom>
          <a:solidFill>
            <a:srgbClr val="0A2A5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D700"/>
                </a:solidFill>
                <a:latin typeface="Times New Roman"/>
              </a:rPr>
              <a:t>PRIMARY REFERENCES: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Miller, W.R., Zweben, A., DiClemente, C.C., &amp; Rychtarik, R.G. (1992). Motivational Enhancement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  Therapy Manual. NIAAA Project MATCH Monograph Series, Vol. 2.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NIMHANS (2016). Substance Use Disorders: Manual for Physicians. Bangalore: NIMHANS.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Miller, W.R. &amp; Rollnick, S. (2002). Motivational Interviewing (2nd ed.). Guilford Press.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Project MATCH Research Group (1997). Matching treatments to client heterogeneity. JSAD, 58.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UKATT Research Team (2005). UK Alcohol Treatment Trial. BMJ, 331, 541.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Prochaska, J.O. &amp; DiClemente, C.C. (1983). Stages of change. J Consulting &amp; Clin Psych, 51.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Hettema, J., Steele, J., &amp; Miller, W.R. (2005). MI meta-analysis. Annual Rev Clin Psych, 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Lundahl, B.W. et al. (2010). MI meta-analysis. Clinical Psychology Review, 30(1).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6EAF8"/>
                </a:solidFill>
                <a:latin typeface="Times New Roman"/>
              </a:rPr>
              <a:t>Patel, V. et al. (2014). PREMIUM: Lancet, 389(10065).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