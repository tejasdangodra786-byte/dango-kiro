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slide. Welcome the audience. This presentation covers Motivational Enhancement Therapy comprehensively for postgraduate clinical psychology education.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 Introduction to MET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Motivation has been misunderstood for decades. Traditional models viewed it as a fixed client characteristic. Miller showed it is dynamic, context-dependent, and directly influenced by the therapist's style. This paradigm shift is fundamental to MET.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foundation that behavior change requires both motivation AND efficacy. Traditional confrontation fails because it creates reactance. Miller demonstrated that empathic approaches work better across all outcomes.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contrast is the foundation for understanding MET. The evidence shows confrontation is counterproductive. Miller's 1993 study found that the amount of resistance in Session 1 predicted drinking 12 months later, and resistance was directly caused by therapist confrontation.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 MET from pure MI: MET is a specific manualized protocol with assessment feedback. MI is a broader counseling style. MET adds structure (4 sessions, PFR) to the MI approach.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milestone. 1983: Miller's insight combining Rogers + Festinger + Bem. 1989: NIAAA commissions largest addiction trial ($27M). 1994: Manual standardizes the approach. 1997: Revolutionary finding that 4 sessions matched 12. 2013: Theoretical refinement.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 Founders &amp; Key Contributors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Miller's insight came during a visit to Norway when trainees asked how he worked with problem drinkers. His response combined Rogers, Festinger, and Bem into a new approach.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contributor brought unique expertise. DiClemente provided stages of change theory. Moyers developed fidelity measurement. Rollnick brought MI into mainstream healthcare beyond addiction.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 Historical Background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decades, addiction treatment relied on aggressive confrontation. Miller's research showed this was not only ineffective but actively harmful. The paradigm shift from 'breaking denial' to 'resolving ambivalence' was revolutionary.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self-perception mechanism explains why confrontation backfires: when clients verbally defend their drinking, they literally talk themselves INTO continued drinking. MET reverses this by having clients talk themselves INTO change.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 Theoretical Foundations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theory provides a distinct mechanism that MET operationalizes. Rogers = HOW we relate. Festinger = WHAT drives change. Bem = WHY talking works. Bandura = CAN they do it. Prochaska = WHEN to intervene.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theories provide the core engine of MET. Rogers creates the safe container. Festinger provides the motivational fuel (discomfort). Bem explains why evoking change talk works (self-persuasion). Bandura provides the confidence component without which motivation cannot become action.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DiClemente co-authored the MET manual, directly connecting stage theory to MET practice. MET is most powerful for clients in contemplation (ambivalent). The key is matching intervention intensity to readiness.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SDT explains WHY MET's non-controlling approach works better than coercion. When autonomy is supported, intrinsic motivation emerges naturally. Self-efficacy is the bridge between motivation and action.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5: The Spirit of MET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spirit is MORE important than any technique. Without spirit, techniques become manipulative. The spirit determines whether an approach is genuinely motivational or merely persuasive. If students take away ONE thing, it should be the spirit.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distinguishing spirit-consistent from spirit-inconsistent responses. The key insight: acknowledge the positive function FIRST (validates), then gently explore other effects. This builds trust for deeper exploration.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6: Core Principles of MET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principles guide every interaction in MET. Express empathy throughout. Develop discrepancy carefully (let client articulate it). Roll with resistance (never argue). Support self-efficacy (instill hope). NIMHANS uses the mnemonic DARES: Develop discrepancy, Avoid argumentation, Roll with resistance, Express empathy, Support self-efficacy.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Empathy is ACTIVE listening with continuous hypothesis generation. The therapist reflects back what is heard, often with added meaning. For discrepancy: the client's OWN values provide the leverage. When they see the gap between values and behavior, internal motivation emerges naturally.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Rolling with resistance is counterintuitive. Natural instinct is to push harder when opposed, but this creates adversarial dynamics. Self-efficacy is the bridge between motivation and action. Without confidence, even highly motivated clients won't attempt change.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7: Essential Communication Skills: OARS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OARS are the operational building blocks of MET. They are used strategically to evoke and reinforce change talk while minimizing sustain talk. The NIMHANS manual specifically identifies OARS + eliciting change talk as the 5 core MI skills.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questions create space for clients to explore their own motivations. Affirmations differ from praise: praise comes from a one-up position; affirmations recognize qualities IN the client. They should be genuine, specific, and focus on character rather than just outcomes.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extended dialogue shows how reflection ALONE moves clients toward recognition without a single piece of advice. The client moves from 'not sure I'm concerned' to 'I know it is' through pure reflective listening. This is the art of MET.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Strategic summaries are a powerful therapeutic tool. By selecting WHAT to include, you can present the client's own change talk back as a collected package. Hearing all their reasons together amplifies the motivational impact. The client literally hears a summary of why THEY think they should change.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8: Change Talk: The Language of Motivation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DARN is preparatory (building toward change); CAT is mobilizing (closer to action). Commitment language is the STRONGEST predictor of actual behavior change. Therapists should track the shift from DARN to CAT as a sign of readiness for planning.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gentle paradox technique works through psychological reactance — when freedom is threatened, people move in the opposite direction. By subtly siding with the status quo, the therapist evokes the client to argue for change. Use sparingly and genuinely.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 shows the RATIO of change talk to sustain talk predicts outcomes. Therapist's job: tilt the ratio toward change talk. Don't argue with sustain talk (that strengthens it). Reflect it briefly, then redirect.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9: Resistance, Discord &amp; Management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reconceptualizes resistance from a client problem to a relational signal. The therapist's own 'righting reflex' (urge to fix, advise, correct) is the primary trigger of discord. When resistance increases, it's feedback about the interaction, not about client pathology.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 Assessment Before MET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rulers are deceptively simple yet powerful. The magic follow-up 'Why X and not lower?' forces the client to articulate their own reasons for motivation. This is both assessment AND intervention simultaneously. High importance + low confidence → build efficacy. Low importance + high confidence → develop discrepancy.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12: Components of MET: FRAMES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FRAMES summarizes what research found to be the active ingredients across effective brief interventions worldwide. The NIMHANS manual specifically identifies FRAMES as the core model. In MET, all six are systematically incorporated across the 4 sessions.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13: Structure of MET: The 4-Session Protocol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Sessions 1-2 are close together (1 week) for momentum. Sessions 3-4 are spaced further apart as reinforcement check-ins. The first two sessions do the heavy motivational lifting. This structure proved equally effective as 12-session treatments in Project MATCH.</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1 is the most structured and critical. The Personal Feedback Report creates discrepancy naturally through normative comparison. The therapist's style remains reflective throughout — no confrontation even when delivering concerning results. Respond to client reactions with empathic reflection.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verbatim examples from the manual show how the therapist maintains reflective stance regardless of client reaction. Each response validates the client's experience while keeping the therapeutic conversation moving forward. Whether the client is shocked, dismissive, or contemplative, reflection is always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transition from Phase 1 (building motivation) to Phase 2 (strengthening commitment) should be guided by client readiness signals: decreased resistance, increased change talk, questions about 'how' to change, imagining a different future.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14: MET Techniques in Detail</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technique has a specific function and timing. Double-sided reflections honor ambivalence. E-P-E maintains collaboration when sharing information. The rulers are both assessment AND intervention. All techniques should be used within the MET spirit.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Double-sided reflections are among the most powerful tools. They validate ambivalence (both sides are real) while creating cognitive dissonance (hearing both together highlights the contradiction). E-P-E is essential whenever you need to provide information or advice.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decisional balance with benefits of drinking to show you understand and won't judge. End with benefits of change to leave the session pointing forward. The strategic order matters therapeutically.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Clinical Worksheets &amp; Handouts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Change Plan Worksheet makes commitment concrete and tangible. The client fills it in (maintaining ownership). It serves as a physical reminder between sessions. Review and modify in subsequent sessions as needed.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worksheets can be printed and given to clients as homework or used within sessions. Self-monitoring raises awareness and often reduces behavior through reactivity. The emergency plan should be completed in Session 4 and kept accessible (wallet card, phone).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17: Case Formulations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case illustrates typical MET application. Low confidence with moderate importance tells us to focus on building self-efficacy. Values (family, career) provide material for discrepancy. Gradual reduction goal demonstrates the menu of options approach.</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cases demonstrate how importance/confidence guides focus. Cannabis case: importance is low (doesn't see problem), so focus on discrepancy development using academic/career values. Opioid case: importance is already high (desperate to change), so focus entirely on building self-efficacy and hope.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dual diagnosis, MET addresses the substance component while acknowledging the mental health driver. The depression-alcohol cycle provides powerful feedback material. Integration with other treatments is essential for complex cases.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18: Special Populations &amp; Applications Beyond Addiction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population requires tailored adaptations while maintaining core MET principles. The common thread: empathy, autonomy, and non-judgment work across all populations.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MET/MI principles apply to ANY behavior where ambivalence about change exists. The underlying mechanisms (autonomy support, discrepancy, efficacy) are universal. The specific feedback and discrepancy development are tailored to each domain.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NIMHANS model positions MET within a resource-appropriate framework for developing countries. The physician becomes an 'agent of change.' Brief interventions can be delivered by non-specialists with training. MET fills the gap between brief advice and intensive treatment.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20: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evidence base spans 30+ years. Project MATCH remains the landmark finding: 4 sessions of MET matched 12 sessions of other established treatments. UKATT replicated internationally. Moyers illuminated the mechanism (how it works).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 sizes are small-medium (d = 0.25-0.57), consistent with psychotherapy research. The Cochrane review confirmed effectiveness but noted effects may diminish without boosters. This supports using booster sessions. The consistency across 200+ studies is remarkable.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Understanding the mechanism helps refine practice. The clear clinical implication: FOCUS ON EVOKING AND REINFORCING CHANGE TALK. This is the primary technical goal of every MET session. Everything else (reflections, questions, affirmations) serves this purpose.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21: Comparison with Other Therapies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 is unique in focusing on WHY change rather than HOW. This makes it complementary to skills-based approaches. Common sequence: MET first (to build motivation) then CBT (to build skills). MET differs from 12-Step in emphasizing personal empowerment rather than powerlessness.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distinction is frequently confused. MI is the broader philosophy/style applicable anywhere. MET is a SPECIFIC program that uses MI within a structured protocol. Think: MI is the operating system; MET is a specific application running on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22: Advantages &amp; Limitations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Being honest about limitations is essential. MET is powerful but not a panacea. For severe dependence, use as gateway to comprehensive treatment. NIMHANS explicitly states brief interventions 'should not be viewed as complete solutions.' Ongoing training and supervision maintain quality.</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24: Ethical Considerations &amp; Cultural Adaptation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primary ethical concern: is strategic use of reflection manipulative? Answer: if genuine compassion guides it (serving client welfare), it is ethical. If self-serving (compliance with therapist agenda), it becomes manipulation. The spirit of MET IS the ethical safeguard.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NIMHANS manual provides crucial context for Indian implementation. The stepped care model matches limited resources. Cultural adaptations address family collectivism, stigma, and hierarchical relationships while maintaining universal MI principles.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26: Therapist Competencies &amp; Training</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MITI system provides standardized assessment of MI quality. Without fidelity monitoring, therapists drift toward confrontation over time. Regular recording and coding of sessions with supervisory feedback maintains quality.</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2-day workshop alone does NOT produce lasting competence. Research shows skills deteriorate without ongoing supervision. The full pathway includes: reading, intensive workshop, practice with recording, coded feedback, ongoing supervision, and eventually teaching. Reading the manual is necessary but insufficient.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27: Practical Demonstration: Role Plays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demonstrates the power of reflective listening with a reluctant/mandated client. The therapist never argues, never gives advice, never confronts. By reflecting the wife's importance (a value), the client naturally produces change talk. This is textbook MET.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common mistake for new therapists is the 'label debate' — arguing about whether someone IS an alcoholic. MET completely avoids this by shifting focus to what the CLIENT is concerned about. Never argue about labels.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role play shows how the therapist NEVER argues for the validity of results. Despite client's initial rejection, consistent reflection creates safety. The client's own cognitive dissonance emerges naturally. The therapist names the discrepancy without pushing it. This is textbook MET feedback delivery.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28: Examination Questions &amp; Practice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Structure answers as: definition → theory → principles → evidence → application → limitations. Reference both MET manual and NIMHANS manual for Indian context questions.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scenario: identify (1) stage, (2) type of talk, (3) relevant principle, (4) specific response. Multiple acceptable answers exist — key is MI-consistency (empathic, non-confrontational, autonomy-supporting).</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MCQs for revision. Focus on: key acronyms, founders, research findings, distinguishing features, and numerical benchmarks.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29: Summary &amp; Clinical Pearls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summary condenses the entire presentation. Each line represents a major section. Students should be able to expand each into a detailed explanation with examples and references.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represent the most important practical takeaways from MET training. Pearl #10 is diagnostic: in skilled MET, the CLIENT argues for change while the therapist facilitates. If the therapist is pushing, the dynamic has inverted.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decision tree provides a quick clinical reference. The three key questions (change talk present? discord high? ready for planning?) guide every moment of every session. Print it and keep it visible during early practice.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30: Complete Bibliography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primary sources form the foundation. Miller et al. (1995) and Murthy (2008) are the two uploaded reference books. Miller &amp; Rollnick (2013) provides the most current theoretical framework.</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studies form the evidence base cited throughout. Each represents a milestone in MI/MET research. Students should know key findings of each for examination purposes.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exercises should be practiced in pairs or small groups. Reflective listening requires extensive practice to become natural. The ability to deepen reflections on the fly is a hallmark of MI proficiency.</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2×2 matrix is one of the most clinically useful frameworks in MET. Assess importance and confidence separately (using rulers), then match your strategy accordingly. This prevents common errors like building skills for someone who doesn't see the need.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PFR is what distinguishes MET from pure MI. It provides objective data that creates discrepancy through normative comparison. The therapist's role is to present it neutrally and let the data speak for itself.</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strategy reduces discord while maintaining therapeutic contact. The amplified reflection and 'coming alongside' use reverse psychology (reactance theory). The client, feeling their freedom threatened by the therapist seemingly agreeing with inaction, moves toward change.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 can be a powerful therapeutic ally when handled skillfully. The therapist must maintain balance: validate the SO's concerns while keeping the client as the primary focus. Reframing anger as caring is a key skill.</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MET's non-confrontational approach is ideally suited for mandated clients because it directly addresses the reactance that forced treatment creates. By emphasizing autonomy, you paradoxically increase engagement.</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DARES is identical in content to MI principles but organized mnemonically for Indian training contexts. It's widely used across NIMHANS-affiliated training programs.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Relapse prevention in MET maintains the motivational spirit. Rather than prescribing coping strategies, explore collaboratively with the client. This increases ownership and adherence to the plan.</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Values clarification creates powerful internal discrepancy from the client's OWN values. The therapist doesn't point out the gap — they ask the question and let the client discover it themselves. This creates far stronger cognitive dissonance than external confrontation.</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rulers are both assessment AND intervention. The critical rule: ALWAYS ask 'Why not lower?' which forces articulation of motivation. NEVER ask 'Why not higher?' which forces articulation of barriers and sustain talk.</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Dual diagnosis is the norm, not the exception. MET addresses the substance component while acknowledging that comorbidity may be driving use. Tailor discrepancy development to the specific comorbid condition.</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versatility of MET principles is remarkable. Any behavior involving ambivalence can benefit from motivational approaches. The same mechanisms work: autonomy support, empathy, discrepancy, self-efficacy.</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 MATCH's most striking finding was that MET achieved equivalent outcomes with only one-third the sessions. This was revolutionary for the field and established MET as remarkably cost-effective. The matching hypothesis (main aim) was largely unsupported.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evidence base continues to grow. Recent research focuses on mechanisms, technology-assisted delivery, and implementation science. The COVID pandemic accelerated telehealth MI research, showing equivalent outcomes to in-person delivery.</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 sizes are consistently small-to-medium, which is typical for psychotherapy research. Notably, effects are LARGER for mandated clients — MET's non-confrontational approach is especially helpful when clients are forced into treatment.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future of MET includes technology-assisted delivery, personalized approaches, global implementation science, and novel applications. The NIMHANS model of training non-specialists is increasingly relevant worldwide.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research finding for clinical practice. It tells us exactly WHAT to focus on: evoking change talk. The mechanism is clear: when therapists use MI-consistent behaviors, clients produce more change talk, which predicts actual behavior change.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traps represent the most common ways therapists drift from MI fidelity. Self-monitoring for these traps, plus regular supervision with recorded sessions, helps maintain quality over time.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decisional balance is both assessment and intervention. The strategic order matters: starting with benefits shows you understand; ending with benefits of change leaves forward momentum. The summary strategically weights change talk.</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OARS are not just communication skills — they are STRATEGIC tools for maximizing change talk. Every question should be designed to evoke change talk. Every reflection should amplify it. Every summary should collect it. This is the active mechanism of MET.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Without fidelity monitoring, therapists inevitably drift back toward confrontation and advice-giving. MITI provides objective data about practice quality. The feedback loop (record → code → feedback → adjust) is essential for maintaining competence.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Worksheets structure the therapeutic process and provide tangible take-home tools. Assign them as suggestions (not requirements) to maintain autonomy. Each worksheet serves a specific function aligned with the session goals.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exercise builds the crucial skill of real-time change talk recognition. In sessions, this must be automatic. Practice classifying and responding until it becomes second nature.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these memorable quotes. Remind students that the spirit of MET is its most powerful element. Every interaction is an opportunity to enhance motivation for positive change.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mapping is a simple technique that powerfully supports the MET spirit of partnership and autonomy. By asking what the client wants to discuss, you communicate that this is THEIR session.</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Scaling questions are remarkably versatile. They can be used for assessment, intervention, progress tracking, and evoking change talk — all in one simple question. The key is the strategic follow-up.</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Adolescents respond best when they feel their autonomy is respected and when consequences are immediate and personally relevant (not abstract health risks decades away). The BASICS intervention showed remarkable durability.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01200" y="-914400"/>
            <a:ext cx="3657600" cy="3657600"/>
          </a:xfrm>
          <a:prstGeom prst="ellipse">
            <a:avLst/>
          </a:prstGeom>
          <a:solidFill>
            <a:srgbClr val="2C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71600" y="4572000"/>
            <a:ext cx="3200400" cy="3200400"/>
          </a:xfrm>
          <a:prstGeom prst="ellipse">
            <a:avLst/>
          </a:prstGeom>
          <a:solidFill>
            <a:srgbClr val="2C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0" y="2103120"/>
            <a:ext cx="8503920" cy="54864"/>
          </a:xfrm>
          <a:prstGeom prst="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2377440"/>
            <a:ext cx="9418320" cy="1828800"/>
          </a:xfrm>
          <a:prstGeom prst="rect">
            <a:avLst/>
          </a:prstGeom>
          <a:noFill/>
        </p:spPr>
        <p:txBody>
          <a:bodyPr wrap="square">
            <a:spAutoFit/>
          </a:bodyPr>
          <a:lstStyle/>
          <a:p>
            <a:pPr algn="ctr">
              <a:defRPr sz="4200" b="1">
                <a:solidFill>
                  <a:srgbClr val="FFFFFF"/>
                </a:solidFill>
              </a:defRPr>
            </a:pPr>
            <a:r>
              <a:t>MOTIVATIONAL ENHANCEMENT</a:t>
            </a:r>
          </a:p>
          <a:p>
            <a:pPr algn="ctr">
              <a:defRPr sz="4200" b="1">
                <a:solidFill>
                  <a:srgbClr val="D4A01C"/>
                </a:solidFill>
              </a:defRPr>
            </a:pPr>
            <a:r>
              <a:t>THERAPY (MET)</a:t>
            </a:r>
          </a:p>
        </p:txBody>
      </p:sp>
      <p:sp>
        <p:nvSpPr>
          <p:cNvPr id="7" name="TextBox 6"/>
          <p:cNvSpPr txBox="1"/>
          <p:nvPr/>
        </p:nvSpPr>
        <p:spPr>
          <a:xfrm>
            <a:off x="1828800" y="4389120"/>
            <a:ext cx="8503920" cy="1371600"/>
          </a:xfrm>
          <a:prstGeom prst="rect">
            <a:avLst/>
          </a:prstGeom>
          <a:noFill/>
        </p:spPr>
        <p:txBody>
          <a:bodyPr wrap="square">
            <a:spAutoFit/>
          </a:bodyPr>
          <a:lstStyle/>
          <a:p>
            <a:pPr algn="ctr">
              <a:defRPr sz="1800">
                <a:solidFill>
                  <a:srgbClr val="D4E6F1"/>
                </a:solidFill>
              </a:defRPr>
            </a:pPr>
            <a:r>
              <a:t>A Comprehensive Evidence-Based Presentation</a:t>
            </a:r>
          </a:p>
          <a:p>
            <a:pPr algn="ctr">
              <a:defRPr sz="1400">
                <a:solidFill>
                  <a:srgbClr val="AABBCC"/>
                </a:solidFill>
              </a:defRPr>
            </a:pPr>
            <a:r>
              <a:t>For M.Phil. Clinical Psychology | PsyD | PhD | Psychiatry Residents</a:t>
            </a:r>
          </a:p>
        </p:txBody>
      </p:sp>
      <p:sp>
        <p:nvSpPr>
          <p:cNvPr id="8" name="Rectangle 7"/>
          <p:cNvSpPr/>
          <p:nvPr/>
        </p:nvSpPr>
        <p:spPr>
          <a:xfrm>
            <a:off x="1828800" y="5760720"/>
            <a:ext cx="8503920" cy="36576"/>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828800" y="5943600"/>
            <a:ext cx="8503920" cy="640080"/>
          </a:xfrm>
          <a:prstGeom prst="rect">
            <a:avLst/>
          </a:prstGeom>
          <a:noFill/>
        </p:spPr>
        <p:txBody>
          <a:bodyPr wrap="square">
            <a:spAutoFit/>
          </a:bodyPr>
          <a:lstStyle/>
          <a:p>
            <a:pPr algn="ctr">
              <a:defRPr sz="1100">
                <a:solidFill>
                  <a:srgbClr val="8899AA"/>
                </a:solidFill>
              </a:defRPr>
            </a:pPr>
            <a:r>
              <a:t>Based on: Miller et al. (1995) Project MATCH MET Manual &amp; NIMHANS Psychosocial Interventions Manual (2008)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0" y="1371600"/>
            <a:ext cx="2103120" cy="2103120"/>
          </a:xfrm>
          <a:prstGeom prst="ellipse">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800" b="1">
                <a:solidFill>
                  <a:srgbClr val="FFFFFF"/>
                </a:solidFill>
              </a:defRPr>
            </a:pPr>
            <a:r>
              <a:t>1</a:t>
            </a:r>
          </a:p>
        </p:txBody>
      </p:sp>
      <p:sp>
        <p:nvSpPr>
          <p:cNvPr id="4" name="TextBox 3"/>
          <p:cNvSpPr txBox="1"/>
          <p:nvPr/>
        </p:nvSpPr>
        <p:spPr>
          <a:xfrm>
            <a:off x="914400" y="3840480"/>
            <a:ext cx="10332720" cy="1371600"/>
          </a:xfrm>
          <a:prstGeom prst="rect">
            <a:avLst/>
          </a:prstGeom>
          <a:noFill/>
        </p:spPr>
        <p:txBody>
          <a:bodyPr wrap="square">
            <a:spAutoFit/>
          </a:bodyPr>
          <a:lstStyle/>
          <a:p>
            <a:pPr algn="ctr">
              <a:defRPr sz="3600" b="1">
                <a:solidFill>
                  <a:srgbClr val="FFFFFF"/>
                </a:solidFill>
              </a:defRPr>
            </a:pPr>
            <a:r>
              <a:t>Introduction to MET</a:t>
            </a:r>
          </a:p>
        </p:txBody>
      </p:sp>
      <p:sp>
        <p:nvSpPr>
          <p:cNvPr id="5" name="Rectangle 4"/>
          <p:cNvSpPr/>
          <p:nvPr/>
        </p:nvSpPr>
        <p:spPr>
          <a:xfrm>
            <a:off x="3657600" y="5303520"/>
            <a:ext cx="4846320" cy="45720"/>
          </a:xfrm>
          <a:prstGeom prst="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What is Motivation?</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Definition:</a:t>
            </a:r>
          </a:p>
          <a:p>
            <a:pPr lvl="1">
              <a:spcAft>
                <a:spcPts val="400"/>
              </a:spcAft>
              <a:defRPr sz="1300">
                <a:solidFill>
                  <a:srgbClr val="2D3A4A"/>
                </a:solidFill>
              </a:defRPr>
            </a:pPr>
            <a:r>
              <a:t>An internal state that energizes, directs, and sustains behavior toward goals</a:t>
            </a:r>
          </a:p>
          <a:p>
            <a:pPr lvl="1">
              <a:spcAft>
                <a:spcPts val="400"/>
              </a:spcAft>
              <a:defRPr sz="1300">
                <a:solidFill>
                  <a:srgbClr val="2D3A4A"/>
                </a:solidFill>
              </a:defRPr>
            </a:pPr>
            <a:r>
              <a:t>The probability a person will enter into, continue, and adhere to change</a:t>
            </a:r>
          </a:p>
          <a:p>
            <a:pPr>
              <a:spcAft>
                <a:spcPts val="400"/>
              </a:spcAft>
              <a:defRPr sz="1500">
                <a:solidFill>
                  <a:srgbClr val="2D3A4A"/>
                </a:solidFill>
              </a:defRPr>
            </a:pPr>
          </a:p>
          <a:p>
            <a:pPr>
              <a:spcAft>
                <a:spcPts val="400"/>
              </a:spcAft>
              <a:defRPr sz="1500" b="1">
                <a:solidFill>
                  <a:srgbClr val="2C5F8A"/>
                </a:solidFill>
              </a:defRPr>
            </a:pPr>
            <a:r>
              <a:t>Key Insights from Research:</a:t>
            </a:r>
          </a:p>
          <a:p>
            <a:pPr lvl="1">
              <a:spcAft>
                <a:spcPts val="400"/>
              </a:spcAft>
              <a:defRPr sz="1300">
                <a:solidFill>
                  <a:srgbClr val="2D3A4A"/>
                </a:solidFill>
              </a:defRPr>
            </a:pPr>
            <a:r>
              <a:t>Motivation is NOT a fixed personality trait — it fluctuates</a:t>
            </a:r>
          </a:p>
          <a:p>
            <a:pPr lvl="1">
              <a:spcAft>
                <a:spcPts val="400"/>
              </a:spcAft>
              <a:defRPr sz="1300">
                <a:solidFill>
                  <a:srgbClr val="2D3A4A"/>
                </a:solidFill>
              </a:defRPr>
            </a:pPr>
            <a:r>
              <a:t>Motivation is an interpersonal process — therapists influence it</a:t>
            </a:r>
          </a:p>
          <a:p>
            <a:pPr lvl="1">
              <a:spcAft>
                <a:spcPts val="400"/>
              </a:spcAft>
              <a:defRPr sz="1300">
                <a:solidFill>
                  <a:srgbClr val="2D3A4A"/>
                </a:solidFill>
              </a:defRPr>
            </a:pPr>
            <a:r>
              <a:t>Miller (1985): 'Motivation is not something one HAS but something one DOES'</a:t>
            </a:r>
          </a:p>
          <a:p>
            <a:pPr>
              <a:spcAft>
                <a:spcPts val="400"/>
              </a:spcAft>
              <a:defRPr sz="1500">
                <a:solidFill>
                  <a:srgbClr val="2D3A4A"/>
                </a:solidFill>
              </a:defRPr>
            </a:pPr>
          </a:p>
          <a:p>
            <a:pPr>
              <a:spcAft>
                <a:spcPts val="400"/>
              </a:spcAft>
              <a:defRPr sz="1500" b="1">
                <a:solidFill>
                  <a:srgbClr val="2C5F8A"/>
                </a:solidFill>
              </a:defRPr>
            </a:pPr>
            <a:r>
              <a:t>Clinical Implication:</a:t>
            </a:r>
          </a:p>
          <a:p>
            <a:pPr lvl="1">
              <a:spcAft>
                <a:spcPts val="400"/>
              </a:spcAft>
              <a:defRPr sz="1300">
                <a:solidFill>
                  <a:srgbClr val="2D3A4A"/>
                </a:solidFill>
              </a:defRPr>
            </a:pPr>
            <a:r>
              <a:t>If a client is 'unmotivated,' the question is not 'What's wrong with them?'</a:t>
            </a:r>
          </a:p>
          <a:p>
            <a:pPr lvl="1">
              <a:spcAft>
                <a:spcPts val="400"/>
              </a:spcAft>
              <a:defRPr sz="1300">
                <a:solidFill>
                  <a:srgbClr val="2D3A4A"/>
                </a:solidFill>
              </a:defRPr>
            </a:pPr>
            <a:r>
              <a:t>but rather 'What can I do differently in my therapeutic approach?'</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Motivation is dynamic and therapist-influenced — not a fixed client trait.</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W.R. (1985). Psychological Bulletin, 98, 84-107. | Miller &amp; Rollnick (2013). MI, 3rd ed. Guilford Press.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What is Behaviour Change?</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Behaviour change is a PROCESS, not an event:</a:t>
            </a:r>
          </a:p>
          <a:p>
            <a:pPr lvl="1">
              <a:spcAft>
                <a:spcPts val="400"/>
              </a:spcAft>
              <a:defRPr sz="1300">
                <a:solidFill>
                  <a:srgbClr val="2D3A4A"/>
                </a:solidFill>
              </a:defRPr>
            </a:pPr>
            <a:r>
              <a:t>People move through identifiable stages (Prochaska &amp; DiClemente, 1982)</a:t>
            </a:r>
          </a:p>
          <a:p>
            <a:pPr lvl="1">
              <a:spcAft>
                <a:spcPts val="400"/>
              </a:spcAft>
              <a:defRPr sz="1300">
                <a:solidFill>
                  <a:srgbClr val="2D3A4A"/>
                </a:solidFill>
              </a:defRPr>
            </a:pPr>
            <a:r>
              <a:t>Ambivalence is NORMAL and expected at every stage</a:t>
            </a:r>
          </a:p>
          <a:p>
            <a:pPr lvl="1">
              <a:spcAft>
                <a:spcPts val="400"/>
              </a:spcAft>
              <a:defRPr sz="1300">
                <a:solidFill>
                  <a:srgbClr val="2D3A4A"/>
                </a:solidFill>
              </a:defRPr>
            </a:pPr>
            <a:r>
              <a:t>Relapse is part of the cycle, not treatment failure</a:t>
            </a:r>
          </a:p>
          <a:p>
            <a:pPr>
              <a:spcAft>
                <a:spcPts val="400"/>
              </a:spcAft>
              <a:defRPr sz="1500">
                <a:solidFill>
                  <a:srgbClr val="2D3A4A"/>
                </a:solidFill>
              </a:defRPr>
            </a:pPr>
          </a:p>
          <a:p>
            <a:pPr>
              <a:spcAft>
                <a:spcPts val="400"/>
              </a:spcAft>
              <a:defRPr sz="1500" b="1">
                <a:solidFill>
                  <a:srgbClr val="2C5F8A"/>
                </a:solidFill>
              </a:defRPr>
            </a:pPr>
            <a:r>
              <a:t>Two critical components of behaviour change:</a:t>
            </a:r>
          </a:p>
          <a:p>
            <a:pPr lvl="1">
              <a:spcAft>
                <a:spcPts val="400"/>
              </a:spcAft>
              <a:defRPr sz="1300">
                <a:solidFill>
                  <a:srgbClr val="2D3A4A"/>
                </a:solidFill>
              </a:defRPr>
            </a:pPr>
            <a:r>
              <a:t>1. MOTIVATION (WHY change?) — importance, desire, reasons, need</a:t>
            </a:r>
          </a:p>
          <a:p>
            <a:pPr lvl="1">
              <a:spcAft>
                <a:spcPts val="400"/>
              </a:spcAft>
              <a:defRPr sz="1300">
                <a:solidFill>
                  <a:srgbClr val="2D3A4A"/>
                </a:solidFill>
              </a:defRPr>
            </a:pPr>
            <a:r>
              <a:t>2. SELF-EFFICACY (CAN I change?) — confidence, ability, past success</a:t>
            </a:r>
          </a:p>
          <a:p>
            <a:pPr>
              <a:spcAft>
                <a:spcPts val="400"/>
              </a:spcAft>
              <a:defRPr sz="1500">
                <a:solidFill>
                  <a:srgbClr val="2D3A4A"/>
                </a:solidFill>
              </a:defRPr>
            </a:pPr>
          </a:p>
          <a:p>
            <a:pPr>
              <a:spcAft>
                <a:spcPts val="400"/>
              </a:spcAft>
              <a:defRPr sz="1500" b="1">
                <a:solidFill>
                  <a:srgbClr val="2C5F8A"/>
                </a:solidFill>
              </a:defRPr>
            </a:pPr>
            <a:r>
              <a:t>What does NOT work:</a:t>
            </a:r>
          </a:p>
          <a:p>
            <a:pPr lvl="1">
              <a:spcAft>
                <a:spcPts val="400"/>
              </a:spcAft>
              <a:defRPr sz="1300">
                <a:solidFill>
                  <a:srgbClr val="2D3A4A"/>
                </a:solidFill>
              </a:defRPr>
            </a:pPr>
            <a:r>
              <a:t>Confrontation, lecturing, scare tactics, labeling, moralizing</a:t>
            </a:r>
          </a:p>
          <a:p>
            <a:pPr lvl="1">
              <a:spcAft>
                <a:spcPts val="400"/>
              </a:spcAft>
              <a:defRPr sz="1300">
                <a:solidFill>
                  <a:srgbClr val="2D3A4A"/>
                </a:solidFill>
              </a:defRPr>
            </a:pPr>
            <a:r>
              <a:t>Patterson &amp; Forgatch (1985): Confrontation INCREASES resistance</a:t>
            </a:r>
          </a:p>
          <a:p>
            <a:pPr>
              <a:spcAft>
                <a:spcPts val="400"/>
              </a:spcAft>
              <a:defRPr sz="1500">
                <a:solidFill>
                  <a:srgbClr val="2D3A4A"/>
                </a:solidFill>
              </a:defRPr>
            </a:pPr>
          </a:p>
          <a:p>
            <a:pPr>
              <a:spcAft>
                <a:spcPts val="400"/>
              </a:spcAft>
              <a:defRPr sz="1500" b="1">
                <a:solidFill>
                  <a:srgbClr val="2C5F8A"/>
                </a:solidFill>
              </a:defRPr>
            </a:pPr>
            <a:r>
              <a:t>What DOES work:</a:t>
            </a:r>
          </a:p>
          <a:p>
            <a:pPr lvl="1">
              <a:spcAft>
                <a:spcPts val="400"/>
              </a:spcAft>
              <a:defRPr sz="1300">
                <a:solidFill>
                  <a:srgbClr val="2D3A4A"/>
                </a:solidFill>
              </a:defRPr>
            </a:pPr>
            <a:r>
              <a:t>Empathy, autonomy support, collaboration, evoking client's own reasons</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Change requires both motivation (WHY) and self-efficacy (CAN I) — confrontation undermines both.</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Prochaska &amp; DiClemente (1982). Psychotherapy, 19, 276-288. | Patterson &amp; Forgatch (1985). JCCP, 53, 846-851.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Why Confrontation Fails vs. Why MET Works</a:t>
            </a:r>
          </a:p>
        </p:txBody>
      </p:sp>
      <p:sp>
        <p:nvSpPr>
          <p:cNvPr id="5" name="Rounded Rectangle 4"/>
          <p:cNvSpPr/>
          <p:nvPr/>
        </p:nvSpPr>
        <p:spPr>
          <a:xfrm>
            <a:off x="457200" y="1280160"/>
            <a:ext cx="5303520" cy="457200"/>
          </a:xfrm>
          <a:prstGeom prst="roundRect">
            <a:avLst/>
          </a:prstGeom>
          <a:solidFill>
            <a:srgbClr val="2C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CONFRONTATIONAL APPROACH</a:t>
            </a:r>
          </a:p>
        </p:txBody>
      </p:sp>
      <p:sp>
        <p:nvSpPr>
          <p:cNvPr id="6" name="TextBox 5"/>
          <p:cNvSpPr txBox="1"/>
          <p:nvPr/>
        </p:nvSpPr>
        <p:spPr>
          <a:xfrm>
            <a:off x="548640" y="1828800"/>
            <a:ext cx="5120640" cy="3657600"/>
          </a:xfrm>
          <a:prstGeom prst="rect">
            <a:avLst/>
          </a:prstGeom>
          <a:noFill/>
        </p:spPr>
        <p:txBody>
          <a:bodyPr wrap="square">
            <a:spAutoFit/>
          </a:bodyPr>
          <a:lstStyle/>
          <a:p>
            <a:pPr>
              <a:spcAft>
                <a:spcPts val="400"/>
              </a:spcAft>
              <a:defRPr sz="1200">
                <a:solidFill>
                  <a:srgbClr val="2D3A4A"/>
                </a:solidFill>
              </a:defRPr>
            </a:pPr>
            <a:r>
              <a:t>• Assumes 'denial' is pathological</a:t>
            </a:r>
          </a:p>
          <a:p>
            <a:pPr>
              <a:spcAft>
                <a:spcPts val="400"/>
              </a:spcAft>
              <a:defRPr sz="1200">
                <a:solidFill>
                  <a:srgbClr val="2D3A4A"/>
                </a:solidFill>
              </a:defRPr>
            </a:pPr>
            <a:r>
              <a:t>• Therapist as authoritarian expert</a:t>
            </a:r>
          </a:p>
          <a:p>
            <a:pPr>
              <a:spcAft>
                <a:spcPts val="400"/>
              </a:spcAft>
              <a:defRPr sz="1200">
                <a:solidFill>
                  <a:srgbClr val="2D3A4A"/>
                </a:solidFill>
              </a:defRPr>
            </a:pPr>
            <a:r>
              <a:t>• Breaking through resistance</a:t>
            </a:r>
          </a:p>
          <a:p>
            <a:pPr>
              <a:spcAft>
                <a:spcPts val="400"/>
              </a:spcAft>
              <a:defRPr sz="1200">
                <a:solidFill>
                  <a:srgbClr val="2D3A4A"/>
                </a:solidFill>
              </a:defRPr>
            </a:pPr>
            <a:r>
              <a:t>• Labels: 'You ARE an alcoholic'</a:t>
            </a:r>
          </a:p>
          <a:p>
            <a:pPr>
              <a:spcAft>
                <a:spcPts val="400"/>
              </a:spcAft>
              <a:defRPr sz="1200">
                <a:solidFill>
                  <a:srgbClr val="2D3A4A"/>
                </a:solidFill>
              </a:defRPr>
            </a:pPr>
            <a:r>
              <a:t>• Creates adversarial relationship</a:t>
            </a:r>
          </a:p>
          <a:p>
            <a:pPr>
              <a:spcAft>
                <a:spcPts val="400"/>
              </a:spcAft>
              <a:defRPr sz="1200">
                <a:solidFill>
                  <a:srgbClr val="2D3A4A"/>
                </a:solidFill>
              </a:defRPr>
            </a:pPr>
            <a:r>
              <a:t>• Higher dropout rates</a:t>
            </a:r>
          </a:p>
          <a:p>
            <a:pPr>
              <a:spcAft>
                <a:spcPts val="400"/>
              </a:spcAft>
              <a:defRPr sz="1200">
                <a:solidFill>
                  <a:srgbClr val="2D3A4A"/>
                </a:solidFill>
              </a:defRPr>
            </a:pPr>
            <a:r>
              <a:t>• Evokes defensive argumentation</a:t>
            </a:r>
          </a:p>
          <a:p>
            <a:pPr>
              <a:spcAft>
                <a:spcPts val="400"/>
              </a:spcAft>
              <a:defRPr sz="1200">
                <a:solidFill>
                  <a:srgbClr val="2D3A4A"/>
                </a:solidFill>
              </a:defRPr>
            </a:pPr>
            <a:r>
              <a:t>• Miller (1993): Predicts WORSE outcomes</a:t>
            </a:r>
          </a:p>
        </p:txBody>
      </p:sp>
      <p:sp>
        <p:nvSpPr>
          <p:cNvPr id="7" name="Rounded Rectangle 6"/>
          <p:cNvSpPr/>
          <p:nvPr/>
        </p:nvSpPr>
        <p:spPr>
          <a:xfrm>
            <a:off x="6217920" y="1280160"/>
            <a:ext cx="5303520" cy="457200"/>
          </a:xfrm>
          <a:prstGeom prst="roundRect">
            <a:avLst/>
          </a:prstGeom>
          <a:solidFill>
            <a:srgbClr val="17A2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MET / MOTIVATIONAL APPROACH</a:t>
            </a:r>
          </a:p>
        </p:txBody>
      </p:sp>
      <p:sp>
        <p:nvSpPr>
          <p:cNvPr id="8" name="TextBox 7"/>
          <p:cNvSpPr txBox="1"/>
          <p:nvPr/>
        </p:nvSpPr>
        <p:spPr>
          <a:xfrm>
            <a:off x="6309360" y="1828800"/>
            <a:ext cx="5120640" cy="3657600"/>
          </a:xfrm>
          <a:prstGeom prst="rect">
            <a:avLst/>
          </a:prstGeom>
          <a:noFill/>
        </p:spPr>
        <p:txBody>
          <a:bodyPr wrap="square">
            <a:spAutoFit/>
          </a:bodyPr>
          <a:lstStyle/>
          <a:p>
            <a:pPr>
              <a:spcAft>
                <a:spcPts val="400"/>
              </a:spcAft>
              <a:defRPr sz="1200">
                <a:solidFill>
                  <a:srgbClr val="2D3A4A"/>
                </a:solidFill>
              </a:defRPr>
            </a:pPr>
            <a:r>
              <a:t>• Sees ambivalence as normal</a:t>
            </a:r>
          </a:p>
          <a:p>
            <a:pPr>
              <a:spcAft>
                <a:spcPts val="400"/>
              </a:spcAft>
              <a:defRPr sz="1200">
                <a:solidFill>
                  <a:srgbClr val="2D3A4A"/>
                </a:solidFill>
              </a:defRPr>
            </a:pPr>
            <a:r>
              <a:t>• Therapist as collaborative partner</a:t>
            </a:r>
          </a:p>
          <a:p>
            <a:pPr>
              <a:spcAft>
                <a:spcPts val="400"/>
              </a:spcAft>
              <a:defRPr sz="1200">
                <a:solidFill>
                  <a:srgbClr val="2D3A4A"/>
                </a:solidFill>
              </a:defRPr>
            </a:pPr>
            <a:r>
              <a:t>• Rolling with resistance</a:t>
            </a:r>
          </a:p>
          <a:p>
            <a:pPr>
              <a:spcAft>
                <a:spcPts val="400"/>
              </a:spcAft>
              <a:defRPr sz="1200">
                <a:solidFill>
                  <a:srgbClr val="2D3A4A"/>
                </a:solidFill>
              </a:defRPr>
            </a:pPr>
            <a:r>
              <a:t>• Explores: 'What concerns YOU?'</a:t>
            </a:r>
          </a:p>
          <a:p>
            <a:pPr>
              <a:spcAft>
                <a:spcPts val="400"/>
              </a:spcAft>
              <a:defRPr sz="1200">
                <a:solidFill>
                  <a:srgbClr val="2D3A4A"/>
                </a:solidFill>
              </a:defRPr>
            </a:pPr>
            <a:r>
              <a:t>• Builds therapeutic alliance</a:t>
            </a:r>
          </a:p>
          <a:p>
            <a:pPr>
              <a:spcAft>
                <a:spcPts val="400"/>
              </a:spcAft>
              <a:defRPr sz="1200">
                <a:solidFill>
                  <a:srgbClr val="2D3A4A"/>
                </a:solidFill>
              </a:defRPr>
            </a:pPr>
            <a:r>
              <a:t>• Better engagement and retention</a:t>
            </a:r>
          </a:p>
          <a:p>
            <a:pPr>
              <a:spcAft>
                <a:spcPts val="400"/>
              </a:spcAft>
              <a:defRPr sz="1200">
                <a:solidFill>
                  <a:srgbClr val="2D3A4A"/>
                </a:solidFill>
              </a:defRPr>
            </a:pPr>
            <a:r>
              <a:t>• Evokes self-motivational statements</a:t>
            </a:r>
          </a:p>
          <a:p>
            <a:pPr>
              <a:spcAft>
                <a:spcPts val="400"/>
              </a:spcAft>
              <a:defRPr sz="1200">
                <a:solidFill>
                  <a:srgbClr val="2D3A4A"/>
                </a:solidFill>
              </a:defRPr>
            </a:pPr>
            <a:r>
              <a:t>• Research: Predicts BETTER outcomes</a:t>
            </a:r>
          </a:p>
        </p:txBody>
      </p:sp>
      <p:sp>
        <p:nvSpPr>
          <p:cNvPr id="9" name="Rounded Rectangle 8"/>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Empathic approaches consistently outperform confrontation in addiction treatment outcomes.</a:t>
            </a:r>
          </a:p>
        </p:txBody>
      </p:sp>
      <p:sp>
        <p:nvSpPr>
          <p:cNvPr id="10" name="Rectangle 9"/>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Benefield &amp; Tonigan (1993). JCCP, 61, 455-461. | Valle (1981). J Studies on Alcohol, 42, 783-790.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Definition of MET</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Motivational Enhancement Therapy (MET):</a:t>
            </a:r>
          </a:p>
          <a:p>
            <a:pPr lvl="1">
              <a:spcAft>
                <a:spcPts val="400"/>
              </a:spcAft>
              <a:defRPr sz="1300">
                <a:solidFill>
                  <a:srgbClr val="2D3A4A"/>
                </a:solidFill>
              </a:defRPr>
            </a:pPr>
            <a:r>
              <a:t>A brief, structured, evidence-based intervention that uses motivational</a:t>
            </a:r>
          </a:p>
          <a:p>
            <a:pPr lvl="1">
              <a:spcAft>
                <a:spcPts val="400"/>
              </a:spcAft>
              <a:defRPr sz="1300">
                <a:solidFill>
                  <a:srgbClr val="2D3A4A"/>
                </a:solidFill>
              </a:defRPr>
            </a:pPr>
            <a:r>
              <a:t>strategies to mobilize the client's OWN internal resources for change.</a:t>
            </a:r>
          </a:p>
          <a:p>
            <a:pPr>
              <a:spcAft>
                <a:spcPts val="400"/>
              </a:spcAft>
              <a:defRPr sz="1500">
                <a:solidFill>
                  <a:srgbClr val="2D3A4A"/>
                </a:solidFill>
              </a:defRPr>
            </a:pPr>
          </a:p>
          <a:p>
            <a:pPr>
              <a:spcAft>
                <a:spcPts val="400"/>
              </a:spcAft>
              <a:defRPr sz="1500" b="1">
                <a:solidFill>
                  <a:srgbClr val="2C5F8A"/>
                </a:solidFill>
              </a:defRPr>
            </a:pPr>
            <a:r>
              <a:t>Key Characteristics:</a:t>
            </a:r>
          </a:p>
          <a:p>
            <a:pPr lvl="1">
              <a:spcAft>
                <a:spcPts val="400"/>
              </a:spcAft>
              <a:defRPr sz="1300">
                <a:solidFill>
                  <a:srgbClr val="2D3A4A"/>
                </a:solidFill>
              </a:defRPr>
            </a:pPr>
            <a:r>
              <a:t>• Brief: 4 sessions (vs. 12 for CBT/TSF in Project MATCH)</a:t>
            </a:r>
          </a:p>
          <a:p>
            <a:pPr lvl="1">
              <a:spcAft>
                <a:spcPts val="400"/>
              </a:spcAft>
              <a:defRPr sz="1300">
                <a:solidFill>
                  <a:srgbClr val="2D3A4A"/>
                </a:solidFill>
              </a:defRPr>
            </a:pPr>
            <a:r>
              <a:t>• Non-confrontational and non-judgmental</a:t>
            </a:r>
          </a:p>
          <a:p>
            <a:pPr lvl="1">
              <a:spcAft>
                <a:spcPts val="400"/>
              </a:spcAft>
              <a:defRPr sz="1300">
                <a:solidFill>
                  <a:srgbClr val="2D3A4A"/>
                </a:solidFill>
              </a:defRPr>
            </a:pPr>
            <a:r>
              <a:t>• Client-centered in spirit, yet directive in strategy</a:t>
            </a:r>
          </a:p>
          <a:p>
            <a:pPr lvl="1">
              <a:spcAft>
                <a:spcPts val="400"/>
              </a:spcAft>
              <a:defRPr sz="1300">
                <a:solidFill>
                  <a:srgbClr val="2D3A4A"/>
                </a:solidFill>
              </a:defRPr>
            </a:pPr>
            <a:r>
              <a:t>• Based on personalized assessment FEEDBACK</a:t>
            </a:r>
          </a:p>
          <a:p>
            <a:pPr lvl="1">
              <a:spcAft>
                <a:spcPts val="400"/>
              </a:spcAft>
              <a:defRPr sz="1300">
                <a:solidFill>
                  <a:srgbClr val="2D3A4A"/>
                </a:solidFill>
              </a:defRPr>
            </a:pPr>
            <a:r>
              <a:t>• Focuses on evoking change talk from the client</a:t>
            </a:r>
          </a:p>
          <a:p>
            <a:pPr lvl="1">
              <a:spcAft>
                <a:spcPts val="400"/>
              </a:spcAft>
              <a:defRPr sz="1300">
                <a:solidFill>
                  <a:srgbClr val="2D3A4A"/>
                </a:solidFill>
              </a:defRPr>
            </a:pPr>
            <a:r>
              <a:t>• Respects client autonomy and builds self-efficacy</a:t>
            </a:r>
          </a:p>
          <a:p>
            <a:pPr>
              <a:spcAft>
                <a:spcPts val="400"/>
              </a:spcAft>
              <a:defRPr sz="1500">
                <a:solidFill>
                  <a:srgbClr val="2D3A4A"/>
                </a:solidFill>
              </a:defRPr>
            </a:pPr>
          </a:p>
          <a:p>
            <a:pPr>
              <a:spcAft>
                <a:spcPts val="400"/>
              </a:spcAft>
              <a:defRPr sz="1500" b="1">
                <a:solidFill>
                  <a:srgbClr val="2C5F8A"/>
                </a:solidFill>
              </a:defRPr>
            </a:pPr>
            <a:r>
              <a:t>Formula:</a:t>
            </a:r>
          </a:p>
          <a:p>
            <a:pPr lvl="1">
              <a:spcAft>
                <a:spcPts val="400"/>
              </a:spcAft>
              <a:defRPr sz="1300">
                <a:solidFill>
                  <a:srgbClr val="2D3A4A"/>
                </a:solidFill>
              </a:defRPr>
            </a:pPr>
            <a:r>
              <a:t>MET = Motivational Interviewing + Structured Feedback + Personal Change Plan</a:t>
            </a:r>
          </a:p>
          <a:p>
            <a:pPr>
              <a:spcAft>
                <a:spcPts val="400"/>
              </a:spcAft>
              <a:defRPr sz="1500">
                <a:solidFill>
                  <a:srgbClr val="2D3A4A"/>
                </a:solidFill>
              </a:defRPr>
            </a:pPr>
          </a:p>
          <a:p>
            <a:pPr>
              <a:spcAft>
                <a:spcPts val="400"/>
              </a:spcAft>
              <a:defRPr sz="1500">
                <a:solidFill>
                  <a:srgbClr val="2D3A4A"/>
                </a:solidFill>
              </a:defRPr>
            </a:pPr>
            <a:r>
              <a:t>MET does NOT train clients step-by-step; it MOBILIZES their own motivation.</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MET = MI spirit + structured feedback + 4-session protocol. Brief yet equally effective as longer treatments.</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Zweben, DiClemente &amp; Rychtarik (1995). MET Manual. NIAAA, NIH Pub No. 94-3723.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Historical Timeline of MET Development</a:t>
            </a:r>
          </a:p>
        </p:txBody>
      </p:sp>
      <p:sp>
        <p:nvSpPr>
          <p:cNvPr id="5" name="Rounded Rectangle 4"/>
          <p:cNvSpPr/>
          <p:nvPr/>
        </p:nvSpPr>
        <p:spPr>
          <a:xfrm>
            <a:off x="457199" y="2011680"/>
            <a:ext cx="2036003" cy="1645920"/>
          </a:xfrm>
          <a:prstGeom prst="roundRect">
            <a:avLst/>
          </a:prstGeom>
          <a:solidFill>
            <a:srgbClr val="2C5F8A"/>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100" b="1">
                <a:solidFill>
                  <a:srgbClr val="FFFFFF"/>
                </a:solidFill>
              </a:defRPr>
            </a:pPr>
            <a:r>
              <a:t>1983</a:t>
            </a:r>
          </a:p>
          <a:p>
            <a:pPr algn="ctr">
              <a:defRPr sz="900">
                <a:solidFill>
                  <a:srgbClr val="E8F0FF"/>
                </a:solidFill>
              </a:defRPr>
            </a:pPr>
            <a:r>
              <a:t>Miller publishes</a:t>
            </a:r>
            <a:br/>
            <a:r>
              <a:t>first MI paper</a:t>
            </a:r>
          </a:p>
        </p:txBody>
      </p:sp>
      <p:sp>
        <p:nvSpPr>
          <p:cNvPr id="6" name="Right Arrow 5"/>
          <p:cNvSpPr/>
          <p:nvPr/>
        </p:nvSpPr>
        <p:spPr>
          <a:xfrm>
            <a:off x="2511491" y="2697480"/>
            <a:ext cx="237744" cy="274320"/>
          </a:xfrm>
          <a:prstGeom prst="rightArrow">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767523" y="2011680"/>
            <a:ext cx="2036003" cy="1645920"/>
          </a:xfrm>
          <a:prstGeom prst="round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100" b="1">
                <a:solidFill>
                  <a:srgbClr val="FFFFFF"/>
                </a:solidFill>
              </a:defRPr>
            </a:pPr>
            <a:r>
              <a:t>1989</a:t>
            </a:r>
          </a:p>
          <a:p>
            <a:pPr algn="ctr">
              <a:defRPr sz="900">
                <a:solidFill>
                  <a:srgbClr val="E8F0FF"/>
                </a:solidFill>
              </a:defRPr>
            </a:pPr>
            <a:r>
              <a:t>Project MATCH</a:t>
            </a:r>
            <a:br/>
            <a:r>
              <a:t>initiated by NIAAA</a:t>
            </a:r>
          </a:p>
        </p:txBody>
      </p:sp>
      <p:sp>
        <p:nvSpPr>
          <p:cNvPr id="8" name="Right Arrow 7"/>
          <p:cNvSpPr/>
          <p:nvPr/>
        </p:nvSpPr>
        <p:spPr>
          <a:xfrm>
            <a:off x="4821814" y="2697480"/>
            <a:ext cx="237744" cy="274320"/>
          </a:xfrm>
          <a:prstGeom prst="rightArrow">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077846" y="2011680"/>
            <a:ext cx="2036003" cy="1645920"/>
          </a:xfrm>
          <a:prstGeom prst="roundRect">
            <a:avLst/>
          </a:prstGeom>
          <a:solidFill>
            <a:srgbClr val="17A2B8"/>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100" b="1">
                <a:solidFill>
                  <a:srgbClr val="FFFFFF"/>
                </a:solidFill>
              </a:defRPr>
            </a:pPr>
            <a:r>
              <a:t>1994</a:t>
            </a:r>
          </a:p>
          <a:p>
            <a:pPr algn="ctr">
              <a:defRPr sz="900">
                <a:solidFill>
                  <a:srgbClr val="E8F0FF"/>
                </a:solidFill>
              </a:defRPr>
            </a:pPr>
            <a:r>
              <a:t>MET Manual</a:t>
            </a:r>
            <a:br/>
            <a:r>
              <a:t>published</a:t>
            </a:r>
          </a:p>
        </p:txBody>
      </p:sp>
      <p:sp>
        <p:nvSpPr>
          <p:cNvPr id="10" name="Right Arrow 9"/>
          <p:cNvSpPr/>
          <p:nvPr/>
        </p:nvSpPr>
        <p:spPr>
          <a:xfrm>
            <a:off x="7132137" y="2697480"/>
            <a:ext cx="237744" cy="274320"/>
          </a:xfrm>
          <a:prstGeom prst="rightArrow">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88169" y="2011680"/>
            <a:ext cx="2036003" cy="1645920"/>
          </a:xfrm>
          <a:prstGeom prst="roundRect">
            <a:avLst/>
          </a:prstGeom>
          <a:solidFill>
            <a:srgbClr val="28A74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100" b="1">
                <a:solidFill>
                  <a:srgbClr val="FFFFFF"/>
                </a:solidFill>
              </a:defRPr>
            </a:pPr>
            <a:r>
              <a:t>1997</a:t>
            </a:r>
          </a:p>
          <a:p>
            <a:pPr algn="ctr">
              <a:defRPr sz="900">
                <a:solidFill>
                  <a:srgbClr val="E8F0FF"/>
                </a:solidFill>
              </a:defRPr>
            </a:pPr>
            <a:r>
              <a:t>MATCH results:</a:t>
            </a:r>
            <a:br/>
            <a:r>
              <a:t>MET = CBT = TSF</a:t>
            </a:r>
          </a:p>
        </p:txBody>
      </p:sp>
      <p:sp>
        <p:nvSpPr>
          <p:cNvPr id="12" name="Right Arrow 11"/>
          <p:cNvSpPr/>
          <p:nvPr/>
        </p:nvSpPr>
        <p:spPr>
          <a:xfrm>
            <a:off x="9442460" y="2697480"/>
            <a:ext cx="237744" cy="274320"/>
          </a:xfrm>
          <a:prstGeom prst="rightArrow">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698492" y="2011680"/>
            <a:ext cx="2036003" cy="1645920"/>
          </a:xfrm>
          <a:prstGeom prst="round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100" b="1">
                <a:solidFill>
                  <a:srgbClr val="FFFFFF"/>
                </a:solidFill>
              </a:defRPr>
            </a:pPr>
            <a:r>
              <a:t>2013</a:t>
            </a:r>
          </a:p>
          <a:p>
            <a:pPr algn="ctr">
              <a:defRPr sz="900">
                <a:solidFill>
                  <a:srgbClr val="E8F0FF"/>
                </a:solidFill>
              </a:defRPr>
            </a:pPr>
            <a:r>
              <a:t>MI 3rd Edition</a:t>
            </a:r>
            <a:br/>
            <a:r>
              <a:t>updated framework</a:t>
            </a:r>
          </a:p>
        </p:txBody>
      </p:sp>
      <p:sp>
        <p:nvSpPr>
          <p:cNvPr id="14" name="Rounded Rectangle 13"/>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MET evolved from 1983 insight to become one of the most researched psychotherapies worldwide.</a:t>
            </a:r>
          </a:p>
        </p:txBody>
      </p:sp>
      <p:sp>
        <p:nvSpPr>
          <p:cNvPr id="15" name="Rectangle 14"/>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(1983). Behavioural Psychotherapy, 11, 147-172. | Project MATCH (1997). J Studies on Alcohol, 58, 7-29.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0" y="1371600"/>
            <a:ext cx="2103120" cy="2103120"/>
          </a:xfrm>
          <a:prstGeom prst="ellipse">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800" b="1">
                <a:solidFill>
                  <a:srgbClr val="FFFFFF"/>
                </a:solidFill>
              </a:defRPr>
            </a:pPr>
            <a:r>
              <a:t>2</a:t>
            </a:r>
          </a:p>
        </p:txBody>
      </p:sp>
      <p:sp>
        <p:nvSpPr>
          <p:cNvPr id="4" name="TextBox 3"/>
          <p:cNvSpPr txBox="1"/>
          <p:nvPr/>
        </p:nvSpPr>
        <p:spPr>
          <a:xfrm>
            <a:off x="914400" y="3840480"/>
            <a:ext cx="10332720" cy="1371600"/>
          </a:xfrm>
          <a:prstGeom prst="rect">
            <a:avLst/>
          </a:prstGeom>
          <a:noFill/>
        </p:spPr>
        <p:txBody>
          <a:bodyPr wrap="square">
            <a:spAutoFit/>
          </a:bodyPr>
          <a:lstStyle/>
          <a:p>
            <a:pPr algn="ctr">
              <a:defRPr sz="3600" b="1">
                <a:solidFill>
                  <a:srgbClr val="FFFFFF"/>
                </a:solidFill>
              </a:defRPr>
            </a:pPr>
            <a:r>
              <a:t>Founders &amp; Key Contributors</a:t>
            </a:r>
          </a:p>
        </p:txBody>
      </p:sp>
      <p:sp>
        <p:nvSpPr>
          <p:cNvPr id="5" name="Rectangle 4"/>
          <p:cNvSpPr/>
          <p:nvPr/>
        </p:nvSpPr>
        <p:spPr>
          <a:xfrm>
            <a:off x="3657600" y="5303520"/>
            <a:ext cx="4846320" cy="45720"/>
          </a:xfrm>
          <a:prstGeom prst="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William R. Miller, PhD — Creator of MI/MET</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a:solidFill>
                  <a:srgbClr val="2D3A4A"/>
                </a:solidFill>
              </a:defRPr>
            </a:pPr>
            <a:r>
              <a:t>Professor Emeritus, University of New Mexico (born 1947)</a:t>
            </a:r>
          </a:p>
          <a:p>
            <a:pPr>
              <a:spcAft>
                <a:spcPts val="400"/>
              </a:spcAft>
              <a:defRPr sz="1500">
                <a:solidFill>
                  <a:srgbClr val="2D3A4A"/>
                </a:solidFill>
              </a:defRPr>
            </a:pPr>
          </a:p>
          <a:p>
            <a:pPr>
              <a:spcAft>
                <a:spcPts val="400"/>
              </a:spcAft>
              <a:defRPr sz="1500" b="1">
                <a:solidFill>
                  <a:srgbClr val="2C5F8A"/>
                </a:solidFill>
              </a:defRPr>
            </a:pPr>
            <a:r>
              <a:t>Key Contributions:</a:t>
            </a:r>
          </a:p>
          <a:p>
            <a:pPr lvl="1">
              <a:spcAft>
                <a:spcPts val="400"/>
              </a:spcAft>
              <a:defRPr sz="1300">
                <a:solidFill>
                  <a:srgbClr val="2D3A4A"/>
                </a:solidFill>
              </a:defRPr>
            </a:pPr>
            <a:r>
              <a:t>• Created Motivational Interviewing (1983)</a:t>
            </a:r>
          </a:p>
          <a:p>
            <a:pPr lvl="1">
              <a:spcAft>
                <a:spcPts val="400"/>
              </a:spcAft>
              <a:defRPr sz="1300">
                <a:solidFill>
                  <a:srgbClr val="2D3A4A"/>
                </a:solidFill>
              </a:defRPr>
            </a:pPr>
            <a:r>
              <a:t>• Lead author of MET Manual for Project MATCH</a:t>
            </a:r>
          </a:p>
          <a:p>
            <a:pPr lvl="1">
              <a:spcAft>
                <a:spcPts val="400"/>
              </a:spcAft>
              <a:defRPr sz="1300">
                <a:solidFill>
                  <a:srgbClr val="2D3A4A"/>
                </a:solidFill>
              </a:defRPr>
            </a:pPr>
            <a:r>
              <a:t>• 400+ publications, 50+ books</a:t>
            </a:r>
          </a:p>
          <a:p>
            <a:pPr lvl="1">
              <a:spcAft>
                <a:spcPts val="400"/>
              </a:spcAft>
              <a:defRPr sz="1300">
                <a:solidFill>
                  <a:srgbClr val="2D3A4A"/>
                </a:solidFill>
              </a:defRPr>
            </a:pPr>
            <a:r>
              <a:t>• Developed the 'Drinker's Check-Up' (precursor to MET feedback)</a:t>
            </a:r>
          </a:p>
          <a:p>
            <a:pPr lvl="1">
              <a:spcAft>
                <a:spcPts val="400"/>
              </a:spcAft>
              <a:defRPr sz="1300">
                <a:solidFill>
                  <a:srgbClr val="2D3A4A"/>
                </a:solidFill>
              </a:defRPr>
            </a:pPr>
            <a:r>
              <a:t>• Demonstrated that therapist empathy predicts outcomes</a:t>
            </a:r>
          </a:p>
          <a:p>
            <a:pPr>
              <a:spcAft>
                <a:spcPts val="400"/>
              </a:spcAft>
              <a:defRPr sz="1500">
                <a:solidFill>
                  <a:srgbClr val="2D3A4A"/>
                </a:solidFill>
              </a:defRPr>
            </a:pPr>
          </a:p>
          <a:p>
            <a:pPr>
              <a:spcAft>
                <a:spcPts val="400"/>
              </a:spcAft>
              <a:defRPr sz="1500" b="1">
                <a:solidFill>
                  <a:srgbClr val="2C5F8A"/>
                </a:solidFill>
              </a:defRPr>
            </a:pPr>
            <a:r>
              <a:t>Core Insight:</a:t>
            </a:r>
          </a:p>
          <a:p>
            <a:pPr lvl="1">
              <a:spcAft>
                <a:spcPts val="400"/>
              </a:spcAft>
              <a:defRPr sz="1300">
                <a:solidFill>
                  <a:srgbClr val="2D3A4A"/>
                </a:solidFill>
              </a:defRPr>
            </a:pPr>
            <a:r>
              <a:t>'The worst persuasion strategy is one that evokes defensive</a:t>
            </a:r>
          </a:p>
          <a:p>
            <a:pPr lvl="1">
              <a:spcAft>
                <a:spcPts val="400"/>
              </a:spcAft>
              <a:defRPr sz="1300">
                <a:solidFill>
                  <a:srgbClr val="2D3A4A"/>
                </a:solidFill>
              </a:defRPr>
            </a:pPr>
            <a:r>
              <a:t>argumentation from the person' — Miller, 1995 (MET Manual)</a:t>
            </a:r>
          </a:p>
          <a:p>
            <a:pPr>
              <a:spcAft>
                <a:spcPts val="400"/>
              </a:spcAft>
              <a:defRPr sz="1500">
                <a:solidFill>
                  <a:srgbClr val="2D3A4A"/>
                </a:solidFill>
              </a:defRPr>
            </a:pPr>
          </a:p>
          <a:p>
            <a:pPr>
              <a:spcAft>
                <a:spcPts val="400"/>
              </a:spcAft>
              <a:defRPr sz="1500">
                <a:solidFill>
                  <a:srgbClr val="2D3A4A"/>
                </a:solidFill>
              </a:defRPr>
            </a:pPr>
            <a:r>
              <a:t>Awards: Jellinek Memorial Award, Innovators Award (RWJF)</a:t>
            </a:r>
          </a:p>
          <a:p>
            <a:pPr>
              <a:spcAft>
                <a:spcPts val="400"/>
              </a:spcAft>
              <a:defRPr sz="1500">
                <a:solidFill>
                  <a:srgbClr val="2D3A4A"/>
                </a:solidFill>
              </a:defRPr>
            </a:pPr>
            <a:r>
              <a:t>Philosophy: 'People are generally the best experts on themselves'</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Miller's revolutionary insight: therapist style determines client motivation more than any technique.</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(1983). Behavioural Psychotherapy, 11, 147-172. | Miller et al. (1995). MET Manual.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Key Contributors to MI/MET Development</a:t>
            </a:r>
          </a:p>
        </p:txBody>
      </p:sp>
      <p:graphicFrame>
        <p:nvGraphicFramePr>
          <p:cNvPr id="5" name="Table 4"/>
          <p:cNvGraphicFramePr>
            <a:graphicFrameLocks noGrp="1"/>
          </p:cNvGraphicFramePr>
          <p:nvPr/>
        </p:nvGraphicFramePr>
        <p:xfrm>
          <a:off x="457200" y="1371600"/>
          <a:ext cx="11247120" cy="3145536"/>
        </p:xfrm>
        <a:graphic>
          <a:graphicData uri="http://schemas.openxmlformats.org/drawingml/2006/table">
            <a:tbl>
              <a:tblPr firstRow="1" bandRow="1">
                <a:tableStyleId>{5C22544A-7EE6-4342-B048-85BDC9FD1C3A}</a:tableStyleId>
              </a:tblPr>
              <a:tblGrid>
                <a:gridCol w="2286000"/>
                <a:gridCol w="3200400"/>
                <a:gridCol w="5760720"/>
              </a:tblGrid>
              <a:tr h="393192">
                <a:tc>
                  <a:txBody>
                    <a:bodyPr/>
                    <a:lstStyle/>
                    <a:p>
                      <a:pPr algn="ctr">
                        <a:defRPr sz="1200" b="1">
                          <a:solidFill>
                            <a:srgbClr val="FFFFFF"/>
                          </a:solidFill>
                        </a:defRPr>
                      </a:pPr>
                      <a:r>
                        <a:t>Contributor</a:t>
                      </a:r>
                    </a:p>
                  </a:txBody>
                  <a:tcPr anchor="ctr">
                    <a:solidFill>
                      <a:srgbClr val="1B2A4A"/>
                    </a:solidFill>
                  </a:tcPr>
                </a:tc>
                <a:tc>
                  <a:txBody>
                    <a:bodyPr/>
                    <a:lstStyle/>
                    <a:p>
                      <a:pPr algn="ctr">
                        <a:defRPr sz="1200" b="1">
                          <a:solidFill>
                            <a:srgbClr val="FFFFFF"/>
                          </a:solidFill>
                        </a:defRPr>
                      </a:pPr>
                      <a:r>
                        <a:t>Affiliation</a:t>
                      </a:r>
                    </a:p>
                  </a:txBody>
                  <a:tcPr anchor="ctr">
                    <a:solidFill>
                      <a:srgbClr val="1B2A4A"/>
                    </a:solidFill>
                  </a:tcPr>
                </a:tc>
                <a:tc>
                  <a:txBody>
                    <a:bodyPr/>
                    <a:lstStyle/>
                    <a:p>
                      <a:pPr algn="ctr">
                        <a:defRPr sz="1200" b="1">
                          <a:solidFill>
                            <a:srgbClr val="FFFFFF"/>
                          </a:solidFill>
                        </a:defRPr>
                      </a:pPr>
                      <a:r>
                        <a:t>Key Contribution</a:t>
                      </a:r>
                    </a:p>
                  </a:txBody>
                  <a:tcPr anchor="ctr">
                    <a:solidFill>
                      <a:srgbClr val="1B2A4A"/>
                    </a:solidFill>
                  </a:tcPr>
                </a:tc>
              </a:tr>
              <a:tr h="393192">
                <a:tc>
                  <a:txBody>
                    <a:bodyPr/>
                    <a:lstStyle/>
                    <a:p>
                      <a:pPr>
                        <a:defRPr sz="1100">
                          <a:solidFill>
                            <a:srgbClr val="2D3A4A"/>
                          </a:solidFill>
                        </a:defRPr>
                      </a:pPr>
                      <a:r>
                        <a:t>William R. Miller</a:t>
                      </a:r>
                    </a:p>
                  </a:txBody>
                  <a:tcPr anchor="ctr">
                    <a:solidFill>
                      <a:srgbClr val="EBF5FF"/>
                    </a:solidFill>
                  </a:tcPr>
                </a:tc>
                <a:tc>
                  <a:txBody>
                    <a:bodyPr/>
                    <a:lstStyle/>
                    <a:p>
                      <a:pPr>
                        <a:defRPr sz="1100">
                          <a:solidFill>
                            <a:srgbClr val="2D3A4A"/>
                          </a:solidFill>
                        </a:defRPr>
                      </a:pPr>
                      <a:r>
                        <a:t>University of New Mexico</a:t>
                      </a:r>
                    </a:p>
                  </a:txBody>
                  <a:tcPr anchor="ctr">
                    <a:solidFill>
                      <a:srgbClr val="EBF5FF"/>
                    </a:solidFill>
                  </a:tcPr>
                </a:tc>
                <a:tc>
                  <a:txBody>
                    <a:bodyPr/>
                    <a:lstStyle/>
                    <a:p>
                      <a:pPr>
                        <a:defRPr sz="1100">
                          <a:solidFill>
                            <a:srgbClr val="2D3A4A"/>
                          </a:solidFill>
                        </a:defRPr>
                      </a:pPr>
                      <a:r>
                        <a:t>Created MI (1983); Lead MET Manual author</a:t>
                      </a:r>
                    </a:p>
                  </a:txBody>
                  <a:tcPr anchor="ctr">
                    <a:solidFill>
                      <a:srgbClr val="EBF5FF"/>
                    </a:solidFill>
                  </a:tcPr>
                </a:tc>
              </a:tr>
              <a:tr h="393192">
                <a:tc>
                  <a:txBody>
                    <a:bodyPr/>
                    <a:lstStyle/>
                    <a:p>
                      <a:pPr>
                        <a:defRPr sz="1100">
                          <a:solidFill>
                            <a:srgbClr val="2D3A4A"/>
                          </a:solidFill>
                        </a:defRPr>
                      </a:pPr>
                      <a:r>
                        <a:t>Stephen Rollnick</a:t>
                      </a:r>
                    </a:p>
                  </a:txBody>
                  <a:tcPr anchor="ctr">
                    <a:solidFill>
                      <a:srgbClr val="FFFFFF"/>
                    </a:solidFill>
                  </a:tcPr>
                </a:tc>
                <a:tc>
                  <a:txBody>
                    <a:bodyPr/>
                    <a:lstStyle/>
                    <a:p>
                      <a:pPr>
                        <a:defRPr sz="1100">
                          <a:solidFill>
                            <a:srgbClr val="2D3A4A"/>
                          </a:solidFill>
                        </a:defRPr>
                      </a:pPr>
                      <a:r>
                        <a:t>Cardiff University, Wales</a:t>
                      </a:r>
                    </a:p>
                  </a:txBody>
                  <a:tcPr anchor="ctr">
                    <a:solidFill>
                      <a:srgbClr val="FFFFFF"/>
                    </a:solidFill>
                  </a:tcPr>
                </a:tc>
                <a:tc>
                  <a:txBody>
                    <a:bodyPr/>
                    <a:lstStyle/>
                    <a:p>
                      <a:pPr>
                        <a:defRPr sz="1100">
                          <a:solidFill>
                            <a:srgbClr val="2D3A4A"/>
                          </a:solidFill>
                        </a:defRPr>
                      </a:pPr>
                      <a:r>
                        <a:t>Co-developer MI; MI in healthcare settings</a:t>
                      </a:r>
                    </a:p>
                  </a:txBody>
                  <a:tcPr anchor="ctr">
                    <a:solidFill>
                      <a:srgbClr val="FFFFFF"/>
                    </a:solidFill>
                  </a:tcPr>
                </a:tc>
              </a:tr>
              <a:tr h="393192">
                <a:tc>
                  <a:txBody>
                    <a:bodyPr/>
                    <a:lstStyle/>
                    <a:p>
                      <a:pPr>
                        <a:defRPr sz="1100">
                          <a:solidFill>
                            <a:srgbClr val="2D3A4A"/>
                          </a:solidFill>
                        </a:defRPr>
                      </a:pPr>
                      <a:r>
                        <a:t>Theresa Moyers</a:t>
                      </a:r>
                    </a:p>
                  </a:txBody>
                  <a:tcPr anchor="ctr">
                    <a:solidFill>
                      <a:srgbClr val="EBF5FF"/>
                    </a:solidFill>
                  </a:tcPr>
                </a:tc>
                <a:tc>
                  <a:txBody>
                    <a:bodyPr/>
                    <a:lstStyle/>
                    <a:p>
                      <a:pPr>
                        <a:defRPr sz="1100">
                          <a:solidFill>
                            <a:srgbClr val="2D3A4A"/>
                          </a:solidFill>
                        </a:defRPr>
                      </a:pPr>
                      <a:r>
                        <a:t>University of New Mexico</a:t>
                      </a:r>
                    </a:p>
                  </a:txBody>
                  <a:tcPr anchor="ctr">
                    <a:solidFill>
                      <a:srgbClr val="EBF5FF"/>
                    </a:solidFill>
                  </a:tcPr>
                </a:tc>
                <a:tc>
                  <a:txBody>
                    <a:bodyPr/>
                    <a:lstStyle/>
                    <a:p>
                      <a:pPr>
                        <a:defRPr sz="1100">
                          <a:solidFill>
                            <a:srgbClr val="2D3A4A"/>
                          </a:solidFill>
                        </a:defRPr>
                      </a:pPr>
                      <a:r>
                        <a:t>MITI coding system; mechanisms research</a:t>
                      </a:r>
                    </a:p>
                  </a:txBody>
                  <a:tcPr anchor="ctr">
                    <a:solidFill>
                      <a:srgbClr val="EBF5FF"/>
                    </a:solidFill>
                  </a:tcPr>
                </a:tc>
              </a:tr>
              <a:tr h="393192">
                <a:tc>
                  <a:txBody>
                    <a:bodyPr/>
                    <a:lstStyle/>
                    <a:p>
                      <a:pPr>
                        <a:defRPr sz="1100">
                          <a:solidFill>
                            <a:srgbClr val="2D3A4A"/>
                          </a:solidFill>
                        </a:defRPr>
                      </a:pPr>
                      <a:r>
                        <a:t>Carlo DiClemente</a:t>
                      </a:r>
                    </a:p>
                  </a:txBody>
                  <a:tcPr anchor="ctr">
                    <a:solidFill>
                      <a:srgbClr val="FFFFFF"/>
                    </a:solidFill>
                  </a:tcPr>
                </a:tc>
                <a:tc>
                  <a:txBody>
                    <a:bodyPr/>
                    <a:lstStyle/>
                    <a:p>
                      <a:pPr>
                        <a:defRPr sz="1100">
                          <a:solidFill>
                            <a:srgbClr val="2D3A4A"/>
                          </a:solidFill>
                        </a:defRPr>
                      </a:pPr>
                      <a:r>
                        <a:t>U of Houston → U of Maryland</a:t>
                      </a:r>
                    </a:p>
                  </a:txBody>
                  <a:tcPr anchor="ctr">
                    <a:solidFill>
                      <a:srgbClr val="FFFFFF"/>
                    </a:solidFill>
                  </a:tcPr>
                </a:tc>
                <a:tc>
                  <a:txBody>
                    <a:bodyPr/>
                    <a:lstStyle/>
                    <a:p>
                      <a:pPr>
                        <a:defRPr sz="1100">
                          <a:solidFill>
                            <a:srgbClr val="2D3A4A"/>
                          </a:solidFill>
                        </a:defRPr>
                      </a:pPr>
                      <a:r>
                        <a:t>Transtheoretical Model; MET Manual co-author</a:t>
                      </a:r>
                    </a:p>
                  </a:txBody>
                  <a:tcPr anchor="ctr">
                    <a:solidFill>
                      <a:srgbClr val="FFFFFF"/>
                    </a:solidFill>
                  </a:tcPr>
                </a:tc>
              </a:tr>
              <a:tr h="393192">
                <a:tc>
                  <a:txBody>
                    <a:bodyPr/>
                    <a:lstStyle/>
                    <a:p>
                      <a:pPr>
                        <a:defRPr sz="1100">
                          <a:solidFill>
                            <a:srgbClr val="2D3A4A"/>
                          </a:solidFill>
                        </a:defRPr>
                      </a:pPr>
                      <a:r>
                        <a:t>Allen Zweben</a:t>
                      </a:r>
                    </a:p>
                  </a:txBody>
                  <a:tcPr anchor="ctr">
                    <a:solidFill>
                      <a:srgbClr val="EBF5FF"/>
                    </a:solidFill>
                  </a:tcPr>
                </a:tc>
                <a:tc>
                  <a:txBody>
                    <a:bodyPr/>
                    <a:lstStyle/>
                    <a:p>
                      <a:pPr>
                        <a:defRPr sz="1100">
                          <a:solidFill>
                            <a:srgbClr val="2D3A4A"/>
                          </a:solidFill>
                        </a:defRPr>
                      </a:pPr>
                      <a:r>
                        <a:t>U of Wisconsin-Milwaukee</a:t>
                      </a:r>
                    </a:p>
                  </a:txBody>
                  <a:tcPr anchor="ctr">
                    <a:solidFill>
                      <a:srgbClr val="EBF5FF"/>
                    </a:solidFill>
                  </a:tcPr>
                </a:tc>
                <a:tc>
                  <a:txBody>
                    <a:bodyPr/>
                    <a:lstStyle/>
                    <a:p>
                      <a:pPr>
                        <a:defRPr sz="1100">
                          <a:solidFill>
                            <a:srgbClr val="2D3A4A"/>
                          </a:solidFill>
                        </a:defRPr>
                      </a:pPr>
                      <a:r>
                        <a:t>MET Manual co-author; clinical trials</a:t>
                      </a:r>
                    </a:p>
                  </a:txBody>
                  <a:tcPr anchor="ctr">
                    <a:solidFill>
                      <a:srgbClr val="EBF5FF"/>
                    </a:solidFill>
                  </a:tcPr>
                </a:tc>
              </a:tr>
              <a:tr h="393192">
                <a:tc>
                  <a:txBody>
                    <a:bodyPr/>
                    <a:lstStyle/>
                    <a:p>
                      <a:pPr>
                        <a:defRPr sz="1100">
                          <a:solidFill>
                            <a:srgbClr val="2D3A4A"/>
                          </a:solidFill>
                        </a:defRPr>
                      </a:pPr>
                      <a:r>
                        <a:t>Kathleen Carroll</a:t>
                      </a:r>
                    </a:p>
                  </a:txBody>
                  <a:tcPr anchor="ctr">
                    <a:solidFill>
                      <a:srgbClr val="FFFFFF"/>
                    </a:solidFill>
                  </a:tcPr>
                </a:tc>
                <a:tc>
                  <a:txBody>
                    <a:bodyPr/>
                    <a:lstStyle/>
                    <a:p>
                      <a:pPr>
                        <a:defRPr sz="1100">
                          <a:solidFill>
                            <a:srgbClr val="2D3A4A"/>
                          </a:solidFill>
                        </a:defRPr>
                      </a:pPr>
                      <a:r>
                        <a:t>Yale University</a:t>
                      </a:r>
                    </a:p>
                  </a:txBody>
                  <a:tcPr anchor="ctr">
                    <a:solidFill>
                      <a:srgbClr val="FFFFFF"/>
                    </a:solidFill>
                  </a:tcPr>
                </a:tc>
                <a:tc>
                  <a:txBody>
                    <a:bodyPr/>
                    <a:lstStyle/>
                    <a:p>
                      <a:pPr>
                        <a:defRPr sz="1100">
                          <a:solidFill>
                            <a:srgbClr val="2D3A4A"/>
                          </a:solidFill>
                        </a:defRPr>
                      </a:pPr>
                      <a:r>
                        <a:t>Treatment design coordinator, Project MATCH</a:t>
                      </a:r>
                    </a:p>
                  </a:txBody>
                  <a:tcPr anchor="ctr">
                    <a:solidFill>
                      <a:srgbClr val="FFFFFF"/>
                    </a:solidFill>
                  </a:tcPr>
                </a:tc>
              </a:tr>
              <a:tr h="393192">
                <a:tc>
                  <a:txBody>
                    <a:bodyPr/>
                    <a:lstStyle/>
                    <a:p>
                      <a:pPr>
                        <a:defRPr sz="1100">
                          <a:solidFill>
                            <a:srgbClr val="2D3A4A"/>
                          </a:solidFill>
                        </a:defRPr>
                      </a:pPr>
                      <a:r>
                        <a:t>Thomas Babor</a:t>
                      </a:r>
                    </a:p>
                  </a:txBody>
                  <a:tcPr anchor="ctr">
                    <a:solidFill>
                      <a:srgbClr val="EBF5FF"/>
                    </a:solidFill>
                  </a:tcPr>
                </a:tc>
                <a:tc>
                  <a:txBody>
                    <a:bodyPr/>
                    <a:lstStyle/>
                    <a:p>
                      <a:pPr>
                        <a:defRPr sz="1100">
                          <a:solidFill>
                            <a:srgbClr val="2D3A4A"/>
                          </a:solidFill>
                        </a:defRPr>
                      </a:pPr>
                      <a:r>
                        <a:t>U of Connecticut</a:t>
                      </a:r>
                    </a:p>
                  </a:txBody>
                  <a:tcPr anchor="ctr">
                    <a:solidFill>
                      <a:srgbClr val="EBF5FF"/>
                    </a:solidFill>
                  </a:tcPr>
                </a:tc>
                <a:tc>
                  <a:txBody>
                    <a:bodyPr/>
                    <a:lstStyle/>
                    <a:p>
                      <a:pPr>
                        <a:defRPr sz="1100">
                          <a:solidFill>
                            <a:srgbClr val="2D3A4A"/>
                          </a:solidFill>
                        </a:defRPr>
                      </a:pPr>
                      <a:r>
                        <a:t>Data coordinating center, Project MATCH</a:t>
                      </a:r>
                    </a:p>
                  </a:txBody>
                  <a:tcPr anchor="ctr">
                    <a:solidFill>
                      <a:srgbClr val="EBF5FF"/>
                    </a:solidFill>
                  </a:tcPr>
                </a:tc>
              </a:tr>
            </a:tbl>
          </a:graphicData>
        </a:graphic>
      </p:graphicFrame>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MET emerged from collaboration of leading researchers in motivation, addiction, and behavior change.</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Project MATCH Research Group (1997). JOSA, 58, 7-29. | DiClemente (2003). Addiction and Change. Guilford.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0" y="1371600"/>
            <a:ext cx="2103120" cy="2103120"/>
          </a:xfrm>
          <a:prstGeom prst="ellipse">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800" b="1">
                <a:solidFill>
                  <a:srgbClr val="FFFFFF"/>
                </a:solidFill>
              </a:defRPr>
            </a:pPr>
            <a:r>
              <a:t>3</a:t>
            </a:r>
          </a:p>
        </p:txBody>
      </p:sp>
      <p:sp>
        <p:nvSpPr>
          <p:cNvPr id="4" name="TextBox 3"/>
          <p:cNvSpPr txBox="1"/>
          <p:nvPr/>
        </p:nvSpPr>
        <p:spPr>
          <a:xfrm>
            <a:off x="914400" y="3840480"/>
            <a:ext cx="10332720" cy="1371600"/>
          </a:xfrm>
          <a:prstGeom prst="rect">
            <a:avLst/>
          </a:prstGeom>
          <a:noFill/>
        </p:spPr>
        <p:txBody>
          <a:bodyPr wrap="square">
            <a:spAutoFit/>
          </a:bodyPr>
          <a:lstStyle/>
          <a:p>
            <a:pPr algn="ctr">
              <a:defRPr sz="3600" b="1">
                <a:solidFill>
                  <a:srgbClr val="FFFFFF"/>
                </a:solidFill>
              </a:defRPr>
            </a:pPr>
            <a:r>
              <a:t>Historical Background</a:t>
            </a:r>
          </a:p>
        </p:txBody>
      </p:sp>
      <p:sp>
        <p:nvSpPr>
          <p:cNvPr id="5" name="Rectangle 4"/>
          <p:cNvSpPr/>
          <p:nvPr/>
        </p:nvSpPr>
        <p:spPr>
          <a:xfrm>
            <a:off x="3657600" y="5303520"/>
            <a:ext cx="4846320" cy="45720"/>
          </a:xfrm>
          <a:prstGeom prst="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Before MET: Confrontational Addiction Treatment</a:t>
            </a:r>
          </a:p>
        </p:txBody>
      </p:sp>
      <p:sp>
        <p:nvSpPr>
          <p:cNvPr id="5" name="Rounded Rectangle 4"/>
          <p:cNvSpPr/>
          <p:nvPr/>
        </p:nvSpPr>
        <p:spPr>
          <a:xfrm>
            <a:off x="457200" y="1280160"/>
            <a:ext cx="5303520" cy="457200"/>
          </a:xfrm>
          <a:prstGeom prst="roundRect">
            <a:avLst/>
          </a:prstGeom>
          <a:solidFill>
            <a:srgbClr val="2C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1950s-1980s: DOMINANT PARADIGM</a:t>
            </a:r>
          </a:p>
        </p:txBody>
      </p:sp>
      <p:sp>
        <p:nvSpPr>
          <p:cNvPr id="6" name="TextBox 5"/>
          <p:cNvSpPr txBox="1"/>
          <p:nvPr/>
        </p:nvSpPr>
        <p:spPr>
          <a:xfrm>
            <a:off x="548640" y="1828800"/>
            <a:ext cx="5120640" cy="3657600"/>
          </a:xfrm>
          <a:prstGeom prst="rect">
            <a:avLst/>
          </a:prstGeom>
          <a:noFill/>
        </p:spPr>
        <p:txBody>
          <a:bodyPr wrap="square">
            <a:spAutoFit/>
          </a:bodyPr>
          <a:lstStyle/>
          <a:p>
            <a:pPr>
              <a:spcAft>
                <a:spcPts val="400"/>
              </a:spcAft>
              <a:defRPr sz="1200">
                <a:solidFill>
                  <a:srgbClr val="2D3A4A"/>
                </a:solidFill>
              </a:defRPr>
            </a:pPr>
            <a:r>
              <a:t>• Synanon (1958): Attack therapy groups</a:t>
            </a:r>
          </a:p>
          <a:p>
            <a:pPr>
              <a:spcAft>
                <a:spcPts val="400"/>
              </a:spcAft>
              <a:defRPr sz="1200">
                <a:solidFill>
                  <a:srgbClr val="2D3A4A"/>
                </a:solidFill>
              </a:defRPr>
            </a:pPr>
            <a:r>
              <a:t>• 'Hot seat' confrontation techniques</a:t>
            </a:r>
          </a:p>
          <a:p>
            <a:pPr>
              <a:spcAft>
                <a:spcPts val="400"/>
              </a:spcAft>
              <a:defRPr sz="1200">
                <a:solidFill>
                  <a:srgbClr val="2D3A4A"/>
                </a:solidFill>
              </a:defRPr>
            </a:pPr>
            <a:r>
              <a:t>• Assumption: Addicts in 'denial'</a:t>
            </a:r>
          </a:p>
          <a:p>
            <a:pPr>
              <a:spcAft>
                <a:spcPts val="400"/>
              </a:spcAft>
              <a:defRPr sz="1200">
                <a:solidFill>
                  <a:srgbClr val="2D3A4A"/>
                </a:solidFill>
              </a:defRPr>
            </a:pPr>
            <a:r>
              <a:t>• Must 'break through' resistance</a:t>
            </a:r>
          </a:p>
          <a:p>
            <a:pPr>
              <a:spcAft>
                <a:spcPts val="400"/>
              </a:spcAft>
              <a:defRPr sz="1200">
                <a:solidFill>
                  <a:srgbClr val="2D3A4A"/>
                </a:solidFill>
              </a:defRPr>
            </a:pPr>
            <a:r>
              <a:t>• 'Hit rock bottom' before change</a:t>
            </a:r>
          </a:p>
          <a:p>
            <a:pPr>
              <a:spcAft>
                <a:spcPts val="400"/>
              </a:spcAft>
              <a:defRPr sz="1200">
                <a:solidFill>
                  <a:srgbClr val="2D3A4A"/>
                </a:solidFill>
              </a:defRPr>
            </a:pPr>
            <a:r>
              <a:t>• 'Tough love' philosophy</a:t>
            </a:r>
          </a:p>
          <a:p>
            <a:pPr>
              <a:spcAft>
                <a:spcPts val="400"/>
              </a:spcAft>
              <a:defRPr sz="1200">
                <a:solidFill>
                  <a:srgbClr val="2D3A4A"/>
                </a:solidFill>
              </a:defRPr>
            </a:pPr>
            <a:r>
              <a:t>• Therapist as authoritarian expert</a:t>
            </a:r>
          </a:p>
        </p:txBody>
      </p:sp>
      <p:sp>
        <p:nvSpPr>
          <p:cNvPr id="7" name="Rounded Rectangle 6"/>
          <p:cNvSpPr/>
          <p:nvPr/>
        </p:nvSpPr>
        <p:spPr>
          <a:xfrm>
            <a:off x="6217920" y="1280160"/>
            <a:ext cx="5303520" cy="457200"/>
          </a:xfrm>
          <a:prstGeom prst="roundRect">
            <a:avLst/>
          </a:prstGeom>
          <a:solidFill>
            <a:srgbClr val="17A2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EVIDENCE AGAINST CONFRONTATION</a:t>
            </a:r>
          </a:p>
        </p:txBody>
      </p:sp>
      <p:sp>
        <p:nvSpPr>
          <p:cNvPr id="8" name="TextBox 7"/>
          <p:cNvSpPr txBox="1"/>
          <p:nvPr/>
        </p:nvSpPr>
        <p:spPr>
          <a:xfrm>
            <a:off x="6309360" y="1828800"/>
            <a:ext cx="5120640" cy="3657600"/>
          </a:xfrm>
          <a:prstGeom prst="rect">
            <a:avLst/>
          </a:prstGeom>
          <a:noFill/>
        </p:spPr>
        <p:txBody>
          <a:bodyPr wrap="square">
            <a:spAutoFit/>
          </a:bodyPr>
          <a:lstStyle/>
          <a:p>
            <a:pPr>
              <a:spcAft>
                <a:spcPts val="400"/>
              </a:spcAft>
              <a:defRPr sz="1200">
                <a:solidFill>
                  <a:srgbClr val="2D3A4A"/>
                </a:solidFill>
              </a:defRPr>
            </a:pPr>
            <a:r>
              <a:t>• Higher dropout rates documented</a:t>
            </a:r>
          </a:p>
          <a:p>
            <a:pPr>
              <a:spcAft>
                <a:spcPts val="400"/>
              </a:spcAft>
              <a:defRPr sz="1200">
                <a:solidFill>
                  <a:srgbClr val="2D3A4A"/>
                </a:solidFill>
              </a:defRPr>
            </a:pPr>
            <a:r>
              <a:t>• Patterson &amp; Forgatch (1985): Confrontation directly caused resistance</a:t>
            </a:r>
          </a:p>
          <a:p>
            <a:pPr>
              <a:spcAft>
                <a:spcPts val="400"/>
              </a:spcAft>
              <a:defRPr sz="1200">
                <a:solidFill>
                  <a:srgbClr val="2D3A4A"/>
                </a:solidFill>
              </a:defRPr>
            </a:pPr>
            <a:r>
              <a:t>• Miller et al. (1993): Therapist confrontation predicted WORSE 1-year outcomes</a:t>
            </a:r>
          </a:p>
          <a:p>
            <a:pPr>
              <a:spcAft>
                <a:spcPts val="400"/>
              </a:spcAft>
              <a:defRPr sz="1200">
                <a:solidFill>
                  <a:srgbClr val="2D3A4A"/>
                </a:solidFill>
              </a:defRPr>
            </a:pPr>
            <a:r>
              <a:t>• Valle (1981): Empathic therapists got 2x better outcomes</a:t>
            </a:r>
          </a:p>
          <a:p>
            <a:pPr>
              <a:spcAft>
                <a:spcPts val="400"/>
              </a:spcAft>
              <a:defRPr sz="1200">
                <a:solidFill>
                  <a:srgbClr val="2D3A4A"/>
                </a:solidFill>
              </a:defRPr>
            </a:pPr>
            <a:r>
              <a:t>• No RCT ever showed confrontation was superior</a:t>
            </a:r>
          </a:p>
        </p:txBody>
      </p:sp>
      <p:sp>
        <p:nvSpPr>
          <p:cNvPr id="9" name="Rounded Rectangle 8"/>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The confrontational paradigm had NO evidence base; empathic approaches consistently produce better outcomes.</a:t>
            </a:r>
          </a:p>
        </p:txBody>
      </p:sp>
      <p:sp>
        <p:nvSpPr>
          <p:cNvPr id="10" name="Rectangle 9"/>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Patterson &amp; Forgatch (1985). JCCP, 53, 846. | Valle (1981). J Studies Alcohol, 42, 783. | Miller et al. (1993). JCCP, 61, 455.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The Paradigm Shift: From Confrontation to Collaboration</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a:solidFill>
                  <a:srgbClr val="2D3A4A"/>
                </a:solidFill>
              </a:defRPr>
            </a:pPr>
            <a:r>
              <a:t>OLD PARADIGM: 'Denial must be broken'</a:t>
            </a:r>
          </a:p>
          <a:p>
            <a:pPr lvl="1">
              <a:spcAft>
                <a:spcPts val="400"/>
              </a:spcAft>
              <a:defRPr sz="1300">
                <a:solidFill>
                  <a:srgbClr val="2D3A4A"/>
                </a:solidFill>
              </a:defRPr>
            </a:pPr>
            <a:r>
              <a:t>Client says: 'I don't have a problem'</a:t>
            </a:r>
          </a:p>
          <a:p>
            <a:pPr lvl="1">
              <a:spcAft>
                <a:spcPts val="400"/>
              </a:spcAft>
              <a:defRPr sz="1300">
                <a:solidFill>
                  <a:srgbClr val="2D3A4A"/>
                </a:solidFill>
              </a:defRPr>
            </a:pPr>
            <a:r>
              <a:t>Therapist pushes: 'Yes you do! Look at the evidence!'</a:t>
            </a:r>
          </a:p>
          <a:p>
            <a:pPr lvl="1">
              <a:spcAft>
                <a:spcPts val="400"/>
              </a:spcAft>
              <a:defRPr sz="1300">
                <a:solidFill>
                  <a:srgbClr val="2D3A4A"/>
                </a:solidFill>
              </a:defRPr>
            </a:pPr>
            <a:r>
              <a:t>Result: Client argues back harder → resistance increases → poor outcomes</a:t>
            </a:r>
          </a:p>
          <a:p>
            <a:pPr>
              <a:spcAft>
                <a:spcPts val="400"/>
              </a:spcAft>
              <a:defRPr sz="1500">
                <a:solidFill>
                  <a:srgbClr val="2D3A4A"/>
                </a:solidFill>
              </a:defRPr>
            </a:pPr>
          </a:p>
          <a:p>
            <a:pPr>
              <a:spcAft>
                <a:spcPts val="400"/>
              </a:spcAft>
              <a:defRPr sz="1500">
                <a:solidFill>
                  <a:srgbClr val="2D3A4A"/>
                </a:solidFill>
              </a:defRPr>
            </a:pPr>
            <a:r>
              <a:t>NEW PARADIGM: 'Ambivalence must be explored'</a:t>
            </a:r>
          </a:p>
          <a:p>
            <a:pPr lvl="1">
              <a:spcAft>
                <a:spcPts val="400"/>
              </a:spcAft>
              <a:defRPr sz="1300">
                <a:solidFill>
                  <a:srgbClr val="2D3A4A"/>
                </a:solidFill>
              </a:defRPr>
            </a:pPr>
            <a:r>
              <a:t>Client says: 'I don't have a problem'</a:t>
            </a:r>
          </a:p>
          <a:p>
            <a:pPr lvl="1">
              <a:spcAft>
                <a:spcPts val="400"/>
              </a:spcAft>
              <a:defRPr sz="1300">
                <a:solidFill>
                  <a:srgbClr val="2D3A4A"/>
                </a:solidFill>
              </a:defRPr>
            </a:pPr>
            <a:r>
              <a:t>Therapist reflects: 'You don't see this as a concern right now'</a:t>
            </a:r>
          </a:p>
          <a:p>
            <a:pPr lvl="1">
              <a:spcAft>
                <a:spcPts val="400"/>
              </a:spcAft>
              <a:defRPr sz="1300">
                <a:solidFill>
                  <a:srgbClr val="2D3A4A"/>
                </a:solidFill>
              </a:defRPr>
            </a:pPr>
            <a:r>
              <a:t>Result: Client feels heard → explores further → change talk emerges</a:t>
            </a:r>
          </a:p>
          <a:p>
            <a:pPr>
              <a:spcAft>
                <a:spcPts val="400"/>
              </a:spcAft>
              <a:defRPr sz="1500">
                <a:solidFill>
                  <a:srgbClr val="2D3A4A"/>
                </a:solidFill>
              </a:defRPr>
            </a:pPr>
          </a:p>
          <a:p>
            <a:pPr>
              <a:spcAft>
                <a:spcPts val="400"/>
              </a:spcAft>
              <a:defRPr sz="1500" b="1">
                <a:solidFill>
                  <a:srgbClr val="2C5F8A"/>
                </a:solidFill>
              </a:defRPr>
            </a:pPr>
            <a:r>
              <a:t>Key Research Evidence:</a:t>
            </a:r>
          </a:p>
          <a:p>
            <a:pPr lvl="1">
              <a:spcAft>
                <a:spcPts val="400"/>
              </a:spcAft>
              <a:defRPr sz="1300">
                <a:solidFill>
                  <a:srgbClr val="2D3A4A"/>
                </a:solidFill>
              </a:defRPr>
            </a:pPr>
            <a:r>
              <a:t>• Miller (1993): Amount of client resistance in Session 1 predicted</a:t>
            </a:r>
          </a:p>
          <a:p>
            <a:pPr lvl="2">
              <a:spcAft>
                <a:spcPts val="400"/>
              </a:spcAft>
              <a:defRPr sz="1200">
                <a:solidFill>
                  <a:srgbClr val="2D3A4A"/>
                </a:solidFill>
              </a:defRPr>
            </a:pPr>
            <a:r>
              <a:t>drinking outcomes at 12 months</a:t>
            </a:r>
          </a:p>
          <a:p>
            <a:pPr lvl="1">
              <a:spcAft>
                <a:spcPts val="400"/>
              </a:spcAft>
              <a:defRPr sz="1300">
                <a:solidFill>
                  <a:srgbClr val="2D3A4A"/>
                </a:solidFill>
              </a:defRPr>
            </a:pPr>
            <a:r>
              <a:t>• Resistance was CAUSED by therapist confrontation</a:t>
            </a:r>
          </a:p>
          <a:p>
            <a:pPr lvl="1">
              <a:spcAft>
                <a:spcPts val="400"/>
              </a:spcAft>
              <a:defRPr sz="1300">
                <a:solidFill>
                  <a:srgbClr val="2D3A4A"/>
                </a:solidFill>
              </a:defRPr>
            </a:pPr>
            <a:r>
              <a:t>• Self-perception theory: 'If I argue I don't have a problem, I believe it more'</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Resistance is therapist-created; when clients argue against change, they strengthen their own resistance.</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Benefield &amp; Tonigan (1993). JCCP, 61, 455-461. | Bem (1972). Self-perception theory. Academic Press.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0" y="1371600"/>
            <a:ext cx="2103120" cy="2103120"/>
          </a:xfrm>
          <a:prstGeom prst="ellipse">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800" b="1">
                <a:solidFill>
                  <a:srgbClr val="FFFFFF"/>
                </a:solidFill>
              </a:defRPr>
            </a:pPr>
            <a:r>
              <a:t>4</a:t>
            </a:r>
          </a:p>
        </p:txBody>
      </p:sp>
      <p:sp>
        <p:nvSpPr>
          <p:cNvPr id="4" name="TextBox 3"/>
          <p:cNvSpPr txBox="1"/>
          <p:nvPr/>
        </p:nvSpPr>
        <p:spPr>
          <a:xfrm>
            <a:off x="914400" y="3840480"/>
            <a:ext cx="10332720" cy="1371600"/>
          </a:xfrm>
          <a:prstGeom prst="rect">
            <a:avLst/>
          </a:prstGeom>
          <a:noFill/>
        </p:spPr>
        <p:txBody>
          <a:bodyPr wrap="square">
            <a:spAutoFit/>
          </a:bodyPr>
          <a:lstStyle/>
          <a:p>
            <a:pPr algn="ctr">
              <a:defRPr sz="3600" b="1">
                <a:solidFill>
                  <a:srgbClr val="FFFFFF"/>
                </a:solidFill>
              </a:defRPr>
            </a:pPr>
            <a:r>
              <a:t>Theoretical Foundations</a:t>
            </a:r>
          </a:p>
        </p:txBody>
      </p:sp>
      <p:sp>
        <p:nvSpPr>
          <p:cNvPr id="5" name="Rectangle 4"/>
          <p:cNvSpPr/>
          <p:nvPr/>
        </p:nvSpPr>
        <p:spPr>
          <a:xfrm>
            <a:off x="3657600" y="5303520"/>
            <a:ext cx="4846320" cy="45720"/>
          </a:xfrm>
          <a:prstGeom prst="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Seven Theories Underpinning MET</a:t>
            </a:r>
          </a:p>
        </p:txBody>
      </p:sp>
      <p:graphicFrame>
        <p:nvGraphicFramePr>
          <p:cNvPr id="5" name="Table 4"/>
          <p:cNvGraphicFramePr>
            <a:graphicFrameLocks noGrp="1"/>
          </p:cNvGraphicFramePr>
          <p:nvPr/>
        </p:nvGraphicFramePr>
        <p:xfrm>
          <a:off x="457200" y="1371600"/>
          <a:ext cx="11247120" cy="3145536"/>
        </p:xfrm>
        <a:graphic>
          <a:graphicData uri="http://schemas.openxmlformats.org/drawingml/2006/table">
            <a:tbl>
              <a:tblPr firstRow="1" bandRow="1">
                <a:tableStyleId>{5C22544A-7EE6-4342-B048-85BDC9FD1C3A}</a:tableStyleId>
              </a:tblPr>
              <a:tblGrid>
                <a:gridCol w="2743200"/>
                <a:gridCol w="2743200"/>
                <a:gridCol w="5760720"/>
              </a:tblGrid>
              <a:tr h="393192">
                <a:tc>
                  <a:txBody>
                    <a:bodyPr/>
                    <a:lstStyle/>
                    <a:p>
                      <a:pPr algn="ctr">
                        <a:defRPr sz="1200" b="1">
                          <a:solidFill>
                            <a:srgbClr val="FFFFFF"/>
                          </a:solidFill>
                        </a:defRPr>
                      </a:pPr>
                      <a:r>
                        <a:t>Theory</a:t>
                      </a:r>
                    </a:p>
                  </a:txBody>
                  <a:tcPr anchor="ctr">
                    <a:solidFill>
                      <a:srgbClr val="1B2A4A"/>
                    </a:solidFill>
                  </a:tcPr>
                </a:tc>
                <a:tc>
                  <a:txBody>
                    <a:bodyPr/>
                    <a:lstStyle/>
                    <a:p>
                      <a:pPr algn="ctr">
                        <a:defRPr sz="1200" b="1">
                          <a:solidFill>
                            <a:srgbClr val="FFFFFF"/>
                          </a:solidFill>
                        </a:defRPr>
                      </a:pPr>
                      <a:r>
                        <a:t>Founder/Year</a:t>
                      </a:r>
                    </a:p>
                  </a:txBody>
                  <a:tcPr anchor="ctr">
                    <a:solidFill>
                      <a:srgbClr val="1B2A4A"/>
                    </a:solidFill>
                  </a:tcPr>
                </a:tc>
                <a:tc>
                  <a:txBody>
                    <a:bodyPr/>
                    <a:lstStyle/>
                    <a:p>
                      <a:pPr algn="ctr">
                        <a:defRPr sz="1200" b="1">
                          <a:solidFill>
                            <a:srgbClr val="FFFFFF"/>
                          </a:solidFill>
                        </a:defRPr>
                      </a:pPr>
                      <a:r>
                        <a:t>Key Contribution to MET</a:t>
                      </a:r>
                    </a:p>
                  </a:txBody>
                  <a:tcPr anchor="ctr">
                    <a:solidFill>
                      <a:srgbClr val="1B2A4A"/>
                    </a:solidFill>
                  </a:tcPr>
                </a:tc>
              </a:tr>
              <a:tr h="393192">
                <a:tc>
                  <a:txBody>
                    <a:bodyPr/>
                    <a:lstStyle/>
                    <a:p>
                      <a:pPr>
                        <a:defRPr sz="1100">
                          <a:solidFill>
                            <a:srgbClr val="2D3A4A"/>
                          </a:solidFill>
                        </a:defRPr>
                      </a:pPr>
                      <a:r>
                        <a:t>Client-Centered Therapy</a:t>
                      </a:r>
                    </a:p>
                  </a:txBody>
                  <a:tcPr anchor="ctr">
                    <a:solidFill>
                      <a:srgbClr val="EBF5FF"/>
                    </a:solidFill>
                  </a:tcPr>
                </a:tc>
                <a:tc>
                  <a:txBody>
                    <a:bodyPr/>
                    <a:lstStyle/>
                    <a:p>
                      <a:pPr>
                        <a:defRPr sz="1100">
                          <a:solidFill>
                            <a:srgbClr val="2D3A4A"/>
                          </a:solidFill>
                        </a:defRPr>
                      </a:pPr>
                      <a:r>
                        <a:t>Rogers (1957)</a:t>
                      </a:r>
                    </a:p>
                  </a:txBody>
                  <a:tcPr anchor="ctr">
                    <a:solidFill>
                      <a:srgbClr val="EBF5FF"/>
                    </a:solidFill>
                  </a:tcPr>
                </a:tc>
                <a:tc>
                  <a:txBody>
                    <a:bodyPr/>
                    <a:lstStyle/>
                    <a:p>
                      <a:pPr>
                        <a:defRPr sz="1100">
                          <a:solidFill>
                            <a:srgbClr val="2D3A4A"/>
                          </a:solidFill>
                        </a:defRPr>
                      </a:pPr>
                      <a:r>
                        <a:t>Empathic relationship as foundation</a:t>
                      </a:r>
                    </a:p>
                  </a:txBody>
                  <a:tcPr anchor="ctr">
                    <a:solidFill>
                      <a:srgbClr val="EBF5FF"/>
                    </a:solidFill>
                  </a:tcPr>
                </a:tc>
              </a:tr>
              <a:tr h="393192">
                <a:tc>
                  <a:txBody>
                    <a:bodyPr/>
                    <a:lstStyle/>
                    <a:p>
                      <a:pPr>
                        <a:defRPr sz="1100">
                          <a:solidFill>
                            <a:srgbClr val="2D3A4A"/>
                          </a:solidFill>
                        </a:defRPr>
                      </a:pPr>
                      <a:r>
                        <a:t>Cognitive Dissonance</a:t>
                      </a:r>
                    </a:p>
                  </a:txBody>
                  <a:tcPr anchor="ctr">
                    <a:solidFill>
                      <a:srgbClr val="FFFFFF"/>
                    </a:solidFill>
                  </a:tcPr>
                </a:tc>
                <a:tc>
                  <a:txBody>
                    <a:bodyPr/>
                    <a:lstStyle/>
                    <a:p>
                      <a:pPr>
                        <a:defRPr sz="1100">
                          <a:solidFill>
                            <a:srgbClr val="2D3A4A"/>
                          </a:solidFill>
                        </a:defRPr>
                      </a:pPr>
                      <a:r>
                        <a:t>Festinger (1957)</a:t>
                      </a:r>
                    </a:p>
                  </a:txBody>
                  <a:tcPr anchor="ctr">
                    <a:solidFill>
                      <a:srgbClr val="FFFFFF"/>
                    </a:solidFill>
                  </a:tcPr>
                </a:tc>
                <a:tc>
                  <a:txBody>
                    <a:bodyPr/>
                    <a:lstStyle/>
                    <a:p>
                      <a:pPr>
                        <a:defRPr sz="1100">
                          <a:solidFill>
                            <a:srgbClr val="2D3A4A"/>
                          </a:solidFill>
                        </a:defRPr>
                      </a:pPr>
                      <a:r>
                        <a:t>Discrepancy creates motivation to change</a:t>
                      </a:r>
                    </a:p>
                  </a:txBody>
                  <a:tcPr anchor="ctr">
                    <a:solidFill>
                      <a:srgbClr val="FFFFFF"/>
                    </a:solidFill>
                  </a:tcPr>
                </a:tc>
              </a:tr>
              <a:tr h="393192">
                <a:tc>
                  <a:txBody>
                    <a:bodyPr/>
                    <a:lstStyle/>
                    <a:p>
                      <a:pPr>
                        <a:defRPr sz="1100">
                          <a:solidFill>
                            <a:srgbClr val="2D3A4A"/>
                          </a:solidFill>
                        </a:defRPr>
                      </a:pPr>
                      <a:r>
                        <a:t>Self-Perception Theory</a:t>
                      </a:r>
                    </a:p>
                  </a:txBody>
                  <a:tcPr anchor="ctr">
                    <a:solidFill>
                      <a:srgbClr val="EBF5FF"/>
                    </a:solidFill>
                  </a:tcPr>
                </a:tc>
                <a:tc>
                  <a:txBody>
                    <a:bodyPr/>
                    <a:lstStyle/>
                    <a:p>
                      <a:pPr>
                        <a:defRPr sz="1100">
                          <a:solidFill>
                            <a:srgbClr val="2D3A4A"/>
                          </a:solidFill>
                        </a:defRPr>
                      </a:pPr>
                      <a:r>
                        <a:t>Bem (1965)</a:t>
                      </a:r>
                    </a:p>
                  </a:txBody>
                  <a:tcPr anchor="ctr">
                    <a:solidFill>
                      <a:srgbClr val="EBF5FF"/>
                    </a:solidFill>
                  </a:tcPr>
                </a:tc>
                <a:tc>
                  <a:txBody>
                    <a:bodyPr/>
                    <a:lstStyle/>
                    <a:p>
                      <a:pPr>
                        <a:defRPr sz="1100">
                          <a:solidFill>
                            <a:srgbClr val="2D3A4A"/>
                          </a:solidFill>
                        </a:defRPr>
                      </a:pPr>
                      <a:r>
                        <a:t>Hearing yourself talk creates believing</a:t>
                      </a:r>
                    </a:p>
                  </a:txBody>
                  <a:tcPr anchor="ctr">
                    <a:solidFill>
                      <a:srgbClr val="EBF5FF"/>
                    </a:solidFill>
                  </a:tcPr>
                </a:tc>
              </a:tr>
              <a:tr h="393192">
                <a:tc>
                  <a:txBody>
                    <a:bodyPr/>
                    <a:lstStyle/>
                    <a:p>
                      <a:pPr>
                        <a:defRPr sz="1100">
                          <a:solidFill>
                            <a:srgbClr val="2D3A4A"/>
                          </a:solidFill>
                        </a:defRPr>
                      </a:pPr>
                      <a:r>
                        <a:t>Transtheoretical Model</a:t>
                      </a:r>
                    </a:p>
                  </a:txBody>
                  <a:tcPr anchor="ctr">
                    <a:solidFill>
                      <a:srgbClr val="FFFFFF"/>
                    </a:solidFill>
                  </a:tcPr>
                </a:tc>
                <a:tc>
                  <a:txBody>
                    <a:bodyPr/>
                    <a:lstStyle/>
                    <a:p>
                      <a:pPr>
                        <a:defRPr sz="1100">
                          <a:solidFill>
                            <a:srgbClr val="2D3A4A"/>
                          </a:solidFill>
                        </a:defRPr>
                      </a:pPr>
                      <a:r>
                        <a:t>Prochaska/DiClemente (1982)</a:t>
                      </a:r>
                    </a:p>
                  </a:txBody>
                  <a:tcPr anchor="ctr">
                    <a:solidFill>
                      <a:srgbClr val="FFFFFF"/>
                    </a:solidFill>
                  </a:tcPr>
                </a:tc>
                <a:tc>
                  <a:txBody>
                    <a:bodyPr/>
                    <a:lstStyle/>
                    <a:p>
                      <a:pPr>
                        <a:defRPr sz="1100">
                          <a:solidFill>
                            <a:srgbClr val="2D3A4A"/>
                          </a:solidFill>
                        </a:defRPr>
                      </a:pPr>
                      <a:r>
                        <a:t>Stage-matched interventions</a:t>
                      </a:r>
                    </a:p>
                  </a:txBody>
                  <a:tcPr anchor="ctr">
                    <a:solidFill>
                      <a:srgbClr val="FFFFFF"/>
                    </a:solidFill>
                  </a:tcPr>
                </a:tc>
              </a:tr>
              <a:tr h="393192">
                <a:tc>
                  <a:txBody>
                    <a:bodyPr/>
                    <a:lstStyle/>
                    <a:p>
                      <a:pPr>
                        <a:defRPr sz="1100">
                          <a:solidFill>
                            <a:srgbClr val="2D3A4A"/>
                          </a:solidFill>
                        </a:defRPr>
                      </a:pPr>
                      <a:r>
                        <a:t>Self-Determination Theory</a:t>
                      </a:r>
                    </a:p>
                  </a:txBody>
                  <a:tcPr anchor="ctr">
                    <a:solidFill>
                      <a:srgbClr val="EBF5FF"/>
                    </a:solidFill>
                  </a:tcPr>
                </a:tc>
                <a:tc>
                  <a:txBody>
                    <a:bodyPr/>
                    <a:lstStyle/>
                    <a:p>
                      <a:pPr>
                        <a:defRPr sz="1100">
                          <a:solidFill>
                            <a:srgbClr val="2D3A4A"/>
                          </a:solidFill>
                        </a:defRPr>
                      </a:pPr>
                      <a:r>
                        <a:t>Deci &amp; Ryan (1985)</a:t>
                      </a:r>
                    </a:p>
                  </a:txBody>
                  <a:tcPr anchor="ctr">
                    <a:solidFill>
                      <a:srgbClr val="EBF5FF"/>
                    </a:solidFill>
                  </a:tcPr>
                </a:tc>
                <a:tc>
                  <a:txBody>
                    <a:bodyPr/>
                    <a:lstStyle/>
                    <a:p>
                      <a:pPr>
                        <a:defRPr sz="1100">
                          <a:solidFill>
                            <a:srgbClr val="2D3A4A"/>
                          </a:solidFill>
                        </a:defRPr>
                      </a:pPr>
                      <a:r>
                        <a:t>Autonomy support enhances motivation</a:t>
                      </a:r>
                    </a:p>
                  </a:txBody>
                  <a:tcPr anchor="ctr">
                    <a:solidFill>
                      <a:srgbClr val="EBF5FF"/>
                    </a:solidFill>
                  </a:tcPr>
                </a:tc>
              </a:tr>
              <a:tr h="393192">
                <a:tc>
                  <a:txBody>
                    <a:bodyPr/>
                    <a:lstStyle/>
                    <a:p>
                      <a:pPr>
                        <a:defRPr sz="1100">
                          <a:solidFill>
                            <a:srgbClr val="2D3A4A"/>
                          </a:solidFill>
                        </a:defRPr>
                      </a:pPr>
                      <a:r>
                        <a:t>Self-Efficacy Theory</a:t>
                      </a:r>
                    </a:p>
                  </a:txBody>
                  <a:tcPr anchor="ctr">
                    <a:solidFill>
                      <a:srgbClr val="FFFFFF"/>
                    </a:solidFill>
                  </a:tcPr>
                </a:tc>
                <a:tc>
                  <a:txBody>
                    <a:bodyPr/>
                    <a:lstStyle/>
                    <a:p>
                      <a:pPr>
                        <a:defRPr sz="1100">
                          <a:solidFill>
                            <a:srgbClr val="2D3A4A"/>
                          </a:solidFill>
                        </a:defRPr>
                      </a:pPr>
                      <a:r>
                        <a:t>Bandura (1977)</a:t>
                      </a:r>
                    </a:p>
                  </a:txBody>
                  <a:tcPr anchor="ctr">
                    <a:solidFill>
                      <a:srgbClr val="FFFFFF"/>
                    </a:solidFill>
                  </a:tcPr>
                </a:tc>
                <a:tc>
                  <a:txBody>
                    <a:bodyPr/>
                    <a:lstStyle/>
                    <a:p>
                      <a:pPr>
                        <a:defRPr sz="1100">
                          <a:solidFill>
                            <a:srgbClr val="2D3A4A"/>
                          </a:solidFill>
                        </a:defRPr>
                      </a:pPr>
                      <a:r>
                        <a:t>Confidence predicts change attempts</a:t>
                      </a:r>
                    </a:p>
                  </a:txBody>
                  <a:tcPr anchor="ctr">
                    <a:solidFill>
                      <a:srgbClr val="FFFFFF"/>
                    </a:solidFill>
                  </a:tcPr>
                </a:tc>
              </a:tr>
              <a:tr h="393192">
                <a:tc>
                  <a:txBody>
                    <a:bodyPr/>
                    <a:lstStyle/>
                    <a:p>
                      <a:pPr>
                        <a:defRPr sz="1100">
                          <a:solidFill>
                            <a:srgbClr val="2D3A4A"/>
                          </a:solidFill>
                        </a:defRPr>
                      </a:pPr>
                      <a:r>
                        <a:t>Decision-Making Theory</a:t>
                      </a:r>
                    </a:p>
                  </a:txBody>
                  <a:tcPr anchor="ctr">
                    <a:solidFill>
                      <a:srgbClr val="EBF5FF"/>
                    </a:solidFill>
                  </a:tcPr>
                </a:tc>
                <a:tc>
                  <a:txBody>
                    <a:bodyPr/>
                    <a:lstStyle/>
                    <a:p>
                      <a:pPr>
                        <a:defRPr sz="1100">
                          <a:solidFill>
                            <a:srgbClr val="2D3A4A"/>
                          </a:solidFill>
                        </a:defRPr>
                      </a:pPr>
                      <a:r>
                        <a:t>Janis &amp; Mann (1977)</a:t>
                      </a:r>
                    </a:p>
                  </a:txBody>
                  <a:tcPr anchor="ctr">
                    <a:solidFill>
                      <a:srgbClr val="EBF5FF"/>
                    </a:solidFill>
                  </a:tcPr>
                </a:tc>
                <a:tc>
                  <a:txBody>
                    <a:bodyPr/>
                    <a:lstStyle/>
                    <a:p>
                      <a:pPr>
                        <a:defRPr sz="1100">
                          <a:solidFill>
                            <a:srgbClr val="2D3A4A"/>
                          </a:solidFill>
                        </a:defRPr>
                      </a:pPr>
                      <a:r>
                        <a:t>Decisional balance weighs pros/cons</a:t>
                      </a:r>
                    </a:p>
                  </a:txBody>
                  <a:tcPr anchor="ctr">
                    <a:solidFill>
                      <a:srgbClr val="EBF5FF"/>
                    </a:solidFill>
                  </a:tcPr>
                </a:tc>
              </a:tr>
            </a:tbl>
          </a:graphicData>
        </a:graphic>
      </p:graphicFrame>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MET integrates 7+ established theories into a coherent clinical approach addressing why, how, and when people change.</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et al. (1995). MET Manual. | Miller &amp; Rollnick (2013). MI, 3rd ed. Guilford Press.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Core Theories Applied in MET</a:t>
            </a:r>
          </a:p>
        </p:txBody>
      </p:sp>
      <p:sp>
        <p:nvSpPr>
          <p:cNvPr id="5" name="Rounded Rectangle 4"/>
          <p:cNvSpPr/>
          <p:nvPr/>
        </p:nvSpPr>
        <p:spPr>
          <a:xfrm>
            <a:off x="457200" y="1371600"/>
            <a:ext cx="5303520" cy="2011680"/>
          </a:xfrm>
          <a:prstGeom prst="roundRect">
            <a:avLst/>
          </a:prstGeom>
          <a:solidFill>
            <a:srgbClr val="FFFFFF"/>
          </a:solidFill>
          <a:ln w="31750">
            <a:solidFill>
              <a:srgbClr val="2C5F8A"/>
            </a:solidFill>
          </a:ln>
        </p:spPr>
        <p:style>
          <a:lnRef idx="1">
            <a:schemeClr val="accent1"/>
          </a:lnRef>
          <a:fillRef idx="3">
            <a:schemeClr val="accent1"/>
          </a:fillRef>
          <a:effectRef idx="2">
            <a:schemeClr val="accent1"/>
          </a:effectRef>
          <a:fontRef idx="minor">
            <a:schemeClr val="lt1"/>
          </a:fontRef>
        </p:style>
        <p:txBody>
          <a:bodyPr rtlCol="0" anchor="ctr" wrap="square" lIns="228600" tIns="91440"/>
          <a:lstStyle/>
          <a:p>
            <a:pPr algn="ctr">
              <a:defRPr sz="1400" b="1">
                <a:solidFill>
                  <a:srgbClr val="2C5F8A"/>
                </a:solidFill>
              </a:defRPr>
            </a:pPr>
            <a:r>
              <a:t>🧠  ROGERS: Empathy</a:t>
            </a:r>
          </a:p>
          <a:p>
            <a:pPr>
              <a:spcBef>
                <a:spcPts val="600"/>
              </a:spcBef>
              <a:defRPr sz="1100">
                <a:solidFill>
                  <a:srgbClr val="2D3A4A"/>
                </a:solidFill>
              </a:defRPr>
            </a:pPr>
            <a:r>
              <a:t>Non-judgmental acceptance creates safety.</a:t>
            </a:r>
            <a:br/>
            <a:r>
              <a:t>Client explores freely without fear.</a:t>
            </a:r>
            <a:br/>
            <a:r>
              <a:t>Relationship IS the therapy.</a:t>
            </a:r>
          </a:p>
        </p:txBody>
      </p:sp>
      <p:sp>
        <p:nvSpPr>
          <p:cNvPr id="6" name="Rectangle 5"/>
          <p:cNvSpPr/>
          <p:nvPr/>
        </p:nvSpPr>
        <p:spPr>
          <a:xfrm>
            <a:off x="457200" y="1371600"/>
            <a:ext cx="109728" cy="2011680"/>
          </a:xfrm>
          <a:prstGeom prst="rect">
            <a:avLst/>
          </a:prstGeom>
          <a:solidFill>
            <a:srgbClr val="2C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035040" y="1371600"/>
            <a:ext cx="5303520" cy="2011680"/>
          </a:xfrm>
          <a:prstGeom prst="roundRect">
            <a:avLst/>
          </a:prstGeom>
          <a:solidFill>
            <a:srgbClr val="FFFFFF"/>
          </a:solidFill>
          <a:ln w="317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228600" tIns="91440"/>
          <a:lstStyle/>
          <a:p>
            <a:pPr algn="ctr">
              <a:defRPr sz="1400" b="1">
                <a:solidFill>
                  <a:srgbClr val="17A2B8"/>
                </a:solidFill>
              </a:defRPr>
            </a:pPr>
            <a:r>
              <a:t>⚡  FESTINGER: Dissonance</a:t>
            </a:r>
          </a:p>
          <a:p>
            <a:pPr>
              <a:spcBef>
                <a:spcPts val="600"/>
              </a:spcBef>
              <a:defRPr sz="1100">
                <a:solidFill>
                  <a:srgbClr val="2D3A4A"/>
                </a:solidFill>
              </a:defRPr>
            </a:pPr>
            <a:r>
              <a:t>Value-behavior gap creates discomfort.</a:t>
            </a:r>
            <a:br/>
            <a:r>
              <a:t>Discomfort motivates resolution.</a:t>
            </a:r>
            <a:br/>
            <a:r>
              <a:t>Client argues for change themselves.</a:t>
            </a:r>
          </a:p>
        </p:txBody>
      </p:sp>
      <p:sp>
        <p:nvSpPr>
          <p:cNvPr id="8" name="Rectangle 7"/>
          <p:cNvSpPr/>
          <p:nvPr/>
        </p:nvSpPr>
        <p:spPr>
          <a:xfrm>
            <a:off x="6035040" y="1371600"/>
            <a:ext cx="109728" cy="2011680"/>
          </a:xfrm>
          <a:prstGeom prst="rect">
            <a:avLst/>
          </a:prstGeom>
          <a:solidFill>
            <a:srgbClr val="17A2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57200" y="3657600"/>
            <a:ext cx="5303520" cy="2011680"/>
          </a:xfrm>
          <a:prstGeom prst="roundRect">
            <a:avLst/>
          </a:prstGeom>
          <a:solidFill>
            <a:srgbClr val="FFFFFF"/>
          </a:solidFill>
          <a:ln w="31750">
            <a:solidFill>
              <a:srgbClr val="28A745"/>
            </a:solidFill>
          </a:ln>
        </p:spPr>
        <p:style>
          <a:lnRef idx="1">
            <a:schemeClr val="accent1"/>
          </a:lnRef>
          <a:fillRef idx="3">
            <a:schemeClr val="accent1"/>
          </a:fillRef>
          <a:effectRef idx="2">
            <a:schemeClr val="accent1"/>
          </a:effectRef>
          <a:fontRef idx="minor">
            <a:schemeClr val="lt1"/>
          </a:fontRef>
        </p:style>
        <p:txBody>
          <a:bodyPr rtlCol="0" anchor="ctr" wrap="square" lIns="228600" tIns="91440"/>
          <a:lstStyle/>
          <a:p>
            <a:pPr algn="ctr">
              <a:defRPr sz="1400" b="1">
                <a:solidFill>
                  <a:srgbClr val="28A745"/>
                </a:solidFill>
              </a:defRPr>
            </a:pPr>
            <a:r>
              <a:t>🗣️  BEM: Self-Perception</a:t>
            </a:r>
          </a:p>
          <a:p>
            <a:pPr>
              <a:spcBef>
                <a:spcPts val="600"/>
              </a:spcBef>
              <a:defRPr sz="1100">
                <a:solidFill>
                  <a:srgbClr val="2D3A4A"/>
                </a:solidFill>
              </a:defRPr>
            </a:pPr>
            <a:r>
              <a:t>'As I hear myself talk, I learn what I believe.'</a:t>
            </a:r>
            <a:br/>
            <a:r>
              <a:t>Change talk CREATES motivation.</a:t>
            </a:r>
            <a:br/>
            <a:r>
              <a:t>The more they say it, the more they believe it.</a:t>
            </a:r>
          </a:p>
        </p:txBody>
      </p:sp>
      <p:sp>
        <p:nvSpPr>
          <p:cNvPr id="10" name="Rectangle 9"/>
          <p:cNvSpPr/>
          <p:nvPr/>
        </p:nvSpPr>
        <p:spPr>
          <a:xfrm>
            <a:off x="457200" y="3657600"/>
            <a:ext cx="109728" cy="2011680"/>
          </a:xfrm>
          <a:prstGeom prst="rect">
            <a:avLst/>
          </a:prstGeom>
          <a:solidFill>
            <a:srgbClr val="28A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35040" y="3657600"/>
            <a:ext cx="5303520" cy="2011680"/>
          </a:xfrm>
          <a:prstGeom prst="roundRect">
            <a:avLst/>
          </a:prstGeom>
          <a:solidFill>
            <a:srgbClr val="FFFFFF"/>
          </a:solidFill>
          <a:ln w="31750">
            <a:solidFill>
              <a:srgbClr val="D4A01C"/>
            </a:solidFill>
          </a:ln>
        </p:spPr>
        <p:style>
          <a:lnRef idx="1">
            <a:schemeClr val="accent1"/>
          </a:lnRef>
          <a:fillRef idx="3">
            <a:schemeClr val="accent1"/>
          </a:fillRef>
          <a:effectRef idx="2">
            <a:schemeClr val="accent1"/>
          </a:effectRef>
          <a:fontRef idx="minor">
            <a:schemeClr val="lt1"/>
          </a:fontRef>
        </p:style>
        <p:txBody>
          <a:bodyPr rtlCol="0" anchor="ctr" wrap="square" lIns="228600" tIns="91440"/>
          <a:lstStyle/>
          <a:p>
            <a:pPr algn="ctr">
              <a:defRPr sz="1400" b="1">
                <a:solidFill>
                  <a:srgbClr val="D4A01C"/>
                </a:solidFill>
              </a:defRPr>
            </a:pPr>
            <a:r>
              <a:t>💪  BANDURA: Self-Efficacy</a:t>
            </a:r>
          </a:p>
          <a:p>
            <a:pPr>
              <a:spcBef>
                <a:spcPts val="600"/>
              </a:spcBef>
              <a:defRPr sz="1100">
                <a:solidFill>
                  <a:srgbClr val="2D3A4A"/>
                </a:solidFill>
              </a:defRPr>
            </a:pPr>
            <a:r>
              <a:t>Belief in ability predicts action.</a:t>
            </a:r>
            <a:br/>
            <a:r>
              <a:t>Past successes build confidence.</a:t>
            </a:r>
            <a:br/>
            <a:r>
              <a:t>'Support Self-Efficacy' is a core MET principle.</a:t>
            </a:r>
          </a:p>
        </p:txBody>
      </p:sp>
      <p:sp>
        <p:nvSpPr>
          <p:cNvPr id="12" name="Rectangle 11"/>
          <p:cNvSpPr/>
          <p:nvPr/>
        </p:nvSpPr>
        <p:spPr>
          <a:xfrm>
            <a:off x="6035040" y="3657600"/>
            <a:ext cx="109728" cy="2011680"/>
          </a:xfrm>
          <a:prstGeom prst="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57200" y="580644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Rogers (safety) + Festinger (drive) + Bem (mechanism) + Bandura (confidence) = MET's theoretical engine.</a:t>
            </a:r>
          </a:p>
        </p:txBody>
      </p:sp>
      <p:sp>
        <p:nvSpPr>
          <p:cNvPr id="14" name="Rectangle 13"/>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Rogers (1957). J Consulting Psych, 21, 95. | Festinger (1957). A Theory of Cognitive Dissonance. | Bem (1972). Advances in Experimental Social Psych.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Transtheoretical Model: Stages of Change</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Prochaska &amp; DiClemente (1982) — 6 Stages:</a:t>
            </a:r>
          </a:p>
          <a:p>
            <a:pPr>
              <a:spcAft>
                <a:spcPts val="400"/>
              </a:spcAft>
              <a:defRPr sz="1500">
                <a:solidFill>
                  <a:srgbClr val="2D3A4A"/>
                </a:solidFill>
              </a:defRPr>
            </a:pPr>
          </a:p>
          <a:p>
            <a:pPr>
              <a:spcAft>
                <a:spcPts val="400"/>
              </a:spcAft>
              <a:defRPr sz="1500">
                <a:solidFill>
                  <a:srgbClr val="2D3A4A"/>
                </a:solidFill>
              </a:defRPr>
            </a:pPr>
            <a:r>
              <a:t>1. PRECONTEMPLATION — Not thinking about change; unaware/unconcerned</a:t>
            </a:r>
          </a:p>
          <a:p>
            <a:pPr lvl="1">
              <a:spcAft>
                <a:spcPts val="400"/>
              </a:spcAft>
              <a:defRPr sz="1300">
                <a:solidFill>
                  <a:srgbClr val="2D3A4A"/>
                </a:solidFill>
              </a:defRPr>
            </a:pPr>
            <a:r>
              <a:t>MET: Develop discrepancy gently; raise awareness through feedback</a:t>
            </a:r>
          </a:p>
          <a:p>
            <a:pPr>
              <a:spcAft>
                <a:spcPts val="400"/>
              </a:spcAft>
              <a:defRPr sz="1500">
                <a:solidFill>
                  <a:srgbClr val="2D3A4A"/>
                </a:solidFill>
              </a:defRPr>
            </a:pPr>
          </a:p>
          <a:p>
            <a:pPr>
              <a:spcAft>
                <a:spcPts val="400"/>
              </a:spcAft>
              <a:defRPr sz="1500">
                <a:solidFill>
                  <a:srgbClr val="2D3A4A"/>
                </a:solidFill>
              </a:defRPr>
            </a:pPr>
            <a:r>
              <a:t>2. CONTEMPLATION — Ambivalent; 'I should but...' (Most clients start here)</a:t>
            </a:r>
          </a:p>
          <a:p>
            <a:pPr lvl="1">
              <a:spcAft>
                <a:spcPts val="400"/>
              </a:spcAft>
              <a:defRPr sz="1300">
                <a:solidFill>
                  <a:srgbClr val="2D3A4A"/>
                </a:solidFill>
              </a:defRPr>
            </a:pPr>
            <a:r>
              <a:t>MET: Explore ambivalence; tip the decisional balance; evoke change talk</a:t>
            </a:r>
          </a:p>
          <a:p>
            <a:pPr>
              <a:spcAft>
                <a:spcPts val="400"/>
              </a:spcAft>
              <a:defRPr sz="1500">
                <a:solidFill>
                  <a:srgbClr val="2D3A4A"/>
                </a:solidFill>
              </a:defRPr>
            </a:pPr>
          </a:p>
          <a:p>
            <a:pPr>
              <a:spcAft>
                <a:spcPts val="400"/>
              </a:spcAft>
              <a:defRPr sz="1500">
                <a:solidFill>
                  <a:srgbClr val="2D3A4A"/>
                </a:solidFill>
              </a:defRPr>
            </a:pPr>
            <a:r>
              <a:t>3. PREPARATION — Intending to act; 'I'm going to do something soon'</a:t>
            </a:r>
          </a:p>
          <a:p>
            <a:pPr lvl="1">
              <a:spcAft>
                <a:spcPts val="400"/>
              </a:spcAft>
              <a:defRPr sz="1300">
                <a:solidFill>
                  <a:srgbClr val="2D3A4A"/>
                </a:solidFill>
              </a:defRPr>
            </a:pPr>
            <a:r>
              <a:t>MET: Consolidate commitment; develop change plan</a:t>
            </a:r>
          </a:p>
          <a:p>
            <a:pPr>
              <a:spcAft>
                <a:spcPts val="400"/>
              </a:spcAft>
              <a:defRPr sz="1500">
                <a:solidFill>
                  <a:srgbClr val="2D3A4A"/>
                </a:solidFill>
              </a:defRPr>
            </a:pPr>
          </a:p>
          <a:p>
            <a:pPr>
              <a:spcAft>
                <a:spcPts val="400"/>
              </a:spcAft>
              <a:defRPr sz="1500">
                <a:solidFill>
                  <a:srgbClr val="2D3A4A"/>
                </a:solidFill>
              </a:defRPr>
            </a:pPr>
            <a:r>
              <a:t>4. ACTION — Actively changing behavior</a:t>
            </a:r>
          </a:p>
          <a:p>
            <a:pPr lvl="1">
              <a:spcAft>
                <a:spcPts val="400"/>
              </a:spcAft>
              <a:defRPr sz="1300">
                <a:solidFill>
                  <a:srgbClr val="2D3A4A"/>
                </a:solidFill>
              </a:defRPr>
            </a:pPr>
            <a:r>
              <a:t>MET: Reinforce progress; affirm; build self-efficacy</a:t>
            </a:r>
          </a:p>
          <a:p>
            <a:pPr>
              <a:spcAft>
                <a:spcPts val="400"/>
              </a:spcAft>
              <a:defRPr sz="1500">
                <a:solidFill>
                  <a:srgbClr val="2D3A4A"/>
                </a:solidFill>
              </a:defRPr>
            </a:pPr>
          </a:p>
          <a:p>
            <a:pPr>
              <a:spcAft>
                <a:spcPts val="400"/>
              </a:spcAft>
              <a:defRPr sz="1500">
                <a:solidFill>
                  <a:srgbClr val="2D3A4A"/>
                </a:solidFill>
              </a:defRPr>
            </a:pPr>
            <a:r>
              <a:t>5. MAINTENANCE — Sustaining change; preventing relapse</a:t>
            </a:r>
          </a:p>
          <a:p>
            <a:pPr lvl="1">
              <a:spcAft>
                <a:spcPts val="400"/>
              </a:spcAft>
              <a:defRPr sz="1300">
                <a:solidFill>
                  <a:srgbClr val="2D3A4A"/>
                </a:solidFill>
              </a:defRPr>
            </a:pPr>
            <a:r>
              <a:t>MET: Relapse prevention; coping plans; booster sessions</a:t>
            </a:r>
          </a:p>
          <a:p>
            <a:pPr>
              <a:spcAft>
                <a:spcPts val="400"/>
              </a:spcAft>
              <a:defRPr sz="1500">
                <a:solidFill>
                  <a:srgbClr val="2D3A4A"/>
                </a:solidFill>
              </a:defRPr>
            </a:pPr>
          </a:p>
          <a:p>
            <a:pPr>
              <a:spcAft>
                <a:spcPts val="400"/>
              </a:spcAft>
              <a:defRPr sz="1500">
                <a:solidFill>
                  <a:srgbClr val="2D3A4A"/>
                </a:solidFill>
              </a:defRPr>
            </a:pPr>
            <a:r>
              <a:t>6. RELAPSE — Return to earlier behavior (NORMALIZED, not failure)</a:t>
            </a:r>
          </a:p>
          <a:p>
            <a:pPr lvl="1">
              <a:spcAft>
                <a:spcPts val="400"/>
              </a:spcAft>
              <a:defRPr sz="1300">
                <a:solidFill>
                  <a:srgbClr val="2D3A4A"/>
                </a:solidFill>
              </a:defRPr>
            </a:pPr>
            <a:r>
              <a:t>MET: Re-engage with empathy; rebuild motivation without blame</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MET matches strategies to stage: contemplators need exploration, not instruction.</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Prochaska &amp; DiClemente (1982). Psychotherapy, 19, 276. | Prochaska &amp; DiClemente (1984). The Transtheoretical Approach. Dow Jones/Irwin.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Self-Determination Theory &amp; Self-Efficacy in MET</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SELF-DETERMINATION THEORY (Deci &amp; Ryan, 1985):</a:t>
            </a:r>
          </a:p>
          <a:p>
            <a:pPr lvl="1">
              <a:spcAft>
                <a:spcPts val="400"/>
              </a:spcAft>
              <a:defRPr sz="1300">
                <a:solidFill>
                  <a:srgbClr val="2D3A4A"/>
                </a:solidFill>
              </a:defRPr>
            </a:pPr>
            <a:r>
              <a:t>Three basic psychological needs that drive intrinsic motivation:</a:t>
            </a:r>
          </a:p>
          <a:p>
            <a:pPr lvl="1">
              <a:spcAft>
                <a:spcPts val="400"/>
              </a:spcAft>
              <a:defRPr sz="1300">
                <a:solidFill>
                  <a:srgbClr val="2D3A4A"/>
                </a:solidFill>
              </a:defRPr>
            </a:pPr>
            <a:r>
              <a:t>• AUTONOMY — Need to feel in control ('It's YOUR choice')</a:t>
            </a:r>
          </a:p>
          <a:p>
            <a:pPr lvl="1">
              <a:spcAft>
                <a:spcPts val="400"/>
              </a:spcAft>
              <a:defRPr sz="1300">
                <a:solidFill>
                  <a:srgbClr val="2D3A4A"/>
                </a:solidFill>
              </a:defRPr>
            </a:pPr>
            <a:r>
              <a:t>• COMPETENCE — Need to feel capable ('You CAN do this')</a:t>
            </a:r>
          </a:p>
          <a:p>
            <a:pPr lvl="1">
              <a:spcAft>
                <a:spcPts val="400"/>
              </a:spcAft>
              <a:defRPr sz="1300">
                <a:solidFill>
                  <a:srgbClr val="2D3A4A"/>
                </a:solidFill>
              </a:defRPr>
            </a:pPr>
            <a:r>
              <a:t>• RELATEDNESS — Need to feel connected (empathic alliance)</a:t>
            </a:r>
          </a:p>
          <a:p>
            <a:pPr>
              <a:spcAft>
                <a:spcPts val="400"/>
              </a:spcAft>
              <a:defRPr sz="1500">
                <a:solidFill>
                  <a:srgbClr val="2D3A4A"/>
                </a:solidFill>
              </a:defRPr>
            </a:pPr>
          </a:p>
          <a:p>
            <a:pPr lvl="1">
              <a:spcAft>
                <a:spcPts val="400"/>
              </a:spcAft>
              <a:defRPr sz="1300">
                <a:solidFill>
                  <a:srgbClr val="2D3A4A"/>
                </a:solidFill>
              </a:defRPr>
            </a:pPr>
            <a:r>
              <a:t>When all three are met → intrinsic motivation flourishes</a:t>
            </a:r>
          </a:p>
          <a:p>
            <a:pPr lvl="1">
              <a:spcAft>
                <a:spcPts val="400"/>
              </a:spcAft>
              <a:defRPr sz="1300">
                <a:solidFill>
                  <a:srgbClr val="2D3A4A"/>
                </a:solidFill>
              </a:defRPr>
            </a:pPr>
            <a:r>
              <a:t>When any are thwarted → motivation diminishes</a:t>
            </a:r>
          </a:p>
          <a:p>
            <a:pPr lvl="1">
              <a:spcAft>
                <a:spcPts val="400"/>
              </a:spcAft>
              <a:defRPr sz="1300">
                <a:solidFill>
                  <a:srgbClr val="2D3A4A"/>
                </a:solidFill>
              </a:defRPr>
            </a:pPr>
            <a:r>
              <a:t>MET systematically supports all three needs</a:t>
            </a:r>
          </a:p>
          <a:p>
            <a:pPr>
              <a:spcAft>
                <a:spcPts val="400"/>
              </a:spcAft>
              <a:defRPr sz="1500">
                <a:solidFill>
                  <a:srgbClr val="2D3A4A"/>
                </a:solidFill>
              </a:defRPr>
            </a:pPr>
          </a:p>
          <a:p>
            <a:pPr>
              <a:spcAft>
                <a:spcPts val="400"/>
              </a:spcAft>
              <a:defRPr sz="1500" b="1">
                <a:solidFill>
                  <a:srgbClr val="2C5F8A"/>
                </a:solidFill>
              </a:defRPr>
            </a:pPr>
            <a:r>
              <a:t>SELF-EFFICACY THEORY (Bandura, 1977):</a:t>
            </a:r>
          </a:p>
          <a:p>
            <a:pPr lvl="1">
              <a:spcAft>
                <a:spcPts val="400"/>
              </a:spcAft>
              <a:defRPr sz="1300">
                <a:solidFill>
                  <a:srgbClr val="2D3A4A"/>
                </a:solidFill>
              </a:defRPr>
            </a:pPr>
            <a:r>
              <a:t>'Support Self-Efficacy' = Core MET Principle</a:t>
            </a:r>
          </a:p>
          <a:p>
            <a:pPr lvl="1">
              <a:spcAft>
                <a:spcPts val="400"/>
              </a:spcAft>
              <a:defRPr sz="1300">
                <a:solidFill>
                  <a:srgbClr val="2D3A4A"/>
                </a:solidFill>
              </a:defRPr>
            </a:pPr>
            <a:r>
              <a:t>Four sources of self-efficacy:</a:t>
            </a:r>
          </a:p>
          <a:p>
            <a:pPr lvl="1">
              <a:spcAft>
                <a:spcPts val="400"/>
              </a:spcAft>
              <a:defRPr sz="1300">
                <a:solidFill>
                  <a:srgbClr val="2D3A4A"/>
                </a:solidFill>
              </a:defRPr>
            </a:pPr>
            <a:r>
              <a:t>1. Mastery experiences ('You quit for 3 months before')</a:t>
            </a:r>
          </a:p>
          <a:p>
            <a:pPr lvl="1">
              <a:spcAft>
                <a:spcPts val="400"/>
              </a:spcAft>
              <a:defRPr sz="1300">
                <a:solidFill>
                  <a:srgbClr val="2D3A4A"/>
                </a:solidFill>
              </a:defRPr>
            </a:pPr>
            <a:r>
              <a:t>2. Vicarious experiences ('Others in similar situations have succeeded')</a:t>
            </a:r>
          </a:p>
          <a:p>
            <a:pPr lvl="1">
              <a:spcAft>
                <a:spcPts val="400"/>
              </a:spcAft>
              <a:defRPr sz="1300">
                <a:solidFill>
                  <a:srgbClr val="2D3A4A"/>
                </a:solidFill>
              </a:defRPr>
            </a:pPr>
            <a:r>
              <a:t>3. Verbal persuasion ('I believe you can do this')</a:t>
            </a:r>
          </a:p>
          <a:p>
            <a:pPr lvl="1">
              <a:spcAft>
                <a:spcPts val="400"/>
              </a:spcAft>
              <a:defRPr sz="1300">
                <a:solidFill>
                  <a:srgbClr val="2D3A4A"/>
                </a:solidFill>
              </a:defRPr>
            </a:pPr>
            <a:r>
              <a:t>4. Emotional states (reducing anxiety about change)</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MET supports autonomy (choice), competence (efficacy), and relatedness (alliance) — all three drive intrinsic motivation.</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Deci &amp; Ryan (2000). American Psychologist, 55, 68-78. | Bandura (1977). Psychological Review, 84, 191-215.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0" y="1371600"/>
            <a:ext cx="2103120" cy="2103120"/>
          </a:xfrm>
          <a:prstGeom prst="ellipse">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800" b="1">
                <a:solidFill>
                  <a:srgbClr val="FFFFFF"/>
                </a:solidFill>
              </a:defRPr>
            </a:pPr>
            <a:r>
              <a:t>5</a:t>
            </a:r>
          </a:p>
        </p:txBody>
      </p:sp>
      <p:sp>
        <p:nvSpPr>
          <p:cNvPr id="4" name="TextBox 3"/>
          <p:cNvSpPr txBox="1"/>
          <p:nvPr/>
        </p:nvSpPr>
        <p:spPr>
          <a:xfrm>
            <a:off x="914400" y="3840480"/>
            <a:ext cx="10332720" cy="1371600"/>
          </a:xfrm>
          <a:prstGeom prst="rect">
            <a:avLst/>
          </a:prstGeom>
          <a:noFill/>
        </p:spPr>
        <p:txBody>
          <a:bodyPr wrap="square">
            <a:spAutoFit/>
          </a:bodyPr>
          <a:lstStyle/>
          <a:p>
            <a:pPr algn="ctr">
              <a:defRPr sz="3600" b="1">
                <a:solidFill>
                  <a:srgbClr val="FFFFFF"/>
                </a:solidFill>
              </a:defRPr>
            </a:pPr>
            <a:r>
              <a:t>The Spirit of MET</a:t>
            </a:r>
          </a:p>
        </p:txBody>
      </p:sp>
      <p:sp>
        <p:nvSpPr>
          <p:cNvPr id="5" name="Rectangle 4"/>
          <p:cNvSpPr/>
          <p:nvPr/>
        </p:nvSpPr>
        <p:spPr>
          <a:xfrm>
            <a:off x="3657600" y="5303520"/>
            <a:ext cx="4846320" cy="45720"/>
          </a:xfrm>
          <a:prstGeom prst="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The Four Elements of MET Spirit (PACE)</a:t>
            </a:r>
          </a:p>
        </p:txBody>
      </p:sp>
      <p:sp>
        <p:nvSpPr>
          <p:cNvPr id="5" name="Rounded Rectangle 4"/>
          <p:cNvSpPr/>
          <p:nvPr/>
        </p:nvSpPr>
        <p:spPr>
          <a:xfrm>
            <a:off x="457200" y="1371600"/>
            <a:ext cx="5303520" cy="2011680"/>
          </a:xfrm>
          <a:prstGeom prst="roundRect">
            <a:avLst/>
          </a:prstGeom>
          <a:solidFill>
            <a:srgbClr val="FFFFFF"/>
          </a:solidFill>
          <a:ln w="31750">
            <a:solidFill>
              <a:srgbClr val="2C5F8A"/>
            </a:solidFill>
          </a:ln>
        </p:spPr>
        <p:style>
          <a:lnRef idx="1">
            <a:schemeClr val="accent1"/>
          </a:lnRef>
          <a:fillRef idx="3">
            <a:schemeClr val="accent1"/>
          </a:fillRef>
          <a:effectRef idx="2">
            <a:schemeClr val="accent1"/>
          </a:effectRef>
          <a:fontRef idx="minor">
            <a:schemeClr val="lt1"/>
          </a:fontRef>
        </p:style>
        <p:txBody>
          <a:bodyPr rtlCol="0" anchor="ctr" wrap="square" lIns="228600" tIns="91440"/>
          <a:lstStyle/>
          <a:p>
            <a:pPr algn="ctr">
              <a:defRPr sz="1400" b="1">
                <a:solidFill>
                  <a:srgbClr val="2C5F8A"/>
                </a:solidFill>
              </a:defRPr>
            </a:pPr>
            <a:r>
              <a:t>🤝  PARTNERSHIP</a:t>
            </a:r>
          </a:p>
          <a:p>
            <a:pPr>
              <a:spcBef>
                <a:spcPts val="600"/>
              </a:spcBef>
              <a:defRPr sz="1100">
                <a:solidFill>
                  <a:srgbClr val="2D3A4A"/>
                </a:solidFill>
              </a:defRPr>
            </a:pPr>
            <a:r>
              <a:t>Collaborative relationship — 'dancing' not 'wrestling.'</a:t>
            </a:r>
            <a:br/>
            <a:r>
              <a:t>Work WITH the client, not ON them.</a:t>
            </a:r>
            <a:br/>
            <a:r>
              <a:t>Two experts: therapist on process, client on their life.</a:t>
            </a:r>
          </a:p>
        </p:txBody>
      </p:sp>
      <p:sp>
        <p:nvSpPr>
          <p:cNvPr id="6" name="Rectangle 5"/>
          <p:cNvSpPr/>
          <p:nvPr/>
        </p:nvSpPr>
        <p:spPr>
          <a:xfrm>
            <a:off x="457200" y="1371600"/>
            <a:ext cx="109728" cy="2011680"/>
          </a:xfrm>
          <a:prstGeom prst="rect">
            <a:avLst/>
          </a:prstGeom>
          <a:solidFill>
            <a:srgbClr val="2C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035040" y="1371600"/>
            <a:ext cx="5303520" cy="2011680"/>
          </a:xfrm>
          <a:prstGeom prst="roundRect">
            <a:avLst/>
          </a:prstGeom>
          <a:solidFill>
            <a:srgbClr val="FFFFFF"/>
          </a:solidFill>
          <a:ln w="317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228600" tIns="91440"/>
          <a:lstStyle/>
          <a:p>
            <a:pPr algn="ctr">
              <a:defRPr sz="1400" b="1">
                <a:solidFill>
                  <a:srgbClr val="17A2B8"/>
                </a:solidFill>
              </a:defRPr>
            </a:pPr>
            <a:r>
              <a:t>🌟  ACCEPTANCE</a:t>
            </a:r>
          </a:p>
          <a:p>
            <a:pPr>
              <a:spcBef>
                <a:spcPts val="600"/>
              </a:spcBef>
              <a:defRPr sz="1100">
                <a:solidFill>
                  <a:srgbClr val="2D3A4A"/>
                </a:solidFill>
              </a:defRPr>
            </a:pPr>
            <a:r>
              <a:t>Absolute worth + Accurate empathy +</a:t>
            </a:r>
            <a:br/>
            <a:r>
              <a:t>Autonomy support + Affirmation.</a:t>
            </a:r>
            <a:br/>
            <a:r>
              <a:t>Value the person regardless of their behavior.</a:t>
            </a:r>
          </a:p>
        </p:txBody>
      </p:sp>
      <p:sp>
        <p:nvSpPr>
          <p:cNvPr id="8" name="Rectangle 7"/>
          <p:cNvSpPr/>
          <p:nvPr/>
        </p:nvSpPr>
        <p:spPr>
          <a:xfrm>
            <a:off x="6035040" y="1371600"/>
            <a:ext cx="109728" cy="2011680"/>
          </a:xfrm>
          <a:prstGeom prst="rect">
            <a:avLst/>
          </a:prstGeom>
          <a:solidFill>
            <a:srgbClr val="17A2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57200" y="3657600"/>
            <a:ext cx="5303520" cy="2011680"/>
          </a:xfrm>
          <a:prstGeom prst="roundRect">
            <a:avLst/>
          </a:prstGeom>
          <a:solidFill>
            <a:srgbClr val="FFFFFF"/>
          </a:solidFill>
          <a:ln w="31750">
            <a:solidFill>
              <a:srgbClr val="28A745"/>
            </a:solidFill>
          </a:ln>
        </p:spPr>
        <p:style>
          <a:lnRef idx="1">
            <a:schemeClr val="accent1"/>
          </a:lnRef>
          <a:fillRef idx="3">
            <a:schemeClr val="accent1"/>
          </a:fillRef>
          <a:effectRef idx="2">
            <a:schemeClr val="accent1"/>
          </a:effectRef>
          <a:fontRef idx="minor">
            <a:schemeClr val="lt1"/>
          </a:fontRef>
        </p:style>
        <p:txBody>
          <a:bodyPr rtlCol="0" anchor="ctr" wrap="square" lIns="228600" tIns="91440"/>
          <a:lstStyle/>
          <a:p>
            <a:pPr algn="ctr">
              <a:defRPr sz="1400" b="1">
                <a:solidFill>
                  <a:srgbClr val="28A745"/>
                </a:solidFill>
              </a:defRPr>
            </a:pPr>
            <a:r>
              <a:t>❤️  COMPASSION</a:t>
            </a:r>
          </a:p>
          <a:p>
            <a:pPr>
              <a:spcBef>
                <a:spcPts val="600"/>
              </a:spcBef>
              <a:defRPr sz="1100">
                <a:solidFill>
                  <a:srgbClr val="2D3A4A"/>
                </a:solidFill>
              </a:defRPr>
            </a:pPr>
            <a:r>
              <a:t>Actively promoting the client's welfare.</a:t>
            </a:r>
            <a:br/>
            <a:r>
              <a:t>Prioritizing THEIR needs over YOUR agenda.</a:t>
            </a:r>
            <a:br/>
            <a:r>
              <a:t>Genuine care, not manipulation.</a:t>
            </a:r>
          </a:p>
        </p:txBody>
      </p:sp>
      <p:sp>
        <p:nvSpPr>
          <p:cNvPr id="10" name="Rectangle 9"/>
          <p:cNvSpPr/>
          <p:nvPr/>
        </p:nvSpPr>
        <p:spPr>
          <a:xfrm>
            <a:off x="457200" y="3657600"/>
            <a:ext cx="109728" cy="2011680"/>
          </a:xfrm>
          <a:prstGeom prst="rect">
            <a:avLst/>
          </a:prstGeom>
          <a:solidFill>
            <a:srgbClr val="28A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35040" y="3657600"/>
            <a:ext cx="5303520" cy="2011680"/>
          </a:xfrm>
          <a:prstGeom prst="roundRect">
            <a:avLst/>
          </a:prstGeom>
          <a:solidFill>
            <a:srgbClr val="FFFFFF"/>
          </a:solidFill>
          <a:ln w="31750">
            <a:solidFill>
              <a:srgbClr val="D4A01C"/>
            </a:solidFill>
          </a:ln>
        </p:spPr>
        <p:style>
          <a:lnRef idx="1">
            <a:schemeClr val="accent1"/>
          </a:lnRef>
          <a:fillRef idx="3">
            <a:schemeClr val="accent1"/>
          </a:fillRef>
          <a:effectRef idx="2">
            <a:schemeClr val="accent1"/>
          </a:effectRef>
          <a:fontRef idx="minor">
            <a:schemeClr val="lt1"/>
          </a:fontRef>
        </p:style>
        <p:txBody>
          <a:bodyPr rtlCol="0" anchor="ctr" wrap="square" lIns="228600" tIns="91440"/>
          <a:lstStyle/>
          <a:p>
            <a:pPr algn="ctr">
              <a:defRPr sz="1400" b="1">
                <a:solidFill>
                  <a:srgbClr val="D4A01C"/>
                </a:solidFill>
              </a:defRPr>
            </a:pPr>
            <a:r>
              <a:t>🔑  EVOCATION</a:t>
            </a:r>
          </a:p>
          <a:p>
            <a:pPr>
              <a:spcBef>
                <a:spcPts val="600"/>
              </a:spcBef>
              <a:defRPr sz="1100">
                <a:solidFill>
                  <a:srgbClr val="2D3A4A"/>
                </a:solidFill>
              </a:defRPr>
            </a:pPr>
            <a:r>
              <a:t>Drawing out what is ALREADY THERE.</a:t>
            </a:r>
            <a:br/>
            <a:r>
              <a:t>The client has the answers within.</a:t>
            </a:r>
            <a:br/>
            <a:r>
              <a:t>'Midwifery' — helping deliver what's developing.</a:t>
            </a:r>
          </a:p>
        </p:txBody>
      </p:sp>
      <p:sp>
        <p:nvSpPr>
          <p:cNvPr id="12" name="Rectangle 11"/>
          <p:cNvSpPr/>
          <p:nvPr/>
        </p:nvSpPr>
        <p:spPr>
          <a:xfrm>
            <a:off x="6035040" y="3657600"/>
            <a:ext cx="109728" cy="2011680"/>
          </a:xfrm>
          <a:prstGeom prst="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57200" y="580644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Spirit &gt; Technique. Without partnership, acceptance, compassion, and evocation, MET becomes manipulation.</a:t>
            </a:r>
          </a:p>
        </p:txBody>
      </p:sp>
      <p:sp>
        <p:nvSpPr>
          <p:cNvPr id="14" name="Rectangle 13"/>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&amp; Rollnick (2013). Motivational Interviewing, 3rd ed. Guilford Press. | Moyers &amp; Miller (2013). Psychotherapy, 50, 338.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Spirit in Practice: Wrong vs. Correct Responses</a:t>
            </a:r>
          </a:p>
        </p:txBody>
      </p:sp>
      <p:sp>
        <p:nvSpPr>
          <p:cNvPr id="5" name="Rounded Rectangle 4"/>
          <p:cNvSpPr/>
          <p:nvPr/>
        </p:nvSpPr>
        <p:spPr>
          <a:xfrm>
            <a:off x="457200" y="1280160"/>
            <a:ext cx="5303520" cy="457200"/>
          </a:xfrm>
          <a:prstGeom prst="roundRect">
            <a:avLst/>
          </a:prstGeom>
          <a:solidFill>
            <a:srgbClr val="2C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 WRONG (Violates Spirit)</a:t>
            </a:r>
          </a:p>
        </p:txBody>
      </p:sp>
      <p:sp>
        <p:nvSpPr>
          <p:cNvPr id="6" name="TextBox 5"/>
          <p:cNvSpPr txBox="1"/>
          <p:nvPr/>
        </p:nvSpPr>
        <p:spPr>
          <a:xfrm>
            <a:off x="548640" y="1828800"/>
            <a:ext cx="5120640" cy="3657600"/>
          </a:xfrm>
          <a:prstGeom prst="rect">
            <a:avLst/>
          </a:prstGeom>
          <a:noFill/>
        </p:spPr>
        <p:txBody>
          <a:bodyPr wrap="square">
            <a:spAutoFit/>
          </a:bodyPr>
          <a:lstStyle/>
          <a:p>
            <a:pPr>
              <a:spcAft>
                <a:spcPts val="400"/>
              </a:spcAft>
              <a:defRPr sz="1200">
                <a:solidFill>
                  <a:srgbClr val="2D3A4A"/>
                </a:solidFill>
              </a:defRPr>
            </a:pPr>
            <a:r>
              <a:t>• Client: 'I like drinking. It relaxes me.'</a:t>
            </a:r>
          </a:p>
          <a:p>
            <a:pPr>
              <a:spcAft>
                <a:spcPts val="400"/>
              </a:spcAft>
              <a:defRPr sz="1200">
                <a:solidFill>
                  <a:srgbClr val="2D3A4A"/>
                </a:solidFill>
              </a:defRPr>
            </a:pPr>
            <a:r>
              <a:t>• </a:t>
            </a:r>
          </a:p>
          <a:p>
            <a:pPr>
              <a:spcAft>
                <a:spcPts val="400"/>
              </a:spcAft>
              <a:defRPr sz="1200">
                <a:solidFill>
                  <a:srgbClr val="2D3A4A"/>
                </a:solidFill>
              </a:defRPr>
            </a:pPr>
            <a:r>
              <a:t>• 'But it's destroying your liver!' (Righting reflex)</a:t>
            </a:r>
          </a:p>
          <a:p>
            <a:pPr>
              <a:spcAft>
                <a:spcPts val="400"/>
              </a:spcAft>
              <a:defRPr sz="1200">
                <a:solidFill>
                  <a:srgbClr val="2D3A4A"/>
                </a:solidFill>
              </a:defRPr>
            </a:pPr>
            <a:r>
              <a:t>• 'You shouldn't use alcohol to cope' (No acceptance)</a:t>
            </a:r>
          </a:p>
          <a:p>
            <a:pPr>
              <a:spcAft>
                <a:spcPts val="400"/>
              </a:spcAft>
              <a:defRPr sz="1200">
                <a:solidFill>
                  <a:srgbClr val="2D3A4A"/>
                </a:solidFill>
              </a:defRPr>
            </a:pPr>
            <a:r>
              <a:t>• 'That's just an excuse' (No compassion)</a:t>
            </a:r>
          </a:p>
          <a:p>
            <a:pPr>
              <a:spcAft>
                <a:spcPts val="400"/>
              </a:spcAft>
              <a:defRPr sz="1200">
                <a:solidFill>
                  <a:srgbClr val="2D3A4A"/>
                </a:solidFill>
              </a:defRPr>
            </a:pPr>
            <a:r>
              <a:t>• 'Research shows alcohol increases anxiety' (Installing, not evoking)</a:t>
            </a:r>
          </a:p>
          <a:p>
            <a:pPr>
              <a:spcAft>
                <a:spcPts val="400"/>
              </a:spcAft>
              <a:defRPr sz="1200">
                <a:solidFill>
                  <a:srgbClr val="2D3A4A"/>
                </a:solidFill>
              </a:defRPr>
            </a:pPr>
            <a:r>
              <a:t>• </a:t>
            </a:r>
          </a:p>
          <a:p>
            <a:pPr>
              <a:spcAft>
                <a:spcPts val="400"/>
              </a:spcAft>
              <a:defRPr sz="1200">
                <a:solidFill>
                  <a:srgbClr val="2D3A4A"/>
                </a:solidFill>
              </a:defRPr>
            </a:pPr>
            <a:r>
              <a:t>• These PUSH the client away</a:t>
            </a:r>
          </a:p>
        </p:txBody>
      </p:sp>
      <p:sp>
        <p:nvSpPr>
          <p:cNvPr id="7" name="Rounded Rectangle 6"/>
          <p:cNvSpPr/>
          <p:nvPr/>
        </p:nvSpPr>
        <p:spPr>
          <a:xfrm>
            <a:off x="6217920" y="1280160"/>
            <a:ext cx="5303520" cy="457200"/>
          </a:xfrm>
          <a:prstGeom prst="roundRect">
            <a:avLst/>
          </a:prstGeom>
          <a:solidFill>
            <a:srgbClr val="17A2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 CORRECT (Honors Spirit)</a:t>
            </a:r>
          </a:p>
        </p:txBody>
      </p:sp>
      <p:sp>
        <p:nvSpPr>
          <p:cNvPr id="8" name="TextBox 7"/>
          <p:cNvSpPr txBox="1"/>
          <p:nvPr/>
        </p:nvSpPr>
        <p:spPr>
          <a:xfrm>
            <a:off x="6309360" y="1828800"/>
            <a:ext cx="5120640" cy="3657600"/>
          </a:xfrm>
          <a:prstGeom prst="rect">
            <a:avLst/>
          </a:prstGeom>
          <a:noFill/>
        </p:spPr>
        <p:txBody>
          <a:bodyPr wrap="square">
            <a:spAutoFit/>
          </a:bodyPr>
          <a:lstStyle/>
          <a:p>
            <a:pPr>
              <a:spcAft>
                <a:spcPts val="400"/>
              </a:spcAft>
              <a:defRPr sz="1200">
                <a:solidFill>
                  <a:srgbClr val="2D3A4A"/>
                </a:solidFill>
              </a:defRPr>
            </a:pPr>
            <a:r>
              <a:t>• Client: 'I like drinking. It relaxes me.'</a:t>
            </a:r>
          </a:p>
          <a:p>
            <a:pPr>
              <a:spcAft>
                <a:spcPts val="400"/>
              </a:spcAft>
              <a:defRPr sz="1200">
                <a:solidFill>
                  <a:srgbClr val="2D3A4A"/>
                </a:solidFill>
              </a:defRPr>
            </a:pPr>
            <a:r>
              <a:t>• </a:t>
            </a:r>
          </a:p>
          <a:p>
            <a:pPr>
              <a:spcAft>
                <a:spcPts val="400"/>
              </a:spcAft>
              <a:defRPr sz="1200">
                <a:solidFill>
                  <a:srgbClr val="2D3A4A"/>
                </a:solidFill>
              </a:defRPr>
            </a:pPr>
            <a:r>
              <a:t>• 'Drinking serves an important purpose for you' (Partnership)</a:t>
            </a:r>
          </a:p>
          <a:p>
            <a:pPr>
              <a:spcAft>
                <a:spcPts val="400"/>
              </a:spcAft>
              <a:defRPr sz="1200">
                <a:solidFill>
                  <a:srgbClr val="2D3A4A"/>
                </a:solidFill>
              </a:defRPr>
            </a:pPr>
            <a:r>
              <a:t>• 'You've found something that works short-term' (Acceptance)</a:t>
            </a:r>
          </a:p>
          <a:p>
            <a:pPr>
              <a:spcAft>
                <a:spcPts val="400"/>
              </a:spcAft>
              <a:defRPr sz="1200">
                <a:solidFill>
                  <a:srgbClr val="2D3A4A"/>
                </a:solidFill>
              </a:defRPr>
            </a:pPr>
            <a:r>
              <a:t>• 'And what else have you noticed about how it affects you?' (Evocation)</a:t>
            </a:r>
          </a:p>
          <a:p>
            <a:pPr>
              <a:spcAft>
                <a:spcPts val="400"/>
              </a:spcAft>
              <a:defRPr sz="1200">
                <a:solidFill>
                  <a:srgbClr val="2D3A4A"/>
                </a:solidFill>
              </a:defRPr>
            </a:pPr>
            <a:r>
              <a:t>• 'What other things help you manage stress?' (Compassion + Evocation)</a:t>
            </a:r>
          </a:p>
          <a:p>
            <a:pPr>
              <a:spcAft>
                <a:spcPts val="400"/>
              </a:spcAft>
              <a:defRPr sz="1200">
                <a:solidFill>
                  <a:srgbClr val="2D3A4A"/>
                </a:solidFill>
              </a:defRPr>
            </a:pPr>
            <a:r>
              <a:t>• </a:t>
            </a:r>
          </a:p>
          <a:p>
            <a:pPr>
              <a:spcAft>
                <a:spcPts val="400"/>
              </a:spcAft>
              <a:defRPr sz="1200">
                <a:solidFill>
                  <a:srgbClr val="2D3A4A"/>
                </a:solidFill>
              </a:defRPr>
            </a:pPr>
            <a:r>
              <a:t>• These INVITE the client in</a:t>
            </a:r>
          </a:p>
        </p:txBody>
      </p:sp>
      <p:sp>
        <p:nvSpPr>
          <p:cNvPr id="9" name="Rounded Rectangle 8"/>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Honor the positive function of the behavior first — this builds trust for exploring concerns later.</a:t>
            </a:r>
          </a:p>
        </p:txBody>
      </p:sp>
      <p:sp>
        <p:nvSpPr>
          <p:cNvPr id="10" name="Rectangle 9"/>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&amp; Rollnick (2013). MI, 3rd ed. | Miller et al. (1995). MET Manual.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0" y="1371600"/>
            <a:ext cx="2103120" cy="2103120"/>
          </a:xfrm>
          <a:prstGeom prst="ellipse">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800" b="1">
                <a:solidFill>
                  <a:srgbClr val="FFFFFF"/>
                </a:solidFill>
              </a:defRPr>
            </a:pPr>
            <a:r>
              <a:t>6</a:t>
            </a:r>
          </a:p>
        </p:txBody>
      </p:sp>
      <p:sp>
        <p:nvSpPr>
          <p:cNvPr id="4" name="TextBox 3"/>
          <p:cNvSpPr txBox="1"/>
          <p:nvPr/>
        </p:nvSpPr>
        <p:spPr>
          <a:xfrm>
            <a:off x="914400" y="3840480"/>
            <a:ext cx="10332720" cy="1371600"/>
          </a:xfrm>
          <a:prstGeom prst="rect">
            <a:avLst/>
          </a:prstGeom>
          <a:noFill/>
        </p:spPr>
        <p:txBody>
          <a:bodyPr wrap="square">
            <a:spAutoFit/>
          </a:bodyPr>
          <a:lstStyle/>
          <a:p>
            <a:pPr algn="ctr">
              <a:defRPr sz="3600" b="1">
                <a:solidFill>
                  <a:srgbClr val="FFFFFF"/>
                </a:solidFill>
              </a:defRPr>
            </a:pPr>
            <a:r>
              <a:t>Core Principles of MET</a:t>
            </a:r>
          </a:p>
        </p:txBody>
      </p:sp>
      <p:sp>
        <p:nvSpPr>
          <p:cNvPr id="5" name="Rectangle 4"/>
          <p:cNvSpPr/>
          <p:nvPr/>
        </p:nvSpPr>
        <p:spPr>
          <a:xfrm>
            <a:off x="3657600" y="5303520"/>
            <a:ext cx="4846320" cy="45720"/>
          </a:xfrm>
          <a:prstGeom prst="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Four Core Principles of MET</a:t>
            </a:r>
          </a:p>
        </p:txBody>
      </p:sp>
      <p:sp>
        <p:nvSpPr>
          <p:cNvPr id="5" name="Rounded Rectangle 4"/>
          <p:cNvSpPr/>
          <p:nvPr/>
        </p:nvSpPr>
        <p:spPr>
          <a:xfrm>
            <a:off x="457200" y="1371600"/>
            <a:ext cx="5303520" cy="2011680"/>
          </a:xfrm>
          <a:prstGeom prst="roundRect">
            <a:avLst/>
          </a:prstGeom>
          <a:solidFill>
            <a:srgbClr val="FFFFFF"/>
          </a:solidFill>
          <a:ln w="31750">
            <a:solidFill>
              <a:srgbClr val="2C5F8A"/>
            </a:solidFill>
          </a:ln>
        </p:spPr>
        <p:style>
          <a:lnRef idx="1">
            <a:schemeClr val="accent1"/>
          </a:lnRef>
          <a:fillRef idx="3">
            <a:schemeClr val="accent1"/>
          </a:fillRef>
          <a:effectRef idx="2">
            <a:schemeClr val="accent1"/>
          </a:effectRef>
          <a:fontRef idx="minor">
            <a:schemeClr val="lt1"/>
          </a:fontRef>
        </p:style>
        <p:txBody>
          <a:bodyPr rtlCol="0" anchor="ctr" wrap="square" lIns="228600" tIns="91440"/>
          <a:lstStyle/>
          <a:p>
            <a:pPr algn="ctr">
              <a:defRPr sz="1400" b="1">
                <a:solidFill>
                  <a:srgbClr val="2C5F8A"/>
                </a:solidFill>
              </a:defRPr>
            </a:pPr>
            <a:r>
              <a:t>👂  EXPRESS EMPATHY</a:t>
            </a:r>
          </a:p>
          <a:p>
            <a:pPr>
              <a:spcBef>
                <a:spcPts val="600"/>
              </a:spcBef>
              <a:defRPr sz="1100">
                <a:solidFill>
                  <a:srgbClr val="2D3A4A"/>
                </a:solidFill>
              </a:defRPr>
            </a:pPr>
            <a:r>
              <a:t>Skillful reflective listening.</a:t>
            </a:r>
            <a:br/>
            <a:r>
              <a:t>Accept ambivalence as NORMAL.</a:t>
            </a:r>
            <a:br/>
            <a:r>
              <a:t>Valle (1981): Empathy predicted outcomes at 2 years.</a:t>
            </a:r>
          </a:p>
        </p:txBody>
      </p:sp>
      <p:sp>
        <p:nvSpPr>
          <p:cNvPr id="6" name="Rectangle 5"/>
          <p:cNvSpPr/>
          <p:nvPr/>
        </p:nvSpPr>
        <p:spPr>
          <a:xfrm>
            <a:off x="457200" y="1371600"/>
            <a:ext cx="109728" cy="2011680"/>
          </a:xfrm>
          <a:prstGeom prst="rect">
            <a:avLst/>
          </a:prstGeom>
          <a:solidFill>
            <a:srgbClr val="2C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035040" y="1371600"/>
            <a:ext cx="5303520" cy="2011680"/>
          </a:xfrm>
          <a:prstGeom prst="roundRect">
            <a:avLst/>
          </a:prstGeom>
          <a:solidFill>
            <a:srgbClr val="FFFFFF"/>
          </a:solidFill>
          <a:ln w="317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228600" tIns="91440"/>
          <a:lstStyle/>
          <a:p>
            <a:pPr algn="ctr">
              <a:defRPr sz="1400" b="1">
                <a:solidFill>
                  <a:srgbClr val="17A2B8"/>
                </a:solidFill>
              </a:defRPr>
            </a:pPr>
            <a:r>
              <a:t>↔️  DEVELOP DISCREPANCY</a:t>
            </a:r>
          </a:p>
          <a:p>
            <a:pPr>
              <a:spcBef>
                <a:spcPts val="600"/>
              </a:spcBef>
              <a:defRPr sz="1100">
                <a:solidFill>
                  <a:srgbClr val="2D3A4A"/>
                </a:solidFill>
              </a:defRPr>
            </a:pPr>
            <a:r>
              <a:t>Help clients see the gap between behavior and values.</a:t>
            </a:r>
            <a:br/>
            <a:r>
              <a:t>Client presents arguments for change (not therapist).</a:t>
            </a:r>
            <a:br/>
            <a:r>
              <a:t>Cognitive dissonance creates internal motivation.</a:t>
            </a:r>
          </a:p>
        </p:txBody>
      </p:sp>
      <p:sp>
        <p:nvSpPr>
          <p:cNvPr id="8" name="Rectangle 7"/>
          <p:cNvSpPr/>
          <p:nvPr/>
        </p:nvSpPr>
        <p:spPr>
          <a:xfrm>
            <a:off x="6035040" y="1371600"/>
            <a:ext cx="109728" cy="2011680"/>
          </a:xfrm>
          <a:prstGeom prst="rect">
            <a:avLst/>
          </a:prstGeom>
          <a:solidFill>
            <a:srgbClr val="17A2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57200" y="3657600"/>
            <a:ext cx="5303520" cy="2011680"/>
          </a:xfrm>
          <a:prstGeom prst="roundRect">
            <a:avLst/>
          </a:prstGeom>
          <a:solidFill>
            <a:srgbClr val="FFFFFF"/>
          </a:solidFill>
          <a:ln w="31750">
            <a:solidFill>
              <a:srgbClr val="28A745"/>
            </a:solidFill>
          </a:ln>
        </p:spPr>
        <p:style>
          <a:lnRef idx="1">
            <a:schemeClr val="accent1"/>
          </a:lnRef>
          <a:fillRef idx="3">
            <a:schemeClr val="accent1"/>
          </a:fillRef>
          <a:effectRef idx="2">
            <a:schemeClr val="accent1"/>
          </a:effectRef>
          <a:fontRef idx="minor">
            <a:schemeClr val="lt1"/>
          </a:fontRef>
        </p:style>
        <p:txBody>
          <a:bodyPr rtlCol="0" anchor="ctr" wrap="square" lIns="228600" tIns="91440"/>
          <a:lstStyle/>
          <a:p>
            <a:pPr algn="ctr">
              <a:defRPr sz="1400" b="1">
                <a:solidFill>
                  <a:srgbClr val="28A745"/>
                </a:solidFill>
              </a:defRPr>
            </a:pPr>
            <a:r>
              <a:t>🌊  ROLL WITH RESISTANCE</a:t>
            </a:r>
          </a:p>
          <a:p>
            <a:pPr>
              <a:spcBef>
                <a:spcPts val="600"/>
              </a:spcBef>
              <a:defRPr sz="1100">
                <a:solidFill>
                  <a:srgbClr val="2D3A4A"/>
                </a:solidFill>
              </a:defRPr>
            </a:pPr>
            <a:r>
              <a:t>Don't oppose resistance — flow with it.</a:t>
            </a:r>
            <a:br/>
            <a:r>
              <a:t>Resistance is a signal to change YOUR approach.</a:t>
            </a:r>
            <a:br/>
            <a:r>
              <a:t>Amplified reflection, shifting focus, reframing.</a:t>
            </a:r>
          </a:p>
        </p:txBody>
      </p:sp>
      <p:sp>
        <p:nvSpPr>
          <p:cNvPr id="10" name="Rectangle 9"/>
          <p:cNvSpPr/>
          <p:nvPr/>
        </p:nvSpPr>
        <p:spPr>
          <a:xfrm>
            <a:off x="457200" y="3657600"/>
            <a:ext cx="109728" cy="2011680"/>
          </a:xfrm>
          <a:prstGeom prst="rect">
            <a:avLst/>
          </a:prstGeom>
          <a:solidFill>
            <a:srgbClr val="28A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35040" y="3657600"/>
            <a:ext cx="5303520" cy="2011680"/>
          </a:xfrm>
          <a:prstGeom prst="roundRect">
            <a:avLst/>
          </a:prstGeom>
          <a:solidFill>
            <a:srgbClr val="FFFFFF"/>
          </a:solidFill>
          <a:ln w="31750">
            <a:solidFill>
              <a:srgbClr val="D4A01C"/>
            </a:solidFill>
          </a:ln>
        </p:spPr>
        <p:style>
          <a:lnRef idx="1">
            <a:schemeClr val="accent1"/>
          </a:lnRef>
          <a:fillRef idx="3">
            <a:schemeClr val="accent1"/>
          </a:fillRef>
          <a:effectRef idx="2">
            <a:schemeClr val="accent1"/>
          </a:effectRef>
          <a:fontRef idx="minor">
            <a:schemeClr val="lt1"/>
          </a:fontRef>
        </p:style>
        <p:txBody>
          <a:bodyPr rtlCol="0" anchor="ctr" wrap="square" lIns="228600" tIns="91440"/>
          <a:lstStyle/>
          <a:p>
            <a:pPr algn="ctr">
              <a:defRPr sz="1400" b="1">
                <a:solidFill>
                  <a:srgbClr val="D4A01C"/>
                </a:solidFill>
              </a:defRPr>
            </a:pPr>
            <a:r>
              <a:t>🏆  SUPPORT SELF-EFFICACY</a:t>
            </a:r>
          </a:p>
          <a:p>
            <a:pPr>
              <a:spcBef>
                <a:spcPts val="600"/>
              </a:spcBef>
              <a:defRPr sz="1100">
                <a:solidFill>
                  <a:srgbClr val="2D3A4A"/>
                </a:solidFill>
              </a:defRPr>
            </a:pPr>
            <a:r>
              <a:t>Enhance belief in ability to change.</a:t>
            </a:r>
            <a:br/>
            <a:r>
              <a:t>Highlight past successes and strengths.</a:t>
            </a:r>
            <a:br/>
            <a:r>
              <a:t>Express genuine confidence in the client.</a:t>
            </a:r>
          </a:p>
        </p:txBody>
      </p:sp>
      <p:sp>
        <p:nvSpPr>
          <p:cNvPr id="12" name="Rectangle 11"/>
          <p:cNvSpPr/>
          <p:nvPr/>
        </p:nvSpPr>
        <p:spPr>
          <a:xfrm>
            <a:off x="6035040" y="3657600"/>
            <a:ext cx="109728" cy="2011680"/>
          </a:xfrm>
          <a:prstGeom prst="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57200" y="580644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All four principles work together: Empathy creates safety, discrepancy creates motivation, rolling prevents rupture, efficacy enables action.</a:t>
            </a:r>
          </a:p>
        </p:txBody>
      </p:sp>
      <p:sp>
        <p:nvSpPr>
          <p:cNvPr id="14" name="Rectangle 13"/>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et al. (1995). MET Manual. | NIMHANS Manual (2008): DARES framework.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Express Empathy &amp; Develop Discrepancy — Clinical Examples</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EXPRESS EMPATHY — Clinical Dialogue:</a:t>
            </a:r>
          </a:p>
          <a:p>
            <a:pPr lvl="1">
              <a:spcAft>
                <a:spcPts val="400"/>
              </a:spcAft>
              <a:defRPr sz="1300">
                <a:solidFill>
                  <a:srgbClr val="2D3A4A"/>
                </a:solidFill>
              </a:defRPr>
            </a:pPr>
            <a:r>
              <a:t>Client: 'I don't think I drink more than my friends'</a:t>
            </a:r>
          </a:p>
          <a:p>
            <a:pPr lvl="1">
              <a:spcAft>
                <a:spcPts val="400"/>
              </a:spcAft>
              <a:defRPr sz="1300">
                <a:solidFill>
                  <a:srgbClr val="2D3A4A"/>
                </a:solidFill>
              </a:defRPr>
            </a:pPr>
            <a:r>
              <a:t>❌ 'That's denial. Your friends probably drink too much too'</a:t>
            </a:r>
          </a:p>
          <a:p>
            <a:pPr lvl="1">
              <a:spcAft>
                <a:spcPts val="400"/>
              </a:spcAft>
              <a:defRPr sz="1300">
                <a:solidFill>
                  <a:srgbClr val="2D3A4A"/>
                </a:solidFill>
              </a:defRPr>
            </a:pPr>
            <a:r>
              <a:t>✓ 'From your perspective, your drinking seems normal for your circle'</a:t>
            </a:r>
          </a:p>
          <a:p>
            <a:pPr>
              <a:spcAft>
                <a:spcPts val="400"/>
              </a:spcAft>
              <a:defRPr sz="1500">
                <a:solidFill>
                  <a:srgbClr val="2D3A4A"/>
                </a:solidFill>
              </a:defRPr>
            </a:pPr>
          </a:p>
          <a:p>
            <a:pPr lvl="1">
              <a:spcAft>
                <a:spcPts val="400"/>
              </a:spcAft>
              <a:defRPr sz="1300">
                <a:solidFill>
                  <a:srgbClr val="2D3A4A"/>
                </a:solidFill>
              </a:defRPr>
            </a:pPr>
            <a:r>
              <a:t>Client: 'My wife is always nagging me about drinking'</a:t>
            </a:r>
          </a:p>
          <a:p>
            <a:pPr lvl="1">
              <a:spcAft>
                <a:spcPts val="400"/>
              </a:spcAft>
              <a:defRPr sz="1300">
                <a:solidFill>
                  <a:srgbClr val="2D3A4A"/>
                </a:solidFill>
              </a:defRPr>
            </a:pPr>
            <a:r>
              <a:t>❌ 'She's probably right. You should listen to her'</a:t>
            </a:r>
          </a:p>
          <a:p>
            <a:pPr lvl="1">
              <a:spcAft>
                <a:spcPts val="400"/>
              </a:spcAft>
              <a:defRPr sz="1300">
                <a:solidFill>
                  <a:srgbClr val="2D3A4A"/>
                </a:solidFill>
              </a:defRPr>
            </a:pPr>
            <a:r>
              <a:t>✓ 'That must be frustrating — and she clearly cares about you'</a:t>
            </a:r>
          </a:p>
          <a:p>
            <a:pPr>
              <a:spcAft>
                <a:spcPts val="400"/>
              </a:spcAft>
              <a:defRPr sz="1500">
                <a:solidFill>
                  <a:srgbClr val="2D3A4A"/>
                </a:solidFill>
              </a:defRPr>
            </a:pPr>
          </a:p>
          <a:p>
            <a:pPr>
              <a:spcAft>
                <a:spcPts val="400"/>
              </a:spcAft>
              <a:defRPr sz="1500" b="1">
                <a:solidFill>
                  <a:srgbClr val="2C5F8A"/>
                </a:solidFill>
              </a:defRPr>
            </a:pPr>
            <a:r>
              <a:t>DEVELOP DISCREPANCY — Using Values:</a:t>
            </a:r>
          </a:p>
          <a:p>
            <a:pPr lvl="1">
              <a:spcAft>
                <a:spcPts val="400"/>
              </a:spcAft>
              <a:defRPr sz="1300">
                <a:solidFill>
                  <a:srgbClr val="2D3A4A"/>
                </a:solidFill>
              </a:defRPr>
            </a:pPr>
            <a:r>
              <a:t>T: 'What's most important to you in life?'</a:t>
            </a:r>
          </a:p>
          <a:p>
            <a:pPr lvl="1">
              <a:spcAft>
                <a:spcPts val="400"/>
              </a:spcAft>
              <a:defRPr sz="1300">
                <a:solidFill>
                  <a:srgbClr val="2D3A4A"/>
                </a:solidFill>
              </a:defRPr>
            </a:pPr>
            <a:r>
              <a:t>C: 'My kids. Being a good father.'</a:t>
            </a:r>
          </a:p>
          <a:p>
            <a:pPr lvl="1">
              <a:spcAft>
                <a:spcPts val="400"/>
              </a:spcAft>
              <a:defRPr sz="1300">
                <a:solidFill>
                  <a:srgbClr val="2D3A4A"/>
                </a:solidFill>
              </a:defRPr>
            </a:pPr>
            <a:r>
              <a:t>T: 'And how does your drinking fit with being that father?'</a:t>
            </a:r>
          </a:p>
          <a:p>
            <a:pPr lvl="1">
              <a:spcAft>
                <a:spcPts val="400"/>
              </a:spcAft>
              <a:defRPr sz="1300">
                <a:solidFill>
                  <a:srgbClr val="2D3A4A"/>
                </a:solidFill>
              </a:defRPr>
            </a:pPr>
            <a:r>
              <a:t>C: '...Not well. I missed my daughter's recital last week.'</a:t>
            </a:r>
          </a:p>
          <a:p>
            <a:pPr lvl="1">
              <a:spcAft>
                <a:spcPts val="400"/>
              </a:spcAft>
              <a:defRPr sz="1300">
                <a:solidFill>
                  <a:srgbClr val="2D3A4A"/>
                </a:solidFill>
              </a:defRPr>
            </a:pPr>
            <a:r>
              <a:t>T: 'There's a gap between who you want to be and how alcohol is affecting things.'</a:t>
            </a:r>
          </a:p>
          <a:p>
            <a:pPr>
              <a:spcAft>
                <a:spcPts val="400"/>
              </a:spcAft>
              <a:defRPr sz="1500">
                <a:solidFill>
                  <a:srgbClr val="2D3A4A"/>
                </a:solidFill>
              </a:defRPr>
            </a:pPr>
          </a:p>
          <a:p>
            <a:pPr>
              <a:spcAft>
                <a:spcPts val="400"/>
              </a:spcAft>
              <a:defRPr sz="1500">
                <a:solidFill>
                  <a:srgbClr val="2D3A4A"/>
                </a:solidFill>
              </a:defRPr>
            </a:pPr>
            <a:r>
              <a:t>NOTE: The CLIENT articulates the discrepancy — not the therapist.</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Let clients discover their own value-behavior discrepancies — this creates far stronger motivation than external confrontation.</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et al. (1995). MET Manual, pp. 16-20. | Valle (1981). J Studies Alcohol, 42, 783-790.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Roll with Resistance &amp; Support Self-Efficacy</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ROLL WITH RESISTANCE — Specific Strategies:</a:t>
            </a:r>
          </a:p>
          <a:p>
            <a:pPr lvl="1">
              <a:spcAft>
                <a:spcPts val="400"/>
              </a:spcAft>
              <a:defRPr sz="1300">
                <a:solidFill>
                  <a:srgbClr val="2D3A4A"/>
                </a:solidFill>
              </a:defRPr>
            </a:pPr>
            <a:r>
              <a:t>1. Simple reflection: 'You're not worried about it right now'</a:t>
            </a:r>
          </a:p>
          <a:p>
            <a:pPr lvl="1">
              <a:spcAft>
                <a:spcPts val="400"/>
              </a:spcAft>
              <a:defRPr sz="1300">
                <a:solidFill>
                  <a:srgbClr val="2D3A4A"/>
                </a:solidFill>
              </a:defRPr>
            </a:pPr>
            <a:r>
              <a:t>2. Amplified reflection: 'So alcohol causes you absolutely NO concerns'</a:t>
            </a:r>
          </a:p>
          <a:p>
            <a:pPr lvl="2">
              <a:spcAft>
                <a:spcPts val="400"/>
              </a:spcAft>
              <a:defRPr sz="1200">
                <a:solidFill>
                  <a:srgbClr val="2D3A4A"/>
                </a:solidFill>
              </a:defRPr>
            </a:pPr>
            <a:r>
              <a:t>(Often client backs away: 'Well, not NO concerns...')</a:t>
            </a:r>
          </a:p>
          <a:p>
            <a:pPr lvl="1">
              <a:spcAft>
                <a:spcPts val="400"/>
              </a:spcAft>
              <a:defRPr sz="1300">
                <a:solidFill>
                  <a:srgbClr val="2D3A4A"/>
                </a:solidFill>
              </a:defRPr>
            </a:pPr>
            <a:r>
              <a:t>3. Double-sided reflection: 'You enjoy drinking AND you notice effects on sleep'</a:t>
            </a:r>
          </a:p>
          <a:p>
            <a:pPr lvl="1">
              <a:spcAft>
                <a:spcPts val="400"/>
              </a:spcAft>
              <a:defRPr sz="1300">
                <a:solidFill>
                  <a:srgbClr val="2D3A4A"/>
                </a:solidFill>
              </a:defRPr>
            </a:pPr>
            <a:r>
              <a:t>4. Shifting focus: 'Let's set labels aside. What concerns YOU?'</a:t>
            </a:r>
          </a:p>
          <a:p>
            <a:pPr lvl="1">
              <a:spcAft>
                <a:spcPts val="400"/>
              </a:spcAft>
              <a:defRPr sz="1300">
                <a:solidFill>
                  <a:srgbClr val="2D3A4A"/>
                </a:solidFill>
              </a:defRPr>
            </a:pPr>
            <a:r>
              <a:t>5. Reframing: 'Your concern about labels shows you think carefully'</a:t>
            </a:r>
          </a:p>
          <a:p>
            <a:pPr lvl="1">
              <a:spcAft>
                <a:spcPts val="400"/>
              </a:spcAft>
              <a:defRPr sz="1300">
                <a:solidFill>
                  <a:srgbClr val="2D3A4A"/>
                </a:solidFill>
              </a:defRPr>
            </a:pPr>
            <a:r>
              <a:t>6. Emphasizing autonomy: 'It's completely up to you'</a:t>
            </a:r>
          </a:p>
          <a:p>
            <a:pPr>
              <a:spcAft>
                <a:spcPts val="400"/>
              </a:spcAft>
              <a:defRPr sz="1500">
                <a:solidFill>
                  <a:srgbClr val="2D3A4A"/>
                </a:solidFill>
              </a:defRPr>
            </a:pPr>
          </a:p>
          <a:p>
            <a:pPr>
              <a:spcAft>
                <a:spcPts val="400"/>
              </a:spcAft>
              <a:defRPr sz="1500" b="1">
                <a:solidFill>
                  <a:srgbClr val="2C5F8A"/>
                </a:solidFill>
              </a:defRPr>
            </a:pPr>
            <a:r>
              <a:t>SUPPORT SELF-EFFICACY — Building Confidence:</a:t>
            </a:r>
          </a:p>
          <a:p>
            <a:pPr lvl="1">
              <a:spcAft>
                <a:spcPts val="400"/>
              </a:spcAft>
              <a:defRPr sz="1300">
                <a:solidFill>
                  <a:srgbClr val="2D3A4A"/>
                </a:solidFill>
              </a:defRPr>
            </a:pPr>
            <a:r>
              <a:t>• 'You quit for 3 months last year — you've done it before'</a:t>
            </a:r>
          </a:p>
          <a:p>
            <a:pPr lvl="1">
              <a:spcAft>
                <a:spcPts val="400"/>
              </a:spcAft>
              <a:defRPr sz="1300">
                <a:solidFill>
                  <a:srgbClr val="2D3A4A"/>
                </a:solidFill>
              </a:defRPr>
            </a:pPr>
            <a:r>
              <a:t>• 'The fact that you came here today shows real courage'</a:t>
            </a:r>
          </a:p>
          <a:p>
            <a:pPr lvl="1">
              <a:spcAft>
                <a:spcPts val="400"/>
              </a:spcAft>
              <a:defRPr sz="1300">
                <a:solidFill>
                  <a:srgbClr val="2D3A4A"/>
                </a:solidFill>
              </a:defRPr>
            </a:pPr>
            <a:r>
              <a:t>• 'Based on what I know about you, I believe you can do this'</a:t>
            </a:r>
          </a:p>
          <a:p>
            <a:pPr lvl="1">
              <a:spcAft>
                <a:spcPts val="400"/>
              </a:spcAft>
              <a:defRPr sz="1300">
                <a:solidFill>
                  <a:srgbClr val="2D3A4A"/>
                </a:solidFill>
              </a:defRPr>
            </a:pPr>
            <a:r>
              <a:t>• 'Many people need several attempts — each teaches you something'</a:t>
            </a:r>
          </a:p>
          <a:p>
            <a:pPr>
              <a:spcAft>
                <a:spcPts val="400"/>
              </a:spcAft>
              <a:defRPr sz="1500">
                <a:solidFill>
                  <a:srgbClr val="2D3A4A"/>
                </a:solidFill>
              </a:defRPr>
            </a:pPr>
          </a:p>
          <a:p>
            <a:pPr>
              <a:spcAft>
                <a:spcPts val="400"/>
              </a:spcAft>
              <a:defRPr sz="1500">
                <a:solidFill>
                  <a:srgbClr val="2D3A4A"/>
                </a:solidFill>
              </a:defRPr>
            </a:pPr>
            <a:r>
              <a:t>KEY: When resistance increases → soften YOUR approach, don't push harder.</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Resistance = signal to change YOUR approach. Self-efficacy = the bridge from wanting to doing.</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et al. (1995). MET Manual. | Miller &amp; Rollnick (2013). MI, 3rd 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0" y="1371600"/>
            <a:ext cx="2103120" cy="2103120"/>
          </a:xfrm>
          <a:prstGeom prst="ellipse">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800" b="1">
                <a:solidFill>
                  <a:srgbClr val="FFFFFF"/>
                </a:solidFill>
              </a:defRPr>
            </a:pPr>
            <a:r>
              <a:t>7</a:t>
            </a:r>
          </a:p>
        </p:txBody>
      </p:sp>
      <p:sp>
        <p:nvSpPr>
          <p:cNvPr id="4" name="TextBox 3"/>
          <p:cNvSpPr txBox="1"/>
          <p:nvPr/>
        </p:nvSpPr>
        <p:spPr>
          <a:xfrm>
            <a:off x="914400" y="3840480"/>
            <a:ext cx="10332720" cy="1371600"/>
          </a:xfrm>
          <a:prstGeom prst="rect">
            <a:avLst/>
          </a:prstGeom>
          <a:noFill/>
        </p:spPr>
        <p:txBody>
          <a:bodyPr wrap="square">
            <a:spAutoFit/>
          </a:bodyPr>
          <a:lstStyle/>
          <a:p>
            <a:pPr algn="ctr">
              <a:defRPr sz="3600" b="1">
                <a:solidFill>
                  <a:srgbClr val="FFFFFF"/>
                </a:solidFill>
              </a:defRPr>
            </a:pPr>
            <a:r>
              <a:t>Essential Communication Skills: OARS</a:t>
            </a:r>
          </a:p>
        </p:txBody>
      </p:sp>
      <p:sp>
        <p:nvSpPr>
          <p:cNvPr id="5" name="Rectangle 4"/>
          <p:cNvSpPr/>
          <p:nvPr/>
        </p:nvSpPr>
        <p:spPr>
          <a:xfrm>
            <a:off x="3657600" y="5303520"/>
            <a:ext cx="4846320" cy="45720"/>
          </a:xfrm>
          <a:prstGeom prst="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OARS: The Four Core Micro-Skills</a:t>
            </a:r>
          </a:p>
        </p:txBody>
      </p:sp>
      <p:sp>
        <p:nvSpPr>
          <p:cNvPr id="5" name="Rounded Rectangle 4"/>
          <p:cNvSpPr/>
          <p:nvPr/>
        </p:nvSpPr>
        <p:spPr>
          <a:xfrm>
            <a:off x="1112367" y="2011680"/>
            <a:ext cx="2286000" cy="1645920"/>
          </a:xfrm>
          <a:prstGeom prst="roundRect">
            <a:avLst/>
          </a:prstGeom>
          <a:solidFill>
            <a:srgbClr val="2C5F8A"/>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100" b="1">
                <a:solidFill>
                  <a:srgbClr val="FFFFFF"/>
                </a:solidFill>
              </a:defRPr>
            </a:pPr>
            <a:r>
              <a:t>O</a:t>
            </a:r>
          </a:p>
          <a:p>
            <a:pPr algn="ctr">
              <a:defRPr sz="900">
                <a:solidFill>
                  <a:srgbClr val="E8F0FF"/>
                </a:solidFill>
              </a:defRPr>
            </a:pPr>
            <a:r>
              <a:t>Open Questions</a:t>
            </a:r>
            <a:br/>
            <a:r>
              <a:t>Invite exploration</a:t>
            </a:r>
            <a:br/>
            <a:r>
              <a:t>'Tell me about...'</a:t>
            </a:r>
          </a:p>
        </p:txBody>
      </p:sp>
      <p:sp>
        <p:nvSpPr>
          <p:cNvPr id="6" name="Right Arrow 5"/>
          <p:cNvSpPr/>
          <p:nvPr/>
        </p:nvSpPr>
        <p:spPr>
          <a:xfrm>
            <a:off x="3416655" y="2697480"/>
            <a:ext cx="237744" cy="274320"/>
          </a:xfrm>
          <a:prstGeom prst="rightArrow">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72687" y="2011680"/>
            <a:ext cx="2286000" cy="1645920"/>
          </a:xfrm>
          <a:prstGeom prst="round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100" b="1">
                <a:solidFill>
                  <a:srgbClr val="FFFFFF"/>
                </a:solidFill>
              </a:defRPr>
            </a:pPr>
            <a:r>
              <a:t>A</a:t>
            </a:r>
          </a:p>
          <a:p>
            <a:pPr algn="ctr">
              <a:defRPr sz="900">
                <a:solidFill>
                  <a:srgbClr val="E8F0FF"/>
                </a:solidFill>
              </a:defRPr>
            </a:pPr>
            <a:r>
              <a:t>Affirmations</a:t>
            </a:r>
            <a:br/>
            <a:r>
              <a:t>Recognize strengths</a:t>
            </a:r>
            <a:br/>
            <a:r>
              <a:t>'That took courage'</a:t>
            </a:r>
          </a:p>
        </p:txBody>
      </p:sp>
      <p:sp>
        <p:nvSpPr>
          <p:cNvPr id="8" name="Right Arrow 7"/>
          <p:cNvSpPr/>
          <p:nvPr/>
        </p:nvSpPr>
        <p:spPr>
          <a:xfrm>
            <a:off x="5976975" y="2697480"/>
            <a:ext cx="237744" cy="274320"/>
          </a:xfrm>
          <a:prstGeom prst="rightArrow">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2011680"/>
            <a:ext cx="2286000" cy="1645920"/>
          </a:xfrm>
          <a:prstGeom prst="roundRect">
            <a:avLst/>
          </a:prstGeom>
          <a:solidFill>
            <a:srgbClr val="17A2B8"/>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100" b="1">
                <a:solidFill>
                  <a:srgbClr val="FFFFFF"/>
                </a:solidFill>
              </a:defRPr>
            </a:pPr>
            <a:r>
              <a:t>R</a:t>
            </a:r>
          </a:p>
          <a:p>
            <a:pPr algn="ctr">
              <a:defRPr sz="900">
                <a:solidFill>
                  <a:srgbClr val="E8F0FF"/>
                </a:solidFill>
              </a:defRPr>
            </a:pPr>
            <a:r>
              <a:t>Reflections</a:t>
            </a:r>
            <a:br/>
            <a:r>
              <a:t>Mirror with depth</a:t>
            </a:r>
            <a:br/>
            <a:r>
              <a:t>2:1 ratio to Q's</a:t>
            </a:r>
          </a:p>
        </p:txBody>
      </p:sp>
      <p:sp>
        <p:nvSpPr>
          <p:cNvPr id="10" name="Right Arrow 9"/>
          <p:cNvSpPr/>
          <p:nvPr/>
        </p:nvSpPr>
        <p:spPr>
          <a:xfrm>
            <a:off x="8537295" y="2697480"/>
            <a:ext cx="237744" cy="274320"/>
          </a:xfrm>
          <a:prstGeom prst="rightArrow">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793327" y="2011680"/>
            <a:ext cx="2286000" cy="1645920"/>
          </a:xfrm>
          <a:prstGeom prst="roundRect">
            <a:avLst/>
          </a:prstGeom>
          <a:solidFill>
            <a:srgbClr val="28A74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100" b="1">
                <a:solidFill>
                  <a:srgbClr val="FFFFFF"/>
                </a:solidFill>
              </a:defRPr>
            </a:pPr>
            <a:r>
              <a:t>S</a:t>
            </a:r>
          </a:p>
          <a:p>
            <a:pPr algn="ctr">
              <a:defRPr sz="900">
                <a:solidFill>
                  <a:srgbClr val="E8F0FF"/>
                </a:solidFill>
              </a:defRPr>
            </a:pPr>
            <a:r>
              <a:t>Summaries</a:t>
            </a:r>
            <a:br/>
            <a:r>
              <a:t>Collect themes</a:t>
            </a:r>
            <a:br/>
            <a:r>
              <a:t>Strategically select</a:t>
            </a:r>
          </a:p>
        </p:txBody>
      </p:sp>
      <p:sp>
        <p:nvSpPr>
          <p:cNvPr id="12" name="Rounded Rectangle 11"/>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OARS are the micro-skills that operationalize MET spirit — practice them until they become automatic.</a:t>
            </a:r>
          </a:p>
        </p:txBody>
      </p:sp>
      <p:sp>
        <p:nvSpPr>
          <p:cNvPr id="13" name="Rectangle 12"/>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&amp; Rollnick (2013). MI, 3rd ed. | NIMHANS Manual (2008): OARS as 5 specific MI skills.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Open Questions &amp; Affirmations in Practice</a:t>
            </a:r>
          </a:p>
        </p:txBody>
      </p:sp>
      <p:sp>
        <p:nvSpPr>
          <p:cNvPr id="5" name="Rounded Rectangle 4"/>
          <p:cNvSpPr/>
          <p:nvPr/>
        </p:nvSpPr>
        <p:spPr>
          <a:xfrm>
            <a:off x="457200" y="1280160"/>
            <a:ext cx="5303520" cy="457200"/>
          </a:xfrm>
          <a:prstGeom prst="roundRect">
            <a:avLst/>
          </a:prstGeom>
          <a:solidFill>
            <a:srgbClr val="2C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OPEN QUESTIONS</a:t>
            </a:r>
          </a:p>
        </p:txBody>
      </p:sp>
      <p:sp>
        <p:nvSpPr>
          <p:cNvPr id="6" name="TextBox 5"/>
          <p:cNvSpPr txBox="1"/>
          <p:nvPr/>
        </p:nvSpPr>
        <p:spPr>
          <a:xfrm>
            <a:off x="548640" y="1828800"/>
            <a:ext cx="5120640" cy="3657600"/>
          </a:xfrm>
          <a:prstGeom prst="rect">
            <a:avLst/>
          </a:prstGeom>
          <a:noFill/>
        </p:spPr>
        <p:txBody>
          <a:bodyPr wrap="square">
            <a:spAutoFit/>
          </a:bodyPr>
          <a:lstStyle/>
          <a:p>
            <a:pPr>
              <a:spcAft>
                <a:spcPts val="400"/>
              </a:spcAft>
              <a:defRPr sz="1200">
                <a:solidFill>
                  <a:srgbClr val="2D3A4A"/>
                </a:solidFill>
              </a:defRPr>
            </a:pPr>
            <a:r>
              <a:t>• Cannot be answered yes/no — invite exploration</a:t>
            </a:r>
          </a:p>
          <a:p>
            <a:pPr>
              <a:spcAft>
                <a:spcPts val="400"/>
              </a:spcAft>
              <a:defRPr sz="1200">
                <a:solidFill>
                  <a:srgbClr val="2D3A4A"/>
                </a:solidFill>
              </a:defRPr>
            </a:pPr>
            <a:r>
              <a:t>• 'Tell me about your drinking'</a:t>
            </a:r>
          </a:p>
          <a:p>
            <a:pPr>
              <a:spcAft>
                <a:spcPts val="400"/>
              </a:spcAft>
              <a:defRPr sz="1200">
                <a:solidFill>
                  <a:srgbClr val="2D3A4A"/>
                </a:solidFill>
              </a:defRPr>
            </a:pPr>
            <a:r>
              <a:t>• 'What concerns you about your use?'</a:t>
            </a:r>
          </a:p>
          <a:p>
            <a:pPr>
              <a:spcAft>
                <a:spcPts val="400"/>
              </a:spcAft>
              <a:defRPr sz="1200">
                <a:solidFill>
                  <a:srgbClr val="2D3A4A"/>
                </a:solidFill>
              </a:defRPr>
            </a:pPr>
            <a:r>
              <a:t>• 'What would you like to be different?'</a:t>
            </a:r>
          </a:p>
          <a:p>
            <a:pPr>
              <a:spcAft>
                <a:spcPts val="400"/>
              </a:spcAft>
              <a:defRPr sz="1200">
                <a:solidFill>
                  <a:srgbClr val="2D3A4A"/>
                </a:solidFill>
              </a:defRPr>
            </a:pPr>
            <a:r>
              <a:t>• 'What have others told you about it?'</a:t>
            </a:r>
          </a:p>
          <a:p>
            <a:pPr>
              <a:spcAft>
                <a:spcPts val="400"/>
              </a:spcAft>
              <a:defRPr sz="1200">
                <a:solidFill>
                  <a:srgbClr val="2D3A4A"/>
                </a:solidFill>
              </a:defRPr>
            </a:pPr>
            <a:r>
              <a:t>• </a:t>
            </a:r>
          </a:p>
          <a:p>
            <a:pPr>
              <a:spcAft>
                <a:spcPts val="400"/>
              </a:spcAft>
              <a:defRPr sz="1200">
                <a:solidFill>
                  <a:srgbClr val="2D3A4A"/>
                </a:solidFill>
              </a:defRPr>
            </a:pPr>
            <a:r>
              <a:t>• POOR (Closed): 'Do you drink too much?'</a:t>
            </a:r>
          </a:p>
          <a:p>
            <a:pPr>
              <a:spcAft>
                <a:spcPts val="400"/>
              </a:spcAft>
              <a:defRPr sz="1200">
                <a:solidFill>
                  <a:srgbClr val="2D3A4A"/>
                </a:solidFill>
              </a:defRPr>
            </a:pPr>
            <a:r>
              <a:t>• BETTER (Open): 'Tell me what you've noticed'</a:t>
            </a:r>
          </a:p>
        </p:txBody>
      </p:sp>
      <p:sp>
        <p:nvSpPr>
          <p:cNvPr id="7" name="Rounded Rectangle 6"/>
          <p:cNvSpPr/>
          <p:nvPr/>
        </p:nvSpPr>
        <p:spPr>
          <a:xfrm>
            <a:off x="6217920" y="1280160"/>
            <a:ext cx="5303520" cy="457200"/>
          </a:xfrm>
          <a:prstGeom prst="roundRect">
            <a:avLst/>
          </a:prstGeom>
          <a:solidFill>
            <a:srgbClr val="17A2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AFFIRMATIONS</a:t>
            </a:r>
          </a:p>
        </p:txBody>
      </p:sp>
      <p:sp>
        <p:nvSpPr>
          <p:cNvPr id="8" name="TextBox 7"/>
          <p:cNvSpPr txBox="1"/>
          <p:nvPr/>
        </p:nvSpPr>
        <p:spPr>
          <a:xfrm>
            <a:off x="6309360" y="1828800"/>
            <a:ext cx="5120640" cy="3657600"/>
          </a:xfrm>
          <a:prstGeom prst="rect">
            <a:avLst/>
          </a:prstGeom>
          <a:noFill/>
        </p:spPr>
        <p:txBody>
          <a:bodyPr wrap="square">
            <a:spAutoFit/>
          </a:bodyPr>
          <a:lstStyle/>
          <a:p>
            <a:pPr>
              <a:spcAft>
                <a:spcPts val="400"/>
              </a:spcAft>
              <a:defRPr sz="1200">
                <a:solidFill>
                  <a:srgbClr val="2D3A4A"/>
                </a:solidFill>
              </a:defRPr>
            </a:pPr>
            <a:r>
              <a:t>• Recognize strengths, efforts, positive qualities</a:t>
            </a:r>
          </a:p>
          <a:p>
            <a:pPr>
              <a:spcAft>
                <a:spcPts val="400"/>
              </a:spcAft>
              <a:defRPr sz="1200">
                <a:solidFill>
                  <a:srgbClr val="2D3A4A"/>
                </a:solidFill>
              </a:defRPr>
            </a:pPr>
            <a:r>
              <a:t>• NOT generic praise ('Good job!')</a:t>
            </a:r>
          </a:p>
          <a:p>
            <a:pPr>
              <a:spcAft>
                <a:spcPts val="400"/>
              </a:spcAft>
              <a:defRPr sz="1200">
                <a:solidFill>
                  <a:srgbClr val="2D3A4A"/>
                </a:solidFill>
              </a:defRPr>
            </a:pPr>
            <a:r>
              <a:t>• Genuine, specific, about the CLIENT</a:t>
            </a:r>
          </a:p>
          <a:p>
            <a:pPr>
              <a:spcAft>
                <a:spcPts val="400"/>
              </a:spcAft>
              <a:defRPr sz="1200">
                <a:solidFill>
                  <a:srgbClr val="2D3A4A"/>
                </a:solidFill>
              </a:defRPr>
            </a:pPr>
            <a:r>
              <a:t>• </a:t>
            </a:r>
          </a:p>
          <a:p>
            <a:pPr>
              <a:spcAft>
                <a:spcPts val="400"/>
              </a:spcAft>
              <a:defRPr sz="1200">
                <a:solidFill>
                  <a:srgbClr val="2D3A4A"/>
                </a:solidFill>
              </a:defRPr>
            </a:pPr>
            <a:r>
              <a:t>• 'It took real courage to come here today'</a:t>
            </a:r>
          </a:p>
          <a:p>
            <a:pPr>
              <a:spcAft>
                <a:spcPts val="400"/>
              </a:spcAft>
              <a:defRPr sz="1200">
                <a:solidFill>
                  <a:srgbClr val="2D3A4A"/>
                </a:solidFill>
              </a:defRPr>
            </a:pPr>
            <a:r>
              <a:t>• 'You clearly care deeply about your family'</a:t>
            </a:r>
          </a:p>
          <a:p>
            <a:pPr>
              <a:spcAft>
                <a:spcPts val="400"/>
              </a:spcAft>
              <a:defRPr sz="1200">
                <a:solidFill>
                  <a:srgbClr val="2D3A4A"/>
                </a:solidFill>
              </a:defRPr>
            </a:pPr>
            <a:r>
              <a:t>• 'The fact you're thinking about this shows strength'</a:t>
            </a:r>
          </a:p>
          <a:p>
            <a:pPr>
              <a:spcAft>
                <a:spcPts val="400"/>
              </a:spcAft>
              <a:defRPr sz="1200">
                <a:solidFill>
                  <a:srgbClr val="2D3A4A"/>
                </a:solidFill>
              </a:defRPr>
            </a:pPr>
            <a:r>
              <a:t>• 'You managed 3 months — you CAN do this'</a:t>
            </a:r>
          </a:p>
        </p:txBody>
      </p:sp>
      <p:sp>
        <p:nvSpPr>
          <p:cNvPr id="9" name="Rounded Rectangle 8"/>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Open questions create the space; affirmations build the confidence. Together they empower the client's voice.</a:t>
            </a:r>
          </a:p>
        </p:txBody>
      </p:sp>
      <p:sp>
        <p:nvSpPr>
          <p:cNvPr id="10" name="Rectangle 9"/>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et al. (1995). MET Manual, pp. 13-15. | NIMHANS Manual (2008), pp. 22-23.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Reflective Listening — The Most Important Skill</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a:solidFill>
                  <a:srgbClr val="2D3A4A"/>
                </a:solidFill>
              </a:defRPr>
            </a:pPr>
            <a:r>
              <a:t>Definition: Statements reflecting what the client said with added depth/meaning</a:t>
            </a:r>
          </a:p>
          <a:p>
            <a:pPr>
              <a:spcAft>
                <a:spcPts val="400"/>
              </a:spcAft>
              <a:defRPr sz="1500">
                <a:solidFill>
                  <a:srgbClr val="2D3A4A"/>
                </a:solidFill>
              </a:defRPr>
            </a:pPr>
            <a:r>
              <a:t>Miller (1995): 'Requires continuous alert tracking' — not easy to do well</a:t>
            </a:r>
          </a:p>
          <a:p>
            <a:pPr>
              <a:spcAft>
                <a:spcPts val="400"/>
              </a:spcAft>
              <a:defRPr sz="1500">
                <a:solidFill>
                  <a:srgbClr val="2D3A4A"/>
                </a:solidFill>
              </a:defRPr>
            </a:pPr>
          </a:p>
          <a:p>
            <a:pPr>
              <a:spcAft>
                <a:spcPts val="400"/>
              </a:spcAft>
              <a:defRPr sz="1500" b="1">
                <a:solidFill>
                  <a:srgbClr val="2C5F8A"/>
                </a:solidFill>
              </a:defRPr>
            </a:pPr>
            <a:r>
              <a:t>Types (increasing depth):</a:t>
            </a:r>
          </a:p>
          <a:p>
            <a:pPr lvl="1">
              <a:spcAft>
                <a:spcPts val="400"/>
              </a:spcAft>
              <a:defRPr sz="1300">
                <a:solidFill>
                  <a:srgbClr val="2D3A4A"/>
                </a:solidFill>
              </a:defRPr>
            </a:pPr>
            <a:r>
              <a:t>Simple: Repeats/rephrases ('You wonder about your drinking')</a:t>
            </a:r>
          </a:p>
          <a:p>
            <a:pPr lvl="1">
              <a:spcAft>
                <a:spcPts val="400"/>
              </a:spcAft>
              <a:defRPr sz="1300">
                <a:solidFill>
                  <a:srgbClr val="2D3A4A"/>
                </a:solidFill>
              </a:defRPr>
            </a:pPr>
            <a:r>
              <a:t>Complex: Adds meaning ('Part of you suspects something needs to change')</a:t>
            </a:r>
          </a:p>
          <a:p>
            <a:pPr lvl="1">
              <a:spcAft>
                <a:spcPts val="400"/>
              </a:spcAft>
              <a:defRPr sz="1300">
                <a:solidFill>
                  <a:srgbClr val="2D3A4A"/>
                </a:solidFill>
              </a:defRPr>
            </a:pPr>
            <a:r>
              <a:t>Double-sided: Both sides ('You enjoy drinking AND you worry about health')</a:t>
            </a:r>
          </a:p>
          <a:p>
            <a:pPr lvl="1">
              <a:spcAft>
                <a:spcPts val="400"/>
              </a:spcAft>
              <a:defRPr sz="1300">
                <a:solidFill>
                  <a:srgbClr val="2D3A4A"/>
                </a:solidFill>
              </a:defRPr>
            </a:pPr>
            <a:r>
              <a:t>Amplified: Overstates to elicit other side ('Absolutely no concerns at all')</a:t>
            </a:r>
          </a:p>
          <a:p>
            <a:pPr>
              <a:spcAft>
                <a:spcPts val="400"/>
              </a:spcAft>
              <a:defRPr sz="1500">
                <a:solidFill>
                  <a:srgbClr val="2D3A4A"/>
                </a:solidFill>
              </a:defRPr>
            </a:pPr>
          </a:p>
          <a:p>
            <a:pPr>
              <a:spcAft>
                <a:spcPts val="400"/>
              </a:spcAft>
              <a:defRPr sz="1500" b="1">
                <a:solidFill>
                  <a:srgbClr val="2C5F8A"/>
                </a:solidFill>
              </a:defRPr>
            </a:pPr>
            <a:r>
              <a:t>Extended Example from MET Manual:</a:t>
            </a:r>
          </a:p>
          <a:p>
            <a:pPr lvl="1">
              <a:spcAft>
                <a:spcPts val="400"/>
              </a:spcAft>
              <a:defRPr sz="1300">
                <a:solidFill>
                  <a:srgbClr val="2D3A4A"/>
                </a:solidFill>
              </a:defRPr>
            </a:pPr>
            <a:r>
              <a:t>C: 'I'm not sure I'm concerned, but I wonder if I'm drinking too much'</a:t>
            </a:r>
          </a:p>
          <a:p>
            <a:pPr lvl="1">
              <a:spcAft>
                <a:spcPts val="400"/>
              </a:spcAft>
              <a:defRPr sz="1300">
                <a:solidFill>
                  <a:srgbClr val="2D3A4A"/>
                </a:solidFill>
              </a:defRPr>
            </a:pPr>
            <a:r>
              <a:t>T: 'Too much for...' [reflection as prompt]</a:t>
            </a:r>
          </a:p>
          <a:p>
            <a:pPr lvl="1">
              <a:spcAft>
                <a:spcPts val="400"/>
              </a:spcAft>
              <a:defRPr sz="1300">
                <a:solidFill>
                  <a:srgbClr val="2D3A4A"/>
                </a:solidFill>
              </a:defRPr>
            </a:pPr>
            <a:r>
              <a:t>C: 'For my own good. Sometimes I can't think straight in the morning'</a:t>
            </a:r>
          </a:p>
          <a:p>
            <a:pPr lvl="1">
              <a:spcAft>
                <a:spcPts val="400"/>
              </a:spcAft>
              <a:defRPr sz="1300">
                <a:solidFill>
                  <a:srgbClr val="2D3A4A"/>
                </a:solidFill>
              </a:defRPr>
            </a:pPr>
            <a:r>
              <a:t>T: 'It messes up your thinking, your concentration' [simple]</a:t>
            </a:r>
          </a:p>
          <a:p>
            <a:pPr lvl="1">
              <a:spcAft>
                <a:spcPts val="400"/>
              </a:spcAft>
              <a:defRPr sz="1300">
                <a:solidFill>
                  <a:srgbClr val="2D3A4A"/>
                </a:solidFill>
              </a:defRPr>
            </a:pPr>
            <a:r>
              <a:t>C: 'Yes, and trouble remembering things'</a:t>
            </a:r>
          </a:p>
          <a:p>
            <a:pPr lvl="1">
              <a:spcAft>
                <a:spcPts val="400"/>
              </a:spcAft>
              <a:defRPr sz="1300">
                <a:solidFill>
                  <a:srgbClr val="2D3A4A"/>
                </a:solidFill>
              </a:defRPr>
            </a:pPr>
            <a:r>
              <a:t>T: 'And you wonder if alcohol is doing that' [complex]</a:t>
            </a:r>
          </a:p>
          <a:p>
            <a:pPr lvl="1">
              <a:spcAft>
                <a:spcPts val="400"/>
              </a:spcAft>
              <a:defRPr sz="1300">
                <a:solidFill>
                  <a:srgbClr val="2D3A4A"/>
                </a:solidFill>
              </a:defRPr>
            </a:pPr>
            <a:r>
              <a:t>C: 'Well, I know it is sometimes'</a:t>
            </a:r>
          </a:p>
          <a:p>
            <a:pPr>
              <a:spcAft>
                <a:spcPts val="400"/>
              </a:spcAft>
              <a:defRPr sz="1500">
                <a:solidFill>
                  <a:srgbClr val="2D3A4A"/>
                </a:solidFill>
              </a:defRPr>
            </a:pPr>
          </a:p>
          <a:p>
            <a:pPr>
              <a:spcAft>
                <a:spcPts val="400"/>
              </a:spcAft>
              <a:defRPr sz="1500">
                <a:solidFill>
                  <a:srgbClr val="2D3A4A"/>
                </a:solidFill>
              </a:defRPr>
            </a:pPr>
            <a:r>
              <a:t>GUIDELINE: Aim for 2:1 reflection-to-question ratio minimum.</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Skilled reflection alone moves clients from ambivalence to recognition — no confrontation needed.</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et al. (1995). MET Manual, pp. 16-18. | Miller &amp; Rollnick (2013). MI, 3rd 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Summaries &amp; Strategic Selection</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Types of Summaries:</a:t>
            </a:r>
          </a:p>
          <a:p>
            <a:pPr lvl="1">
              <a:spcAft>
                <a:spcPts val="400"/>
              </a:spcAft>
              <a:defRPr sz="1300">
                <a:solidFill>
                  <a:srgbClr val="2D3A4A"/>
                </a:solidFill>
              </a:defRPr>
            </a:pPr>
            <a:r>
              <a:t>1. Collecting: Gathers several change talk statements together</a:t>
            </a:r>
          </a:p>
          <a:p>
            <a:pPr lvl="1">
              <a:spcAft>
                <a:spcPts val="400"/>
              </a:spcAft>
              <a:defRPr sz="1300">
                <a:solidFill>
                  <a:srgbClr val="2D3A4A"/>
                </a:solidFill>
              </a:defRPr>
            </a:pPr>
            <a:r>
              <a:t>2. Linking: Connects current statements with earlier ones</a:t>
            </a:r>
          </a:p>
          <a:p>
            <a:pPr lvl="1">
              <a:spcAft>
                <a:spcPts val="400"/>
              </a:spcAft>
              <a:defRPr sz="1300">
                <a:solidFill>
                  <a:srgbClr val="2D3A4A"/>
                </a:solidFill>
              </a:defRPr>
            </a:pPr>
            <a:r>
              <a:t>3. Transitional: Wraps up a topic and shifts direction</a:t>
            </a:r>
          </a:p>
          <a:p>
            <a:pPr>
              <a:spcAft>
                <a:spcPts val="400"/>
              </a:spcAft>
              <a:defRPr sz="1500">
                <a:solidFill>
                  <a:srgbClr val="2D3A4A"/>
                </a:solidFill>
              </a:defRPr>
            </a:pPr>
          </a:p>
          <a:p>
            <a:pPr>
              <a:spcAft>
                <a:spcPts val="400"/>
              </a:spcAft>
              <a:defRPr sz="1500" b="1">
                <a:solidFill>
                  <a:srgbClr val="2C5F8A"/>
                </a:solidFill>
              </a:defRPr>
            </a:pPr>
            <a:r>
              <a:t>Strategic Summary Example:</a:t>
            </a:r>
          </a:p>
          <a:p>
            <a:pPr lvl="1">
              <a:spcAft>
                <a:spcPts val="400"/>
              </a:spcAft>
              <a:defRPr sz="1300">
                <a:solidFill>
                  <a:srgbClr val="2D3A4A"/>
                </a:solidFill>
              </a:defRPr>
            </a:pPr>
            <a:r>
              <a:t>'Let me see if I've got this right. You're concerned about memory problems,</a:t>
            </a:r>
          </a:p>
          <a:p>
            <a:pPr lvl="1">
              <a:spcAft>
                <a:spcPts val="400"/>
              </a:spcAft>
              <a:defRPr sz="1300">
                <a:solidFill>
                  <a:srgbClr val="2D3A4A"/>
                </a:solidFill>
              </a:defRPr>
            </a:pPr>
            <a:r>
              <a:t>your wife is increasingly worried, work performance has slipped, and your</a:t>
            </a:r>
          </a:p>
          <a:p>
            <a:pPr lvl="1">
              <a:spcAft>
                <a:spcPts val="400"/>
              </a:spcAft>
              <a:defRPr sz="1300">
                <a:solidFill>
                  <a:srgbClr val="2D3A4A"/>
                </a:solidFill>
              </a:defRPr>
            </a:pPr>
            <a:r>
              <a:t>doctor flagged liver results. You also enjoy the social side of drinking and</a:t>
            </a:r>
          </a:p>
          <a:p>
            <a:pPr lvl="1">
              <a:spcAft>
                <a:spcPts val="400"/>
              </a:spcAft>
              <a:defRPr sz="1300">
                <a:solidFill>
                  <a:srgbClr val="2D3A4A"/>
                </a:solidFill>
              </a:defRPr>
            </a:pPr>
            <a:r>
              <a:t>would hate to lose that. Did I miss anything?'</a:t>
            </a:r>
          </a:p>
          <a:p>
            <a:pPr>
              <a:spcAft>
                <a:spcPts val="400"/>
              </a:spcAft>
              <a:defRPr sz="1500">
                <a:solidFill>
                  <a:srgbClr val="2D3A4A"/>
                </a:solidFill>
              </a:defRPr>
            </a:pPr>
          </a:p>
          <a:p>
            <a:pPr>
              <a:spcAft>
                <a:spcPts val="400"/>
              </a:spcAft>
              <a:defRPr sz="1500" b="1">
                <a:solidFill>
                  <a:srgbClr val="2C5F8A"/>
                </a:solidFill>
              </a:defRPr>
            </a:pPr>
            <a:r>
              <a:t>STRATEGIC PRINCIPLE:</a:t>
            </a:r>
          </a:p>
          <a:p>
            <a:pPr lvl="1">
              <a:spcAft>
                <a:spcPts val="400"/>
              </a:spcAft>
              <a:defRPr sz="1300">
                <a:solidFill>
                  <a:srgbClr val="2D3A4A"/>
                </a:solidFill>
              </a:defRPr>
            </a:pPr>
            <a:r>
              <a:t>Include MORE change talk items than sustain talk items</a:t>
            </a:r>
          </a:p>
          <a:p>
            <a:pPr lvl="1">
              <a:spcAft>
                <a:spcPts val="400"/>
              </a:spcAft>
              <a:defRPr sz="1300">
                <a:solidFill>
                  <a:srgbClr val="2D3A4A"/>
                </a:solidFill>
              </a:defRPr>
            </a:pPr>
            <a:r>
              <a:t>Hearing all reasons for change collected in one place is powerful</a:t>
            </a:r>
          </a:p>
          <a:p>
            <a:pPr lvl="1">
              <a:spcAft>
                <a:spcPts val="400"/>
              </a:spcAft>
              <a:defRPr sz="1300">
                <a:solidFill>
                  <a:srgbClr val="2D3A4A"/>
                </a:solidFill>
              </a:defRPr>
            </a:pPr>
            <a:r>
              <a:t>Always end with: 'What else?' or 'Did I miss anything?'</a:t>
            </a:r>
          </a:p>
          <a:p>
            <a:pPr>
              <a:spcAft>
                <a:spcPts val="400"/>
              </a:spcAft>
              <a:defRPr sz="1500">
                <a:solidFill>
                  <a:srgbClr val="2D3A4A"/>
                </a:solidFill>
              </a:defRPr>
            </a:pPr>
          </a:p>
          <a:p>
            <a:pPr>
              <a:spcAft>
                <a:spcPts val="400"/>
              </a:spcAft>
              <a:defRPr sz="1500">
                <a:solidFill>
                  <a:srgbClr val="2D3A4A"/>
                </a:solidFill>
              </a:defRPr>
            </a:pPr>
            <a:r>
              <a:t>OARS TOGETHER: Questions explore → Reflections deepen →</a:t>
            </a:r>
          </a:p>
          <a:p>
            <a:pPr lvl="1">
              <a:spcAft>
                <a:spcPts val="400"/>
              </a:spcAft>
              <a:defRPr sz="1300">
                <a:solidFill>
                  <a:srgbClr val="2D3A4A"/>
                </a:solidFill>
              </a:defRPr>
            </a:pPr>
            <a:r>
              <a:t>Affirmations encourage → Summaries consolidate</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Strategic summaries collect change talk in one place, amplifying its motivational impact through the client's own words.</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&amp; Rollnick (2013). MI, 3rd ed. | Miller et al. (1995). MET Manual.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0" y="1371600"/>
            <a:ext cx="2103120" cy="2103120"/>
          </a:xfrm>
          <a:prstGeom prst="ellipse">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800" b="1">
                <a:solidFill>
                  <a:srgbClr val="FFFFFF"/>
                </a:solidFill>
              </a:defRPr>
            </a:pPr>
            <a:r>
              <a:t>8</a:t>
            </a:r>
          </a:p>
        </p:txBody>
      </p:sp>
      <p:sp>
        <p:nvSpPr>
          <p:cNvPr id="4" name="TextBox 3"/>
          <p:cNvSpPr txBox="1"/>
          <p:nvPr/>
        </p:nvSpPr>
        <p:spPr>
          <a:xfrm>
            <a:off x="914400" y="3840480"/>
            <a:ext cx="10332720" cy="1371600"/>
          </a:xfrm>
          <a:prstGeom prst="rect">
            <a:avLst/>
          </a:prstGeom>
          <a:noFill/>
        </p:spPr>
        <p:txBody>
          <a:bodyPr wrap="square">
            <a:spAutoFit/>
          </a:bodyPr>
          <a:lstStyle/>
          <a:p>
            <a:pPr algn="ctr">
              <a:defRPr sz="3600" b="1">
                <a:solidFill>
                  <a:srgbClr val="FFFFFF"/>
                </a:solidFill>
              </a:defRPr>
            </a:pPr>
            <a:r>
              <a:t>Change Talk: The Language of Motivation</a:t>
            </a:r>
          </a:p>
        </p:txBody>
      </p:sp>
      <p:sp>
        <p:nvSpPr>
          <p:cNvPr id="5" name="Rectangle 4"/>
          <p:cNvSpPr/>
          <p:nvPr/>
        </p:nvSpPr>
        <p:spPr>
          <a:xfrm>
            <a:off x="3657600" y="5303520"/>
            <a:ext cx="4846320" cy="45720"/>
          </a:xfrm>
          <a:prstGeom prst="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DARN-CAT: Seven Types of Change Talk</a:t>
            </a:r>
          </a:p>
        </p:txBody>
      </p:sp>
      <p:graphicFrame>
        <p:nvGraphicFramePr>
          <p:cNvPr id="5" name="Table 4"/>
          <p:cNvGraphicFramePr>
            <a:graphicFrameLocks noGrp="1"/>
          </p:cNvGraphicFramePr>
          <p:nvPr/>
        </p:nvGraphicFramePr>
        <p:xfrm>
          <a:off x="457200" y="1371600"/>
          <a:ext cx="11247120" cy="3145536"/>
        </p:xfrm>
        <a:graphic>
          <a:graphicData uri="http://schemas.openxmlformats.org/drawingml/2006/table">
            <a:tbl>
              <a:tblPr firstRow="1" bandRow="1">
                <a:tableStyleId>{5C22544A-7EE6-4342-B048-85BDC9FD1C3A}</a:tableStyleId>
              </a:tblPr>
              <a:tblGrid>
                <a:gridCol w="2011680"/>
                <a:gridCol w="1828800"/>
                <a:gridCol w="2926080"/>
                <a:gridCol w="4480560"/>
              </a:tblGrid>
              <a:tr h="393192">
                <a:tc>
                  <a:txBody>
                    <a:bodyPr/>
                    <a:lstStyle/>
                    <a:p>
                      <a:pPr algn="ctr">
                        <a:defRPr sz="1200" b="1">
                          <a:solidFill>
                            <a:srgbClr val="FFFFFF"/>
                          </a:solidFill>
                        </a:defRPr>
                      </a:pPr>
                      <a:r>
                        <a:t>Type</a:t>
                      </a:r>
                    </a:p>
                  </a:txBody>
                  <a:tcPr anchor="ctr">
                    <a:solidFill>
                      <a:srgbClr val="1B2A4A"/>
                    </a:solidFill>
                  </a:tcPr>
                </a:tc>
                <a:tc>
                  <a:txBody>
                    <a:bodyPr/>
                    <a:lstStyle/>
                    <a:p>
                      <a:pPr algn="ctr">
                        <a:defRPr sz="1200" b="1">
                          <a:solidFill>
                            <a:srgbClr val="FFFFFF"/>
                          </a:solidFill>
                        </a:defRPr>
                      </a:pPr>
                      <a:r>
                        <a:t>Category</a:t>
                      </a:r>
                    </a:p>
                  </a:txBody>
                  <a:tcPr anchor="ctr">
                    <a:solidFill>
                      <a:srgbClr val="1B2A4A"/>
                    </a:solidFill>
                  </a:tcPr>
                </a:tc>
                <a:tc>
                  <a:txBody>
                    <a:bodyPr/>
                    <a:lstStyle/>
                    <a:p>
                      <a:pPr algn="ctr">
                        <a:defRPr sz="1200" b="1">
                          <a:solidFill>
                            <a:srgbClr val="FFFFFF"/>
                          </a:solidFill>
                        </a:defRPr>
                      </a:pPr>
                      <a:r>
                        <a:t>Signal Words</a:t>
                      </a:r>
                    </a:p>
                  </a:txBody>
                  <a:tcPr anchor="ctr">
                    <a:solidFill>
                      <a:srgbClr val="1B2A4A"/>
                    </a:solidFill>
                  </a:tcPr>
                </a:tc>
                <a:tc>
                  <a:txBody>
                    <a:bodyPr/>
                    <a:lstStyle/>
                    <a:p>
                      <a:pPr algn="ctr">
                        <a:defRPr sz="1200" b="1">
                          <a:solidFill>
                            <a:srgbClr val="FFFFFF"/>
                          </a:solidFill>
                        </a:defRPr>
                      </a:pPr>
                      <a:r>
                        <a:t>Example</a:t>
                      </a:r>
                    </a:p>
                  </a:txBody>
                  <a:tcPr anchor="ctr">
                    <a:solidFill>
                      <a:srgbClr val="1B2A4A"/>
                    </a:solidFill>
                  </a:tcPr>
                </a:tc>
              </a:tr>
              <a:tr h="393192">
                <a:tc>
                  <a:txBody>
                    <a:bodyPr/>
                    <a:lstStyle/>
                    <a:p>
                      <a:pPr>
                        <a:defRPr sz="1100">
                          <a:solidFill>
                            <a:srgbClr val="2D3A4A"/>
                          </a:solidFill>
                        </a:defRPr>
                      </a:pPr>
                      <a:r>
                        <a:t>D - Desire</a:t>
                      </a:r>
                    </a:p>
                  </a:txBody>
                  <a:tcPr anchor="ctr">
                    <a:solidFill>
                      <a:srgbClr val="EBF5FF"/>
                    </a:solidFill>
                  </a:tcPr>
                </a:tc>
                <a:tc>
                  <a:txBody>
                    <a:bodyPr/>
                    <a:lstStyle/>
                    <a:p>
                      <a:pPr>
                        <a:defRPr sz="1100">
                          <a:solidFill>
                            <a:srgbClr val="2D3A4A"/>
                          </a:solidFill>
                        </a:defRPr>
                      </a:pPr>
                      <a:r>
                        <a:t>Preparatory</a:t>
                      </a:r>
                    </a:p>
                  </a:txBody>
                  <a:tcPr anchor="ctr">
                    <a:solidFill>
                      <a:srgbClr val="EBF5FF"/>
                    </a:solidFill>
                  </a:tcPr>
                </a:tc>
                <a:tc>
                  <a:txBody>
                    <a:bodyPr/>
                    <a:lstStyle/>
                    <a:p>
                      <a:pPr>
                        <a:defRPr sz="1100">
                          <a:solidFill>
                            <a:srgbClr val="2D3A4A"/>
                          </a:solidFill>
                        </a:defRPr>
                      </a:pPr>
                      <a:r>
                        <a:t>'I want...' 'I wish...'</a:t>
                      </a:r>
                    </a:p>
                  </a:txBody>
                  <a:tcPr anchor="ctr">
                    <a:solidFill>
                      <a:srgbClr val="EBF5FF"/>
                    </a:solidFill>
                  </a:tcPr>
                </a:tc>
                <a:tc>
                  <a:txBody>
                    <a:bodyPr/>
                    <a:lstStyle/>
                    <a:p>
                      <a:pPr>
                        <a:defRPr sz="1100">
                          <a:solidFill>
                            <a:srgbClr val="2D3A4A"/>
                          </a:solidFill>
                        </a:defRPr>
                      </a:pPr>
                      <a:r>
                        <a:t>'I wish I could quit'</a:t>
                      </a:r>
                    </a:p>
                  </a:txBody>
                  <a:tcPr anchor="ctr">
                    <a:solidFill>
                      <a:srgbClr val="EBF5FF"/>
                    </a:solidFill>
                  </a:tcPr>
                </a:tc>
              </a:tr>
              <a:tr h="393192">
                <a:tc>
                  <a:txBody>
                    <a:bodyPr/>
                    <a:lstStyle/>
                    <a:p>
                      <a:pPr>
                        <a:defRPr sz="1100">
                          <a:solidFill>
                            <a:srgbClr val="2D3A4A"/>
                          </a:solidFill>
                        </a:defRPr>
                      </a:pPr>
                      <a:r>
                        <a:t>A - Ability</a:t>
                      </a:r>
                    </a:p>
                  </a:txBody>
                  <a:tcPr anchor="ctr">
                    <a:solidFill>
                      <a:srgbClr val="FFFFFF"/>
                    </a:solidFill>
                  </a:tcPr>
                </a:tc>
                <a:tc>
                  <a:txBody>
                    <a:bodyPr/>
                    <a:lstStyle/>
                    <a:p>
                      <a:pPr>
                        <a:defRPr sz="1100">
                          <a:solidFill>
                            <a:srgbClr val="2D3A4A"/>
                          </a:solidFill>
                        </a:defRPr>
                      </a:pPr>
                      <a:r>
                        <a:t>Preparatory</a:t>
                      </a:r>
                    </a:p>
                  </a:txBody>
                  <a:tcPr anchor="ctr">
                    <a:solidFill>
                      <a:srgbClr val="FFFFFF"/>
                    </a:solidFill>
                  </a:tcPr>
                </a:tc>
                <a:tc>
                  <a:txBody>
                    <a:bodyPr/>
                    <a:lstStyle/>
                    <a:p>
                      <a:pPr>
                        <a:defRPr sz="1100">
                          <a:solidFill>
                            <a:srgbClr val="2D3A4A"/>
                          </a:solidFill>
                        </a:defRPr>
                      </a:pPr>
                      <a:r>
                        <a:t>'I can...' 'I could...'</a:t>
                      </a:r>
                    </a:p>
                  </a:txBody>
                  <a:tcPr anchor="ctr">
                    <a:solidFill>
                      <a:srgbClr val="FFFFFF"/>
                    </a:solidFill>
                  </a:tcPr>
                </a:tc>
                <a:tc>
                  <a:txBody>
                    <a:bodyPr/>
                    <a:lstStyle/>
                    <a:p>
                      <a:pPr>
                        <a:defRPr sz="1100">
                          <a:solidFill>
                            <a:srgbClr val="2D3A4A"/>
                          </a:solidFill>
                        </a:defRPr>
                      </a:pPr>
                      <a:r>
                        <a:t>'I could cut back if I tried'</a:t>
                      </a:r>
                    </a:p>
                  </a:txBody>
                  <a:tcPr anchor="ctr">
                    <a:solidFill>
                      <a:srgbClr val="FFFFFF"/>
                    </a:solidFill>
                  </a:tcPr>
                </a:tc>
              </a:tr>
              <a:tr h="393192">
                <a:tc>
                  <a:txBody>
                    <a:bodyPr/>
                    <a:lstStyle/>
                    <a:p>
                      <a:pPr>
                        <a:defRPr sz="1100">
                          <a:solidFill>
                            <a:srgbClr val="2D3A4A"/>
                          </a:solidFill>
                        </a:defRPr>
                      </a:pPr>
                      <a:r>
                        <a:t>R - Reasons</a:t>
                      </a:r>
                    </a:p>
                  </a:txBody>
                  <a:tcPr anchor="ctr">
                    <a:solidFill>
                      <a:srgbClr val="EBF5FF"/>
                    </a:solidFill>
                  </a:tcPr>
                </a:tc>
                <a:tc>
                  <a:txBody>
                    <a:bodyPr/>
                    <a:lstStyle/>
                    <a:p>
                      <a:pPr>
                        <a:defRPr sz="1100">
                          <a:solidFill>
                            <a:srgbClr val="2D3A4A"/>
                          </a:solidFill>
                        </a:defRPr>
                      </a:pPr>
                      <a:r>
                        <a:t>Preparatory</a:t>
                      </a:r>
                    </a:p>
                  </a:txBody>
                  <a:tcPr anchor="ctr">
                    <a:solidFill>
                      <a:srgbClr val="EBF5FF"/>
                    </a:solidFill>
                  </a:tcPr>
                </a:tc>
                <a:tc>
                  <a:txBody>
                    <a:bodyPr/>
                    <a:lstStyle/>
                    <a:p>
                      <a:pPr>
                        <a:defRPr sz="1100">
                          <a:solidFill>
                            <a:srgbClr val="2D3A4A"/>
                          </a:solidFill>
                        </a:defRPr>
                      </a:pPr>
                      <a:r>
                        <a:t>'Because...' 'It would...'</a:t>
                      </a:r>
                    </a:p>
                  </a:txBody>
                  <a:tcPr anchor="ctr">
                    <a:solidFill>
                      <a:srgbClr val="EBF5FF"/>
                    </a:solidFill>
                  </a:tcPr>
                </a:tc>
                <a:tc>
                  <a:txBody>
                    <a:bodyPr/>
                    <a:lstStyle/>
                    <a:p>
                      <a:pPr>
                        <a:defRPr sz="1100">
                          <a:solidFill>
                            <a:srgbClr val="2D3A4A"/>
                          </a:solidFill>
                        </a:defRPr>
                      </a:pPr>
                      <a:r>
                        <a:t>'My health would improve'</a:t>
                      </a:r>
                    </a:p>
                  </a:txBody>
                  <a:tcPr anchor="ctr">
                    <a:solidFill>
                      <a:srgbClr val="EBF5FF"/>
                    </a:solidFill>
                  </a:tcPr>
                </a:tc>
              </a:tr>
              <a:tr h="393192">
                <a:tc>
                  <a:txBody>
                    <a:bodyPr/>
                    <a:lstStyle/>
                    <a:p>
                      <a:pPr>
                        <a:defRPr sz="1100">
                          <a:solidFill>
                            <a:srgbClr val="2D3A4A"/>
                          </a:solidFill>
                        </a:defRPr>
                      </a:pPr>
                      <a:r>
                        <a:t>N - Need</a:t>
                      </a:r>
                    </a:p>
                  </a:txBody>
                  <a:tcPr anchor="ctr">
                    <a:solidFill>
                      <a:srgbClr val="FFFFFF"/>
                    </a:solidFill>
                  </a:tcPr>
                </a:tc>
                <a:tc>
                  <a:txBody>
                    <a:bodyPr/>
                    <a:lstStyle/>
                    <a:p>
                      <a:pPr>
                        <a:defRPr sz="1100">
                          <a:solidFill>
                            <a:srgbClr val="2D3A4A"/>
                          </a:solidFill>
                        </a:defRPr>
                      </a:pPr>
                      <a:r>
                        <a:t>Preparatory</a:t>
                      </a:r>
                    </a:p>
                  </a:txBody>
                  <a:tcPr anchor="ctr">
                    <a:solidFill>
                      <a:srgbClr val="FFFFFF"/>
                    </a:solidFill>
                  </a:tcPr>
                </a:tc>
                <a:tc>
                  <a:txBody>
                    <a:bodyPr/>
                    <a:lstStyle/>
                    <a:p>
                      <a:pPr>
                        <a:defRPr sz="1100">
                          <a:solidFill>
                            <a:srgbClr val="2D3A4A"/>
                          </a:solidFill>
                        </a:defRPr>
                      </a:pPr>
                      <a:r>
                        <a:t>'I need to...' 'I must...'</a:t>
                      </a:r>
                    </a:p>
                  </a:txBody>
                  <a:tcPr anchor="ctr">
                    <a:solidFill>
                      <a:srgbClr val="FFFFFF"/>
                    </a:solidFill>
                  </a:tcPr>
                </a:tc>
                <a:tc>
                  <a:txBody>
                    <a:bodyPr/>
                    <a:lstStyle/>
                    <a:p>
                      <a:pPr>
                        <a:defRPr sz="1100">
                          <a:solidFill>
                            <a:srgbClr val="2D3A4A"/>
                          </a:solidFill>
                        </a:defRPr>
                      </a:pPr>
                      <a:r>
                        <a:t>'I have to change for my kids'</a:t>
                      </a:r>
                    </a:p>
                  </a:txBody>
                  <a:tcPr anchor="ctr">
                    <a:solidFill>
                      <a:srgbClr val="FFFFFF"/>
                    </a:solidFill>
                  </a:tcPr>
                </a:tc>
              </a:tr>
              <a:tr h="393192">
                <a:tc>
                  <a:txBody>
                    <a:bodyPr/>
                    <a:lstStyle/>
                    <a:p>
                      <a:pPr>
                        <a:defRPr sz="1100">
                          <a:solidFill>
                            <a:srgbClr val="2D3A4A"/>
                          </a:solidFill>
                        </a:defRPr>
                      </a:pPr>
                      <a:r>
                        <a:t>C - Commitment</a:t>
                      </a:r>
                    </a:p>
                  </a:txBody>
                  <a:tcPr anchor="ctr">
                    <a:solidFill>
                      <a:srgbClr val="EBF5FF"/>
                    </a:solidFill>
                  </a:tcPr>
                </a:tc>
                <a:tc>
                  <a:txBody>
                    <a:bodyPr/>
                    <a:lstStyle/>
                    <a:p>
                      <a:pPr>
                        <a:defRPr sz="1100">
                          <a:solidFill>
                            <a:srgbClr val="2D3A4A"/>
                          </a:solidFill>
                        </a:defRPr>
                      </a:pPr>
                      <a:r>
                        <a:t>Mobilizing</a:t>
                      </a:r>
                    </a:p>
                  </a:txBody>
                  <a:tcPr anchor="ctr">
                    <a:solidFill>
                      <a:srgbClr val="EBF5FF"/>
                    </a:solidFill>
                  </a:tcPr>
                </a:tc>
                <a:tc>
                  <a:txBody>
                    <a:bodyPr/>
                    <a:lstStyle/>
                    <a:p>
                      <a:pPr>
                        <a:defRPr sz="1100">
                          <a:solidFill>
                            <a:srgbClr val="2D3A4A"/>
                          </a:solidFill>
                        </a:defRPr>
                      </a:pPr>
                      <a:r>
                        <a:t>'I will...' 'I'm going to...'</a:t>
                      </a:r>
                    </a:p>
                  </a:txBody>
                  <a:tcPr anchor="ctr">
                    <a:solidFill>
                      <a:srgbClr val="EBF5FF"/>
                    </a:solidFill>
                  </a:tcPr>
                </a:tc>
                <a:tc>
                  <a:txBody>
                    <a:bodyPr/>
                    <a:lstStyle/>
                    <a:p>
                      <a:pPr>
                        <a:defRPr sz="1100">
                          <a:solidFill>
                            <a:srgbClr val="2D3A4A"/>
                          </a:solidFill>
                        </a:defRPr>
                      </a:pPr>
                      <a:r>
                        <a:t>'I will stop this week'</a:t>
                      </a:r>
                    </a:p>
                  </a:txBody>
                  <a:tcPr anchor="ctr">
                    <a:solidFill>
                      <a:srgbClr val="EBF5FF"/>
                    </a:solidFill>
                  </a:tcPr>
                </a:tc>
              </a:tr>
              <a:tr h="393192">
                <a:tc>
                  <a:txBody>
                    <a:bodyPr/>
                    <a:lstStyle/>
                    <a:p>
                      <a:pPr>
                        <a:defRPr sz="1100">
                          <a:solidFill>
                            <a:srgbClr val="2D3A4A"/>
                          </a:solidFill>
                        </a:defRPr>
                      </a:pPr>
                      <a:r>
                        <a:t>A - Activation</a:t>
                      </a:r>
                    </a:p>
                  </a:txBody>
                  <a:tcPr anchor="ctr">
                    <a:solidFill>
                      <a:srgbClr val="FFFFFF"/>
                    </a:solidFill>
                  </a:tcPr>
                </a:tc>
                <a:tc>
                  <a:txBody>
                    <a:bodyPr/>
                    <a:lstStyle/>
                    <a:p>
                      <a:pPr>
                        <a:defRPr sz="1100">
                          <a:solidFill>
                            <a:srgbClr val="2D3A4A"/>
                          </a:solidFill>
                        </a:defRPr>
                      </a:pPr>
                      <a:r>
                        <a:t>Mobilizing</a:t>
                      </a:r>
                    </a:p>
                  </a:txBody>
                  <a:tcPr anchor="ctr">
                    <a:solidFill>
                      <a:srgbClr val="FFFFFF"/>
                    </a:solidFill>
                  </a:tcPr>
                </a:tc>
                <a:tc>
                  <a:txBody>
                    <a:bodyPr/>
                    <a:lstStyle/>
                    <a:p>
                      <a:pPr>
                        <a:defRPr sz="1100">
                          <a:solidFill>
                            <a:srgbClr val="2D3A4A"/>
                          </a:solidFill>
                        </a:defRPr>
                      </a:pPr>
                      <a:r>
                        <a:t>'I'm ready...' 'I'm willing...'</a:t>
                      </a:r>
                    </a:p>
                  </a:txBody>
                  <a:tcPr anchor="ctr">
                    <a:solidFill>
                      <a:srgbClr val="FFFFFF"/>
                    </a:solidFill>
                  </a:tcPr>
                </a:tc>
                <a:tc>
                  <a:txBody>
                    <a:bodyPr/>
                    <a:lstStyle/>
                    <a:p>
                      <a:pPr>
                        <a:defRPr sz="1100">
                          <a:solidFill>
                            <a:srgbClr val="2D3A4A"/>
                          </a:solidFill>
                        </a:defRPr>
                      </a:pPr>
                      <a:r>
                        <a:t>'I'm prepared to try'</a:t>
                      </a:r>
                    </a:p>
                  </a:txBody>
                  <a:tcPr anchor="ctr">
                    <a:solidFill>
                      <a:srgbClr val="FFFFFF"/>
                    </a:solidFill>
                  </a:tcPr>
                </a:tc>
              </a:tr>
              <a:tr h="393192">
                <a:tc>
                  <a:txBody>
                    <a:bodyPr/>
                    <a:lstStyle/>
                    <a:p>
                      <a:pPr>
                        <a:defRPr sz="1100">
                          <a:solidFill>
                            <a:srgbClr val="2D3A4A"/>
                          </a:solidFill>
                        </a:defRPr>
                      </a:pPr>
                      <a:r>
                        <a:t>T - Taking Steps</a:t>
                      </a:r>
                    </a:p>
                  </a:txBody>
                  <a:tcPr anchor="ctr">
                    <a:solidFill>
                      <a:srgbClr val="EBF5FF"/>
                    </a:solidFill>
                  </a:tcPr>
                </a:tc>
                <a:tc>
                  <a:txBody>
                    <a:bodyPr/>
                    <a:lstStyle/>
                    <a:p>
                      <a:pPr>
                        <a:defRPr sz="1100">
                          <a:solidFill>
                            <a:srgbClr val="2D3A4A"/>
                          </a:solidFill>
                        </a:defRPr>
                      </a:pPr>
                      <a:r>
                        <a:t>Mobilizing</a:t>
                      </a:r>
                    </a:p>
                  </a:txBody>
                  <a:tcPr anchor="ctr">
                    <a:solidFill>
                      <a:srgbClr val="EBF5FF"/>
                    </a:solidFill>
                  </a:tcPr>
                </a:tc>
                <a:tc>
                  <a:txBody>
                    <a:bodyPr/>
                    <a:lstStyle/>
                    <a:p>
                      <a:pPr>
                        <a:defRPr sz="1100">
                          <a:solidFill>
                            <a:srgbClr val="2D3A4A"/>
                          </a:solidFill>
                        </a:defRPr>
                      </a:pPr>
                      <a:r>
                        <a:t>'I actually did...'</a:t>
                      </a:r>
                    </a:p>
                  </a:txBody>
                  <a:tcPr anchor="ctr">
                    <a:solidFill>
                      <a:srgbClr val="EBF5FF"/>
                    </a:solidFill>
                  </a:tcPr>
                </a:tc>
                <a:tc>
                  <a:txBody>
                    <a:bodyPr/>
                    <a:lstStyle/>
                    <a:p>
                      <a:pPr>
                        <a:defRPr sz="1100">
                          <a:solidFill>
                            <a:srgbClr val="2D3A4A"/>
                          </a:solidFill>
                        </a:defRPr>
                      </a:pPr>
                      <a:r>
                        <a:t>'I skipped drinking last night'</a:t>
                      </a:r>
                    </a:p>
                  </a:txBody>
                  <a:tcPr anchor="ctr">
                    <a:solidFill>
                      <a:srgbClr val="EBF5FF"/>
                    </a:solidFill>
                  </a:tcPr>
                </a:tc>
              </a:tr>
            </a:tbl>
          </a:graphicData>
        </a:graphic>
      </p:graphicFrame>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Commitment talk (C in CAT) is the strongest predictor of actual behavior change — listen for it.</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&amp; Rollnick (2013). MI, 3rd ed. | Amrhein et al. (2003). JCCP, 71, 862-878.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Evoking Change Talk: Strategies from the MET Manual</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Nine Strategies to Evoke Change Talk:</a:t>
            </a:r>
          </a:p>
          <a:p>
            <a:pPr lvl="1">
              <a:spcAft>
                <a:spcPts val="400"/>
              </a:spcAft>
              <a:defRPr sz="1300">
                <a:solidFill>
                  <a:srgbClr val="2D3A4A"/>
                </a:solidFill>
              </a:defRPr>
            </a:pPr>
            <a:r>
              <a:t>1. Ask evocative questions: 'What concerns you about your drinking?'</a:t>
            </a:r>
          </a:p>
          <a:p>
            <a:pPr lvl="1">
              <a:spcAft>
                <a:spcPts val="400"/>
              </a:spcAft>
              <a:defRPr sz="1300">
                <a:solidFill>
                  <a:srgbClr val="2D3A4A"/>
                </a:solidFill>
              </a:defRPr>
            </a:pPr>
            <a:r>
              <a:t>2. Ask for elaboration: 'Tell me more about that'</a:t>
            </a:r>
          </a:p>
          <a:p>
            <a:pPr lvl="1">
              <a:spcAft>
                <a:spcPts val="400"/>
              </a:spcAft>
              <a:defRPr sz="1300">
                <a:solidFill>
                  <a:srgbClr val="2D3A4A"/>
                </a:solidFill>
              </a:defRPr>
            </a:pPr>
            <a:r>
              <a:t>3. Ask for extremes: 'What's the WORST that could happen?'</a:t>
            </a:r>
          </a:p>
          <a:p>
            <a:pPr lvl="1">
              <a:spcAft>
                <a:spcPts val="400"/>
              </a:spcAft>
              <a:defRPr sz="1300">
                <a:solidFill>
                  <a:srgbClr val="2D3A4A"/>
                </a:solidFill>
              </a:defRPr>
            </a:pPr>
            <a:r>
              <a:t>4. Looking back: 'What was life like before heavy drinking?'</a:t>
            </a:r>
          </a:p>
          <a:p>
            <a:pPr lvl="1">
              <a:spcAft>
                <a:spcPts val="400"/>
              </a:spcAft>
              <a:defRPr sz="1300">
                <a:solidFill>
                  <a:srgbClr val="2D3A4A"/>
                </a:solidFill>
              </a:defRPr>
            </a:pPr>
            <a:r>
              <a:t>5. Looking forward: 'Where do you see yourself in 5 years if nothing changes?'</a:t>
            </a:r>
          </a:p>
          <a:p>
            <a:pPr lvl="1">
              <a:spcAft>
                <a:spcPts val="400"/>
              </a:spcAft>
              <a:defRPr sz="1300">
                <a:solidFill>
                  <a:srgbClr val="2D3A4A"/>
                </a:solidFill>
              </a:defRPr>
            </a:pPr>
            <a:r>
              <a:t>6. Querying extremes: 'What are your worst fears?'</a:t>
            </a:r>
          </a:p>
          <a:p>
            <a:pPr lvl="1">
              <a:spcAft>
                <a:spcPts val="400"/>
              </a:spcAft>
              <a:defRPr sz="1300">
                <a:solidFill>
                  <a:srgbClr val="2D3A4A"/>
                </a:solidFill>
              </a:defRPr>
            </a:pPr>
            <a:r>
              <a:t>7. Importance ruler: 'On 0-10, how important is change? Why X and not zero?'</a:t>
            </a:r>
          </a:p>
          <a:p>
            <a:pPr lvl="1">
              <a:spcAft>
                <a:spcPts val="400"/>
              </a:spcAft>
              <a:defRPr sz="1300">
                <a:solidFill>
                  <a:srgbClr val="2D3A4A"/>
                </a:solidFill>
              </a:defRPr>
            </a:pPr>
            <a:r>
              <a:t>8. Exploring values: 'What matters most to you?'</a:t>
            </a:r>
          </a:p>
          <a:p>
            <a:pPr lvl="1">
              <a:spcAft>
                <a:spcPts val="400"/>
              </a:spcAft>
              <a:defRPr sz="1300">
                <a:solidFill>
                  <a:srgbClr val="2D3A4A"/>
                </a:solidFill>
              </a:defRPr>
            </a:pPr>
            <a:r>
              <a:t>9. Gentle paradox: 'I'm not sure you're motivated enough...'</a:t>
            </a:r>
          </a:p>
          <a:p>
            <a:pPr>
              <a:spcAft>
                <a:spcPts val="400"/>
              </a:spcAft>
              <a:defRPr sz="1500">
                <a:solidFill>
                  <a:srgbClr val="2D3A4A"/>
                </a:solidFill>
              </a:defRPr>
            </a:pPr>
          </a:p>
          <a:p>
            <a:pPr>
              <a:spcAft>
                <a:spcPts val="400"/>
              </a:spcAft>
              <a:defRPr sz="1500" b="1">
                <a:solidFill>
                  <a:srgbClr val="2C5F8A"/>
                </a:solidFill>
              </a:defRPr>
            </a:pPr>
            <a:r>
              <a:t>MET Manual (p. 15) — Gentle Paradox Example:</a:t>
            </a:r>
          </a:p>
          <a:p>
            <a:pPr lvl="1">
              <a:spcAft>
                <a:spcPts val="400"/>
              </a:spcAft>
              <a:defRPr sz="1300">
                <a:solidFill>
                  <a:srgbClr val="2D3A4A"/>
                </a:solidFill>
              </a:defRPr>
            </a:pPr>
            <a:r>
              <a:t>T: 'Frankly, I'm not sure from what you've told me that you're motivated</a:t>
            </a:r>
          </a:p>
          <a:p>
            <a:pPr lvl="1">
              <a:spcAft>
                <a:spcPts val="400"/>
              </a:spcAft>
              <a:defRPr sz="1300">
                <a:solidFill>
                  <a:srgbClr val="2D3A4A"/>
                </a:solidFill>
              </a:defRPr>
            </a:pPr>
            <a:r>
              <a:t>enough to carry through. Do you think we should go ahead?'</a:t>
            </a:r>
          </a:p>
          <a:p>
            <a:pPr lvl="1">
              <a:spcAft>
                <a:spcPts val="400"/>
              </a:spcAft>
              <a:defRPr sz="1300">
                <a:solidFill>
                  <a:srgbClr val="2D3A4A"/>
                </a:solidFill>
              </a:defRPr>
            </a:pPr>
            <a:r>
              <a:t>[Often evokes client arguing FOR their own motivation!]</a:t>
            </a:r>
          </a:p>
          <a:p>
            <a:pPr>
              <a:spcAft>
                <a:spcPts val="400"/>
              </a:spcAft>
              <a:defRPr sz="1500">
                <a:solidFill>
                  <a:srgbClr val="2D3A4A"/>
                </a:solidFill>
              </a:defRPr>
            </a:pPr>
          </a:p>
          <a:p>
            <a:pPr>
              <a:spcAft>
                <a:spcPts val="400"/>
              </a:spcAft>
              <a:defRPr sz="1500">
                <a:solidFill>
                  <a:srgbClr val="2D3A4A"/>
                </a:solidFill>
              </a:defRPr>
            </a:pPr>
            <a:r>
              <a:t>AFTER evoking: Reflect it, affirm it, ask for more. NEVER ignore change talk.</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Always ask 'Why are you at X and not ZERO?' — this ALWAYS evokes change talk from any client.</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et al. (1995). MET Manual, pp. 13-16. | Miller &amp; Rollnick (2013). MI, 3rd 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Change Talk vs. Sustain Talk</a:t>
            </a:r>
          </a:p>
        </p:txBody>
      </p:sp>
      <p:sp>
        <p:nvSpPr>
          <p:cNvPr id="5" name="Rounded Rectangle 4"/>
          <p:cNvSpPr/>
          <p:nvPr/>
        </p:nvSpPr>
        <p:spPr>
          <a:xfrm>
            <a:off x="457200" y="1280160"/>
            <a:ext cx="5303520" cy="457200"/>
          </a:xfrm>
          <a:prstGeom prst="roundRect">
            <a:avLst/>
          </a:prstGeom>
          <a:solidFill>
            <a:srgbClr val="2C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CHANGE TALK (Reinforce it!)</a:t>
            </a:r>
          </a:p>
        </p:txBody>
      </p:sp>
      <p:sp>
        <p:nvSpPr>
          <p:cNvPr id="6" name="TextBox 5"/>
          <p:cNvSpPr txBox="1"/>
          <p:nvPr/>
        </p:nvSpPr>
        <p:spPr>
          <a:xfrm>
            <a:off x="548640" y="1828800"/>
            <a:ext cx="5120640" cy="3657600"/>
          </a:xfrm>
          <a:prstGeom prst="rect">
            <a:avLst/>
          </a:prstGeom>
          <a:noFill/>
        </p:spPr>
        <p:txBody>
          <a:bodyPr wrap="square">
            <a:spAutoFit/>
          </a:bodyPr>
          <a:lstStyle/>
          <a:p>
            <a:pPr>
              <a:spcAft>
                <a:spcPts val="400"/>
              </a:spcAft>
              <a:defRPr sz="1200">
                <a:solidFill>
                  <a:srgbClr val="2D3A4A"/>
                </a:solidFill>
              </a:defRPr>
            </a:pPr>
            <a:r>
              <a:t>• 'I know I need to cut down' (Need)</a:t>
            </a:r>
          </a:p>
          <a:p>
            <a:pPr>
              <a:spcAft>
                <a:spcPts val="400"/>
              </a:spcAft>
              <a:defRPr sz="1200">
                <a:solidFill>
                  <a:srgbClr val="2D3A4A"/>
                </a:solidFill>
              </a:defRPr>
            </a:pPr>
            <a:r>
              <a:t>• 'I wish I could drink normally' (Desire)</a:t>
            </a:r>
          </a:p>
          <a:p>
            <a:pPr>
              <a:spcAft>
                <a:spcPts val="400"/>
              </a:spcAft>
              <a:defRPr sz="1200">
                <a:solidFill>
                  <a:srgbClr val="2D3A4A"/>
                </a:solidFill>
              </a:defRPr>
            </a:pPr>
            <a:r>
              <a:t>• 'My wife will leave if I don't' (Reasons)</a:t>
            </a:r>
          </a:p>
          <a:p>
            <a:pPr>
              <a:spcAft>
                <a:spcPts val="400"/>
              </a:spcAft>
              <a:defRPr sz="1200">
                <a:solidFill>
                  <a:srgbClr val="2D3A4A"/>
                </a:solidFill>
              </a:defRPr>
            </a:pPr>
            <a:r>
              <a:t>• 'I could probably manage' (Ability)</a:t>
            </a:r>
          </a:p>
          <a:p>
            <a:pPr>
              <a:spcAft>
                <a:spcPts val="400"/>
              </a:spcAft>
              <a:defRPr sz="1200">
                <a:solidFill>
                  <a:srgbClr val="2D3A4A"/>
                </a:solidFill>
              </a:defRPr>
            </a:pPr>
            <a:r>
              <a:t>• 'I'm going to try' (Commitment)</a:t>
            </a:r>
          </a:p>
          <a:p>
            <a:pPr>
              <a:spcAft>
                <a:spcPts val="400"/>
              </a:spcAft>
              <a:defRPr sz="1200">
                <a:solidFill>
                  <a:srgbClr val="2D3A4A"/>
                </a:solidFill>
              </a:defRPr>
            </a:pPr>
            <a:r>
              <a:t>• 'I skipped drinking yesterday' (Taking Steps)</a:t>
            </a:r>
          </a:p>
          <a:p>
            <a:pPr>
              <a:spcAft>
                <a:spcPts val="400"/>
              </a:spcAft>
              <a:defRPr sz="1200">
                <a:solidFill>
                  <a:srgbClr val="2D3A4A"/>
                </a:solidFill>
              </a:defRPr>
            </a:pPr>
            <a:r>
              <a:t>• </a:t>
            </a:r>
          </a:p>
          <a:p>
            <a:pPr>
              <a:spcAft>
                <a:spcPts val="400"/>
              </a:spcAft>
              <a:defRPr sz="1200">
                <a:solidFill>
                  <a:srgbClr val="2D3A4A"/>
                </a:solidFill>
              </a:defRPr>
            </a:pPr>
            <a:r>
              <a:t>• RESPONSE: Reflect warmly, elaborate, affirm</a:t>
            </a:r>
          </a:p>
        </p:txBody>
      </p:sp>
      <p:sp>
        <p:nvSpPr>
          <p:cNvPr id="7" name="Rounded Rectangle 6"/>
          <p:cNvSpPr/>
          <p:nvPr/>
        </p:nvSpPr>
        <p:spPr>
          <a:xfrm>
            <a:off x="6217920" y="1280160"/>
            <a:ext cx="5303520" cy="457200"/>
          </a:xfrm>
          <a:prstGeom prst="roundRect">
            <a:avLst/>
          </a:prstGeom>
          <a:solidFill>
            <a:srgbClr val="17A2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SUSTAIN TALK (Don't strengthen it!)</a:t>
            </a:r>
          </a:p>
        </p:txBody>
      </p:sp>
      <p:sp>
        <p:nvSpPr>
          <p:cNvPr id="8" name="TextBox 7"/>
          <p:cNvSpPr txBox="1"/>
          <p:nvPr/>
        </p:nvSpPr>
        <p:spPr>
          <a:xfrm>
            <a:off x="6309360" y="1828800"/>
            <a:ext cx="5120640" cy="3657600"/>
          </a:xfrm>
          <a:prstGeom prst="rect">
            <a:avLst/>
          </a:prstGeom>
          <a:noFill/>
        </p:spPr>
        <p:txBody>
          <a:bodyPr wrap="square">
            <a:spAutoFit/>
          </a:bodyPr>
          <a:lstStyle/>
          <a:p>
            <a:pPr>
              <a:spcAft>
                <a:spcPts val="400"/>
              </a:spcAft>
              <a:defRPr sz="1200">
                <a:solidFill>
                  <a:srgbClr val="2D3A4A"/>
                </a:solidFill>
              </a:defRPr>
            </a:pPr>
            <a:r>
              <a:t>• 'I don't think it's that bad' (Minimizing)</a:t>
            </a:r>
          </a:p>
          <a:p>
            <a:pPr>
              <a:spcAft>
                <a:spcPts val="400"/>
              </a:spcAft>
              <a:defRPr sz="1200">
                <a:solidFill>
                  <a:srgbClr val="2D3A4A"/>
                </a:solidFill>
              </a:defRPr>
            </a:pPr>
            <a:r>
              <a:t>• 'All my friends drink' (Normalizing)</a:t>
            </a:r>
          </a:p>
          <a:p>
            <a:pPr>
              <a:spcAft>
                <a:spcPts val="400"/>
              </a:spcAft>
              <a:defRPr sz="1200">
                <a:solidFill>
                  <a:srgbClr val="2D3A4A"/>
                </a:solidFill>
              </a:defRPr>
            </a:pPr>
            <a:r>
              <a:t>• 'I enjoy it too much to stop' (Desire to continue)</a:t>
            </a:r>
          </a:p>
          <a:p>
            <a:pPr>
              <a:spcAft>
                <a:spcPts val="400"/>
              </a:spcAft>
              <a:defRPr sz="1200">
                <a:solidFill>
                  <a:srgbClr val="2D3A4A"/>
                </a:solidFill>
              </a:defRPr>
            </a:pPr>
            <a:r>
              <a:t>• 'I've tried before, it never works' (Low ability)</a:t>
            </a:r>
          </a:p>
          <a:p>
            <a:pPr>
              <a:spcAft>
                <a:spcPts val="400"/>
              </a:spcAft>
              <a:defRPr sz="1200">
                <a:solidFill>
                  <a:srgbClr val="2D3A4A"/>
                </a:solidFill>
              </a:defRPr>
            </a:pPr>
            <a:r>
              <a:t>• 'I don't need to change' (No need)</a:t>
            </a:r>
          </a:p>
          <a:p>
            <a:pPr>
              <a:spcAft>
                <a:spcPts val="400"/>
              </a:spcAft>
              <a:defRPr sz="1200">
                <a:solidFill>
                  <a:srgbClr val="2D3A4A"/>
                </a:solidFill>
              </a:defRPr>
            </a:pPr>
            <a:r>
              <a:t>• 'I'm not ready' (No activation)</a:t>
            </a:r>
          </a:p>
          <a:p>
            <a:pPr>
              <a:spcAft>
                <a:spcPts val="400"/>
              </a:spcAft>
              <a:defRPr sz="1200">
                <a:solidFill>
                  <a:srgbClr val="2D3A4A"/>
                </a:solidFill>
              </a:defRPr>
            </a:pPr>
            <a:r>
              <a:t>• </a:t>
            </a:r>
          </a:p>
          <a:p>
            <a:pPr>
              <a:spcAft>
                <a:spcPts val="400"/>
              </a:spcAft>
              <a:defRPr sz="1200">
                <a:solidFill>
                  <a:srgbClr val="2D3A4A"/>
                </a:solidFill>
              </a:defRPr>
            </a:pPr>
            <a:r>
              <a:t>• RESPONSE: Acknowledge briefly, don't dwell</a:t>
            </a:r>
          </a:p>
        </p:txBody>
      </p:sp>
      <p:sp>
        <p:nvSpPr>
          <p:cNvPr id="9" name="Rounded Rectangle 8"/>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High change talk + low sustain talk predicts success. Reflect change talk warmly; acknowledge sustain talk briefly.</a:t>
            </a:r>
          </a:p>
        </p:txBody>
      </p:sp>
      <p:sp>
        <p:nvSpPr>
          <p:cNvPr id="10" name="Rectangle 9"/>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Moyers et al. (2007). JCCP, 75, 790. | Magill et al. (2014). J Substance Abuse Treat, 46, 685.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0" y="1371600"/>
            <a:ext cx="2103120" cy="2103120"/>
          </a:xfrm>
          <a:prstGeom prst="ellipse">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800" b="1">
                <a:solidFill>
                  <a:srgbClr val="FFFFFF"/>
                </a:solidFill>
              </a:defRPr>
            </a:pPr>
            <a:r>
              <a:t>9</a:t>
            </a:r>
          </a:p>
        </p:txBody>
      </p:sp>
      <p:sp>
        <p:nvSpPr>
          <p:cNvPr id="4" name="TextBox 3"/>
          <p:cNvSpPr txBox="1"/>
          <p:nvPr/>
        </p:nvSpPr>
        <p:spPr>
          <a:xfrm>
            <a:off x="914400" y="3840480"/>
            <a:ext cx="10332720" cy="1371600"/>
          </a:xfrm>
          <a:prstGeom prst="rect">
            <a:avLst/>
          </a:prstGeom>
          <a:noFill/>
        </p:spPr>
        <p:txBody>
          <a:bodyPr wrap="square">
            <a:spAutoFit/>
          </a:bodyPr>
          <a:lstStyle/>
          <a:p>
            <a:pPr algn="ctr">
              <a:defRPr sz="3600" b="1">
                <a:solidFill>
                  <a:srgbClr val="FFFFFF"/>
                </a:solidFill>
              </a:defRPr>
            </a:pPr>
            <a:r>
              <a:t>Resistance, Discord &amp; Management</a:t>
            </a:r>
          </a:p>
        </p:txBody>
      </p:sp>
      <p:sp>
        <p:nvSpPr>
          <p:cNvPr id="5" name="Rectangle 4"/>
          <p:cNvSpPr/>
          <p:nvPr/>
        </p:nvSpPr>
        <p:spPr>
          <a:xfrm>
            <a:off x="3657600" y="5303520"/>
            <a:ext cx="4846320" cy="45720"/>
          </a:xfrm>
          <a:prstGeom prst="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Understanding Resistance (Discord) in MET</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a:solidFill>
                  <a:srgbClr val="2D3A4A"/>
                </a:solidFill>
              </a:defRPr>
            </a:pPr>
            <a:r>
              <a:t>KEY INSIGHT: Resistance is largely THERAPIST-CREATED</a:t>
            </a:r>
          </a:p>
          <a:p>
            <a:pPr>
              <a:spcAft>
                <a:spcPts val="400"/>
              </a:spcAft>
              <a:defRPr sz="1500">
                <a:solidFill>
                  <a:srgbClr val="2D3A4A"/>
                </a:solidFill>
              </a:defRPr>
            </a:pPr>
          </a:p>
          <a:p>
            <a:pPr>
              <a:spcAft>
                <a:spcPts val="400"/>
              </a:spcAft>
              <a:defRPr sz="1500" b="1">
                <a:solidFill>
                  <a:srgbClr val="2C5F8A"/>
                </a:solidFill>
              </a:defRPr>
            </a:pPr>
            <a:r>
              <a:t>Common Forms of Discord:</a:t>
            </a:r>
          </a:p>
          <a:p>
            <a:pPr lvl="1">
              <a:spcAft>
                <a:spcPts val="400"/>
              </a:spcAft>
              <a:defRPr sz="1300">
                <a:solidFill>
                  <a:srgbClr val="2D3A4A"/>
                </a:solidFill>
              </a:defRPr>
            </a:pPr>
            <a:r>
              <a:t>• Arguing: Challenging, being hostile, discounting</a:t>
            </a:r>
          </a:p>
          <a:p>
            <a:pPr lvl="1">
              <a:spcAft>
                <a:spcPts val="400"/>
              </a:spcAft>
              <a:defRPr sz="1300">
                <a:solidFill>
                  <a:srgbClr val="2D3A4A"/>
                </a:solidFill>
              </a:defRPr>
            </a:pPr>
            <a:r>
              <a:t>• Interrupting: Cutting off the therapist</a:t>
            </a:r>
          </a:p>
          <a:p>
            <a:pPr lvl="1">
              <a:spcAft>
                <a:spcPts val="400"/>
              </a:spcAft>
              <a:defRPr sz="1300">
                <a:solidFill>
                  <a:srgbClr val="2D3A4A"/>
                </a:solidFill>
              </a:defRPr>
            </a:pPr>
            <a:r>
              <a:t>• Denying: Blaming others, minimizing, making excuses</a:t>
            </a:r>
          </a:p>
          <a:p>
            <a:pPr lvl="1">
              <a:spcAft>
                <a:spcPts val="400"/>
              </a:spcAft>
              <a:defRPr sz="1300">
                <a:solidFill>
                  <a:srgbClr val="2D3A4A"/>
                </a:solidFill>
              </a:defRPr>
            </a:pPr>
            <a:r>
              <a:t>• Ignoring: Not paying attention, changing subject</a:t>
            </a:r>
          </a:p>
          <a:p>
            <a:pPr>
              <a:spcAft>
                <a:spcPts val="400"/>
              </a:spcAft>
              <a:defRPr sz="1500">
                <a:solidFill>
                  <a:srgbClr val="2D3A4A"/>
                </a:solidFill>
              </a:defRPr>
            </a:pPr>
          </a:p>
          <a:p>
            <a:pPr>
              <a:spcAft>
                <a:spcPts val="400"/>
              </a:spcAft>
              <a:defRPr sz="1500">
                <a:solidFill>
                  <a:srgbClr val="2D3A4A"/>
                </a:solidFill>
              </a:defRPr>
            </a:pPr>
            <a:r>
              <a:t>What Causes Discord?</a:t>
            </a:r>
          </a:p>
          <a:p>
            <a:pPr lvl="1">
              <a:spcAft>
                <a:spcPts val="400"/>
              </a:spcAft>
              <a:defRPr sz="1300">
                <a:solidFill>
                  <a:srgbClr val="2D3A4A"/>
                </a:solidFill>
              </a:defRPr>
            </a:pPr>
            <a:r>
              <a:t>• Therapist pushes too hard or moves too fast</a:t>
            </a:r>
          </a:p>
          <a:p>
            <a:pPr lvl="1">
              <a:spcAft>
                <a:spcPts val="400"/>
              </a:spcAft>
              <a:defRPr sz="1300">
                <a:solidFill>
                  <a:srgbClr val="2D3A4A"/>
                </a:solidFill>
              </a:defRPr>
            </a:pPr>
            <a:r>
              <a:t>• Unsolicited advice-giving or lecturing</a:t>
            </a:r>
          </a:p>
          <a:p>
            <a:pPr lvl="1">
              <a:spcAft>
                <a:spcPts val="400"/>
              </a:spcAft>
              <a:defRPr sz="1300">
                <a:solidFill>
                  <a:srgbClr val="2D3A4A"/>
                </a:solidFill>
              </a:defRPr>
            </a:pPr>
            <a:r>
              <a:t>• Labeling ('You're an alcoholic')</a:t>
            </a:r>
          </a:p>
          <a:p>
            <a:pPr lvl="1">
              <a:spcAft>
                <a:spcPts val="400"/>
              </a:spcAft>
              <a:defRPr sz="1300">
                <a:solidFill>
                  <a:srgbClr val="2D3A4A"/>
                </a:solidFill>
              </a:defRPr>
            </a:pPr>
            <a:r>
              <a:t>• Arguing for change (the 'righting reflex')</a:t>
            </a:r>
          </a:p>
          <a:p>
            <a:pPr lvl="1">
              <a:spcAft>
                <a:spcPts val="400"/>
              </a:spcAft>
              <a:defRPr sz="1300">
                <a:solidFill>
                  <a:srgbClr val="2D3A4A"/>
                </a:solidFill>
              </a:defRPr>
            </a:pPr>
            <a:r>
              <a:t>• Not matching the client's readiness stage</a:t>
            </a:r>
          </a:p>
          <a:p>
            <a:pPr>
              <a:spcAft>
                <a:spcPts val="400"/>
              </a:spcAft>
              <a:defRPr sz="1500">
                <a:solidFill>
                  <a:srgbClr val="2D3A4A"/>
                </a:solidFill>
              </a:defRPr>
            </a:pPr>
          </a:p>
          <a:p>
            <a:pPr>
              <a:spcAft>
                <a:spcPts val="400"/>
              </a:spcAft>
              <a:defRPr sz="1500" b="1">
                <a:solidFill>
                  <a:srgbClr val="2C5F8A"/>
                </a:solidFill>
              </a:defRPr>
            </a:pPr>
            <a:r>
              <a:t>Research Evidence:</a:t>
            </a:r>
          </a:p>
          <a:p>
            <a:pPr lvl="1">
              <a:spcAft>
                <a:spcPts val="400"/>
              </a:spcAft>
              <a:defRPr sz="1300">
                <a:solidFill>
                  <a:srgbClr val="2D3A4A"/>
                </a:solidFill>
              </a:defRPr>
            </a:pPr>
            <a:r>
              <a:t>• Miller et al. (1993): Therapist confrontation → client resistance → poor outcomes</a:t>
            </a:r>
          </a:p>
          <a:p>
            <a:pPr lvl="1">
              <a:spcAft>
                <a:spcPts val="400"/>
              </a:spcAft>
              <a:defRPr sz="1300">
                <a:solidFill>
                  <a:srgbClr val="2D3A4A"/>
                </a:solidFill>
              </a:defRPr>
            </a:pPr>
            <a:r>
              <a:t>• Patterson &amp; Forgatch (1985): Teaching/confronting directly increased resistance</a:t>
            </a:r>
          </a:p>
          <a:p>
            <a:pPr>
              <a:spcAft>
                <a:spcPts val="400"/>
              </a:spcAft>
              <a:defRPr sz="1500">
                <a:solidFill>
                  <a:srgbClr val="2D3A4A"/>
                </a:solidFill>
              </a:defRPr>
            </a:pPr>
          </a:p>
          <a:p>
            <a:pPr>
              <a:spcAft>
                <a:spcPts val="400"/>
              </a:spcAft>
              <a:defRPr sz="1500">
                <a:solidFill>
                  <a:srgbClr val="2D3A4A"/>
                </a:solidFill>
              </a:defRPr>
            </a:pPr>
            <a:r>
              <a:t>PRINCIPLE: When resistance appears, CHANGE YOUR APPROACH.</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Discord = signal to change YOUR approach. It's relational feedback, not client pathology.</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Patterson &amp; Forgatch (1985). JCCP, 53, 846. | Miller et al. (1993). JCCP, 61, 455. | Miller &amp; Rollnick (2013). MI, 3rd 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0" y="1371600"/>
            <a:ext cx="2103120" cy="2103120"/>
          </a:xfrm>
          <a:prstGeom prst="ellipse">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800" b="1">
                <a:solidFill>
                  <a:srgbClr val="FFFFFF"/>
                </a:solidFill>
              </a:defRPr>
            </a:pPr>
            <a:r>
              <a:t>11</a:t>
            </a:r>
          </a:p>
        </p:txBody>
      </p:sp>
      <p:sp>
        <p:nvSpPr>
          <p:cNvPr id="4" name="TextBox 3"/>
          <p:cNvSpPr txBox="1"/>
          <p:nvPr/>
        </p:nvSpPr>
        <p:spPr>
          <a:xfrm>
            <a:off x="914400" y="3840480"/>
            <a:ext cx="10332720" cy="1371600"/>
          </a:xfrm>
          <a:prstGeom prst="rect">
            <a:avLst/>
          </a:prstGeom>
          <a:noFill/>
        </p:spPr>
        <p:txBody>
          <a:bodyPr wrap="square">
            <a:spAutoFit/>
          </a:bodyPr>
          <a:lstStyle/>
          <a:p>
            <a:pPr algn="ctr">
              <a:defRPr sz="3600" b="1">
                <a:solidFill>
                  <a:srgbClr val="FFFFFF"/>
                </a:solidFill>
              </a:defRPr>
            </a:pPr>
            <a:r>
              <a:t>Assessment Before MET</a:t>
            </a:r>
          </a:p>
        </p:txBody>
      </p:sp>
      <p:sp>
        <p:nvSpPr>
          <p:cNvPr id="5" name="Rectangle 4"/>
          <p:cNvSpPr/>
          <p:nvPr/>
        </p:nvSpPr>
        <p:spPr>
          <a:xfrm>
            <a:off x="3657600" y="5303520"/>
            <a:ext cx="4846320" cy="45720"/>
          </a:xfrm>
          <a:prstGeom prst="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Pre-Treatment Assessment &amp; Readiness Rulers</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Assessment serves DUAL purpose in MET:</a:t>
            </a:r>
          </a:p>
          <a:p>
            <a:pPr lvl="1">
              <a:spcAft>
                <a:spcPts val="400"/>
              </a:spcAft>
              <a:defRPr sz="1300">
                <a:solidFill>
                  <a:srgbClr val="2D3A4A"/>
                </a:solidFill>
              </a:defRPr>
            </a:pPr>
            <a:r>
              <a:t>1. Clinical information for the therapist</a:t>
            </a:r>
          </a:p>
          <a:p>
            <a:pPr lvl="1">
              <a:spcAft>
                <a:spcPts val="400"/>
              </a:spcAft>
              <a:defRPr sz="1300">
                <a:solidFill>
                  <a:srgbClr val="2D3A4A"/>
                </a:solidFill>
              </a:defRPr>
            </a:pPr>
            <a:r>
              <a:t>2. FEEDBACK material for Session 1 (key intervention!)</a:t>
            </a:r>
          </a:p>
          <a:p>
            <a:pPr>
              <a:spcAft>
                <a:spcPts val="400"/>
              </a:spcAft>
              <a:defRPr sz="1500">
                <a:solidFill>
                  <a:srgbClr val="2D3A4A"/>
                </a:solidFill>
              </a:defRPr>
            </a:pPr>
          </a:p>
          <a:p>
            <a:pPr>
              <a:spcAft>
                <a:spcPts val="400"/>
              </a:spcAft>
              <a:defRPr sz="1500" b="1">
                <a:solidFill>
                  <a:srgbClr val="2C5F8A"/>
                </a:solidFill>
              </a:defRPr>
            </a:pPr>
            <a:r>
              <a:t>Assessment Battery Should Include:</a:t>
            </a:r>
          </a:p>
          <a:p>
            <a:pPr lvl="1">
              <a:spcAft>
                <a:spcPts val="400"/>
              </a:spcAft>
              <a:defRPr sz="1300">
                <a:solidFill>
                  <a:srgbClr val="2D3A4A"/>
                </a:solidFill>
              </a:defRPr>
            </a:pPr>
            <a:r>
              <a:t>• Substance use history (quantity, frequency, pattern, duration)</a:t>
            </a:r>
          </a:p>
          <a:p>
            <a:pPr lvl="1">
              <a:spcAft>
                <a:spcPts val="400"/>
              </a:spcAft>
              <a:defRPr sz="1300">
                <a:solidFill>
                  <a:srgbClr val="2D3A4A"/>
                </a:solidFill>
              </a:defRPr>
            </a:pPr>
            <a:r>
              <a:t>• Readiness/Importance/Confidence rulers (0-10 scales)</a:t>
            </a:r>
          </a:p>
          <a:p>
            <a:pPr lvl="1">
              <a:spcAft>
                <a:spcPts val="400"/>
              </a:spcAft>
              <a:defRPr sz="1300">
                <a:solidFill>
                  <a:srgbClr val="2D3A4A"/>
                </a:solidFill>
              </a:defRPr>
            </a:pPr>
            <a:r>
              <a:t>• Psychological assessment (mood, anxiety, personality)</a:t>
            </a:r>
          </a:p>
          <a:p>
            <a:pPr lvl="1">
              <a:spcAft>
                <a:spcPts val="400"/>
              </a:spcAft>
              <a:defRPr sz="1300">
                <a:solidFill>
                  <a:srgbClr val="2D3A4A"/>
                </a:solidFill>
              </a:defRPr>
            </a:pPr>
            <a:r>
              <a:t>• Physical health (liver function, health markers)</a:t>
            </a:r>
          </a:p>
          <a:p>
            <a:pPr lvl="1">
              <a:spcAft>
                <a:spcPts val="400"/>
              </a:spcAft>
              <a:defRPr sz="1300">
                <a:solidFill>
                  <a:srgbClr val="2D3A4A"/>
                </a:solidFill>
              </a:defRPr>
            </a:pPr>
            <a:r>
              <a:t>• Social/occupational functioning</a:t>
            </a:r>
          </a:p>
          <a:p>
            <a:pPr lvl="1">
              <a:spcAft>
                <a:spcPts val="400"/>
              </a:spcAft>
              <a:defRPr sz="1300">
                <a:solidFill>
                  <a:srgbClr val="2D3A4A"/>
                </a:solidFill>
              </a:defRPr>
            </a:pPr>
            <a:r>
              <a:t>• Risk assessment (suicide, violence)</a:t>
            </a:r>
          </a:p>
          <a:p>
            <a:pPr lvl="1">
              <a:spcAft>
                <a:spcPts val="400"/>
              </a:spcAft>
              <a:defRPr sz="1300">
                <a:solidFill>
                  <a:srgbClr val="2D3A4A"/>
                </a:solidFill>
              </a:defRPr>
            </a:pPr>
            <a:r>
              <a:t>• Neuropsychological screening (if indicated)</a:t>
            </a:r>
          </a:p>
          <a:p>
            <a:pPr>
              <a:spcAft>
                <a:spcPts val="400"/>
              </a:spcAft>
              <a:defRPr sz="1500">
                <a:solidFill>
                  <a:srgbClr val="2D3A4A"/>
                </a:solidFill>
              </a:defRPr>
            </a:pPr>
          </a:p>
          <a:p>
            <a:pPr>
              <a:spcAft>
                <a:spcPts val="400"/>
              </a:spcAft>
              <a:defRPr sz="1500" b="1">
                <a:solidFill>
                  <a:srgbClr val="2C5F8A"/>
                </a:solidFill>
              </a:defRPr>
            </a:pPr>
            <a:r>
              <a:t>READINESS RULER — Strategic Use:</a:t>
            </a:r>
          </a:p>
          <a:p>
            <a:pPr lvl="1">
              <a:spcAft>
                <a:spcPts val="400"/>
              </a:spcAft>
              <a:defRPr sz="1300">
                <a:solidFill>
                  <a:srgbClr val="2D3A4A"/>
                </a:solidFill>
              </a:defRPr>
            </a:pPr>
            <a:r>
              <a:t>T: 'On 0-10, how important is it to change your drinking?'  C: '6'</a:t>
            </a:r>
          </a:p>
          <a:p>
            <a:pPr lvl="1">
              <a:spcAft>
                <a:spcPts val="400"/>
              </a:spcAft>
              <a:defRPr sz="1300">
                <a:solidFill>
                  <a:srgbClr val="2D3A4A"/>
                </a:solidFill>
              </a:defRPr>
            </a:pPr>
            <a:r>
              <a:t>T: 'Why 6 and not 2?' [ALWAYS evokes change talk!]</a:t>
            </a:r>
          </a:p>
          <a:p>
            <a:pPr lvl="1">
              <a:spcAft>
                <a:spcPts val="400"/>
              </a:spcAft>
              <a:defRPr sz="1300">
                <a:solidFill>
                  <a:srgbClr val="2D3A4A"/>
                </a:solidFill>
              </a:defRPr>
            </a:pPr>
            <a:r>
              <a:t>T: 'What would move you from 6 to 8?'</a:t>
            </a:r>
          </a:p>
          <a:p>
            <a:pPr lvl="1">
              <a:spcAft>
                <a:spcPts val="400"/>
              </a:spcAft>
              <a:defRPr sz="1300">
                <a:solidFill>
                  <a:srgbClr val="2D3A4A"/>
                </a:solidFill>
              </a:defRPr>
            </a:pPr>
            <a:r>
              <a:t>NEVER ask: 'Why not 10?' [This evokes sustain talk]</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Always ask 'Why X and not lower?' — never 'Why not higher?' The former evokes change talk; the latter evokes sustain talk.</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et al. (1995). MET Manual, Appendix A. | Rollnick et al. (1999). Health Behavior Change. Churchill Livingstone.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0" y="1371600"/>
            <a:ext cx="2103120" cy="2103120"/>
          </a:xfrm>
          <a:prstGeom prst="ellipse">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800" b="1">
                <a:solidFill>
                  <a:srgbClr val="FFFFFF"/>
                </a:solidFill>
              </a:defRPr>
            </a:pPr>
            <a:r>
              <a:t>12</a:t>
            </a:r>
          </a:p>
        </p:txBody>
      </p:sp>
      <p:sp>
        <p:nvSpPr>
          <p:cNvPr id="4" name="TextBox 3"/>
          <p:cNvSpPr txBox="1"/>
          <p:nvPr/>
        </p:nvSpPr>
        <p:spPr>
          <a:xfrm>
            <a:off x="914400" y="3840480"/>
            <a:ext cx="10332720" cy="1371600"/>
          </a:xfrm>
          <a:prstGeom prst="rect">
            <a:avLst/>
          </a:prstGeom>
          <a:noFill/>
        </p:spPr>
        <p:txBody>
          <a:bodyPr wrap="square">
            <a:spAutoFit/>
          </a:bodyPr>
          <a:lstStyle/>
          <a:p>
            <a:pPr algn="ctr">
              <a:defRPr sz="3600" b="1">
                <a:solidFill>
                  <a:srgbClr val="FFFFFF"/>
                </a:solidFill>
              </a:defRPr>
            </a:pPr>
            <a:r>
              <a:t>Components of MET: FRAMES</a:t>
            </a:r>
          </a:p>
        </p:txBody>
      </p:sp>
      <p:sp>
        <p:nvSpPr>
          <p:cNvPr id="5" name="Rectangle 4"/>
          <p:cNvSpPr/>
          <p:nvPr/>
        </p:nvSpPr>
        <p:spPr>
          <a:xfrm>
            <a:off x="3657600" y="5303520"/>
            <a:ext cx="4846320" cy="45720"/>
          </a:xfrm>
          <a:prstGeom prst="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FRAMES: The Active Ingredients of Brief Interventions</a:t>
            </a:r>
          </a:p>
        </p:txBody>
      </p:sp>
      <p:graphicFrame>
        <p:nvGraphicFramePr>
          <p:cNvPr id="5" name="Table 4"/>
          <p:cNvGraphicFramePr>
            <a:graphicFrameLocks noGrp="1"/>
          </p:cNvGraphicFramePr>
          <p:nvPr/>
        </p:nvGraphicFramePr>
        <p:xfrm>
          <a:off x="457200" y="1371600"/>
          <a:ext cx="11247120" cy="2798064"/>
        </p:xfrm>
        <a:graphic>
          <a:graphicData uri="http://schemas.openxmlformats.org/drawingml/2006/table">
            <a:tbl>
              <a:tblPr firstRow="1" bandRow="1">
                <a:tableStyleId>{5C22544A-7EE6-4342-B048-85BDC9FD1C3A}</a:tableStyleId>
              </a:tblPr>
              <a:tblGrid>
                <a:gridCol w="2103120"/>
                <a:gridCol w="4114800"/>
                <a:gridCol w="5029200"/>
              </a:tblGrid>
              <a:tr h="399723">
                <a:tc>
                  <a:txBody>
                    <a:bodyPr/>
                    <a:lstStyle/>
                    <a:p>
                      <a:pPr algn="ctr">
                        <a:defRPr sz="1200" b="1">
                          <a:solidFill>
                            <a:srgbClr val="FFFFFF"/>
                          </a:solidFill>
                        </a:defRPr>
                      </a:pPr>
                      <a:r>
                        <a:t>Component</a:t>
                      </a:r>
                    </a:p>
                  </a:txBody>
                  <a:tcPr anchor="ctr">
                    <a:solidFill>
                      <a:srgbClr val="1B2A4A"/>
                    </a:solidFill>
                  </a:tcPr>
                </a:tc>
                <a:tc>
                  <a:txBody>
                    <a:bodyPr/>
                    <a:lstStyle/>
                    <a:p>
                      <a:pPr algn="ctr">
                        <a:defRPr sz="1200" b="1">
                          <a:solidFill>
                            <a:srgbClr val="FFFFFF"/>
                          </a:solidFill>
                        </a:defRPr>
                      </a:pPr>
                      <a:r>
                        <a:t>Description</a:t>
                      </a:r>
                    </a:p>
                  </a:txBody>
                  <a:tcPr anchor="ctr">
                    <a:solidFill>
                      <a:srgbClr val="1B2A4A"/>
                    </a:solidFill>
                  </a:tcPr>
                </a:tc>
                <a:tc>
                  <a:txBody>
                    <a:bodyPr/>
                    <a:lstStyle/>
                    <a:p>
                      <a:pPr algn="ctr">
                        <a:defRPr sz="1200" b="1">
                          <a:solidFill>
                            <a:srgbClr val="FFFFFF"/>
                          </a:solidFill>
                        </a:defRPr>
                      </a:pPr>
                      <a:r>
                        <a:t>Clinical Example</a:t>
                      </a:r>
                    </a:p>
                  </a:txBody>
                  <a:tcPr anchor="ctr">
                    <a:solidFill>
                      <a:srgbClr val="1B2A4A"/>
                    </a:solidFill>
                  </a:tcPr>
                </a:tc>
              </a:tr>
              <a:tr h="399723">
                <a:tc>
                  <a:txBody>
                    <a:bodyPr/>
                    <a:lstStyle/>
                    <a:p>
                      <a:pPr>
                        <a:defRPr sz="1100">
                          <a:solidFill>
                            <a:srgbClr val="2D3A4A"/>
                          </a:solidFill>
                        </a:defRPr>
                      </a:pPr>
                      <a:r>
                        <a:t>F - Feedback</a:t>
                      </a:r>
                    </a:p>
                  </a:txBody>
                  <a:tcPr anchor="ctr">
                    <a:solidFill>
                      <a:srgbClr val="EBF5FF"/>
                    </a:solidFill>
                  </a:tcPr>
                </a:tc>
                <a:tc>
                  <a:txBody>
                    <a:bodyPr/>
                    <a:lstStyle/>
                    <a:p>
                      <a:pPr>
                        <a:defRPr sz="1100">
                          <a:solidFill>
                            <a:srgbClr val="2D3A4A"/>
                          </a:solidFill>
                        </a:defRPr>
                      </a:pPr>
                      <a:r>
                        <a:t>Personalized assessment results vs. norms</a:t>
                      </a:r>
                    </a:p>
                  </a:txBody>
                  <a:tcPr anchor="ctr">
                    <a:solidFill>
                      <a:srgbClr val="EBF5FF"/>
                    </a:solidFill>
                  </a:tcPr>
                </a:tc>
                <a:tc>
                  <a:txBody>
                    <a:bodyPr/>
                    <a:lstStyle/>
                    <a:p>
                      <a:pPr>
                        <a:defRPr sz="1100">
                          <a:solidFill>
                            <a:srgbClr val="2D3A4A"/>
                          </a:solidFill>
                        </a:defRPr>
                      </a:pPr>
                      <a:r>
                        <a:t>'Your drinking is above 95% of population'</a:t>
                      </a:r>
                    </a:p>
                  </a:txBody>
                  <a:tcPr anchor="ctr">
                    <a:solidFill>
                      <a:srgbClr val="EBF5FF"/>
                    </a:solidFill>
                  </a:tcPr>
                </a:tc>
              </a:tr>
              <a:tr h="399723">
                <a:tc>
                  <a:txBody>
                    <a:bodyPr/>
                    <a:lstStyle/>
                    <a:p>
                      <a:pPr>
                        <a:defRPr sz="1100">
                          <a:solidFill>
                            <a:srgbClr val="2D3A4A"/>
                          </a:solidFill>
                        </a:defRPr>
                      </a:pPr>
                      <a:r>
                        <a:t>R - Responsibility</a:t>
                      </a:r>
                    </a:p>
                  </a:txBody>
                  <a:tcPr anchor="ctr">
                    <a:solidFill>
                      <a:srgbClr val="FFFFFF"/>
                    </a:solidFill>
                  </a:tcPr>
                </a:tc>
                <a:tc>
                  <a:txBody>
                    <a:bodyPr/>
                    <a:lstStyle/>
                    <a:p>
                      <a:pPr>
                        <a:defRPr sz="1100">
                          <a:solidFill>
                            <a:srgbClr val="2D3A4A"/>
                          </a:solidFill>
                        </a:defRPr>
                      </a:pPr>
                      <a:r>
                        <a:t>Emphasize personal choice &amp; autonomy</a:t>
                      </a:r>
                    </a:p>
                  </a:txBody>
                  <a:tcPr anchor="ctr">
                    <a:solidFill>
                      <a:srgbClr val="FFFFFF"/>
                    </a:solidFill>
                  </a:tcPr>
                </a:tc>
                <a:tc>
                  <a:txBody>
                    <a:bodyPr/>
                    <a:lstStyle/>
                    <a:p>
                      <a:pPr>
                        <a:defRPr sz="1100">
                          <a:solidFill>
                            <a:srgbClr val="2D3A4A"/>
                          </a:solidFill>
                        </a:defRPr>
                      </a:pPr>
                      <a:r>
                        <a:t>'Only YOU can decide to make this change'</a:t>
                      </a:r>
                    </a:p>
                  </a:txBody>
                  <a:tcPr anchor="ctr">
                    <a:solidFill>
                      <a:srgbClr val="FFFFFF"/>
                    </a:solidFill>
                  </a:tcPr>
                </a:tc>
              </a:tr>
              <a:tr h="399723">
                <a:tc>
                  <a:txBody>
                    <a:bodyPr/>
                    <a:lstStyle/>
                    <a:p>
                      <a:pPr>
                        <a:defRPr sz="1100">
                          <a:solidFill>
                            <a:srgbClr val="2D3A4A"/>
                          </a:solidFill>
                        </a:defRPr>
                      </a:pPr>
                      <a:r>
                        <a:t>A - Advice</a:t>
                      </a:r>
                    </a:p>
                  </a:txBody>
                  <a:tcPr anchor="ctr">
                    <a:solidFill>
                      <a:srgbClr val="EBF5FF"/>
                    </a:solidFill>
                  </a:tcPr>
                </a:tc>
                <a:tc>
                  <a:txBody>
                    <a:bodyPr/>
                    <a:lstStyle/>
                    <a:p>
                      <a:pPr>
                        <a:defRPr sz="1100">
                          <a:solidFill>
                            <a:srgbClr val="2D3A4A"/>
                          </a:solidFill>
                        </a:defRPr>
                      </a:pPr>
                      <a:r>
                        <a:t>Clear, brief advice (with permission)</a:t>
                      </a:r>
                    </a:p>
                  </a:txBody>
                  <a:tcPr anchor="ctr">
                    <a:solidFill>
                      <a:srgbClr val="EBF5FF"/>
                    </a:solidFill>
                  </a:tcPr>
                </a:tc>
                <a:tc>
                  <a:txBody>
                    <a:bodyPr/>
                    <a:lstStyle/>
                    <a:p>
                      <a:pPr>
                        <a:defRPr sz="1100">
                          <a:solidFill>
                            <a:srgbClr val="2D3A4A"/>
                          </a:solidFill>
                        </a:defRPr>
                      </a:pPr>
                      <a:r>
                        <a:t>'Based on results, I'd recommend reducing'</a:t>
                      </a:r>
                    </a:p>
                  </a:txBody>
                  <a:tcPr anchor="ctr">
                    <a:solidFill>
                      <a:srgbClr val="EBF5FF"/>
                    </a:solidFill>
                  </a:tcPr>
                </a:tc>
              </a:tr>
              <a:tr h="399723">
                <a:tc>
                  <a:txBody>
                    <a:bodyPr/>
                    <a:lstStyle/>
                    <a:p>
                      <a:pPr>
                        <a:defRPr sz="1100">
                          <a:solidFill>
                            <a:srgbClr val="2D3A4A"/>
                          </a:solidFill>
                        </a:defRPr>
                      </a:pPr>
                      <a:r>
                        <a:t>M - Menu</a:t>
                      </a:r>
                    </a:p>
                  </a:txBody>
                  <a:tcPr anchor="ctr">
                    <a:solidFill>
                      <a:srgbClr val="FFFFFF"/>
                    </a:solidFill>
                  </a:tcPr>
                </a:tc>
                <a:tc>
                  <a:txBody>
                    <a:bodyPr/>
                    <a:lstStyle/>
                    <a:p>
                      <a:pPr>
                        <a:defRPr sz="1100">
                          <a:solidFill>
                            <a:srgbClr val="2D3A4A"/>
                          </a:solidFill>
                        </a:defRPr>
                      </a:pPr>
                      <a:r>
                        <a:t>Multiple options for change</a:t>
                      </a:r>
                    </a:p>
                  </a:txBody>
                  <a:tcPr anchor="ctr">
                    <a:solidFill>
                      <a:srgbClr val="FFFFFF"/>
                    </a:solidFill>
                  </a:tcPr>
                </a:tc>
                <a:tc>
                  <a:txBody>
                    <a:bodyPr/>
                    <a:lstStyle/>
                    <a:p>
                      <a:pPr>
                        <a:defRPr sz="1100">
                          <a:solidFill>
                            <a:srgbClr val="2D3A4A"/>
                          </a:solidFill>
                        </a:defRPr>
                      </a:pPr>
                      <a:r>
                        <a:t>'There are several approaches...'</a:t>
                      </a:r>
                    </a:p>
                  </a:txBody>
                  <a:tcPr anchor="ctr">
                    <a:solidFill>
                      <a:srgbClr val="FFFFFF"/>
                    </a:solidFill>
                  </a:tcPr>
                </a:tc>
              </a:tr>
              <a:tr h="399723">
                <a:tc>
                  <a:txBody>
                    <a:bodyPr/>
                    <a:lstStyle/>
                    <a:p>
                      <a:pPr>
                        <a:defRPr sz="1100">
                          <a:solidFill>
                            <a:srgbClr val="2D3A4A"/>
                          </a:solidFill>
                        </a:defRPr>
                      </a:pPr>
                      <a:r>
                        <a:t>E - Empathy</a:t>
                      </a:r>
                    </a:p>
                  </a:txBody>
                  <a:tcPr anchor="ctr">
                    <a:solidFill>
                      <a:srgbClr val="EBF5FF"/>
                    </a:solidFill>
                  </a:tcPr>
                </a:tc>
                <a:tc>
                  <a:txBody>
                    <a:bodyPr/>
                    <a:lstStyle/>
                    <a:p>
                      <a:pPr>
                        <a:defRPr sz="1100">
                          <a:solidFill>
                            <a:srgbClr val="2D3A4A"/>
                          </a:solidFill>
                        </a:defRPr>
                      </a:pPr>
                      <a:r>
                        <a:t>Warm, reflective, understanding style</a:t>
                      </a:r>
                    </a:p>
                  </a:txBody>
                  <a:tcPr anchor="ctr">
                    <a:solidFill>
                      <a:srgbClr val="EBF5FF"/>
                    </a:solidFill>
                  </a:tcPr>
                </a:tc>
                <a:tc>
                  <a:txBody>
                    <a:bodyPr/>
                    <a:lstStyle/>
                    <a:p>
                      <a:pPr>
                        <a:defRPr sz="1100">
                          <a:solidFill>
                            <a:srgbClr val="2D3A4A"/>
                          </a:solidFill>
                        </a:defRPr>
                      </a:pPr>
                      <a:r>
                        <a:t>Non-judgmental reflective listening</a:t>
                      </a:r>
                    </a:p>
                  </a:txBody>
                  <a:tcPr anchor="ctr">
                    <a:solidFill>
                      <a:srgbClr val="EBF5FF"/>
                    </a:solidFill>
                  </a:tcPr>
                </a:tc>
              </a:tr>
              <a:tr h="399726">
                <a:tc>
                  <a:txBody>
                    <a:bodyPr/>
                    <a:lstStyle/>
                    <a:p>
                      <a:pPr>
                        <a:defRPr sz="1100">
                          <a:solidFill>
                            <a:srgbClr val="2D3A4A"/>
                          </a:solidFill>
                        </a:defRPr>
                      </a:pPr>
                      <a:r>
                        <a:t>S - Self-Efficacy</a:t>
                      </a:r>
                    </a:p>
                  </a:txBody>
                  <a:tcPr anchor="ctr">
                    <a:solidFill>
                      <a:srgbClr val="FFFFFF"/>
                    </a:solidFill>
                  </a:tcPr>
                </a:tc>
                <a:tc>
                  <a:txBody>
                    <a:bodyPr/>
                    <a:lstStyle/>
                    <a:p>
                      <a:pPr>
                        <a:defRPr sz="1100">
                          <a:solidFill>
                            <a:srgbClr val="2D3A4A"/>
                          </a:solidFill>
                        </a:defRPr>
                      </a:pPr>
                      <a:r>
                        <a:t>Express confidence in client's ability</a:t>
                      </a:r>
                    </a:p>
                  </a:txBody>
                  <a:tcPr anchor="ctr">
                    <a:solidFill>
                      <a:srgbClr val="FFFFFF"/>
                    </a:solidFill>
                  </a:tcPr>
                </a:tc>
                <a:tc>
                  <a:txBody>
                    <a:bodyPr/>
                    <a:lstStyle/>
                    <a:p>
                      <a:pPr>
                        <a:defRPr sz="1100">
                          <a:solidFill>
                            <a:srgbClr val="2D3A4A"/>
                          </a:solidFill>
                        </a:defRPr>
                      </a:pPr>
                      <a:r>
                        <a:t>'I believe you can do this'</a:t>
                      </a:r>
                    </a:p>
                  </a:txBody>
                  <a:tcPr anchor="ctr">
                    <a:solidFill>
                      <a:srgbClr val="FFFFFF"/>
                    </a:solidFill>
                  </a:tcPr>
                </a:tc>
              </a:tr>
            </a:tbl>
          </a:graphicData>
        </a:graphic>
      </p:graphicFrame>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FRAMES represents the evidence-based active ingredients of effective brief motivational interventions.</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&amp; Sanchez (1994). In Howard (Ed.), Issues in Alcohol Use. | Bien, Miller &amp; Tonigan (1993). Addiction, 88, 315. | NIMHANS Manual (2008), pp. 20-21.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0" y="1371600"/>
            <a:ext cx="2103120" cy="2103120"/>
          </a:xfrm>
          <a:prstGeom prst="ellipse">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800" b="1">
                <a:solidFill>
                  <a:srgbClr val="FFFFFF"/>
                </a:solidFill>
              </a:defRPr>
            </a:pPr>
            <a:r>
              <a:t>13</a:t>
            </a:r>
          </a:p>
        </p:txBody>
      </p:sp>
      <p:sp>
        <p:nvSpPr>
          <p:cNvPr id="4" name="TextBox 3"/>
          <p:cNvSpPr txBox="1"/>
          <p:nvPr/>
        </p:nvSpPr>
        <p:spPr>
          <a:xfrm>
            <a:off x="914400" y="3840480"/>
            <a:ext cx="10332720" cy="1371600"/>
          </a:xfrm>
          <a:prstGeom prst="rect">
            <a:avLst/>
          </a:prstGeom>
          <a:noFill/>
        </p:spPr>
        <p:txBody>
          <a:bodyPr wrap="square">
            <a:spAutoFit/>
          </a:bodyPr>
          <a:lstStyle/>
          <a:p>
            <a:pPr algn="ctr">
              <a:defRPr sz="3600" b="1">
                <a:solidFill>
                  <a:srgbClr val="FFFFFF"/>
                </a:solidFill>
              </a:defRPr>
            </a:pPr>
            <a:r>
              <a:t>Structure of MET: The 4-Session Protocol</a:t>
            </a:r>
          </a:p>
        </p:txBody>
      </p:sp>
      <p:sp>
        <p:nvSpPr>
          <p:cNvPr id="5" name="Rectangle 4"/>
          <p:cNvSpPr/>
          <p:nvPr/>
        </p:nvSpPr>
        <p:spPr>
          <a:xfrm>
            <a:off x="3657600" y="5303520"/>
            <a:ext cx="4846320" cy="45720"/>
          </a:xfrm>
          <a:prstGeom prst="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The Four Sessions of MET (Project MATCH Protocol)</a:t>
            </a:r>
          </a:p>
        </p:txBody>
      </p:sp>
      <p:sp>
        <p:nvSpPr>
          <p:cNvPr id="5" name="Rounded Rectangle 4"/>
          <p:cNvSpPr/>
          <p:nvPr/>
        </p:nvSpPr>
        <p:spPr>
          <a:xfrm>
            <a:off x="1112367" y="2011680"/>
            <a:ext cx="2286000" cy="1645920"/>
          </a:xfrm>
          <a:prstGeom prst="roundRect">
            <a:avLst/>
          </a:prstGeom>
          <a:solidFill>
            <a:srgbClr val="2C5F8A"/>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100" b="1">
                <a:solidFill>
                  <a:srgbClr val="FFFFFF"/>
                </a:solidFill>
              </a:defRPr>
            </a:pPr>
            <a:r>
              <a:t>SESSION 1</a:t>
            </a:r>
            <a:br/>
            <a:r>
              <a:t>Week 1</a:t>
            </a:r>
          </a:p>
          <a:p>
            <a:pPr algn="ctr">
              <a:defRPr sz="900">
                <a:solidFill>
                  <a:srgbClr val="E8F0FF"/>
                </a:solidFill>
              </a:defRPr>
            </a:pPr>
            <a:r>
              <a:t>Feedback</a:t>
            </a:r>
            <a:br/>
            <a:r>
              <a:t>&amp; Building</a:t>
            </a:r>
            <a:br/>
            <a:r>
              <a:t>Motivation</a:t>
            </a:r>
          </a:p>
        </p:txBody>
      </p:sp>
      <p:sp>
        <p:nvSpPr>
          <p:cNvPr id="6" name="Right Arrow 5"/>
          <p:cNvSpPr/>
          <p:nvPr/>
        </p:nvSpPr>
        <p:spPr>
          <a:xfrm>
            <a:off x="3416655" y="2697480"/>
            <a:ext cx="237744" cy="274320"/>
          </a:xfrm>
          <a:prstGeom prst="rightArrow">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72687" y="2011680"/>
            <a:ext cx="2286000" cy="1645920"/>
          </a:xfrm>
          <a:prstGeom prst="round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100" b="1">
                <a:solidFill>
                  <a:srgbClr val="FFFFFF"/>
                </a:solidFill>
              </a:defRPr>
            </a:pPr>
            <a:r>
              <a:t>SESSION 2</a:t>
            </a:r>
            <a:br/>
            <a:r>
              <a:t>Week 2</a:t>
            </a:r>
          </a:p>
          <a:p>
            <a:pPr algn="ctr">
              <a:defRPr sz="900">
                <a:solidFill>
                  <a:srgbClr val="E8F0FF"/>
                </a:solidFill>
              </a:defRPr>
            </a:pPr>
            <a:r>
              <a:t>Strengthening</a:t>
            </a:r>
            <a:br/>
            <a:r>
              <a:t>Commitment</a:t>
            </a:r>
            <a:br/>
            <a:r>
              <a:t>&amp; Planning</a:t>
            </a:r>
          </a:p>
        </p:txBody>
      </p:sp>
      <p:sp>
        <p:nvSpPr>
          <p:cNvPr id="8" name="Right Arrow 7"/>
          <p:cNvSpPr/>
          <p:nvPr/>
        </p:nvSpPr>
        <p:spPr>
          <a:xfrm>
            <a:off x="5976975" y="2697480"/>
            <a:ext cx="237744" cy="274320"/>
          </a:xfrm>
          <a:prstGeom prst="rightArrow">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2011680"/>
            <a:ext cx="2286000" cy="1645920"/>
          </a:xfrm>
          <a:prstGeom prst="roundRect">
            <a:avLst/>
          </a:prstGeom>
          <a:solidFill>
            <a:srgbClr val="17A2B8"/>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100" b="1">
                <a:solidFill>
                  <a:srgbClr val="FFFFFF"/>
                </a:solidFill>
              </a:defRPr>
            </a:pPr>
            <a:r>
              <a:t>SESSION 3</a:t>
            </a:r>
            <a:br/>
            <a:r>
              <a:t>Week 6</a:t>
            </a:r>
          </a:p>
          <a:p>
            <a:pPr algn="ctr">
              <a:defRPr sz="900">
                <a:solidFill>
                  <a:srgbClr val="E8F0FF"/>
                </a:solidFill>
              </a:defRPr>
            </a:pPr>
            <a:r>
              <a:t>Midpoint</a:t>
            </a:r>
            <a:br/>
            <a:r>
              <a:t>Progress</a:t>
            </a:r>
            <a:br/>
            <a:r>
              <a:t>Review</a:t>
            </a:r>
          </a:p>
        </p:txBody>
      </p:sp>
      <p:sp>
        <p:nvSpPr>
          <p:cNvPr id="10" name="Right Arrow 9"/>
          <p:cNvSpPr/>
          <p:nvPr/>
        </p:nvSpPr>
        <p:spPr>
          <a:xfrm>
            <a:off x="8537295" y="2697480"/>
            <a:ext cx="237744" cy="274320"/>
          </a:xfrm>
          <a:prstGeom prst="rightArrow">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793327" y="2011680"/>
            <a:ext cx="2286000" cy="1645920"/>
          </a:xfrm>
          <a:prstGeom prst="roundRect">
            <a:avLst/>
          </a:prstGeom>
          <a:solidFill>
            <a:srgbClr val="28A74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100" b="1">
                <a:solidFill>
                  <a:srgbClr val="FFFFFF"/>
                </a:solidFill>
              </a:defRPr>
            </a:pPr>
            <a:r>
              <a:t>SESSION 4</a:t>
            </a:r>
            <a:br/>
            <a:r>
              <a:t>Week 12</a:t>
            </a:r>
          </a:p>
          <a:p>
            <a:pPr algn="ctr">
              <a:defRPr sz="900">
                <a:solidFill>
                  <a:srgbClr val="E8F0FF"/>
                </a:solidFill>
              </a:defRPr>
            </a:pPr>
            <a:r>
              <a:t>Consolidation</a:t>
            </a:r>
            <a:br/>
            <a:r>
              <a:t>Maintenance</a:t>
            </a:r>
            <a:br/>
            <a:r>
              <a:t>&amp; Termination</a:t>
            </a:r>
          </a:p>
        </p:txBody>
      </p:sp>
      <p:sp>
        <p:nvSpPr>
          <p:cNvPr id="12" name="Rounded Rectangle 11"/>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4 sessions total: intensive early work (S1-2) + reinforcement check-ins (S3-4) = equivalent to 12-session treatments.</a:t>
            </a:r>
          </a:p>
        </p:txBody>
      </p:sp>
      <p:sp>
        <p:nvSpPr>
          <p:cNvPr id="13" name="Rectangle 12"/>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et al. (1995). MET Manual. | Project MATCH Research Group (1997). JOSA, 58, 7-29.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Session 1: Assessment Feedback &amp; Building Motivation</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a:solidFill>
                  <a:srgbClr val="2D3A4A"/>
                </a:solidFill>
              </a:defRPr>
            </a:pPr>
            <a:r>
              <a:t>DURATION: 60-90 minutes | TIMING: Week 1</a:t>
            </a:r>
          </a:p>
          <a:p>
            <a:pPr>
              <a:spcAft>
                <a:spcPts val="400"/>
              </a:spcAft>
              <a:defRPr sz="1500">
                <a:solidFill>
                  <a:srgbClr val="2D3A4A"/>
                </a:solidFill>
              </a:defRPr>
            </a:pPr>
          </a:p>
          <a:p>
            <a:pPr>
              <a:spcAft>
                <a:spcPts val="400"/>
              </a:spcAft>
              <a:defRPr sz="1500" b="1">
                <a:solidFill>
                  <a:srgbClr val="2C5F8A"/>
                </a:solidFill>
              </a:defRPr>
            </a:pPr>
            <a:r>
              <a:t>Structure:</a:t>
            </a:r>
          </a:p>
          <a:p>
            <a:pPr lvl="1">
              <a:spcAft>
                <a:spcPts val="400"/>
              </a:spcAft>
              <a:defRPr sz="1300">
                <a:solidFill>
                  <a:srgbClr val="2D3A4A"/>
                </a:solidFill>
              </a:defRPr>
            </a:pPr>
            <a:r>
              <a:t>OPENING (10 min): Welcome, rapport, agenda setting</a:t>
            </a:r>
          </a:p>
          <a:p>
            <a:pPr lvl="2">
              <a:spcAft>
                <a:spcPts val="400"/>
              </a:spcAft>
              <a:defRPr sz="1200">
                <a:solidFill>
                  <a:srgbClr val="2D3A4A"/>
                </a:solidFill>
              </a:defRPr>
            </a:pPr>
            <a:r>
              <a:t>'I'm interested in hearing YOUR thoughts about these results'</a:t>
            </a:r>
          </a:p>
          <a:p>
            <a:pPr>
              <a:spcAft>
                <a:spcPts val="400"/>
              </a:spcAft>
              <a:defRPr sz="1500">
                <a:solidFill>
                  <a:srgbClr val="2D3A4A"/>
                </a:solidFill>
              </a:defRPr>
            </a:pPr>
          </a:p>
          <a:p>
            <a:pPr lvl="1">
              <a:spcAft>
                <a:spcPts val="400"/>
              </a:spcAft>
              <a:defRPr sz="1300">
                <a:solidFill>
                  <a:srgbClr val="2D3A4A"/>
                </a:solidFill>
              </a:defRPr>
            </a:pPr>
            <a:r>
              <a:t>FEEDBACK DELIVERY (30 min): Personal Feedback Report</a:t>
            </a:r>
          </a:p>
          <a:p>
            <a:pPr lvl="2">
              <a:spcAft>
                <a:spcPts val="400"/>
              </a:spcAft>
              <a:defRPr sz="1200">
                <a:solidFill>
                  <a:srgbClr val="2D3A4A"/>
                </a:solidFill>
              </a:defRPr>
            </a:pPr>
            <a:r>
              <a:t>Present results neutrally, item by item</a:t>
            </a:r>
          </a:p>
          <a:p>
            <a:pPr lvl="2">
              <a:spcAft>
                <a:spcPts val="400"/>
              </a:spcAft>
              <a:defRPr sz="1200">
                <a:solidFill>
                  <a:srgbClr val="2D3A4A"/>
                </a:solidFill>
              </a:defRPr>
            </a:pPr>
            <a:r>
              <a:t>Compare with normative data (population percentiles)</a:t>
            </a:r>
          </a:p>
          <a:p>
            <a:pPr lvl="2">
              <a:spcAft>
                <a:spcPts val="400"/>
              </a:spcAft>
              <a:defRPr sz="1200">
                <a:solidFill>
                  <a:srgbClr val="2D3A4A"/>
                </a:solidFill>
              </a:defRPr>
            </a:pPr>
            <a:r>
              <a:t>Monitor reactions continuously; respond with reflection</a:t>
            </a:r>
          </a:p>
          <a:p>
            <a:pPr>
              <a:spcAft>
                <a:spcPts val="400"/>
              </a:spcAft>
              <a:defRPr sz="1500">
                <a:solidFill>
                  <a:srgbClr val="2D3A4A"/>
                </a:solidFill>
              </a:defRPr>
            </a:pPr>
          </a:p>
          <a:p>
            <a:pPr lvl="1">
              <a:spcAft>
                <a:spcPts val="400"/>
              </a:spcAft>
              <a:defRPr sz="1300">
                <a:solidFill>
                  <a:srgbClr val="2D3A4A"/>
                </a:solidFill>
              </a:defRPr>
            </a:pPr>
            <a:r>
              <a:t>EXPLORATION (15 min): Elicit self-motivational statements</a:t>
            </a:r>
          </a:p>
          <a:p>
            <a:pPr lvl="2">
              <a:spcAft>
                <a:spcPts val="400"/>
              </a:spcAft>
              <a:defRPr sz="1200">
                <a:solidFill>
                  <a:srgbClr val="2D3A4A"/>
                </a:solidFill>
              </a:defRPr>
            </a:pPr>
            <a:r>
              <a:t>'What do you make of these results?'</a:t>
            </a:r>
          </a:p>
          <a:p>
            <a:pPr lvl="2">
              <a:spcAft>
                <a:spcPts val="400"/>
              </a:spcAft>
              <a:defRPr sz="1200">
                <a:solidFill>
                  <a:srgbClr val="2D3A4A"/>
                </a:solidFill>
              </a:defRPr>
            </a:pPr>
            <a:r>
              <a:t>'What concerns you about your drinking?'</a:t>
            </a:r>
          </a:p>
          <a:p>
            <a:pPr>
              <a:spcAft>
                <a:spcPts val="400"/>
              </a:spcAft>
              <a:defRPr sz="1500">
                <a:solidFill>
                  <a:srgbClr val="2D3A4A"/>
                </a:solidFill>
              </a:defRPr>
            </a:pPr>
          </a:p>
          <a:p>
            <a:pPr lvl="1">
              <a:spcAft>
                <a:spcPts val="400"/>
              </a:spcAft>
              <a:defRPr sz="1300">
                <a:solidFill>
                  <a:srgbClr val="2D3A4A"/>
                </a:solidFill>
              </a:defRPr>
            </a:pPr>
            <a:r>
              <a:t>CLOSING (5 min): Summarize; invite reflection; homework</a:t>
            </a:r>
          </a:p>
          <a:p>
            <a:pPr>
              <a:spcAft>
                <a:spcPts val="400"/>
              </a:spcAft>
              <a:defRPr sz="1500">
                <a:solidFill>
                  <a:srgbClr val="2D3A4A"/>
                </a:solidFill>
              </a:defRPr>
            </a:pPr>
          </a:p>
          <a:p>
            <a:pPr>
              <a:spcAft>
                <a:spcPts val="400"/>
              </a:spcAft>
              <a:defRPr sz="1500">
                <a:solidFill>
                  <a:srgbClr val="2D3A4A"/>
                </a:solidFill>
              </a:defRPr>
            </a:pPr>
            <a:r>
              <a:t>Optional: Involve significant other (spouse, partner, family member)</a:t>
            </a:r>
          </a:p>
          <a:p>
            <a:pPr lvl="1">
              <a:spcAft>
                <a:spcPts val="400"/>
              </a:spcAft>
              <a:defRPr sz="1300">
                <a:solidFill>
                  <a:srgbClr val="2D3A4A"/>
                </a:solidFill>
              </a:defRPr>
            </a:pPr>
            <a:r>
              <a:t>Reframe SO concerns as caring: 'You've been worried about him'</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Deliver feedback NEUTRALLY. Respond to ALL reactions with reflection. Let the DATA create discrepancy.</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et al. (1995). MET Manual, Session 1 protocol. | Project MATCH Research Group (1997).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Session 1: Dialogue During Feedback Delivery</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From the MET Manual — Real clinical exchanges:</a:t>
            </a:r>
          </a:p>
          <a:p>
            <a:pPr>
              <a:spcAft>
                <a:spcPts val="400"/>
              </a:spcAft>
              <a:defRPr sz="1500">
                <a:solidFill>
                  <a:srgbClr val="2D3A4A"/>
                </a:solidFill>
              </a:defRPr>
            </a:pPr>
          </a:p>
          <a:p>
            <a:pPr lvl="1">
              <a:spcAft>
                <a:spcPts val="400"/>
              </a:spcAft>
              <a:defRPr sz="1300">
                <a:solidFill>
                  <a:srgbClr val="2D3A4A"/>
                </a:solidFill>
              </a:defRPr>
            </a:pPr>
            <a:r>
              <a:t>Client: 'Wow! I'm drinking a lot more than I realized'</a:t>
            </a:r>
          </a:p>
          <a:p>
            <a:pPr lvl="1">
              <a:spcAft>
                <a:spcPts val="400"/>
              </a:spcAft>
              <a:defRPr sz="1300">
                <a:solidFill>
                  <a:srgbClr val="2D3A4A"/>
                </a:solidFill>
              </a:defRPr>
            </a:pPr>
            <a:r>
              <a:t>Therapist: 'It looks awfully high to you' [reflects surprise]</a:t>
            </a:r>
          </a:p>
          <a:p>
            <a:pPr>
              <a:spcAft>
                <a:spcPts val="400"/>
              </a:spcAft>
              <a:defRPr sz="1500">
                <a:solidFill>
                  <a:srgbClr val="2D3A4A"/>
                </a:solidFill>
              </a:defRPr>
            </a:pPr>
          </a:p>
          <a:p>
            <a:pPr lvl="1">
              <a:spcAft>
                <a:spcPts val="400"/>
              </a:spcAft>
              <a:defRPr sz="1300">
                <a:solidFill>
                  <a:srgbClr val="2D3A4A"/>
                </a:solidFill>
              </a:defRPr>
            </a:pPr>
            <a:r>
              <a:t>Client: 'I can't believe it. I don't see how it can be affecting me'</a:t>
            </a:r>
          </a:p>
          <a:p>
            <a:pPr lvl="1">
              <a:spcAft>
                <a:spcPts val="400"/>
              </a:spcAft>
              <a:defRPr sz="1300">
                <a:solidFill>
                  <a:srgbClr val="2D3A4A"/>
                </a:solidFill>
              </a:defRPr>
            </a:pPr>
            <a:r>
              <a:t>Therapist: 'This isn't what you expected to hear' [reflects disbelief]</a:t>
            </a:r>
          </a:p>
          <a:p>
            <a:pPr>
              <a:spcAft>
                <a:spcPts val="400"/>
              </a:spcAft>
              <a:defRPr sz="1500">
                <a:solidFill>
                  <a:srgbClr val="2D3A4A"/>
                </a:solidFill>
              </a:defRPr>
            </a:pPr>
          </a:p>
          <a:p>
            <a:pPr lvl="1">
              <a:spcAft>
                <a:spcPts val="400"/>
              </a:spcAft>
              <a:defRPr sz="1300">
                <a:solidFill>
                  <a:srgbClr val="2D3A4A"/>
                </a:solidFill>
              </a:defRPr>
            </a:pPr>
            <a:r>
              <a:t>Client: 'I don't really drink more than other people'</a:t>
            </a:r>
          </a:p>
          <a:p>
            <a:pPr lvl="1">
              <a:spcAft>
                <a:spcPts val="400"/>
              </a:spcAft>
              <a:defRPr sz="1300">
                <a:solidFill>
                  <a:srgbClr val="2D3A4A"/>
                </a:solidFill>
              </a:defRPr>
            </a:pPr>
            <a:r>
              <a:t>Therapist: 'So this is confusing. It seems like you drink about the same as</a:t>
            </a:r>
          </a:p>
          <a:p>
            <a:pPr lvl="2">
              <a:spcAft>
                <a:spcPts val="400"/>
              </a:spcAft>
              <a:defRPr sz="1200">
                <a:solidFill>
                  <a:srgbClr val="2D3A4A"/>
                </a:solidFill>
              </a:defRPr>
            </a:pPr>
            <a:r>
              <a:t>friends, yet here are the results' [validates + maintains data]</a:t>
            </a:r>
          </a:p>
          <a:p>
            <a:pPr>
              <a:spcAft>
                <a:spcPts val="400"/>
              </a:spcAft>
              <a:defRPr sz="1500">
                <a:solidFill>
                  <a:srgbClr val="2D3A4A"/>
                </a:solidFill>
              </a:defRPr>
            </a:pPr>
          </a:p>
          <a:p>
            <a:pPr lvl="1">
              <a:spcAft>
                <a:spcPts val="400"/>
              </a:spcAft>
              <a:defRPr sz="1300">
                <a:solidFill>
                  <a:srgbClr val="2D3A4A"/>
                </a:solidFill>
              </a:defRPr>
            </a:pPr>
            <a:r>
              <a:t>Client: 'This gives me a lot to think about'</a:t>
            </a:r>
          </a:p>
          <a:p>
            <a:pPr lvl="1">
              <a:spcAft>
                <a:spcPts val="400"/>
              </a:spcAft>
              <a:defRPr sz="1300">
                <a:solidFill>
                  <a:srgbClr val="2D3A4A"/>
                </a:solidFill>
              </a:defRPr>
            </a:pPr>
            <a:r>
              <a:t>Therapist: 'A lot of reasons to think about making a change' [strengthens]</a:t>
            </a:r>
          </a:p>
          <a:p>
            <a:pPr>
              <a:spcAft>
                <a:spcPts val="400"/>
              </a:spcAft>
              <a:defRPr sz="1500">
                <a:solidFill>
                  <a:srgbClr val="2D3A4A"/>
                </a:solidFill>
              </a:defRPr>
            </a:pPr>
          </a:p>
          <a:p>
            <a:pPr lvl="1">
              <a:spcAft>
                <a:spcPts val="400"/>
              </a:spcAft>
              <a:defRPr sz="1300">
                <a:solidFill>
                  <a:srgbClr val="2D3A4A"/>
                </a:solidFill>
              </a:defRPr>
            </a:pPr>
            <a:r>
              <a:t>Client: 'More bad news!'</a:t>
            </a:r>
          </a:p>
          <a:p>
            <a:pPr lvl="1">
              <a:spcAft>
                <a:spcPts val="400"/>
              </a:spcAft>
              <a:defRPr sz="1300">
                <a:solidFill>
                  <a:srgbClr val="2D3A4A"/>
                </a:solidFill>
              </a:defRPr>
            </a:pPr>
            <a:r>
              <a:t>Therapist: 'This is pretty difficult for you to hear' [empathic]</a:t>
            </a:r>
          </a:p>
          <a:p>
            <a:pPr>
              <a:spcAft>
                <a:spcPts val="400"/>
              </a:spcAft>
              <a:defRPr sz="1500">
                <a:solidFill>
                  <a:srgbClr val="2D3A4A"/>
                </a:solidFill>
              </a:defRPr>
            </a:pPr>
          </a:p>
          <a:p>
            <a:pPr>
              <a:spcAft>
                <a:spcPts val="400"/>
              </a:spcAft>
              <a:defRPr sz="1500">
                <a:solidFill>
                  <a:srgbClr val="2D3A4A"/>
                </a:solidFill>
              </a:defRPr>
            </a:pPr>
            <a:r>
              <a:t>NOTICE: Therapist NEVER argues, lectures, or interprets. Pure reflection.</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Respond to every reaction with reflection — surprise, denial, and concern ALL get empathic reflection.</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et al. (1995). MET Manual, pp. 19-20 (direct clinical examples).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Sessions 2-4: Commitment, Review, and Consolidation</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a:solidFill>
                  <a:srgbClr val="2D3A4A"/>
                </a:solidFill>
              </a:defRPr>
            </a:pPr>
            <a:r>
              <a:t>SESSION 2 (Week 2): Strengthening Commitment</a:t>
            </a:r>
          </a:p>
          <a:p>
            <a:pPr lvl="1">
              <a:spcAft>
                <a:spcPts val="400"/>
              </a:spcAft>
              <a:defRPr sz="1300">
                <a:solidFill>
                  <a:srgbClr val="2D3A4A"/>
                </a:solidFill>
              </a:defRPr>
            </a:pPr>
            <a:r>
              <a:t>• Review since Session 1 ('What have you been thinking?')</a:t>
            </a:r>
          </a:p>
          <a:p>
            <a:pPr lvl="1">
              <a:spcAft>
                <a:spcPts val="400"/>
              </a:spcAft>
              <a:defRPr sz="1300">
                <a:solidFill>
                  <a:srgbClr val="2D3A4A"/>
                </a:solidFill>
              </a:defRPr>
            </a:pPr>
            <a:r>
              <a:t>• Continue exploring ambivalence; decisional balance</a:t>
            </a:r>
          </a:p>
          <a:p>
            <a:pPr lvl="1">
              <a:spcAft>
                <a:spcPts val="400"/>
              </a:spcAft>
              <a:defRPr sz="1300">
                <a:solidFill>
                  <a:srgbClr val="2D3A4A"/>
                </a:solidFill>
              </a:defRPr>
            </a:pPr>
            <a:r>
              <a:t>• Values clarification exercise</a:t>
            </a:r>
          </a:p>
          <a:p>
            <a:pPr lvl="1">
              <a:spcAft>
                <a:spcPts val="400"/>
              </a:spcAft>
              <a:defRPr sz="1300">
                <a:solidFill>
                  <a:srgbClr val="2D3A4A"/>
                </a:solidFill>
              </a:defRPr>
            </a:pPr>
            <a:r>
              <a:t>• If ready: Change Plan Worksheet ('What do you think you'll do?')</a:t>
            </a:r>
          </a:p>
          <a:p>
            <a:pPr lvl="1">
              <a:spcAft>
                <a:spcPts val="400"/>
              </a:spcAft>
              <a:defRPr sz="1300">
                <a:solidFill>
                  <a:srgbClr val="2D3A4A"/>
                </a:solidFill>
              </a:defRPr>
            </a:pPr>
            <a:r>
              <a:t>• If NOT ready: Continue Phase 1; don't push</a:t>
            </a:r>
          </a:p>
          <a:p>
            <a:pPr>
              <a:spcAft>
                <a:spcPts val="400"/>
              </a:spcAft>
              <a:defRPr sz="1500">
                <a:solidFill>
                  <a:srgbClr val="2D3A4A"/>
                </a:solidFill>
              </a:defRPr>
            </a:pPr>
          </a:p>
          <a:p>
            <a:pPr>
              <a:spcAft>
                <a:spcPts val="400"/>
              </a:spcAft>
              <a:defRPr sz="1500">
                <a:solidFill>
                  <a:srgbClr val="2D3A4A"/>
                </a:solidFill>
              </a:defRPr>
            </a:pPr>
            <a:r>
              <a:t>SESSION 3 (Week 6): Midpoint Review</a:t>
            </a:r>
          </a:p>
          <a:p>
            <a:pPr lvl="1">
              <a:spcAft>
                <a:spcPts val="400"/>
              </a:spcAft>
              <a:defRPr sz="1300">
                <a:solidFill>
                  <a:srgbClr val="2D3A4A"/>
                </a:solidFill>
              </a:defRPr>
            </a:pPr>
            <a:r>
              <a:t>• Review progress since Session 2</a:t>
            </a:r>
          </a:p>
          <a:p>
            <a:pPr lvl="1">
              <a:spcAft>
                <a:spcPts val="400"/>
              </a:spcAft>
              <a:defRPr sz="1300">
                <a:solidFill>
                  <a:srgbClr val="2D3A4A"/>
                </a:solidFill>
              </a:defRPr>
            </a:pPr>
            <a:r>
              <a:t>• If progressing: Celebrate, affirm, reinforce what's working</a:t>
            </a:r>
          </a:p>
          <a:p>
            <a:pPr lvl="1">
              <a:spcAft>
                <a:spcPts val="400"/>
              </a:spcAft>
              <a:defRPr sz="1300">
                <a:solidFill>
                  <a:srgbClr val="2D3A4A"/>
                </a:solidFill>
              </a:defRPr>
            </a:pPr>
            <a:r>
              <a:t>• If struggling: Explore barriers with empathy; rebuild motivation</a:t>
            </a:r>
          </a:p>
          <a:p>
            <a:pPr lvl="1">
              <a:spcAft>
                <a:spcPts val="400"/>
              </a:spcAft>
              <a:defRPr sz="1300">
                <a:solidFill>
                  <a:srgbClr val="2D3A4A"/>
                </a:solidFill>
              </a:defRPr>
            </a:pPr>
            <a:r>
              <a:t>• If relapsed: Normalize ('Many people need several attempts')</a:t>
            </a:r>
          </a:p>
          <a:p>
            <a:pPr lvl="1">
              <a:spcAft>
                <a:spcPts val="400"/>
              </a:spcAft>
              <a:defRPr sz="1300">
                <a:solidFill>
                  <a:srgbClr val="2D3A4A"/>
                </a:solidFill>
              </a:defRPr>
            </a:pPr>
            <a:r>
              <a:t>• Modify change plan if needed</a:t>
            </a:r>
          </a:p>
          <a:p>
            <a:pPr>
              <a:spcAft>
                <a:spcPts val="400"/>
              </a:spcAft>
              <a:defRPr sz="1500">
                <a:solidFill>
                  <a:srgbClr val="2D3A4A"/>
                </a:solidFill>
              </a:defRPr>
            </a:pPr>
          </a:p>
          <a:p>
            <a:pPr>
              <a:spcAft>
                <a:spcPts val="400"/>
              </a:spcAft>
              <a:defRPr sz="1500">
                <a:solidFill>
                  <a:srgbClr val="2D3A4A"/>
                </a:solidFill>
              </a:defRPr>
            </a:pPr>
            <a:r>
              <a:t>SESSION 4 (Week 12): Consolidation &amp; Termination</a:t>
            </a:r>
          </a:p>
          <a:p>
            <a:pPr lvl="1">
              <a:spcAft>
                <a:spcPts val="400"/>
              </a:spcAft>
              <a:defRPr sz="1300">
                <a:solidFill>
                  <a:srgbClr val="2D3A4A"/>
                </a:solidFill>
              </a:defRPr>
            </a:pPr>
            <a:r>
              <a:t>• Comprehensive review of entire treatment period</a:t>
            </a:r>
          </a:p>
          <a:p>
            <a:pPr lvl="1">
              <a:spcAft>
                <a:spcPts val="400"/>
              </a:spcAft>
              <a:defRPr sz="1300">
                <a:solidFill>
                  <a:srgbClr val="2D3A4A"/>
                </a:solidFill>
              </a:defRPr>
            </a:pPr>
            <a:r>
              <a:t>• Maintenance planning (high-risk situations, coping strategies)</a:t>
            </a:r>
          </a:p>
          <a:p>
            <a:pPr lvl="1">
              <a:spcAft>
                <a:spcPts val="400"/>
              </a:spcAft>
              <a:defRPr sz="1300">
                <a:solidFill>
                  <a:srgbClr val="2D3A4A"/>
                </a:solidFill>
              </a:defRPr>
            </a:pPr>
            <a:r>
              <a:t>• Relapse prevention: 'What if' planning</a:t>
            </a:r>
          </a:p>
          <a:p>
            <a:pPr lvl="1">
              <a:spcAft>
                <a:spcPts val="400"/>
              </a:spcAft>
              <a:defRPr sz="1300">
                <a:solidFill>
                  <a:srgbClr val="2D3A4A"/>
                </a:solidFill>
              </a:defRPr>
            </a:pPr>
            <a:r>
              <a:t>• Express confidence; leave door open for boosters</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Time the Phase 1→2 transition by readiness signals. Premature planning increases resistance; delayed planning misses momentum.</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et al. (1995). MET Manual, Sessions 2-4. | Marlatt &amp; Gordon (1985). Relapse Prevention. Guilford.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0" y="1371600"/>
            <a:ext cx="2103120" cy="2103120"/>
          </a:xfrm>
          <a:prstGeom prst="ellipse">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800" b="1">
                <a:solidFill>
                  <a:srgbClr val="FFFFFF"/>
                </a:solidFill>
              </a:defRPr>
            </a:pPr>
            <a:r>
              <a:t>14</a:t>
            </a:r>
          </a:p>
        </p:txBody>
      </p:sp>
      <p:sp>
        <p:nvSpPr>
          <p:cNvPr id="4" name="TextBox 3"/>
          <p:cNvSpPr txBox="1"/>
          <p:nvPr/>
        </p:nvSpPr>
        <p:spPr>
          <a:xfrm>
            <a:off x="914400" y="3840480"/>
            <a:ext cx="10332720" cy="1371600"/>
          </a:xfrm>
          <a:prstGeom prst="rect">
            <a:avLst/>
          </a:prstGeom>
          <a:noFill/>
        </p:spPr>
        <p:txBody>
          <a:bodyPr wrap="square">
            <a:spAutoFit/>
          </a:bodyPr>
          <a:lstStyle/>
          <a:p>
            <a:pPr algn="ctr">
              <a:defRPr sz="3600" b="1">
                <a:solidFill>
                  <a:srgbClr val="FFFFFF"/>
                </a:solidFill>
              </a:defRPr>
            </a:pPr>
            <a:r>
              <a:t>MET Techniques in Detail</a:t>
            </a:r>
          </a:p>
        </p:txBody>
      </p:sp>
      <p:sp>
        <p:nvSpPr>
          <p:cNvPr id="5" name="Rectangle 4"/>
          <p:cNvSpPr/>
          <p:nvPr/>
        </p:nvSpPr>
        <p:spPr>
          <a:xfrm>
            <a:off x="3657600" y="5303520"/>
            <a:ext cx="4846320" cy="45720"/>
          </a:xfrm>
          <a:prstGeom prst="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Key MET Techniques: Overview</a:t>
            </a:r>
          </a:p>
        </p:txBody>
      </p:sp>
      <p:graphicFrame>
        <p:nvGraphicFramePr>
          <p:cNvPr id="5" name="Table 4"/>
          <p:cNvGraphicFramePr>
            <a:graphicFrameLocks noGrp="1"/>
          </p:cNvGraphicFramePr>
          <p:nvPr/>
        </p:nvGraphicFramePr>
        <p:xfrm>
          <a:off x="457200" y="1371600"/>
          <a:ext cx="11247120" cy="4187952"/>
        </p:xfrm>
        <a:graphic>
          <a:graphicData uri="http://schemas.openxmlformats.org/drawingml/2006/table">
            <a:tbl>
              <a:tblPr firstRow="1" bandRow="1">
                <a:tableStyleId>{5C22544A-7EE6-4342-B048-85BDC9FD1C3A}</a:tableStyleId>
              </a:tblPr>
              <a:tblGrid>
                <a:gridCol w="3200400"/>
                <a:gridCol w="3931920"/>
                <a:gridCol w="4114800"/>
              </a:tblGrid>
              <a:tr h="380722">
                <a:tc>
                  <a:txBody>
                    <a:bodyPr/>
                    <a:lstStyle/>
                    <a:p>
                      <a:pPr algn="ctr">
                        <a:defRPr sz="1200" b="1">
                          <a:solidFill>
                            <a:srgbClr val="FFFFFF"/>
                          </a:solidFill>
                        </a:defRPr>
                      </a:pPr>
                      <a:r>
                        <a:t>Technique</a:t>
                      </a:r>
                    </a:p>
                  </a:txBody>
                  <a:tcPr anchor="ctr">
                    <a:solidFill>
                      <a:srgbClr val="1B2A4A"/>
                    </a:solidFill>
                  </a:tcPr>
                </a:tc>
                <a:tc>
                  <a:txBody>
                    <a:bodyPr/>
                    <a:lstStyle/>
                    <a:p>
                      <a:pPr algn="ctr">
                        <a:defRPr sz="1200" b="1">
                          <a:solidFill>
                            <a:srgbClr val="FFFFFF"/>
                          </a:solidFill>
                        </a:defRPr>
                      </a:pPr>
                      <a:r>
                        <a:t>Purpose</a:t>
                      </a:r>
                    </a:p>
                  </a:txBody>
                  <a:tcPr anchor="ctr">
                    <a:solidFill>
                      <a:srgbClr val="1B2A4A"/>
                    </a:solidFill>
                  </a:tcPr>
                </a:tc>
                <a:tc>
                  <a:txBody>
                    <a:bodyPr/>
                    <a:lstStyle/>
                    <a:p>
                      <a:pPr algn="ctr">
                        <a:defRPr sz="1200" b="1">
                          <a:solidFill>
                            <a:srgbClr val="FFFFFF"/>
                          </a:solidFill>
                        </a:defRPr>
                      </a:pPr>
                      <a:r>
                        <a:t>When to Use</a:t>
                      </a:r>
                    </a:p>
                  </a:txBody>
                  <a:tcPr anchor="ctr">
                    <a:solidFill>
                      <a:srgbClr val="1B2A4A"/>
                    </a:solidFill>
                  </a:tcPr>
                </a:tc>
              </a:tr>
              <a:tr h="380722">
                <a:tc>
                  <a:txBody>
                    <a:bodyPr/>
                    <a:lstStyle/>
                    <a:p>
                      <a:pPr>
                        <a:defRPr sz="1100">
                          <a:solidFill>
                            <a:srgbClr val="2D3A4A"/>
                          </a:solidFill>
                        </a:defRPr>
                      </a:pPr>
                      <a:r>
                        <a:t>Double-sided Reflection</a:t>
                      </a:r>
                    </a:p>
                  </a:txBody>
                  <a:tcPr anchor="ctr">
                    <a:solidFill>
                      <a:srgbClr val="EBF5FF"/>
                    </a:solidFill>
                  </a:tcPr>
                </a:tc>
                <a:tc>
                  <a:txBody>
                    <a:bodyPr/>
                    <a:lstStyle/>
                    <a:p>
                      <a:pPr>
                        <a:defRPr sz="1100">
                          <a:solidFill>
                            <a:srgbClr val="2D3A4A"/>
                          </a:solidFill>
                        </a:defRPr>
                      </a:pPr>
                      <a:r>
                        <a:t>Capture both sides of ambivalence</a:t>
                      </a:r>
                    </a:p>
                  </a:txBody>
                  <a:tcPr anchor="ctr">
                    <a:solidFill>
                      <a:srgbClr val="EBF5FF"/>
                    </a:solidFill>
                  </a:tcPr>
                </a:tc>
                <a:tc>
                  <a:txBody>
                    <a:bodyPr/>
                    <a:lstStyle/>
                    <a:p>
                      <a:pPr>
                        <a:defRPr sz="1100">
                          <a:solidFill>
                            <a:srgbClr val="2D3A4A"/>
                          </a:solidFill>
                        </a:defRPr>
                      </a:pPr>
                      <a:r>
                        <a:t>When client is ambivalent</a:t>
                      </a:r>
                    </a:p>
                  </a:txBody>
                  <a:tcPr anchor="ctr">
                    <a:solidFill>
                      <a:srgbClr val="EBF5FF"/>
                    </a:solidFill>
                  </a:tcPr>
                </a:tc>
              </a:tr>
              <a:tr h="380722">
                <a:tc>
                  <a:txBody>
                    <a:bodyPr/>
                    <a:lstStyle/>
                    <a:p>
                      <a:pPr>
                        <a:defRPr sz="1100">
                          <a:solidFill>
                            <a:srgbClr val="2D3A4A"/>
                          </a:solidFill>
                        </a:defRPr>
                      </a:pPr>
                      <a:r>
                        <a:t>Amplified Reflection</a:t>
                      </a:r>
                    </a:p>
                  </a:txBody>
                  <a:tcPr anchor="ctr">
                    <a:solidFill>
                      <a:srgbClr val="FFFFFF"/>
                    </a:solidFill>
                  </a:tcPr>
                </a:tc>
                <a:tc>
                  <a:txBody>
                    <a:bodyPr/>
                    <a:lstStyle/>
                    <a:p>
                      <a:pPr>
                        <a:defRPr sz="1100">
                          <a:solidFill>
                            <a:srgbClr val="2D3A4A"/>
                          </a:solidFill>
                        </a:defRPr>
                      </a:pPr>
                      <a:r>
                        <a:t>Elicit the other side through overstatement</a:t>
                      </a:r>
                    </a:p>
                  </a:txBody>
                  <a:tcPr anchor="ctr">
                    <a:solidFill>
                      <a:srgbClr val="FFFFFF"/>
                    </a:solidFill>
                  </a:tcPr>
                </a:tc>
                <a:tc>
                  <a:txBody>
                    <a:bodyPr/>
                    <a:lstStyle/>
                    <a:p>
                      <a:pPr>
                        <a:defRPr sz="1100">
                          <a:solidFill>
                            <a:srgbClr val="2D3A4A"/>
                          </a:solidFill>
                        </a:defRPr>
                      </a:pPr>
                      <a:r>
                        <a:t>When client minimizes</a:t>
                      </a:r>
                    </a:p>
                  </a:txBody>
                  <a:tcPr anchor="ctr">
                    <a:solidFill>
                      <a:srgbClr val="FFFFFF"/>
                    </a:solidFill>
                  </a:tcPr>
                </a:tc>
              </a:tr>
              <a:tr h="380722">
                <a:tc>
                  <a:txBody>
                    <a:bodyPr/>
                    <a:lstStyle/>
                    <a:p>
                      <a:pPr>
                        <a:defRPr sz="1100">
                          <a:solidFill>
                            <a:srgbClr val="2D3A4A"/>
                          </a:solidFill>
                        </a:defRPr>
                      </a:pPr>
                      <a:r>
                        <a:t>Reframing</a:t>
                      </a:r>
                    </a:p>
                  </a:txBody>
                  <a:tcPr anchor="ctr">
                    <a:solidFill>
                      <a:srgbClr val="EBF5FF"/>
                    </a:solidFill>
                  </a:tcPr>
                </a:tc>
                <a:tc>
                  <a:txBody>
                    <a:bodyPr/>
                    <a:lstStyle/>
                    <a:p>
                      <a:pPr>
                        <a:defRPr sz="1100">
                          <a:solidFill>
                            <a:srgbClr val="2D3A4A"/>
                          </a:solidFill>
                        </a:defRPr>
                      </a:pPr>
                      <a:r>
                        <a:t>Offer new perspective on same info</a:t>
                      </a:r>
                    </a:p>
                  </a:txBody>
                  <a:tcPr anchor="ctr">
                    <a:solidFill>
                      <a:srgbClr val="EBF5FF"/>
                    </a:solidFill>
                  </a:tcPr>
                </a:tc>
                <a:tc>
                  <a:txBody>
                    <a:bodyPr/>
                    <a:lstStyle/>
                    <a:p>
                      <a:pPr>
                        <a:defRPr sz="1100">
                          <a:solidFill>
                            <a:srgbClr val="2D3A4A"/>
                          </a:solidFill>
                        </a:defRPr>
                      </a:pPr>
                      <a:r>
                        <a:t>When client is stuck</a:t>
                      </a:r>
                    </a:p>
                  </a:txBody>
                  <a:tcPr anchor="ctr">
                    <a:solidFill>
                      <a:srgbClr val="EBF5FF"/>
                    </a:solidFill>
                  </a:tcPr>
                </a:tc>
              </a:tr>
              <a:tr h="380722">
                <a:tc>
                  <a:txBody>
                    <a:bodyPr/>
                    <a:lstStyle/>
                    <a:p>
                      <a:pPr>
                        <a:defRPr sz="1100">
                          <a:solidFill>
                            <a:srgbClr val="2D3A4A"/>
                          </a:solidFill>
                        </a:defRPr>
                      </a:pPr>
                      <a:r>
                        <a:t>Shifting Focus</a:t>
                      </a:r>
                    </a:p>
                  </a:txBody>
                  <a:tcPr anchor="ctr">
                    <a:solidFill>
                      <a:srgbClr val="FFFFFF"/>
                    </a:solidFill>
                  </a:tcPr>
                </a:tc>
                <a:tc>
                  <a:txBody>
                    <a:bodyPr/>
                    <a:lstStyle/>
                    <a:p>
                      <a:pPr>
                        <a:defRPr sz="1100">
                          <a:solidFill>
                            <a:srgbClr val="2D3A4A"/>
                          </a:solidFill>
                        </a:defRPr>
                      </a:pPr>
                      <a:r>
                        <a:t>Move away from stuck point</a:t>
                      </a:r>
                    </a:p>
                  </a:txBody>
                  <a:tcPr anchor="ctr">
                    <a:solidFill>
                      <a:srgbClr val="FFFFFF"/>
                    </a:solidFill>
                  </a:tcPr>
                </a:tc>
                <a:tc>
                  <a:txBody>
                    <a:bodyPr/>
                    <a:lstStyle/>
                    <a:p>
                      <a:pPr>
                        <a:defRPr sz="1100">
                          <a:solidFill>
                            <a:srgbClr val="2D3A4A"/>
                          </a:solidFill>
                        </a:defRPr>
                      </a:pPr>
                      <a:r>
                        <a:t>When debating labels</a:t>
                      </a:r>
                    </a:p>
                  </a:txBody>
                  <a:tcPr anchor="ctr">
                    <a:solidFill>
                      <a:srgbClr val="FFFFFF"/>
                    </a:solidFill>
                  </a:tcPr>
                </a:tc>
              </a:tr>
              <a:tr h="380722">
                <a:tc>
                  <a:txBody>
                    <a:bodyPr/>
                    <a:lstStyle/>
                    <a:p>
                      <a:pPr>
                        <a:defRPr sz="1100">
                          <a:solidFill>
                            <a:srgbClr val="2D3A4A"/>
                          </a:solidFill>
                        </a:defRPr>
                      </a:pPr>
                      <a:r>
                        <a:t>Elicit-Provide-Elicit</a:t>
                      </a:r>
                    </a:p>
                  </a:txBody>
                  <a:tcPr anchor="ctr">
                    <a:solidFill>
                      <a:srgbClr val="EBF5FF"/>
                    </a:solidFill>
                  </a:tcPr>
                </a:tc>
                <a:tc>
                  <a:txBody>
                    <a:bodyPr/>
                    <a:lstStyle/>
                    <a:p>
                      <a:pPr>
                        <a:defRPr sz="1100">
                          <a:solidFill>
                            <a:srgbClr val="2D3A4A"/>
                          </a:solidFill>
                        </a:defRPr>
                      </a:pPr>
                      <a:r>
                        <a:t>Share info without lecturing</a:t>
                      </a:r>
                    </a:p>
                  </a:txBody>
                  <a:tcPr anchor="ctr">
                    <a:solidFill>
                      <a:srgbClr val="EBF5FF"/>
                    </a:solidFill>
                  </a:tcPr>
                </a:tc>
                <a:tc>
                  <a:txBody>
                    <a:bodyPr/>
                    <a:lstStyle/>
                    <a:p>
                      <a:pPr>
                        <a:defRPr sz="1100">
                          <a:solidFill>
                            <a:srgbClr val="2D3A4A"/>
                          </a:solidFill>
                        </a:defRPr>
                      </a:pPr>
                      <a:r>
                        <a:t>When giving advice/info</a:t>
                      </a:r>
                    </a:p>
                  </a:txBody>
                  <a:tcPr anchor="ctr">
                    <a:solidFill>
                      <a:srgbClr val="EBF5FF"/>
                    </a:solidFill>
                  </a:tcPr>
                </a:tc>
              </a:tr>
              <a:tr h="380722">
                <a:tc>
                  <a:txBody>
                    <a:bodyPr/>
                    <a:lstStyle/>
                    <a:p>
                      <a:pPr>
                        <a:defRPr sz="1100">
                          <a:solidFill>
                            <a:srgbClr val="2D3A4A"/>
                          </a:solidFill>
                        </a:defRPr>
                      </a:pPr>
                      <a:r>
                        <a:t>Importance/Confidence Rulers</a:t>
                      </a:r>
                    </a:p>
                  </a:txBody>
                  <a:tcPr anchor="ctr">
                    <a:solidFill>
                      <a:srgbClr val="FFFFFF"/>
                    </a:solidFill>
                  </a:tcPr>
                </a:tc>
                <a:tc>
                  <a:txBody>
                    <a:bodyPr/>
                    <a:lstStyle/>
                    <a:p>
                      <a:pPr>
                        <a:defRPr sz="1100">
                          <a:solidFill>
                            <a:srgbClr val="2D3A4A"/>
                          </a:solidFill>
                        </a:defRPr>
                      </a:pPr>
                      <a:r>
                        <a:t>Assess and evoke simultaneously</a:t>
                      </a:r>
                    </a:p>
                  </a:txBody>
                  <a:tcPr anchor="ctr">
                    <a:solidFill>
                      <a:srgbClr val="FFFFFF"/>
                    </a:solidFill>
                  </a:tcPr>
                </a:tc>
                <a:tc>
                  <a:txBody>
                    <a:bodyPr/>
                    <a:lstStyle/>
                    <a:p>
                      <a:pPr>
                        <a:defRPr sz="1100">
                          <a:solidFill>
                            <a:srgbClr val="2D3A4A"/>
                          </a:solidFill>
                        </a:defRPr>
                      </a:pPr>
                      <a:r>
                        <a:t>Every session</a:t>
                      </a:r>
                    </a:p>
                  </a:txBody>
                  <a:tcPr anchor="ctr">
                    <a:solidFill>
                      <a:srgbClr val="FFFFFF"/>
                    </a:solidFill>
                  </a:tcPr>
                </a:tc>
              </a:tr>
              <a:tr h="380722">
                <a:tc>
                  <a:txBody>
                    <a:bodyPr/>
                    <a:lstStyle/>
                    <a:p>
                      <a:pPr>
                        <a:defRPr sz="1100">
                          <a:solidFill>
                            <a:srgbClr val="2D3A4A"/>
                          </a:solidFill>
                        </a:defRPr>
                      </a:pPr>
                      <a:r>
                        <a:t>Decisional Balance</a:t>
                      </a:r>
                    </a:p>
                  </a:txBody>
                  <a:tcPr anchor="ctr">
                    <a:solidFill>
                      <a:srgbClr val="EBF5FF"/>
                    </a:solidFill>
                  </a:tcPr>
                </a:tc>
                <a:tc>
                  <a:txBody>
                    <a:bodyPr/>
                    <a:lstStyle/>
                    <a:p>
                      <a:pPr>
                        <a:defRPr sz="1100">
                          <a:solidFill>
                            <a:srgbClr val="2D3A4A"/>
                          </a:solidFill>
                        </a:defRPr>
                      </a:pPr>
                      <a:r>
                        <a:t>Explore pros/cons systematically</a:t>
                      </a:r>
                    </a:p>
                  </a:txBody>
                  <a:tcPr anchor="ctr">
                    <a:solidFill>
                      <a:srgbClr val="EBF5FF"/>
                    </a:solidFill>
                  </a:tcPr>
                </a:tc>
                <a:tc>
                  <a:txBody>
                    <a:bodyPr/>
                    <a:lstStyle/>
                    <a:p>
                      <a:pPr>
                        <a:defRPr sz="1100">
                          <a:solidFill>
                            <a:srgbClr val="2D3A4A"/>
                          </a:solidFill>
                        </a:defRPr>
                      </a:pPr>
                      <a:r>
                        <a:t>When exploring ambivalence</a:t>
                      </a:r>
                    </a:p>
                  </a:txBody>
                  <a:tcPr anchor="ctr">
                    <a:solidFill>
                      <a:srgbClr val="EBF5FF"/>
                    </a:solidFill>
                  </a:tcPr>
                </a:tc>
              </a:tr>
              <a:tr h="380722">
                <a:tc>
                  <a:txBody>
                    <a:bodyPr/>
                    <a:lstStyle/>
                    <a:p>
                      <a:pPr>
                        <a:defRPr sz="1100">
                          <a:solidFill>
                            <a:srgbClr val="2D3A4A"/>
                          </a:solidFill>
                        </a:defRPr>
                      </a:pPr>
                      <a:r>
                        <a:t>Looking Back/Forward</a:t>
                      </a:r>
                    </a:p>
                  </a:txBody>
                  <a:tcPr anchor="ctr">
                    <a:solidFill>
                      <a:srgbClr val="FFFFFF"/>
                    </a:solidFill>
                  </a:tcPr>
                </a:tc>
                <a:tc>
                  <a:txBody>
                    <a:bodyPr/>
                    <a:lstStyle/>
                    <a:p>
                      <a:pPr>
                        <a:defRPr sz="1100">
                          <a:solidFill>
                            <a:srgbClr val="2D3A4A"/>
                          </a:solidFill>
                        </a:defRPr>
                      </a:pPr>
                      <a:r>
                        <a:t>Create temporal discrepancy</a:t>
                      </a:r>
                    </a:p>
                  </a:txBody>
                  <a:tcPr anchor="ctr">
                    <a:solidFill>
                      <a:srgbClr val="FFFFFF"/>
                    </a:solidFill>
                  </a:tcPr>
                </a:tc>
                <a:tc>
                  <a:txBody>
                    <a:bodyPr/>
                    <a:lstStyle/>
                    <a:p>
                      <a:pPr>
                        <a:defRPr sz="1100">
                          <a:solidFill>
                            <a:srgbClr val="2D3A4A"/>
                          </a:solidFill>
                        </a:defRPr>
                      </a:pPr>
                      <a:r>
                        <a:t>To develop discrepancy</a:t>
                      </a:r>
                    </a:p>
                  </a:txBody>
                  <a:tcPr anchor="ctr">
                    <a:solidFill>
                      <a:srgbClr val="FFFFFF"/>
                    </a:solidFill>
                  </a:tcPr>
                </a:tc>
              </a:tr>
              <a:tr h="380722">
                <a:tc>
                  <a:txBody>
                    <a:bodyPr/>
                    <a:lstStyle/>
                    <a:p>
                      <a:pPr>
                        <a:defRPr sz="1100">
                          <a:solidFill>
                            <a:srgbClr val="2D3A4A"/>
                          </a:solidFill>
                        </a:defRPr>
                      </a:pPr>
                      <a:r>
                        <a:t>Values Clarification</a:t>
                      </a:r>
                    </a:p>
                  </a:txBody>
                  <a:tcPr anchor="ctr">
                    <a:solidFill>
                      <a:srgbClr val="EBF5FF"/>
                    </a:solidFill>
                  </a:tcPr>
                </a:tc>
                <a:tc>
                  <a:txBody>
                    <a:bodyPr/>
                    <a:lstStyle/>
                    <a:p>
                      <a:pPr>
                        <a:defRPr sz="1100">
                          <a:solidFill>
                            <a:srgbClr val="2D3A4A"/>
                          </a:solidFill>
                        </a:defRPr>
                      </a:pPr>
                      <a:r>
                        <a:t>Identify core values for discrepancy</a:t>
                      </a:r>
                    </a:p>
                  </a:txBody>
                  <a:tcPr anchor="ctr">
                    <a:solidFill>
                      <a:srgbClr val="EBF5FF"/>
                    </a:solidFill>
                  </a:tcPr>
                </a:tc>
                <a:tc>
                  <a:txBody>
                    <a:bodyPr/>
                    <a:lstStyle/>
                    <a:p>
                      <a:pPr>
                        <a:defRPr sz="1100">
                          <a:solidFill>
                            <a:srgbClr val="2D3A4A"/>
                          </a:solidFill>
                        </a:defRPr>
                      </a:pPr>
                      <a:r>
                        <a:t>Session 2 especially</a:t>
                      </a:r>
                    </a:p>
                  </a:txBody>
                  <a:tcPr anchor="ctr">
                    <a:solidFill>
                      <a:srgbClr val="EBF5FF"/>
                    </a:solidFill>
                  </a:tcPr>
                </a:tc>
              </a:tr>
              <a:tr h="380732">
                <a:tc>
                  <a:txBody>
                    <a:bodyPr/>
                    <a:lstStyle/>
                    <a:p>
                      <a:pPr>
                        <a:defRPr sz="1100">
                          <a:solidFill>
                            <a:srgbClr val="2D3A4A"/>
                          </a:solidFill>
                        </a:defRPr>
                      </a:pPr>
                      <a:r>
                        <a:t>Change Plan Worksheet</a:t>
                      </a:r>
                    </a:p>
                  </a:txBody>
                  <a:tcPr anchor="ctr">
                    <a:solidFill>
                      <a:srgbClr val="FFFFFF"/>
                    </a:solidFill>
                  </a:tcPr>
                </a:tc>
                <a:tc>
                  <a:txBody>
                    <a:bodyPr/>
                    <a:lstStyle/>
                    <a:p>
                      <a:pPr>
                        <a:defRPr sz="1100">
                          <a:solidFill>
                            <a:srgbClr val="2D3A4A"/>
                          </a:solidFill>
                        </a:defRPr>
                      </a:pPr>
                      <a:r>
                        <a:t>Formalize commitment</a:t>
                      </a:r>
                    </a:p>
                  </a:txBody>
                  <a:tcPr anchor="ctr">
                    <a:solidFill>
                      <a:srgbClr val="FFFFFF"/>
                    </a:solidFill>
                  </a:tcPr>
                </a:tc>
                <a:tc>
                  <a:txBody>
                    <a:bodyPr/>
                    <a:lstStyle/>
                    <a:p>
                      <a:pPr>
                        <a:defRPr sz="1100">
                          <a:solidFill>
                            <a:srgbClr val="2D3A4A"/>
                          </a:solidFill>
                        </a:defRPr>
                      </a:pPr>
                      <a:r>
                        <a:t>When ready for planning</a:t>
                      </a:r>
                    </a:p>
                  </a:txBody>
                  <a:tcPr anchor="ctr">
                    <a:solidFill>
                      <a:srgbClr val="FFFFFF"/>
                    </a:solidFill>
                  </a:tcPr>
                </a:tc>
              </a:tr>
            </a:tbl>
          </a:graphicData>
        </a:graphic>
      </p:graphicFrame>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Each technique has a specific purpose and optimal timing — match technique to clinical need.</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et al. (1995). MET Manual. | Miller &amp; Rollnick (2013). MI, 3rd ed. Guilford.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Double-Sided Reflection &amp; Elicit-Provide-Elicit</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DOUBLE-SIDED REFLECTION:</a:t>
            </a:r>
          </a:p>
          <a:p>
            <a:pPr lvl="1">
              <a:spcAft>
                <a:spcPts val="400"/>
              </a:spcAft>
              <a:defRPr sz="1300">
                <a:solidFill>
                  <a:srgbClr val="2D3A4A"/>
                </a:solidFill>
              </a:defRPr>
            </a:pPr>
            <a:r>
              <a:t>Captures BOTH sides of ambivalence in one statement</a:t>
            </a:r>
          </a:p>
          <a:p>
            <a:pPr lvl="1">
              <a:spcAft>
                <a:spcPts val="400"/>
              </a:spcAft>
              <a:defRPr sz="1300">
                <a:solidFill>
                  <a:srgbClr val="2D3A4A"/>
                </a:solidFill>
              </a:defRPr>
            </a:pPr>
            <a:r>
              <a:t>Format: 'On one hand [sustain talk] AND on the other [change talk]'</a:t>
            </a:r>
          </a:p>
          <a:p>
            <a:pPr>
              <a:spcAft>
                <a:spcPts val="400"/>
              </a:spcAft>
              <a:defRPr sz="1500">
                <a:solidFill>
                  <a:srgbClr val="2D3A4A"/>
                </a:solidFill>
              </a:defRPr>
            </a:pPr>
          </a:p>
          <a:p>
            <a:pPr lvl="1">
              <a:spcAft>
                <a:spcPts val="400"/>
              </a:spcAft>
              <a:defRPr sz="1300">
                <a:solidFill>
                  <a:srgbClr val="2D3A4A"/>
                </a:solidFill>
              </a:defRPr>
            </a:pPr>
            <a:r>
              <a:t>From MET Manual:</a:t>
            </a:r>
          </a:p>
          <a:p>
            <a:pPr lvl="1">
              <a:spcAft>
                <a:spcPts val="400"/>
              </a:spcAft>
              <a:defRPr sz="1300">
                <a:solidFill>
                  <a:srgbClr val="2D3A4A"/>
                </a:solidFill>
              </a:defRPr>
            </a:pPr>
            <a:r>
              <a:t>'You don't think alcohol is harming you seriously now, AND at the same time</a:t>
            </a:r>
          </a:p>
          <a:p>
            <a:pPr lvl="1">
              <a:spcAft>
                <a:spcPts val="400"/>
              </a:spcAft>
              <a:defRPr sz="1300">
                <a:solidFill>
                  <a:srgbClr val="2D3A4A"/>
                </a:solidFill>
              </a:defRPr>
            </a:pPr>
            <a:r>
              <a:t>you are concerned that it might get out of hand later'</a:t>
            </a:r>
          </a:p>
          <a:p>
            <a:pPr>
              <a:spcAft>
                <a:spcPts val="400"/>
              </a:spcAft>
              <a:defRPr sz="1500">
                <a:solidFill>
                  <a:srgbClr val="2D3A4A"/>
                </a:solidFill>
              </a:defRPr>
            </a:pPr>
          </a:p>
          <a:p>
            <a:pPr lvl="1">
              <a:spcAft>
                <a:spcPts val="400"/>
              </a:spcAft>
              <a:defRPr sz="1300">
                <a:solidFill>
                  <a:srgbClr val="2D3A4A"/>
                </a:solidFill>
              </a:defRPr>
            </a:pPr>
            <a:r>
              <a:t>NOTE: Use 'AND' not 'BUT' — 'but' negates what came before</a:t>
            </a:r>
          </a:p>
          <a:p>
            <a:pPr>
              <a:spcAft>
                <a:spcPts val="400"/>
              </a:spcAft>
              <a:defRPr sz="1500">
                <a:solidFill>
                  <a:srgbClr val="2D3A4A"/>
                </a:solidFill>
              </a:defRPr>
            </a:pPr>
          </a:p>
          <a:p>
            <a:pPr>
              <a:spcAft>
                <a:spcPts val="400"/>
              </a:spcAft>
              <a:defRPr sz="1500" b="1">
                <a:solidFill>
                  <a:srgbClr val="2C5F8A"/>
                </a:solidFill>
              </a:defRPr>
            </a:pPr>
            <a:r>
              <a:t>ELICIT-PROVIDE-ELICIT (Ask-Tell-Ask):</a:t>
            </a:r>
          </a:p>
          <a:p>
            <a:pPr lvl="1">
              <a:spcAft>
                <a:spcPts val="400"/>
              </a:spcAft>
              <a:defRPr sz="1300">
                <a:solidFill>
                  <a:srgbClr val="2D3A4A"/>
                </a:solidFill>
              </a:defRPr>
            </a:pPr>
            <a:r>
              <a:t>A structured way to give information WITHOUT lecturing:</a:t>
            </a:r>
          </a:p>
          <a:p>
            <a:pPr lvl="1">
              <a:spcAft>
                <a:spcPts val="400"/>
              </a:spcAft>
              <a:defRPr sz="1300">
                <a:solidFill>
                  <a:srgbClr val="2D3A4A"/>
                </a:solidFill>
              </a:defRPr>
            </a:pPr>
            <a:r>
              <a:t>Step 1 — ELICIT: 'What do you already know about alcohol and memory?'</a:t>
            </a:r>
          </a:p>
          <a:p>
            <a:pPr lvl="1">
              <a:spcAft>
                <a:spcPts val="400"/>
              </a:spcAft>
              <a:defRPr sz="1300">
                <a:solidFill>
                  <a:srgbClr val="2D3A4A"/>
                </a:solidFill>
              </a:defRPr>
            </a:pPr>
            <a:r>
              <a:t>Step 2 — PROVIDE: 'Would it be okay if I shared some information?'</a:t>
            </a:r>
          </a:p>
          <a:p>
            <a:pPr lvl="2">
              <a:spcAft>
                <a:spcPts val="400"/>
              </a:spcAft>
              <a:defRPr sz="1200">
                <a:solidFill>
                  <a:srgbClr val="2D3A4A"/>
                </a:solidFill>
              </a:defRPr>
            </a:pPr>
            <a:r>
              <a:t>(Wait for permission → provide brief, relevant information)</a:t>
            </a:r>
          </a:p>
          <a:p>
            <a:pPr lvl="1">
              <a:spcAft>
                <a:spcPts val="400"/>
              </a:spcAft>
              <a:defRPr sz="1300">
                <a:solidFill>
                  <a:srgbClr val="2D3A4A"/>
                </a:solidFill>
              </a:defRPr>
            </a:pPr>
            <a:r>
              <a:t>Step 3 — ELICIT: 'What do you make of that? How does this fit for you?'</a:t>
            </a:r>
          </a:p>
          <a:p>
            <a:pPr>
              <a:spcAft>
                <a:spcPts val="400"/>
              </a:spcAft>
              <a:defRPr sz="1500">
                <a:solidFill>
                  <a:srgbClr val="2D3A4A"/>
                </a:solidFill>
              </a:defRPr>
            </a:pPr>
          </a:p>
          <a:p>
            <a:pPr lvl="1">
              <a:spcAft>
                <a:spcPts val="400"/>
              </a:spcAft>
              <a:defRPr sz="1300">
                <a:solidFill>
                  <a:srgbClr val="2D3A4A"/>
                </a:solidFill>
              </a:defRPr>
            </a:pPr>
            <a:r>
              <a:t>WHY: Maintains collaboration; avoids expert-down hierarchy</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Use 'AND' not 'BUT' in double-sided reflections. Always ask permission before providing information (E-P-E).</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et al. (1995). MET Manual, pp. 18-19. | Miller &amp; Rollnick (2013). MI, 3rd ed.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Values Clarification, Looking Back/Forward, Decisional Balance</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VALUES CLARIFICATION (Best used in Session 2):</a:t>
            </a:r>
          </a:p>
          <a:p>
            <a:pPr lvl="1">
              <a:spcAft>
                <a:spcPts val="400"/>
              </a:spcAft>
              <a:defRPr sz="1300">
                <a:solidFill>
                  <a:srgbClr val="2D3A4A"/>
                </a:solidFill>
              </a:defRPr>
            </a:pPr>
            <a:r>
              <a:t>T: 'What are the 3 most important things in your life?'</a:t>
            </a:r>
          </a:p>
          <a:p>
            <a:pPr lvl="1">
              <a:spcAft>
                <a:spcPts val="400"/>
              </a:spcAft>
              <a:defRPr sz="1300">
                <a:solidFill>
                  <a:srgbClr val="2D3A4A"/>
                </a:solidFill>
              </a:defRPr>
            </a:pPr>
            <a:r>
              <a:t>T: 'How does your drinking fit with being that person?'</a:t>
            </a:r>
          </a:p>
          <a:p>
            <a:pPr lvl="1">
              <a:spcAft>
                <a:spcPts val="400"/>
              </a:spcAft>
              <a:defRPr sz="1300">
                <a:solidFill>
                  <a:srgbClr val="2D3A4A"/>
                </a:solidFill>
              </a:defRPr>
            </a:pPr>
            <a:r>
              <a:t>→ Creates powerful internal discrepancy from client's OWN values</a:t>
            </a:r>
          </a:p>
          <a:p>
            <a:pPr>
              <a:spcAft>
                <a:spcPts val="400"/>
              </a:spcAft>
              <a:defRPr sz="1500">
                <a:solidFill>
                  <a:srgbClr val="2D3A4A"/>
                </a:solidFill>
              </a:defRPr>
            </a:pPr>
          </a:p>
          <a:p>
            <a:pPr>
              <a:spcAft>
                <a:spcPts val="400"/>
              </a:spcAft>
              <a:defRPr sz="1500" b="1">
                <a:solidFill>
                  <a:srgbClr val="2C5F8A"/>
                </a:solidFill>
              </a:defRPr>
            </a:pPr>
            <a:r>
              <a:t>LOOKING BACK:</a:t>
            </a:r>
          </a:p>
          <a:p>
            <a:pPr lvl="1">
              <a:spcAft>
                <a:spcPts val="400"/>
              </a:spcAft>
              <a:defRPr sz="1300">
                <a:solidFill>
                  <a:srgbClr val="2D3A4A"/>
                </a:solidFill>
              </a:defRPr>
            </a:pPr>
            <a:r>
              <a:t>'What was life like before drinking became a problem?'</a:t>
            </a:r>
          </a:p>
          <a:p>
            <a:pPr lvl="1">
              <a:spcAft>
                <a:spcPts val="400"/>
              </a:spcAft>
              <a:defRPr sz="1300">
                <a:solidFill>
                  <a:srgbClr val="2D3A4A"/>
                </a:solidFill>
              </a:defRPr>
            </a:pPr>
            <a:r>
              <a:t>Purpose: Temporal discrepancy (then vs. now)</a:t>
            </a:r>
          </a:p>
          <a:p>
            <a:pPr>
              <a:spcAft>
                <a:spcPts val="400"/>
              </a:spcAft>
              <a:defRPr sz="1500">
                <a:solidFill>
                  <a:srgbClr val="2D3A4A"/>
                </a:solidFill>
              </a:defRPr>
            </a:pPr>
          </a:p>
          <a:p>
            <a:pPr>
              <a:spcAft>
                <a:spcPts val="400"/>
              </a:spcAft>
              <a:defRPr sz="1500" b="1">
                <a:solidFill>
                  <a:srgbClr val="2C5F8A"/>
                </a:solidFill>
              </a:defRPr>
            </a:pPr>
            <a:r>
              <a:t>LOOKING FORWARD:</a:t>
            </a:r>
          </a:p>
          <a:p>
            <a:pPr lvl="1">
              <a:spcAft>
                <a:spcPts val="400"/>
              </a:spcAft>
              <a:defRPr sz="1300">
                <a:solidFill>
                  <a:srgbClr val="2D3A4A"/>
                </a:solidFill>
              </a:defRPr>
            </a:pPr>
            <a:r>
              <a:t>'If you continue as you are, where do you see yourself in 5 years?'</a:t>
            </a:r>
          </a:p>
          <a:p>
            <a:pPr lvl="1">
              <a:spcAft>
                <a:spcPts val="400"/>
              </a:spcAft>
              <a:defRPr sz="1300">
                <a:solidFill>
                  <a:srgbClr val="2D3A4A"/>
                </a:solidFill>
              </a:defRPr>
            </a:pPr>
            <a:r>
              <a:t>'If you DID change, what would life look like?'</a:t>
            </a:r>
          </a:p>
          <a:p>
            <a:pPr lvl="1">
              <a:spcAft>
                <a:spcPts val="400"/>
              </a:spcAft>
              <a:defRPr sz="1300">
                <a:solidFill>
                  <a:srgbClr val="2D3A4A"/>
                </a:solidFill>
              </a:defRPr>
            </a:pPr>
            <a:r>
              <a:t>Purpose: Future discrepancy (feared vs. hoped outcome)</a:t>
            </a:r>
          </a:p>
          <a:p>
            <a:pPr>
              <a:spcAft>
                <a:spcPts val="400"/>
              </a:spcAft>
              <a:defRPr sz="1500">
                <a:solidFill>
                  <a:srgbClr val="2D3A4A"/>
                </a:solidFill>
              </a:defRPr>
            </a:pPr>
          </a:p>
          <a:p>
            <a:pPr>
              <a:spcAft>
                <a:spcPts val="400"/>
              </a:spcAft>
              <a:defRPr sz="1500" b="1">
                <a:solidFill>
                  <a:srgbClr val="2C5F8A"/>
                </a:solidFill>
              </a:defRPr>
            </a:pPr>
            <a:r>
              <a:t>DECISIONAL BALANCE (4 Quadrants):</a:t>
            </a:r>
          </a:p>
          <a:p>
            <a:pPr lvl="1">
              <a:spcAft>
                <a:spcPts val="400"/>
              </a:spcAft>
              <a:defRPr sz="1300">
                <a:solidFill>
                  <a:srgbClr val="2D3A4A"/>
                </a:solidFill>
              </a:defRPr>
            </a:pPr>
            <a:r>
              <a:t>1. Benefits of drinking (start here — validates, reduces defensiveness)</a:t>
            </a:r>
          </a:p>
          <a:p>
            <a:pPr lvl="1">
              <a:spcAft>
                <a:spcPts val="400"/>
              </a:spcAft>
              <a:defRPr sz="1300">
                <a:solidFill>
                  <a:srgbClr val="2D3A4A"/>
                </a:solidFill>
              </a:defRPr>
            </a:pPr>
            <a:r>
              <a:t>2. Costs of drinking (develops discrepancy)</a:t>
            </a:r>
          </a:p>
          <a:p>
            <a:pPr lvl="1">
              <a:spcAft>
                <a:spcPts val="400"/>
              </a:spcAft>
              <a:defRPr sz="1300">
                <a:solidFill>
                  <a:srgbClr val="2D3A4A"/>
                </a:solidFill>
              </a:defRPr>
            </a:pPr>
            <a:r>
              <a:t>3. Fears about changing (acknowledges difficulty)</a:t>
            </a:r>
          </a:p>
          <a:p>
            <a:pPr lvl="1">
              <a:spcAft>
                <a:spcPts val="400"/>
              </a:spcAft>
              <a:defRPr sz="1300">
                <a:solidFill>
                  <a:srgbClr val="2D3A4A"/>
                </a:solidFill>
              </a:defRPr>
            </a:pPr>
            <a:r>
              <a:t>4. Benefits of changing (builds forward momentum — end here)</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Values create 'why'; looking back/forward creates urgency; decisional balance makes ambivalence visible and workable.</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et al. (1995). MET Manual. | Janis &amp; Mann (1977). Decision Making. Free Press.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0" y="1371600"/>
            <a:ext cx="2103120" cy="2103120"/>
          </a:xfrm>
          <a:prstGeom prst="ellipse">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800" b="1">
                <a:solidFill>
                  <a:srgbClr val="FFFFFF"/>
                </a:solidFill>
              </a:defRPr>
            </a:pPr>
            <a:r>
              <a:t>16</a:t>
            </a:r>
          </a:p>
        </p:txBody>
      </p:sp>
      <p:sp>
        <p:nvSpPr>
          <p:cNvPr id="4" name="TextBox 3"/>
          <p:cNvSpPr txBox="1"/>
          <p:nvPr/>
        </p:nvSpPr>
        <p:spPr>
          <a:xfrm>
            <a:off x="914400" y="3840480"/>
            <a:ext cx="10332720" cy="1371600"/>
          </a:xfrm>
          <a:prstGeom prst="rect">
            <a:avLst/>
          </a:prstGeom>
          <a:noFill/>
        </p:spPr>
        <p:txBody>
          <a:bodyPr wrap="square">
            <a:spAutoFit/>
          </a:bodyPr>
          <a:lstStyle/>
          <a:p>
            <a:pPr algn="ctr">
              <a:defRPr sz="3600" b="1">
                <a:solidFill>
                  <a:srgbClr val="FFFFFF"/>
                </a:solidFill>
              </a:defRPr>
            </a:pPr>
            <a:r>
              <a:t>Clinical Worksheets &amp; Handouts</a:t>
            </a:r>
          </a:p>
        </p:txBody>
      </p:sp>
      <p:sp>
        <p:nvSpPr>
          <p:cNvPr id="5" name="Rectangle 4"/>
          <p:cNvSpPr/>
          <p:nvPr/>
        </p:nvSpPr>
        <p:spPr>
          <a:xfrm>
            <a:off x="3657600" y="5303520"/>
            <a:ext cx="4846320" cy="45720"/>
          </a:xfrm>
          <a:prstGeom prst="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Change Plan Worksheet (Session 2-3)</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Completed COLLABORATIVELY with client — they write it (maintains ownership):</a:t>
            </a:r>
          </a:p>
          <a:p>
            <a:pPr>
              <a:spcAft>
                <a:spcPts val="400"/>
              </a:spcAft>
              <a:defRPr sz="1500">
                <a:solidFill>
                  <a:srgbClr val="2D3A4A"/>
                </a:solidFill>
              </a:defRPr>
            </a:pPr>
          </a:p>
          <a:p>
            <a:pPr lvl="1">
              <a:spcAft>
                <a:spcPts val="400"/>
              </a:spcAft>
              <a:defRPr sz="1300">
                <a:solidFill>
                  <a:srgbClr val="2D3A4A"/>
                </a:solidFill>
              </a:defRPr>
            </a:pPr>
            <a:r>
              <a:t>1. The changes I want to make are:</a:t>
            </a:r>
          </a:p>
          <a:p>
            <a:pPr lvl="2">
              <a:spcAft>
                <a:spcPts val="400"/>
              </a:spcAft>
              <a:defRPr sz="1200">
                <a:solidFill>
                  <a:srgbClr val="2D3A4A"/>
                </a:solidFill>
              </a:defRPr>
            </a:pPr>
            <a:r>
              <a:t>___________________________________________________</a:t>
            </a:r>
          </a:p>
          <a:p>
            <a:pPr>
              <a:spcAft>
                <a:spcPts val="400"/>
              </a:spcAft>
              <a:defRPr sz="1500">
                <a:solidFill>
                  <a:srgbClr val="2D3A4A"/>
                </a:solidFill>
              </a:defRPr>
            </a:pPr>
          </a:p>
          <a:p>
            <a:pPr lvl="1">
              <a:spcAft>
                <a:spcPts val="400"/>
              </a:spcAft>
              <a:defRPr sz="1300">
                <a:solidFill>
                  <a:srgbClr val="2D3A4A"/>
                </a:solidFill>
              </a:defRPr>
            </a:pPr>
            <a:r>
              <a:t>2. The most important reasons I want to make these changes:</a:t>
            </a:r>
          </a:p>
          <a:p>
            <a:pPr lvl="2">
              <a:spcAft>
                <a:spcPts val="400"/>
              </a:spcAft>
              <a:defRPr sz="1200">
                <a:solidFill>
                  <a:srgbClr val="2D3A4A"/>
                </a:solidFill>
              </a:defRPr>
            </a:pPr>
            <a:r>
              <a:t>___________________________________________________</a:t>
            </a:r>
          </a:p>
          <a:p>
            <a:pPr>
              <a:spcAft>
                <a:spcPts val="400"/>
              </a:spcAft>
              <a:defRPr sz="1500">
                <a:solidFill>
                  <a:srgbClr val="2D3A4A"/>
                </a:solidFill>
              </a:defRPr>
            </a:pPr>
          </a:p>
          <a:p>
            <a:pPr lvl="1">
              <a:spcAft>
                <a:spcPts val="400"/>
              </a:spcAft>
              <a:defRPr sz="1300">
                <a:solidFill>
                  <a:srgbClr val="2D3A4A"/>
                </a:solidFill>
              </a:defRPr>
            </a:pPr>
            <a:r>
              <a:t>3. The steps I plan to take:</a:t>
            </a:r>
          </a:p>
          <a:p>
            <a:pPr lvl="2">
              <a:spcAft>
                <a:spcPts val="400"/>
              </a:spcAft>
              <a:defRPr sz="1200">
                <a:solidFill>
                  <a:srgbClr val="2D3A4A"/>
                </a:solidFill>
              </a:defRPr>
            </a:pPr>
            <a:r>
              <a:t>___________________________________________________</a:t>
            </a:r>
          </a:p>
          <a:p>
            <a:pPr>
              <a:spcAft>
                <a:spcPts val="400"/>
              </a:spcAft>
              <a:defRPr sz="1500">
                <a:solidFill>
                  <a:srgbClr val="2D3A4A"/>
                </a:solidFill>
              </a:defRPr>
            </a:pPr>
          </a:p>
          <a:p>
            <a:pPr lvl="1">
              <a:spcAft>
                <a:spcPts val="400"/>
              </a:spcAft>
              <a:defRPr sz="1300">
                <a:solidFill>
                  <a:srgbClr val="2D3A4A"/>
                </a:solidFill>
              </a:defRPr>
            </a:pPr>
            <a:r>
              <a:t>4. People who can help me (Person → How they can help):</a:t>
            </a:r>
          </a:p>
          <a:p>
            <a:pPr lvl="2">
              <a:spcAft>
                <a:spcPts val="400"/>
              </a:spcAft>
              <a:defRPr sz="1200">
                <a:solidFill>
                  <a:srgbClr val="2D3A4A"/>
                </a:solidFill>
              </a:defRPr>
            </a:pPr>
            <a:r>
              <a:t>___________________________________________________</a:t>
            </a:r>
          </a:p>
          <a:p>
            <a:pPr>
              <a:spcAft>
                <a:spcPts val="400"/>
              </a:spcAft>
              <a:defRPr sz="1500">
                <a:solidFill>
                  <a:srgbClr val="2D3A4A"/>
                </a:solidFill>
              </a:defRPr>
            </a:pPr>
          </a:p>
          <a:p>
            <a:pPr lvl="1">
              <a:spcAft>
                <a:spcPts val="400"/>
              </a:spcAft>
              <a:defRPr sz="1300">
                <a:solidFill>
                  <a:srgbClr val="2D3A4A"/>
                </a:solidFill>
              </a:defRPr>
            </a:pPr>
            <a:r>
              <a:t>5. I will know my plan is working if:</a:t>
            </a:r>
          </a:p>
          <a:p>
            <a:pPr lvl="2">
              <a:spcAft>
                <a:spcPts val="400"/>
              </a:spcAft>
              <a:defRPr sz="1200">
                <a:solidFill>
                  <a:srgbClr val="2D3A4A"/>
                </a:solidFill>
              </a:defRPr>
            </a:pPr>
            <a:r>
              <a:t>___________________________________________________</a:t>
            </a:r>
          </a:p>
          <a:p>
            <a:pPr>
              <a:spcAft>
                <a:spcPts val="400"/>
              </a:spcAft>
              <a:defRPr sz="1500">
                <a:solidFill>
                  <a:srgbClr val="2D3A4A"/>
                </a:solidFill>
              </a:defRPr>
            </a:pPr>
          </a:p>
          <a:p>
            <a:pPr lvl="1">
              <a:spcAft>
                <a:spcPts val="400"/>
              </a:spcAft>
              <a:defRPr sz="1300">
                <a:solidFill>
                  <a:srgbClr val="2D3A4A"/>
                </a:solidFill>
              </a:defRPr>
            </a:pPr>
            <a:r>
              <a:t>6. Things that could interfere and how I'll handle them:</a:t>
            </a:r>
          </a:p>
          <a:p>
            <a:pPr lvl="2">
              <a:spcAft>
                <a:spcPts val="400"/>
              </a:spcAft>
              <a:defRPr sz="1200">
                <a:solidFill>
                  <a:srgbClr val="2D3A4A"/>
                </a:solidFill>
              </a:defRPr>
            </a:pPr>
            <a:r>
              <a:t>___________________________________________________</a:t>
            </a:r>
          </a:p>
          <a:p>
            <a:pPr>
              <a:spcAft>
                <a:spcPts val="400"/>
              </a:spcAft>
              <a:defRPr sz="1500">
                <a:solidFill>
                  <a:srgbClr val="2D3A4A"/>
                </a:solidFill>
              </a:defRPr>
            </a:pPr>
          </a:p>
          <a:p>
            <a:pPr>
              <a:spcAft>
                <a:spcPts val="400"/>
              </a:spcAft>
              <a:defRPr sz="1500">
                <a:solidFill>
                  <a:srgbClr val="2D3A4A"/>
                </a:solidFill>
              </a:defRPr>
            </a:pPr>
            <a:r>
              <a:t>Give client their copy. Revisit in Sessions 3-4.</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Written commitment is stronger than verbal commitment — the Change Plan makes it concrete and portable.</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et al. (1995). MET Manual (original Change Plan Worksheet). | SAMHSA (2019). TIP 35.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Assessment Worksheets: Rulers, Decisional Balance, Diary</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READINESS RULER (Print as visual aid):</a:t>
            </a:r>
          </a:p>
          <a:p>
            <a:pPr lvl="1">
              <a:spcAft>
                <a:spcPts val="400"/>
              </a:spcAft>
              <a:defRPr sz="1300">
                <a:solidFill>
                  <a:srgbClr val="2D3A4A"/>
                </a:solidFill>
              </a:defRPr>
            </a:pPr>
            <a:r>
              <a:t>Not at all ready                                   Completely ready</a:t>
            </a:r>
          </a:p>
          <a:p>
            <a:pPr lvl="1">
              <a:spcAft>
                <a:spcPts val="400"/>
              </a:spcAft>
              <a:defRPr sz="1300">
                <a:solidFill>
                  <a:srgbClr val="2D3A4A"/>
                </a:solidFill>
              </a:defRPr>
            </a:pPr>
            <a:r>
              <a:t>0 ─── 1 ─── 2 ─── 3 ─── 4 ─── 5 ─── 6 ─── 7 ─── 8 ─── 9 ─── 10</a:t>
            </a:r>
          </a:p>
          <a:p>
            <a:pPr>
              <a:spcAft>
                <a:spcPts val="400"/>
              </a:spcAft>
              <a:defRPr sz="1500">
                <a:solidFill>
                  <a:srgbClr val="2D3A4A"/>
                </a:solidFill>
              </a:defRPr>
            </a:pPr>
          </a:p>
          <a:p>
            <a:pPr>
              <a:spcAft>
                <a:spcPts val="400"/>
              </a:spcAft>
              <a:defRPr sz="1500" b="1">
                <a:solidFill>
                  <a:srgbClr val="2C5F8A"/>
                </a:solidFill>
              </a:defRPr>
            </a:pPr>
            <a:r>
              <a:t>DECISIONAL BALANCE SHEET (4 quadrants on paper):</a:t>
            </a:r>
          </a:p>
          <a:p>
            <a:pPr lvl="1">
              <a:spcAft>
                <a:spcPts val="400"/>
              </a:spcAft>
              <a:defRPr sz="1300">
                <a:solidFill>
                  <a:srgbClr val="2D3A4A"/>
                </a:solidFill>
              </a:defRPr>
            </a:pPr>
            <a:r>
              <a:t>Benefits of Drinking | Costs of Drinking</a:t>
            </a:r>
          </a:p>
          <a:p>
            <a:pPr lvl="1">
              <a:spcAft>
                <a:spcPts val="400"/>
              </a:spcAft>
              <a:defRPr sz="1300">
                <a:solidFill>
                  <a:srgbClr val="2D3A4A"/>
                </a:solidFill>
              </a:defRPr>
            </a:pPr>
            <a:r>
              <a:t>─────────────────────┼──────────────────</a:t>
            </a:r>
          </a:p>
          <a:p>
            <a:pPr lvl="1">
              <a:spcAft>
                <a:spcPts val="400"/>
              </a:spcAft>
              <a:defRPr sz="1300">
                <a:solidFill>
                  <a:srgbClr val="2D3A4A"/>
                </a:solidFill>
              </a:defRPr>
            </a:pPr>
            <a:r>
              <a:t>Costs of Changing    | Benefits of Changing</a:t>
            </a:r>
          </a:p>
          <a:p>
            <a:pPr>
              <a:spcAft>
                <a:spcPts val="400"/>
              </a:spcAft>
              <a:defRPr sz="1500">
                <a:solidFill>
                  <a:srgbClr val="2D3A4A"/>
                </a:solidFill>
              </a:defRPr>
            </a:pPr>
          </a:p>
          <a:p>
            <a:pPr>
              <a:spcAft>
                <a:spcPts val="400"/>
              </a:spcAft>
              <a:defRPr sz="1500" b="1">
                <a:solidFill>
                  <a:srgbClr val="2C5F8A"/>
                </a:solidFill>
              </a:defRPr>
            </a:pPr>
            <a:r>
              <a:t>SUBSTANCE USE DIARY (Daily Monitoring):</a:t>
            </a:r>
          </a:p>
          <a:p>
            <a:pPr lvl="1">
              <a:spcAft>
                <a:spcPts val="400"/>
              </a:spcAft>
              <a:defRPr sz="1300">
                <a:solidFill>
                  <a:srgbClr val="2D3A4A"/>
                </a:solidFill>
              </a:defRPr>
            </a:pPr>
            <a:r>
              <a:t>Date | Substance | Amount | Time | Place | Trigger | Mood After</a:t>
            </a:r>
          </a:p>
          <a:p>
            <a:pPr>
              <a:spcAft>
                <a:spcPts val="400"/>
              </a:spcAft>
              <a:defRPr sz="1500">
                <a:solidFill>
                  <a:srgbClr val="2D3A4A"/>
                </a:solidFill>
              </a:defRPr>
            </a:pPr>
          </a:p>
          <a:p>
            <a:pPr>
              <a:spcAft>
                <a:spcPts val="400"/>
              </a:spcAft>
              <a:defRPr sz="1500" b="1">
                <a:solidFill>
                  <a:srgbClr val="2C5F8A"/>
                </a:solidFill>
              </a:defRPr>
            </a:pPr>
            <a:r>
              <a:t>TRIGGER IDENTIFICATION WORKSHEET:</a:t>
            </a:r>
          </a:p>
          <a:p>
            <a:pPr lvl="1">
              <a:spcAft>
                <a:spcPts val="400"/>
              </a:spcAft>
              <a:defRPr sz="1300">
                <a:solidFill>
                  <a:srgbClr val="2D3A4A"/>
                </a:solidFill>
              </a:defRPr>
            </a:pPr>
            <a:r>
              <a:t>External: People___ Places___ Times___ Events___</a:t>
            </a:r>
          </a:p>
          <a:p>
            <a:pPr lvl="1">
              <a:spcAft>
                <a:spcPts val="400"/>
              </a:spcAft>
              <a:defRPr sz="1300">
                <a:solidFill>
                  <a:srgbClr val="2D3A4A"/>
                </a:solidFill>
              </a:defRPr>
            </a:pPr>
            <a:r>
              <a:t>Internal: Emotions___ Thoughts___ Physical sensations___ Urges___</a:t>
            </a:r>
          </a:p>
          <a:p>
            <a:pPr>
              <a:spcAft>
                <a:spcPts val="400"/>
              </a:spcAft>
              <a:defRPr sz="1500">
                <a:solidFill>
                  <a:srgbClr val="2D3A4A"/>
                </a:solidFill>
              </a:defRPr>
            </a:pPr>
          </a:p>
          <a:p>
            <a:pPr>
              <a:spcAft>
                <a:spcPts val="400"/>
              </a:spcAft>
              <a:defRPr sz="1500" b="1">
                <a:solidFill>
                  <a:srgbClr val="2C5F8A"/>
                </a:solidFill>
              </a:defRPr>
            </a:pPr>
            <a:r>
              <a:t>EMERGENCY/RELAPSE PREVENTION PLAN:</a:t>
            </a:r>
          </a:p>
          <a:p>
            <a:pPr lvl="1">
              <a:spcAft>
                <a:spcPts val="400"/>
              </a:spcAft>
              <a:defRPr sz="1300">
                <a:solidFill>
                  <a:srgbClr val="2D3A4A"/>
                </a:solidFill>
              </a:defRPr>
            </a:pPr>
            <a:r>
              <a:t>Warning signs | Who to call | Where to go | What to do | What NOT to do</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Written worksheets externalize internal processes and serve as tangible tools for between-session work.</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et al. (1995). MET Manual. | Marlatt &amp; Gordon (1985). Relapse Prevention. | SAMHSA (2019). TIP 35.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0" y="1371600"/>
            <a:ext cx="2103120" cy="2103120"/>
          </a:xfrm>
          <a:prstGeom prst="ellipse">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800" b="1">
                <a:solidFill>
                  <a:srgbClr val="FFFFFF"/>
                </a:solidFill>
              </a:defRPr>
            </a:pPr>
            <a:r>
              <a:t>17</a:t>
            </a:r>
          </a:p>
        </p:txBody>
      </p:sp>
      <p:sp>
        <p:nvSpPr>
          <p:cNvPr id="4" name="TextBox 3"/>
          <p:cNvSpPr txBox="1"/>
          <p:nvPr/>
        </p:nvSpPr>
        <p:spPr>
          <a:xfrm>
            <a:off x="914400" y="3840480"/>
            <a:ext cx="10332720" cy="1371600"/>
          </a:xfrm>
          <a:prstGeom prst="rect">
            <a:avLst/>
          </a:prstGeom>
          <a:noFill/>
        </p:spPr>
        <p:txBody>
          <a:bodyPr wrap="square">
            <a:spAutoFit/>
          </a:bodyPr>
          <a:lstStyle/>
          <a:p>
            <a:pPr algn="ctr">
              <a:defRPr sz="3600" b="1">
                <a:solidFill>
                  <a:srgbClr val="FFFFFF"/>
                </a:solidFill>
              </a:defRPr>
            </a:pPr>
            <a:r>
              <a:t>Case Formulations</a:t>
            </a:r>
          </a:p>
        </p:txBody>
      </p:sp>
      <p:sp>
        <p:nvSpPr>
          <p:cNvPr id="5" name="Rectangle 4"/>
          <p:cNvSpPr/>
          <p:nvPr/>
        </p:nvSpPr>
        <p:spPr>
          <a:xfrm>
            <a:off x="3657600" y="5303520"/>
            <a:ext cx="4846320" cy="45720"/>
          </a:xfrm>
          <a:prstGeom prst="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Case 1: Alcohol Dependence — Mr. Rajesh, 42, Manager</a:t>
            </a:r>
          </a:p>
        </p:txBody>
      </p:sp>
      <p:graphicFrame>
        <p:nvGraphicFramePr>
          <p:cNvPr id="5" name="Table 4"/>
          <p:cNvGraphicFramePr>
            <a:graphicFrameLocks noGrp="1"/>
          </p:cNvGraphicFramePr>
          <p:nvPr/>
        </p:nvGraphicFramePr>
        <p:xfrm>
          <a:off x="457200" y="1371600"/>
          <a:ext cx="11247120" cy="4572000"/>
        </p:xfrm>
        <a:graphic>
          <a:graphicData uri="http://schemas.openxmlformats.org/drawingml/2006/table">
            <a:tbl>
              <a:tblPr firstRow="1" bandRow="1">
                <a:tableStyleId>{5C22544A-7EE6-4342-B048-85BDC9FD1C3A}</a:tableStyleId>
              </a:tblPr>
              <a:tblGrid>
                <a:gridCol w="2560320"/>
                <a:gridCol w="8686800"/>
              </a:tblGrid>
              <a:tr h="351692">
                <a:tc>
                  <a:txBody>
                    <a:bodyPr/>
                    <a:lstStyle/>
                    <a:p>
                      <a:pPr algn="ctr">
                        <a:defRPr sz="1200" b="1">
                          <a:solidFill>
                            <a:srgbClr val="FFFFFF"/>
                          </a:solidFill>
                        </a:defRPr>
                      </a:pPr>
                      <a:r>
                        <a:t>Aspect</a:t>
                      </a:r>
                    </a:p>
                  </a:txBody>
                  <a:tcPr anchor="ctr">
                    <a:solidFill>
                      <a:srgbClr val="1B2A4A"/>
                    </a:solidFill>
                  </a:tcPr>
                </a:tc>
                <a:tc>
                  <a:txBody>
                    <a:bodyPr/>
                    <a:lstStyle/>
                    <a:p>
                      <a:pPr algn="ctr">
                        <a:defRPr sz="1200" b="1">
                          <a:solidFill>
                            <a:srgbClr val="FFFFFF"/>
                          </a:solidFill>
                        </a:defRPr>
                      </a:pPr>
                      <a:r>
                        <a:t>Details</a:t>
                      </a:r>
                    </a:p>
                  </a:txBody>
                  <a:tcPr anchor="ctr">
                    <a:solidFill>
                      <a:srgbClr val="1B2A4A"/>
                    </a:solidFill>
                  </a:tcPr>
                </a:tc>
              </a:tr>
              <a:tr h="351692">
                <a:tc>
                  <a:txBody>
                    <a:bodyPr/>
                    <a:lstStyle/>
                    <a:p>
                      <a:pPr>
                        <a:defRPr sz="1100">
                          <a:solidFill>
                            <a:srgbClr val="2D3A4A"/>
                          </a:solidFill>
                        </a:defRPr>
                      </a:pPr>
                      <a:r>
                        <a:t>Presenting Problem</a:t>
                      </a:r>
                    </a:p>
                  </a:txBody>
                  <a:tcPr anchor="ctr">
                    <a:solidFill>
                      <a:srgbClr val="EBF5FF"/>
                    </a:solidFill>
                  </a:tcPr>
                </a:tc>
                <a:tc>
                  <a:txBody>
                    <a:bodyPr/>
                    <a:lstStyle/>
                    <a:p>
                      <a:pPr>
                        <a:defRPr sz="1100">
                          <a:solidFill>
                            <a:srgbClr val="2D3A4A"/>
                          </a:solidFill>
                        </a:defRPr>
                      </a:pPr>
                      <a:r>
                        <a:t>Referred by physician; elevated liver enzymes; 15 years drinking</a:t>
                      </a:r>
                    </a:p>
                  </a:txBody>
                  <a:tcPr anchor="ctr">
                    <a:solidFill>
                      <a:srgbClr val="EBF5FF"/>
                    </a:solidFill>
                  </a:tcPr>
                </a:tc>
              </a:tr>
              <a:tr h="351692">
                <a:tc>
                  <a:txBody>
                    <a:bodyPr/>
                    <a:lstStyle/>
                    <a:p>
                      <a:pPr>
                        <a:defRPr sz="1100">
                          <a:solidFill>
                            <a:srgbClr val="2D3A4A"/>
                          </a:solidFill>
                        </a:defRPr>
                      </a:pPr>
                      <a:r>
                        <a:t>Pattern</a:t>
                      </a:r>
                    </a:p>
                  </a:txBody>
                  <a:tcPr anchor="ctr">
                    <a:solidFill>
                      <a:srgbClr val="FFFFFF"/>
                    </a:solidFill>
                  </a:tcPr>
                </a:tc>
                <a:tc>
                  <a:txBody>
                    <a:bodyPr/>
                    <a:lstStyle/>
                    <a:p>
                      <a:pPr>
                        <a:defRPr sz="1100">
                          <a:solidFill>
                            <a:srgbClr val="2D3A4A"/>
                          </a:solidFill>
                        </a:defRPr>
                      </a:pPr>
                      <a:r>
                        <a:t>Daily 180-350ml whiskey; tolerance increased; morning tremors</a:t>
                      </a:r>
                    </a:p>
                  </a:txBody>
                  <a:tcPr anchor="ctr">
                    <a:solidFill>
                      <a:srgbClr val="FFFFFF"/>
                    </a:solidFill>
                  </a:tcPr>
                </a:tc>
              </a:tr>
              <a:tr h="351692">
                <a:tc>
                  <a:txBody>
                    <a:bodyPr/>
                    <a:lstStyle/>
                    <a:p>
                      <a:pPr>
                        <a:defRPr sz="1100">
                          <a:solidFill>
                            <a:srgbClr val="2D3A4A"/>
                          </a:solidFill>
                        </a:defRPr>
                      </a:pPr>
                      <a:r>
                        <a:t>Stage of Change</a:t>
                      </a:r>
                    </a:p>
                  </a:txBody>
                  <a:tcPr anchor="ctr">
                    <a:solidFill>
                      <a:srgbClr val="EBF5FF"/>
                    </a:solidFill>
                  </a:tcPr>
                </a:tc>
                <a:tc>
                  <a:txBody>
                    <a:bodyPr/>
                    <a:lstStyle/>
                    <a:p>
                      <a:pPr>
                        <a:defRPr sz="1100">
                          <a:solidFill>
                            <a:srgbClr val="2D3A4A"/>
                          </a:solidFill>
                        </a:defRPr>
                      </a:pPr>
                      <a:r>
                        <a:t>Contemplation (knows it's a problem; not committed yet)</a:t>
                      </a:r>
                    </a:p>
                  </a:txBody>
                  <a:tcPr anchor="ctr">
                    <a:solidFill>
                      <a:srgbClr val="EBF5FF"/>
                    </a:solidFill>
                  </a:tcPr>
                </a:tc>
              </a:tr>
              <a:tr h="351692">
                <a:tc>
                  <a:txBody>
                    <a:bodyPr/>
                    <a:lstStyle/>
                    <a:p>
                      <a:pPr>
                        <a:defRPr sz="1100">
                          <a:solidFill>
                            <a:srgbClr val="2D3A4A"/>
                          </a:solidFill>
                        </a:defRPr>
                      </a:pPr>
                      <a:r>
                        <a:t>Importance</a:t>
                      </a:r>
                    </a:p>
                  </a:txBody>
                  <a:tcPr anchor="ctr">
                    <a:solidFill>
                      <a:srgbClr val="FFFFFF"/>
                    </a:solidFill>
                  </a:tcPr>
                </a:tc>
                <a:tc>
                  <a:txBody>
                    <a:bodyPr/>
                    <a:lstStyle/>
                    <a:p>
                      <a:pPr>
                        <a:defRPr sz="1100">
                          <a:solidFill>
                            <a:srgbClr val="2D3A4A"/>
                          </a:solidFill>
                        </a:defRPr>
                      </a:pPr>
                      <a:r>
                        <a:t>5/10 — sees problem but enjoys social aspects</a:t>
                      </a:r>
                    </a:p>
                  </a:txBody>
                  <a:tcPr anchor="ctr">
                    <a:solidFill>
                      <a:srgbClr val="FFFFFF"/>
                    </a:solidFill>
                  </a:tcPr>
                </a:tc>
              </a:tr>
              <a:tr h="351692">
                <a:tc>
                  <a:txBody>
                    <a:bodyPr/>
                    <a:lstStyle/>
                    <a:p>
                      <a:pPr>
                        <a:defRPr sz="1100">
                          <a:solidFill>
                            <a:srgbClr val="2D3A4A"/>
                          </a:solidFill>
                        </a:defRPr>
                      </a:pPr>
                      <a:r>
                        <a:t>Confidence</a:t>
                      </a:r>
                    </a:p>
                  </a:txBody>
                  <a:tcPr anchor="ctr">
                    <a:solidFill>
                      <a:srgbClr val="EBF5FF"/>
                    </a:solidFill>
                  </a:tcPr>
                </a:tc>
                <a:tc>
                  <a:txBody>
                    <a:bodyPr/>
                    <a:lstStyle/>
                    <a:p>
                      <a:pPr>
                        <a:defRPr sz="1100">
                          <a:solidFill>
                            <a:srgbClr val="2D3A4A"/>
                          </a:solidFill>
                        </a:defRPr>
                      </a:pPr>
                      <a:r>
                        <a:t>3/10 — previous failed attempts; low self-efficacy</a:t>
                      </a:r>
                    </a:p>
                  </a:txBody>
                  <a:tcPr anchor="ctr">
                    <a:solidFill>
                      <a:srgbClr val="EBF5FF"/>
                    </a:solidFill>
                  </a:tcPr>
                </a:tc>
              </a:tr>
              <a:tr h="351692">
                <a:tc>
                  <a:txBody>
                    <a:bodyPr/>
                    <a:lstStyle/>
                    <a:p>
                      <a:pPr>
                        <a:defRPr sz="1100">
                          <a:solidFill>
                            <a:srgbClr val="2D3A4A"/>
                          </a:solidFill>
                        </a:defRPr>
                      </a:pPr>
                      <a:r>
                        <a:t>Key Values</a:t>
                      </a:r>
                    </a:p>
                  </a:txBody>
                  <a:tcPr anchor="ctr">
                    <a:solidFill>
                      <a:srgbClr val="FFFFFF"/>
                    </a:solidFill>
                  </a:tcPr>
                </a:tc>
                <a:tc>
                  <a:txBody>
                    <a:bodyPr/>
                    <a:lstStyle/>
                    <a:p>
                      <a:pPr>
                        <a:defRPr sz="1100">
                          <a:solidFill>
                            <a:srgbClr val="2D3A4A"/>
                          </a:solidFill>
                        </a:defRPr>
                      </a:pPr>
                      <a:r>
                        <a:t>Family (wife + children), career advancement, health</a:t>
                      </a:r>
                    </a:p>
                  </a:txBody>
                  <a:tcPr anchor="ctr">
                    <a:solidFill>
                      <a:srgbClr val="FFFFFF"/>
                    </a:solidFill>
                  </a:tcPr>
                </a:tc>
              </a:tr>
              <a:tr h="351692">
                <a:tc>
                  <a:txBody>
                    <a:bodyPr/>
                    <a:lstStyle/>
                    <a:p>
                      <a:pPr>
                        <a:defRPr sz="1100">
                          <a:solidFill>
                            <a:srgbClr val="2D3A4A"/>
                          </a:solidFill>
                        </a:defRPr>
                      </a:pPr>
                      <a:r>
                        <a:t>Discrepancy</a:t>
                      </a:r>
                    </a:p>
                  </a:txBody>
                  <a:tcPr anchor="ctr">
                    <a:solidFill>
                      <a:srgbClr val="EBF5FF"/>
                    </a:solidFill>
                  </a:tcPr>
                </a:tc>
                <a:tc>
                  <a:txBody>
                    <a:bodyPr/>
                    <a:lstStyle/>
                    <a:p>
                      <a:pPr>
                        <a:defRPr sz="1100">
                          <a:solidFill>
                            <a:srgbClr val="2D3A4A"/>
                          </a:solidFill>
                        </a:defRPr>
                      </a:pPr>
                      <a:r>
                        <a:t>Values family but missing kids' events; promotion denied</a:t>
                      </a:r>
                    </a:p>
                  </a:txBody>
                  <a:tcPr anchor="ctr">
                    <a:solidFill>
                      <a:srgbClr val="EBF5FF"/>
                    </a:solidFill>
                  </a:tcPr>
                </a:tc>
              </a:tr>
              <a:tr h="351692">
                <a:tc>
                  <a:txBody>
                    <a:bodyPr/>
                    <a:lstStyle/>
                    <a:p>
                      <a:pPr>
                        <a:defRPr sz="1100">
                          <a:solidFill>
                            <a:srgbClr val="2D3A4A"/>
                          </a:solidFill>
                        </a:defRPr>
                      </a:pPr>
                      <a:r>
                        <a:t>Session 1 Focus</a:t>
                      </a:r>
                    </a:p>
                  </a:txBody>
                  <a:tcPr anchor="ctr">
                    <a:solidFill>
                      <a:srgbClr val="FFFFFF"/>
                    </a:solidFill>
                  </a:tcPr>
                </a:tc>
                <a:tc>
                  <a:txBody>
                    <a:bodyPr/>
                    <a:lstStyle/>
                    <a:p>
                      <a:pPr>
                        <a:defRPr sz="1100">
                          <a:solidFill>
                            <a:srgbClr val="2D3A4A"/>
                          </a:solidFill>
                        </a:defRPr>
                      </a:pPr>
                      <a:r>
                        <a:t>Feedback (liver + norms); explore reactions; elicit concerns</a:t>
                      </a:r>
                    </a:p>
                  </a:txBody>
                  <a:tcPr anchor="ctr">
                    <a:solidFill>
                      <a:srgbClr val="FFFFFF"/>
                    </a:solidFill>
                  </a:tcPr>
                </a:tc>
              </a:tr>
              <a:tr h="351692">
                <a:tc>
                  <a:txBody>
                    <a:bodyPr/>
                    <a:lstStyle/>
                    <a:p>
                      <a:pPr>
                        <a:defRPr sz="1100">
                          <a:solidFill>
                            <a:srgbClr val="2D3A4A"/>
                          </a:solidFill>
                        </a:defRPr>
                      </a:pPr>
                      <a:r>
                        <a:t>Session 2 Focus</a:t>
                      </a:r>
                    </a:p>
                  </a:txBody>
                  <a:tcPr anchor="ctr">
                    <a:solidFill>
                      <a:srgbClr val="EBF5FF"/>
                    </a:solidFill>
                  </a:tcPr>
                </a:tc>
                <a:tc>
                  <a:txBody>
                    <a:bodyPr/>
                    <a:lstStyle/>
                    <a:p>
                      <a:pPr>
                        <a:defRPr sz="1100">
                          <a:solidFill>
                            <a:srgbClr val="2D3A4A"/>
                          </a:solidFill>
                        </a:defRPr>
                      </a:pPr>
                      <a:r>
                        <a:t>Values clarification; decisional balance; efficacy building</a:t>
                      </a:r>
                    </a:p>
                  </a:txBody>
                  <a:tcPr anchor="ctr">
                    <a:solidFill>
                      <a:srgbClr val="EBF5FF"/>
                    </a:solidFill>
                  </a:tcPr>
                </a:tc>
              </a:tr>
              <a:tr h="351692">
                <a:tc>
                  <a:txBody>
                    <a:bodyPr/>
                    <a:lstStyle/>
                    <a:p>
                      <a:pPr>
                        <a:defRPr sz="1100">
                          <a:solidFill>
                            <a:srgbClr val="2D3A4A"/>
                          </a:solidFill>
                        </a:defRPr>
                      </a:pPr>
                      <a:r>
                        <a:t>Session 3 Focus</a:t>
                      </a:r>
                    </a:p>
                  </a:txBody>
                  <a:tcPr anchor="ctr">
                    <a:solidFill>
                      <a:srgbClr val="FFFFFF"/>
                    </a:solidFill>
                  </a:tcPr>
                </a:tc>
                <a:tc>
                  <a:txBody>
                    <a:bodyPr/>
                    <a:lstStyle/>
                    <a:p>
                      <a:pPr>
                        <a:defRPr sz="1100">
                          <a:solidFill>
                            <a:srgbClr val="2D3A4A"/>
                          </a:solidFill>
                        </a:defRPr>
                      </a:pPr>
                      <a:r>
                        <a:t>Progress review (reduced to weekends); affirm success</a:t>
                      </a:r>
                    </a:p>
                  </a:txBody>
                  <a:tcPr anchor="ctr">
                    <a:solidFill>
                      <a:srgbClr val="FFFFFF"/>
                    </a:solidFill>
                  </a:tcPr>
                </a:tc>
              </a:tr>
              <a:tr h="351692">
                <a:tc>
                  <a:txBody>
                    <a:bodyPr/>
                    <a:lstStyle/>
                    <a:p>
                      <a:pPr>
                        <a:defRPr sz="1100">
                          <a:solidFill>
                            <a:srgbClr val="2D3A4A"/>
                          </a:solidFill>
                        </a:defRPr>
                      </a:pPr>
                      <a:r>
                        <a:t>Session 4 Focus</a:t>
                      </a:r>
                    </a:p>
                  </a:txBody>
                  <a:tcPr anchor="ctr">
                    <a:solidFill>
                      <a:srgbClr val="EBF5FF"/>
                    </a:solidFill>
                  </a:tcPr>
                </a:tc>
                <a:tc>
                  <a:txBody>
                    <a:bodyPr/>
                    <a:lstStyle/>
                    <a:p>
                      <a:pPr>
                        <a:defRPr sz="1100">
                          <a:solidFill>
                            <a:srgbClr val="2D3A4A"/>
                          </a:solidFill>
                        </a:defRPr>
                      </a:pPr>
                      <a:r>
                        <a:t>Maintenance; coping for work stress; relapse prevention</a:t>
                      </a:r>
                    </a:p>
                  </a:txBody>
                  <a:tcPr anchor="ctr">
                    <a:solidFill>
                      <a:srgbClr val="EBF5FF"/>
                    </a:solidFill>
                  </a:tcPr>
                </a:tc>
              </a:tr>
              <a:tr h="351696">
                <a:tc>
                  <a:txBody>
                    <a:bodyPr/>
                    <a:lstStyle/>
                    <a:p>
                      <a:pPr>
                        <a:defRPr sz="1100">
                          <a:solidFill>
                            <a:srgbClr val="2D3A4A"/>
                          </a:solidFill>
                        </a:defRPr>
                      </a:pPr>
                      <a:r>
                        <a:t>Outcome</a:t>
                      </a:r>
                    </a:p>
                  </a:txBody>
                  <a:tcPr anchor="ctr">
                    <a:solidFill>
                      <a:srgbClr val="FFFFFF"/>
                    </a:solidFill>
                  </a:tcPr>
                </a:tc>
                <a:tc>
                  <a:txBody>
                    <a:bodyPr/>
                    <a:lstStyle/>
                    <a:p>
                      <a:pPr>
                        <a:defRPr sz="1100">
                          <a:solidFill>
                            <a:srgbClr val="2D3A4A"/>
                          </a:solidFill>
                        </a:defRPr>
                      </a:pPr>
                      <a:r>
                        <a:t>Reduced 70%; liver normalized at 6 months</a:t>
                      </a:r>
                    </a:p>
                  </a:txBody>
                  <a:tcPr anchor="ctr">
                    <a:solidFill>
                      <a:srgbClr val="FFFFFF"/>
                    </a:solidFill>
                  </a:tcPr>
                </a:tc>
              </a:tr>
            </a:tbl>
          </a:graphicData>
        </a:graphic>
      </p:graphicFrame>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MET case formulation: assess stage + importance + confidence → match strategy accordingly.</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et al. (1995). MET Manual. | NIMHANS Manual (2008). | Project MATCH (1997).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Case 2: Cannabis (Ravi, 22) &amp; Case 3: Opioid (Suresh, 28)</a:t>
            </a:r>
          </a:p>
        </p:txBody>
      </p:sp>
      <p:sp>
        <p:nvSpPr>
          <p:cNvPr id="5" name="Rounded Rectangle 4"/>
          <p:cNvSpPr/>
          <p:nvPr/>
        </p:nvSpPr>
        <p:spPr>
          <a:xfrm>
            <a:off x="457200" y="1280160"/>
            <a:ext cx="5303520" cy="457200"/>
          </a:xfrm>
          <a:prstGeom prst="roundRect">
            <a:avLst/>
          </a:prstGeom>
          <a:solidFill>
            <a:srgbClr val="2C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CANNABIS — RAVI, 22, Engineering Student</a:t>
            </a:r>
          </a:p>
        </p:txBody>
      </p:sp>
      <p:sp>
        <p:nvSpPr>
          <p:cNvPr id="6" name="TextBox 5"/>
          <p:cNvSpPr txBox="1"/>
          <p:nvPr/>
        </p:nvSpPr>
        <p:spPr>
          <a:xfrm>
            <a:off x="548640" y="1828800"/>
            <a:ext cx="5120640" cy="3657600"/>
          </a:xfrm>
          <a:prstGeom prst="rect">
            <a:avLst/>
          </a:prstGeom>
          <a:noFill/>
        </p:spPr>
        <p:txBody>
          <a:bodyPr wrap="square">
            <a:spAutoFit/>
          </a:bodyPr>
          <a:lstStyle/>
          <a:p>
            <a:pPr>
              <a:spcAft>
                <a:spcPts val="400"/>
              </a:spcAft>
              <a:defRPr sz="1200">
                <a:solidFill>
                  <a:srgbClr val="2D3A4A"/>
                </a:solidFill>
              </a:defRPr>
            </a:pPr>
            <a:r>
              <a:t>• Presenting: Academic failure, memory problems</a:t>
            </a:r>
          </a:p>
          <a:p>
            <a:pPr>
              <a:spcAft>
                <a:spcPts val="400"/>
              </a:spcAft>
              <a:defRPr sz="1200">
                <a:solidFill>
                  <a:srgbClr val="2D3A4A"/>
                </a:solidFill>
              </a:defRPr>
            </a:pPr>
            <a:r>
              <a:t>• Stage: Precontemplation (brought by parents)</a:t>
            </a:r>
          </a:p>
          <a:p>
            <a:pPr>
              <a:spcAft>
                <a:spcPts val="400"/>
              </a:spcAft>
              <a:defRPr sz="1200">
                <a:solidFill>
                  <a:srgbClr val="2D3A4A"/>
                </a:solidFill>
              </a:defRPr>
            </a:pPr>
            <a:r>
              <a:t>• Importance: 3/10 | Confidence: 7/10</a:t>
            </a:r>
          </a:p>
          <a:p>
            <a:pPr>
              <a:spcAft>
                <a:spcPts val="400"/>
              </a:spcAft>
              <a:defRPr sz="1200">
                <a:solidFill>
                  <a:srgbClr val="2D3A4A"/>
                </a:solidFill>
              </a:defRPr>
            </a:pPr>
            <a:r>
              <a:t>• Focus: DEVELOP DISCREPANCY</a:t>
            </a:r>
          </a:p>
          <a:p>
            <a:pPr>
              <a:spcAft>
                <a:spcPts val="400"/>
              </a:spcAft>
              <a:defRPr sz="1200">
                <a:solidFill>
                  <a:srgbClr val="2D3A4A"/>
                </a:solidFill>
              </a:defRPr>
            </a:pPr>
            <a:r>
              <a:t>• S1: Neuropsych feedback; academic data</a:t>
            </a:r>
          </a:p>
          <a:p>
            <a:pPr>
              <a:spcAft>
                <a:spcPts val="400"/>
              </a:spcAft>
              <a:defRPr sz="1200">
                <a:solidFill>
                  <a:srgbClr val="2D3A4A"/>
                </a:solidFill>
              </a:defRPr>
            </a:pPr>
            <a:r>
              <a:t>• S2: Career values; looking forward 5 yrs</a:t>
            </a:r>
          </a:p>
          <a:p>
            <a:pPr>
              <a:spcAft>
                <a:spcPts val="400"/>
              </a:spcAft>
              <a:defRPr sz="1200">
                <a:solidFill>
                  <a:srgbClr val="2D3A4A"/>
                </a:solidFill>
              </a:defRPr>
            </a:pPr>
            <a:r>
              <a:t>• Outcome: Reduced use; grades improved</a:t>
            </a:r>
          </a:p>
          <a:p>
            <a:pPr>
              <a:spcAft>
                <a:spcPts val="400"/>
              </a:spcAft>
              <a:defRPr sz="1200">
                <a:solidFill>
                  <a:srgbClr val="2D3A4A"/>
                </a:solidFill>
              </a:defRPr>
            </a:pPr>
            <a:r>
              <a:t>• </a:t>
            </a:r>
          </a:p>
          <a:p>
            <a:pPr>
              <a:spcAft>
                <a:spcPts val="400"/>
              </a:spcAft>
              <a:defRPr sz="1200">
                <a:solidFill>
                  <a:srgbClr val="2D3A4A"/>
                </a:solidFill>
              </a:defRPr>
            </a:pPr>
            <a:r>
              <a:t>• Strategy: Low importance → focus on WHY</a:t>
            </a:r>
          </a:p>
        </p:txBody>
      </p:sp>
      <p:sp>
        <p:nvSpPr>
          <p:cNvPr id="7" name="Rounded Rectangle 6"/>
          <p:cNvSpPr/>
          <p:nvPr/>
        </p:nvSpPr>
        <p:spPr>
          <a:xfrm>
            <a:off x="6217920" y="1280160"/>
            <a:ext cx="5303520" cy="457200"/>
          </a:xfrm>
          <a:prstGeom prst="roundRect">
            <a:avLst/>
          </a:prstGeom>
          <a:solidFill>
            <a:srgbClr val="17A2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OPIOID — SURESH, 28, Daily Wage Worker</a:t>
            </a:r>
          </a:p>
        </p:txBody>
      </p:sp>
      <p:sp>
        <p:nvSpPr>
          <p:cNvPr id="8" name="TextBox 7"/>
          <p:cNvSpPr txBox="1"/>
          <p:nvPr/>
        </p:nvSpPr>
        <p:spPr>
          <a:xfrm>
            <a:off x="6309360" y="1828800"/>
            <a:ext cx="5120640" cy="3657600"/>
          </a:xfrm>
          <a:prstGeom prst="rect">
            <a:avLst/>
          </a:prstGeom>
          <a:noFill/>
        </p:spPr>
        <p:txBody>
          <a:bodyPr wrap="square">
            <a:spAutoFit/>
          </a:bodyPr>
          <a:lstStyle/>
          <a:p>
            <a:pPr>
              <a:spcAft>
                <a:spcPts val="400"/>
              </a:spcAft>
              <a:defRPr sz="1200">
                <a:solidFill>
                  <a:srgbClr val="2D3A4A"/>
                </a:solidFill>
              </a:defRPr>
            </a:pPr>
            <a:r>
              <a:t>• Presenting: IV heroin 5 yrs; wife left; suicidal</a:t>
            </a:r>
          </a:p>
          <a:p>
            <a:pPr>
              <a:spcAft>
                <a:spcPts val="400"/>
              </a:spcAft>
              <a:defRPr sz="1200">
                <a:solidFill>
                  <a:srgbClr val="2D3A4A"/>
                </a:solidFill>
              </a:defRPr>
            </a:pPr>
            <a:r>
              <a:t>• Stage: Contemplation (desperate, hopeless)</a:t>
            </a:r>
          </a:p>
          <a:p>
            <a:pPr>
              <a:spcAft>
                <a:spcPts val="400"/>
              </a:spcAft>
              <a:defRPr sz="1200">
                <a:solidFill>
                  <a:srgbClr val="2D3A4A"/>
                </a:solidFill>
              </a:defRPr>
            </a:pPr>
            <a:r>
              <a:t>• Importance: 9/10 | Confidence: 1/10</a:t>
            </a:r>
          </a:p>
          <a:p>
            <a:pPr>
              <a:spcAft>
                <a:spcPts val="400"/>
              </a:spcAft>
              <a:defRPr sz="1200">
                <a:solidFill>
                  <a:srgbClr val="2D3A4A"/>
                </a:solidFill>
              </a:defRPr>
            </a:pPr>
            <a:r>
              <a:t>• Focus: BUILD SELF-EFFICACY</a:t>
            </a:r>
          </a:p>
          <a:p>
            <a:pPr>
              <a:spcAft>
                <a:spcPts val="400"/>
              </a:spcAft>
              <a:defRPr sz="1200">
                <a:solidFill>
                  <a:srgbClr val="2D3A4A"/>
                </a:solidFill>
              </a:defRPr>
            </a:pPr>
            <a:r>
              <a:t>• S1: Safety assessment; affirm survival strength</a:t>
            </a:r>
          </a:p>
          <a:p>
            <a:pPr>
              <a:spcAft>
                <a:spcPts val="400"/>
              </a:spcAft>
              <a:defRPr sz="1200">
                <a:solidFill>
                  <a:srgbClr val="2D3A4A"/>
                </a:solidFill>
              </a:defRPr>
            </a:pPr>
            <a:r>
              <a:t>• S2: Past successes; discuss OST options</a:t>
            </a:r>
          </a:p>
          <a:p>
            <a:pPr>
              <a:spcAft>
                <a:spcPts val="400"/>
              </a:spcAft>
              <a:defRPr sz="1200">
                <a:solidFill>
                  <a:srgbClr val="2D3A4A"/>
                </a:solidFill>
              </a:defRPr>
            </a:pPr>
            <a:r>
              <a:t>• Outcome: Engaged in OST + MET; stabilized</a:t>
            </a:r>
          </a:p>
          <a:p>
            <a:pPr>
              <a:spcAft>
                <a:spcPts val="400"/>
              </a:spcAft>
              <a:defRPr sz="1200">
                <a:solidFill>
                  <a:srgbClr val="2D3A4A"/>
                </a:solidFill>
              </a:defRPr>
            </a:pPr>
            <a:r>
              <a:t>• </a:t>
            </a:r>
          </a:p>
          <a:p>
            <a:pPr>
              <a:spcAft>
                <a:spcPts val="400"/>
              </a:spcAft>
              <a:defRPr sz="1200">
                <a:solidFill>
                  <a:srgbClr val="2D3A4A"/>
                </a:solidFill>
              </a:defRPr>
            </a:pPr>
            <a:r>
              <a:t>• Strategy: High importance → focus on CAN</a:t>
            </a:r>
          </a:p>
        </p:txBody>
      </p:sp>
      <p:sp>
        <p:nvSpPr>
          <p:cNvPr id="9" name="Rounded Rectangle 8"/>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Low importance → develop discrepancy (WHY change). Low confidence → build self-efficacy (CAN change).</a:t>
            </a:r>
          </a:p>
        </p:txBody>
      </p:sp>
      <p:sp>
        <p:nvSpPr>
          <p:cNvPr id="10" name="Rectangle 9"/>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et al. (1995). MET Manual. | NIMHANS Manual (2008). | Carroll et al. (2006). Drug Alcohol Depend, 81, 161.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Case 4: Dual Diagnosis — Meera, 38, Depression + Alcohol</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a:solidFill>
                  <a:srgbClr val="2D3A4A"/>
                </a:solidFill>
              </a:defRPr>
            </a:pPr>
            <a:r>
              <a:t>Presenting: Husband left; using alcohol to cope with MDD; 250ml rum daily</a:t>
            </a:r>
          </a:p>
          <a:p>
            <a:pPr>
              <a:spcAft>
                <a:spcPts val="400"/>
              </a:spcAft>
              <a:defRPr sz="1500">
                <a:solidFill>
                  <a:srgbClr val="2D3A4A"/>
                </a:solidFill>
              </a:defRPr>
            </a:pPr>
            <a:r>
              <a:t>Comorbidity: MDD (moderate), GAD, low self-esteem, social isolation</a:t>
            </a:r>
          </a:p>
          <a:p>
            <a:pPr>
              <a:spcAft>
                <a:spcPts val="400"/>
              </a:spcAft>
              <a:defRPr sz="1500">
                <a:solidFill>
                  <a:srgbClr val="2D3A4A"/>
                </a:solidFill>
              </a:defRPr>
            </a:pPr>
            <a:r>
              <a:t>Stage: Contemplation | Importance: 7/10 | Confidence: 2/10</a:t>
            </a:r>
          </a:p>
          <a:p>
            <a:pPr>
              <a:spcAft>
                <a:spcPts val="400"/>
              </a:spcAft>
              <a:defRPr sz="1500">
                <a:solidFill>
                  <a:srgbClr val="2D3A4A"/>
                </a:solidFill>
              </a:defRPr>
            </a:pPr>
          </a:p>
          <a:p>
            <a:pPr>
              <a:spcAft>
                <a:spcPts val="400"/>
              </a:spcAft>
              <a:defRPr sz="1500">
                <a:solidFill>
                  <a:srgbClr val="2D3A4A"/>
                </a:solidFill>
              </a:defRPr>
            </a:pPr>
            <a:r>
              <a:t>Key Discrepancy: Wants to feel better → Alcohol is WORSENING depression</a:t>
            </a:r>
          </a:p>
          <a:p>
            <a:pPr>
              <a:spcAft>
                <a:spcPts val="400"/>
              </a:spcAft>
              <a:defRPr sz="1500">
                <a:solidFill>
                  <a:srgbClr val="2D3A4A"/>
                </a:solidFill>
              </a:defRPr>
            </a:pPr>
          </a:p>
          <a:p>
            <a:pPr>
              <a:spcAft>
                <a:spcPts val="400"/>
              </a:spcAft>
              <a:defRPr sz="1500" b="1">
                <a:solidFill>
                  <a:srgbClr val="2C5F8A"/>
                </a:solidFill>
              </a:defRPr>
            </a:pPr>
            <a:r>
              <a:t>MET SESSION PLAN:</a:t>
            </a:r>
          </a:p>
          <a:p>
            <a:pPr lvl="1">
              <a:spcAft>
                <a:spcPts val="400"/>
              </a:spcAft>
              <a:defRPr sz="1300">
                <a:solidFill>
                  <a:srgbClr val="2D3A4A"/>
                </a:solidFill>
              </a:defRPr>
            </a:pPr>
            <a:r>
              <a:t>S1: Feedback on depression-alcohol cycle (psychoeducation via E-P-E)</a:t>
            </a:r>
          </a:p>
          <a:p>
            <a:pPr lvl="2">
              <a:spcAft>
                <a:spcPts val="400"/>
              </a:spcAft>
              <a:defRPr sz="1200">
                <a:solidFill>
                  <a:srgbClr val="2D3A4A"/>
                </a:solidFill>
              </a:defRPr>
            </a:pPr>
            <a:r>
              <a:t>'Alcohol provides temporary relief but worsens depression long-term'</a:t>
            </a:r>
          </a:p>
          <a:p>
            <a:pPr lvl="1">
              <a:spcAft>
                <a:spcPts val="400"/>
              </a:spcAft>
              <a:defRPr sz="1300">
                <a:solidFill>
                  <a:srgbClr val="2D3A4A"/>
                </a:solidFill>
              </a:defRPr>
            </a:pPr>
            <a:r>
              <a:t>S2: Values (children, independence); small achievable goals; affirm</a:t>
            </a:r>
          </a:p>
          <a:p>
            <a:pPr lvl="1">
              <a:spcAft>
                <a:spcPts val="400"/>
              </a:spcAft>
              <a:defRPr sz="1300">
                <a:solidFill>
                  <a:srgbClr val="2D3A4A"/>
                </a:solidFill>
              </a:defRPr>
            </a:pPr>
            <a:r>
              <a:t>S3: Celebrate small wins; address depressive cognitions</a:t>
            </a:r>
          </a:p>
          <a:p>
            <a:pPr lvl="1">
              <a:spcAft>
                <a:spcPts val="400"/>
              </a:spcAft>
              <a:defRPr sz="1300">
                <a:solidFill>
                  <a:srgbClr val="2D3A4A"/>
                </a:solidFill>
              </a:defRPr>
            </a:pPr>
            <a:r>
              <a:t>S4: Ongoing treatment plan; social support; maintenance</a:t>
            </a:r>
          </a:p>
          <a:p>
            <a:pPr>
              <a:spcAft>
                <a:spcPts val="400"/>
              </a:spcAft>
              <a:defRPr sz="1500">
                <a:solidFill>
                  <a:srgbClr val="2D3A4A"/>
                </a:solidFill>
              </a:defRPr>
            </a:pPr>
          </a:p>
          <a:p>
            <a:pPr>
              <a:spcAft>
                <a:spcPts val="400"/>
              </a:spcAft>
              <a:defRPr sz="1500">
                <a:solidFill>
                  <a:srgbClr val="2D3A4A"/>
                </a:solidFill>
              </a:defRPr>
            </a:pPr>
            <a:r>
              <a:t>INTEGRATION: MET for alcohol + Pharmacotherapy + CBT for depression</a:t>
            </a:r>
          </a:p>
          <a:p>
            <a:pPr>
              <a:spcAft>
                <a:spcPts val="400"/>
              </a:spcAft>
              <a:defRPr sz="1500">
                <a:solidFill>
                  <a:srgbClr val="2D3A4A"/>
                </a:solidFill>
              </a:defRPr>
            </a:pPr>
          </a:p>
          <a:p>
            <a:pPr>
              <a:spcAft>
                <a:spcPts val="400"/>
              </a:spcAft>
              <a:defRPr sz="1500">
                <a:solidFill>
                  <a:srgbClr val="2D3A4A"/>
                </a:solidFill>
              </a:defRPr>
            </a:pPr>
            <a:r>
              <a:t>KEY PRINCIPLE: Very low confidence + depression = extensive self-efficacy work</a:t>
            </a:r>
          </a:p>
          <a:p>
            <a:pPr lvl="1">
              <a:spcAft>
                <a:spcPts val="400"/>
              </a:spcAft>
              <a:defRPr sz="1300">
                <a:solidFill>
                  <a:srgbClr val="2D3A4A"/>
                </a:solidFill>
              </a:defRPr>
            </a:pPr>
            <a:r>
              <a:t>Small, achievable goals are essential ('One alcohol-free day this week')</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In dual diagnosis, MET addresses substance use while integrating with disorder-specific treatment.</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Baker et al. (2012). Clinical Psychology Review, 32, 726-738. | NIMHANS Manual (2008).</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0" y="1371600"/>
            <a:ext cx="2103120" cy="2103120"/>
          </a:xfrm>
          <a:prstGeom prst="ellipse">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800" b="1">
                <a:solidFill>
                  <a:srgbClr val="FFFFFF"/>
                </a:solidFill>
              </a:defRPr>
            </a:pPr>
            <a:r>
              <a:t>18</a:t>
            </a:r>
          </a:p>
        </p:txBody>
      </p:sp>
      <p:sp>
        <p:nvSpPr>
          <p:cNvPr id="4" name="TextBox 3"/>
          <p:cNvSpPr txBox="1"/>
          <p:nvPr/>
        </p:nvSpPr>
        <p:spPr>
          <a:xfrm>
            <a:off x="914400" y="3840480"/>
            <a:ext cx="10332720" cy="1371600"/>
          </a:xfrm>
          <a:prstGeom prst="rect">
            <a:avLst/>
          </a:prstGeom>
          <a:noFill/>
        </p:spPr>
        <p:txBody>
          <a:bodyPr wrap="square">
            <a:spAutoFit/>
          </a:bodyPr>
          <a:lstStyle/>
          <a:p>
            <a:pPr algn="ctr">
              <a:defRPr sz="3600" b="1">
                <a:solidFill>
                  <a:srgbClr val="FFFFFF"/>
                </a:solidFill>
              </a:defRPr>
            </a:pPr>
            <a:r>
              <a:t>Special Populations &amp; Applications Beyond Addiction</a:t>
            </a:r>
          </a:p>
        </p:txBody>
      </p:sp>
      <p:sp>
        <p:nvSpPr>
          <p:cNvPr id="5" name="Rectangle 4"/>
          <p:cNvSpPr/>
          <p:nvPr/>
        </p:nvSpPr>
        <p:spPr>
          <a:xfrm>
            <a:off x="3657600" y="5303520"/>
            <a:ext cx="4846320" cy="45720"/>
          </a:xfrm>
          <a:prstGeom prst="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MET Adaptations for Special Populations</a:t>
            </a:r>
          </a:p>
        </p:txBody>
      </p:sp>
      <p:graphicFrame>
        <p:nvGraphicFramePr>
          <p:cNvPr id="5" name="Table 4"/>
          <p:cNvGraphicFramePr>
            <a:graphicFrameLocks noGrp="1"/>
          </p:cNvGraphicFramePr>
          <p:nvPr/>
        </p:nvGraphicFramePr>
        <p:xfrm>
          <a:off x="457200" y="1371600"/>
          <a:ext cx="11247120" cy="3145536"/>
        </p:xfrm>
        <a:graphic>
          <a:graphicData uri="http://schemas.openxmlformats.org/drawingml/2006/table">
            <a:tbl>
              <a:tblPr firstRow="1" bandRow="1">
                <a:tableStyleId>{5C22544A-7EE6-4342-B048-85BDC9FD1C3A}</a:tableStyleId>
              </a:tblPr>
              <a:tblGrid>
                <a:gridCol w="2103120"/>
                <a:gridCol w="5029200"/>
                <a:gridCol w="4114800"/>
              </a:tblGrid>
              <a:tr h="393192">
                <a:tc>
                  <a:txBody>
                    <a:bodyPr/>
                    <a:lstStyle/>
                    <a:p>
                      <a:pPr algn="ctr">
                        <a:defRPr sz="1200" b="1">
                          <a:solidFill>
                            <a:srgbClr val="FFFFFF"/>
                          </a:solidFill>
                        </a:defRPr>
                      </a:pPr>
                      <a:r>
                        <a:t>Population</a:t>
                      </a:r>
                    </a:p>
                  </a:txBody>
                  <a:tcPr anchor="ctr">
                    <a:solidFill>
                      <a:srgbClr val="1B2A4A"/>
                    </a:solidFill>
                  </a:tcPr>
                </a:tc>
                <a:tc>
                  <a:txBody>
                    <a:bodyPr/>
                    <a:lstStyle/>
                    <a:p>
                      <a:pPr algn="ctr">
                        <a:defRPr sz="1200" b="1">
                          <a:solidFill>
                            <a:srgbClr val="FFFFFF"/>
                          </a:solidFill>
                        </a:defRPr>
                      </a:pPr>
                      <a:r>
                        <a:t>Key Adaptations</a:t>
                      </a:r>
                    </a:p>
                  </a:txBody>
                  <a:tcPr anchor="ctr">
                    <a:solidFill>
                      <a:srgbClr val="1B2A4A"/>
                    </a:solidFill>
                  </a:tcPr>
                </a:tc>
                <a:tc>
                  <a:txBody>
                    <a:bodyPr/>
                    <a:lstStyle/>
                    <a:p>
                      <a:pPr algn="ctr">
                        <a:defRPr sz="1200" b="1">
                          <a:solidFill>
                            <a:srgbClr val="FFFFFF"/>
                          </a:solidFill>
                        </a:defRPr>
                      </a:pPr>
                      <a:r>
                        <a:t>Evidence</a:t>
                      </a:r>
                    </a:p>
                  </a:txBody>
                  <a:tcPr anchor="ctr">
                    <a:solidFill>
                      <a:srgbClr val="1B2A4A"/>
                    </a:solidFill>
                  </a:tcPr>
                </a:tc>
              </a:tr>
              <a:tr h="393192">
                <a:tc>
                  <a:txBody>
                    <a:bodyPr/>
                    <a:lstStyle/>
                    <a:p>
                      <a:pPr>
                        <a:defRPr sz="1100">
                          <a:solidFill>
                            <a:srgbClr val="2D3A4A"/>
                          </a:solidFill>
                        </a:defRPr>
                      </a:pPr>
                      <a:r>
                        <a:t>Adolescents</a:t>
                      </a:r>
                    </a:p>
                  </a:txBody>
                  <a:tcPr anchor="ctr">
                    <a:solidFill>
                      <a:srgbClr val="EBF5FF"/>
                    </a:solidFill>
                  </a:tcPr>
                </a:tc>
                <a:tc>
                  <a:txBody>
                    <a:bodyPr/>
                    <a:lstStyle/>
                    <a:p>
                      <a:pPr>
                        <a:defRPr sz="1100">
                          <a:solidFill>
                            <a:srgbClr val="2D3A4A"/>
                          </a:solidFill>
                        </a:defRPr>
                      </a:pPr>
                      <a:r>
                        <a:t>Stronger autonomy emphasis; peer norms; immediate consequences</a:t>
                      </a:r>
                    </a:p>
                  </a:txBody>
                  <a:tcPr anchor="ctr">
                    <a:solidFill>
                      <a:srgbClr val="EBF5FF"/>
                    </a:solidFill>
                  </a:tcPr>
                </a:tc>
                <a:tc>
                  <a:txBody>
                    <a:bodyPr/>
                    <a:lstStyle/>
                    <a:p>
                      <a:pPr>
                        <a:defRPr sz="1100">
                          <a:solidFill>
                            <a:srgbClr val="2D3A4A"/>
                          </a:solidFill>
                        </a:defRPr>
                      </a:pPr>
                      <a:r>
                        <a:t>Marlatt et al. (1998): BASICS reduced college drinking</a:t>
                      </a:r>
                    </a:p>
                  </a:txBody>
                  <a:tcPr anchor="ctr">
                    <a:solidFill>
                      <a:srgbClr val="EBF5FF"/>
                    </a:solidFill>
                  </a:tcPr>
                </a:tc>
              </a:tr>
              <a:tr h="393192">
                <a:tc>
                  <a:txBody>
                    <a:bodyPr/>
                    <a:lstStyle/>
                    <a:p>
                      <a:pPr>
                        <a:defRPr sz="1100">
                          <a:solidFill>
                            <a:srgbClr val="2D3A4A"/>
                          </a:solidFill>
                        </a:defRPr>
                      </a:pPr>
                      <a:r>
                        <a:t>Women</a:t>
                      </a:r>
                    </a:p>
                  </a:txBody>
                  <a:tcPr anchor="ctr">
                    <a:solidFill>
                      <a:srgbClr val="FFFFFF"/>
                    </a:solidFill>
                  </a:tcPr>
                </a:tc>
                <a:tc>
                  <a:txBody>
                    <a:bodyPr/>
                    <a:lstStyle/>
                    <a:p>
                      <a:pPr>
                        <a:defRPr sz="1100">
                          <a:solidFill>
                            <a:srgbClr val="2D3A4A"/>
                          </a:solidFill>
                        </a:defRPr>
                      </a:pPr>
                      <a:r>
                        <a:t>Address stigma/shame; trauma-informed; safety-focused</a:t>
                      </a:r>
                    </a:p>
                  </a:txBody>
                  <a:tcPr anchor="ctr">
                    <a:solidFill>
                      <a:srgbClr val="FFFFFF"/>
                    </a:solidFill>
                  </a:tcPr>
                </a:tc>
                <a:tc>
                  <a:txBody>
                    <a:bodyPr/>
                    <a:lstStyle/>
                    <a:p>
                      <a:pPr>
                        <a:defRPr sz="1100">
                          <a:solidFill>
                            <a:srgbClr val="2D3A4A"/>
                          </a:solidFill>
                        </a:defRPr>
                      </a:pPr>
                      <a:r>
                        <a:t>NIMHANS: 'Women substance users are greatly stigmatized'</a:t>
                      </a:r>
                    </a:p>
                  </a:txBody>
                  <a:tcPr anchor="ctr">
                    <a:solidFill>
                      <a:srgbClr val="FFFFFF"/>
                    </a:solidFill>
                  </a:tcPr>
                </a:tc>
              </a:tr>
              <a:tr h="393192">
                <a:tc>
                  <a:txBody>
                    <a:bodyPr/>
                    <a:lstStyle/>
                    <a:p>
                      <a:pPr>
                        <a:defRPr sz="1100">
                          <a:solidFill>
                            <a:srgbClr val="2D3A4A"/>
                          </a:solidFill>
                        </a:defRPr>
                      </a:pPr>
                      <a:r>
                        <a:t>Pregnant Women</a:t>
                      </a:r>
                    </a:p>
                  </a:txBody>
                  <a:tcPr anchor="ctr">
                    <a:solidFill>
                      <a:srgbClr val="EBF5FF"/>
                    </a:solidFill>
                  </a:tcPr>
                </a:tc>
                <a:tc>
                  <a:txBody>
                    <a:bodyPr/>
                    <a:lstStyle/>
                    <a:p>
                      <a:pPr>
                        <a:defRPr sz="1100">
                          <a:solidFill>
                            <a:srgbClr val="2D3A4A"/>
                          </a:solidFill>
                        </a:defRPr>
                      </a:pPr>
                      <a:r>
                        <a:t>Build on maternal motivation; reduce guilt; any reduction helps</a:t>
                      </a:r>
                    </a:p>
                  </a:txBody>
                  <a:tcPr anchor="ctr">
                    <a:solidFill>
                      <a:srgbClr val="EBF5FF"/>
                    </a:solidFill>
                  </a:tcPr>
                </a:tc>
                <a:tc>
                  <a:txBody>
                    <a:bodyPr/>
                    <a:lstStyle/>
                    <a:p>
                      <a:pPr>
                        <a:defRPr sz="1100">
                          <a:solidFill>
                            <a:srgbClr val="2D3A4A"/>
                          </a:solidFill>
                        </a:defRPr>
                      </a:pPr>
                      <a:r>
                        <a:t>Handmaker et al. (1999): Brief MI reduces prenatal alcohol</a:t>
                      </a:r>
                    </a:p>
                  </a:txBody>
                  <a:tcPr anchor="ctr">
                    <a:solidFill>
                      <a:srgbClr val="EBF5FF"/>
                    </a:solidFill>
                  </a:tcPr>
                </a:tc>
              </a:tr>
              <a:tr h="393192">
                <a:tc>
                  <a:txBody>
                    <a:bodyPr/>
                    <a:lstStyle/>
                    <a:p>
                      <a:pPr>
                        <a:defRPr sz="1100">
                          <a:solidFill>
                            <a:srgbClr val="2D3A4A"/>
                          </a:solidFill>
                        </a:defRPr>
                      </a:pPr>
                      <a:r>
                        <a:t>Older Adults</a:t>
                      </a:r>
                    </a:p>
                  </a:txBody>
                  <a:tcPr anchor="ctr">
                    <a:solidFill>
                      <a:srgbClr val="FFFFFF"/>
                    </a:solidFill>
                  </a:tcPr>
                </a:tc>
                <a:tc>
                  <a:txBody>
                    <a:bodyPr/>
                    <a:lstStyle/>
                    <a:p>
                      <a:pPr>
                        <a:defRPr sz="1100">
                          <a:solidFill>
                            <a:srgbClr val="2D3A4A"/>
                          </a:solidFill>
                        </a:defRPr>
                      </a:pPr>
                      <a:r>
                        <a:t>Focus on health/medication interactions; quality of life</a:t>
                      </a:r>
                    </a:p>
                  </a:txBody>
                  <a:tcPr anchor="ctr">
                    <a:solidFill>
                      <a:srgbClr val="FFFFFF"/>
                    </a:solidFill>
                  </a:tcPr>
                </a:tc>
                <a:tc>
                  <a:txBody>
                    <a:bodyPr/>
                    <a:lstStyle/>
                    <a:p>
                      <a:pPr>
                        <a:defRPr sz="1100">
                          <a:solidFill>
                            <a:srgbClr val="2D3A4A"/>
                          </a:solidFill>
                        </a:defRPr>
                      </a:pPr>
                      <a:r>
                        <a:t>Blow &amp; Barry (2012): Alcohol Research, 34, 18-28</a:t>
                      </a:r>
                    </a:p>
                  </a:txBody>
                  <a:tcPr anchor="ctr">
                    <a:solidFill>
                      <a:srgbClr val="FFFFFF"/>
                    </a:solidFill>
                  </a:tcPr>
                </a:tc>
              </a:tr>
              <a:tr h="393192">
                <a:tc>
                  <a:txBody>
                    <a:bodyPr/>
                    <a:lstStyle/>
                    <a:p>
                      <a:pPr>
                        <a:defRPr sz="1100">
                          <a:solidFill>
                            <a:srgbClr val="2D3A4A"/>
                          </a:solidFill>
                        </a:defRPr>
                      </a:pPr>
                      <a:r>
                        <a:t>Mandated Clients</a:t>
                      </a:r>
                    </a:p>
                  </a:txBody>
                  <a:tcPr anchor="ctr">
                    <a:solidFill>
                      <a:srgbClr val="EBF5FF"/>
                    </a:solidFill>
                  </a:tcPr>
                </a:tc>
                <a:tc>
                  <a:txBody>
                    <a:bodyPr/>
                    <a:lstStyle/>
                    <a:p>
                      <a:pPr>
                        <a:defRPr sz="1100">
                          <a:solidFill>
                            <a:srgbClr val="2D3A4A"/>
                          </a:solidFill>
                        </a:defRPr>
                      </a:pPr>
                      <a:r>
                        <a:t>Separate mandate from person; find ANY genuine motivation</a:t>
                      </a:r>
                    </a:p>
                  </a:txBody>
                  <a:tcPr anchor="ctr">
                    <a:solidFill>
                      <a:srgbClr val="EBF5FF"/>
                    </a:solidFill>
                  </a:tcPr>
                </a:tc>
                <a:tc>
                  <a:txBody>
                    <a:bodyPr/>
                    <a:lstStyle/>
                    <a:p>
                      <a:pPr>
                        <a:defRPr sz="1100">
                          <a:solidFill>
                            <a:srgbClr val="2D3A4A"/>
                          </a:solidFill>
                        </a:defRPr>
                      </a:pPr>
                      <a:r>
                        <a:t>MET especially effective with reluctant clients</a:t>
                      </a:r>
                    </a:p>
                  </a:txBody>
                  <a:tcPr anchor="ctr">
                    <a:solidFill>
                      <a:srgbClr val="EBF5FF"/>
                    </a:solidFill>
                  </a:tcPr>
                </a:tc>
              </a:tr>
              <a:tr h="393192">
                <a:tc>
                  <a:txBody>
                    <a:bodyPr/>
                    <a:lstStyle/>
                    <a:p>
                      <a:pPr>
                        <a:defRPr sz="1100">
                          <a:solidFill>
                            <a:srgbClr val="2D3A4A"/>
                          </a:solidFill>
                        </a:defRPr>
                      </a:pPr>
                      <a:r>
                        <a:t>Psychosis</a:t>
                      </a:r>
                    </a:p>
                  </a:txBody>
                  <a:tcPr anchor="ctr">
                    <a:solidFill>
                      <a:srgbClr val="FFFFFF"/>
                    </a:solidFill>
                  </a:tcPr>
                </a:tc>
                <a:tc>
                  <a:txBody>
                    <a:bodyPr/>
                    <a:lstStyle/>
                    <a:p>
                      <a:pPr>
                        <a:defRPr sz="1100">
                          <a:solidFill>
                            <a:srgbClr val="2D3A4A"/>
                          </a:solidFill>
                        </a:defRPr>
                      </a:pPr>
                      <a:r>
                        <a:t>Simplified; shorter sessions; concrete feedback</a:t>
                      </a:r>
                    </a:p>
                  </a:txBody>
                  <a:tcPr anchor="ctr">
                    <a:solidFill>
                      <a:srgbClr val="FFFFFF"/>
                    </a:solidFill>
                  </a:tcPr>
                </a:tc>
                <a:tc>
                  <a:txBody>
                    <a:bodyPr/>
                    <a:lstStyle/>
                    <a:p>
                      <a:pPr>
                        <a:defRPr sz="1100">
                          <a:solidFill>
                            <a:srgbClr val="2D3A4A"/>
                          </a:solidFill>
                        </a:defRPr>
                      </a:pPr>
                      <a:r>
                        <a:t>MI effective for medication adherence in psychosis</a:t>
                      </a:r>
                    </a:p>
                  </a:txBody>
                  <a:tcPr anchor="ctr">
                    <a:solidFill>
                      <a:srgbClr val="FFFFFF"/>
                    </a:solidFill>
                  </a:tcPr>
                </a:tc>
              </a:tr>
              <a:tr h="393192">
                <a:tc>
                  <a:txBody>
                    <a:bodyPr/>
                    <a:lstStyle/>
                    <a:p>
                      <a:pPr>
                        <a:defRPr sz="1100">
                          <a:solidFill>
                            <a:srgbClr val="2D3A4A"/>
                          </a:solidFill>
                        </a:defRPr>
                      </a:pPr>
                      <a:r>
                        <a:t>Medical Settings</a:t>
                      </a:r>
                    </a:p>
                  </a:txBody>
                  <a:tcPr anchor="ctr">
                    <a:solidFill>
                      <a:srgbClr val="EBF5FF"/>
                    </a:solidFill>
                  </a:tcPr>
                </a:tc>
                <a:tc>
                  <a:txBody>
                    <a:bodyPr/>
                    <a:lstStyle/>
                    <a:p>
                      <a:pPr>
                        <a:defRPr sz="1100">
                          <a:solidFill>
                            <a:srgbClr val="2D3A4A"/>
                          </a:solidFill>
                        </a:defRPr>
                      </a:pPr>
                      <a:r>
                        <a:t>5-A (Ask/Assess/Advise/Assist/Arrange); E-P-E for info</a:t>
                      </a:r>
                    </a:p>
                  </a:txBody>
                  <a:tcPr anchor="ctr">
                    <a:solidFill>
                      <a:srgbClr val="EBF5FF"/>
                    </a:solidFill>
                  </a:tcPr>
                </a:tc>
                <a:tc>
                  <a:txBody>
                    <a:bodyPr/>
                    <a:lstStyle/>
                    <a:p>
                      <a:pPr>
                        <a:defRPr sz="1100">
                          <a:solidFill>
                            <a:srgbClr val="2D3A4A"/>
                          </a:solidFill>
                        </a:defRPr>
                      </a:pPr>
                      <a:r>
                        <a:t>NIMHANS stepped care model</a:t>
                      </a:r>
                    </a:p>
                  </a:txBody>
                  <a:tcPr anchor="ctr">
                    <a:solidFill>
                      <a:srgbClr val="EBF5FF"/>
                    </a:solidFill>
                  </a:tcPr>
                </a:tc>
              </a:tr>
            </a:tbl>
          </a:graphicData>
        </a:graphic>
      </p:graphicFrame>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Core MET principles are universal; delivery is adapted to each population's unique needs and barriers.</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NIMHANS Manual (2008). | Jensen et al. (2011). Clin Psych Rev, 31, 1024. | Handmaker et al. (1999). JCCP, 67, 285.</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Applications Beyond Addiction</a:t>
            </a:r>
          </a:p>
        </p:txBody>
      </p:sp>
      <p:sp>
        <p:nvSpPr>
          <p:cNvPr id="5" name="Rounded Rectangle 4"/>
          <p:cNvSpPr/>
          <p:nvPr/>
        </p:nvSpPr>
        <p:spPr>
          <a:xfrm>
            <a:off x="457200" y="1371600"/>
            <a:ext cx="5303520" cy="2011680"/>
          </a:xfrm>
          <a:prstGeom prst="roundRect">
            <a:avLst/>
          </a:prstGeom>
          <a:solidFill>
            <a:srgbClr val="FFFFFF"/>
          </a:solidFill>
          <a:ln w="31750">
            <a:solidFill>
              <a:srgbClr val="2C5F8A"/>
            </a:solidFill>
          </a:ln>
        </p:spPr>
        <p:style>
          <a:lnRef idx="1">
            <a:schemeClr val="accent1"/>
          </a:lnRef>
          <a:fillRef idx="3">
            <a:schemeClr val="accent1"/>
          </a:fillRef>
          <a:effectRef idx="2">
            <a:schemeClr val="accent1"/>
          </a:effectRef>
          <a:fontRef idx="minor">
            <a:schemeClr val="lt1"/>
          </a:fontRef>
        </p:style>
        <p:txBody>
          <a:bodyPr rtlCol="0" anchor="ctr" wrap="square" lIns="228600" tIns="91440"/>
          <a:lstStyle/>
          <a:p>
            <a:pPr algn="ctr">
              <a:defRPr sz="1400" b="1">
                <a:solidFill>
                  <a:srgbClr val="2C5F8A"/>
                </a:solidFill>
              </a:defRPr>
            </a:pPr>
            <a:r>
              <a:t>🚭  SMOKING CESSATION</a:t>
            </a:r>
          </a:p>
          <a:p>
            <a:pPr>
              <a:spcBef>
                <a:spcPts val="600"/>
              </a:spcBef>
              <a:defRPr sz="1100">
                <a:solidFill>
                  <a:srgbClr val="2D3A4A"/>
                </a:solidFill>
              </a:defRPr>
            </a:pPr>
            <a:r>
              <a:t>MI increases quit rates by 30-40%.</a:t>
            </a:r>
            <a:br/>
            <a:r>
              <a:t>Hettema &amp; Hendricks (2010).</a:t>
            </a:r>
            <a:br/>
            <a:r>
              <a:t>Combines well with NRT/pharmacotherapy.</a:t>
            </a:r>
          </a:p>
        </p:txBody>
      </p:sp>
      <p:sp>
        <p:nvSpPr>
          <p:cNvPr id="6" name="Rectangle 5"/>
          <p:cNvSpPr/>
          <p:nvPr/>
        </p:nvSpPr>
        <p:spPr>
          <a:xfrm>
            <a:off x="457200" y="1371600"/>
            <a:ext cx="109728" cy="2011680"/>
          </a:xfrm>
          <a:prstGeom prst="rect">
            <a:avLst/>
          </a:prstGeom>
          <a:solidFill>
            <a:srgbClr val="2C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035040" y="1371600"/>
            <a:ext cx="5303520" cy="2011680"/>
          </a:xfrm>
          <a:prstGeom prst="roundRect">
            <a:avLst/>
          </a:prstGeom>
          <a:solidFill>
            <a:srgbClr val="FFFFFF"/>
          </a:solidFill>
          <a:ln w="317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228600" tIns="91440"/>
          <a:lstStyle/>
          <a:p>
            <a:pPr algn="ctr">
              <a:defRPr sz="1400" b="1">
                <a:solidFill>
                  <a:srgbClr val="17A2B8"/>
                </a:solidFill>
              </a:defRPr>
            </a:pPr>
            <a:r>
              <a:t>🏃  EXERCISE &amp; WEIGHT</a:t>
            </a:r>
          </a:p>
          <a:p>
            <a:pPr>
              <a:spcBef>
                <a:spcPts val="600"/>
              </a:spcBef>
              <a:defRPr sz="1100">
                <a:solidFill>
                  <a:srgbClr val="2D3A4A"/>
                </a:solidFill>
              </a:defRPr>
            </a:pPr>
            <a:r>
              <a:t>MI for physical activity promotion.</a:t>
            </a:r>
            <a:br/>
            <a:r>
              <a:t>Armstrong et al. (2011).</a:t>
            </a:r>
            <a:br/>
            <a:r>
              <a:t>Dietary change, obesity management.</a:t>
            </a:r>
          </a:p>
        </p:txBody>
      </p:sp>
      <p:sp>
        <p:nvSpPr>
          <p:cNvPr id="8" name="Rectangle 7"/>
          <p:cNvSpPr/>
          <p:nvPr/>
        </p:nvSpPr>
        <p:spPr>
          <a:xfrm>
            <a:off x="6035040" y="1371600"/>
            <a:ext cx="109728" cy="2011680"/>
          </a:xfrm>
          <a:prstGeom prst="rect">
            <a:avLst/>
          </a:prstGeom>
          <a:solidFill>
            <a:srgbClr val="17A2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57200" y="3657600"/>
            <a:ext cx="5303520" cy="2011680"/>
          </a:xfrm>
          <a:prstGeom prst="roundRect">
            <a:avLst/>
          </a:prstGeom>
          <a:solidFill>
            <a:srgbClr val="FFFFFF"/>
          </a:solidFill>
          <a:ln w="31750">
            <a:solidFill>
              <a:srgbClr val="28A745"/>
            </a:solidFill>
          </a:ln>
        </p:spPr>
        <p:style>
          <a:lnRef idx="1">
            <a:schemeClr val="accent1"/>
          </a:lnRef>
          <a:fillRef idx="3">
            <a:schemeClr val="accent1"/>
          </a:fillRef>
          <a:effectRef idx="2">
            <a:schemeClr val="accent1"/>
          </a:effectRef>
          <a:fontRef idx="minor">
            <a:schemeClr val="lt1"/>
          </a:fontRef>
        </p:style>
        <p:txBody>
          <a:bodyPr rtlCol="0" anchor="ctr" wrap="square" lIns="228600" tIns="91440"/>
          <a:lstStyle/>
          <a:p>
            <a:pPr algn="ctr">
              <a:defRPr sz="1400" b="1">
                <a:solidFill>
                  <a:srgbClr val="28A745"/>
                </a:solidFill>
              </a:defRPr>
            </a:pPr>
            <a:r>
              <a:t>💊  MEDICATION ADHERENCE</a:t>
            </a:r>
          </a:p>
          <a:p>
            <a:pPr>
              <a:spcBef>
                <a:spcPts val="600"/>
              </a:spcBef>
              <a:defRPr sz="1100">
                <a:solidFill>
                  <a:srgbClr val="2D3A4A"/>
                </a:solidFill>
              </a:defRPr>
            </a:pPr>
            <a:r>
              <a:t>HIV (ART adherence): Parsons et al. (2007).</a:t>
            </a:r>
            <a:br/>
            <a:r>
              <a:t>Diabetes self-management.</a:t>
            </a:r>
            <a:br/>
            <a:r>
              <a:t>Hypertension medication compliance.</a:t>
            </a:r>
          </a:p>
        </p:txBody>
      </p:sp>
      <p:sp>
        <p:nvSpPr>
          <p:cNvPr id="10" name="Rectangle 9"/>
          <p:cNvSpPr/>
          <p:nvPr/>
        </p:nvSpPr>
        <p:spPr>
          <a:xfrm>
            <a:off x="457200" y="3657600"/>
            <a:ext cx="109728" cy="2011680"/>
          </a:xfrm>
          <a:prstGeom prst="rect">
            <a:avLst/>
          </a:prstGeom>
          <a:solidFill>
            <a:srgbClr val="28A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35040" y="3657600"/>
            <a:ext cx="5303520" cy="2011680"/>
          </a:xfrm>
          <a:prstGeom prst="roundRect">
            <a:avLst/>
          </a:prstGeom>
          <a:solidFill>
            <a:srgbClr val="FFFFFF"/>
          </a:solidFill>
          <a:ln w="31750">
            <a:solidFill>
              <a:srgbClr val="D4A01C"/>
            </a:solidFill>
          </a:ln>
        </p:spPr>
        <p:style>
          <a:lnRef idx="1">
            <a:schemeClr val="accent1"/>
          </a:lnRef>
          <a:fillRef idx="3">
            <a:schemeClr val="accent1"/>
          </a:fillRef>
          <a:effectRef idx="2">
            <a:schemeClr val="accent1"/>
          </a:effectRef>
          <a:fontRef idx="minor">
            <a:schemeClr val="lt1"/>
          </a:fontRef>
        </p:style>
        <p:txBody>
          <a:bodyPr rtlCol="0" anchor="ctr" wrap="square" lIns="228600" tIns="91440"/>
          <a:lstStyle/>
          <a:p>
            <a:pPr algn="ctr">
              <a:defRPr sz="1400" b="1">
                <a:solidFill>
                  <a:srgbClr val="D4A01C"/>
                </a:solidFill>
              </a:defRPr>
            </a:pPr>
            <a:r>
              <a:t>🧠  MENTAL HEALTH</a:t>
            </a:r>
          </a:p>
          <a:p>
            <a:pPr>
              <a:spcBef>
                <a:spcPts val="600"/>
              </a:spcBef>
              <a:defRPr sz="1100">
                <a:solidFill>
                  <a:srgbClr val="2D3A4A"/>
                </a:solidFill>
              </a:defRPr>
            </a:pPr>
            <a:r>
              <a:t>Treatment engagement for anxiety.</a:t>
            </a:r>
            <a:br/>
            <a:r>
              <a:t>Eating disorders: Treasure &amp; Schmidt (2008).</a:t>
            </a:r>
            <a:br/>
            <a:r>
              <a:t>Gambling disorder; medication in psychosis.</a:t>
            </a:r>
          </a:p>
        </p:txBody>
      </p:sp>
      <p:sp>
        <p:nvSpPr>
          <p:cNvPr id="12" name="Rectangle 11"/>
          <p:cNvSpPr/>
          <p:nvPr/>
        </p:nvSpPr>
        <p:spPr>
          <a:xfrm>
            <a:off x="6035040" y="3657600"/>
            <a:ext cx="109728" cy="2011680"/>
          </a:xfrm>
          <a:prstGeom prst="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57200" y="580644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Wherever ambivalence about behavior change exists, MET principles are applicable.</a:t>
            </a:r>
          </a:p>
        </p:txBody>
      </p:sp>
      <p:sp>
        <p:nvSpPr>
          <p:cNvPr id="14" name="Rectangle 13"/>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Rubak et al. (2005). Brit J Gen Practice, 55, 305. | Lundahl et al. (2013). Patient Educ Counsel, 93, 157.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MET in the NIMHANS Stepped Care Model (Indian Context)</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a:solidFill>
                  <a:srgbClr val="2D3A4A"/>
                </a:solidFill>
              </a:defRPr>
            </a:pPr>
            <a:r>
              <a:t>NIMHANS (2008): India has 62.5M alcohol users; limited specialist resources</a:t>
            </a:r>
          </a:p>
          <a:p>
            <a:pPr>
              <a:spcAft>
                <a:spcPts val="400"/>
              </a:spcAft>
              <a:defRPr sz="1500" b="1">
                <a:solidFill>
                  <a:srgbClr val="2C5F8A"/>
                </a:solidFill>
              </a:defRPr>
            </a:pPr>
            <a:r>
              <a:t>STEPPED CARE APPROACH:</a:t>
            </a:r>
          </a:p>
          <a:p>
            <a:pPr>
              <a:spcAft>
                <a:spcPts val="400"/>
              </a:spcAft>
              <a:defRPr sz="1500">
                <a:solidFill>
                  <a:srgbClr val="2D3A4A"/>
                </a:solidFill>
              </a:defRPr>
            </a:pPr>
          </a:p>
          <a:p>
            <a:pPr lvl="1">
              <a:spcAft>
                <a:spcPts val="400"/>
              </a:spcAft>
              <a:defRPr sz="1300">
                <a:solidFill>
                  <a:srgbClr val="2D3A4A"/>
                </a:solidFill>
              </a:defRPr>
            </a:pPr>
            <a:r>
              <a:t>STEP 1: IDENTIFICATION (Primary Care)</a:t>
            </a:r>
          </a:p>
          <a:p>
            <a:pPr lvl="2">
              <a:spcAft>
                <a:spcPts val="400"/>
              </a:spcAft>
              <a:defRPr sz="1200">
                <a:solidFill>
                  <a:srgbClr val="2D3A4A"/>
                </a:solidFill>
              </a:defRPr>
            </a:pPr>
            <a:r>
              <a:t>5-A Strategy: Ask, Assess, Advise, Assist, Arrange</a:t>
            </a:r>
          </a:p>
          <a:p>
            <a:pPr lvl="2">
              <a:spcAft>
                <a:spcPts val="400"/>
              </a:spcAft>
              <a:defRPr sz="1200">
                <a:solidFill>
                  <a:srgbClr val="2D3A4A"/>
                </a:solidFill>
              </a:defRPr>
            </a:pPr>
            <a:r>
              <a:t>Screen every patient (like diabetes/hypertension screening)</a:t>
            </a:r>
          </a:p>
          <a:p>
            <a:pPr>
              <a:spcAft>
                <a:spcPts val="400"/>
              </a:spcAft>
              <a:defRPr sz="1500">
                <a:solidFill>
                  <a:srgbClr val="2D3A4A"/>
                </a:solidFill>
              </a:defRPr>
            </a:pPr>
          </a:p>
          <a:p>
            <a:pPr lvl="1">
              <a:spcAft>
                <a:spcPts val="400"/>
              </a:spcAft>
              <a:defRPr sz="1300">
                <a:solidFill>
                  <a:srgbClr val="2D3A4A"/>
                </a:solidFill>
              </a:defRPr>
            </a:pPr>
            <a:r>
              <a:t>STEP 2: BRIEF INTERVENTION (Single session FRAMES)</a:t>
            </a:r>
          </a:p>
          <a:p>
            <a:pPr lvl="2">
              <a:spcAft>
                <a:spcPts val="400"/>
              </a:spcAft>
              <a:defRPr sz="1200">
                <a:solidFill>
                  <a:srgbClr val="2D3A4A"/>
                </a:solidFill>
              </a:defRPr>
            </a:pPr>
            <a:r>
              <a:t>For hazardous/harmful use (not yet dependent)</a:t>
            </a:r>
          </a:p>
          <a:p>
            <a:pPr lvl="2">
              <a:spcAft>
                <a:spcPts val="400"/>
              </a:spcAft>
              <a:defRPr sz="1200">
                <a:solidFill>
                  <a:srgbClr val="2D3A4A"/>
                </a:solidFill>
              </a:defRPr>
            </a:pPr>
            <a:r>
              <a:t>Feedback + Empathy + Menu of options</a:t>
            </a:r>
          </a:p>
          <a:p>
            <a:pPr>
              <a:spcAft>
                <a:spcPts val="400"/>
              </a:spcAft>
              <a:defRPr sz="1500">
                <a:solidFill>
                  <a:srgbClr val="2D3A4A"/>
                </a:solidFill>
              </a:defRPr>
            </a:pPr>
          </a:p>
          <a:p>
            <a:pPr lvl="1">
              <a:spcAft>
                <a:spcPts val="400"/>
              </a:spcAft>
              <a:defRPr sz="1300">
                <a:solidFill>
                  <a:srgbClr val="2D3A4A"/>
                </a:solidFill>
              </a:defRPr>
            </a:pPr>
            <a:r>
              <a:t>STEP 3: MET / MOTIVATIONAL INTERVIEWING (2-4 sessions)</a:t>
            </a:r>
          </a:p>
          <a:p>
            <a:pPr lvl="2">
              <a:spcAft>
                <a:spcPts val="400"/>
              </a:spcAft>
              <a:defRPr sz="1200">
                <a:solidFill>
                  <a:srgbClr val="2D3A4A"/>
                </a:solidFill>
              </a:defRPr>
            </a:pPr>
            <a:r>
              <a:t>For moderate dependence or ambivalent clients</a:t>
            </a:r>
          </a:p>
          <a:p>
            <a:pPr lvl="2">
              <a:spcAft>
                <a:spcPts val="400"/>
              </a:spcAft>
              <a:defRPr sz="1200">
                <a:solidFill>
                  <a:srgbClr val="2D3A4A"/>
                </a:solidFill>
              </a:defRPr>
            </a:pPr>
            <a:r>
              <a:t>Structured feedback + motivational strategies</a:t>
            </a:r>
          </a:p>
          <a:p>
            <a:pPr>
              <a:spcAft>
                <a:spcPts val="400"/>
              </a:spcAft>
              <a:defRPr sz="1500">
                <a:solidFill>
                  <a:srgbClr val="2D3A4A"/>
                </a:solidFill>
              </a:defRPr>
            </a:pPr>
          </a:p>
          <a:p>
            <a:pPr lvl="1">
              <a:spcAft>
                <a:spcPts val="400"/>
              </a:spcAft>
              <a:defRPr sz="1300">
                <a:solidFill>
                  <a:srgbClr val="2D3A4A"/>
                </a:solidFill>
              </a:defRPr>
            </a:pPr>
            <a:r>
              <a:t>STEP 4: SPECIALIZED TREATMENT (De-addiction centers)</a:t>
            </a:r>
          </a:p>
          <a:p>
            <a:pPr lvl="2">
              <a:spcAft>
                <a:spcPts val="400"/>
              </a:spcAft>
              <a:defRPr sz="1200">
                <a:solidFill>
                  <a:srgbClr val="2D3A4A"/>
                </a:solidFill>
              </a:defRPr>
            </a:pPr>
            <a:r>
              <a:t>For severe dependence; complex comorbidity</a:t>
            </a:r>
          </a:p>
          <a:p>
            <a:pPr>
              <a:spcAft>
                <a:spcPts val="400"/>
              </a:spcAft>
              <a:defRPr sz="1500">
                <a:solidFill>
                  <a:srgbClr val="2D3A4A"/>
                </a:solidFill>
              </a:defRPr>
            </a:pPr>
          </a:p>
          <a:p>
            <a:pPr>
              <a:spcAft>
                <a:spcPts val="400"/>
              </a:spcAft>
              <a:defRPr sz="1500">
                <a:solidFill>
                  <a:srgbClr val="2D3A4A"/>
                </a:solidFill>
              </a:defRPr>
            </a:pPr>
            <a:r>
              <a:t>KEY: MET bridges brief intervention and intensive treatment</a:t>
            </a:r>
          </a:p>
          <a:p>
            <a:pPr>
              <a:spcAft>
                <a:spcPts val="400"/>
              </a:spcAft>
              <a:defRPr sz="1500">
                <a:solidFill>
                  <a:srgbClr val="2D3A4A"/>
                </a:solidFill>
              </a:defRPr>
            </a:pPr>
            <a:r>
              <a:t>NIMHANS: 'Not practical to limit care only to specialized centers'</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MET occupies Step 3 in NIMHANS stepped care — accessible, trainable, and bridges brief to intensive treatment.</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Murthy, P. (2008). Psychosocial Interventions for Persons with Substance Abuse. NIMHANS. | WHO (2010). Brief Intervention Manual.</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0" y="1371600"/>
            <a:ext cx="2103120" cy="2103120"/>
          </a:xfrm>
          <a:prstGeom prst="ellipse">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800" b="1">
                <a:solidFill>
                  <a:srgbClr val="FFFFFF"/>
                </a:solidFill>
              </a:defRPr>
            </a:pPr>
            <a:r>
              <a:t>20</a:t>
            </a:r>
          </a:p>
        </p:txBody>
      </p:sp>
      <p:sp>
        <p:nvSpPr>
          <p:cNvPr id="4" name="TextBox 3"/>
          <p:cNvSpPr txBox="1"/>
          <p:nvPr/>
        </p:nvSpPr>
        <p:spPr>
          <a:xfrm>
            <a:off x="914400" y="3840480"/>
            <a:ext cx="10332720" cy="1371600"/>
          </a:xfrm>
          <a:prstGeom prst="rect">
            <a:avLst/>
          </a:prstGeom>
          <a:noFill/>
        </p:spPr>
        <p:txBody>
          <a:bodyPr wrap="square">
            <a:spAutoFit/>
          </a:bodyPr>
          <a:lstStyle/>
          <a:p>
            <a:pPr algn="ctr">
              <a:defRPr sz="3600" b="1">
                <a:solidFill>
                  <a:srgbClr val="FFFFFF"/>
                </a:solidFill>
              </a:defRPr>
            </a:pPr>
            <a:r>
              <a:t>Research Evidence</a:t>
            </a:r>
          </a:p>
        </p:txBody>
      </p:sp>
      <p:sp>
        <p:nvSpPr>
          <p:cNvPr id="5" name="Rectangle 4"/>
          <p:cNvSpPr/>
          <p:nvPr/>
        </p:nvSpPr>
        <p:spPr>
          <a:xfrm>
            <a:off x="3657600" y="5303520"/>
            <a:ext cx="4846320" cy="45720"/>
          </a:xfrm>
          <a:prstGeom prst="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Major RCTs Supporting MET/MI</a:t>
            </a:r>
          </a:p>
        </p:txBody>
      </p:sp>
      <p:graphicFrame>
        <p:nvGraphicFramePr>
          <p:cNvPr id="5" name="Table 4"/>
          <p:cNvGraphicFramePr>
            <a:graphicFrameLocks noGrp="1"/>
          </p:cNvGraphicFramePr>
          <p:nvPr/>
        </p:nvGraphicFramePr>
        <p:xfrm>
          <a:off x="457200" y="1371600"/>
          <a:ext cx="11247120" cy="3493008"/>
        </p:xfrm>
        <a:graphic>
          <a:graphicData uri="http://schemas.openxmlformats.org/drawingml/2006/table">
            <a:tbl>
              <a:tblPr firstRow="1" bandRow="1">
                <a:tableStyleId>{5C22544A-7EE6-4342-B048-85BDC9FD1C3A}</a:tableStyleId>
              </a:tblPr>
              <a:tblGrid>
                <a:gridCol w="2560320"/>
                <a:gridCol w="914400"/>
                <a:gridCol w="914400"/>
                <a:gridCol w="6858000"/>
              </a:tblGrid>
              <a:tr h="388112">
                <a:tc>
                  <a:txBody>
                    <a:bodyPr/>
                    <a:lstStyle/>
                    <a:p>
                      <a:pPr algn="ctr">
                        <a:defRPr sz="1200" b="1">
                          <a:solidFill>
                            <a:srgbClr val="FFFFFF"/>
                          </a:solidFill>
                        </a:defRPr>
                      </a:pPr>
                      <a:r>
                        <a:t>Study</a:t>
                      </a:r>
                    </a:p>
                  </a:txBody>
                  <a:tcPr anchor="ctr">
                    <a:solidFill>
                      <a:srgbClr val="1B2A4A"/>
                    </a:solidFill>
                  </a:tcPr>
                </a:tc>
                <a:tc>
                  <a:txBody>
                    <a:bodyPr/>
                    <a:lstStyle/>
                    <a:p>
                      <a:pPr algn="ctr">
                        <a:defRPr sz="1200" b="1">
                          <a:solidFill>
                            <a:srgbClr val="FFFFFF"/>
                          </a:solidFill>
                        </a:defRPr>
                      </a:pPr>
                      <a:r>
                        <a:t>Year</a:t>
                      </a:r>
                    </a:p>
                  </a:txBody>
                  <a:tcPr anchor="ctr">
                    <a:solidFill>
                      <a:srgbClr val="1B2A4A"/>
                    </a:solidFill>
                  </a:tcPr>
                </a:tc>
                <a:tc>
                  <a:txBody>
                    <a:bodyPr/>
                    <a:lstStyle/>
                    <a:p>
                      <a:pPr algn="ctr">
                        <a:defRPr sz="1200" b="1">
                          <a:solidFill>
                            <a:srgbClr val="FFFFFF"/>
                          </a:solidFill>
                        </a:defRPr>
                      </a:pPr>
                      <a:r>
                        <a:t>N</a:t>
                      </a:r>
                    </a:p>
                  </a:txBody>
                  <a:tcPr anchor="ctr">
                    <a:solidFill>
                      <a:srgbClr val="1B2A4A"/>
                    </a:solidFill>
                  </a:tcPr>
                </a:tc>
                <a:tc>
                  <a:txBody>
                    <a:bodyPr/>
                    <a:lstStyle/>
                    <a:p>
                      <a:pPr algn="ctr">
                        <a:defRPr sz="1200" b="1">
                          <a:solidFill>
                            <a:srgbClr val="FFFFFF"/>
                          </a:solidFill>
                        </a:defRPr>
                      </a:pPr>
                      <a:r>
                        <a:t>Key Finding</a:t>
                      </a:r>
                    </a:p>
                  </a:txBody>
                  <a:tcPr anchor="ctr">
                    <a:solidFill>
                      <a:srgbClr val="1B2A4A"/>
                    </a:solidFill>
                  </a:tcPr>
                </a:tc>
              </a:tr>
              <a:tr h="388112">
                <a:tc>
                  <a:txBody>
                    <a:bodyPr/>
                    <a:lstStyle/>
                    <a:p>
                      <a:pPr>
                        <a:defRPr sz="1100">
                          <a:solidFill>
                            <a:srgbClr val="2D3A4A"/>
                          </a:solidFill>
                        </a:defRPr>
                      </a:pPr>
                      <a:r>
                        <a:t>Project MATCH</a:t>
                      </a:r>
                    </a:p>
                  </a:txBody>
                  <a:tcPr anchor="ctr">
                    <a:solidFill>
                      <a:srgbClr val="EBF5FF"/>
                    </a:solidFill>
                  </a:tcPr>
                </a:tc>
                <a:tc>
                  <a:txBody>
                    <a:bodyPr/>
                    <a:lstStyle/>
                    <a:p>
                      <a:pPr>
                        <a:defRPr sz="1100">
                          <a:solidFill>
                            <a:srgbClr val="2D3A4A"/>
                          </a:solidFill>
                        </a:defRPr>
                      </a:pPr>
                      <a:r>
                        <a:t>1997</a:t>
                      </a:r>
                    </a:p>
                  </a:txBody>
                  <a:tcPr anchor="ctr">
                    <a:solidFill>
                      <a:srgbClr val="EBF5FF"/>
                    </a:solidFill>
                  </a:tcPr>
                </a:tc>
                <a:tc>
                  <a:txBody>
                    <a:bodyPr/>
                    <a:lstStyle/>
                    <a:p>
                      <a:pPr>
                        <a:defRPr sz="1100">
                          <a:solidFill>
                            <a:srgbClr val="2D3A4A"/>
                          </a:solidFill>
                        </a:defRPr>
                      </a:pPr>
                      <a:r>
                        <a:t>1,726</a:t>
                      </a:r>
                    </a:p>
                  </a:txBody>
                  <a:tcPr anchor="ctr">
                    <a:solidFill>
                      <a:srgbClr val="EBF5FF"/>
                    </a:solidFill>
                  </a:tcPr>
                </a:tc>
                <a:tc>
                  <a:txBody>
                    <a:bodyPr/>
                    <a:lstStyle/>
                    <a:p>
                      <a:pPr>
                        <a:defRPr sz="1100">
                          <a:solidFill>
                            <a:srgbClr val="2D3A4A"/>
                          </a:solidFill>
                        </a:defRPr>
                      </a:pPr>
                      <a:r>
                        <a:t>MET (4 sessions) = CBT = TSF (12 sessions each)</a:t>
                      </a:r>
                    </a:p>
                  </a:txBody>
                  <a:tcPr anchor="ctr">
                    <a:solidFill>
                      <a:srgbClr val="EBF5FF"/>
                    </a:solidFill>
                  </a:tcPr>
                </a:tc>
              </a:tr>
              <a:tr h="388112">
                <a:tc>
                  <a:txBody>
                    <a:bodyPr/>
                    <a:lstStyle/>
                    <a:p>
                      <a:pPr>
                        <a:defRPr sz="1100">
                          <a:solidFill>
                            <a:srgbClr val="2D3A4A"/>
                          </a:solidFill>
                        </a:defRPr>
                      </a:pPr>
                      <a:r>
                        <a:t>UKATT</a:t>
                      </a:r>
                    </a:p>
                  </a:txBody>
                  <a:tcPr anchor="ctr">
                    <a:solidFill>
                      <a:srgbClr val="FFFFFF"/>
                    </a:solidFill>
                  </a:tcPr>
                </a:tc>
                <a:tc>
                  <a:txBody>
                    <a:bodyPr/>
                    <a:lstStyle/>
                    <a:p>
                      <a:pPr>
                        <a:defRPr sz="1100">
                          <a:solidFill>
                            <a:srgbClr val="2D3A4A"/>
                          </a:solidFill>
                        </a:defRPr>
                      </a:pPr>
                      <a:r>
                        <a:t>2005</a:t>
                      </a:r>
                    </a:p>
                  </a:txBody>
                  <a:tcPr anchor="ctr">
                    <a:solidFill>
                      <a:srgbClr val="FFFFFF"/>
                    </a:solidFill>
                  </a:tcPr>
                </a:tc>
                <a:tc>
                  <a:txBody>
                    <a:bodyPr/>
                    <a:lstStyle/>
                    <a:p>
                      <a:pPr>
                        <a:defRPr sz="1100">
                          <a:solidFill>
                            <a:srgbClr val="2D3A4A"/>
                          </a:solidFill>
                        </a:defRPr>
                      </a:pPr>
                      <a:r>
                        <a:t>742</a:t>
                      </a:r>
                    </a:p>
                  </a:txBody>
                  <a:tcPr anchor="ctr">
                    <a:solidFill>
                      <a:srgbClr val="FFFFFF"/>
                    </a:solidFill>
                  </a:tcPr>
                </a:tc>
                <a:tc>
                  <a:txBody>
                    <a:bodyPr/>
                    <a:lstStyle/>
                    <a:p>
                      <a:pPr>
                        <a:defRPr sz="1100">
                          <a:solidFill>
                            <a:srgbClr val="2D3A4A"/>
                          </a:solidFill>
                        </a:defRPr>
                      </a:pPr>
                      <a:r>
                        <a:t>MET (3 sessions) = SBNT (8 sessions); MET more cost-effective</a:t>
                      </a:r>
                    </a:p>
                  </a:txBody>
                  <a:tcPr anchor="ctr">
                    <a:solidFill>
                      <a:srgbClr val="FFFFFF"/>
                    </a:solidFill>
                  </a:tcPr>
                </a:tc>
              </a:tr>
              <a:tr h="388112">
                <a:tc>
                  <a:txBody>
                    <a:bodyPr/>
                    <a:lstStyle/>
                    <a:p>
                      <a:pPr>
                        <a:defRPr sz="1100">
                          <a:solidFill>
                            <a:srgbClr val="2D3A4A"/>
                          </a:solidFill>
                        </a:defRPr>
                      </a:pPr>
                      <a:r>
                        <a:t>COMBINE</a:t>
                      </a:r>
                    </a:p>
                  </a:txBody>
                  <a:tcPr anchor="ctr">
                    <a:solidFill>
                      <a:srgbClr val="EBF5FF"/>
                    </a:solidFill>
                  </a:tcPr>
                </a:tc>
                <a:tc>
                  <a:txBody>
                    <a:bodyPr/>
                    <a:lstStyle/>
                    <a:p>
                      <a:pPr>
                        <a:defRPr sz="1100">
                          <a:solidFill>
                            <a:srgbClr val="2D3A4A"/>
                          </a:solidFill>
                        </a:defRPr>
                      </a:pPr>
                      <a:r>
                        <a:t>2006</a:t>
                      </a:r>
                    </a:p>
                  </a:txBody>
                  <a:tcPr anchor="ctr">
                    <a:solidFill>
                      <a:srgbClr val="EBF5FF"/>
                    </a:solidFill>
                  </a:tcPr>
                </a:tc>
                <a:tc>
                  <a:txBody>
                    <a:bodyPr/>
                    <a:lstStyle/>
                    <a:p>
                      <a:pPr>
                        <a:defRPr sz="1100">
                          <a:solidFill>
                            <a:srgbClr val="2D3A4A"/>
                          </a:solidFill>
                        </a:defRPr>
                      </a:pPr>
                      <a:r>
                        <a:t>1,383</a:t>
                      </a:r>
                    </a:p>
                  </a:txBody>
                  <a:tcPr anchor="ctr">
                    <a:solidFill>
                      <a:srgbClr val="EBF5FF"/>
                    </a:solidFill>
                  </a:tcPr>
                </a:tc>
                <a:tc>
                  <a:txBody>
                    <a:bodyPr/>
                    <a:lstStyle/>
                    <a:p>
                      <a:pPr>
                        <a:defRPr sz="1100">
                          <a:solidFill>
                            <a:srgbClr val="2D3A4A"/>
                          </a:solidFill>
                        </a:defRPr>
                      </a:pPr>
                      <a:r>
                        <a:t>MET + naltrexone effective combination</a:t>
                      </a:r>
                    </a:p>
                  </a:txBody>
                  <a:tcPr anchor="ctr">
                    <a:solidFill>
                      <a:srgbClr val="EBF5FF"/>
                    </a:solidFill>
                  </a:tcPr>
                </a:tc>
              </a:tr>
              <a:tr h="388112">
                <a:tc>
                  <a:txBody>
                    <a:bodyPr/>
                    <a:lstStyle/>
                    <a:p>
                      <a:pPr>
                        <a:defRPr sz="1100">
                          <a:solidFill>
                            <a:srgbClr val="2D3A4A"/>
                          </a:solidFill>
                        </a:defRPr>
                      </a:pPr>
                      <a:r>
                        <a:t>Miller et al.</a:t>
                      </a:r>
                    </a:p>
                  </a:txBody>
                  <a:tcPr anchor="ctr">
                    <a:solidFill>
                      <a:srgbClr val="FFFFFF"/>
                    </a:solidFill>
                  </a:tcPr>
                </a:tc>
                <a:tc>
                  <a:txBody>
                    <a:bodyPr/>
                    <a:lstStyle/>
                    <a:p>
                      <a:pPr>
                        <a:defRPr sz="1100">
                          <a:solidFill>
                            <a:srgbClr val="2D3A4A"/>
                          </a:solidFill>
                        </a:defRPr>
                      </a:pPr>
                      <a:r>
                        <a:t>1993</a:t>
                      </a:r>
                    </a:p>
                  </a:txBody>
                  <a:tcPr anchor="ctr">
                    <a:solidFill>
                      <a:srgbClr val="FFFFFF"/>
                    </a:solidFill>
                  </a:tcPr>
                </a:tc>
                <a:tc>
                  <a:txBody>
                    <a:bodyPr/>
                    <a:lstStyle/>
                    <a:p>
                      <a:pPr>
                        <a:defRPr sz="1100">
                          <a:solidFill>
                            <a:srgbClr val="2D3A4A"/>
                          </a:solidFill>
                        </a:defRPr>
                      </a:pPr>
                      <a:r>
                        <a:t>42</a:t>
                      </a:r>
                    </a:p>
                  </a:txBody>
                  <a:tcPr anchor="ctr">
                    <a:solidFill>
                      <a:srgbClr val="FFFFFF"/>
                    </a:solidFill>
                  </a:tcPr>
                </a:tc>
                <a:tc>
                  <a:txBody>
                    <a:bodyPr/>
                    <a:lstStyle/>
                    <a:p>
                      <a:pPr>
                        <a:defRPr sz="1100">
                          <a:solidFill>
                            <a:srgbClr val="2D3A4A"/>
                          </a:solidFill>
                        </a:defRPr>
                      </a:pPr>
                      <a:r>
                        <a:t>Empathic style &gt; confrontational (1-year outcomes)</a:t>
                      </a:r>
                    </a:p>
                  </a:txBody>
                  <a:tcPr anchor="ctr">
                    <a:solidFill>
                      <a:srgbClr val="FFFFFF"/>
                    </a:solidFill>
                  </a:tcPr>
                </a:tc>
              </a:tr>
              <a:tr h="388112">
                <a:tc>
                  <a:txBody>
                    <a:bodyPr/>
                    <a:lstStyle/>
                    <a:p>
                      <a:pPr>
                        <a:defRPr sz="1100">
                          <a:solidFill>
                            <a:srgbClr val="2D3A4A"/>
                          </a:solidFill>
                        </a:defRPr>
                      </a:pPr>
                      <a:r>
                        <a:t>Marlatt et al.</a:t>
                      </a:r>
                    </a:p>
                  </a:txBody>
                  <a:tcPr anchor="ctr">
                    <a:solidFill>
                      <a:srgbClr val="EBF5FF"/>
                    </a:solidFill>
                  </a:tcPr>
                </a:tc>
                <a:tc>
                  <a:txBody>
                    <a:bodyPr/>
                    <a:lstStyle/>
                    <a:p>
                      <a:pPr>
                        <a:defRPr sz="1100">
                          <a:solidFill>
                            <a:srgbClr val="2D3A4A"/>
                          </a:solidFill>
                        </a:defRPr>
                      </a:pPr>
                      <a:r>
                        <a:t>1998</a:t>
                      </a:r>
                    </a:p>
                  </a:txBody>
                  <a:tcPr anchor="ctr">
                    <a:solidFill>
                      <a:srgbClr val="EBF5FF"/>
                    </a:solidFill>
                  </a:tcPr>
                </a:tc>
                <a:tc>
                  <a:txBody>
                    <a:bodyPr/>
                    <a:lstStyle/>
                    <a:p>
                      <a:pPr>
                        <a:defRPr sz="1100">
                          <a:solidFill>
                            <a:srgbClr val="2D3A4A"/>
                          </a:solidFill>
                        </a:defRPr>
                      </a:pPr>
                      <a:r>
                        <a:t>348</a:t>
                      </a:r>
                    </a:p>
                  </a:txBody>
                  <a:tcPr anchor="ctr">
                    <a:solidFill>
                      <a:srgbClr val="EBF5FF"/>
                    </a:solidFill>
                  </a:tcPr>
                </a:tc>
                <a:tc>
                  <a:txBody>
                    <a:bodyPr/>
                    <a:lstStyle/>
                    <a:p>
                      <a:pPr>
                        <a:defRPr sz="1100">
                          <a:solidFill>
                            <a:srgbClr val="2D3A4A"/>
                          </a:solidFill>
                        </a:defRPr>
                      </a:pPr>
                      <a:r>
                        <a:t>Single MI session reduced college drinking (2-year f/u)</a:t>
                      </a:r>
                    </a:p>
                  </a:txBody>
                  <a:tcPr anchor="ctr">
                    <a:solidFill>
                      <a:srgbClr val="EBF5FF"/>
                    </a:solidFill>
                  </a:tcPr>
                </a:tc>
              </a:tr>
              <a:tr h="388112">
                <a:tc>
                  <a:txBody>
                    <a:bodyPr/>
                    <a:lstStyle/>
                    <a:p>
                      <a:pPr>
                        <a:defRPr sz="1100">
                          <a:solidFill>
                            <a:srgbClr val="2D3A4A"/>
                          </a:solidFill>
                        </a:defRPr>
                      </a:pPr>
                      <a:r>
                        <a:t>Stephens et al.</a:t>
                      </a:r>
                    </a:p>
                  </a:txBody>
                  <a:tcPr anchor="ctr">
                    <a:solidFill>
                      <a:srgbClr val="FFFFFF"/>
                    </a:solidFill>
                  </a:tcPr>
                </a:tc>
                <a:tc>
                  <a:txBody>
                    <a:bodyPr/>
                    <a:lstStyle/>
                    <a:p>
                      <a:pPr>
                        <a:defRPr sz="1100">
                          <a:solidFill>
                            <a:srgbClr val="2D3A4A"/>
                          </a:solidFill>
                        </a:defRPr>
                      </a:pPr>
                      <a:r>
                        <a:t>2004</a:t>
                      </a:r>
                    </a:p>
                  </a:txBody>
                  <a:tcPr anchor="ctr">
                    <a:solidFill>
                      <a:srgbClr val="FFFFFF"/>
                    </a:solidFill>
                  </a:tcPr>
                </a:tc>
                <a:tc>
                  <a:txBody>
                    <a:bodyPr/>
                    <a:lstStyle/>
                    <a:p>
                      <a:pPr>
                        <a:defRPr sz="1100">
                          <a:solidFill>
                            <a:srgbClr val="2D3A4A"/>
                          </a:solidFill>
                        </a:defRPr>
                      </a:pPr>
                      <a:r>
                        <a:t>291</a:t>
                      </a:r>
                    </a:p>
                  </a:txBody>
                  <a:tcPr anchor="ctr">
                    <a:solidFill>
                      <a:srgbClr val="FFFFFF"/>
                    </a:solidFill>
                  </a:tcPr>
                </a:tc>
                <a:tc>
                  <a:txBody>
                    <a:bodyPr/>
                    <a:lstStyle/>
                    <a:p>
                      <a:pPr>
                        <a:defRPr sz="1100">
                          <a:solidFill>
                            <a:srgbClr val="2D3A4A"/>
                          </a:solidFill>
                        </a:defRPr>
                      </a:pPr>
                      <a:r>
                        <a:t>MI effective for cannabis use disorder</a:t>
                      </a:r>
                    </a:p>
                  </a:txBody>
                  <a:tcPr anchor="ctr">
                    <a:solidFill>
                      <a:srgbClr val="FFFFFF"/>
                    </a:solidFill>
                  </a:tcPr>
                </a:tc>
              </a:tr>
              <a:tr h="388112">
                <a:tc>
                  <a:txBody>
                    <a:bodyPr/>
                    <a:lstStyle/>
                    <a:p>
                      <a:pPr>
                        <a:defRPr sz="1100">
                          <a:solidFill>
                            <a:srgbClr val="2D3A4A"/>
                          </a:solidFill>
                        </a:defRPr>
                      </a:pPr>
                      <a:r>
                        <a:t>Handmaker et al.</a:t>
                      </a:r>
                    </a:p>
                  </a:txBody>
                  <a:tcPr anchor="ctr">
                    <a:solidFill>
                      <a:srgbClr val="EBF5FF"/>
                    </a:solidFill>
                  </a:tcPr>
                </a:tc>
                <a:tc>
                  <a:txBody>
                    <a:bodyPr/>
                    <a:lstStyle/>
                    <a:p>
                      <a:pPr>
                        <a:defRPr sz="1100">
                          <a:solidFill>
                            <a:srgbClr val="2D3A4A"/>
                          </a:solidFill>
                        </a:defRPr>
                      </a:pPr>
                      <a:r>
                        <a:t>1999</a:t>
                      </a:r>
                    </a:p>
                  </a:txBody>
                  <a:tcPr anchor="ctr">
                    <a:solidFill>
                      <a:srgbClr val="EBF5FF"/>
                    </a:solidFill>
                  </a:tcPr>
                </a:tc>
                <a:tc>
                  <a:txBody>
                    <a:bodyPr/>
                    <a:lstStyle/>
                    <a:p>
                      <a:pPr>
                        <a:defRPr sz="1100">
                          <a:solidFill>
                            <a:srgbClr val="2D3A4A"/>
                          </a:solidFill>
                        </a:defRPr>
                      </a:pPr>
                      <a:r>
                        <a:t>42</a:t>
                      </a:r>
                    </a:p>
                  </a:txBody>
                  <a:tcPr anchor="ctr">
                    <a:solidFill>
                      <a:srgbClr val="EBF5FF"/>
                    </a:solidFill>
                  </a:tcPr>
                </a:tc>
                <a:tc>
                  <a:txBody>
                    <a:bodyPr/>
                    <a:lstStyle/>
                    <a:p>
                      <a:pPr>
                        <a:defRPr sz="1100">
                          <a:solidFill>
                            <a:srgbClr val="2D3A4A"/>
                          </a:solidFill>
                        </a:defRPr>
                      </a:pPr>
                      <a:r>
                        <a:t>Brief MI reduced prenatal alcohol use</a:t>
                      </a:r>
                    </a:p>
                  </a:txBody>
                  <a:tcPr anchor="ctr">
                    <a:solidFill>
                      <a:srgbClr val="EBF5FF"/>
                    </a:solidFill>
                  </a:tcPr>
                </a:tc>
              </a:tr>
              <a:tr h="388112">
                <a:tc>
                  <a:txBody>
                    <a:bodyPr/>
                    <a:lstStyle/>
                    <a:p>
                      <a:pPr>
                        <a:defRPr sz="1100">
                          <a:solidFill>
                            <a:srgbClr val="2D3A4A"/>
                          </a:solidFill>
                        </a:defRPr>
                      </a:pPr>
                      <a:r>
                        <a:t>Moyers et al.</a:t>
                      </a:r>
                    </a:p>
                  </a:txBody>
                  <a:tcPr anchor="ctr">
                    <a:solidFill>
                      <a:srgbClr val="FFFFFF"/>
                    </a:solidFill>
                  </a:tcPr>
                </a:tc>
                <a:tc>
                  <a:txBody>
                    <a:bodyPr/>
                    <a:lstStyle/>
                    <a:p>
                      <a:pPr>
                        <a:defRPr sz="1100">
                          <a:solidFill>
                            <a:srgbClr val="2D3A4A"/>
                          </a:solidFill>
                        </a:defRPr>
                      </a:pPr>
                      <a:r>
                        <a:t>2007</a:t>
                      </a:r>
                    </a:p>
                  </a:txBody>
                  <a:tcPr anchor="ctr">
                    <a:solidFill>
                      <a:srgbClr val="FFFFFF"/>
                    </a:solidFill>
                  </a:tcPr>
                </a:tc>
                <a:tc>
                  <a:txBody>
                    <a:bodyPr/>
                    <a:lstStyle/>
                    <a:p>
                      <a:pPr>
                        <a:defRPr sz="1100">
                          <a:solidFill>
                            <a:srgbClr val="2D3A4A"/>
                          </a:solidFill>
                        </a:defRPr>
                      </a:pPr>
                      <a:r>
                        <a:t>103</a:t>
                      </a:r>
                    </a:p>
                  </a:txBody>
                  <a:tcPr anchor="ctr">
                    <a:solidFill>
                      <a:srgbClr val="FFFFFF"/>
                    </a:solidFill>
                  </a:tcPr>
                </a:tc>
                <a:tc>
                  <a:txBody>
                    <a:bodyPr/>
                    <a:lstStyle/>
                    <a:p>
                      <a:pPr>
                        <a:defRPr sz="1100">
                          <a:solidFill>
                            <a:srgbClr val="2D3A4A"/>
                          </a:solidFill>
                        </a:defRPr>
                      </a:pPr>
                      <a:r>
                        <a:t>MI behaviors → change talk → behavior change (mechanism)</a:t>
                      </a:r>
                    </a:p>
                  </a:txBody>
                  <a:tcPr anchor="ctr">
                    <a:solidFill>
                      <a:srgbClr val="FFFFFF"/>
                    </a:solidFill>
                  </a:tcPr>
                </a:tc>
              </a:tr>
            </a:tbl>
          </a:graphicData>
        </a:graphic>
      </p:graphicFrame>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200+ RCTs support MI/MET. Project MATCH showed 4 sessions of MET equals 12 sessions of CBT or TSF.</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Project MATCH (1997). JOSA, 58, 7-29. | UKATT (2005). BMJ, 331, 541. | Bien et al. (1993). Addiction, 88, 315.</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Meta-Analyses: Effect Sizes and Conclusions</a:t>
            </a:r>
          </a:p>
        </p:txBody>
      </p:sp>
      <p:graphicFrame>
        <p:nvGraphicFramePr>
          <p:cNvPr id="5" name="Table 4"/>
          <p:cNvGraphicFramePr>
            <a:graphicFrameLocks noGrp="1"/>
          </p:cNvGraphicFramePr>
          <p:nvPr/>
        </p:nvGraphicFramePr>
        <p:xfrm>
          <a:off x="457200" y="1371600"/>
          <a:ext cx="11247120" cy="2798064"/>
        </p:xfrm>
        <a:graphic>
          <a:graphicData uri="http://schemas.openxmlformats.org/drawingml/2006/table">
            <a:tbl>
              <a:tblPr firstRow="1" bandRow="1">
                <a:tableStyleId>{5C22544A-7EE6-4342-B048-85BDC9FD1C3A}</a:tableStyleId>
              </a:tblPr>
              <a:tblGrid>
                <a:gridCol w="3200400"/>
                <a:gridCol w="1645920"/>
                <a:gridCol w="4114800"/>
                <a:gridCol w="2286000"/>
              </a:tblGrid>
              <a:tr h="399723">
                <a:tc>
                  <a:txBody>
                    <a:bodyPr/>
                    <a:lstStyle/>
                    <a:p>
                      <a:pPr algn="ctr">
                        <a:defRPr sz="1200" b="1">
                          <a:solidFill>
                            <a:srgbClr val="FFFFFF"/>
                          </a:solidFill>
                        </a:defRPr>
                      </a:pPr>
                      <a:r>
                        <a:t>Meta-Analysis</a:t>
                      </a:r>
                    </a:p>
                  </a:txBody>
                  <a:tcPr anchor="ctr">
                    <a:solidFill>
                      <a:srgbClr val="1B2A4A"/>
                    </a:solidFill>
                  </a:tcPr>
                </a:tc>
                <a:tc>
                  <a:txBody>
                    <a:bodyPr/>
                    <a:lstStyle/>
                    <a:p>
                      <a:pPr algn="ctr">
                        <a:defRPr sz="1200" b="1">
                          <a:solidFill>
                            <a:srgbClr val="FFFFFF"/>
                          </a:solidFill>
                        </a:defRPr>
                      </a:pPr>
                      <a:r>
                        <a:t>Studies</a:t>
                      </a:r>
                    </a:p>
                  </a:txBody>
                  <a:tcPr anchor="ctr">
                    <a:solidFill>
                      <a:srgbClr val="1B2A4A"/>
                    </a:solidFill>
                  </a:tcPr>
                </a:tc>
                <a:tc>
                  <a:txBody>
                    <a:bodyPr/>
                    <a:lstStyle/>
                    <a:p>
                      <a:pPr algn="ctr">
                        <a:defRPr sz="1200" b="1">
                          <a:solidFill>
                            <a:srgbClr val="FFFFFF"/>
                          </a:solidFill>
                        </a:defRPr>
                      </a:pPr>
                      <a:r>
                        <a:t>Key Finding</a:t>
                      </a:r>
                    </a:p>
                  </a:txBody>
                  <a:tcPr anchor="ctr">
                    <a:solidFill>
                      <a:srgbClr val="1B2A4A"/>
                    </a:solidFill>
                  </a:tcPr>
                </a:tc>
                <a:tc>
                  <a:txBody>
                    <a:bodyPr/>
                    <a:lstStyle/>
                    <a:p>
                      <a:pPr algn="ctr">
                        <a:defRPr sz="1200" b="1">
                          <a:solidFill>
                            <a:srgbClr val="FFFFFF"/>
                          </a:solidFill>
                        </a:defRPr>
                      </a:pPr>
                      <a:r>
                        <a:t>Effect Size</a:t>
                      </a:r>
                    </a:p>
                  </a:txBody>
                  <a:tcPr anchor="ctr">
                    <a:solidFill>
                      <a:srgbClr val="1B2A4A"/>
                    </a:solidFill>
                  </a:tcPr>
                </a:tc>
              </a:tr>
              <a:tr h="399723">
                <a:tc>
                  <a:txBody>
                    <a:bodyPr/>
                    <a:lstStyle/>
                    <a:p>
                      <a:pPr>
                        <a:defRPr sz="1100">
                          <a:solidFill>
                            <a:srgbClr val="2D3A4A"/>
                          </a:solidFill>
                        </a:defRPr>
                      </a:pPr>
                      <a:r>
                        <a:t>Burke et al. (2003)</a:t>
                      </a:r>
                    </a:p>
                  </a:txBody>
                  <a:tcPr anchor="ctr">
                    <a:solidFill>
                      <a:srgbClr val="EBF5FF"/>
                    </a:solidFill>
                  </a:tcPr>
                </a:tc>
                <a:tc>
                  <a:txBody>
                    <a:bodyPr/>
                    <a:lstStyle/>
                    <a:p>
                      <a:pPr>
                        <a:defRPr sz="1100">
                          <a:solidFill>
                            <a:srgbClr val="2D3A4A"/>
                          </a:solidFill>
                        </a:defRPr>
                      </a:pPr>
                      <a:r>
                        <a:t>30 RCTs</a:t>
                      </a:r>
                    </a:p>
                  </a:txBody>
                  <a:tcPr anchor="ctr">
                    <a:solidFill>
                      <a:srgbClr val="EBF5FF"/>
                    </a:solidFill>
                  </a:tcPr>
                </a:tc>
                <a:tc>
                  <a:txBody>
                    <a:bodyPr/>
                    <a:lstStyle/>
                    <a:p>
                      <a:pPr>
                        <a:defRPr sz="1100">
                          <a:solidFill>
                            <a:srgbClr val="2D3A4A"/>
                          </a:solidFill>
                        </a:defRPr>
                      </a:pPr>
                      <a:r>
                        <a:t>MI effective across substances</a:t>
                      </a:r>
                    </a:p>
                  </a:txBody>
                  <a:tcPr anchor="ctr">
                    <a:solidFill>
                      <a:srgbClr val="EBF5FF"/>
                    </a:solidFill>
                  </a:tcPr>
                </a:tc>
                <a:tc>
                  <a:txBody>
                    <a:bodyPr/>
                    <a:lstStyle/>
                    <a:p>
                      <a:pPr>
                        <a:defRPr sz="1100">
                          <a:solidFill>
                            <a:srgbClr val="2D3A4A"/>
                          </a:solidFill>
                        </a:defRPr>
                      </a:pPr>
                      <a:r>
                        <a:t>d = 0.25-0.57</a:t>
                      </a:r>
                    </a:p>
                  </a:txBody>
                  <a:tcPr anchor="ctr">
                    <a:solidFill>
                      <a:srgbClr val="EBF5FF"/>
                    </a:solidFill>
                  </a:tcPr>
                </a:tc>
              </a:tr>
              <a:tr h="399723">
                <a:tc>
                  <a:txBody>
                    <a:bodyPr/>
                    <a:lstStyle/>
                    <a:p>
                      <a:pPr>
                        <a:defRPr sz="1100">
                          <a:solidFill>
                            <a:srgbClr val="2D3A4A"/>
                          </a:solidFill>
                        </a:defRPr>
                      </a:pPr>
                      <a:r>
                        <a:t>Hettema et al. (2005)</a:t>
                      </a:r>
                    </a:p>
                  </a:txBody>
                  <a:tcPr anchor="ctr">
                    <a:solidFill>
                      <a:srgbClr val="FFFFFF"/>
                    </a:solidFill>
                  </a:tcPr>
                </a:tc>
                <a:tc>
                  <a:txBody>
                    <a:bodyPr/>
                    <a:lstStyle/>
                    <a:p>
                      <a:pPr>
                        <a:defRPr sz="1100">
                          <a:solidFill>
                            <a:srgbClr val="2D3A4A"/>
                          </a:solidFill>
                        </a:defRPr>
                      </a:pPr>
                      <a:r>
                        <a:t>72 trials</a:t>
                      </a:r>
                    </a:p>
                  </a:txBody>
                  <a:tcPr anchor="ctr">
                    <a:solidFill>
                      <a:srgbClr val="FFFFFF"/>
                    </a:solidFill>
                  </a:tcPr>
                </a:tc>
                <a:tc>
                  <a:txBody>
                    <a:bodyPr/>
                    <a:lstStyle/>
                    <a:p>
                      <a:pPr>
                        <a:defRPr sz="1100">
                          <a:solidFill>
                            <a:srgbClr val="2D3A4A"/>
                          </a:solidFill>
                        </a:defRPr>
                      </a:pPr>
                      <a:r>
                        <a:t>MI effective across health behaviors</a:t>
                      </a:r>
                    </a:p>
                  </a:txBody>
                  <a:tcPr anchor="ctr">
                    <a:solidFill>
                      <a:srgbClr val="FFFFFF"/>
                    </a:solidFill>
                  </a:tcPr>
                </a:tc>
                <a:tc>
                  <a:txBody>
                    <a:bodyPr/>
                    <a:lstStyle/>
                    <a:p>
                      <a:pPr>
                        <a:defRPr sz="1100">
                          <a:solidFill>
                            <a:srgbClr val="2D3A4A"/>
                          </a:solidFill>
                        </a:defRPr>
                      </a:pPr>
                      <a:r>
                        <a:t>Broad support</a:t>
                      </a:r>
                    </a:p>
                  </a:txBody>
                  <a:tcPr anchor="ctr">
                    <a:solidFill>
                      <a:srgbClr val="FFFFFF"/>
                    </a:solidFill>
                  </a:tcPr>
                </a:tc>
              </a:tr>
              <a:tr h="399723">
                <a:tc>
                  <a:txBody>
                    <a:bodyPr/>
                    <a:lstStyle/>
                    <a:p>
                      <a:pPr>
                        <a:defRPr sz="1100">
                          <a:solidFill>
                            <a:srgbClr val="2D3A4A"/>
                          </a:solidFill>
                        </a:defRPr>
                      </a:pPr>
                      <a:r>
                        <a:t>Lundahl et al. (2010)</a:t>
                      </a:r>
                    </a:p>
                  </a:txBody>
                  <a:tcPr anchor="ctr">
                    <a:solidFill>
                      <a:srgbClr val="EBF5FF"/>
                    </a:solidFill>
                  </a:tcPr>
                </a:tc>
                <a:tc>
                  <a:txBody>
                    <a:bodyPr/>
                    <a:lstStyle/>
                    <a:p>
                      <a:pPr>
                        <a:defRPr sz="1100">
                          <a:solidFill>
                            <a:srgbClr val="2D3A4A"/>
                          </a:solidFill>
                        </a:defRPr>
                      </a:pPr>
                      <a:r>
                        <a:t>119 studies</a:t>
                      </a:r>
                    </a:p>
                  </a:txBody>
                  <a:tcPr anchor="ctr">
                    <a:solidFill>
                      <a:srgbClr val="EBF5FF"/>
                    </a:solidFill>
                  </a:tcPr>
                </a:tc>
                <a:tc>
                  <a:txBody>
                    <a:bodyPr/>
                    <a:lstStyle/>
                    <a:p>
                      <a:pPr>
                        <a:defRPr sz="1100">
                          <a:solidFill>
                            <a:srgbClr val="2D3A4A"/>
                          </a:solidFill>
                        </a:defRPr>
                      </a:pPr>
                      <a:r>
                        <a:t>MI significantly better than comparison</a:t>
                      </a:r>
                    </a:p>
                  </a:txBody>
                  <a:tcPr anchor="ctr">
                    <a:solidFill>
                      <a:srgbClr val="EBF5FF"/>
                    </a:solidFill>
                  </a:tcPr>
                </a:tc>
                <a:tc>
                  <a:txBody>
                    <a:bodyPr/>
                    <a:lstStyle/>
                    <a:p>
                      <a:pPr>
                        <a:defRPr sz="1100">
                          <a:solidFill>
                            <a:srgbClr val="2D3A4A"/>
                          </a:solidFill>
                        </a:defRPr>
                      </a:pPr>
                      <a:r>
                        <a:t>OR = 1.55</a:t>
                      </a:r>
                    </a:p>
                  </a:txBody>
                  <a:tcPr anchor="ctr">
                    <a:solidFill>
                      <a:srgbClr val="EBF5FF"/>
                    </a:solidFill>
                  </a:tcPr>
                </a:tc>
              </a:tr>
              <a:tr h="399723">
                <a:tc>
                  <a:txBody>
                    <a:bodyPr/>
                    <a:lstStyle/>
                    <a:p>
                      <a:pPr>
                        <a:defRPr sz="1100">
                          <a:solidFill>
                            <a:srgbClr val="2D3A4A"/>
                          </a:solidFill>
                        </a:defRPr>
                      </a:pPr>
                      <a:r>
                        <a:t>Vasilaki et al. (2006)</a:t>
                      </a:r>
                    </a:p>
                  </a:txBody>
                  <a:tcPr anchor="ctr">
                    <a:solidFill>
                      <a:srgbClr val="FFFFFF"/>
                    </a:solidFill>
                  </a:tcPr>
                </a:tc>
                <a:tc>
                  <a:txBody>
                    <a:bodyPr/>
                    <a:lstStyle/>
                    <a:p>
                      <a:pPr>
                        <a:defRPr sz="1100">
                          <a:solidFill>
                            <a:srgbClr val="2D3A4A"/>
                          </a:solidFill>
                        </a:defRPr>
                      </a:pPr>
                      <a:r>
                        <a:t>15 studies</a:t>
                      </a:r>
                    </a:p>
                  </a:txBody>
                  <a:tcPr anchor="ctr">
                    <a:solidFill>
                      <a:srgbClr val="FFFFFF"/>
                    </a:solidFill>
                  </a:tcPr>
                </a:tc>
                <a:tc>
                  <a:txBody>
                    <a:bodyPr/>
                    <a:lstStyle/>
                    <a:p>
                      <a:pPr>
                        <a:defRPr sz="1100">
                          <a:solidFill>
                            <a:srgbClr val="2D3A4A"/>
                          </a:solidFill>
                        </a:defRPr>
                      </a:pPr>
                      <a:r>
                        <a:t>Brief MI for alcohol: durable at 12 months</a:t>
                      </a:r>
                    </a:p>
                  </a:txBody>
                  <a:tcPr anchor="ctr">
                    <a:solidFill>
                      <a:srgbClr val="FFFFFF"/>
                    </a:solidFill>
                  </a:tcPr>
                </a:tc>
                <a:tc>
                  <a:txBody>
                    <a:bodyPr/>
                    <a:lstStyle/>
                    <a:p>
                      <a:pPr>
                        <a:defRPr sz="1100">
                          <a:solidFill>
                            <a:srgbClr val="2D3A4A"/>
                          </a:solidFill>
                        </a:defRPr>
                      </a:pPr>
                      <a:r>
                        <a:t>Significant</a:t>
                      </a:r>
                    </a:p>
                  </a:txBody>
                  <a:tcPr anchor="ctr">
                    <a:solidFill>
                      <a:srgbClr val="FFFFFF"/>
                    </a:solidFill>
                  </a:tcPr>
                </a:tc>
              </a:tr>
              <a:tr h="399723">
                <a:tc>
                  <a:txBody>
                    <a:bodyPr/>
                    <a:lstStyle/>
                    <a:p>
                      <a:pPr>
                        <a:defRPr sz="1100">
                          <a:solidFill>
                            <a:srgbClr val="2D3A4A"/>
                          </a:solidFill>
                        </a:defRPr>
                      </a:pPr>
                      <a:r>
                        <a:t>Smedslund et al. (2011)</a:t>
                      </a:r>
                    </a:p>
                  </a:txBody>
                  <a:tcPr anchor="ctr">
                    <a:solidFill>
                      <a:srgbClr val="EBF5FF"/>
                    </a:solidFill>
                  </a:tcPr>
                </a:tc>
                <a:tc>
                  <a:txBody>
                    <a:bodyPr/>
                    <a:lstStyle/>
                    <a:p>
                      <a:pPr>
                        <a:defRPr sz="1100">
                          <a:solidFill>
                            <a:srgbClr val="2D3A4A"/>
                          </a:solidFill>
                        </a:defRPr>
                      </a:pPr>
                      <a:r>
                        <a:t>59 studies</a:t>
                      </a:r>
                    </a:p>
                  </a:txBody>
                  <a:tcPr anchor="ctr">
                    <a:solidFill>
                      <a:srgbClr val="EBF5FF"/>
                    </a:solidFill>
                  </a:tcPr>
                </a:tc>
                <a:tc>
                  <a:txBody>
                    <a:bodyPr/>
                    <a:lstStyle/>
                    <a:p>
                      <a:pPr>
                        <a:defRPr sz="1100">
                          <a:solidFill>
                            <a:srgbClr val="2D3A4A"/>
                          </a:solidFill>
                        </a:defRPr>
                      </a:pPr>
                      <a:r>
                        <a:t>Cochrane: MI reduces substance use</a:t>
                      </a:r>
                    </a:p>
                  </a:txBody>
                  <a:tcPr anchor="ctr">
                    <a:solidFill>
                      <a:srgbClr val="EBF5FF"/>
                    </a:solidFill>
                  </a:tcPr>
                </a:tc>
                <a:tc>
                  <a:txBody>
                    <a:bodyPr/>
                    <a:lstStyle/>
                    <a:p>
                      <a:pPr>
                        <a:defRPr sz="1100">
                          <a:solidFill>
                            <a:srgbClr val="2D3A4A"/>
                          </a:solidFill>
                        </a:defRPr>
                      </a:pPr>
                      <a:r>
                        <a:t>May diminish over time</a:t>
                      </a:r>
                    </a:p>
                  </a:txBody>
                  <a:tcPr anchor="ctr">
                    <a:solidFill>
                      <a:srgbClr val="EBF5FF"/>
                    </a:solidFill>
                  </a:tcPr>
                </a:tc>
              </a:tr>
              <a:tr h="399726">
                <a:tc>
                  <a:txBody>
                    <a:bodyPr/>
                    <a:lstStyle/>
                    <a:p>
                      <a:pPr>
                        <a:defRPr sz="1100">
                          <a:solidFill>
                            <a:srgbClr val="2D3A4A"/>
                          </a:solidFill>
                        </a:defRPr>
                      </a:pPr>
                      <a:r>
                        <a:t>Lundahl et al. (2013)</a:t>
                      </a:r>
                    </a:p>
                  </a:txBody>
                  <a:tcPr anchor="ctr">
                    <a:solidFill>
                      <a:srgbClr val="FFFFFF"/>
                    </a:solidFill>
                  </a:tcPr>
                </a:tc>
                <a:tc>
                  <a:txBody>
                    <a:bodyPr/>
                    <a:lstStyle/>
                    <a:p>
                      <a:pPr>
                        <a:defRPr sz="1100">
                          <a:solidFill>
                            <a:srgbClr val="2D3A4A"/>
                          </a:solidFill>
                        </a:defRPr>
                      </a:pPr>
                      <a:r>
                        <a:t>48 studies</a:t>
                      </a:r>
                    </a:p>
                  </a:txBody>
                  <a:tcPr anchor="ctr">
                    <a:solidFill>
                      <a:srgbClr val="FFFFFF"/>
                    </a:solidFill>
                  </a:tcPr>
                </a:tc>
                <a:tc>
                  <a:txBody>
                    <a:bodyPr/>
                    <a:lstStyle/>
                    <a:p>
                      <a:pPr>
                        <a:defRPr sz="1100">
                          <a:solidFill>
                            <a:srgbClr val="2D3A4A"/>
                          </a:solidFill>
                        </a:defRPr>
                      </a:pPr>
                      <a:r>
                        <a:t>MI for health: diet, exercise, adherence</a:t>
                      </a:r>
                    </a:p>
                  </a:txBody>
                  <a:tcPr anchor="ctr">
                    <a:solidFill>
                      <a:srgbClr val="FFFFFF"/>
                    </a:solidFill>
                  </a:tcPr>
                </a:tc>
                <a:tc>
                  <a:txBody>
                    <a:bodyPr/>
                    <a:lstStyle/>
                    <a:p>
                      <a:pPr>
                        <a:defRPr sz="1100">
                          <a:solidFill>
                            <a:srgbClr val="2D3A4A"/>
                          </a:solidFill>
                        </a:defRPr>
                      </a:pPr>
                      <a:r>
                        <a:t>d = 0.20-0.40</a:t>
                      </a:r>
                    </a:p>
                  </a:txBody>
                  <a:tcPr anchor="ctr">
                    <a:solidFill>
                      <a:srgbClr val="FFFFFF"/>
                    </a:solidFill>
                  </a:tcPr>
                </a:tc>
              </a:tr>
            </a:tbl>
          </a:graphicData>
        </a:graphic>
      </p:graphicFrame>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Consistent small-to-medium effects (d=0.25-0.57) across 200+ studies, multiple populations, and diverse settings.</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Burke et al. (2003). JCCP, 71, 843. | Lundahl et al. (2010). Clin Psych Rev, 30, 1. | Smedslund et al. (2011). Cochrane Database.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Mechanism of MET: How Does It Work?</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THE PROVEN CAUSAL CHAIN (Moyers et al., 2007, 2009):</a:t>
            </a:r>
          </a:p>
          <a:p>
            <a:pPr>
              <a:spcAft>
                <a:spcPts val="400"/>
              </a:spcAft>
              <a:defRPr sz="1500">
                <a:solidFill>
                  <a:srgbClr val="2D3A4A"/>
                </a:solidFill>
              </a:defRPr>
            </a:pPr>
          </a:p>
          <a:p>
            <a:pPr lvl="1">
              <a:spcAft>
                <a:spcPts val="400"/>
              </a:spcAft>
              <a:defRPr sz="1300">
                <a:solidFill>
                  <a:srgbClr val="2D3A4A"/>
                </a:solidFill>
              </a:defRPr>
            </a:pPr>
            <a:r>
              <a:t>Therapist MI-Consistent Behavior</a:t>
            </a:r>
          </a:p>
          <a:p>
            <a:pPr lvl="2">
              <a:spcAft>
                <a:spcPts val="400"/>
              </a:spcAft>
              <a:defRPr sz="1200">
                <a:solidFill>
                  <a:srgbClr val="2D3A4A"/>
                </a:solidFill>
              </a:defRPr>
            </a:pPr>
            <a:r>
              <a:t>↓</a:t>
            </a:r>
          </a:p>
          <a:p>
            <a:pPr lvl="1">
              <a:spcAft>
                <a:spcPts val="400"/>
              </a:spcAft>
              <a:defRPr sz="1300">
                <a:solidFill>
                  <a:srgbClr val="2D3A4A"/>
                </a:solidFill>
              </a:defRPr>
            </a:pPr>
            <a:r>
              <a:t>Client CHANGE TALK increases</a:t>
            </a:r>
          </a:p>
          <a:p>
            <a:pPr lvl="2">
              <a:spcAft>
                <a:spcPts val="400"/>
              </a:spcAft>
              <a:defRPr sz="1200">
                <a:solidFill>
                  <a:srgbClr val="2D3A4A"/>
                </a:solidFill>
              </a:defRPr>
            </a:pPr>
            <a:r>
              <a:t>↓</a:t>
            </a:r>
          </a:p>
          <a:p>
            <a:pPr lvl="1">
              <a:spcAft>
                <a:spcPts val="400"/>
              </a:spcAft>
              <a:defRPr sz="1300">
                <a:solidFill>
                  <a:srgbClr val="2D3A4A"/>
                </a:solidFill>
              </a:defRPr>
            </a:pPr>
            <a:r>
              <a:t>Actual BEHAVIOR CHANGE occurs</a:t>
            </a:r>
          </a:p>
          <a:p>
            <a:pPr>
              <a:spcAft>
                <a:spcPts val="400"/>
              </a:spcAft>
              <a:defRPr sz="1500">
                <a:solidFill>
                  <a:srgbClr val="2D3A4A"/>
                </a:solidFill>
              </a:defRPr>
            </a:pPr>
          </a:p>
          <a:p>
            <a:pPr>
              <a:spcAft>
                <a:spcPts val="400"/>
              </a:spcAft>
              <a:defRPr sz="1500" b="1">
                <a:solidFill>
                  <a:srgbClr val="2C5F8A"/>
                </a:solidFill>
              </a:defRPr>
            </a:pPr>
            <a:r>
              <a:t>Supporting Evidence:</a:t>
            </a:r>
          </a:p>
          <a:p>
            <a:pPr lvl="1">
              <a:spcAft>
                <a:spcPts val="400"/>
              </a:spcAft>
              <a:defRPr sz="1300">
                <a:solidFill>
                  <a:srgbClr val="2D3A4A"/>
                </a:solidFill>
              </a:defRPr>
            </a:pPr>
            <a:r>
              <a:t>• Amrhein et al. (2003): Strength of commitment language in session predicted</a:t>
            </a:r>
          </a:p>
          <a:p>
            <a:pPr lvl="2">
              <a:spcAft>
                <a:spcPts val="400"/>
              </a:spcAft>
              <a:defRPr sz="1200">
                <a:solidFill>
                  <a:srgbClr val="2D3A4A"/>
                </a:solidFill>
              </a:defRPr>
            </a:pPr>
            <a:r>
              <a:t>drug use outcomes at follow-up</a:t>
            </a:r>
          </a:p>
          <a:p>
            <a:pPr lvl="1">
              <a:spcAft>
                <a:spcPts val="400"/>
              </a:spcAft>
              <a:defRPr sz="1300">
                <a:solidFill>
                  <a:srgbClr val="2D3A4A"/>
                </a:solidFill>
              </a:defRPr>
            </a:pPr>
            <a:r>
              <a:t>• Moyers et al. (2007): Therapist empathic behavior → more client change talk</a:t>
            </a:r>
          </a:p>
          <a:p>
            <a:pPr lvl="1">
              <a:spcAft>
                <a:spcPts val="400"/>
              </a:spcAft>
              <a:defRPr sz="1300">
                <a:solidFill>
                  <a:srgbClr val="2D3A4A"/>
                </a:solidFill>
              </a:defRPr>
            </a:pPr>
            <a:r>
              <a:t>• Magill et al. (2014): Change-to-sustain talk ratio predicts outcomes</a:t>
            </a:r>
          </a:p>
          <a:p>
            <a:pPr>
              <a:spcAft>
                <a:spcPts val="400"/>
              </a:spcAft>
              <a:defRPr sz="1500">
                <a:solidFill>
                  <a:srgbClr val="2D3A4A"/>
                </a:solidFill>
              </a:defRPr>
            </a:pPr>
          </a:p>
          <a:p>
            <a:pPr>
              <a:spcAft>
                <a:spcPts val="400"/>
              </a:spcAft>
              <a:defRPr sz="1500" b="1">
                <a:solidFill>
                  <a:srgbClr val="2C5F8A"/>
                </a:solidFill>
              </a:defRPr>
            </a:pPr>
            <a:r>
              <a:t>Proposed Mechanisms:</a:t>
            </a:r>
          </a:p>
          <a:p>
            <a:pPr lvl="1">
              <a:spcAft>
                <a:spcPts val="400"/>
              </a:spcAft>
              <a:defRPr sz="1300">
                <a:solidFill>
                  <a:srgbClr val="2D3A4A"/>
                </a:solidFill>
              </a:defRPr>
            </a:pPr>
            <a:r>
              <a:t>1. Self-Perception: Hearing yourself argue for change → believing in change</a:t>
            </a:r>
          </a:p>
          <a:p>
            <a:pPr lvl="1">
              <a:spcAft>
                <a:spcPts val="400"/>
              </a:spcAft>
              <a:defRPr sz="1300">
                <a:solidFill>
                  <a:srgbClr val="2D3A4A"/>
                </a:solidFill>
              </a:defRPr>
            </a:pPr>
            <a:r>
              <a:t>2. Cognitive Dissonance: Value-behavior gap → discomfort → action</a:t>
            </a:r>
          </a:p>
          <a:p>
            <a:pPr lvl="1">
              <a:spcAft>
                <a:spcPts val="400"/>
              </a:spcAft>
              <a:defRPr sz="1300">
                <a:solidFill>
                  <a:srgbClr val="2D3A4A"/>
                </a:solidFill>
              </a:defRPr>
            </a:pPr>
            <a:r>
              <a:t>3. Self-Efficacy: Confidence building → more persistent effort</a:t>
            </a:r>
          </a:p>
          <a:p>
            <a:pPr lvl="1">
              <a:spcAft>
                <a:spcPts val="400"/>
              </a:spcAft>
              <a:defRPr sz="1300">
                <a:solidFill>
                  <a:srgbClr val="2D3A4A"/>
                </a:solidFill>
              </a:defRPr>
            </a:pPr>
            <a:r>
              <a:t>4. Therapeutic Alliance: Safety → exploration → insight → change</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The mechanism: Therapist MI behavior → Client change talk → Behavior change. Focus on evoking change talk.</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Moyers et al. (2007). JCCP, 75, 790. | Amrhein et al. (2003). JCCP, 71, 862. | Magill et al. (2014). JSAT, 46, 685.</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0" y="1371600"/>
            <a:ext cx="2103120" cy="2103120"/>
          </a:xfrm>
          <a:prstGeom prst="ellipse">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800" b="1">
                <a:solidFill>
                  <a:srgbClr val="FFFFFF"/>
                </a:solidFill>
              </a:defRPr>
            </a:pPr>
            <a:r>
              <a:t>21</a:t>
            </a:r>
          </a:p>
        </p:txBody>
      </p:sp>
      <p:sp>
        <p:nvSpPr>
          <p:cNvPr id="4" name="TextBox 3"/>
          <p:cNvSpPr txBox="1"/>
          <p:nvPr/>
        </p:nvSpPr>
        <p:spPr>
          <a:xfrm>
            <a:off x="914400" y="3840480"/>
            <a:ext cx="10332720" cy="1371600"/>
          </a:xfrm>
          <a:prstGeom prst="rect">
            <a:avLst/>
          </a:prstGeom>
          <a:noFill/>
        </p:spPr>
        <p:txBody>
          <a:bodyPr wrap="square">
            <a:spAutoFit/>
          </a:bodyPr>
          <a:lstStyle/>
          <a:p>
            <a:pPr algn="ctr">
              <a:defRPr sz="3600" b="1">
                <a:solidFill>
                  <a:srgbClr val="FFFFFF"/>
                </a:solidFill>
              </a:defRPr>
            </a:pPr>
            <a:r>
              <a:t>Comparison with Other Therapies</a:t>
            </a:r>
          </a:p>
        </p:txBody>
      </p:sp>
      <p:sp>
        <p:nvSpPr>
          <p:cNvPr id="5" name="Rectangle 4"/>
          <p:cNvSpPr/>
          <p:nvPr/>
        </p:nvSpPr>
        <p:spPr>
          <a:xfrm>
            <a:off x="3657600" y="5303520"/>
            <a:ext cx="4846320" cy="45720"/>
          </a:xfrm>
          <a:prstGeom prst="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MET vs. Other Major Psychotherapy Approaches</a:t>
            </a:r>
          </a:p>
        </p:txBody>
      </p:sp>
      <p:graphicFrame>
        <p:nvGraphicFramePr>
          <p:cNvPr id="5" name="Table 4"/>
          <p:cNvGraphicFramePr>
            <a:graphicFrameLocks noGrp="1"/>
          </p:cNvGraphicFramePr>
          <p:nvPr/>
        </p:nvGraphicFramePr>
        <p:xfrm>
          <a:off x="457200" y="1371600"/>
          <a:ext cx="11247120" cy="3493008"/>
        </p:xfrm>
        <a:graphic>
          <a:graphicData uri="http://schemas.openxmlformats.org/drawingml/2006/table">
            <a:tbl>
              <a:tblPr firstRow="1" bandRow="1">
                <a:tableStyleId>{5C22544A-7EE6-4342-B048-85BDC9FD1C3A}</a:tableStyleId>
              </a:tblPr>
              <a:tblGrid>
                <a:gridCol w="1828800"/>
                <a:gridCol w="2286000"/>
                <a:gridCol w="1371600"/>
                <a:gridCol w="5760720"/>
              </a:tblGrid>
              <a:tr h="388112">
                <a:tc>
                  <a:txBody>
                    <a:bodyPr/>
                    <a:lstStyle/>
                    <a:p>
                      <a:pPr algn="ctr">
                        <a:defRPr sz="1200" b="1">
                          <a:solidFill>
                            <a:srgbClr val="FFFFFF"/>
                          </a:solidFill>
                        </a:defRPr>
                      </a:pPr>
                      <a:r>
                        <a:t>Therapy</a:t>
                      </a:r>
                    </a:p>
                  </a:txBody>
                  <a:tcPr anchor="ctr">
                    <a:solidFill>
                      <a:srgbClr val="1B2A4A"/>
                    </a:solidFill>
                  </a:tcPr>
                </a:tc>
                <a:tc>
                  <a:txBody>
                    <a:bodyPr/>
                    <a:lstStyle/>
                    <a:p>
                      <a:pPr algn="ctr">
                        <a:defRPr sz="1200" b="1">
                          <a:solidFill>
                            <a:srgbClr val="FFFFFF"/>
                          </a:solidFill>
                        </a:defRPr>
                      </a:pPr>
                      <a:r>
                        <a:t>Focus</a:t>
                      </a:r>
                    </a:p>
                  </a:txBody>
                  <a:tcPr anchor="ctr">
                    <a:solidFill>
                      <a:srgbClr val="1B2A4A"/>
                    </a:solidFill>
                  </a:tcPr>
                </a:tc>
                <a:tc>
                  <a:txBody>
                    <a:bodyPr/>
                    <a:lstStyle/>
                    <a:p>
                      <a:pPr algn="ctr">
                        <a:defRPr sz="1200" b="1">
                          <a:solidFill>
                            <a:srgbClr val="FFFFFF"/>
                          </a:solidFill>
                        </a:defRPr>
                      </a:pPr>
                      <a:r>
                        <a:t>Sessions</a:t>
                      </a:r>
                    </a:p>
                  </a:txBody>
                  <a:tcPr anchor="ctr">
                    <a:solidFill>
                      <a:srgbClr val="1B2A4A"/>
                    </a:solidFill>
                  </a:tcPr>
                </a:tc>
                <a:tc>
                  <a:txBody>
                    <a:bodyPr/>
                    <a:lstStyle/>
                    <a:p>
                      <a:pPr algn="ctr">
                        <a:defRPr sz="1200" b="1">
                          <a:solidFill>
                            <a:srgbClr val="FFFFFF"/>
                          </a:solidFill>
                        </a:defRPr>
                      </a:pPr>
                      <a:r>
                        <a:t>How It Differs from MET</a:t>
                      </a:r>
                    </a:p>
                  </a:txBody>
                  <a:tcPr anchor="ctr">
                    <a:solidFill>
                      <a:srgbClr val="1B2A4A"/>
                    </a:solidFill>
                  </a:tcPr>
                </a:tc>
              </a:tr>
              <a:tr h="388112">
                <a:tc>
                  <a:txBody>
                    <a:bodyPr/>
                    <a:lstStyle/>
                    <a:p>
                      <a:pPr>
                        <a:defRPr sz="1100">
                          <a:solidFill>
                            <a:srgbClr val="2D3A4A"/>
                          </a:solidFill>
                        </a:defRPr>
                      </a:pPr>
                      <a:r>
                        <a:t>MET</a:t>
                      </a:r>
                    </a:p>
                  </a:txBody>
                  <a:tcPr anchor="ctr">
                    <a:solidFill>
                      <a:srgbClr val="EBF5FF"/>
                    </a:solidFill>
                  </a:tcPr>
                </a:tc>
                <a:tc>
                  <a:txBody>
                    <a:bodyPr/>
                    <a:lstStyle/>
                    <a:p>
                      <a:pPr>
                        <a:defRPr sz="1100">
                          <a:solidFill>
                            <a:srgbClr val="2D3A4A"/>
                          </a:solidFill>
                        </a:defRPr>
                      </a:pPr>
                      <a:r>
                        <a:t>Internal motivation</a:t>
                      </a:r>
                    </a:p>
                  </a:txBody>
                  <a:tcPr anchor="ctr">
                    <a:solidFill>
                      <a:srgbClr val="EBF5FF"/>
                    </a:solidFill>
                  </a:tcPr>
                </a:tc>
                <a:tc>
                  <a:txBody>
                    <a:bodyPr/>
                    <a:lstStyle/>
                    <a:p>
                      <a:pPr>
                        <a:defRPr sz="1100">
                          <a:solidFill>
                            <a:srgbClr val="2D3A4A"/>
                          </a:solidFill>
                        </a:defRPr>
                      </a:pPr>
                      <a:r>
                        <a:t>4</a:t>
                      </a:r>
                    </a:p>
                  </a:txBody>
                  <a:tcPr anchor="ctr">
                    <a:solidFill>
                      <a:srgbClr val="EBF5FF"/>
                    </a:solidFill>
                  </a:tcPr>
                </a:tc>
                <a:tc>
                  <a:txBody>
                    <a:bodyPr/>
                    <a:lstStyle/>
                    <a:p>
                      <a:pPr>
                        <a:defRPr sz="1100">
                          <a:solidFill>
                            <a:srgbClr val="2D3A4A"/>
                          </a:solidFill>
                        </a:defRPr>
                      </a:pPr>
                      <a:r>
                        <a:t>Client argues for change; brief; feedback-based</a:t>
                      </a:r>
                    </a:p>
                  </a:txBody>
                  <a:tcPr anchor="ctr">
                    <a:solidFill>
                      <a:srgbClr val="EBF5FF"/>
                    </a:solidFill>
                  </a:tcPr>
                </a:tc>
              </a:tr>
              <a:tr h="388112">
                <a:tc>
                  <a:txBody>
                    <a:bodyPr/>
                    <a:lstStyle/>
                    <a:p>
                      <a:pPr>
                        <a:defRPr sz="1100">
                          <a:solidFill>
                            <a:srgbClr val="2D3A4A"/>
                          </a:solidFill>
                        </a:defRPr>
                      </a:pPr>
                      <a:r>
                        <a:t>CBT</a:t>
                      </a:r>
                    </a:p>
                  </a:txBody>
                  <a:tcPr anchor="ctr">
                    <a:solidFill>
                      <a:srgbClr val="FFFFFF"/>
                    </a:solidFill>
                  </a:tcPr>
                </a:tc>
                <a:tc>
                  <a:txBody>
                    <a:bodyPr/>
                    <a:lstStyle/>
                    <a:p>
                      <a:pPr>
                        <a:defRPr sz="1100">
                          <a:solidFill>
                            <a:srgbClr val="2D3A4A"/>
                          </a:solidFill>
                        </a:defRPr>
                      </a:pPr>
                      <a:r>
                        <a:t>Skills &amp; cognitions</a:t>
                      </a:r>
                    </a:p>
                  </a:txBody>
                  <a:tcPr anchor="ctr">
                    <a:solidFill>
                      <a:srgbClr val="FFFFFF"/>
                    </a:solidFill>
                  </a:tcPr>
                </a:tc>
                <a:tc>
                  <a:txBody>
                    <a:bodyPr/>
                    <a:lstStyle/>
                    <a:p>
                      <a:pPr>
                        <a:defRPr sz="1100">
                          <a:solidFill>
                            <a:srgbClr val="2D3A4A"/>
                          </a:solidFill>
                        </a:defRPr>
                      </a:pPr>
                      <a:r>
                        <a:t>12-20</a:t>
                      </a:r>
                    </a:p>
                  </a:txBody>
                  <a:tcPr anchor="ctr">
                    <a:solidFill>
                      <a:srgbClr val="FFFFFF"/>
                    </a:solidFill>
                  </a:tcPr>
                </a:tc>
                <a:tc>
                  <a:txBody>
                    <a:bodyPr/>
                    <a:lstStyle/>
                    <a:p>
                      <a:pPr>
                        <a:defRPr sz="1100">
                          <a:solidFill>
                            <a:srgbClr val="2D3A4A"/>
                          </a:solidFill>
                        </a:defRPr>
                      </a:pPr>
                      <a:r>
                        <a:t>Therapist teaches skills; structured homework</a:t>
                      </a:r>
                    </a:p>
                  </a:txBody>
                  <a:tcPr anchor="ctr">
                    <a:solidFill>
                      <a:srgbClr val="FFFFFF"/>
                    </a:solidFill>
                  </a:tcPr>
                </a:tc>
              </a:tr>
              <a:tr h="388112">
                <a:tc>
                  <a:txBody>
                    <a:bodyPr/>
                    <a:lstStyle/>
                    <a:p>
                      <a:pPr>
                        <a:defRPr sz="1100">
                          <a:solidFill>
                            <a:srgbClr val="2D3A4A"/>
                          </a:solidFill>
                        </a:defRPr>
                      </a:pPr>
                      <a:r>
                        <a:t>DBT</a:t>
                      </a:r>
                    </a:p>
                  </a:txBody>
                  <a:tcPr anchor="ctr">
                    <a:solidFill>
                      <a:srgbClr val="EBF5FF"/>
                    </a:solidFill>
                  </a:tcPr>
                </a:tc>
                <a:tc>
                  <a:txBody>
                    <a:bodyPr/>
                    <a:lstStyle/>
                    <a:p>
                      <a:pPr>
                        <a:defRPr sz="1100">
                          <a:solidFill>
                            <a:srgbClr val="2D3A4A"/>
                          </a:solidFill>
                        </a:defRPr>
                      </a:pPr>
                      <a:r>
                        <a:t>Emotion regulation</a:t>
                      </a:r>
                    </a:p>
                  </a:txBody>
                  <a:tcPr anchor="ctr">
                    <a:solidFill>
                      <a:srgbClr val="EBF5FF"/>
                    </a:solidFill>
                  </a:tcPr>
                </a:tc>
                <a:tc>
                  <a:txBody>
                    <a:bodyPr/>
                    <a:lstStyle/>
                    <a:p>
                      <a:pPr>
                        <a:defRPr sz="1100">
                          <a:solidFill>
                            <a:srgbClr val="2D3A4A"/>
                          </a:solidFill>
                        </a:defRPr>
                      </a:pPr>
                      <a:r>
                        <a:t>6-12 months</a:t>
                      </a:r>
                    </a:p>
                  </a:txBody>
                  <a:tcPr anchor="ctr">
                    <a:solidFill>
                      <a:srgbClr val="EBF5FF"/>
                    </a:solidFill>
                  </a:tcPr>
                </a:tc>
                <a:tc>
                  <a:txBody>
                    <a:bodyPr/>
                    <a:lstStyle/>
                    <a:p>
                      <a:pPr>
                        <a:defRPr sz="1100">
                          <a:solidFill>
                            <a:srgbClr val="2D3A4A"/>
                          </a:solidFill>
                        </a:defRPr>
                      </a:pPr>
                      <a:r>
                        <a:t>Skills training; structured groups; phone coaching</a:t>
                      </a:r>
                    </a:p>
                  </a:txBody>
                  <a:tcPr anchor="ctr">
                    <a:solidFill>
                      <a:srgbClr val="EBF5FF"/>
                    </a:solidFill>
                  </a:tcPr>
                </a:tc>
              </a:tr>
              <a:tr h="388112">
                <a:tc>
                  <a:txBody>
                    <a:bodyPr/>
                    <a:lstStyle/>
                    <a:p>
                      <a:pPr>
                        <a:defRPr sz="1100">
                          <a:solidFill>
                            <a:srgbClr val="2D3A4A"/>
                          </a:solidFill>
                        </a:defRPr>
                      </a:pPr>
                      <a:r>
                        <a:t>ACT</a:t>
                      </a:r>
                    </a:p>
                  </a:txBody>
                  <a:tcPr anchor="ctr">
                    <a:solidFill>
                      <a:srgbClr val="FFFFFF"/>
                    </a:solidFill>
                  </a:tcPr>
                </a:tc>
                <a:tc>
                  <a:txBody>
                    <a:bodyPr/>
                    <a:lstStyle/>
                    <a:p>
                      <a:pPr>
                        <a:defRPr sz="1100">
                          <a:solidFill>
                            <a:srgbClr val="2D3A4A"/>
                          </a:solidFill>
                        </a:defRPr>
                      </a:pPr>
                      <a:r>
                        <a:t>Values &amp; acceptance</a:t>
                      </a:r>
                    </a:p>
                  </a:txBody>
                  <a:tcPr anchor="ctr">
                    <a:solidFill>
                      <a:srgbClr val="FFFFFF"/>
                    </a:solidFill>
                  </a:tcPr>
                </a:tc>
                <a:tc>
                  <a:txBody>
                    <a:bodyPr/>
                    <a:lstStyle/>
                    <a:p>
                      <a:pPr>
                        <a:defRPr sz="1100">
                          <a:solidFill>
                            <a:srgbClr val="2D3A4A"/>
                          </a:solidFill>
                        </a:defRPr>
                      </a:pPr>
                      <a:r>
                        <a:t>8-16</a:t>
                      </a:r>
                    </a:p>
                  </a:txBody>
                  <a:tcPr anchor="ctr">
                    <a:solidFill>
                      <a:srgbClr val="FFFFFF"/>
                    </a:solidFill>
                  </a:tcPr>
                </a:tc>
                <a:tc>
                  <a:txBody>
                    <a:bodyPr/>
                    <a:lstStyle/>
                    <a:p>
                      <a:pPr>
                        <a:defRPr sz="1100">
                          <a:solidFill>
                            <a:srgbClr val="2D3A4A"/>
                          </a:solidFill>
                        </a:defRPr>
                      </a:pPr>
                      <a:r>
                        <a:t>Mindfulness; defusion; committed action</a:t>
                      </a:r>
                    </a:p>
                  </a:txBody>
                  <a:tcPr anchor="ctr">
                    <a:solidFill>
                      <a:srgbClr val="FFFFFF"/>
                    </a:solidFill>
                  </a:tcPr>
                </a:tc>
              </a:tr>
              <a:tr h="388112">
                <a:tc>
                  <a:txBody>
                    <a:bodyPr/>
                    <a:lstStyle/>
                    <a:p>
                      <a:pPr>
                        <a:defRPr sz="1100">
                          <a:solidFill>
                            <a:srgbClr val="2D3A4A"/>
                          </a:solidFill>
                        </a:defRPr>
                      </a:pPr>
                      <a:r>
                        <a:t>12-Step (TSF)</a:t>
                      </a:r>
                    </a:p>
                  </a:txBody>
                  <a:tcPr anchor="ctr">
                    <a:solidFill>
                      <a:srgbClr val="EBF5FF"/>
                    </a:solidFill>
                  </a:tcPr>
                </a:tc>
                <a:tc>
                  <a:txBody>
                    <a:bodyPr/>
                    <a:lstStyle/>
                    <a:p>
                      <a:pPr>
                        <a:defRPr sz="1100">
                          <a:solidFill>
                            <a:srgbClr val="2D3A4A"/>
                          </a:solidFill>
                        </a:defRPr>
                      </a:pPr>
                      <a:r>
                        <a:t>Spiritual surrender</a:t>
                      </a:r>
                    </a:p>
                  </a:txBody>
                  <a:tcPr anchor="ctr">
                    <a:solidFill>
                      <a:srgbClr val="EBF5FF"/>
                    </a:solidFill>
                  </a:tcPr>
                </a:tc>
                <a:tc>
                  <a:txBody>
                    <a:bodyPr/>
                    <a:lstStyle/>
                    <a:p>
                      <a:pPr>
                        <a:defRPr sz="1100">
                          <a:solidFill>
                            <a:srgbClr val="2D3A4A"/>
                          </a:solidFill>
                        </a:defRPr>
                      </a:pPr>
                      <a:r>
                        <a:t>12+</a:t>
                      </a:r>
                    </a:p>
                  </a:txBody>
                  <a:tcPr anchor="ctr">
                    <a:solidFill>
                      <a:srgbClr val="EBF5FF"/>
                    </a:solidFill>
                  </a:tcPr>
                </a:tc>
                <a:tc>
                  <a:txBody>
                    <a:bodyPr/>
                    <a:lstStyle/>
                    <a:p>
                      <a:pPr>
                        <a:defRPr sz="1100">
                          <a:solidFill>
                            <a:srgbClr val="2D3A4A"/>
                          </a:solidFill>
                        </a:defRPr>
                      </a:pPr>
                      <a:r>
                        <a:t>Powerlessness; higher power; AA meetings</a:t>
                      </a:r>
                    </a:p>
                  </a:txBody>
                  <a:tcPr anchor="ctr">
                    <a:solidFill>
                      <a:srgbClr val="EBF5FF"/>
                    </a:solidFill>
                  </a:tcPr>
                </a:tc>
              </a:tr>
              <a:tr h="388112">
                <a:tc>
                  <a:txBody>
                    <a:bodyPr/>
                    <a:lstStyle/>
                    <a:p>
                      <a:pPr>
                        <a:defRPr sz="1100">
                          <a:solidFill>
                            <a:srgbClr val="2D3A4A"/>
                          </a:solidFill>
                        </a:defRPr>
                      </a:pPr>
                      <a:r>
                        <a:t>REBT</a:t>
                      </a:r>
                    </a:p>
                  </a:txBody>
                  <a:tcPr anchor="ctr">
                    <a:solidFill>
                      <a:srgbClr val="FFFFFF"/>
                    </a:solidFill>
                  </a:tcPr>
                </a:tc>
                <a:tc>
                  <a:txBody>
                    <a:bodyPr/>
                    <a:lstStyle/>
                    <a:p>
                      <a:pPr>
                        <a:defRPr sz="1100">
                          <a:solidFill>
                            <a:srgbClr val="2D3A4A"/>
                          </a:solidFill>
                        </a:defRPr>
                      </a:pPr>
                      <a:r>
                        <a:t>Irrational beliefs</a:t>
                      </a:r>
                    </a:p>
                  </a:txBody>
                  <a:tcPr anchor="ctr">
                    <a:solidFill>
                      <a:srgbClr val="FFFFFF"/>
                    </a:solidFill>
                  </a:tcPr>
                </a:tc>
                <a:tc>
                  <a:txBody>
                    <a:bodyPr/>
                    <a:lstStyle/>
                    <a:p>
                      <a:pPr>
                        <a:defRPr sz="1100">
                          <a:solidFill>
                            <a:srgbClr val="2D3A4A"/>
                          </a:solidFill>
                        </a:defRPr>
                      </a:pPr>
                      <a:r>
                        <a:t>12-16</a:t>
                      </a:r>
                    </a:p>
                  </a:txBody>
                  <a:tcPr anchor="ctr">
                    <a:solidFill>
                      <a:srgbClr val="FFFFFF"/>
                    </a:solidFill>
                  </a:tcPr>
                </a:tc>
                <a:tc>
                  <a:txBody>
                    <a:bodyPr/>
                    <a:lstStyle/>
                    <a:p>
                      <a:pPr>
                        <a:defRPr sz="1100">
                          <a:solidFill>
                            <a:srgbClr val="2D3A4A"/>
                          </a:solidFill>
                        </a:defRPr>
                      </a:pPr>
                      <a:r>
                        <a:t>Disputational; directive; rational analysis</a:t>
                      </a:r>
                    </a:p>
                  </a:txBody>
                  <a:tcPr anchor="ctr">
                    <a:solidFill>
                      <a:srgbClr val="FFFFFF"/>
                    </a:solidFill>
                  </a:tcPr>
                </a:tc>
              </a:tr>
              <a:tr h="388112">
                <a:tc>
                  <a:txBody>
                    <a:bodyPr/>
                    <a:lstStyle/>
                    <a:p>
                      <a:pPr>
                        <a:defRPr sz="1100">
                          <a:solidFill>
                            <a:srgbClr val="2D3A4A"/>
                          </a:solidFill>
                        </a:defRPr>
                      </a:pPr>
                      <a:r>
                        <a:t>Psychodynamic</a:t>
                      </a:r>
                    </a:p>
                  </a:txBody>
                  <a:tcPr anchor="ctr">
                    <a:solidFill>
                      <a:srgbClr val="EBF5FF"/>
                    </a:solidFill>
                  </a:tcPr>
                </a:tc>
                <a:tc>
                  <a:txBody>
                    <a:bodyPr/>
                    <a:lstStyle/>
                    <a:p>
                      <a:pPr>
                        <a:defRPr sz="1100">
                          <a:solidFill>
                            <a:srgbClr val="2D3A4A"/>
                          </a:solidFill>
                        </a:defRPr>
                      </a:pPr>
                      <a:r>
                        <a:t>Unconscious conflict</a:t>
                      </a:r>
                    </a:p>
                  </a:txBody>
                  <a:tcPr anchor="ctr">
                    <a:solidFill>
                      <a:srgbClr val="EBF5FF"/>
                    </a:solidFill>
                  </a:tcPr>
                </a:tc>
                <a:tc>
                  <a:txBody>
                    <a:bodyPr/>
                    <a:lstStyle/>
                    <a:p>
                      <a:pPr>
                        <a:defRPr sz="1100">
                          <a:solidFill>
                            <a:srgbClr val="2D3A4A"/>
                          </a:solidFill>
                        </a:defRPr>
                      </a:pPr>
                      <a:r>
                        <a:t>Long-term</a:t>
                      </a:r>
                    </a:p>
                  </a:txBody>
                  <a:tcPr anchor="ctr">
                    <a:solidFill>
                      <a:srgbClr val="EBF5FF"/>
                    </a:solidFill>
                  </a:tcPr>
                </a:tc>
                <a:tc>
                  <a:txBody>
                    <a:bodyPr/>
                    <a:lstStyle/>
                    <a:p>
                      <a:pPr>
                        <a:defRPr sz="1100">
                          <a:solidFill>
                            <a:srgbClr val="2D3A4A"/>
                          </a:solidFill>
                        </a:defRPr>
                      </a:pPr>
                      <a:r>
                        <a:t>Interpretation; transference; insight</a:t>
                      </a:r>
                    </a:p>
                  </a:txBody>
                  <a:tcPr anchor="ctr">
                    <a:solidFill>
                      <a:srgbClr val="EBF5FF"/>
                    </a:solidFill>
                  </a:tcPr>
                </a:tc>
              </a:tr>
              <a:tr h="388112">
                <a:tc>
                  <a:txBody>
                    <a:bodyPr/>
                    <a:lstStyle/>
                    <a:p>
                      <a:pPr>
                        <a:defRPr sz="1100">
                          <a:solidFill>
                            <a:srgbClr val="2D3A4A"/>
                          </a:solidFill>
                        </a:defRPr>
                      </a:pPr>
                      <a:r>
                        <a:t>CM</a:t>
                      </a:r>
                    </a:p>
                  </a:txBody>
                  <a:tcPr anchor="ctr">
                    <a:solidFill>
                      <a:srgbClr val="FFFFFF"/>
                    </a:solidFill>
                  </a:tcPr>
                </a:tc>
                <a:tc>
                  <a:txBody>
                    <a:bodyPr/>
                    <a:lstStyle/>
                    <a:p>
                      <a:pPr>
                        <a:defRPr sz="1100">
                          <a:solidFill>
                            <a:srgbClr val="2D3A4A"/>
                          </a:solidFill>
                        </a:defRPr>
                      </a:pPr>
                      <a:r>
                        <a:t>Reinforcement</a:t>
                      </a:r>
                    </a:p>
                  </a:txBody>
                  <a:tcPr anchor="ctr">
                    <a:solidFill>
                      <a:srgbClr val="FFFFFF"/>
                    </a:solidFill>
                  </a:tcPr>
                </a:tc>
                <a:tc>
                  <a:txBody>
                    <a:bodyPr/>
                    <a:lstStyle/>
                    <a:p>
                      <a:pPr>
                        <a:defRPr sz="1100">
                          <a:solidFill>
                            <a:srgbClr val="2D3A4A"/>
                          </a:solidFill>
                        </a:defRPr>
                      </a:pPr>
                      <a:r>
                        <a:t>Variable</a:t>
                      </a:r>
                    </a:p>
                  </a:txBody>
                  <a:tcPr anchor="ctr">
                    <a:solidFill>
                      <a:srgbClr val="FFFFFF"/>
                    </a:solidFill>
                  </a:tcPr>
                </a:tc>
                <a:tc>
                  <a:txBody>
                    <a:bodyPr/>
                    <a:lstStyle/>
                    <a:p>
                      <a:pPr>
                        <a:defRPr sz="1100">
                          <a:solidFill>
                            <a:srgbClr val="2D3A4A"/>
                          </a:solidFill>
                        </a:defRPr>
                      </a:pPr>
                      <a:r>
                        <a:t>External rewards/vouchers for behavior</a:t>
                      </a:r>
                    </a:p>
                  </a:txBody>
                  <a:tcPr anchor="ctr">
                    <a:solidFill>
                      <a:srgbClr val="FFFFFF"/>
                    </a:solidFill>
                  </a:tcPr>
                </a:tc>
              </a:tr>
            </a:tbl>
          </a:graphicData>
        </a:graphic>
      </p:graphicFrame>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MET focuses on WHY (motivation); CBT focuses on HOW (skills). They complement each other perfectly.</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Project MATCH (1997). JOSA, 58, 7-29. | Carroll (1998). Cognitive-Behavioral Approach. Yale Univ Press.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MET vs. MI: Understanding the Distinction</a:t>
            </a:r>
          </a:p>
        </p:txBody>
      </p:sp>
      <p:sp>
        <p:nvSpPr>
          <p:cNvPr id="5" name="Rounded Rectangle 4"/>
          <p:cNvSpPr/>
          <p:nvPr/>
        </p:nvSpPr>
        <p:spPr>
          <a:xfrm>
            <a:off x="457200" y="1280160"/>
            <a:ext cx="5303520" cy="457200"/>
          </a:xfrm>
          <a:prstGeom prst="roundRect">
            <a:avLst/>
          </a:prstGeom>
          <a:solidFill>
            <a:srgbClr val="2C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MI (Motivational Interviewing)</a:t>
            </a:r>
          </a:p>
        </p:txBody>
      </p:sp>
      <p:sp>
        <p:nvSpPr>
          <p:cNvPr id="6" name="TextBox 5"/>
          <p:cNvSpPr txBox="1"/>
          <p:nvPr/>
        </p:nvSpPr>
        <p:spPr>
          <a:xfrm>
            <a:off x="548640" y="1828800"/>
            <a:ext cx="5120640" cy="3657600"/>
          </a:xfrm>
          <a:prstGeom prst="rect">
            <a:avLst/>
          </a:prstGeom>
          <a:noFill/>
        </p:spPr>
        <p:txBody>
          <a:bodyPr wrap="square">
            <a:spAutoFit/>
          </a:bodyPr>
          <a:lstStyle/>
          <a:p>
            <a:pPr>
              <a:spcAft>
                <a:spcPts val="400"/>
              </a:spcAft>
              <a:defRPr sz="1200">
                <a:solidFill>
                  <a:srgbClr val="2D3A4A"/>
                </a:solidFill>
              </a:defRPr>
            </a:pPr>
            <a:r>
              <a:t>• Broader COUNSELING STYLE</a:t>
            </a:r>
          </a:p>
          <a:p>
            <a:pPr>
              <a:spcAft>
                <a:spcPts val="400"/>
              </a:spcAft>
              <a:defRPr sz="1200">
                <a:solidFill>
                  <a:srgbClr val="2D3A4A"/>
                </a:solidFill>
              </a:defRPr>
            </a:pPr>
            <a:r>
              <a:t>• Flexible — no fixed structure</a:t>
            </a:r>
          </a:p>
          <a:p>
            <a:pPr>
              <a:spcAft>
                <a:spcPts val="400"/>
              </a:spcAft>
              <a:defRPr sz="1200">
                <a:solidFill>
                  <a:srgbClr val="2D3A4A"/>
                </a:solidFill>
              </a:defRPr>
            </a:pPr>
            <a:r>
              <a:t>• Assessment optional</a:t>
            </a:r>
          </a:p>
          <a:p>
            <a:pPr>
              <a:spcAft>
                <a:spcPts val="400"/>
              </a:spcAft>
              <a:defRPr sz="1200">
                <a:solidFill>
                  <a:srgbClr val="2D3A4A"/>
                </a:solidFill>
              </a:defRPr>
            </a:pPr>
            <a:r>
              <a:t>• Feedback optional</a:t>
            </a:r>
          </a:p>
          <a:p>
            <a:pPr>
              <a:spcAft>
                <a:spcPts val="400"/>
              </a:spcAft>
              <a:defRPr sz="1200">
                <a:solidFill>
                  <a:srgbClr val="2D3A4A"/>
                </a:solidFill>
              </a:defRPr>
            </a:pPr>
            <a:r>
              <a:t>• Variable duration (5 min to 50 min)</a:t>
            </a:r>
          </a:p>
          <a:p>
            <a:pPr>
              <a:spcAft>
                <a:spcPts val="400"/>
              </a:spcAft>
              <a:defRPr sz="1200">
                <a:solidFill>
                  <a:srgbClr val="2D3A4A"/>
                </a:solidFill>
              </a:defRPr>
            </a:pPr>
            <a:r>
              <a:t>• No standardized manual</a:t>
            </a:r>
          </a:p>
          <a:p>
            <a:pPr>
              <a:spcAft>
                <a:spcPts val="400"/>
              </a:spcAft>
              <a:defRPr sz="1200">
                <a:solidFill>
                  <a:srgbClr val="2D3A4A"/>
                </a:solidFill>
              </a:defRPr>
            </a:pPr>
            <a:r>
              <a:t>• Style/spirit-based training</a:t>
            </a:r>
          </a:p>
          <a:p>
            <a:pPr>
              <a:spcAft>
                <a:spcPts val="400"/>
              </a:spcAft>
              <a:defRPr sz="1200">
                <a:solidFill>
                  <a:srgbClr val="2D3A4A"/>
                </a:solidFill>
              </a:defRPr>
            </a:pPr>
            <a:r>
              <a:t>• Applicable to ANY behavior change</a:t>
            </a:r>
          </a:p>
          <a:p>
            <a:pPr>
              <a:spcAft>
                <a:spcPts val="400"/>
              </a:spcAft>
              <a:defRPr sz="1200">
                <a:solidFill>
                  <a:srgbClr val="2D3A4A"/>
                </a:solidFill>
              </a:defRPr>
            </a:pPr>
            <a:r>
              <a:t>• 200+ RCTs across all health areas</a:t>
            </a:r>
          </a:p>
        </p:txBody>
      </p:sp>
      <p:sp>
        <p:nvSpPr>
          <p:cNvPr id="7" name="Rounded Rectangle 6"/>
          <p:cNvSpPr/>
          <p:nvPr/>
        </p:nvSpPr>
        <p:spPr>
          <a:xfrm>
            <a:off x="6217920" y="1280160"/>
            <a:ext cx="5303520" cy="457200"/>
          </a:xfrm>
          <a:prstGeom prst="roundRect">
            <a:avLst/>
          </a:prstGeom>
          <a:solidFill>
            <a:srgbClr val="17A2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MET (Motivational Enhancement Therapy)</a:t>
            </a:r>
          </a:p>
        </p:txBody>
      </p:sp>
      <p:sp>
        <p:nvSpPr>
          <p:cNvPr id="8" name="TextBox 7"/>
          <p:cNvSpPr txBox="1"/>
          <p:nvPr/>
        </p:nvSpPr>
        <p:spPr>
          <a:xfrm>
            <a:off x="6309360" y="1828800"/>
            <a:ext cx="5120640" cy="3657600"/>
          </a:xfrm>
          <a:prstGeom prst="rect">
            <a:avLst/>
          </a:prstGeom>
          <a:noFill/>
        </p:spPr>
        <p:txBody>
          <a:bodyPr wrap="square">
            <a:spAutoFit/>
          </a:bodyPr>
          <a:lstStyle/>
          <a:p>
            <a:pPr>
              <a:spcAft>
                <a:spcPts val="400"/>
              </a:spcAft>
              <a:defRPr sz="1200">
                <a:solidFill>
                  <a:srgbClr val="2D3A4A"/>
                </a:solidFill>
              </a:defRPr>
            </a:pPr>
            <a:r>
              <a:t>• Specific MANUALIZED TREATMENT</a:t>
            </a:r>
          </a:p>
          <a:p>
            <a:pPr>
              <a:spcAft>
                <a:spcPts val="400"/>
              </a:spcAft>
              <a:defRPr sz="1200">
                <a:solidFill>
                  <a:srgbClr val="2D3A4A"/>
                </a:solidFill>
              </a:defRPr>
            </a:pPr>
            <a:r>
              <a:t>• Fixed 4-session protocol</a:t>
            </a:r>
          </a:p>
          <a:p>
            <a:pPr>
              <a:spcAft>
                <a:spcPts val="400"/>
              </a:spcAft>
              <a:defRPr sz="1200">
                <a:solidFill>
                  <a:srgbClr val="2D3A4A"/>
                </a:solidFill>
              </a:defRPr>
            </a:pPr>
            <a:r>
              <a:t>• Structured assessment REQUIRED</a:t>
            </a:r>
          </a:p>
          <a:p>
            <a:pPr>
              <a:spcAft>
                <a:spcPts val="400"/>
              </a:spcAft>
              <a:defRPr sz="1200">
                <a:solidFill>
                  <a:srgbClr val="2D3A4A"/>
                </a:solidFill>
              </a:defRPr>
            </a:pPr>
            <a:r>
              <a:t>• Personalized Feedback Report (core)</a:t>
            </a:r>
          </a:p>
          <a:p>
            <a:pPr>
              <a:spcAft>
                <a:spcPts val="400"/>
              </a:spcAft>
              <a:defRPr sz="1200">
                <a:solidFill>
                  <a:srgbClr val="2D3A4A"/>
                </a:solidFill>
              </a:defRPr>
            </a:pPr>
            <a:r>
              <a:t>• 60-90 min sessions × 4</a:t>
            </a:r>
          </a:p>
          <a:p>
            <a:pPr>
              <a:spcAft>
                <a:spcPts val="400"/>
              </a:spcAft>
              <a:defRPr sz="1200">
                <a:solidFill>
                  <a:srgbClr val="2D3A4A"/>
                </a:solidFill>
              </a:defRPr>
            </a:pPr>
            <a:r>
              <a:t>• Project MATCH standardized manual</a:t>
            </a:r>
          </a:p>
          <a:p>
            <a:pPr>
              <a:spcAft>
                <a:spcPts val="400"/>
              </a:spcAft>
              <a:defRPr sz="1200">
                <a:solidFill>
                  <a:srgbClr val="2D3A4A"/>
                </a:solidFill>
              </a:defRPr>
            </a:pPr>
            <a:r>
              <a:t>• Protocol-based training</a:t>
            </a:r>
          </a:p>
          <a:p>
            <a:pPr>
              <a:spcAft>
                <a:spcPts val="400"/>
              </a:spcAft>
              <a:defRPr sz="1200">
                <a:solidFill>
                  <a:srgbClr val="2D3A4A"/>
                </a:solidFill>
              </a:defRPr>
            </a:pPr>
            <a:r>
              <a:t>• Primarily developed for addiction</a:t>
            </a:r>
          </a:p>
          <a:p>
            <a:pPr>
              <a:spcAft>
                <a:spcPts val="400"/>
              </a:spcAft>
              <a:defRPr sz="1200">
                <a:solidFill>
                  <a:srgbClr val="2D3A4A"/>
                </a:solidFill>
              </a:defRPr>
            </a:pPr>
            <a:r>
              <a:t>• Key RCTs: MATCH, UKATT, COMBINE</a:t>
            </a:r>
          </a:p>
        </p:txBody>
      </p:sp>
      <p:sp>
        <p:nvSpPr>
          <p:cNvPr id="9" name="Rounded Rectangle 8"/>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MI = flexible counseling style (the philosophy). MET = structured 4-session protocol (a specific program using MI).</a:t>
            </a:r>
          </a:p>
        </p:txBody>
      </p:sp>
      <p:sp>
        <p:nvSpPr>
          <p:cNvPr id="10" name="Rectangle 9"/>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&amp; Rollnick (2013). MI, 3rd ed. | Miller et al. (1995). MET Manual.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0" y="1371600"/>
            <a:ext cx="2103120" cy="2103120"/>
          </a:xfrm>
          <a:prstGeom prst="ellipse">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800" b="1">
                <a:solidFill>
                  <a:srgbClr val="FFFFFF"/>
                </a:solidFill>
              </a:defRPr>
            </a:pPr>
            <a:r>
              <a:t>22</a:t>
            </a:r>
          </a:p>
        </p:txBody>
      </p:sp>
      <p:sp>
        <p:nvSpPr>
          <p:cNvPr id="4" name="TextBox 3"/>
          <p:cNvSpPr txBox="1"/>
          <p:nvPr/>
        </p:nvSpPr>
        <p:spPr>
          <a:xfrm>
            <a:off x="914400" y="3840480"/>
            <a:ext cx="10332720" cy="1371600"/>
          </a:xfrm>
          <a:prstGeom prst="rect">
            <a:avLst/>
          </a:prstGeom>
          <a:noFill/>
        </p:spPr>
        <p:txBody>
          <a:bodyPr wrap="square">
            <a:spAutoFit/>
          </a:bodyPr>
          <a:lstStyle/>
          <a:p>
            <a:pPr algn="ctr">
              <a:defRPr sz="3600" b="1">
                <a:solidFill>
                  <a:srgbClr val="FFFFFF"/>
                </a:solidFill>
              </a:defRPr>
            </a:pPr>
            <a:r>
              <a:t>Advantages &amp; Limitations</a:t>
            </a:r>
          </a:p>
        </p:txBody>
      </p:sp>
      <p:sp>
        <p:nvSpPr>
          <p:cNvPr id="5" name="Rectangle 4"/>
          <p:cNvSpPr/>
          <p:nvPr/>
        </p:nvSpPr>
        <p:spPr>
          <a:xfrm>
            <a:off x="3657600" y="5303520"/>
            <a:ext cx="4846320" cy="45720"/>
          </a:xfrm>
          <a:prstGeom prst="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Advantages and Limitations of MET</a:t>
            </a:r>
          </a:p>
        </p:txBody>
      </p:sp>
      <p:sp>
        <p:nvSpPr>
          <p:cNvPr id="5" name="Rounded Rectangle 4"/>
          <p:cNvSpPr/>
          <p:nvPr/>
        </p:nvSpPr>
        <p:spPr>
          <a:xfrm>
            <a:off x="457200" y="1280160"/>
            <a:ext cx="5303520" cy="457200"/>
          </a:xfrm>
          <a:prstGeom prst="roundRect">
            <a:avLst/>
          </a:prstGeom>
          <a:solidFill>
            <a:srgbClr val="2C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ADVANTAGES</a:t>
            </a:r>
          </a:p>
        </p:txBody>
      </p:sp>
      <p:sp>
        <p:nvSpPr>
          <p:cNvPr id="6" name="TextBox 5"/>
          <p:cNvSpPr txBox="1"/>
          <p:nvPr/>
        </p:nvSpPr>
        <p:spPr>
          <a:xfrm>
            <a:off x="548640" y="1828800"/>
            <a:ext cx="5120640" cy="3657600"/>
          </a:xfrm>
          <a:prstGeom prst="rect">
            <a:avLst/>
          </a:prstGeom>
          <a:noFill/>
        </p:spPr>
        <p:txBody>
          <a:bodyPr wrap="square">
            <a:spAutoFit/>
          </a:bodyPr>
          <a:lstStyle/>
          <a:p>
            <a:pPr>
              <a:spcAft>
                <a:spcPts val="400"/>
              </a:spcAft>
              <a:defRPr sz="1200">
                <a:solidFill>
                  <a:srgbClr val="2D3A4A"/>
                </a:solidFill>
              </a:defRPr>
            </a:pPr>
            <a:r>
              <a:t>• Brief (4 sessions) — cost-effective</a:t>
            </a:r>
          </a:p>
          <a:p>
            <a:pPr>
              <a:spcAft>
                <a:spcPts val="400"/>
              </a:spcAft>
              <a:defRPr sz="1200">
                <a:solidFill>
                  <a:srgbClr val="2D3A4A"/>
                </a:solidFill>
              </a:defRPr>
            </a:pPr>
            <a:r>
              <a:t>• Non-confrontational — reduces dropout</a:t>
            </a:r>
          </a:p>
          <a:p>
            <a:pPr>
              <a:spcAft>
                <a:spcPts val="400"/>
              </a:spcAft>
              <a:defRPr sz="1200">
                <a:solidFill>
                  <a:srgbClr val="2D3A4A"/>
                </a:solidFill>
              </a:defRPr>
            </a:pPr>
            <a:r>
              <a:t>• Strong evidence base (200+ RCTs)</a:t>
            </a:r>
          </a:p>
          <a:p>
            <a:pPr>
              <a:spcAft>
                <a:spcPts val="400"/>
              </a:spcAft>
              <a:defRPr sz="1200">
                <a:solidFill>
                  <a:srgbClr val="2D3A4A"/>
                </a:solidFill>
              </a:defRPr>
            </a:pPr>
            <a:r>
              <a:t>• Flexible — adapts to diverse populations</a:t>
            </a:r>
          </a:p>
          <a:p>
            <a:pPr>
              <a:spcAft>
                <a:spcPts val="400"/>
              </a:spcAft>
              <a:defRPr sz="1200">
                <a:solidFill>
                  <a:srgbClr val="2D3A4A"/>
                </a:solidFill>
              </a:defRPr>
            </a:pPr>
            <a:r>
              <a:t>• Trainable by various professionals</a:t>
            </a:r>
          </a:p>
          <a:p>
            <a:pPr>
              <a:spcAft>
                <a:spcPts val="400"/>
              </a:spcAft>
              <a:defRPr sz="1200">
                <a:solidFill>
                  <a:srgbClr val="2D3A4A"/>
                </a:solidFill>
              </a:defRPr>
            </a:pPr>
            <a:r>
              <a:t>• Compatible with other treatments</a:t>
            </a:r>
          </a:p>
          <a:p>
            <a:pPr>
              <a:spcAft>
                <a:spcPts val="400"/>
              </a:spcAft>
              <a:defRPr sz="1200">
                <a:solidFill>
                  <a:srgbClr val="2D3A4A"/>
                </a:solidFill>
              </a:defRPr>
            </a:pPr>
            <a:r>
              <a:t>• Feasible in resource-limited settings</a:t>
            </a:r>
          </a:p>
          <a:p>
            <a:pPr>
              <a:spcAft>
                <a:spcPts val="400"/>
              </a:spcAft>
              <a:defRPr sz="1200">
                <a:solidFill>
                  <a:srgbClr val="2D3A4A"/>
                </a:solidFill>
              </a:defRPr>
            </a:pPr>
            <a:r>
              <a:t>• Works with mandated/reluctant clients</a:t>
            </a:r>
          </a:p>
          <a:p>
            <a:pPr>
              <a:spcAft>
                <a:spcPts val="400"/>
              </a:spcAft>
              <a:defRPr sz="1200">
                <a:solidFill>
                  <a:srgbClr val="2D3A4A"/>
                </a:solidFill>
              </a:defRPr>
            </a:pPr>
            <a:r>
              <a:t>• Reduces therapist burnout (collaborative)</a:t>
            </a:r>
          </a:p>
          <a:p>
            <a:pPr>
              <a:spcAft>
                <a:spcPts val="400"/>
              </a:spcAft>
              <a:defRPr sz="1200">
                <a:solidFill>
                  <a:srgbClr val="2D3A4A"/>
                </a:solidFill>
              </a:defRPr>
            </a:pPr>
            <a:r>
              <a:t>• UKATT: 5× more cost-effective</a:t>
            </a:r>
          </a:p>
        </p:txBody>
      </p:sp>
      <p:sp>
        <p:nvSpPr>
          <p:cNvPr id="7" name="Rounded Rectangle 6"/>
          <p:cNvSpPr/>
          <p:nvPr/>
        </p:nvSpPr>
        <p:spPr>
          <a:xfrm>
            <a:off x="6217920" y="1280160"/>
            <a:ext cx="5303520" cy="457200"/>
          </a:xfrm>
          <a:prstGeom prst="roundRect">
            <a:avLst/>
          </a:prstGeom>
          <a:solidFill>
            <a:srgbClr val="17A2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LIMITATIONS</a:t>
            </a:r>
          </a:p>
        </p:txBody>
      </p:sp>
      <p:sp>
        <p:nvSpPr>
          <p:cNvPr id="8" name="TextBox 7"/>
          <p:cNvSpPr txBox="1"/>
          <p:nvPr/>
        </p:nvSpPr>
        <p:spPr>
          <a:xfrm>
            <a:off x="6309360" y="1828800"/>
            <a:ext cx="5120640" cy="3657600"/>
          </a:xfrm>
          <a:prstGeom prst="rect">
            <a:avLst/>
          </a:prstGeom>
          <a:noFill/>
        </p:spPr>
        <p:txBody>
          <a:bodyPr wrap="square">
            <a:spAutoFit/>
          </a:bodyPr>
          <a:lstStyle/>
          <a:p>
            <a:pPr>
              <a:spcAft>
                <a:spcPts val="400"/>
              </a:spcAft>
              <a:defRPr sz="1200">
                <a:solidFill>
                  <a:srgbClr val="2D3A4A"/>
                </a:solidFill>
              </a:defRPr>
            </a:pPr>
            <a:r>
              <a:t>• May not suffice alone for severe dependence</a:t>
            </a:r>
          </a:p>
          <a:p>
            <a:pPr>
              <a:spcAft>
                <a:spcPts val="400"/>
              </a:spcAft>
              <a:defRPr sz="1200">
                <a:solidFill>
                  <a:srgbClr val="2D3A4A"/>
                </a:solidFill>
              </a:defRPr>
            </a:pPr>
            <a:r>
              <a:t>• Effects may diminish without boosters (Smedslund, 2011)</a:t>
            </a:r>
          </a:p>
          <a:p>
            <a:pPr>
              <a:spcAft>
                <a:spcPts val="400"/>
              </a:spcAft>
              <a:defRPr sz="1200">
                <a:solidFill>
                  <a:srgbClr val="2D3A4A"/>
                </a:solidFill>
              </a:defRPr>
            </a:pPr>
            <a:r>
              <a:t>• Not designed for skills building</a:t>
            </a:r>
          </a:p>
          <a:p>
            <a:pPr>
              <a:spcAft>
                <a:spcPts val="400"/>
              </a:spcAft>
              <a:defRPr sz="1200">
                <a:solidFill>
                  <a:srgbClr val="2D3A4A"/>
                </a:solidFill>
              </a:defRPr>
            </a:pPr>
            <a:r>
              <a:t>• Requires skilled therapist (poor MI can harm)</a:t>
            </a:r>
          </a:p>
          <a:p>
            <a:pPr>
              <a:spcAft>
                <a:spcPts val="400"/>
              </a:spcAft>
              <a:defRPr sz="1200">
                <a:solidFill>
                  <a:srgbClr val="2D3A4A"/>
                </a:solidFill>
              </a:defRPr>
            </a:pPr>
            <a:r>
              <a:t>• Effect sizes small-medium (not dramatic)</a:t>
            </a:r>
          </a:p>
          <a:p>
            <a:pPr>
              <a:spcAft>
                <a:spcPts val="400"/>
              </a:spcAft>
              <a:defRPr sz="1200">
                <a:solidFill>
                  <a:srgbClr val="2D3A4A"/>
                </a:solidFill>
              </a:defRPr>
            </a:pPr>
            <a:r>
              <a:t>• Active mechanism not fully understood</a:t>
            </a:r>
          </a:p>
          <a:p>
            <a:pPr>
              <a:spcAft>
                <a:spcPts val="400"/>
              </a:spcAft>
              <a:defRPr sz="1200">
                <a:solidFill>
                  <a:srgbClr val="2D3A4A"/>
                </a:solidFill>
              </a:defRPr>
            </a:pPr>
            <a:r>
              <a:t>• Needs ongoing fidelity monitoring</a:t>
            </a:r>
          </a:p>
          <a:p>
            <a:pPr>
              <a:spcAft>
                <a:spcPts val="400"/>
              </a:spcAft>
              <a:defRPr sz="1200">
                <a:solidFill>
                  <a:srgbClr val="2D3A4A"/>
                </a:solidFill>
              </a:defRPr>
            </a:pPr>
            <a:r>
              <a:t>• Cultural adaptations required</a:t>
            </a:r>
          </a:p>
          <a:p>
            <a:pPr>
              <a:spcAft>
                <a:spcPts val="400"/>
              </a:spcAft>
              <a:defRPr sz="1200">
                <a:solidFill>
                  <a:srgbClr val="2D3A4A"/>
                </a:solidFill>
              </a:defRPr>
            </a:pPr>
            <a:r>
              <a:t>• Insufficient for complex cases alone</a:t>
            </a:r>
          </a:p>
          <a:p>
            <a:pPr>
              <a:spcAft>
                <a:spcPts val="400"/>
              </a:spcAft>
              <a:defRPr sz="1200">
                <a:solidFill>
                  <a:srgbClr val="2D3A4A"/>
                </a:solidFill>
              </a:defRPr>
            </a:pPr>
            <a:r>
              <a:t>• Risk of therapist drift without supervision</a:t>
            </a:r>
          </a:p>
        </p:txBody>
      </p:sp>
      <p:sp>
        <p:nvSpPr>
          <p:cNvPr id="9" name="Rounded Rectangle 8"/>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MET is brief, effective, and cost-efficient — but not sufficient alone for severe cases or without ongoing fidelity monitoring.</a:t>
            </a:r>
          </a:p>
        </p:txBody>
      </p:sp>
      <p:sp>
        <p:nvSpPr>
          <p:cNvPr id="10" name="Rectangle 9"/>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UKATT (2005). BMJ, 331, 541. | Smedslund et al. (2011). Cochrane Database. | NIMHANS (2008).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0" y="1371600"/>
            <a:ext cx="2103120" cy="2103120"/>
          </a:xfrm>
          <a:prstGeom prst="ellipse">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800" b="1">
                <a:solidFill>
                  <a:srgbClr val="FFFFFF"/>
                </a:solidFill>
              </a:defRPr>
            </a:pPr>
            <a:r>
              <a:t>24</a:t>
            </a:r>
          </a:p>
        </p:txBody>
      </p:sp>
      <p:sp>
        <p:nvSpPr>
          <p:cNvPr id="4" name="TextBox 3"/>
          <p:cNvSpPr txBox="1"/>
          <p:nvPr/>
        </p:nvSpPr>
        <p:spPr>
          <a:xfrm>
            <a:off x="914400" y="3840480"/>
            <a:ext cx="10332720" cy="1371600"/>
          </a:xfrm>
          <a:prstGeom prst="rect">
            <a:avLst/>
          </a:prstGeom>
          <a:noFill/>
        </p:spPr>
        <p:txBody>
          <a:bodyPr wrap="square">
            <a:spAutoFit/>
          </a:bodyPr>
          <a:lstStyle/>
          <a:p>
            <a:pPr algn="ctr">
              <a:defRPr sz="3600" b="1">
                <a:solidFill>
                  <a:srgbClr val="FFFFFF"/>
                </a:solidFill>
              </a:defRPr>
            </a:pPr>
            <a:r>
              <a:t>Ethical Considerations &amp; Cultural Adaptation</a:t>
            </a:r>
          </a:p>
        </p:txBody>
      </p:sp>
      <p:sp>
        <p:nvSpPr>
          <p:cNvPr id="5" name="Rectangle 4"/>
          <p:cNvSpPr/>
          <p:nvPr/>
        </p:nvSpPr>
        <p:spPr>
          <a:xfrm>
            <a:off x="3657600" y="5303520"/>
            <a:ext cx="4846320" cy="45720"/>
          </a:xfrm>
          <a:prstGeom prst="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Ethical Considerations in MET Practice</a:t>
            </a:r>
          </a:p>
        </p:txBody>
      </p:sp>
      <p:sp>
        <p:nvSpPr>
          <p:cNvPr id="5" name="Rounded Rectangle 4"/>
          <p:cNvSpPr/>
          <p:nvPr/>
        </p:nvSpPr>
        <p:spPr>
          <a:xfrm>
            <a:off x="457200" y="1371600"/>
            <a:ext cx="5303520" cy="2011680"/>
          </a:xfrm>
          <a:prstGeom prst="roundRect">
            <a:avLst/>
          </a:prstGeom>
          <a:solidFill>
            <a:srgbClr val="FFFFFF"/>
          </a:solidFill>
          <a:ln w="31750">
            <a:solidFill>
              <a:srgbClr val="2C5F8A"/>
            </a:solidFill>
          </a:ln>
        </p:spPr>
        <p:style>
          <a:lnRef idx="1">
            <a:schemeClr val="accent1"/>
          </a:lnRef>
          <a:fillRef idx="3">
            <a:schemeClr val="accent1"/>
          </a:fillRef>
          <a:effectRef idx="2">
            <a:schemeClr val="accent1"/>
          </a:effectRef>
          <a:fontRef idx="minor">
            <a:schemeClr val="lt1"/>
          </a:fontRef>
        </p:style>
        <p:txBody>
          <a:bodyPr rtlCol="0" anchor="ctr" wrap="square" lIns="228600" tIns="91440"/>
          <a:lstStyle/>
          <a:p>
            <a:pPr algn="ctr">
              <a:defRPr sz="1400" b="1">
                <a:solidFill>
                  <a:srgbClr val="2C5F8A"/>
                </a:solidFill>
              </a:defRPr>
            </a:pPr>
            <a:r>
              <a:t>⚖️  AUTONOMY</a:t>
            </a:r>
          </a:p>
          <a:p>
            <a:pPr>
              <a:spcBef>
                <a:spcPts val="600"/>
              </a:spcBef>
              <a:defRPr sz="1100">
                <a:solidFill>
                  <a:srgbClr val="2D3A4A"/>
                </a:solidFill>
              </a:defRPr>
            </a:pPr>
            <a:r>
              <a:t>Client's right to choose their own goals.</a:t>
            </a:r>
            <a:br/>
            <a:r>
              <a:t>Even choosing NOT to change is respected.</a:t>
            </a:r>
            <a:br/>
            <a:r>
              <a:t>Informed consent about the approach.</a:t>
            </a:r>
          </a:p>
        </p:txBody>
      </p:sp>
      <p:sp>
        <p:nvSpPr>
          <p:cNvPr id="6" name="Rectangle 5"/>
          <p:cNvSpPr/>
          <p:nvPr/>
        </p:nvSpPr>
        <p:spPr>
          <a:xfrm>
            <a:off x="457200" y="1371600"/>
            <a:ext cx="109728" cy="2011680"/>
          </a:xfrm>
          <a:prstGeom prst="rect">
            <a:avLst/>
          </a:prstGeom>
          <a:solidFill>
            <a:srgbClr val="2C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035040" y="1371600"/>
            <a:ext cx="5303520" cy="2011680"/>
          </a:xfrm>
          <a:prstGeom prst="roundRect">
            <a:avLst/>
          </a:prstGeom>
          <a:solidFill>
            <a:srgbClr val="FFFFFF"/>
          </a:solidFill>
          <a:ln w="317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228600" tIns="91440"/>
          <a:lstStyle/>
          <a:p>
            <a:pPr algn="ctr">
              <a:defRPr sz="1400" b="1">
                <a:solidFill>
                  <a:srgbClr val="17A2B8"/>
                </a:solidFill>
              </a:defRPr>
            </a:pPr>
            <a:r>
              <a:t>🔒  CONFIDENTIALITY</a:t>
            </a:r>
          </a:p>
          <a:p>
            <a:pPr>
              <a:spcBef>
                <a:spcPts val="600"/>
              </a:spcBef>
              <a:defRPr sz="1100">
                <a:solidFill>
                  <a:srgbClr val="2D3A4A"/>
                </a:solidFill>
              </a:defRPr>
            </a:pPr>
            <a:r>
              <a:t>Standard limits (risk to self/others).</a:t>
            </a:r>
            <a:br/>
            <a:r>
              <a:t>SO involvement requires consent.</a:t>
            </a:r>
            <a:br/>
            <a:r>
              <a:t>Special considerations with adolescents.</a:t>
            </a:r>
          </a:p>
        </p:txBody>
      </p:sp>
      <p:sp>
        <p:nvSpPr>
          <p:cNvPr id="8" name="Rectangle 7"/>
          <p:cNvSpPr/>
          <p:nvPr/>
        </p:nvSpPr>
        <p:spPr>
          <a:xfrm>
            <a:off x="6035040" y="1371600"/>
            <a:ext cx="109728" cy="2011680"/>
          </a:xfrm>
          <a:prstGeom prst="rect">
            <a:avLst/>
          </a:prstGeom>
          <a:solidFill>
            <a:srgbClr val="17A2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57200" y="3657600"/>
            <a:ext cx="5303520" cy="2011680"/>
          </a:xfrm>
          <a:prstGeom prst="roundRect">
            <a:avLst/>
          </a:prstGeom>
          <a:solidFill>
            <a:srgbClr val="FFFFFF"/>
          </a:solidFill>
          <a:ln w="31750">
            <a:solidFill>
              <a:srgbClr val="28A745"/>
            </a:solidFill>
          </a:ln>
        </p:spPr>
        <p:style>
          <a:lnRef idx="1">
            <a:schemeClr val="accent1"/>
          </a:lnRef>
          <a:fillRef idx="3">
            <a:schemeClr val="accent1"/>
          </a:fillRef>
          <a:effectRef idx="2">
            <a:schemeClr val="accent1"/>
          </a:effectRef>
          <a:fontRef idx="minor">
            <a:schemeClr val="lt1"/>
          </a:fontRef>
        </p:style>
        <p:txBody>
          <a:bodyPr rtlCol="0" anchor="ctr" wrap="square" lIns="228600" tIns="91440"/>
          <a:lstStyle/>
          <a:p>
            <a:pPr algn="ctr">
              <a:defRPr sz="1400" b="1">
                <a:solidFill>
                  <a:srgbClr val="28A745"/>
                </a:solidFill>
              </a:defRPr>
            </a:pPr>
            <a:r>
              <a:t>🛡️  NON-MALEFICENCE</a:t>
            </a:r>
          </a:p>
          <a:p>
            <a:pPr>
              <a:spcBef>
                <a:spcPts val="600"/>
              </a:spcBef>
              <a:defRPr sz="1100">
                <a:solidFill>
                  <a:srgbClr val="2D3A4A"/>
                </a:solidFill>
              </a:defRPr>
            </a:pPr>
            <a:r>
              <a:t>Poor MI CAN be harmful (confrontation disguised as MI).</a:t>
            </a:r>
            <a:br/>
            <a:r>
              <a:t>Is strategic reflection ethical? Yes — if serving CLIENT welfare.</a:t>
            </a:r>
            <a:br/>
            <a:r>
              <a:t>Competence required.</a:t>
            </a:r>
          </a:p>
        </p:txBody>
      </p:sp>
      <p:sp>
        <p:nvSpPr>
          <p:cNvPr id="10" name="Rectangle 9"/>
          <p:cNvSpPr/>
          <p:nvPr/>
        </p:nvSpPr>
        <p:spPr>
          <a:xfrm>
            <a:off x="457200" y="3657600"/>
            <a:ext cx="109728" cy="2011680"/>
          </a:xfrm>
          <a:prstGeom prst="rect">
            <a:avLst/>
          </a:prstGeom>
          <a:solidFill>
            <a:srgbClr val="28A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35040" y="3657600"/>
            <a:ext cx="5303520" cy="2011680"/>
          </a:xfrm>
          <a:prstGeom prst="roundRect">
            <a:avLst/>
          </a:prstGeom>
          <a:solidFill>
            <a:srgbClr val="FFFFFF"/>
          </a:solidFill>
          <a:ln w="31750">
            <a:solidFill>
              <a:srgbClr val="D4A01C"/>
            </a:solidFill>
          </a:ln>
        </p:spPr>
        <p:style>
          <a:lnRef idx="1">
            <a:schemeClr val="accent1"/>
          </a:lnRef>
          <a:fillRef idx="3">
            <a:schemeClr val="accent1"/>
          </a:fillRef>
          <a:effectRef idx="2">
            <a:schemeClr val="accent1"/>
          </a:effectRef>
          <a:fontRef idx="minor">
            <a:schemeClr val="lt1"/>
          </a:fontRef>
        </p:style>
        <p:txBody>
          <a:bodyPr rtlCol="0" anchor="ctr" wrap="square" lIns="228600" tIns="91440"/>
          <a:lstStyle/>
          <a:p>
            <a:pPr algn="ctr">
              <a:defRPr sz="1400" b="1">
                <a:solidFill>
                  <a:srgbClr val="D4A01C"/>
                </a:solidFill>
              </a:defRPr>
            </a:pPr>
            <a:r>
              <a:t>🌍  CULTURAL COMPETENCE</a:t>
            </a:r>
          </a:p>
          <a:p>
            <a:pPr>
              <a:spcBef>
                <a:spcPts val="600"/>
              </a:spcBef>
              <a:defRPr sz="1100">
                <a:solidFill>
                  <a:srgbClr val="2D3A4A"/>
                </a:solidFill>
              </a:defRPr>
            </a:pPr>
            <a:r>
              <a:t>Adaptations for diverse populations.</a:t>
            </a:r>
            <a:br/>
            <a:r>
              <a:t>Language, family roles, religious values.</a:t>
            </a:r>
            <a:br/>
            <a:r>
              <a:t>NIMAHNS: Family involvement culturally critical in India.</a:t>
            </a:r>
          </a:p>
        </p:txBody>
      </p:sp>
      <p:sp>
        <p:nvSpPr>
          <p:cNvPr id="12" name="Rectangle 11"/>
          <p:cNvSpPr/>
          <p:nvPr/>
        </p:nvSpPr>
        <p:spPr>
          <a:xfrm>
            <a:off x="6035040" y="3657600"/>
            <a:ext cx="109728" cy="2011680"/>
          </a:xfrm>
          <a:prstGeom prst="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57200" y="580644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MET's spirit (compassion, autonomy respect) is both its clinical power and its ethical safeguard.</a:t>
            </a:r>
          </a:p>
        </p:txBody>
      </p:sp>
      <p:sp>
        <p:nvSpPr>
          <p:cNvPr id="14" name="Rectangle 13"/>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APA (2017). Ethical Principles of Psychologists. | Miller &amp; Rollnick (2013). MI, 3rd ed. | NIMHANS (2008).</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Cultural Adaptation: MET in the Indian Context</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INDIA-SPECIFIC CONSIDERATIONS (NIMHANS, 2008):</a:t>
            </a:r>
          </a:p>
          <a:p>
            <a:pPr lvl="1">
              <a:spcAft>
                <a:spcPts val="400"/>
              </a:spcAft>
              <a:defRPr sz="1300">
                <a:solidFill>
                  <a:srgbClr val="2D3A4A"/>
                </a:solidFill>
              </a:defRPr>
            </a:pPr>
            <a:r>
              <a:t>• 62.5M alcohol users + limited specialist resources</a:t>
            </a:r>
          </a:p>
          <a:p>
            <a:pPr lvl="1">
              <a:spcAft>
                <a:spcPts val="400"/>
              </a:spcAft>
              <a:defRPr sz="1300">
                <a:solidFill>
                  <a:srgbClr val="2D3A4A"/>
                </a:solidFill>
              </a:defRPr>
            </a:pPr>
            <a:r>
              <a:t>• Physicians as 'agents of change' (trained in brief interventions)</a:t>
            </a:r>
          </a:p>
          <a:p>
            <a:pPr lvl="1">
              <a:spcAft>
                <a:spcPts val="400"/>
              </a:spcAft>
              <a:defRPr sz="1300">
                <a:solidFill>
                  <a:srgbClr val="2D3A4A"/>
                </a:solidFill>
              </a:defRPr>
            </a:pPr>
            <a:r>
              <a:t>• Family involvement is culturally expected and therapeutically useful</a:t>
            </a:r>
          </a:p>
          <a:p>
            <a:pPr lvl="1">
              <a:spcAft>
                <a:spcPts val="400"/>
              </a:spcAft>
              <a:defRPr sz="1300">
                <a:solidFill>
                  <a:srgbClr val="2D3A4A"/>
                </a:solidFill>
              </a:defRPr>
            </a:pPr>
            <a:r>
              <a:t>• Joint family dynamics: multiple stakeholders</a:t>
            </a:r>
          </a:p>
          <a:p>
            <a:pPr>
              <a:spcAft>
                <a:spcPts val="400"/>
              </a:spcAft>
              <a:defRPr sz="1500">
                <a:solidFill>
                  <a:srgbClr val="2D3A4A"/>
                </a:solidFill>
              </a:defRPr>
            </a:pPr>
          </a:p>
          <a:p>
            <a:pPr>
              <a:spcAft>
                <a:spcPts val="400"/>
              </a:spcAft>
              <a:defRPr sz="1500" b="1">
                <a:solidFill>
                  <a:srgbClr val="2C5F8A"/>
                </a:solidFill>
              </a:defRPr>
            </a:pPr>
            <a:r>
              <a:t>ADAPTATIONS NEEDED:</a:t>
            </a:r>
          </a:p>
          <a:p>
            <a:pPr lvl="1">
              <a:spcAft>
                <a:spcPts val="400"/>
              </a:spcAft>
              <a:defRPr sz="1300">
                <a:solidFill>
                  <a:srgbClr val="2D3A4A"/>
                </a:solidFill>
              </a:defRPr>
            </a:pPr>
            <a:r>
              <a:t>• Greater stigma for substance use (especially women)</a:t>
            </a:r>
          </a:p>
          <a:p>
            <a:pPr lvl="1">
              <a:spcAft>
                <a:spcPts val="400"/>
              </a:spcAft>
              <a:defRPr sz="1300">
                <a:solidFill>
                  <a:srgbClr val="2D3A4A"/>
                </a:solidFill>
              </a:defRPr>
            </a:pPr>
            <a:r>
              <a:t>• Spiritual/religious values can be leveraged for discrepancy</a:t>
            </a:r>
          </a:p>
          <a:p>
            <a:pPr lvl="1">
              <a:spcAft>
                <a:spcPts val="400"/>
              </a:spcAft>
              <a:defRPr sz="1300">
                <a:solidFill>
                  <a:srgbClr val="2D3A4A"/>
                </a:solidFill>
              </a:defRPr>
            </a:pPr>
            <a:r>
              <a:t>• Hierarchical relationships: MET's egalitarian approach needs gentle intro</a:t>
            </a:r>
          </a:p>
          <a:p>
            <a:pPr lvl="1">
              <a:spcAft>
                <a:spcPts val="400"/>
              </a:spcAft>
              <a:defRPr sz="1300">
                <a:solidFill>
                  <a:srgbClr val="2D3A4A"/>
                </a:solidFill>
              </a:defRPr>
            </a:pPr>
            <a:r>
              <a:t>• Language: Materials available in local languages</a:t>
            </a:r>
          </a:p>
          <a:p>
            <a:pPr lvl="1">
              <a:spcAft>
                <a:spcPts val="400"/>
              </a:spcAft>
              <a:defRPr sz="1300">
                <a:solidFill>
                  <a:srgbClr val="2D3A4A"/>
                </a:solidFill>
              </a:defRPr>
            </a:pPr>
            <a:r>
              <a:t>• Gender roles: Women's substance use heavily stigmatized</a:t>
            </a:r>
          </a:p>
          <a:p>
            <a:pPr lvl="1">
              <a:spcAft>
                <a:spcPts val="400"/>
              </a:spcAft>
              <a:defRPr sz="1300">
                <a:solidFill>
                  <a:srgbClr val="2D3A4A"/>
                </a:solidFill>
              </a:defRPr>
            </a:pPr>
            <a:r>
              <a:t>• Consanguineous marriage dynamics may affect family therapy</a:t>
            </a:r>
          </a:p>
          <a:p>
            <a:pPr>
              <a:spcAft>
                <a:spcPts val="400"/>
              </a:spcAft>
              <a:defRPr sz="1500">
                <a:solidFill>
                  <a:srgbClr val="2D3A4A"/>
                </a:solidFill>
              </a:defRPr>
            </a:pPr>
          </a:p>
          <a:p>
            <a:pPr>
              <a:spcAft>
                <a:spcPts val="400"/>
              </a:spcAft>
              <a:defRPr sz="1500" b="1">
                <a:solidFill>
                  <a:srgbClr val="2C5F8A"/>
                </a:solidFill>
              </a:defRPr>
            </a:pPr>
            <a:r>
              <a:t>UNIVERSAL PRINCIPLES THAT TRANSCEND CULTURE:</a:t>
            </a:r>
          </a:p>
          <a:p>
            <a:pPr lvl="1">
              <a:spcAft>
                <a:spcPts val="400"/>
              </a:spcAft>
              <a:defRPr sz="1300">
                <a:solidFill>
                  <a:srgbClr val="2D3A4A"/>
                </a:solidFill>
              </a:defRPr>
            </a:pPr>
            <a:r>
              <a:t>Empathy, respect, autonomy support, non-judgment</a:t>
            </a:r>
          </a:p>
          <a:p>
            <a:pPr lvl="1">
              <a:spcAft>
                <a:spcPts val="400"/>
              </a:spcAft>
              <a:defRPr sz="1300">
                <a:solidFill>
                  <a:srgbClr val="2D3A4A"/>
                </a:solidFill>
              </a:defRPr>
            </a:pPr>
            <a:r>
              <a:t>These are recognized and valued across ALL human cultures</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Core MET principles (empathy, autonomy, non-judgment) are universal; delivery adapts to cultural context.</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Murthy, P. (2008). NIMHANS Manual, pp. 1-3. | Benegal, V. (2005). Addiction, 100, 1051-1056.</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0" y="1371600"/>
            <a:ext cx="2103120" cy="2103120"/>
          </a:xfrm>
          <a:prstGeom prst="ellipse">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800" b="1">
                <a:solidFill>
                  <a:srgbClr val="FFFFFF"/>
                </a:solidFill>
              </a:defRPr>
            </a:pPr>
            <a:r>
              <a:t>26</a:t>
            </a:r>
          </a:p>
        </p:txBody>
      </p:sp>
      <p:sp>
        <p:nvSpPr>
          <p:cNvPr id="4" name="TextBox 3"/>
          <p:cNvSpPr txBox="1"/>
          <p:nvPr/>
        </p:nvSpPr>
        <p:spPr>
          <a:xfrm>
            <a:off x="914400" y="3840480"/>
            <a:ext cx="10332720" cy="1371600"/>
          </a:xfrm>
          <a:prstGeom prst="rect">
            <a:avLst/>
          </a:prstGeom>
          <a:noFill/>
        </p:spPr>
        <p:txBody>
          <a:bodyPr wrap="square">
            <a:spAutoFit/>
          </a:bodyPr>
          <a:lstStyle/>
          <a:p>
            <a:pPr algn="ctr">
              <a:defRPr sz="3600" b="1">
                <a:solidFill>
                  <a:srgbClr val="FFFFFF"/>
                </a:solidFill>
              </a:defRPr>
            </a:pPr>
            <a:r>
              <a:t>Therapist Competencies &amp; Training</a:t>
            </a:r>
          </a:p>
        </p:txBody>
      </p:sp>
      <p:sp>
        <p:nvSpPr>
          <p:cNvPr id="5" name="Rectangle 4"/>
          <p:cNvSpPr/>
          <p:nvPr/>
        </p:nvSpPr>
        <p:spPr>
          <a:xfrm>
            <a:off x="3657600" y="5303520"/>
            <a:ext cx="4846320" cy="45720"/>
          </a:xfrm>
          <a:prstGeom prst="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MITI Coding: Measuring MI Fidelity</a:t>
            </a:r>
          </a:p>
        </p:txBody>
      </p:sp>
      <p:graphicFrame>
        <p:nvGraphicFramePr>
          <p:cNvPr id="5" name="Table 4"/>
          <p:cNvGraphicFramePr>
            <a:graphicFrameLocks noGrp="1"/>
          </p:cNvGraphicFramePr>
          <p:nvPr/>
        </p:nvGraphicFramePr>
        <p:xfrm>
          <a:off x="457200" y="1371600"/>
          <a:ext cx="11247120" cy="3145536"/>
        </p:xfrm>
        <a:graphic>
          <a:graphicData uri="http://schemas.openxmlformats.org/drawingml/2006/table">
            <a:tbl>
              <a:tblPr firstRow="1" bandRow="1">
                <a:tableStyleId>{5C22544A-7EE6-4342-B048-85BDC9FD1C3A}</a:tableStyleId>
              </a:tblPr>
              <a:tblGrid>
                <a:gridCol w="3657600"/>
                <a:gridCol w="3657600"/>
                <a:gridCol w="3931920"/>
              </a:tblGrid>
              <a:tr h="393192">
                <a:tc>
                  <a:txBody>
                    <a:bodyPr/>
                    <a:lstStyle/>
                    <a:p>
                      <a:pPr algn="ctr">
                        <a:defRPr sz="1200" b="1">
                          <a:solidFill>
                            <a:srgbClr val="FFFFFF"/>
                          </a:solidFill>
                        </a:defRPr>
                      </a:pPr>
                      <a:r>
                        <a:t>Metric</a:t>
                      </a:r>
                    </a:p>
                  </a:txBody>
                  <a:tcPr anchor="ctr">
                    <a:solidFill>
                      <a:srgbClr val="1B2A4A"/>
                    </a:solidFill>
                  </a:tcPr>
                </a:tc>
                <a:tc>
                  <a:txBody>
                    <a:bodyPr/>
                    <a:lstStyle/>
                    <a:p>
                      <a:pPr algn="ctr">
                        <a:defRPr sz="1200" b="1">
                          <a:solidFill>
                            <a:srgbClr val="FFFFFF"/>
                          </a:solidFill>
                        </a:defRPr>
                      </a:pPr>
                      <a:r>
                        <a:t>Competent Threshold</a:t>
                      </a:r>
                    </a:p>
                  </a:txBody>
                  <a:tcPr anchor="ctr">
                    <a:solidFill>
                      <a:srgbClr val="1B2A4A"/>
                    </a:solidFill>
                  </a:tcPr>
                </a:tc>
                <a:tc>
                  <a:txBody>
                    <a:bodyPr/>
                    <a:lstStyle/>
                    <a:p>
                      <a:pPr algn="ctr">
                        <a:defRPr sz="1200" b="1">
                          <a:solidFill>
                            <a:srgbClr val="FFFFFF"/>
                          </a:solidFill>
                        </a:defRPr>
                      </a:pPr>
                      <a:r>
                        <a:t>Proficient Threshold</a:t>
                      </a:r>
                    </a:p>
                  </a:txBody>
                  <a:tcPr anchor="ctr">
                    <a:solidFill>
                      <a:srgbClr val="1B2A4A"/>
                    </a:solidFill>
                  </a:tcPr>
                </a:tc>
              </a:tr>
              <a:tr h="393192">
                <a:tc>
                  <a:txBody>
                    <a:bodyPr/>
                    <a:lstStyle/>
                    <a:p>
                      <a:pPr>
                        <a:defRPr sz="1100">
                          <a:solidFill>
                            <a:srgbClr val="2D3A4A"/>
                          </a:solidFill>
                        </a:defRPr>
                      </a:pPr>
                      <a:r>
                        <a:t>Reflection:Question Ratio</a:t>
                      </a:r>
                    </a:p>
                  </a:txBody>
                  <a:tcPr anchor="ctr">
                    <a:solidFill>
                      <a:srgbClr val="EBF5FF"/>
                    </a:solidFill>
                  </a:tcPr>
                </a:tc>
                <a:tc>
                  <a:txBody>
                    <a:bodyPr/>
                    <a:lstStyle/>
                    <a:p>
                      <a:pPr>
                        <a:defRPr sz="1100">
                          <a:solidFill>
                            <a:srgbClr val="2D3A4A"/>
                          </a:solidFill>
                        </a:defRPr>
                      </a:pPr>
                      <a:r>
                        <a:t>≥ 1:1</a:t>
                      </a:r>
                    </a:p>
                  </a:txBody>
                  <a:tcPr anchor="ctr">
                    <a:solidFill>
                      <a:srgbClr val="EBF5FF"/>
                    </a:solidFill>
                  </a:tcPr>
                </a:tc>
                <a:tc>
                  <a:txBody>
                    <a:bodyPr/>
                    <a:lstStyle/>
                    <a:p>
                      <a:pPr>
                        <a:defRPr sz="1100">
                          <a:solidFill>
                            <a:srgbClr val="2D3A4A"/>
                          </a:solidFill>
                        </a:defRPr>
                      </a:pPr>
                      <a:r>
                        <a:t>≥ 2:1</a:t>
                      </a:r>
                    </a:p>
                  </a:txBody>
                  <a:tcPr anchor="ctr">
                    <a:solidFill>
                      <a:srgbClr val="EBF5FF"/>
                    </a:solidFill>
                  </a:tcPr>
                </a:tc>
              </a:tr>
              <a:tr h="393192">
                <a:tc>
                  <a:txBody>
                    <a:bodyPr/>
                    <a:lstStyle/>
                    <a:p>
                      <a:pPr>
                        <a:defRPr sz="1100">
                          <a:solidFill>
                            <a:srgbClr val="2D3A4A"/>
                          </a:solidFill>
                        </a:defRPr>
                      </a:pPr>
                      <a:r>
                        <a:t>% Open Questions</a:t>
                      </a:r>
                    </a:p>
                  </a:txBody>
                  <a:tcPr anchor="ctr">
                    <a:solidFill>
                      <a:srgbClr val="FFFFFF"/>
                    </a:solidFill>
                  </a:tcPr>
                </a:tc>
                <a:tc>
                  <a:txBody>
                    <a:bodyPr/>
                    <a:lstStyle/>
                    <a:p>
                      <a:pPr>
                        <a:defRPr sz="1100">
                          <a:solidFill>
                            <a:srgbClr val="2D3A4A"/>
                          </a:solidFill>
                        </a:defRPr>
                      </a:pPr>
                      <a:r>
                        <a:t>≥ 50%</a:t>
                      </a:r>
                    </a:p>
                  </a:txBody>
                  <a:tcPr anchor="ctr">
                    <a:solidFill>
                      <a:srgbClr val="FFFFFF"/>
                    </a:solidFill>
                  </a:tcPr>
                </a:tc>
                <a:tc>
                  <a:txBody>
                    <a:bodyPr/>
                    <a:lstStyle/>
                    <a:p>
                      <a:pPr>
                        <a:defRPr sz="1100">
                          <a:solidFill>
                            <a:srgbClr val="2D3A4A"/>
                          </a:solidFill>
                        </a:defRPr>
                      </a:pPr>
                      <a:r>
                        <a:t>≥ 70%</a:t>
                      </a:r>
                    </a:p>
                  </a:txBody>
                  <a:tcPr anchor="ctr">
                    <a:solidFill>
                      <a:srgbClr val="FFFFFF"/>
                    </a:solidFill>
                  </a:tcPr>
                </a:tc>
              </a:tr>
              <a:tr h="393192">
                <a:tc>
                  <a:txBody>
                    <a:bodyPr/>
                    <a:lstStyle/>
                    <a:p>
                      <a:pPr>
                        <a:defRPr sz="1100">
                          <a:solidFill>
                            <a:srgbClr val="2D3A4A"/>
                          </a:solidFill>
                        </a:defRPr>
                      </a:pPr>
                      <a:r>
                        <a:t>% Complex Reflections</a:t>
                      </a:r>
                    </a:p>
                  </a:txBody>
                  <a:tcPr anchor="ctr">
                    <a:solidFill>
                      <a:srgbClr val="EBF5FF"/>
                    </a:solidFill>
                  </a:tcPr>
                </a:tc>
                <a:tc>
                  <a:txBody>
                    <a:bodyPr/>
                    <a:lstStyle/>
                    <a:p>
                      <a:pPr>
                        <a:defRPr sz="1100">
                          <a:solidFill>
                            <a:srgbClr val="2D3A4A"/>
                          </a:solidFill>
                        </a:defRPr>
                      </a:pPr>
                      <a:r>
                        <a:t>≥ 40%</a:t>
                      </a:r>
                    </a:p>
                  </a:txBody>
                  <a:tcPr anchor="ctr">
                    <a:solidFill>
                      <a:srgbClr val="EBF5FF"/>
                    </a:solidFill>
                  </a:tcPr>
                </a:tc>
                <a:tc>
                  <a:txBody>
                    <a:bodyPr/>
                    <a:lstStyle/>
                    <a:p>
                      <a:pPr>
                        <a:defRPr sz="1100">
                          <a:solidFill>
                            <a:srgbClr val="2D3A4A"/>
                          </a:solidFill>
                        </a:defRPr>
                      </a:pPr>
                      <a:r>
                        <a:t>≥ 50%</a:t>
                      </a:r>
                    </a:p>
                  </a:txBody>
                  <a:tcPr anchor="ctr">
                    <a:solidFill>
                      <a:srgbClr val="EBF5FF"/>
                    </a:solidFill>
                  </a:tcPr>
                </a:tc>
              </a:tr>
              <a:tr h="393192">
                <a:tc>
                  <a:txBody>
                    <a:bodyPr/>
                    <a:lstStyle/>
                    <a:p>
                      <a:pPr>
                        <a:defRPr sz="1100">
                          <a:solidFill>
                            <a:srgbClr val="2D3A4A"/>
                          </a:solidFill>
                        </a:defRPr>
                      </a:pPr>
                      <a:r>
                        <a:t>MI-Adherent Behaviors</a:t>
                      </a:r>
                    </a:p>
                  </a:txBody>
                  <a:tcPr anchor="ctr">
                    <a:solidFill>
                      <a:srgbClr val="FFFFFF"/>
                    </a:solidFill>
                  </a:tcPr>
                </a:tc>
                <a:tc>
                  <a:txBody>
                    <a:bodyPr/>
                    <a:lstStyle/>
                    <a:p>
                      <a:pPr>
                        <a:defRPr sz="1100">
                          <a:solidFill>
                            <a:srgbClr val="2D3A4A"/>
                          </a:solidFill>
                        </a:defRPr>
                      </a:pPr>
                      <a:r>
                        <a:t>Present</a:t>
                      </a:r>
                    </a:p>
                  </a:txBody>
                  <a:tcPr anchor="ctr">
                    <a:solidFill>
                      <a:srgbClr val="FFFFFF"/>
                    </a:solidFill>
                  </a:tcPr>
                </a:tc>
                <a:tc>
                  <a:txBody>
                    <a:bodyPr/>
                    <a:lstStyle/>
                    <a:p>
                      <a:pPr>
                        <a:defRPr sz="1100">
                          <a:solidFill>
                            <a:srgbClr val="2D3A4A"/>
                          </a:solidFill>
                        </a:defRPr>
                      </a:pPr>
                      <a:r>
                        <a:t>Frequent</a:t>
                      </a:r>
                    </a:p>
                  </a:txBody>
                  <a:tcPr anchor="ctr">
                    <a:solidFill>
                      <a:srgbClr val="FFFFFF"/>
                    </a:solidFill>
                  </a:tcPr>
                </a:tc>
              </a:tr>
              <a:tr h="393192">
                <a:tc>
                  <a:txBody>
                    <a:bodyPr/>
                    <a:lstStyle/>
                    <a:p>
                      <a:pPr>
                        <a:defRPr sz="1100">
                          <a:solidFill>
                            <a:srgbClr val="2D3A4A"/>
                          </a:solidFill>
                        </a:defRPr>
                      </a:pPr>
                      <a:r>
                        <a:t>MI-Non-Adherent Behaviors</a:t>
                      </a:r>
                    </a:p>
                  </a:txBody>
                  <a:tcPr anchor="ctr">
                    <a:solidFill>
                      <a:srgbClr val="EBF5FF"/>
                    </a:solidFill>
                  </a:tcPr>
                </a:tc>
                <a:tc>
                  <a:txBody>
                    <a:bodyPr/>
                    <a:lstStyle/>
                    <a:p>
                      <a:pPr>
                        <a:defRPr sz="1100">
                          <a:solidFill>
                            <a:srgbClr val="2D3A4A"/>
                          </a:solidFill>
                        </a:defRPr>
                      </a:pPr>
                      <a:r>
                        <a:t>Rare</a:t>
                      </a:r>
                    </a:p>
                  </a:txBody>
                  <a:tcPr anchor="ctr">
                    <a:solidFill>
                      <a:srgbClr val="EBF5FF"/>
                    </a:solidFill>
                  </a:tcPr>
                </a:tc>
                <a:tc>
                  <a:txBody>
                    <a:bodyPr/>
                    <a:lstStyle/>
                    <a:p>
                      <a:pPr>
                        <a:defRPr sz="1100">
                          <a:solidFill>
                            <a:srgbClr val="2D3A4A"/>
                          </a:solidFill>
                        </a:defRPr>
                      </a:pPr>
                      <a:r>
                        <a:t>Absent</a:t>
                      </a:r>
                    </a:p>
                  </a:txBody>
                  <a:tcPr anchor="ctr">
                    <a:solidFill>
                      <a:srgbClr val="EBF5FF"/>
                    </a:solidFill>
                  </a:tcPr>
                </a:tc>
              </a:tr>
              <a:tr h="393192">
                <a:tc>
                  <a:txBody>
                    <a:bodyPr/>
                    <a:lstStyle/>
                    <a:p>
                      <a:pPr>
                        <a:defRPr sz="1100">
                          <a:solidFill>
                            <a:srgbClr val="2D3A4A"/>
                          </a:solidFill>
                        </a:defRPr>
                      </a:pPr>
                      <a:r>
                        <a:t>Technical Global (Cultivating CT)</a:t>
                      </a:r>
                    </a:p>
                  </a:txBody>
                  <a:tcPr anchor="ctr">
                    <a:solidFill>
                      <a:srgbClr val="FFFFFF"/>
                    </a:solidFill>
                  </a:tcPr>
                </a:tc>
                <a:tc>
                  <a:txBody>
                    <a:bodyPr/>
                    <a:lstStyle/>
                    <a:p>
                      <a:pPr>
                        <a:defRPr sz="1100">
                          <a:solidFill>
                            <a:srgbClr val="2D3A4A"/>
                          </a:solidFill>
                        </a:defRPr>
                      </a:pPr>
                      <a:r>
                        <a:t>≥ 3.5/5</a:t>
                      </a:r>
                    </a:p>
                  </a:txBody>
                  <a:tcPr anchor="ctr">
                    <a:solidFill>
                      <a:srgbClr val="FFFFFF"/>
                    </a:solidFill>
                  </a:tcPr>
                </a:tc>
                <a:tc>
                  <a:txBody>
                    <a:bodyPr/>
                    <a:lstStyle/>
                    <a:p>
                      <a:pPr>
                        <a:defRPr sz="1100">
                          <a:solidFill>
                            <a:srgbClr val="2D3A4A"/>
                          </a:solidFill>
                        </a:defRPr>
                      </a:pPr>
                      <a:r>
                        <a:t>≥ 4.0/5</a:t>
                      </a:r>
                    </a:p>
                  </a:txBody>
                  <a:tcPr anchor="ctr">
                    <a:solidFill>
                      <a:srgbClr val="FFFFFF"/>
                    </a:solidFill>
                  </a:tcPr>
                </a:tc>
              </a:tr>
              <a:tr h="393192">
                <a:tc>
                  <a:txBody>
                    <a:bodyPr/>
                    <a:lstStyle/>
                    <a:p>
                      <a:pPr>
                        <a:defRPr sz="1100">
                          <a:solidFill>
                            <a:srgbClr val="2D3A4A"/>
                          </a:solidFill>
                        </a:defRPr>
                      </a:pPr>
                      <a:r>
                        <a:t>Relational Global (Partnership)</a:t>
                      </a:r>
                    </a:p>
                  </a:txBody>
                  <a:tcPr anchor="ctr">
                    <a:solidFill>
                      <a:srgbClr val="EBF5FF"/>
                    </a:solidFill>
                  </a:tcPr>
                </a:tc>
                <a:tc>
                  <a:txBody>
                    <a:bodyPr/>
                    <a:lstStyle/>
                    <a:p>
                      <a:pPr>
                        <a:defRPr sz="1100">
                          <a:solidFill>
                            <a:srgbClr val="2D3A4A"/>
                          </a:solidFill>
                        </a:defRPr>
                      </a:pPr>
                      <a:r>
                        <a:t>≥ 3.5/5</a:t>
                      </a:r>
                    </a:p>
                  </a:txBody>
                  <a:tcPr anchor="ctr">
                    <a:solidFill>
                      <a:srgbClr val="EBF5FF"/>
                    </a:solidFill>
                  </a:tcPr>
                </a:tc>
                <a:tc>
                  <a:txBody>
                    <a:bodyPr/>
                    <a:lstStyle/>
                    <a:p>
                      <a:pPr>
                        <a:defRPr sz="1100">
                          <a:solidFill>
                            <a:srgbClr val="2D3A4A"/>
                          </a:solidFill>
                        </a:defRPr>
                      </a:pPr>
                      <a:r>
                        <a:t>≥ 4.0/5</a:t>
                      </a:r>
                    </a:p>
                  </a:txBody>
                  <a:tcPr anchor="ctr">
                    <a:solidFill>
                      <a:srgbClr val="EBF5FF"/>
                    </a:solidFill>
                  </a:tcPr>
                </a:tc>
              </a:tr>
            </a:tbl>
          </a:graphicData>
        </a:graphic>
      </p:graphicFrame>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Fidelity matters: aim for reflection:question ≥ 2:1, open questions ≥ 70%, complex reflections ≥ 50%.</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Moyers et al. (2014). MITI Manual 4.2. University of New Mexico. | Miller &amp; Moyers (2006). Behav Cog Psychotherapy, 34, 135.</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Training Pathway for MET Competence</a:t>
            </a:r>
          </a:p>
        </p:txBody>
      </p:sp>
      <p:sp>
        <p:nvSpPr>
          <p:cNvPr id="5" name="Rounded Rectangle 4"/>
          <p:cNvSpPr/>
          <p:nvPr/>
        </p:nvSpPr>
        <p:spPr>
          <a:xfrm>
            <a:off x="457199" y="2011680"/>
            <a:ext cx="2036003" cy="1645920"/>
          </a:xfrm>
          <a:prstGeom prst="roundRect">
            <a:avLst/>
          </a:prstGeom>
          <a:solidFill>
            <a:srgbClr val="2C5F8A"/>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100" b="1">
                <a:solidFill>
                  <a:srgbClr val="FFFFFF"/>
                </a:solidFill>
              </a:defRPr>
            </a:pPr>
            <a:r>
              <a:t>STAGE 1</a:t>
            </a:r>
          </a:p>
          <a:p>
            <a:pPr algn="ctr">
              <a:defRPr sz="900">
                <a:solidFill>
                  <a:srgbClr val="E8F0FF"/>
                </a:solidFill>
              </a:defRPr>
            </a:pPr>
            <a:r>
              <a:t>Learn:</a:t>
            </a:r>
            <a:br/>
            <a:r>
              <a:t>Read manual</a:t>
            </a:r>
            <a:br/>
            <a:r>
              <a:t>Understand theory</a:t>
            </a:r>
          </a:p>
        </p:txBody>
      </p:sp>
      <p:sp>
        <p:nvSpPr>
          <p:cNvPr id="6" name="Right Arrow 5"/>
          <p:cNvSpPr/>
          <p:nvPr/>
        </p:nvSpPr>
        <p:spPr>
          <a:xfrm>
            <a:off x="2511491" y="2697480"/>
            <a:ext cx="237744" cy="274320"/>
          </a:xfrm>
          <a:prstGeom prst="rightArrow">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767523" y="2011680"/>
            <a:ext cx="2036003" cy="1645920"/>
          </a:xfrm>
          <a:prstGeom prst="round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100" b="1">
                <a:solidFill>
                  <a:srgbClr val="FFFFFF"/>
                </a:solidFill>
              </a:defRPr>
            </a:pPr>
            <a:r>
              <a:t>STAGE 2</a:t>
            </a:r>
          </a:p>
          <a:p>
            <a:pPr algn="ctr">
              <a:defRPr sz="900">
                <a:solidFill>
                  <a:srgbClr val="E8F0FF"/>
                </a:solidFill>
              </a:defRPr>
            </a:pPr>
            <a:r>
              <a:t>Workshop:</a:t>
            </a:r>
            <a:br/>
            <a:r>
              <a:t>2-3 day intensive</a:t>
            </a:r>
            <a:br/>
            <a:r>
              <a:t>Role-play practice</a:t>
            </a:r>
          </a:p>
        </p:txBody>
      </p:sp>
      <p:sp>
        <p:nvSpPr>
          <p:cNvPr id="8" name="Right Arrow 7"/>
          <p:cNvSpPr/>
          <p:nvPr/>
        </p:nvSpPr>
        <p:spPr>
          <a:xfrm>
            <a:off x="4821814" y="2697480"/>
            <a:ext cx="237744" cy="274320"/>
          </a:xfrm>
          <a:prstGeom prst="rightArrow">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077846" y="2011680"/>
            <a:ext cx="2036003" cy="1645920"/>
          </a:xfrm>
          <a:prstGeom prst="roundRect">
            <a:avLst/>
          </a:prstGeom>
          <a:solidFill>
            <a:srgbClr val="17A2B8"/>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100" b="1">
                <a:solidFill>
                  <a:srgbClr val="FFFFFF"/>
                </a:solidFill>
              </a:defRPr>
            </a:pPr>
            <a:r>
              <a:t>STAGE 3</a:t>
            </a:r>
          </a:p>
          <a:p>
            <a:pPr algn="ctr">
              <a:defRPr sz="900">
                <a:solidFill>
                  <a:srgbClr val="E8F0FF"/>
                </a:solidFill>
              </a:defRPr>
            </a:pPr>
            <a:r>
              <a:t>Practice:</a:t>
            </a:r>
            <a:br/>
            <a:r>
              <a:t>Record sessions</a:t>
            </a:r>
            <a:br/>
            <a:r>
              <a:t>Get MITI feedback</a:t>
            </a:r>
          </a:p>
        </p:txBody>
      </p:sp>
      <p:sp>
        <p:nvSpPr>
          <p:cNvPr id="10" name="Right Arrow 9"/>
          <p:cNvSpPr/>
          <p:nvPr/>
        </p:nvSpPr>
        <p:spPr>
          <a:xfrm>
            <a:off x="7132137" y="2697480"/>
            <a:ext cx="237744" cy="274320"/>
          </a:xfrm>
          <a:prstGeom prst="rightArrow">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88169" y="2011680"/>
            <a:ext cx="2036003" cy="1645920"/>
          </a:xfrm>
          <a:prstGeom prst="roundRect">
            <a:avLst/>
          </a:prstGeom>
          <a:solidFill>
            <a:srgbClr val="28A74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100" b="1">
                <a:solidFill>
                  <a:srgbClr val="FFFFFF"/>
                </a:solidFill>
              </a:defRPr>
            </a:pPr>
            <a:r>
              <a:t>STAGE 4</a:t>
            </a:r>
          </a:p>
          <a:p>
            <a:pPr algn="ctr">
              <a:defRPr sz="900">
                <a:solidFill>
                  <a:srgbClr val="E8F0FF"/>
                </a:solidFill>
              </a:defRPr>
            </a:pPr>
            <a:r>
              <a:t>Supervision:</a:t>
            </a:r>
            <a:br/>
            <a:r>
              <a:t>Ongoing coaching</a:t>
            </a:r>
            <a:br/>
            <a:r>
              <a:t>Case discussion</a:t>
            </a:r>
          </a:p>
        </p:txBody>
      </p:sp>
      <p:sp>
        <p:nvSpPr>
          <p:cNvPr id="12" name="Right Arrow 11"/>
          <p:cNvSpPr/>
          <p:nvPr/>
        </p:nvSpPr>
        <p:spPr>
          <a:xfrm>
            <a:off x="9442460" y="2697480"/>
            <a:ext cx="237744" cy="274320"/>
          </a:xfrm>
          <a:prstGeom prst="rightArrow">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698492" y="2011680"/>
            <a:ext cx="2036003" cy="1645920"/>
          </a:xfrm>
          <a:prstGeom prst="round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100" b="1">
                <a:solidFill>
                  <a:srgbClr val="FFFFFF"/>
                </a:solidFill>
              </a:defRPr>
            </a:pPr>
            <a:r>
              <a:t>STAGE 5</a:t>
            </a:r>
          </a:p>
          <a:p>
            <a:pPr algn="ctr">
              <a:defRPr sz="900">
                <a:solidFill>
                  <a:srgbClr val="E8F0FF"/>
                </a:solidFill>
              </a:defRPr>
            </a:pPr>
            <a:r>
              <a:t>Mastery:</a:t>
            </a:r>
            <a:br/>
            <a:r>
              <a:t>Maintain fidelity</a:t>
            </a:r>
            <a:br/>
            <a:r>
              <a:t>Teach others</a:t>
            </a:r>
          </a:p>
        </p:txBody>
      </p:sp>
      <p:sp>
        <p:nvSpPr>
          <p:cNvPr id="14" name="Rounded Rectangle 13"/>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Competence requires workshop + practice + feedback + supervision. Reading alone is insufficient.</a:t>
            </a:r>
          </a:p>
        </p:txBody>
      </p:sp>
      <p:sp>
        <p:nvSpPr>
          <p:cNvPr id="15" name="Rectangle 14"/>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&amp; Moyers (2006). Behav Cog Psychotherapy, 34, 135. | Schwalbe et al. (2014). Addiction, 109, 1287.</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0" y="1371600"/>
            <a:ext cx="2103120" cy="2103120"/>
          </a:xfrm>
          <a:prstGeom prst="ellipse">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800" b="1">
                <a:solidFill>
                  <a:srgbClr val="FFFFFF"/>
                </a:solidFill>
              </a:defRPr>
            </a:pPr>
            <a:r>
              <a:t>27</a:t>
            </a:r>
          </a:p>
        </p:txBody>
      </p:sp>
      <p:sp>
        <p:nvSpPr>
          <p:cNvPr id="4" name="TextBox 3"/>
          <p:cNvSpPr txBox="1"/>
          <p:nvPr/>
        </p:nvSpPr>
        <p:spPr>
          <a:xfrm>
            <a:off x="914400" y="3840480"/>
            <a:ext cx="10332720" cy="1371600"/>
          </a:xfrm>
          <a:prstGeom prst="rect">
            <a:avLst/>
          </a:prstGeom>
          <a:noFill/>
        </p:spPr>
        <p:txBody>
          <a:bodyPr wrap="square">
            <a:spAutoFit/>
          </a:bodyPr>
          <a:lstStyle/>
          <a:p>
            <a:pPr algn="ctr">
              <a:defRPr sz="3600" b="1">
                <a:solidFill>
                  <a:srgbClr val="FFFFFF"/>
                </a:solidFill>
              </a:defRPr>
            </a:pPr>
            <a:r>
              <a:t>Practical Demonstration: Role Plays</a:t>
            </a:r>
          </a:p>
        </p:txBody>
      </p:sp>
      <p:sp>
        <p:nvSpPr>
          <p:cNvPr id="5" name="Rectangle 4"/>
          <p:cNvSpPr/>
          <p:nvPr/>
        </p:nvSpPr>
        <p:spPr>
          <a:xfrm>
            <a:off x="3657600" y="5303520"/>
            <a:ext cx="4846320" cy="45720"/>
          </a:xfrm>
          <a:prstGeom prst="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Role Play: Session 1 Opening with Reluctant Client</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a:solidFill>
                  <a:srgbClr val="2D3A4A"/>
                </a:solidFill>
              </a:defRPr>
            </a:pPr>
            <a:r>
              <a:t>SCENARIO: Arun, 35, IT professional, referred by wife</a:t>
            </a:r>
          </a:p>
          <a:p>
            <a:pPr>
              <a:spcAft>
                <a:spcPts val="400"/>
              </a:spcAft>
              <a:defRPr sz="1500">
                <a:solidFill>
                  <a:srgbClr val="2D3A4A"/>
                </a:solidFill>
              </a:defRPr>
            </a:pPr>
          </a:p>
          <a:p>
            <a:pPr>
              <a:spcAft>
                <a:spcPts val="400"/>
              </a:spcAft>
              <a:defRPr sz="1500">
                <a:solidFill>
                  <a:srgbClr val="2D3A4A"/>
                </a:solidFill>
              </a:defRPr>
            </a:pPr>
            <a:r>
              <a:t>T: 'Welcome, Arun. Thank you for coming. What brings you here?'</a:t>
            </a:r>
          </a:p>
          <a:p>
            <a:pPr>
              <a:spcAft>
                <a:spcPts val="400"/>
              </a:spcAft>
              <a:defRPr sz="1500">
                <a:solidFill>
                  <a:srgbClr val="2D3A4A"/>
                </a:solidFill>
              </a:defRPr>
            </a:pPr>
            <a:r>
              <a:t>C: 'My wife made me come. She thinks I drink too much. I don't see the problem.'</a:t>
            </a:r>
          </a:p>
          <a:p>
            <a:pPr>
              <a:spcAft>
                <a:spcPts val="400"/>
              </a:spcAft>
              <a:defRPr sz="1500">
                <a:solidFill>
                  <a:srgbClr val="2D3A4A"/>
                </a:solidFill>
              </a:defRPr>
            </a:pPr>
            <a:r>
              <a:t>T: 'So coming here wasn't really your idea. You're doing this for her.'</a:t>
            </a:r>
          </a:p>
          <a:p>
            <a:pPr>
              <a:spcAft>
                <a:spcPts val="400"/>
              </a:spcAft>
              <a:defRPr sz="1500">
                <a:solidFill>
                  <a:srgbClr val="2D3A4A"/>
                </a:solidFill>
              </a:defRPr>
            </a:pPr>
            <a:r>
              <a:t>C: 'Yeah, exactly. Everyone I know drinks.'</a:t>
            </a:r>
          </a:p>
          <a:p>
            <a:pPr>
              <a:spcAft>
                <a:spcPts val="400"/>
              </a:spcAft>
              <a:defRPr sz="1500">
                <a:solidFill>
                  <a:srgbClr val="2D3A4A"/>
                </a:solidFill>
              </a:defRPr>
            </a:pPr>
            <a:r>
              <a:t>T: 'From your perspective, your drinking seems pretty normal.'</a:t>
            </a:r>
          </a:p>
          <a:p>
            <a:pPr>
              <a:spcAft>
                <a:spcPts val="400"/>
              </a:spcAft>
              <a:defRPr sz="1500">
                <a:solidFill>
                  <a:srgbClr val="2D3A4A"/>
                </a:solidFill>
              </a:defRPr>
            </a:pPr>
            <a:r>
              <a:t>C: 'Right. But she keeps nagging me about it.'</a:t>
            </a:r>
          </a:p>
          <a:p>
            <a:pPr>
              <a:spcAft>
                <a:spcPts val="400"/>
              </a:spcAft>
              <a:defRPr sz="1500">
                <a:solidFill>
                  <a:srgbClr val="2D3A4A"/>
                </a:solidFill>
              </a:defRPr>
            </a:pPr>
            <a:r>
              <a:t>T: 'That must be frustrating. And yet here you are.'</a:t>
            </a:r>
          </a:p>
          <a:p>
            <a:pPr>
              <a:spcAft>
                <a:spcPts val="400"/>
              </a:spcAft>
              <a:defRPr sz="1500">
                <a:solidFill>
                  <a:srgbClr val="2D3A4A"/>
                </a:solidFill>
              </a:defRPr>
            </a:pPr>
            <a:r>
              <a:t>C: 'Well... I love her. And she IS worried. I don't want to lose her.'</a:t>
            </a:r>
          </a:p>
          <a:p>
            <a:pPr>
              <a:spcAft>
                <a:spcPts val="400"/>
              </a:spcAft>
              <a:defRPr sz="1500">
                <a:solidFill>
                  <a:srgbClr val="2D3A4A"/>
                </a:solidFill>
              </a:defRPr>
            </a:pPr>
            <a:r>
              <a:t>T: 'She means a lot to you, and her concern affects you.'</a:t>
            </a:r>
          </a:p>
          <a:p>
            <a:pPr>
              <a:spcAft>
                <a:spcPts val="400"/>
              </a:spcAft>
              <a:defRPr sz="1500">
                <a:solidFill>
                  <a:srgbClr val="2D3A4A"/>
                </a:solidFill>
              </a:defRPr>
            </a:pPr>
            <a:r>
              <a:t>C: 'Yeah. Maybe I COULD cut back a little.'</a:t>
            </a:r>
          </a:p>
          <a:p>
            <a:pPr>
              <a:spcAft>
                <a:spcPts val="400"/>
              </a:spcAft>
              <a:defRPr sz="1500">
                <a:solidFill>
                  <a:srgbClr val="2D3A4A"/>
                </a:solidFill>
              </a:defRPr>
            </a:pPr>
            <a:r>
              <a:t>T: 'So part of you can see a reason to look at this more closely.'</a:t>
            </a:r>
          </a:p>
          <a:p>
            <a:pPr>
              <a:spcAft>
                <a:spcPts val="400"/>
              </a:spcAft>
              <a:defRPr sz="1500">
                <a:solidFill>
                  <a:srgbClr val="2D3A4A"/>
                </a:solidFill>
              </a:defRPr>
            </a:pPr>
          </a:p>
          <a:p>
            <a:pPr>
              <a:spcAft>
                <a:spcPts val="400"/>
              </a:spcAft>
              <a:defRPr sz="1500">
                <a:solidFill>
                  <a:srgbClr val="2D3A4A"/>
                </a:solidFill>
              </a:defRPr>
            </a:pPr>
            <a:r>
              <a:t>NOTICE: Client moved from 'I don't have a problem' to 'Maybe I could cut back'</a:t>
            </a:r>
          </a:p>
          <a:p>
            <a:pPr lvl="1">
              <a:spcAft>
                <a:spcPts val="400"/>
              </a:spcAft>
              <a:defRPr sz="1300">
                <a:solidFill>
                  <a:srgbClr val="2D3A4A"/>
                </a:solidFill>
              </a:defRPr>
            </a:pPr>
            <a:r>
              <a:t>— ALL through reflection. Zero confrontation. Zero advice.</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Skilled reflection moves clients from resistance to change talk without any confrontation or pressure.</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et al. (1995). MET Manual (adapted clinical dialogue).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Common Mistakes vs. Correct MI Responses</a:t>
            </a:r>
          </a:p>
        </p:txBody>
      </p:sp>
      <p:sp>
        <p:nvSpPr>
          <p:cNvPr id="5" name="Rounded Rectangle 4"/>
          <p:cNvSpPr/>
          <p:nvPr/>
        </p:nvSpPr>
        <p:spPr>
          <a:xfrm>
            <a:off x="457200" y="1280160"/>
            <a:ext cx="5303520" cy="457200"/>
          </a:xfrm>
          <a:prstGeom prst="roundRect">
            <a:avLst/>
          </a:prstGeom>
          <a:solidFill>
            <a:srgbClr val="2C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 WRONG (MI-Inconsistent)</a:t>
            </a:r>
          </a:p>
        </p:txBody>
      </p:sp>
      <p:sp>
        <p:nvSpPr>
          <p:cNvPr id="6" name="TextBox 5"/>
          <p:cNvSpPr txBox="1"/>
          <p:nvPr/>
        </p:nvSpPr>
        <p:spPr>
          <a:xfrm>
            <a:off x="548640" y="1828800"/>
            <a:ext cx="5120640" cy="3657600"/>
          </a:xfrm>
          <a:prstGeom prst="rect">
            <a:avLst/>
          </a:prstGeom>
          <a:noFill/>
        </p:spPr>
        <p:txBody>
          <a:bodyPr wrap="square">
            <a:spAutoFit/>
          </a:bodyPr>
          <a:lstStyle/>
          <a:p>
            <a:pPr>
              <a:spcAft>
                <a:spcPts val="400"/>
              </a:spcAft>
              <a:defRPr sz="1200">
                <a:solidFill>
                  <a:srgbClr val="2D3A4A"/>
                </a:solidFill>
              </a:defRPr>
            </a:pPr>
            <a:r>
              <a:t>• Client: 'I don't think I'm an alcoholic'</a:t>
            </a:r>
          </a:p>
          <a:p>
            <a:pPr>
              <a:spcAft>
                <a:spcPts val="400"/>
              </a:spcAft>
              <a:defRPr sz="1200">
                <a:solidFill>
                  <a:srgbClr val="2D3A4A"/>
                </a:solidFill>
              </a:defRPr>
            </a:pPr>
            <a:r>
              <a:t>• </a:t>
            </a:r>
          </a:p>
          <a:p>
            <a:pPr>
              <a:spcAft>
                <a:spcPts val="400"/>
              </a:spcAft>
              <a:defRPr sz="1200">
                <a:solidFill>
                  <a:srgbClr val="2D3A4A"/>
                </a:solidFill>
              </a:defRPr>
            </a:pPr>
            <a:r>
              <a:t>• CONFRONTATION:</a:t>
            </a:r>
          </a:p>
          <a:p>
            <a:pPr>
              <a:spcAft>
                <a:spcPts val="400"/>
              </a:spcAft>
              <a:defRPr sz="1200">
                <a:solidFill>
                  <a:srgbClr val="2D3A4A"/>
                </a:solidFill>
              </a:defRPr>
            </a:pPr>
            <a:r>
              <a:t>• 'Yes you are! Look at your results!'</a:t>
            </a:r>
          </a:p>
          <a:p>
            <a:pPr>
              <a:spcAft>
                <a:spcPts val="400"/>
              </a:spcAft>
              <a:defRPr sz="1200">
                <a:solidFill>
                  <a:srgbClr val="2D3A4A"/>
                </a:solidFill>
              </a:defRPr>
            </a:pPr>
            <a:r>
              <a:t>• </a:t>
            </a:r>
          </a:p>
          <a:p>
            <a:pPr>
              <a:spcAft>
                <a:spcPts val="400"/>
              </a:spcAft>
              <a:defRPr sz="1200">
                <a:solidFill>
                  <a:srgbClr val="2D3A4A"/>
                </a:solidFill>
              </a:defRPr>
            </a:pPr>
            <a:r>
              <a:t>• LABELING:</a:t>
            </a:r>
          </a:p>
          <a:p>
            <a:pPr>
              <a:spcAft>
                <a:spcPts val="400"/>
              </a:spcAft>
              <a:defRPr sz="1200">
                <a:solidFill>
                  <a:srgbClr val="2D3A4A"/>
                </a:solidFill>
              </a:defRPr>
            </a:pPr>
            <a:r>
              <a:t>• 'You meet the diagnostic criteria'</a:t>
            </a:r>
          </a:p>
          <a:p>
            <a:pPr>
              <a:spcAft>
                <a:spcPts val="400"/>
              </a:spcAft>
              <a:defRPr sz="1200">
                <a:solidFill>
                  <a:srgbClr val="2D3A4A"/>
                </a:solidFill>
              </a:defRPr>
            </a:pPr>
            <a:r>
              <a:t>• </a:t>
            </a:r>
          </a:p>
          <a:p>
            <a:pPr>
              <a:spcAft>
                <a:spcPts val="400"/>
              </a:spcAft>
              <a:defRPr sz="1200">
                <a:solidFill>
                  <a:srgbClr val="2D3A4A"/>
                </a:solidFill>
              </a:defRPr>
            </a:pPr>
            <a:r>
              <a:t>• QUESTION TRAP:</a:t>
            </a:r>
          </a:p>
          <a:p>
            <a:pPr>
              <a:spcAft>
                <a:spcPts val="400"/>
              </a:spcAft>
              <a:defRPr sz="1200">
                <a:solidFill>
                  <a:srgbClr val="2D3A4A"/>
                </a:solidFill>
              </a:defRPr>
            </a:pPr>
            <a:r>
              <a:t>• 'Why don't you think so?'</a:t>
            </a:r>
          </a:p>
          <a:p>
            <a:pPr>
              <a:spcAft>
                <a:spcPts val="400"/>
              </a:spcAft>
              <a:defRPr sz="1200">
                <a:solidFill>
                  <a:srgbClr val="2D3A4A"/>
                </a:solidFill>
              </a:defRPr>
            </a:pPr>
            <a:r>
              <a:t>• </a:t>
            </a:r>
          </a:p>
          <a:p>
            <a:pPr>
              <a:spcAft>
                <a:spcPts val="400"/>
              </a:spcAft>
              <a:defRPr sz="1200">
                <a:solidFill>
                  <a:srgbClr val="2D3A4A"/>
                </a:solidFill>
              </a:defRPr>
            </a:pPr>
            <a:r>
              <a:t>• LECTURING:</a:t>
            </a:r>
          </a:p>
          <a:p>
            <a:pPr>
              <a:spcAft>
                <a:spcPts val="400"/>
              </a:spcAft>
              <a:defRPr sz="1200">
                <a:solidFill>
                  <a:srgbClr val="2D3A4A"/>
                </a:solidFill>
              </a:defRPr>
            </a:pPr>
            <a:r>
              <a:t>• 'Let me explain the DSM criteria...'</a:t>
            </a:r>
          </a:p>
        </p:txBody>
      </p:sp>
      <p:sp>
        <p:nvSpPr>
          <p:cNvPr id="7" name="Rounded Rectangle 6"/>
          <p:cNvSpPr/>
          <p:nvPr/>
        </p:nvSpPr>
        <p:spPr>
          <a:xfrm>
            <a:off x="6217920" y="1280160"/>
            <a:ext cx="5303520" cy="457200"/>
          </a:xfrm>
          <a:prstGeom prst="roundRect">
            <a:avLst/>
          </a:prstGeom>
          <a:solidFill>
            <a:srgbClr val="17A2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 CORRECT (MI-Consistent)</a:t>
            </a:r>
          </a:p>
        </p:txBody>
      </p:sp>
      <p:sp>
        <p:nvSpPr>
          <p:cNvPr id="8" name="TextBox 7"/>
          <p:cNvSpPr txBox="1"/>
          <p:nvPr/>
        </p:nvSpPr>
        <p:spPr>
          <a:xfrm>
            <a:off x="6309360" y="1828800"/>
            <a:ext cx="5120640" cy="3657600"/>
          </a:xfrm>
          <a:prstGeom prst="rect">
            <a:avLst/>
          </a:prstGeom>
          <a:noFill/>
        </p:spPr>
        <p:txBody>
          <a:bodyPr wrap="square">
            <a:spAutoFit/>
          </a:bodyPr>
          <a:lstStyle/>
          <a:p>
            <a:pPr>
              <a:spcAft>
                <a:spcPts val="400"/>
              </a:spcAft>
              <a:defRPr sz="1200">
                <a:solidFill>
                  <a:srgbClr val="2D3A4A"/>
                </a:solidFill>
              </a:defRPr>
            </a:pPr>
            <a:r>
              <a:t>• Client: 'I don't think I'm an alcoholic'</a:t>
            </a:r>
          </a:p>
          <a:p>
            <a:pPr>
              <a:spcAft>
                <a:spcPts val="400"/>
              </a:spcAft>
              <a:defRPr sz="1200">
                <a:solidFill>
                  <a:srgbClr val="2D3A4A"/>
                </a:solidFill>
              </a:defRPr>
            </a:pPr>
            <a:r>
              <a:t>• </a:t>
            </a:r>
          </a:p>
          <a:p>
            <a:pPr>
              <a:spcAft>
                <a:spcPts val="400"/>
              </a:spcAft>
              <a:defRPr sz="1200">
                <a:solidFill>
                  <a:srgbClr val="2D3A4A"/>
                </a:solidFill>
              </a:defRPr>
            </a:pPr>
            <a:r>
              <a:t>• SHIFTING FOCUS:</a:t>
            </a:r>
          </a:p>
          <a:p>
            <a:pPr>
              <a:spcAft>
                <a:spcPts val="400"/>
              </a:spcAft>
              <a:defRPr sz="1200">
                <a:solidFill>
                  <a:srgbClr val="2D3A4A"/>
                </a:solidFill>
              </a:defRPr>
            </a:pPr>
            <a:r>
              <a:t>• 'Labels aren't important. What concerns YOU?'</a:t>
            </a:r>
          </a:p>
          <a:p>
            <a:pPr>
              <a:spcAft>
                <a:spcPts val="400"/>
              </a:spcAft>
              <a:defRPr sz="1200">
                <a:solidFill>
                  <a:srgbClr val="2D3A4A"/>
                </a:solidFill>
              </a:defRPr>
            </a:pPr>
            <a:r>
              <a:t>• </a:t>
            </a:r>
          </a:p>
          <a:p>
            <a:pPr>
              <a:spcAft>
                <a:spcPts val="400"/>
              </a:spcAft>
              <a:defRPr sz="1200">
                <a:solidFill>
                  <a:srgbClr val="2D3A4A"/>
                </a:solidFill>
              </a:defRPr>
            </a:pPr>
            <a:r>
              <a:t>• REFLECTION:</a:t>
            </a:r>
          </a:p>
          <a:p>
            <a:pPr>
              <a:spcAft>
                <a:spcPts val="400"/>
              </a:spcAft>
              <a:defRPr sz="1200">
                <a:solidFill>
                  <a:srgbClr val="2D3A4A"/>
                </a:solidFill>
              </a:defRPr>
            </a:pPr>
            <a:r>
              <a:t>• 'You don't like that word applied to you'</a:t>
            </a:r>
          </a:p>
          <a:p>
            <a:pPr>
              <a:spcAft>
                <a:spcPts val="400"/>
              </a:spcAft>
              <a:defRPr sz="1200">
                <a:solidFill>
                  <a:srgbClr val="2D3A4A"/>
                </a:solidFill>
              </a:defRPr>
            </a:pPr>
            <a:r>
              <a:t>• </a:t>
            </a:r>
          </a:p>
          <a:p>
            <a:pPr>
              <a:spcAft>
                <a:spcPts val="400"/>
              </a:spcAft>
              <a:defRPr sz="1200">
                <a:solidFill>
                  <a:srgbClr val="2D3A4A"/>
                </a:solidFill>
              </a:defRPr>
            </a:pPr>
            <a:r>
              <a:t>• REFRAME:</a:t>
            </a:r>
          </a:p>
          <a:p>
            <a:pPr>
              <a:spcAft>
                <a:spcPts val="400"/>
              </a:spcAft>
              <a:defRPr sz="1200">
                <a:solidFill>
                  <a:srgbClr val="2D3A4A"/>
                </a:solidFill>
              </a:defRPr>
            </a:pPr>
            <a:r>
              <a:t>• 'You think carefully before accepting labels'</a:t>
            </a:r>
          </a:p>
          <a:p>
            <a:pPr>
              <a:spcAft>
                <a:spcPts val="400"/>
              </a:spcAft>
              <a:defRPr sz="1200">
                <a:solidFill>
                  <a:srgbClr val="2D3A4A"/>
                </a:solidFill>
              </a:defRPr>
            </a:pPr>
            <a:r>
              <a:t>• </a:t>
            </a:r>
          </a:p>
          <a:p>
            <a:pPr>
              <a:spcAft>
                <a:spcPts val="400"/>
              </a:spcAft>
              <a:defRPr sz="1200">
                <a:solidFill>
                  <a:srgbClr val="2D3A4A"/>
                </a:solidFill>
              </a:defRPr>
            </a:pPr>
            <a:r>
              <a:t>• DOUBLE-SIDED:</a:t>
            </a:r>
          </a:p>
          <a:p>
            <a:pPr>
              <a:spcAft>
                <a:spcPts val="400"/>
              </a:spcAft>
              <a:defRPr sz="1200">
                <a:solidFill>
                  <a:srgbClr val="2D3A4A"/>
                </a:solidFill>
              </a:defRPr>
            </a:pPr>
            <a:r>
              <a:t>• 'You don't see yourself that way, AND you have some concerns'</a:t>
            </a:r>
          </a:p>
        </p:txBody>
      </p:sp>
      <p:sp>
        <p:nvSpPr>
          <p:cNvPr id="9" name="Rounded Rectangle 8"/>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NEVER argue about labels. Shift focus: 'What concerns YOU about your drinking?'</a:t>
            </a:r>
          </a:p>
        </p:txBody>
      </p:sp>
      <p:sp>
        <p:nvSpPr>
          <p:cNvPr id="10" name="Rectangle 9"/>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et al. (1995). MET Manual. | Miller &amp; Rollnick (2013). MI, 3rd ed.</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Extended Role Play: Feedback Delivery with Defensive Client</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a:solidFill>
                  <a:srgbClr val="2D3A4A"/>
                </a:solidFill>
              </a:defRPr>
            </a:pPr>
            <a:r>
              <a:t>T: 'Your weekly consumption puts you above 95% of adults.' [neutral]</a:t>
            </a:r>
          </a:p>
          <a:p>
            <a:pPr>
              <a:spcAft>
                <a:spcPts val="400"/>
              </a:spcAft>
              <a:defRPr sz="1500">
                <a:solidFill>
                  <a:srgbClr val="2D3A4A"/>
                </a:solidFill>
              </a:defRPr>
            </a:pPr>
            <a:r>
              <a:t>C: 'That can't be right. There's no way I drink that much.'</a:t>
            </a:r>
          </a:p>
          <a:p>
            <a:pPr>
              <a:spcAft>
                <a:spcPts val="400"/>
              </a:spcAft>
              <a:defRPr sz="1500">
                <a:solidFill>
                  <a:srgbClr val="2D3A4A"/>
                </a:solidFill>
              </a:defRPr>
            </a:pPr>
            <a:r>
              <a:t>T: 'This is surprising to you. It doesn't match how you see it.' [reflect]</a:t>
            </a:r>
          </a:p>
          <a:p>
            <a:pPr>
              <a:spcAft>
                <a:spcPts val="400"/>
              </a:spcAft>
              <a:defRPr sz="1500">
                <a:solidFill>
                  <a:srgbClr val="2D3A4A"/>
                </a:solidFill>
              </a:defRPr>
            </a:pPr>
            <a:r>
              <a:t>C: 'The test must be wrong. Or maybe I exaggerated.'</a:t>
            </a:r>
          </a:p>
          <a:p>
            <a:pPr>
              <a:spcAft>
                <a:spcPts val="400"/>
              </a:spcAft>
              <a:defRPr sz="1500">
                <a:solidFill>
                  <a:srgbClr val="2D3A4A"/>
                </a:solidFill>
              </a:defRPr>
            </a:pPr>
            <a:r>
              <a:t>T: 'You're wondering if the numbers are accurate.' [simple reflection]</a:t>
            </a:r>
          </a:p>
          <a:p>
            <a:pPr>
              <a:spcAft>
                <a:spcPts val="400"/>
              </a:spcAft>
              <a:defRPr sz="1500">
                <a:solidFill>
                  <a:srgbClr val="2D3A4A"/>
                </a:solidFill>
              </a:defRPr>
            </a:pPr>
            <a:r>
              <a:t>C: 'Well... I DO drink most nights. But it's just social.'</a:t>
            </a:r>
          </a:p>
          <a:p>
            <a:pPr>
              <a:spcAft>
                <a:spcPts val="400"/>
              </a:spcAft>
              <a:defRPr sz="1500">
                <a:solidFill>
                  <a:srgbClr val="2D3A4A"/>
                </a:solidFill>
              </a:defRPr>
            </a:pPr>
            <a:r>
              <a:t>T: 'So drinking is a regular part of your social life.' [reflect]</a:t>
            </a:r>
          </a:p>
          <a:p>
            <a:pPr>
              <a:spcAft>
                <a:spcPts val="400"/>
              </a:spcAft>
              <a:defRPr sz="1500">
                <a:solidFill>
                  <a:srgbClr val="2D3A4A"/>
                </a:solidFill>
              </a:defRPr>
            </a:pPr>
            <a:r>
              <a:t>C: 'Yeah. But 95th percentile? That sounds really bad.'</a:t>
            </a:r>
          </a:p>
          <a:p>
            <a:pPr>
              <a:spcAft>
                <a:spcPts val="400"/>
              </a:spcAft>
              <a:defRPr sz="1500">
                <a:solidFill>
                  <a:srgbClr val="2D3A4A"/>
                </a:solidFill>
              </a:defRPr>
            </a:pPr>
            <a:r>
              <a:t>T: 'That number is concerning to you.' [reflects concern = CHANGE TALK!]</a:t>
            </a:r>
          </a:p>
          <a:p>
            <a:pPr>
              <a:spcAft>
                <a:spcPts val="400"/>
              </a:spcAft>
              <a:defRPr sz="1500">
                <a:solidFill>
                  <a:srgbClr val="2D3A4A"/>
                </a:solidFill>
              </a:defRPr>
            </a:pPr>
            <a:r>
              <a:t>C: 'I never thought of myself as THAT kind of drinker.'</a:t>
            </a:r>
          </a:p>
          <a:p>
            <a:pPr>
              <a:spcAft>
                <a:spcPts val="400"/>
              </a:spcAft>
              <a:defRPr sz="1500">
                <a:solidFill>
                  <a:srgbClr val="2D3A4A"/>
                </a:solidFill>
              </a:defRPr>
            </a:pPr>
            <a:r>
              <a:t>T: 'There's a gap between how you've seen yourself and what the data shows.</a:t>
            </a:r>
          </a:p>
          <a:p>
            <a:pPr lvl="2">
              <a:spcAft>
                <a:spcPts val="400"/>
              </a:spcAft>
              <a:defRPr sz="1200">
                <a:solidFill>
                  <a:srgbClr val="2D3A4A"/>
                </a:solidFill>
              </a:defRPr>
            </a:pPr>
            <a:r>
              <a:t>That's a lot to take in.' [reflects discrepancy; names process]</a:t>
            </a:r>
          </a:p>
          <a:p>
            <a:pPr>
              <a:spcAft>
                <a:spcPts val="400"/>
              </a:spcAft>
              <a:defRPr sz="1500">
                <a:solidFill>
                  <a:srgbClr val="2D3A4A"/>
                </a:solidFill>
              </a:defRPr>
            </a:pPr>
          </a:p>
          <a:p>
            <a:pPr>
              <a:spcAft>
                <a:spcPts val="400"/>
              </a:spcAft>
              <a:defRPr sz="1500">
                <a:solidFill>
                  <a:srgbClr val="2D3A4A"/>
                </a:solidFill>
              </a:defRPr>
            </a:pPr>
            <a:r>
              <a:t>RESULT: Client moved from defensive → concerned → discrepancy recognition</a:t>
            </a:r>
          </a:p>
          <a:p>
            <a:pPr>
              <a:spcAft>
                <a:spcPts val="400"/>
              </a:spcAft>
              <a:defRPr sz="1500">
                <a:solidFill>
                  <a:srgbClr val="2D3A4A"/>
                </a:solidFill>
              </a:defRPr>
            </a:pPr>
            <a:r>
              <a:t>ALL through consistent, patient reflection. Never once arguing for validity.</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Even when clients reject feedback, consistent reflection creates safety for discrepancy to emerge naturally.</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et al. (1995). MET Manual, Session 1 protocol.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0" y="1371600"/>
            <a:ext cx="2103120" cy="2103120"/>
          </a:xfrm>
          <a:prstGeom prst="ellipse">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800" b="1">
                <a:solidFill>
                  <a:srgbClr val="FFFFFF"/>
                </a:solidFill>
              </a:defRPr>
            </a:pPr>
            <a:r>
              <a:t>28</a:t>
            </a:r>
          </a:p>
        </p:txBody>
      </p:sp>
      <p:sp>
        <p:nvSpPr>
          <p:cNvPr id="4" name="TextBox 3"/>
          <p:cNvSpPr txBox="1"/>
          <p:nvPr/>
        </p:nvSpPr>
        <p:spPr>
          <a:xfrm>
            <a:off x="914400" y="3840480"/>
            <a:ext cx="10332720" cy="1371600"/>
          </a:xfrm>
          <a:prstGeom prst="rect">
            <a:avLst/>
          </a:prstGeom>
          <a:noFill/>
        </p:spPr>
        <p:txBody>
          <a:bodyPr wrap="square">
            <a:spAutoFit/>
          </a:bodyPr>
          <a:lstStyle/>
          <a:p>
            <a:pPr algn="ctr">
              <a:defRPr sz="3600" b="1">
                <a:solidFill>
                  <a:srgbClr val="FFFFFF"/>
                </a:solidFill>
              </a:defRPr>
            </a:pPr>
            <a:r>
              <a:t>Examination Questions &amp; Practice</a:t>
            </a:r>
          </a:p>
        </p:txBody>
      </p:sp>
      <p:sp>
        <p:nvSpPr>
          <p:cNvPr id="5" name="Rectangle 4"/>
          <p:cNvSpPr/>
          <p:nvPr/>
        </p:nvSpPr>
        <p:spPr>
          <a:xfrm>
            <a:off x="3657600" y="5303520"/>
            <a:ext cx="4846320" cy="45720"/>
          </a:xfrm>
          <a:prstGeom prst="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Viva Questions &amp; Long Answer Topics</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VIVA QUESTIONS (2-3 minute structured answers):</a:t>
            </a:r>
          </a:p>
          <a:p>
            <a:pPr lvl="1">
              <a:spcAft>
                <a:spcPts val="400"/>
              </a:spcAft>
              <a:defRPr sz="1300">
                <a:solidFill>
                  <a:srgbClr val="2D3A4A"/>
                </a:solidFill>
              </a:defRPr>
            </a:pPr>
            <a:r>
              <a:t>1. Define MET. How does it differ from MI?</a:t>
            </a:r>
          </a:p>
          <a:p>
            <a:pPr lvl="1">
              <a:spcAft>
                <a:spcPts val="400"/>
              </a:spcAft>
              <a:defRPr sz="1300">
                <a:solidFill>
                  <a:srgbClr val="2D3A4A"/>
                </a:solidFill>
              </a:defRPr>
            </a:pPr>
            <a:r>
              <a:t>2. Explain the theoretical foundations (name 5+ theories)</a:t>
            </a:r>
          </a:p>
          <a:p>
            <a:pPr lvl="1">
              <a:spcAft>
                <a:spcPts val="400"/>
              </a:spcAft>
              <a:defRPr sz="1300">
                <a:solidFill>
                  <a:srgbClr val="2D3A4A"/>
                </a:solidFill>
              </a:defRPr>
            </a:pPr>
            <a:r>
              <a:t>3. What is the spirit of MET? Why is it more important than technique?</a:t>
            </a:r>
          </a:p>
          <a:p>
            <a:pPr lvl="1">
              <a:spcAft>
                <a:spcPts val="400"/>
              </a:spcAft>
              <a:defRPr sz="1300">
                <a:solidFill>
                  <a:srgbClr val="2D3A4A"/>
                </a:solidFill>
              </a:defRPr>
            </a:pPr>
            <a:r>
              <a:t>4. Describe OARS with clinical examples</a:t>
            </a:r>
          </a:p>
          <a:p>
            <a:pPr lvl="1">
              <a:spcAft>
                <a:spcPts val="400"/>
              </a:spcAft>
              <a:defRPr sz="1300">
                <a:solidFill>
                  <a:srgbClr val="2D3A4A"/>
                </a:solidFill>
              </a:defRPr>
            </a:pPr>
            <a:r>
              <a:t>5. What is change talk? Name 7 types (DARN-CAT)</a:t>
            </a:r>
          </a:p>
          <a:p>
            <a:pPr lvl="1">
              <a:spcAft>
                <a:spcPts val="400"/>
              </a:spcAft>
              <a:defRPr sz="1300">
                <a:solidFill>
                  <a:srgbClr val="2D3A4A"/>
                </a:solidFill>
              </a:defRPr>
            </a:pPr>
            <a:r>
              <a:t>6. Explain FRAMES and its evidence base</a:t>
            </a:r>
          </a:p>
          <a:p>
            <a:pPr lvl="1">
              <a:spcAft>
                <a:spcPts val="400"/>
              </a:spcAft>
              <a:defRPr sz="1300">
                <a:solidFill>
                  <a:srgbClr val="2D3A4A"/>
                </a:solidFill>
              </a:defRPr>
            </a:pPr>
            <a:r>
              <a:t>7. How do you 'roll with resistance'? Give 3 strategies</a:t>
            </a:r>
          </a:p>
          <a:p>
            <a:pPr lvl="1">
              <a:spcAft>
                <a:spcPts val="400"/>
              </a:spcAft>
              <a:defRPr sz="1300">
                <a:solidFill>
                  <a:srgbClr val="2D3A4A"/>
                </a:solidFill>
              </a:defRPr>
            </a:pPr>
            <a:r>
              <a:t>8. Describe the 4-session MET protocol</a:t>
            </a:r>
          </a:p>
          <a:p>
            <a:pPr lvl="1">
              <a:spcAft>
                <a:spcPts val="400"/>
              </a:spcAft>
              <a:defRPr sz="1300">
                <a:solidFill>
                  <a:srgbClr val="2D3A4A"/>
                </a:solidFill>
              </a:defRPr>
            </a:pPr>
            <a:r>
              <a:t>9. What does research say? Cite key studies</a:t>
            </a:r>
          </a:p>
          <a:p>
            <a:pPr lvl="1">
              <a:spcAft>
                <a:spcPts val="400"/>
              </a:spcAft>
              <a:defRPr sz="1300">
                <a:solidFill>
                  <a:srgbClr val="2D3A4A"/>
                </a:solidFill>
              </a:defRPr>
            </a:pPr>
            <a:r>
              <a:t>10. How would you adapt MET for Indian context?</a:t>
            </a:r>
          </a:p>
          <a:p>
            <a:pPr>
              <a:spcAft>
                <a:spcPts val="400"/>
              </a:spcAft>
              <a:defRPr sz="1500">
                <a:solidFill>
                  <a:srgbClr val="2D3A4A"/>
                </a:solidFill>
              </a:defRPr>
            </a:pPr>
          </a:p>
          <a:p>
            <a:pPr>
              <a:spcAft>
                <a:spcPts val="400"/>
              </a:spcAft>
              <a:defRPr sz="1500" b="1">
                <a:solidFill>
                  <a:srgbClr val="2C5F8A"/>
                </a:solidFill>
              </a:defRPr>
            </a:pPr>
            <a:r>
              <a:t>LONG ANSWER QUESTIONS (15-20 marks):</a:t>
            </a:r>
          </a:p>
          <a:p>
            <a:pPr lvl="1">
              <a:spcAft>
                <a:spcPts val="400"/>
              </a:spcAft>
              <a:defRPr sz="1300">
                <a:solidFill>
                  <a:srgbClr val="2D3A4A"/>
                </a:solidFill>
              </a:defRPr>
            </a:pPr>
            <a:r>
              <a:t>• Discuss MET: theoretical foundations, evidence, structure,</a:t>
            </a:r>
          </a:p>
          <a:p>
            <a:pPr lvl="2">
              <a:spcAft>
                <a:spcPts val="400"/>
              </a:spcAft>
              <a:defRPr sz="1200">
                <a:solidFill>
                  <a:srgbClr val="2D3A4A"/>
                </a:solidFill>
              </a:defRPr>
            </a:pPr>
            <a:r>
              <a:t>applications, and limitations (20 marks)</a:t>
            </a:r>
          </a:p>
          <a:p>
            <a:pPr lvl="1">
              <a:spcAft>
                <a:spcPts val="400"/>
              </a:spcAft>
              <a:defRPr sz="1300">
                <a:solidFill>
                  <a:srgbClr val="2D3A4A"/>
                </a:solidFill>
              </a:defRPr>
            </a:pPr>
            <a:r>
              <a:t>• Compare MET with CBT and 12-Step for alcohol dependence (15 marks)</a:t>
            </a:r>
          </a:p>
          <a:p>
            <a:pPr lvl="1">
              <a:spcAft>
                <a:spcPts val="400"/>
              </a:spcAft>
              <a:defRPr sz="1300">
                <a:solidFill>
                  <a:srgbClr val="2D3A4A"/>
                </a:solidFill>
              </a:defRPr>
            </a:pPr>
            <a:r>
              <a:t>• Role of brief motivational interventions in primary care (15 marks)</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For exams: Integrate theory + evidence + clinical application in structured answers with specific references.</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Based on M.Phil Clinical Psychology / PsyD / Psychiatry examination patterns.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Clinical Scenario Questions with Answers</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a:solidFill>
                  <a:srgbClr val="2D3A4A"/>
                </a:solidFill>
              </a:defRPr>
            </a:pPr>
            <a:r>
              <a:t>SCENARIO 1: Man, 45: 'My wife made me come. I don't have a problem.'</a:t>
            </a:r>
          </a:p>
          <a:p>
            <a:pPr lvl="1">
              <a:spcAft>
                <a:spcPts val="400"/>
              </a:spcAft>
              <a:defRPr sz="1300">
                <a:solidFill>
                  <a:srgbClr val="2D3A4A"/>
                </a:solidFill>
              </a:defRPr>
            </a:pPr>
            <a:r>
              <a:t>Stage: Precontemplation. Response: Empathy + explore + autonomy.</a:t>
            </a:r>
          </a:p>
          <a:p>
            <a:pPr lvl="1">
              <a:spcAft>
                <a:spcPts val="400"/>
              </a:spcAft>
              <a:defRPr sz="1300">
                <a:solidFill>
                  <a:srgbClr val="2D3A4A"/>
                </a:solidFill>
              </a:defRPr>
            </a:pPr>
            <a:r>
              <a:t>'So this wasn't your idea. Tell me what brought you here.'</a:t>
            </a:r>
          </a:p>
          <a:p>
            <a:pPr>
              <a:spcAft>
                <a:spcPts val="400"/>
              </a:spcAft>
              <a:defRPr sz="1500">
                <a:solidFill>
                  <a:srgbClr val="2D3A4A"/>
                </a:solidFill>
              </a:defRPr>
            </a:pPr>
          </a:p>
          <a:p>
            <a:pPr>
              <a:spcAft>
                <a:spcPts val="400"/>
              </a:spcAft>
              <a:defRPr sz="1500">
                <a:solidFill>
                  <a:srgbClr val="2D3A4A"/>
                </a:solidFill>
              </a:defRPr>
            </a:pPr>
            <a:r>
              <a:t>SCENARIO 2: Client says: 'I know I should quit but I just can't.'</a:t>
            </a:r>
          </a:p>
          <a:p>
            <a:pPr lvl="1">
              <a:spcAft>
                <a:spcPts val="400"/>
              </a:spcAft>
              <a:defRPr sz="1300">
                <a:solidFill>
                  <a:srgbClr val="2D3A4A"/>
                </a:solidFill>
              </a:defRPr>
            </a:pPr>
            <a:r>
              <a:t>Analysis: Desire/Need (should quit) + low Ability (can't).</a:t>
            </a:r>
          </a:p>
          <a:p>
            <a:pPr lvl="1">
              <a:spcAft>
                <a:spcPts val="400"/>
              </a:spcAft>
              <a:defRPr sz="1300">
                <a:solidFill>
                  <a:srgbClr val="2D3A4A"/>
                </a:solidFill>
              </a:defRPr>
            </a:pPr>
            <a:r>
              <a:t>Focus: Build self-efficacy. 'You want to quit. What makes you feel you can't?'</a:t>
            </a:r>
          </a:p>
          <a:p>
            <a:pPr>
              <a:spcAft>
                <a:spcPts val="400"/>
              </a:spcAft>
              <a:defRPr sz="1500">
                <a:solidFill>
                  <a:srgbClr val="2D3A4A"/>
                </a:solidFill>
              </a:defRPr>
            </a:pPr>
          </a:p>
          <a:p>
            <a:pPr>
              <a:spcAft>
                <a:spcPts val="400"/>
              </a:spcAft>
              <a:defRPr sz="1500">
                <a:solidFill>
                  <a:srgbClr val="2D3A4A"/>
                </a:solidFill>
              </a:defRPr>
            </a:pPr>
            <a:r>
              <a:t>SCENARIO 3: After feedback: 'These results are scary.'</a:t>
            </a:r>
          </a:p>
          <a:p>
            <a:pPr lvl="1">
              <a:spcAft>
                <a:spcPts val="400"/>
              </a:spcAft>
              <a:defRPr sz="1300">
                <a:solidFill>
                  <a:srgbClr val="2D3A4A"/>
                </a:solidFill>
              </a:defRPr>
            </a:pPr>
            <a:r>
              <a:t>Response: Reflect emotion. 'This is really hitting home for you.'</a:t>
            </a:r>
          </a:p>
          <a:p>
            <a:pPr lvl="1">
              <a:spcAft>
                <a:spcPts val="400"/>
              </a:spcAft>
              <a:defRPr sz="1300">
                <a:solidFill>
                  <a:srgbClr val="2D3A4A"/>
                </a:solidFill>
              </a:defRPr>
            </a:pPr>
            <a:r>
              <a:t>Principle: Express empathy. Feedback is creating discrepancy naturally.</a:t>
            </a:r>
          </a:p>
          <a:p>
            <a:pPr>
              <a:spcAft>
                <a:spcPts val="400"/>
              </a:spcAft>
              <a:defRPr sz="1500">
                <a:solidFill>
                  <a:srgbClr val="2D3A4A"/>
                </a:solidFill>
              </a:defRPr>
            </a:pPr>
          </a:p>
          <a:p>
            <a:pPr>
              <a:spcAft>
                <a:spcPts val="400"/>
              </a:spcAft>
              <a:defRPr sz="1500">
                <a:solidFill>
                  <a:srgbClr val="2D3A4A"/>
                </a:solidFill>
              </a:defRPr>
            </a:pPr>
            <a:r>
              <a:t>SCENARIO 4: 'I've tried quitting 5 times and always failed.'</a:t>
            </a:r>
          </a:p>
          <a:p>
            <a:pPr lvl="1">
              <a:spcAft>
                <a:spcPts val="400"/>
              </a:spcAft>
              <a:defRPr sz="1300">
                <a:solidFill>
                  <a:srgbClr val="2D3A4A"/>
                </a:solidFill>
              </a:defRPr>
            </a:pPr>
            <a:r>
              <a:t>Reframe: 'Five attempts shows real persistence — you haven't given up.'</a:t>
            </a:r>
          </a:p>
          <a:p>
            <a:pPr lvl="1">
              <a:spcAft>
                <a:spcPts val="400"/>
              </a:spcAft>
              <a:defRPr sz="1300">
                <a:solidFill>
                  <a:srgbClr val="2D3A4A"/>
                </a:solidFill>
              </a:defRPr>
            </a:pPr>
            <a:r>
              <a:t>Principle: Support self-efficacy. Reframe failure as learning.</a:t>
            </a:r>
          </a:p>
          <a:p>
            <a:pPr>
              <a:spcAft>
                <a:spcPts val="400"/>
              </a:spcAft>
              <a:defRPr sz="1500">
                <a:solidFill>
                  <a:srgbClr val="2D3A4A"/>
                </a:solidFill>
              </a:defRPr>
            </a:pPr>
          </a:p>
          <a:p>
            <a:pPr>
              <a:spcAft>
                <a:spcPts val="400"/>
              </a:spcAft>
              <a:defRPr sz="1500">
                <a:solidFill>
                  <a:srgbClr val="2D3A4A"/>
                </a:solidFill>
              </a:defRPr>
            </a:pPr>
            <a:r>
              <a:t>SCENARIO 5: Client says: 'I don't think I'm an alcoholic.'</a:t>
            </a:r>
          </a:p>
          <a:p>
            <a:pPr lvl="1">
              <a:spcAft>
                <a:spcPts val="400"/>
              </a:spcAft>
              <a:defRPr sz="1300">
                <a:solidFill>
                  <a:srgbClr val="2D3A4A"/>
                </a:solidFill>
              </a:defRPr>
            </a:pPr>
            <a:r>
              <a:t>Response: Shift focus. 'Labels aside — what concerns YOU about drinking?'</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For scenarios: Stage → Talk type → Principle → MI-consistent response. Never confront; always reflect.</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et al. (1995). MET Manual. | Miller &amp; Rollnick (2013). MI, 3rd ed.</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MCQs for Practice</a:t>
            </a:r>
          </a:p>
        </p:txBody>
      </p:sp>
      <p:graphicFrame>
        <p:nvGraphicFramePr>
          <p:cNvPr id="5" name="Table 4"/>
          <p:cNvGraphicFramePr>
            <a:graphicFrameLocks noGrp="1"/>
          </p:cNvGraphicFramePr>
          <p:nvPr/>
        </p:nvGraphicFramePr>
        <p:xfrm>
          <a:off x="457200" y="1371600"/>
          <a:ext cx="11247120" cy="4187952"/>
        </p:xfrm>
        <a:graphic>
          <a:graphicData uri="http://schemas.openxmlformats.org/drawingml/2006/table">
            <a:tbl>
              <a:tblPr firstRow="1" bandRow="1">
                <a:tableStyleId>{5C22544A-7EE6-4342-B048-85BDC9FD1C3A}</a:tableStyleId>
              </a:tblPr>
              <a:tblGrid>
                <a:gridCol w="457200"/>
                <a:gridCol w="5486400"/>
                <a:gridCol w="5303520"/>
              </a:tblGrid>
              <a:tr h="380722">
                <a:tc>
                  <a:txBody>
                    <a:bodyPr/>
                    <a:lstStyle/>
                    <a:p>
                      <a:pPr algn="ctr">
                        <a:defRPr sz="1200" b="1">
                          <a:solidFill>
                            <a:srgbClr val="FFFFFF"/>
                          </a:solidFill>
                        </a:defRPr>
                      </a:pPr>
                      <a:r>
                        <a:t>#</a:t>
                      </a:r>
                    </a:p>
                  </a:txBody>
                  <a:tcPr anchor="ctr">
                    <a:solidFill>
                      <a:srgbClr val="1B2A4A"/>
                    </a:solidFill>
                  </a:tcPr>
                </a:tc>
                <a:tc>
                  <a:txBody>
                    <a:bodyPr/>
                    <a:lstStyle/>
                    <a:p>
                      <a:pPr algn="ctr">
                        <a:defRPr sz="1200" b="1">
                          <a:solidFill>
                            <a:srgbClr val="FFFFFF"/>
                          </a:solidFill>
                        </a:defRPr>
                      </a:pPr>
                      <a:r>
                        <a:t>Question</a:t>
                      </a:r>
                    </a:p>
                  </a:txBody>
                  <a:tcPr anchor="ctr">
                    <a:solidFill>
                      <a:srgbClr val="1B2A4A"/>
                    </a:solidFill>
                  </a:tcPr>
                </a:tc>
                <a:tc>
                  <a:txBody>
                    <a:bodyPr/>
                    <a:lstStyle/>
                    <a:p>
                      <a:pPr algn="ctr">
                        <a:defRPr sz="1200" b="1">
                          <a:solidFill>
                            <a:srgbClr val="FFFFFF"/>
                          </a:solidFill>
                        </a:defRPr>
                      </a:pPr>
                      <a:r>
                        <a:t>Answer</a:t>
                      </a:r>
                    </a:p>
                  </a:txBody>
                  <a:tcPr anchor="ctr">
                    <a:solidFill>
                      <a:srgbClr val="1B2A4A"/>
                    </a:solidFill>
                  </a:tcPr>
                </a:tc>
              </a:tr>
              <a:tr h="380722">
                <a:tc>
                  <a:txBody>
                    <a:bodyPr/>
                    <a:lstStyle/>
                    <a:p>
                      <a:pPr>
                        <a:defRPr sz="1100">
                          <a:solidFill>
                            <a:srgbClr val="2D3A4A"/>
                          </a:solidFill>
                        </a:defRPr>
                      </a:pPr>
                      <a:r>
                        <a:t>1</a:t>
                      </a:r>
                    </a:p>
                  </a:txBody>
                  <a:tcPr anchor="ctr">
                    <a:solidFill>
                      <a:srgbClr val="EBF5FF"/>
                    </a:solidFill>
                  </a:tcPr>
                </a:tc>
                <a:tc>
                  <a:txBody>
                    <a:bodyPr/>
                    <a:lstStyle/>
                    <a:p>
                      <a:pPr>
                        <a:defRPr sz="1100">
                          <a:solidFill>
                            <a:srgbClr val="2D3A4A"/>
                          </a:solidFill>
                        </a:defRPr>
                      </a:pPr>
                      <a:r>
                        <a:t>DARN-CAT stands for:</a:t>
                      </a:r>
                    </a:p>
                  </a:txBody>
                  <a:tcPr anchor="ctr">
                    <a:solidFill>
                      <a:srgbClr val="EBF5FF"/>
                    </a:solidFill>
                  </a:tcPr>
                </a:tc>
                <a:tc>
                  <a:txBody>
                    <a:bodyPr/>
                    <a:lstStyle/>
                    <a:p>
                      <a:pPr>
                        <a:defRPr sz="1100">
                          <a:solidFill>
                            <a:srgbClr val="2D3A4A"/>
                          </a:solidFill>
                        </a:defRPr>
                      </a:pPr>
                      <a:r>
                        <a:t>Desire, Ability, Reasons, Need - Commitment, Activation, Taking Steps</a:t>
                      </a:r>
                    </a:p>
                  </a:txBody>
                  <a:tcPr anchor="ctr">
                    <a:solidFill>
                      <a:srgbClr val="EBF5FF"/>
                    </a:solidFill>
                  </a:tcPr>
                </a:tc>
              </a:tr>
              <a:tr h="380722">
                <a:tc>
                  <a:txBody>
                    <a:bodyPr/>
                    <a:lstStyle/>
                    <a:p>
                      <a:pPr>
                        <a:defRPr sz="1100">
                          <a:solidFill>
                            <a:srgbClr val="2D3A4A"/>
                          </a:solidFill>
                        </a:defRPr>
                      </a:pPr>
                      <a:r>
                        <a:t>2</a:t>
                      </a:r>
                    </a:p>
                  </a:txBody>
                  <a:tcPr anchor="ctr">
                    <a:solidFill>
                      <a:srgbClr val="FFFFFF"/>
                    </a:solidFill>
                  </a:tcPr>
                </a:tc>
                <a:tc>
                  <a:txBody>
                    <a:bodyPr/>
                    <a:lstStyle/>
                    <a:p>
                      <a:pPr>
                        <a:defRPr sz="1100">
                          <a:solidFill>
                            <a:srgbClr val="2D3A4A"/>
                          </a:solidFill>
                        </a:defRPr>
                      </a:pPr>
                      <a:r>
                        <a:t>The founder of MI is:</a:t>
                      </a:r>
                    </a:p>
                  </a:txBody>
                  <a:tcPr anchor="ctr">
                    <a:solidFill>
                      <a:srgbClr val="FFFFFF"/>
                    </a:solidFill>
                  </a:tcPr>
                </a:tc>
                <a:tc>
                  <a:txBody>
                    <a:bodyPr/>
                    <a:lstStyle/>
                    <a:p>
                      <a:pPr>
                        <a:defRPr sz="1100">
                          <a:solidFill>
                            <a:srgbClr val="2D3A4A"/>
                          </a:solidFill>
                        </a:defRPr>
                      </a:pPr>
                      <a:r>
                        <a:t>William R. Miller (1983)</a:t>
                      </a:r>
                    </a:p>
                  </a:txBody>
                  <a:tcPr anchor="ctr">
                    <a:solidFill>
                      <a:srgbClr val="FFFFFF"/>
                    </a:solidFill>
                  </a:tcPr>
                </a:tc>
              </a:tr>
              <a:tr h="380722">
                <a:tc>
                  <a:txBody>
                    <a:bodyPr/>
                    <a:lstStyle/>
                    <a:p>
                      <a:pPr>
                        <a:defRPr sz="1100">
                          <a:solidFill>
                            <a:srgbClr val="2D3A4A"/>
                          </a:solidFill>
                        </a:defRPr>
                      </a:pPr>
                      <a:r>
                        <a:t>3</a:t>
                      </a:r>
                    </a:p>
                  </a:txBody>
                  <a:tcPr anchor="ctr">
                    <a:solidFill>
                      <a:srgbClr val="EBF5FF"/>
                    </a:solidFill>
                  </a:tcPr>
                </a:tc>
                <a:tc>
                  <a:txBody>
                    <a:bodyPr/>
                    <a:lstStyle/>
                    <a:p>
                      <a:pPr>
                        <a:defRPr sz="1100">
                          <a:solidFill>
                            <a:srgbClr val="2D3A4A"/>
                          </a:solidFill>
                        </a:defRPr>
                      </a:pPr>
                      <a:r>
                        <a:t>Project MATCH compared MET with:</a:t>
                      </a:r>
                    </a:p>
                  </a:txBody>
                  <a:tcPr anchor="ctr">
                    <a:solidFill>
                      <a:srgbClr val="EBF5FF"/>
                    </a:solidFill>
                  </a:tcPr>
                </a:tc>
                <a:tc>
                  <a:txBody>
                    <a:bodyPr/>
                    <a:lstStyle/>
                    <a:p>
                      <a:pPr>
                        <a:defRPr sz="1100">
                          <a:solidFill>
                            <a:srgbClr val="2D3A4A"/>
                          </a:solidFill>
                        </a:defRPr>
                      </a:pPr>
                      <a:r>
                        <a:t>CBT and TSF (12-Step Facilitation)</a:t>
                      </a:r>
                    </a:p>
                  </a:txBody>
                  <a:tcPr anchor="ctr">
                    <a:solidFill>
                      <a:srgbClr val="EBF5FF"/>
                    </a:solidFill>
                  </a:tcPr>
                </a:tc>
              </a:tr>
              <a:tr h="380722">
                <a:tc>
                  <a:txBody>
                    <a:bodyPr/>
                    <a:lstStyle/>
                    <a:p>
                      <a:pPr>
                        <a:defRPr sz="1100">
                          <a:solidFill>
                            <a:srgbClr val="2D3A4A"/>
                          </a:solidFill>
                        </a:defRPr>
                      </a:pPr>
                      <a:r>
                        <a:t>4</a:t>
                      </a:r>
                    </a:p>
                  </a:txBody>
                  <a:tcPr anchor="ctr">
                    <a:solidFill>
                      <a:srgbClr val="FFFFFF"/>
                    </a:solidFill>
                  </a:tcPr>
                </a:tc>
                <a:tc>
                  <a:txBody>
                    <a:bodyPr/>
                    <a:lstStyle/>
                    <a:p>
                      <a:pPr>
                        <a:defRPr sz="1100">
                          <a:solidFill>
                            <a:srgbClr val="2D3A4A"/>
                          </a:solidFill>
                        </a:defRPr>
                      </a:pPr>
                      <a:r>
                        <a:t>Recommended reflection:question ratio:</a:t>
                      </a:r>
                    </a:p>
                  </a:txBody>
                  <a:tcPr anchor="ctr">
                    <a:solidFill>
                      <a:srgbClr val="FFFFFF"/>
                    </a:solidFill>
                  </a:tcPr>
                </a:tc>
                <a:tc>
                  <a:txBody>
                    <a:bodyPr/>
                    <a:lstStyle/>
                    <a:p>
                      <a:pPr>
                        <a:defRPr sz="1100">
                          <a:solidFill>
                            <a:srgbClr val="2D3A4A"/>
                          </a:solidFill>
                        </a:defRPr>
                      </a:pPr>
                      <a:r>
                        <a:t>2:1 (two reflections per question)</a:t>
                      </a:r>
                    </a:p>
                  </a:txBody>
                  <a:tcPr anchor="ctr">
                    <a:solidFill>
                      <a:srgbClr val="FFFFFF"/>
                    </a:solidFill>
                  </a:tcPr>
                </a:tc>
              </a:tr>
              <a:tr h="380722">
                <a:tc>
                  <a:txBody>
                    <a:bodyPr/>
                    <a:lstStyle/>
                    <a:p>
                      <a:pPr>
                        <a:defRPr sz="1100">
                          <a:solidFill>
                            <a:srgbClr val="2D3A4A"/>
                          </a:solidFill>
                        </a:defRPr>
                      </a:pPr>
                      <a:r>
                        <a:t>5</a:t>
                      </a:r>
                    </a:p>
                  </a:txBody>
                  <a:tcPr anchor="ctr">
                    <a:solidFill>
                      <a:srgbClr val="EBF5FF"/>
                    </a:solidFill>
                  </a:tcPr>
                </a:tc>
                <a:tc>
                  <a:txBody>
                    <a:bodyPr/>
                    <a:lstStyle/>
                    <a:p>
                      <a:pPr>
                        <a:defRPr sz="1100">
                          <a:solidFill>
                            <a:srgbClr val="2D3A4A"/>
                          </a:solidFill>
                        </a:defRPr>
                      </a:pPr>
                      <a:r>
                        <a:t>FRAMES stands for:</a:t>
                      </a:r>
                    </a:p>
                  </a:txBody>
                  <a:tcPr anchor="ctr">
                    <a:solidFill>
                      <a:srgbClr val="EBF5FF"/>
                    </a:solidFill>
                  </a:tcPr>
                </a:tc>
                <a:tc>
                  <a:txBody>
                    <a:bodyPr/>
                    <a:lstStyle/>
                    <a:p>
                      <a:pPr>
                        <a:defRPr sz="1100">
                          <a:solidFill>
                            <a:srgbClr val="2D3A4A"/>
                          </a:solidFill>
                        </a:defRPr>
                      </a:pPr>
                      <a:r>
                        <a:t>Feedback, Responsibility, Advice, Menu, Empathy, Self-efficacy</a:t>
                      </a:r>
                    </a:p>
                  </a:txBody>
                  <a:tcPr anchor="ctr">
                    <a:solidFill>
                      <a:srgbClr val="EBF5FF"/>
                    </a:solidFill>
                  </a:tcPr>
                </a:tc>
              </a:tr>
              <a:tr h="380722">
                <a:tc>
                  <a:txBody>
                    <a:bodyPr/>
                    <a:lstStyle/>
                    <a:p>
                      <a:pPr>
                        <a:defRPr sz="1100">
                          <a:solidFill>
                            <a:srgbClr val="2D3A4A"/>
                          </a:solidFill>
                        </a:defRPr>
                      </a:pPr>
                      <a:r>
                        <a:t>6</a:t>
                      </a:r>
                    </a:p>
                  </a:txBody>
                  <a:tcPr anchor="ctr">
                    <a:solidFill>
                      <a:srgbClr val="FFFFFF"/>
                    </a:solidFill>
                  </a:tcPr>
                </a:tc>
                <a:tc>
                  <a:txBody>
                    <a:bodyPr/>
                    <a:lstStyle/>
                    <a:p>
                      <a:pPr>
                        <a:defRPr sz="1100">
                          <a:solidFill>
                            <a:srgbClr val="2D3A4A"/>
                          </a:solidFill>
                        </a:defRPr>
                      </a:pPr>
                      <a:r>
                        <a:t>MET consists of how many sessions?</a:t>
                      </a:r>
                    </a:p>
                  </a:txBody>
                  <a:tcPr anchor="ctr">
                    <a:solidFill>
                      <a:srgbClr val="FFFFFF"/>
                    </a:solidFill>
                  </a:tcPr>
                </a:tc>
                <a:tc>
                  <a:txBody>
                    <a:bodyPr/>
                    <a:lstStyle/>
                    <a:p>
                      <a:pPr>
                        <a:defRPr sz="1100">
                          <a:solidFill>
                            <a:srgbClr val="2D3A4A"/>
                          </a:solidFill>
                        </a:defRPr>
                      </a:pPr>
                      <a:r>
                        <a:t>4 sessions over 12 weeks</a:t>
                      </a:r>
                    </a:p>
                  </a:txBody>
                  <a:tcPr anchor="ctr">
                    <a:solidFill>
                      <a:srgbClr val="FFFFFF"/>
                    </a:solidFill>
                  </a:tcPr>
                </a:tc>
              </a:tr>
              <a:tr h="380722">
                <a:tc>
                  <a:txBody>
                    <a:bodyPr/>
                    <a:lstStyle/>
                    <a:p>
                      <a:pPr>
                        <a:defRPr sz="1100">
                          <a:solidFill>
                            <a:srgbClr val="2D3A4A"/>
                          </a:solidFill>
                        </a:defRPr>
                      </a:pPr>
                      <a:r>
                        <a:t>7</a:t>
                      </a:r>
                    </a:p>
                  </a:txBody>
                  <a:tcPr anchor="ctr">
                    <a:solidFill>
                      <a:srgbClr val="EBF5FF"/>
                    </a:solidFill>
                  </a:tcPr>
                </a:tc>
                <a:tc>
                  <a:txBody>
                    <a:bodyPr/>
                    <a:lstStyle/>
                    <a:p>
                      <a:pPr>
                        <a:defRPr sz="1100">
                          <a:solidFill>
                            <a:srgbClr val="2D3A4A"/>
                          </a:solidFill>
                        </a:defRPr>
                      </a:pPr>
                      <a:r>
                        <a:t>The spirit of MI includes:</a:t>
                      </a:r>
                    </a:p>
                  </a:txBody>
                  <a:tcPr anchor="ctr">
                    <a:solidFill>
                      <a:srgbClr val="EBF5FF"/>
                    </a:solidFill>
                  </a:tcPr>
                </a:tc>
                <a:tc>
                  <a:txBody>
                    <a:bodyPr/>
                    <a:lstStyle/>
                    <a:p>
                      <a:pPr>
                        <a:defRPr sz="1100">
                          <a:solidFill>
                            <a:srgbClr val="2D3A4A"/>
                          </a:solidFill>
                        </a:defRPr>
                      </a:pPr>
                      <a:r>
                        <a:t>Partnership, Acceptance, Compassion, Evocation (PACE)</a:t>
                      </a:r>
                    </a:p>
                  </a:txBody>
                  <a:tcPr anchor="ctr">
                    <a:solidFill>
                      <a:srgbClr val="EBF5FF"/>
                    </a:solidFill>
                  </a:tcPr>
                </a:tc>
              </a:tr>
              <a:tr h="380722">
                <a:tc>
                  <a:txBody>
                    <a:bodyPr/>
                    <a:lstStyle/>
                    <a:p>
                      <a:pPr>
                        <a:defRPr sz="1100">
                          <a:solidFill>
                            <a:srgbClr val="2D3A4A"/>
                          </a:solidFill>
                        </a:defRPr>
                      </a:pPr>
                      <a:r>
                        <a:t>8</a:t>
                      </a:r>
                    </a:p>
                  </a:txBody>
                  <a:tcPr anchor="ctr">
                    <a:solidFill>
                      <a:srgbClr val="FFFFFF"/>
                    </a:solidFill>
                  </a:tcPr>
                </a:tc>
                <a:tc>
                  <a:txBody>
                    <a:bodyPr/>
                    <a:lstStyle/>
                    <a:p>
                      <a:pPr>
                        <a:defRPr sz="1100">
                          <a:solidFill>
                            <a:srgbClr val="2D3A4A"/>
                          </a:solidFill>
                        </a:defRPr>
                      </a:pPr>
                      <a:r>
                        <a:t>Which predicts behavior change?</a:t>
                      </a:r>
                    </a:p>
                  </a:txBody>
                  <a:tcPr anchor="ctr">
                    <a:solidFill>
                      <a:srgbClr val="FFFFFF"/>
                    </a:solidFill>
                  </a:tcPr>
                </a:tc>
                <a:tc>
                  <a:txBody>
                    <a:bodyPr/>
                    <a:lstStyle/>
                    <a:p>
                      <a:pPr>
                        <a:defRPr sz="1100">
                          <a:solidFill>
                            <a:srgbClr val="2D3A4A"/>
                          </a:solidFill>
                        </a:defRPr>
                      </a:pPr>
                      <a:r>
                        <a:t>Client commitment language (Amrhein, 2003)</a:t>
                      </a:r>
                    </a:p>
                  </a:txBody>
                  <a:tcPr anchor="ctr">
                    <a:solidFill>
                      <a:srgbClr val="FFFFFF"/>
                    </a:solidFill>
                  </a:tcPr>
                </a:tc>
              </a:tr>
              <a:tr h="380722">
                <a:tc>
                  <a:txBody>
                    <a:bodyPr/>
                    <a:lstStyle/>
                    <a:p>
                      <a:pPr>
                        <a:defRPr sz="1100">
                          <a:solidFill>
                            <a:srgbClr val="2D3A4A"/>
                          </a:solidFill>
                        </a:defRPr>
                      </a:pPr>
                      <a:r>
                        <a:t>9</a:t>
                      </a:r>
                    </a:p>
                  </a:txBody>
                  <a:tcPr anchor="ctr">
                    <a:solidFill>
                      <a:srgbClr val="EBF5FF"/>
                    </a:solidFill>
                  </a:tcPr>
                </a:tc>
                <a:tc>
                  <a:txBody>
                    <a:bodyPr/>
                    <a:lstStyle/>
                    <a:p>
                      <a:pPr>
                        <a:defRPr sz="1100">
                          <a:solidFill>
                            <a:srgbClr val="2D3A4A"/>
                          </a:solidFill>
                        </a:defRPr>
                      </a:pPr>
                      <a:r>
                        <a:t>NIMHANS uses which acronym for MI principles?</a:t>
                      </a:r>
                    </a:p>
                  </a:txBody>
                  <a:tcPr anchor="ctr">
                    <a:solidFill>
                      <a:srgbClr val="EBF5FF"/>
                    </a:solidFill>
                  </a:tcPr>
                </a:tc>
                <a:tc>
                  <a:txBody>
                    <a:bodyPr/>
                    <a:lstStyle/>
                    <a:p>
                      <a:pPr>
                        <a:defRPr sz="1100">
                          <a:solidFill>
                            <a:srgbClr val="2D3A4A"/>
                          </a:solidFill>
                        </a:defRPr>
                      </a:pPr>
                      <a:r>
                        <a:t>DARES (Develop discrepancy, Avoid argumentation, Roll with resistance, Express empathy, Support self-efficacy)</a:t>
                      </a:r>
                    </a:p>
                  </a:txBody>
                  <a:tcPr anchor="ctr">
                    <a:solidFill>
                      <a:srgbClr val="EBF5FF"/>
                    </a:solidFill>
                  </a:tcPr>
                </a:tc>
              </a:tr>
              <a:tr h="380732">
                <a:tc>
                  <a:txBody>
                    <a:bodyPr/>
                    <a:lstStyle/>
                    <a:p>
                      <a:pPr>
                        <a:defRPr sz="1100">
                          <a:solidFill>
                            <a:srgbClr val="2D3A4A"/>
                          </a:solidFill>
                        </a:defRPr>
                      </a:pPr>
                      <a:r>
                        <a:t>10</a:t>
                      </a:r>
                    </a:p>
                  </a:txBody>
                  <a:tcPr anchor="ctr">
                    <a:solidFill>
                      <a:srgbClr val="FFFFFF"/>
                    </a:solidFill>
                  </a:tcPr>
                </a:tc>
                <a:tc>
                  <a:txBody>
                    <a:bodyPr/>
                    <a:lstStyle/>
                    <a:p>
                      <a:pPr>
                        <a:defRPr sz="1100">
                          <a:solidFill>
                            <a:srgbClr val="2D3A4A"/>
                          </a:solidFill>
                        </a:defRPr>
                      </a:pPr>
                      <a:r>
                        <a:t>The 'righting reflex' refers to:</a:t>
                      </a:r>
                    </a:p>
                  </a:txBody>
                  <a:tcPr anchor="ctr">
                    <a:solidFill>
                      <a:srgbClr val="FFFFFF"/>
                    </a:solidFill>
                  </a:tcPr>
                </a:tc>
                <a:tc>
                  <a:txBody>
                    <a:bodyPr/>
                    <a:lstStyle/>
                    <a:p>
                      <a:pPr>
                        <a:defRPr sz="1100">
                          <a:solidFill>
                            <a:srgbClr val="2D3A4A"/>
                          </a:solidFill>
                        </a:defRPr>
                      </a:pPr>
                      <a:r>
                        <a:t>Therapist's urge to fix/advise/correct the client</a:t>
                      </a:r>
                    </a:p>
                  </a:txBody>
                  <a:tcPr anchor="ctr">
                    <a:solidFill>
                      <a:srgbClr val="FFFFFF"/>
                    </a:solidFill>
                  </a:tcPr>
                </a:tc>
              </a:tr>
            </a:tbl>
          </a:graphicData>
        </a:graphic>
      </p:graphicFrame>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Know: DARN-CAT, FRAMES, PACE, OARS, DARES + founders + key study findings + benchmarks.</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et al. (1995). MET Manual. | Miller &amp; Rollnick (2013). MI, 3rd ed. | NIMHANS Manual (2008).</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0" y="1371600"/>
            <a:ext cx="2103120" cy="2103120"/>
          </a:xfrm>
          <a:prstGeom prst="ellipse">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800" b="1">
                <a:solidFill>
                  <a:srgbClr val="FFFFFF"/>
                </a:solidFill>
              </a:defRPr>
            </a:pPr>
            <a:r>
              <a:t>29</a:t>
            </a:r>
          </a:p>
        </p:txBody>
      </p:sp>
      <p:sp>
        <p:nvSpPr>
          <p:cNvPr id="4" name="TextBox 3"/>
          <p:cNvSpPr txBox="1"/>
          <p:nvPr/>
        </p:nvSpPr>
        <p:spPr>
          <a:xfrm>
            <a:off x="914400" y="3840480"/>
            <a:ext cx="10332720" cy="1371600"/>
          </a:xfrm>
          <a:prstGeom prst="rect">
            <a:avLst/>
          </a:prstGeom>
          <a:noFill/>
        </p:spPr>
        <p:txBody>
          <a:bodyPr wrap="square">
            <a:spAutoFit/>
          </a:bodyPr>
          <a:lstStyle/>
          <a:p>
            <a:pPr algn="ctr">
              <a:defRPr sz="3600" b="1">
                <a:solidFill>
                  <a:srgbClr val="FFFFFF"/>
                </a:solidFill>
              </a:defRPr>
            </a:pPr>
            <a:r>
              <a:t>Summary &amp; Clinical Pearls</a:t>
            </a:r>
          </a:p>
        </p:txBody>
      </p:sp>
      <p:sp>
        <p:nvSpPr>
          <p:cNvPr id="5" name="Rectangle 4"/>
          <p:cNvSpPr/>
          <p:nvPr/>
        </p:nvSpPr>
        <p:spPr>
          <a:xfrm>
            <a:off x="3657600" y="5303520"/>
            <a:ext cx="4846320" cy="45720"/>
          </a:xfrm>
          <a:prstGeom prst="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MET at a Glance: Complete Summary</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a:solidFill>
                  <a:srgbClr val="2D3A4A"/>
                </a:solidFill>
              </a:defRPr>
            </a:pPr>
            <a:r>
              <a:t>IDENTITY: Brief, evidence-based, client-centered yet directive intervention</a:t>
            </a:r>
          </a:p>
          <a:p>
            <a:pPr>
              <a:spcAft>
                <a:spcPts val="400"/>
              </a:spcAft>
              <a:defRPr sz="1500">
                <a:solidFill>
                  <a:srgbClr val="2D3A4A"/>
                </a:solidFill>
              </a:defRPr>
            </a:pPr>
          </a:p>
          <a:p>
            <a:pPr>
              <a:spcAft>
                <a:spcPts val="400"/>
              </a:spcAft>
              <a:defRPr sz="1500">
                <a:solidFill>
                  <a:srgbClr val="2D3A4A"/>
                </a:solidFill>
              </a:defRPr>
            </a:pPr>
            <a:r>
              <a:t>THEORY: Rogers + Festinger + Bem + Bandura + Prochaska + Deci/Ryan</a:t>
            </a:r>
          </a:p>
          <a:p>
            <a:pPr>
              <a:spcAft>
                <a:spcPts val="400"/>
              </a:spcAft>
              <a:defRPr sz="1500">
                <a:solidFill>
                  <a:srgbClr val="2D3A4A"/>
                </a:solidFill>
              </a:defRPr>
            </a:pPr>
          </a:p>
          <a:p>
            <a:pPr>
              <a:spcAft>
                <a:spcPts val="400"/>
              </a:spcAft>
              <a:defRPr sz="1500">
                <a:solidFill>
                  <a:srgbClr val="2D3A4A"/>
                </a:solidFill>
              </a:defRPr>
            </a:pPr>
            <a:r>
              <a:t>SPIRIT: Partnership | Acceptance | Compassion | Evocation (PACE)</a:t>
            </a:r>
          </a:p>
          <a:p>
            <a:pPr>
              <a:spcAft>
                <a:spcPts val="400"/>
              </a:spcAft>
              <a:defRPr sz="1500">
                <a:solidFill>
                  <a:srgbClr val="2D3A4A"/>
                </a:solidFill>
              </a:defRPr>
            </a:pPr>
          </a:p>
          <a:p>
            <a:pPr>
              <a:spcAft>
                <a:spcPts val="400"/>
              </a:spcAft>
              <a:defRPr sz="1500">
                <a:solidFill>
                  <a:srgbClr val="2D3A4A"/>
                </a:solidFill>
              </a:defRPr>
            </a:pPr>
            <a:r>
              <a:t>PRINCIPLES: Express Empathy | Develop Discrepancy | Roll with Resistance | Self-Efficacy</a:t>
            </a:r>
          </a:p>
          <a:p>
            <a:pPr>
              <a:spcAft>
                <a:spcPts val="400"/>
              </a:spcAft>
              <a:defRPr sz="1500">
                <a:solidFill>
                  <a:srgbClr val="2D3A4A"/>
                </a:solidFill>
              </a:defRPr>
            </a:pPr>
          </a:p>
          <a:p>
            <a:pPr>
              <a:spcAft>
                <a:spcPts val="400"/>
              </a:spcAft>
              <a:defRPr sz="1500">
                <a:solidFill>
                  <a:srgbClr val="2D3A4A"/>
                </a:solidFill>
              </a:defRPr>
            </a:pPr>
            <a:r>
              <a:t>SKILLS: OARS (Open questions, Affirmations, Reflections, Summaries)</a:t>
            </a:r>
          </a:p>
          <a:p>
            <a:pPr>
              <a:spcAft>
                <a:spcPts val="400"/>
              </a:spcAft>
              <a:defRPr sz="1500">
                <a:solidFill>
                  <a:srgbClr val="2D3A4A"/>
                </a:solidFill>
              </a:defRPr>
            </a:pPr>
          </a:p>
          <a:p>
            <a:pPr>
              <a:spcAft>
                <a:spcPts val="400"/>
              </a:spcAft>
              <a:defRPr sz="1500">
                <a:solidFill>
                  <a:srgbClr val="2D3A4A"/>
                </a:solidFill>
              </a:defRPr>
            </a:pPr>
            <a:r>
              <a:t>COMPONENTS: FRAMES (Feedback, Responsibility, Advice, Menu, Empathy, Self-efficacy)</a:t>
            </a:r>
          </a:p>
          <a:p>
            <a:pPr>
              <a:spcAft>
                <a:spcPts val="400"/>
              </a:spcAft>
              <a:defRPr sz="1500">
                <a:solidFill>
                  <a:srgbClr val="2D3A4A"/>
                </a:solidFill>
              </a:defRPr>
            </a:pPr>
          </a:p>
          <a:p>
            <a:pPr>
              <a:spcAft>
                <a:spcPts val="400"/>
              </a:spcAft>
              <a:defRPr sz="1500">
                <a:solidFill>
                  <a:srgbClr val="2D3A4A"/>
                </a:solidFill>
              </a:defRPr>
            </a:pPr>
            <a:r>
              <a:t>TARGET: Change Talk (DARN-CAT) — evoke it, recognize it, reinforce it</a:t>
            </a:r>
          </a:p>
          <a:p>
            <a:pPr>
              <a:spcAft>
                <a:spcPts val="400"/>
              </a:spcAft>
              <a:defRPr sz="1500">
                <a:solidFill>
                  <a:srgbClr val="2D3A4A"/>
                </a:solidFill>
              </a:defRPr>
            </a:pPr>
          </a:p>
          <a:p>
            <a:pPr>
              <a:spcAft>
                <a:spcPts val="400"/>
              </a:spcAft>
              <a:defRPr sz="1500">
                <a:solidFill>
                  <a:srgbClr val="2D3A4A"/>
                </a:solidFill>
              </a:defRPr>
            </a:pPr>
            <a:r>
              <a:t>STRUCTURE: 4 sessions — Feedback → Commitment → Review → Consolidation</a:t>
            </a:r>
          </a:p>
          <a:p>
            <a:pPr>
              <a:spcAft>
                <a:spcPts val="400"/>
              </a:spcAft>
              <a:defRPr sz="1500">
                <a:solidFill>
                  <a:srgbClr val="2D3A4A"/>
                </a:solidFill>
              </a:defRPr>
            </a:pPr>
          </a:p>
          <a:p>
            <a:pPr>
              <a:spcAft>
                <a:spcPts val="400"/>
              </a:spcAft>
              <a:defRPr sz="1500">
                <a:solidFill>
                  <a:srgbClr val="2D3A4A"/>
                </a:solidFill>
              </a:defRPr>
            </a:pPr>
            <a:r>
              <a:t>EVIDENCE: 200+ RCTs; Project MATCH (4 sessions = 12 sessions of CBT/TSF)</a:t>
            </a:r>
          </a:p>
          <a:p>
            <a:pPr>
              <a:spcAft>
                <a:spcPts val="400"/>
              </a:spcAft>
              <a:defRPr sz="1500">
                <a:solidFill>
                  <a:srgbClr val="2D3A4A"/>
                </a:solidFill>
              </a:defRPr>
            </a:pPr>
          </a:p>
          <a:p>
            <a:pPr>
              <a:spcAft>
                <a:spcPts val="400"/>
              </a:spcAft>
              <a:defRPr sz="1500">
                <a:solidFill>
                  <a:srgbClr val="2D3A4A"/>
                </a:solidFill>
              </a:defRPr>
            </a:pPr>
            <a:r>
              <a:t>APPLICATION: Addiction, health behavior, chronic disease, all populations</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MET: Brief + Client-centered + Directive + Evidence-based + Universally applicable.</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et al. (1995). MET Manual. | Miller &amp; Rollnick (2013). MI, 3rd ed. | Project MATCH (1997). JOSA, 58, 7-29.</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Top 10 Clinical Pearls for Practice</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a:solidFill>
                  <a:srgbClr val="2D3A4A"/>
                </a:solidFill>
              </a:defRPr>
            </a:pPr>
            <a:r>
              <a:t>1. The SPIRIT matters more than techniques — be genuine, collaborative</a:t>
            </a:r>
          </a:p>
          <a:p>
            <a:pPr>
              <a:spcAft>
                <a:spcPts val="400"/>
              </a:spcAft>
              <a:defRPr sz="1500">
                <a:solidFill>
                  <a:srgbClr val="2D3A4A"/>
                </a:solidFill>
              </a:defRPr>
            </a:pPr>
          </a:p>
          <a:p>
            <a:pPr>
              <a:spcAft>
                <a:spcPts val="400"/>
              </a:spcAft>
              <a:defRPr sz="1500">
                <a:solidFill>
                  <a:srgbClr val="2D3A4A"/>
                </a:solidFill>
              </a:defRPr>
            </a:pPr>
            <a:r>
              <a:t>2. Resistance is YOUR signal — change approach, don't push harder</a:t>
            </a:r>
          </a:p>
          <a:p>
            <a:pPr>
              <a:spcAft>
                <a:spcPts val="400"/>
              </a:spcAft>
              <a:defRPr sz="1500">
                <a:solidFill>
                  <a:srgbClr val="2D3A4A"/>
                </a:solidFill>
              </a:defRPr>
            </a:pPr>
          </a:p>
          <a:p>
            <a:pPr>
              <a:spcAft>
                <a:spcPts val="400"/>
              </a:spcAft>
              <a:defRPr sz="1500">
                <a:solidFill>
                  <a:srgbClr val="2D3A4A"/>
                </a:solidFill>
              </a:defRPr>
            </a:pPr>
            <a:r>
              <a:t>3. The more clients TALK ABOUT change, the more they BELIEVE in it</a:t>
            </a:r>
          </a:p>
          <a:p>
            <a:pPr>
              <a:spcAft>
                <a:spcPts val="400"/>
              </a:spcAft>
              <a:defRPr sz="1500">
                <a:solidFill>
                  <a:srgbClr val="2D3A4A"/>
                </a:solidFill>
              </a:defRPr>
            </a:pPr>
          </a:p>
          <a:p>
            <a:pPr>
              <a:spcAft>
                <a:spcPts val="400"/>
              </a:spcAft>
              <a:defRPr sz="1500">
                <a:solidFill>
                  <a:srgbClr val="2D3A4A"/>
                </a:solidFill>
              </a:defRPr>
            </a:pPr>
            <a:r>
              <a:t>4. Ask 'Why X and not zero?' — this ALWAYS evokes change talk</a:t>
            </a:r>
          </a:p>
          <a:p>
            <a:pPr>
              <a:spcAft>
                <a:spcPts val="400"/>
              </a:spcAft>
              <a:defRPr sz="1500">
                <a:solidFill>
                  <a:srgbClr val="2D3A4A"/>
                </a:solidFill>
              </a:defRPr>
            </a:pPr>
          </a:p>
          <a:p>
            <a:pPr>
              <a:spcAft>
                <a:spcPts val="400"/>
              </a:spcAft>
              <a:defRPr sz="1500">
                <a:solidFill>
                  <a:srgbClr val="2D3A4A"/>
                </a:solidFill>
              </a:defRPr>
            </a:pPr>
            <a:r>
              <a:t>5. Use 'AND' not 'BUT' in double-sided reflections</a:t>
            </a:r>
          </a:p>
          <a:p>
            <a:pPr>
              <a:spcAft>
                <a:spcPts val="400"/>
              </a:spcAft>
              <a:defRPr sz="1500">
                <a:solidFill>
                  <a:srgbClr val="2D3A4A"/>
                </a:solidFill>
              </a:defRPr>
            </a:pPr>
          </a:p>
          <a:p>
            <a:pPr>
              <a:spcAft>
                <a:spcPts val="400"/>
              </a:spcAft>
              <a:defRPr sz="1500">
                <a:solidFill>
                  <a:srgbClr val="2D3A4A"/>
                </a:solidFill>
              </a:defRPr>
            </a:pPr>
            <a:r>
              <a:t>6. Start with benefits of drinking — validates; reduces defensiveness</a:t>
            </a:r>
          </a:p>
          <a:p>
            <a:pPr>
              <a:spcAft>
                <a:spcPts val="400"/>
              </a:spcAft>
              <a:defRPr sz="1500">
                <a:solidFill>
                  <a:srgbClr val="2D3A4A"/>
                </a:solidFill>
              </a:defRPr>
            </a:pPr>
          </a:p>
          <a:p>
            <a:pPr>
              <a:spcAft>
                <a:spcPts val="400"/>
              </a:spcAft>
              <a:defRPr sz="1500">
                <a:solidFill>
                  <a:srgbClr val="2D3A4A"/>
                </a:solidFill>
              </a:defRPr>
            </a:pPr>
            <a:r>
              <a:t>7. Never argue about labels — shift to 'What concerns YOU?'</a:t>
            </a:r>
          </a:p>
          <a:p>
            <a:pPr>
              <a:spcAft>
                <a:spcPts val="400"/>
              </a:spcAft>
              <a:defRPr sz="1500">
                <a:solidFill>
                  <a:srgbClr val="2D3A4A"/>
                </a:solidFill>
              </a:defRPr>
            </a:pPr>
          </a:p>
          <a:p>
            <a:pPr>
              <a:spcAft>
                <a:spcPts val="400"/>
              </a:spcAft>
              <a:defRPr sz="1500">
                <a:solidFill>
                  <a:srgbClr val="2D3A4A"/>
                </a:solidFill>
              </a:defRPr>
            </a:pPr>
            <a:r>
              <a:t>8. Reflections should outnumber questions 2:1 minimum</a:t>
            </a:r>
          </a:p>
          <a:p>
            <a:pPr>
              <a:spcAft>
                <a:spcPts val="400"/>
              </a:spcAft>
              <a:defRPr sz="1500">
                <a:solidFill>
                  <a:srgbClr val="2D3A4A"/>
                </a:solidFill>
              </a:defRPr>
            </a:pPr>
          </a:p>
          <a:p>
            <a:pPr>
              <a:spcAft>
                <a:spcPts val="400"/>
              </a:spcAft>
              <a:defRPr sz="1500">
                <a:solidFill>
                  <a:srgbClr val="2D3A4A"/>
                </a:solidFill>
              </a:defRPr>
            </a:pPr>
            <a:r>
              <a:t>9. Low importance → develop discrepancy | Low confidence → build efficacy</a:t>
            </a:r>
          </a:p>
          <a:p>
            <a:pPr>
              <a:spcAft>
                <a:spcPts val="400"/>
              </a:spcAft>
              <a:defRPr sz="1500">
                <a:solidFill>
                  <a:srgbClr val="2D3A4A"/>
                </a:solidFill>
              </a:defRPr>
            </a:pPr>
          </a:p>
          <a:p>
            <a:pPr>
              <a:spcAft>
                <a:spcPts val="400"/>
              </a:spcAft>
              <a:defRPr sz="1500">
                <a:solidFill>
                  <a:srgbClr val="2D3A4A"/>
                </a:solidFill>
              </a:defRPr>
            </a:pPr>
            <a:r>
              <a:t>10. If you're working harder than the client, something is wrong</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If you're working harder than the client, the dynamic has inverted — they should be arguing for their own change.</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et al. (1995). MET Manual. | Miller &amp; Rollnick (2013). MI, 3rd ed.</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MET Process Flowchart</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DECISION TREE FOR EVERY SESSION:</a:t>
            </a:r>
          </a:p>
          <a:p>
            <a:pPr>
              <a:spcAft>
                <a:spcPts val="400"/>
              </a:spcAft>
              <a:defRPr sz="1500">
                <a:solidFill>
                  <a:srgbClr val="2D3A4A"/>
                </a:solidFill>
              </a:defRPr>
            </a:pPr>
          </a:p>
          <a:p>
            <a:pPr lvl="1">
              <a:spcAft>
                <a:spcPts val="400"/>
              </a:spcAft>
              <a:defRPr sz="1300">
                <a:solidFill>
                  <a:srgbClr val="2D3A4A"/>
                </a:solidFill>
              </a:defRPr>
            </a:pPr>
            <a:r>
              <a:t>Is client showing CHANGE TALK?</a:t>
            </a:r>
          </a:p>
          <a:p>
            <a:pPr lvl="2">
              <a:spcAft>
                <a:spcPts val="400"/>
              </a:spcAft>
              <a:defRPr sz="1200">
                <a:solidFill>
                  <a:srgbClr val="2D3A4A"/>
                </a:solidFill>
              </a:defRPr>
            </a:pPr>
            <a:r>
              <a:t>→ YES → Reflect it, affirm it, ask for more. Move toward commitment.</a:t>
            </a:r>
          </a:p>
          <a:p>
            <a:pPr lvl="2">
              <a:spcAft>
                <a:spcPts val="400"/>
              </a:spcAft>
              <a:defRPr sz="1200">
                <a:solidFill>
                  <a:srgbClr val="2D3A4A"/>
                </a:solidFill>
              </a:defRPr>
            </a:pPr>
            <a:r>
              <a:t>→ NO  → Continue Phase 1: explore, evoke, develop discrepancy.</a:t>
            </a:r>
          </a:p>
          <a:p>
            <a:pPr>
              <a:spcAft>
                <a:spcPts val="400"/>
              </a:spcAft>
              <a:defRPr sz="1500">
                <a:solidFill>
                  <a:srgbClr val="2D3A4A"/>
                </a:solidFill>
              </a:defRPr>
            </a:pPr>
          </a:p>
          <a:p>
            <a:pPr lvl="1">
              <a:spcAft>
                <a:spcPts val="400"/>
              </a:spcAft>
              <a:defRPr sz="1300">
                <a:solidFill>
                  <a:srgbClr val="2D3A4A"/>
                </a:solidFill>
              </a:defRPr>
            </a:pPr>
            <a:r>
              <a:t>Is RESISTANCE/DISCORD high?</a:t>
            </a:r>
          </a:p>
          <a:p>
            <a:pPr lvl="2">
              <a:spcAft>
                <a:spcPts val="400"/>
              </a:spcAft>
              <a:defRPr sz="1200">
                <a:solidFill>
                  <a:srgbClr val="2D3A4A"/>
                </a:solidFill>
              </a:defRPr>
            </a:pPr>
            <a:r>
              <a:t>→ YES → Soften approach. Roll with it. Emphasize autonomy. Back off.</a:t>
            </a:r>
          </a:p>
          <a:p>
            <a:pPr lvl="2">
              <a:spcAft>
                <a:spcPts val="400"/>
              </a:spcAft>
              <a:defRPr sz="1200">
                <a:solidFill>
                  <a:srgbClr val="2D3A4A"/>
                </a:solidFill>
              </a:defRPr>
            </a:pPr>
            <a:r>
              <a:t>→ NO  → Continue current strategy. Deepen exploration.</a:t>
            </a:r>
          </a:p>
          <a:p>
            <a:pPr>
              <a:spcAft>
                <a:spcPts val="400"/>
              </a:spcAft>
              <a:defRPr sz="1500">
                <a:solidFill>
                  <a:srgbClr val="2D3A4A"/>
                </a:solidFill>
              </a:defRPr>
            </a:pPr>
          </a:p>
          <a:p>
            <a:pPr lvl="1">
              <a:spcAft>
                <a:spcPts val="400"/>
              </a:spcAft>
              <a:defRPr sz="1300">
                <a:solidFill>
                  <a:srgbClr val="2D3A4A"/>
                </a:solidFill>
              </a:defRPr>
            </a:pPr>
            <a:r>
              <a:t>Is client ready for PLANNING? (Signs: decreased resistance,</a:t>
            </a:r>
          </a:p>
          <a:p>
            <a:pPr lvl="1">
              <a:spcAft>
                <a:spcPts val="400"/>
              </a:spcAft>
              <a:defRPr sz="1300">
                <a:solidFill>
                  <a:srgbClr val="2D3A4A"/>
                </a:solidFill>
              </a:defRPr>
            </a:pPr>
            <a:r>
              <a:t>increased change talk, 'how' questions, imagining change)</a:t>
            </a:r>
          </a:p>
          <a:p>
            <a:pPr lvl="2">
              <a:spcAft>
                <a:spcPts val="400"/>
              </a:spcAft>
              <a:defRPr sz="1200">
                <a:solidFill>
                  <a:srgbClr val="2D3A4A"/>
                </a:solidFill>
              </a:defRPr>
            </a:pPr>
            <a:r>
              <a:t>→ YES → Transition to Phase 2. Change Plan Worksheet.</a:t>
            </a:r>
          </a:p>
          <a:p>
            <a:pPr lvl="2">
              <a:spcAft>
                <a:spcPts val="400"/>
              </a:spcAft>
              <a:defRPr sz="1200">
                <a:solidFill>
                  <a:srgbClr val="2D3A4A"/>
                </a:solidFill>
              </a:defRPr>
            </a:pPr>
            <a:r>
              <a:t>→ NO  → Stay in Phase 1. Don't push. Trust the process.</a:t>
            </a:r>
          </a:p>
          <a:p>
            <a:pPr>
              <a:spcAft>
                <a:spcPts val="400"/>
              </a:spcAft>
              <a:defRPr sz="1500">
                <a:solidFill>
                  <a:srgbClr val="2D3A4A"/>
                </a:solidFill>
              </a:defRPr>
            </a:pPr>
          </a:p>
          <a:p>
            <a:pPr>
              <a:spcAft>
                <a:spcPts val="400"/>
              </a:spcAft>
              <a:defRPr sz="1500">
                <a:solidFill>
                  <a:srgbClr val="2D3A4A"/>
                </a:solidFill>
              </a:defRPr>
            </a:pPr>
            <a:r>
              <a:t>REMEMBER: The client leads the dance. You follow their readiness.</a:t>
            </a:r>
          </a:p>
          <a:p>
            <a:pPr>
              <a:spcAft>
                <a:spcPts val="400"/>
              </a:spcAft>
              <a:defRPr sz="1500">
                <a:solidFill>
                  <a:srgbClr val="2D3A4A"/>
                </a:solidFill>
              </a:defRPr>
            </a:pPr>
            <a:r>
              <a:t>Premature planning → increased resistance (pushing too fast)</a:t>
            </a:r>
          </a:p>
          <a:p>
            <a:pPr>
              <a:spcAft>
                <a:spcPts val="400"/>
              </a:spcAft>
              <a:defRPr sz="1500">
                <a:solidFill>
                  <a:srgbClr val="2D3A4A"/>
                </a:solidFill>
              </a:defRPr>
            </a:pPr>
            <a:r>
              <a:t>Delayed planning → missed momentum (client ready but therapist still exploring)</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Three questions guide every session: Change talk? → Reinforce. Discord? → Soften. Ready? → Plan.</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et al. (1995). MET Manual. | Miller &amp; Rollnick (2013). MI, 3rd ed.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0" y="1371600"/>
            <a:ext cx="2103120" cy="2103120"/>
          </a:xfrm>
          <a:prstGeom prst="ellipse">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800" b="1">
                <a:solidFill>
                  <a:srgbClr val="FFFFFF"/>
                </a:solidFill>
              </a:defRPr>
            </a:pPr>
            <a:r>
              <a:t>30</a:t>
            </a:r>
          </a:p>
        </p:txBody>
      </p:sp>
      <p:sp>
        <p:nvSpPr>
          <p:cNvPr id="4" name="TextBox 3"/>
          <p:cNvSpPr txBox="1"/>
          <p:nvPr/>
        </p:nvSpPr>
        <p:spPr>
          <a:xfrm>
            <a:off x="914400" y="3840480"/>
            <a:ext cx="10332720" cy="1371600"/>
          </a:xfrm>
          <a:prstGeom prst="rect">
            <a:avLst/>
          </a:prstGeom>
          <a:noFill/>
        </p:spPr>
        <p:txBody>
          <a:bodyPr wrap="square">
            <a:spAutoFit/>
          </a:bodyPr>
          <a:lstStyle/>
          <a:p>
            <a:pPr algn="ctr">
              <a:defRPr sz="3600" b="1">
                <a:solidFill>
                  <a:srgbClr val="FFFFFF"/>
                </a:solidFill>
              </a:defRPr>
            </a:pPr>
            <a:r>
              <a:t>Complete Bibliography</a:t>
            </a:r>
          </a:p>
        </p:txBody>
      </p:sp>
      <p:sp>
        <p:nvSpPr>
          <p:cNvPr id="5" name="Rectangle 4"/>
          <p:cNvSpPr/>
          <p:nvPr/>
        </p:nvSpPr>
        <p:spPr>
          <a:xfrm>
            <a:off x="3657600" y="5303520"/>
            <a:ext cx="4846320" cy="45720"/>
          </a:xfrm>
          <a:prstGeom prst="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References: Primary Sources</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a:solidFill>
                  <a:srgbClr val="2D3A4A"/>
                </a:solidFill>
              </a:defRPr>
            </a:pPr>
            <a:r>
              <a:t>Miller, W.R., Zweben, A., DiClemente, C.C., &amp; Rychtarik, R.G. (1995). Motivational</a:t>
            </a:r>
          </a:p>
          <a:p>
            <a:pPr lvl="1">
              <a:spcAft>
                <a:spcPts val="400"/>
              </a:spcAft>
              <a:defRPr sz="1300">
                <a:solidFill>
                  <a:srgbClr val="2D3A4A"/>
                </a:solidFill>
              </a:defRPr>
            </a:pPr>
            <a:r>
              <a:t>Enhancement Therapy Manual. NIAAA, NIH Publication No. 94-3723.</a:t>
            </a:r>
          </a:p>
          <a:p>
            <a:pPr>
              <a:spcAft>
                <a:spcPts val="400"/>
              </a:spcAft>
              <a:defRPr sz="1500">
                <a:solidFill>
                  <a:srgbClr val="2D3A4A"/>
                </a:solidFill>
              </a:defRPr>
            </a:pPr>
            <a:r>
              <a:t>Murthy, P. (2008). Psychosocial Interventions for Persons with Substance Abuse.</a:t>
            </a:r>
          </a:p>
          <a:p>
            <a:pPr lvl="1">
              <a:spcAft>
                <a:spcPts val="400"/>
              </a:spcAft>
              <a:defRPr sz="1300">
                <a:solidFill>
                  <a:srgbClr val="2D3A4A"/>
                </a:solidFill>
              </a:defRPr>
            </a:pPr>
            <a:r>
              <a:t>NIMHANS Publication, Bangalore, India.</a:t>
            </a:r>
          </a:p>
          <a:p>
            <a:pPr>
              <a:spcAft>
                <a:spcPts val="400"/>
              </a:spcAft>
              <a:defRPr sz="1500">
                <a:solidFill>
                  <a:srgbClr val="2D3A4A"/>
                </a:solidFill>
              </a:defRPr>
            </a:pPr>
            <a:r>
              <a:t>Miller, W.R., &amp; Rollnick, S. (2013). Motivational interviewing: Helping people change</a:t>
            </a:r>
          </a:p>
          <a:p>
            <a:pPr lvl="1">
              <a:spcAft>
                <a:spcPts val="400"/>
              </a:spcAft>
              <a:defRPr sz="1300">
                <a:solidFill>
                  <a:srgbClr val="2D3A4A"/>
                </a:solidFill>
              </a:defRPr>
            </a:pPr>
            <a:r>
              <a:t>(3rd ed.). Guilford Press.</a:t>
            </a:r>
          </a:p>
          <a:p>
            <a:pPr>
              <a:spcAft>
                <a:spcPts val="400"/>
              </a:spcAft>
              <a:defRPr sz="1500">
                <a:solidFill>
                  <a:srgbClr val="2D3A4A"/>
                </a:solidFill>
              </a:defRPr>
            </a:pPr>
            <a:r>
              <a:t>Miller, W.R., &amp; Rollnick, S. (1991). Motivational interviewing: Preparing people to</a:t>
            </a:r>
          </a:p>
          <a:p>
            <a:pPr lvl="1">
              <a:spcAft>
                <a:spcPts val="400"/>
              </a:spcAft>
              <a:defRPr sz="1300">
                <a:solidFill>
                  <a:srgbClr val="2D3A4A"/>
                </a:solidFill>
              </a:defRPr>
            </a:pPr>
            <a:r>
              <a:t>change addictive behavior. Guilford Press.</a:t>
            </a:r>
          </a:p>
          <a:p>
            <a:pPr>
              <a:spcAft>
                <a:spcPts val="400"/>
              </a:spcAft>
              <a:defRPr sz="1500">
                <a:solidFill>
                  <a:srgbClr val="2D3A4A"/>
                </a:solidFill>
              </a:defRPr>
            </a:pPr>
            <a:r>
              <a:t>Project MATCH Research Group. (1997). Matching alcoholism treatments to client</a:t>
            </a:r>
          </a:p>
          <a:p>
            <a:pPr lvl="1">
              <a:spcAft>
                <a:spcPts val="400"/>
              </a:spcAft>
              <a:defRPr sz="1300">
                <a:solidFill>
                  <a:srgbClr val="2D3A4A"/>
                </a:solidFill>
              </a:defRPr>
            </a:pPr>
            <a:r>
              <a:t>heterogeneity. Journal of Studies on Alcohol, 58, 7-29.</a:t>
            </a:r>
          </a:p>
          <a:p>
            <a:pPr>
              <a:spcAft>
                <a:spcPts val="400"/>
              </a:spcAft>
              <a:defRPr sz="1500">
                <a:solidFill>
                  <a:srgbClr val="2D3A4A"/>
                </a:solidFill>
              </a:defRPr>
            </a:pPr>
            <a:r>
              <a:t>UKATT Research Team. (2005). Effectiveness of treatment for alcohol problems.</a:t>
            </a:r>
          </a:p>
          <a:p>
            <a:pPr lvl="1">
              <a:spcAft>
                <a:spcPts val="400"/>
              </a:spcAft>
              <a:defRPr sz="1300">
                <a:solidFill>
                  <a:srgbClr val="2D3A4A"/>
                </a:solidFill>
              </a:defRPr>
            </a:pPr>
            <a:r>
              <a:t>BMJ, 331, 541.</a:t>
            </a:r>
          </a:p>
          <a:p>
            <a:pPr>
              <a:spcAft>
                <a:spcPts val="400"/>
              </a:spcAft>
              <a:defRPr sz="1500">
                <a:solidFill>
                  <a:srgbClr val="2D3A4A"/>
                </a:solidFill>
              </a:defRPr>
            </a:pPr>
            <a:r>
              <a:t>Rollnick, S., Miller, W.R., &amp; Butler, C.C. (2008). Motivational interviewing in</a:t>
            </a:r>
          </a:p>
          <a:p>
            <a:pPr lvl="1">
              <a:spcAft>
                <a:spcPts val="400"/>
              </a:spcAft>
              <a:defRPr sz="1300">
                <a:solidFill>
                  <a:srgbClr val="2D3A4A"/>
                </a:solidFill>
              </a:defRPr>
            </a:pPr>
            <a:r>
              <a:t>health care. Guilford Press.</a:t>
            </a:r>
          </a:p>
          <a:p>
            <a:pPr>
              <a:spcAft>
                <a:spcPts val="400"/>
              </a:spcAft>
              <a:defRPr sz="1500">
                <a:solidFill>
                  <a:srgbClr val="2D3A4A"/>
                </a:solidFill>
              </a:defRPr>
            </a:pPr>
            <a:r>
              <a:t>SAMHSA. (2019). Enhancing Motivation for Change (TIP 35). HHS Publication.</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Essential reading: MET Manual (Miller et al., 1995) + MI 3rd Ed (Miller &amp; Rollnick, 2013) + NIMHANS Manual (Murthy, 2008).</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All references in APA 7th Edition format.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References: Research Studies &amp; Meta-Analyses</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a:solidFill>
                  <a:srgbClr val="2D3A4A"/>
                </a:solidFill>
              </a:defRPr>
            </a:pPr>
            <a:r>
              <a:t>Amrhein, P.C., et al. (2003). Client commitment language during MI. JCCP, 71, 862-878.</a:t>
            </a:r>
          </a:p>
          <a:p>
            <a:pPr>
              <a:spcAft>
                <a:spcPts val="400"/>
              </a:spcAft>
              <a:defRPr sz="1500">
                <a:solidFill>
                  <a:srgbClr val="2D3A4A"/>
                </a:solidFill>
              </a:defRPr>
            </a:pPr>
            <a:r>
              <a:t>Bandura, A. (1977). Self-efficacy. Psychological Review, 84, 191-215.</a:t>
            </a:r>
          </a:p>
          <a:p>
            <a:pPr>
              <a:spcAft>
                <a:spcPts val="400"/>
              </a:spcAft>
              <a:defRPr sz="1500">
                <a:solidFill>
                  <a:srgbClr val="2D3A4A"/>
                </a:solidFill>
              </a:defRPr>
            </a:pPr>
            <a:r>
              <a:t>Bem, D.J. (1972). Self-perception theory. In Advances in Exp Social Psych, Vol. 6.</a:t>
            </a:r>
          </a:p>
          <a:p>
            <a:pPr>
              <a:spcAft>
                <a:spcPts val="400"/>
              </a:spcAft>
              <a:defRPr sz="1500">
                <a:solidFill>
                  <a:srgbClr val="2D3A4A"/>
                </a:solidFill>
              </a:defRPr>
            </a:pPr>
            <a:r>
              <a:t>Bien, T.H., Miller, W.R., &amp; Tonigan, S. (1993). Brief interventions. Addiction, 88, 315.</a:t>
            </a:r>
          </a:p>
          <a:p>
            <a:pPr>
              <a:spcAft>
                <a:spcPts val="400"/>
              </a:spcAft>
              <a:defRPr sz="1500">
                <a:solidFill>
                  <a:srgbClr val="2D3A4A"/>
                </a:solidFill>
              </a:defRPr>
            </a:pPr>
            <a:r>
              <a:t>Burke, B.L., et al. (2003). MI meta-analysis. JCCP, 71, 843-861.</a:t>
            </a:r>
          </a:p>
          <a:p>
            <a:pPr>
              <a:spcAft>
                <a:spcPts val="400"/>
              </a:spcAft>
              <a:defRPr sz="1500">
                <a:solidFill>
                  <a:srgbClr val="2D3A4A"/>
                </a:solidFill>
              </a:defRPr>
            </a:pPr>
            <a:r>
              <a:t>Deci, E.L., &amp; Ryan, R.M. (1985). Intrinsic motivation and self-determination. Plenum.</a:t>
            </a:r>
          </a:p>
          <a:p>
            <a:pPr>
              <a:spcAft>
                <a:spcPts val="400"/>
              </a:spcAft>
              <a:defRPr sz="1500">
                <a:solidFill>
                  <a:srgbClr val="2D3A4A"/>
                </a:solidFill>
              </a:defRPr>
            </a:pPr>
            <a:r>
              <a:t>Festinger, L. (1957). A Theory of Cognitive Dissonance. Row, Peterson.</a:t>
            </a:r>
          </a:p>
          <a:p>
            <a:pPr>
              <a:spcAft>
                <a:spcPts val="400"/>
              </a:spcAft>
              <a:defRPr sz="1500">
                <a:solidFill>
                  <a:srgbClr val="2D3A4A"/>
                </a:solidFill>
              </a:defRPr>
            </a:pPr>
            <a:r>
              <a:t>Hettema, J., et al. (2005). MI review. Annual Rev Clinical Psych, 1, 91-111.</a:t>
            </a:r>
          </a:p>
          <a:p>
            <a:pPr>
              <a:spcAft>
                <a:spcPts val="400"/>
              </a:spcAft>
              <a:defRPr sz="1500">
                <a:solidFill>
                  <a:srgbClr val="2D3A4A"/>
                </a:solidFill>
              </a:defRPr>
            </a:pPr>
            <a:r>
              <a:t>Lundahl, B., et al. (2010). MI meta-analysis. Clinical Psych Rev, 30, 1-11.</a:t>
            </a:r>
          </a:p>
          <a:p>
            <a:pPr>
              <a:spcAft>
                <a:spcPts val="400"/>
              </a:spcAft>
              <a:defRPr sz="1500">
                <a:solidFill>
                  <a:srgbClr val="2D3A4A"/>
                </a:solidFill>
              </a:defRPr>
            </a:pPr>
            <a:r>
              <a:t>Miller, W.R. (1983). MI with problem drinkers. Behavioural Psychotherapy, 11, 147.</a:t>
            </a:r>
          </a:p>
          <a:p>
            <a:pPr>
              <a:spcAft>
                <a:spcPts val="400"/>
              </a:spcAft>
              <a:defRPr sz="1500">
                <a:solidFill>
                  <a:srgbClr val="2D3A4A"/>
                </a:solidFill>
              </a:defRPr>
            </a:pPr>
            <a:r>
              <a:t>Moyers, T.B., et al. (2007). Therapist influence on client language. JCCP, 75, 790.</a:t>
            </a:r>
          </a:p>
          <a:p>
            <a:pPr>
              <a:spcAft>
                <a:spcPts val="400"/>
              </a:spcAft>
              <a:defRPr sz="1500">
                <a:solidFill>
                  <a:srgbClr val="2D3A4A"/>
                </a:solidFill>
              </a:defRPr>
            </a:pPr>
            <a:r>
              <a:t>Patterson, G.A., &amp; Forgatch, M.S. (1985). Therapist behavior. JCCP, 53, 846-851.</a:t>
            </a:r>
          </a:p>
          <a:p>
            <a:pPr>
              <a:spcAft>
                <a:spcPts val="400"/>
              </a:spcAft>
              <a:defRPr sz="1500">
                <a:solidFill>
                  <a:srgbClr val="2D3A4A"/>
                </a:solidFill>
              </a:defRPr>
            </a:pPr>
            <a:r>
              <a:t>Prochaska, J.O., &amp; DiClemente, C.C. (1982). Transtheoretical therapy. Psychotherapy, 19, 276.</a:t>
            </a:r>
          </a:p>
          <a:p>
            <a:pPr>
              <a:spcAft>
                <a:spcPts val="400"/>
              </a:spcAft>
              <a:defRPr sz="1500">
                <a:solidFill>
                  <a:srgbClr val="2D3A4A"/>
                </a:solidFill>
              </a:defRPr>
            </a:pPr>
            <a:r>
              <a:t>Rogers, C.R. (1957). Necessary conditions for change. J Consulting Psych, 21, 95-103.</a:t>
            </a:r>
          </a:p>
          <a:p>
            <a:pPr>
              <a:spcAft>
                <a:spcPts val="400"/>
              </a:spcAft>
              <a:defRPr sz="1500">
                <a:solidFill>
                  <a:srgbClr val="2D3A4A"/>
                </a:solidFill>
              </a:defRPr>
            </a:pPr>
            <a:r>
              <a:t>Smedslund, G., et al. (2011). MI for substance abuse. Cochrane Database.</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Key citations to know: Project MATCH (1997), Miller (1993), Amrhein (2003), Moyers (2007), Smedslund (2011).</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All references in APA 7th Edition format.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OARS Practice Exercises for Training</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EXERCISE 1 — Convert Closed → Open:</a:t>
            </a:r>
          </a:p>
          <a:p>
            <a:pPr lvl="1">
              <a:spcAft>
                <a:spcPts val="400"/>
              </a:spcAft>
              <a:defRPr sz="1300">
                <a:solidFill>
                  <a:srgbClr val="2D3A4A"/>
                </a:solidFill>
              </a:defRPr>
            </a:pPr>
            <a:r>
              <a:t>'Do you drink daily?' → 'Tell me about a typical week'</a:t>
            </a:r>
          </a:p>
          <a:p>
            <a:pPr lvl="1">
              <a:spcAft>
                <a:spcPts val="400"/>
              </a:spcAft>
              <a:defRPr sz="1300">
                <a:solidFill>
                  <a:srgbClr val="2D3A4A"/>
                </a:solidFill>
              </a:defRPr>
            </a:pPr>
            <a:r>
              <a:t>'Have you tried quitting?' → 'What attempts have you made?'</a:t>
            </a:r>
          </a:p>
          <a:p>
            <a:pPr lvl="1">
              <a:spcAft>
                <a:spcPts val="400"/>
              </a:spcAft>
              <a:defRPr sz="1300">
                <a:solidFill>
                  <a:srgbClr val="2D3A4A"/>
                </a:solidFill>
              </a:defRPr>
            </a:pPr>
            <a:r>
              <a:t>'Is family affected?' → 'How has your family noticed?'</a:t>
            </a:r>
          </a:p>
          <a:p>
            <a:pPr>
              <a:spcAft>
                <a:spcPts val="400"/>
              </a:spcAft>
              <a:defRPr sz="1500">
                <a:solidFill>
                  <a:srgbClr val="2D3A4A"/>
                </a:solidFill>
              </a:defRPr>
            </a:pPr>
          </a:p>
          <a:p>
            <a:pPr>
              <a:spcAft>
                <a:spcPts val="400"/>
              </a:spcAft>
              <a:defRPr sz="1500" b="1">
                <a:solidFill>
                  <a:srgbClr val="2C5F8A"/>
                </a:solidFill>
              </a:defRPr>
            </a:pPr>
            <a:r>
              <a:t>EXERCISE 2 — Write Affirmations:</a:t>
            </a:r>
          </a:p>
          <a:p>
            <a:pPr lvl="1">
              <a:spcAft>
                <a:spcPts val="400"/>
              </a:spcAft>
              <a:defRPr sz="1300">
                <a:solidFill>
                  <a:srgbClr val="2D3A4A"/>
                </a:solidFill>
              </a:defRPr>
            </a:pPr>
            <a:r>
              <a:t>Client attended despite being busy → 'Making time for this shows it matters to you'</a:t>
            </a:r>
          </a:p>
          <a:p>
            <a:pPr lvl="1">
              <a:spcAft>
                <a:spcPts val="400"/>
              </a:spcAft>
              <a:defRPr sz="1300">
                <a:solidFill>
                  <a:srgbClr val="2D3A4A"/>
                </a:solidFill>
              </a:defRPr>
            </a:pPr>
            <a:r>
              <a:t>Client reduced from daily to 3/week → 'You cut by more than half — that's significant'</a:t>
            </a:r>
          </a:p>
          <a:p>
            <a:pPr lvl="1">
              <a:spcAft>
                <a:spcPts val="400"/>
              </a:spcAft>
              <a:defRPr sz="1300">
                <a:solidFill>
                  <a:srgbClr val="2D3A4A"/>
                </a:solidFill>
              </a:defRPr>
            </a:pPr>
            <a:r>
              <a:t>Client honestly shared relapse → 'Being honest about this took real courage'</a:t>
            </a:r>
          </a:p>
          <a:p>
            <a:pPr>
              <a:spcAft>
                <a:spcPts val="400"/>
              </a:spcAft>
              <a:defRPr sz="1500">
                <a:solidFill>
                  <a:srgbClr val="2D3A4A"/>
                </a:solidFill>
              </a:defRPr>
            </a:pPr>
          </a:p>
          <a:p>
            <a:pPr>
              <a:spcAft>
                <a:spcPts val="400"/>
              </a:spcAft>
              <a:defRPr sz="1500" b="1">
                <a:solidFill>
                  <a:srgbClr val="2C5F8A"/>
                </a:solidFill>
              </a:defRPr>
            </a:pPr>
            <a:r>
              <a:t>EXERCISE 3 — Deepen Reflections:</a:t>
            </a:r>
          </a:p>
          <a:p>
            <a:pPr lvl="1">
              <a:spcAft>
                <a:spcPts val="400"/>
              </a:spcAft>
              <a:defRPr sz="1300">
                <a:solidFill>
                  <a:srgbClr val="2D3A4A"/>
                </a:solidFill>
              </a:defRPr>
            </a:pPr>
            <a:r>
              <a:t>C: 'I just can't seem to stop once I start'</a:t>
            </a:r>
          </a:p>
          <a:p>
            <a:pPr lvl="1">
              <a:spcAft>
                <a:spcPts val="400"/>
              </a:spcAft>
              <a:defRPr sz="1300">
                <a:solidFill>
                  <a:srgbClr val="2D3A4A"/>
                </a:solidFill>
              </a:defRPr>
            </a:pPr>
            <a:r>
              <a:t>Simple: 'Once you start, it's hard to stop'</a:t>
            </a:r>
          </a:p>
          <a:p>
            <a:pPr lvl="1">
              <a:spcAft>
                <a:spcPts val="400"/>
              </a:spcAft>
              <a:defRPr sz="1300">
                <a:solidFill>
                  <a:srgbClr val="2D3A4A"/>
                </a:solidFill>
              </a:defRPr>
            </a:pPr>
            <a:r>
              <a:t>Complex: 'There's a sense of losing control that worries you'</a:t>
            </a:r>
          </a:p>
          <a:p>
            <a:pPr lvl="1">
              <a:spcAft>
                <a:spcPts val="400"/>
              </a:spcAft>
              <a:defRPr sz="1300">
                <a:solidFill>
                  <a:srgbClr val="2D3A4A"/>
                </a:solidFill>
              </a:defRPr>
            </a:pPr>
            <a:r>
              <a:t>Feeling: 'That scares you — like you've lost the ability to choose'</a:t>
            </a:r>
          </a:p>
          <a:p>
            <a:pPr>
              <a:spcAft>
                <a:spcPts val="400"/>
              </a:spcAft>
              <a:defRPr sz="1500">
                <a:solidFill>
                  <a:srgbClr val="2D3A4A"/>
                </a:solidFill>
              </a:defRPr>
            </a:pPr>
          </a:p>
          <a:p>
            <a:pPr>
              <a:spcAft>
                <a:spcPts val="400"/>
              </a:spcAft>
              <a:defRPr sz="1500">
                <a:solidFill>
                  <a:srgbClr val="2D3A4A"/>
                </a:solidFill>
              </a:defRPr>
            </a:pPr>
            <a:r>
              <a:t>EXERCISE 4 — Practice Summaries: Collect 3+ change talk statements from a partner</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OARS proficiency requires deliberate practice — convert, deepen, and summarize strategically.</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&amp; Rollnick (2013). MI, 3rd ed. | Miller et al. (1995). MET Manual.</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The Importance/Confidence Matrix: Clinical Decision Guide</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CLINICAL DECISION MATRIX:</a:t>
            </a:r>
          </a:p>
          <a:p>
            <a:pPr>
              <a:spcAft>
                <a:spcPts val="400"/>
              </a:spcAft>
              <a:defRPr sz="1500">
                <a:solidFill>
                  <a:srgbClr val="2D3A4A"/>
                </a:solidFill>
              </a:defRPr>
            </a:pPr>
          </a:p>
          <a:p>
            <a:pPr lvl="1">
              <a:spcAft>
                <a:spcPts val="400"/>
              </a:spcAft>
              <a:defRPr sz="1300">
                <a:solidFill>
                  <a:srgbClr val="2D3A4A"/>
                </a:solidFill>
              </a:defRPr>
            </a:pPr>
            <a:r>
              <a:t>HIGH Importance + HIGH Confidence → Ready for action!</a:t>
            </a:r>
          </a:p>
          <a:p>
            <a:pPr lvl="2">
              <a:spcAft>
                <a:spcPts val="400"/>
              </a:spcAft>
              <a:defRPr sz="1200">
                <a:solidFill>
                  <a:srgbClr val="2D3A4A"/>
                </a:solidFill>
              </a:defRPr>
            </a:pPr>
            <a:r>
              <a:t>Strategy: Consolidate commitment; Change Plan Worksheet</a:t>
            </a:r>
          </a:p>
          <a:p>
            <a:pPr>
              <a:spcAft>
                <a:spcPts val="400"/>
              </a:spcAft>
              <a:defRPr sz="1500">
                <a:solidFill>
                  <a:srgbClr val="2D3A4A"/>
                </a:solidFill>
              </a:defRPr>
            </a:pPr>
          </a:p>
          <a:p>
            <a:pPr lvl="1">
              <a:spcAft>
                <a:spcPts val="400"/>
              </a:spcAft>
              <a:defRPr sz="1300">
                <a:solidFill>
                  <a:srgbClr val="2D3A4A"/>
                </a:solidFill>
              </a:defRPr>
            </a:pPr>
            <a:r>
              <a:t>HIGH Importance + LOW Confidence → Motivated but stuck</a:t>
            </a:r>
          </a:p>
          <a:p>
            <a:pPr lvl="2">
              <a:spcAft>
                <a:spcPts val="400"/>
              </a:spcAft>
              <a:defRPr sz="1200">
                <a:solidFill>
                  <a:srgbClr val="2D3A4A"/>
                </a:solidFill>
              </a:defRPr>
            </a:pPr>
            <a:r>
              <a:t>Strategy: Build self-efficacy; past successes; small steps; menu of options</a:t>
            </a:r>
          </a:p>
          <a:p>
            <a:pPr lvl="2">
              <a:spcAft>
                <a:spcPts val="400"/>
              </a:spcAft>
              <a:defRPr sz="1200">
                <a:solidFill>
                  <a:srgbClr val="2D3A4A"/>
                </a:solidFill>
              </a:defRPr>
            </a:pPr>
            <a:r>
              <a:t>'You clearly WANT to — let's explore what might help you feel you CAN'</a:t>
            </a:r>
          </a:p>
          <a:p>
            <a:pPr>
              <a:spcAft>
                <a:spcPts val="400"/>
              </a:spcAft>
              <a:defRPr sz="1500">
                <a:solidFill>
                  <a:srgbClr val="2D3A4A"/>
                </a:solidFill>
              </a:defRPr>
            </a:pPr>
          </a:p>
          <a:p>
            <a:pPr lvl="1">
              <a:spcAft>
                <a:spcPts val="400"/>
              </a:spcAft>
              <a:defRPr sz="1300">
                <a:solidFill>
                  <a:srgbClr val="2D3A4A"/>
                </a:solidFill>
              </a:defRPr>
            </a:pPr>
            <a:r>
              <a:t>LOW Importance + HIGH Confidence → Could but doesn't want to</a:t>
            </a:r>
          </a:p>
          <a:p>
            <a:pPr lvl="2">
              <a:spcAft>
                <a:spcPts val="400"/>
              </a:spcAft>
              <a:defRPr sz="1200">
                <a:solidFill>
                  <a:srgbClr val="2D3A4A"/>
                </a:solidFill>
              </a:defRPr>
            </a:pPr>
            <a:r>
              <a:t>Strategy: Develop discrepancy; values clarification; feedback</a:t>
            </a:r>
          </a:p>
          <a:p>
            <a:pPr lvl="2">
              <a:spcAft>
                <a:spcPts val="400"/>
              </a:spcAft>
              <a:defRPr sz="1200">
                <a:solidFill>
                  <a:srgbClr val="2D3A4A"/>
                </a:solidFill>
              </a:defRPr>
            </a:pPr>
            <a:r>
              <a:t>'You feel capable — what would make it feel more important?'</a:t>
            </a:r>
          </a:p>
          <a:p>
            <a:pPr>
              <a:spcAft>
                <a:spcPts val="400"/>
              </a:spcAft>
              <a:defRPr sz="1500">
                <a:solidFill>
                  <a:srgbClr val="2D3A4A"/>
                </a:solidFill>
              </a:defRPr>
            </a:pPr>
          </a:p>
          <a:p>
            <a:pPr lvl="1">
              <a:spcAft>
                <a:spcPts val="400"/>
              </a:spcAft>
              <a:defRPr sz="1300">
                <a:solidFill>
                  <a:srgbClr val="2D3A4A"/>
                </a:solidFill>
              </a:defRPr>
            </a:pPr>
            <a:r>
              <a:t>LOW Importance + LOW Confidence → Not ready at all</a:t>
            </a:r>
          </a:p>
          <a:p>
            <a:pPr lvl="2">
              <a:spcAft>
                <a:spcPts val="400"/>
              </a:spcAft>
              <a:defRPr sz="1200">
                <a:solidFill>
                  <a:srgbClr val="2D3A4A"/>
                </a:solidFill>
              </a:defRPr>
            </a:pPr>
            <a:r>
              <a:t>Strategy: Start with importance (WHY); then build confidence (HOW)</a:t>
            </a:r>
          </a:p>
          <a:p>
            <a:pPr lvl="2">
              <a:spcAft>
                <a:spcPts val="400"/>
              </a:spcAft>
              <a:defRPr sz="1200">
                <a:solidFill>
                  <a:srgbClr val="2D3A4A"/>
                </a:solidFill>
              </a:defRPr>
            </a:pPr>
            <a:r>
              <a:t>Don't push — gentle exploration; respect autonomy</a:t>
            </a:r>
          </a:p>
          <a:p>
            <a:pPr>
              <a:spcAft>
                <a:spcPts val="400"/>
              </a:spcAft>
              <a:defRPr sz="1500">
                <a:solidFill>
                  <a:srgbClr val="2D3A4A"/>
                </a:solidFill>
              </a:defRPr>
            </a:pPr>
          </a:p>
          <a:p>
            <a:pPr>
              <a:spcAft>
                <a:spcPts val="400"/>
              </a:spcAft>
              <a:defRPr sz="1500">
                <a:solidFill>
                  <a:srgbClr val="2D3A4A"/>
                </a:solidFill>
              </a:defRPr>
            </a:pPr>
            <a:r>
              <a:t>This matrix guides EVERY clinical decision in MET.</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Assess importance and confidence separately → match strategy to the specific gap.</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Rollnick, Mason &amp; Butler (1999). Health Behavior Change. Churchill Livingstone. | Miller &amp; Rollnick (2013).</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The Personal Feedback Report (PFR) — Content &amp; Format</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PFR Components (Project MATCH protocol):</a:t>
            </a:r>
          </a:p>
          <a:p>
            <a:pPr lvl="1">
              <a:spcAft>
                <a:spcPts val="400"/>
              </a:spcAft>
              <a:defRPr sz="1300">
                <a:solidFill>
                  <a:srgbClr val="2D3A4A"/>
                </a:solidFill>
              </a:defRPr>
            </a:pPr>
            <a:r>
              <a:t>1. DRINKING PATTERNS:</a:t>
            </a:r>
          </a:p>
          <a:p>
            <a:pPr lvl="2">
              <a:spcAft>
                <a:spcPts val="400"/>
              </a:spcAft>
              <a:defRPr sz="1200">
                <a:solidFill>
                  <a:srgbClr val="2D3A4A"/>
                </a:solidFill>
              </a:defRPr>
            </a:pPr>
            <a:r>
              <a:t>Weekly consumption vs. population norms (percentile)</a:t>
            </a:r>
          </a:p>
          <a:p>
            <a:pPr lvl="2">
              <a:spcAft>
                <a:spcPts val="400"/>
              </a:spcAft>
              <a:defRPr sz="1200">
                <a:solidFill>
                  <a:srgbClr val="2D3A4A"/>
                </a:solidFill>
              </a:defRPr>
            </a:pPr>
            <a:r>
              <a:t>Peak BAC levels (estimated)</a:t>
            </a:r>
          </a:p>
          <a:p>
            <a:pPr lvl="2">
              <a:spcAft>
                <a:spcPts val="400"/>
              </a:spcAft>
              <a:defRPr sz="1200">
                <a:solidFill>
                  <a:srgbClr val="2D3A4A"/>
                </a:solidFill>
              </a:defRPr>
            </a:pPr>
            <a:r>
              <a:t>Number of heavy drinking days</a:t>
            </a:r>
          </a:p>
          <a:p>
            <a:pPr>
              <a:spcAft>
                <a:spcPts val="400"/>
              </a:spcAft>
              <a:defRPr sz="1500">
                <a:solidFill>
                  <a:srgbClr val="2D3A4A"/>
                </a:solidFill>
              </a:defRPr>
            </a:pPr>
          </a:p>
          <a:p>
            <a:pPr lvl="1">
              <a:spcAft>
                <a:spcPts val="400"/>
              </a:spcAft>
              <a:defRPr sz="1300">
                <a:solidFill>
                  <a:srgbClr val="2D3A4A"/>
                </a:solidFill>
              </a:defRPr>
            </a:pPr>
            <a:r>
              <a:t>2. CONSEQUENCES:</a:t>
            </a:r>
          </a:p>
          <a:p>
            <a:pPr lvl="2">
              <a:spcAft>
                <a:spcPts val="400"/>
              </a:spcAft>
              <a:defRPr sz="1200">
                <a:solidFill>
                  <a:srgbClr val="2D3A4A"/>
                </a:solidFill>
              </a:defRPr>
            </a:pPr>
            <a:r>
              <a:t>Alcohol-related negative consequences score</a:t>
            </a:r>
          </a:p>
          <a:p>
            <a:pPr lvl="2">
              <a:spcAft>
                <a:spcPts val="400"/>
              </a:spcAft>
              <a:defRPr sz="1200">
                <a:solidFill>
                  <a:srgbClr val="2D3A4A"/>
                </a:solidFill>
              </a:defRPr>
            </a:pPr>
            <a:r>
              <a:t>Comparison with clinical populations</a:t>
            </a:r>
          </a:p>
          <a:p>
            <a:pPr>
              <a:spcAft>
                <a:spcPts val="400"/>
              </a:spcAft>
              <a:defRPr sz="1500">
                <a:solidFill>
                  <a:srgbClr val="2D3A4A"/>
                </a:solidFill>
              </a:defRPr>
            </a:pPr>
          </a:p>
          <a:p>
            <a:pPr lvl="1">
              <a:spcAft>
                <a:spcPts val="400"/>
              </a:spcAft>
              <a:defRPr sz="1300">
                <a:solidFill>
                  <a:srgbClr val="2D3A4A"/>
                </a:solidFill>
              </a:defRPr>
            </a:pPr>
            <a:r>
              <a:t>3. RISK FACTORS:</a:t>
            </a:r>
          </a:p>
          <a:p>
            <a:pPr lvl="2">
              <a:spcAft>
                <a:spcPts val="400"/>
              </a:spcAft>
              <a:defRPr sz="1200">
                <a:solidFill>
                  <a:srgbClr val="2D3A4A"/>
                </a:solidFill>
              </a:defRPr>
            </a:pPr>
            <a:r>
              <a:t>Family history of alcohol problems</a:t>
            </a:r>
          </a:p>
          <a:p>
            <a:pPr lvl="2">
              <a:spcAft>
                <a:spcPts val="400"/>
              </a:spcAft>
              <a:defRPr sz="1200">
                <a:solidFill>
                  <a:srgbClr val="2D3A4A"/>
                </a:solidFill>
              </a:defRPr>
            </a:pPr>
            <a:r>
              <a:t>Tolerance indicators</a:t>
            </a:r>
          </a:p>
          <a:p>
            <a:pPr lvl="2">
              <a:spcAft>
                <a:spcPts val="400"/>
              </a:spcAft>
              <a:defRPr sz="1200">
                <a:solidFill>
                  <a:srgbClr val="2D3A4A"/>
                </a:solidFill>
              </a:defRPr>
            </a:pPr>
            <a:r>
              <a:t>Dependence symptoms</a:t>
            </a:r>
          </a:p>
          <a:p>
            <a:pPr>
              <a:spcAft>
                <a:spcPts val="400"/>
              </a:spcAft>
              <a:defRPr sz="1500">
                <a:solidFill>
                  <a:srgbClr val="2D3A4A"/>
                </a:solidFill>
              </a:defRPr>
            </a:pPr>
          </a:p>
          <a:p>
            <a:pPr lvl="1">
              <a:spcAft>
                <a:spcPts val="400"/>
              </a:spcAft>
              <a:defRPr sz="1300">
                <a:solidFill>
                  <a:srgbClr val="2D3A4A"/>
                </a:solidFill>
              </a:defRPr>
            </a:pPr>
            <a:r>
              <a:t>4. HEALTH INDICATORS:</a:t>
            </a:r>
          </a:p>
          <a:p>
            <a:pPr lvl="2">
              <a:spcAft>
                <a:spcPts val="400"/>
              </a:spcAft>
              <a:defRPr sz="1200">
                <a:solidFill>
                  <a:srgbClr val="2D3A4A"/>
                </a:solidFill>
              </a:defRPr>
            </a:pPr>
            <a:r>
              <a:t>Liver function tests (GGT, AST, ALT)</a:t>
            </a:r>
          </a:p>
          <a:p>
            <a:pPr lvl="2">
              <a:spcAft>
                <a:spcPts val="400"/>
              </a:spcAft>
              <a:defRPr sz="1200">
                <a:solidFill>
                  <a:srgbClr val="2D3A4A"/>
                </a:solidFill>
              </a:defRPr>
            </a:pPr>
            <a:r>
              <a:t>Other medical findings</a:t>
            </a:r>
          </a:p>
          <a:p>
            <a:pPr>
              <a:spcAft>
                <a:spcPts val="400"/>
              </a:spcAft>
              <a:defRPr sz="1500">
                <a:solidFill>
                  <a:srgbClr val="2D3A4A"/>
                </a:solidFill>
              </a:defRPr>
            </a:pPr>
          </a:p>
          <a:p>
            <a:pPr lvl="1">
              <a:spcAft>
                <a:spcPts val="400"/>
              </a:spcAft>
              <a:defRPr sz="1300">
                <a:solidFill>
                  <a:srgbClr val="2D3A4A"/>
                </a:solidFill>
              </a:defRPr>
            </a:pPr>
            <a:r>
              <a:t>5. NEUROPSYCHOLOGICAL RESULTS (if tested):</a:t>
            </a:r>
          </a:p>
          <a:p>
            <a:pPr lvl="2">
              <a:spcAft>
                <a:spcPts val="400"/>
              </a:spcAft>
              <a:defRPr sz="1200">
                <a:solidFill>
                  <a:srgbClr val="2D3A4A"/>
                </a:solidFill>
              </a:defRPr>
            </a:pPr>
            <a:r>
              <a:t>Memory, concentration, processing speed</a:t>
            </a:r>
          </a:p>
          <a:p>
            <a:pPr>
              <a:spcAft>
                <a:spcPts val="400"/>
              </a:spcAft>
              <a:defRPr sz="1500">
                <a:solidFill>
                  <a:srgbClr val="2D3A4A"/>
                </a:solidFill>
              </a:defRPr>
            </a:pPr>
          </a:p>
          <a:p>
            <a:pPr>
              <a:spcAft>
                <a:spcPts val="400"/>
              </a:spcAft>
              <a:defRPr sz="1500">
                <a:solidFill>
                  <a:srgbClr val="2D3A4A"/>
                </a:solidFill>
              </a:defRPr>
            </a:pPr>
            <a:r>
              <a:t>DELIVERY: Neutral tone. 'Here are your results. What do you make of them?'</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The PFR creates discrepancy through objective normative comparison — present neutrally, reflect reactions.</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et al. (1995). MET Manual, Appendix A (complete PFR protocol).</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Resistance Management Strategies: Detailed Guide</a:t>
            </a:r>
          </a:p>
        </p:txBody>
      </p:sp>
      <p:sp>
        <p:nvSpPr>
          <p:cNvPr id="5" name="Rounded Rectangle 4"/>
          <p:cNvSpPr/>
          <p:nvPr/>
        </p:nvSpPr>
        <p:spPr>
          <a:xfrm>
            <a:off x="457200" y="1280160"/>
            <a:ext cx="5303520" cy="457200"/>
          </a:xfrm>
          <a:prstGeom prst="roundRect">
            <a:avLst/>
          </a:prstGeom>
          <a:solidFill>
            <a:srgbClr val="2C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STRATEGY &amp; DEFINITION</a:t>
            </a:r>
          </a:p>
        </p:txBody>
      </p:sp>
      <p:sp>
        <p:nvSpPr>
          <p:cNvPr id="6" name="TextBox 5"/>
          <p:cNvSpPr txBox="1"/>
          <p:nvPr/>
        </p:nvSpPr>
        <p:spPr>
          <a:xfrm>
            <a:off x="548640" y="1828800"/>
            <a:ext cx="5120640" cy="3657600"/>
          </a:xfrm>
          <a:prstGeom prst="rect">
            <a:avLst/>
          </a:prstGeom>
          <a:noFill/>
        </p:spPr>
        <p:txBody>
          <a:bodyPr wrap="square">
            <a:spAutoFit/>
          </a:bodyPr>
          <a:lstStyle/>
          <a:p>
            <a:pPr>
              <a:spcAft>
                <a:spcPts val="400"/>
              </a:spcAft>
              <a:defRPr sz="1200">
                <a:solidFill>
                  <a:srgbClr val="2D3A4A"/>
                </a:solidFill>
              </a:defRPr>
            </a:pPr>
            <a:r>
              <a:t>• 1. Simple Reflection</a:t>
            </a:r>
          </a:p>
          <a:p>
            <a:pPr>
              <a:spcAft>
                <a:spcPts val="400"/>
              </a:spcAft>
              <a:defRPr sz="1200">
                <a:solidFill>
                  <a:srgbClr val="2D3A4A"/>
                </a:solidFill>
              </a:defRPr>
            </a:pPr>
            <a:r>
              <a:t>•    Acknowledge without elaboration</a:t>
            </a:r>
          </a:p>
          <a:p>
            <a:pPr>
              <a:spcAft>
                <a:spcPts val="400"/>
              </a:spcAft>
              <a:defRPr sz="1200">
                <a:solidFill>
                  <a:srgbClr val="2D3A4A"/>
                </a:solidFill>
              </a:defRPr>
            </a:pPr>
            <a:r>
              <a:t>• 2. Amplified Reflection</a:t>
            </a:r>
          </a:p>
          <a:p>
            <a:pPr>
              <a:spcAft>
                <a:spcPts val="400"/>
              </a:spcAft>
              <a:defRPr sz="1200">
                <a:solidFill>
                  <a:srgbClr val="2D3A4A"/>
                </a:solidFill>
              </a:defRPr>
            </a:pPr>
            <a:r>
              <a:t>•    Overstate slightly → client backs down</a:t>
            </a:r>
          </a:p>
          <a:p>
            <a:pPr>
              <a:spcAft>
                <a:spcPts val="400"/>
              </a:spcAft>
              <a:defRPr sz="1200">
                <a:solidFill>
                  <a:srgbClr val="2D3A4A"/>
                </a:solidFill>
              </a:defRPr>
            </a:pPr>
            <a:r>
              <a:t>• 3. Double-Sided Reflection</a:t>
            </a:r>
          </a:p>
          <a:p>
            <a:pPr>
              <a:spcAft>
                <a:spcPts val="400"/>
              </a:spcAft>
              <a:defRPr sz="1200">
                <a:solidFill>
                  <a:srgbClr val="2D3A4A"/>
                </a:solidFill>
              </a:defRPr>
            </a:pPr>
            <a:r>
              <a:t>•    Both sides: 'X AND Y'</a:t>
            </a:r>
          </a:p>
          <a:p>
            <a:pPr>
              <a:spcAft>
                <a:spcPts val="400"/>
              </a:spcAft>
              <a:defRPr sz="1200">
                <a:solidFill>
                  <a:srgbClr val="2D3A4A"/>
                </a:solidFill>
              </a:defRPr>
            </a:pPr>
            <a:r>
              <a:t>• 4. Shifting Focus</a:t>
            </a:r>
          </a:p>
          <a:p>
            <a:pPr>
              <a:spcAft>
                <a:spcPts val="400"/>
              </a:spcAft>
              <a:defRPr sz="1200">
                <a:solidFill>
                  <a:srgbClr val="2D3A4A"/>
                </a:solidFill>
              </a:defRPr>
            </a:pPr>
            <a:r>
              <a:t>•    Move away from stuck point</a:t>
            </a:r>
          </a:p>
          <a:p>
            <a:pPr>
              <a:spcAft>
                <a:spcPts val="400"/>
              </a:spcAft>
              <a:defRPr sz="1200">
                <a:solidFill>
                  <a:srgbClr val="2D3A4A"/>
                </a:solidFill>
              </a:defRPr>
            </a:pPr>
            <a:r>
              <a:t>• 5. Reframing</a:t>
            </a:r>
          </a:p>
          <a:p>
            <a:pPr>
              <a:spcAft>
                <a:spcPts val="400"/>
              </a:spcAft>
              <a:defRPr sz="1200">
                <a:solidFill>
                  <a:srgbClr val="2D3A4A"/>
                </a:solidFill>
              </a:defRPr>
            </a:pPr>
            <a:r>
              <a:t>•    New perspective on same info</a:t>
            </a:r>
          </a:p>
          <a:p>
            <a:pPr>
              <a:spcAft>
                <a:spcPts val="400"/>
              </a:spcAft>
              <a:defRPr sz="1200">
                <a:solidFill>
                  <a:srgbClr val="2D3A4A"/>
                </a:solidFill>
              </a:defRPr>
            </a:pPr>
            <a:r>
              <a:t>• 6. Agreeing with a Twist</a:t>
            </a:r>
          </a:p>
          <a:p>
            <a:pPr>
              <a:spcAft>
                <a:spcPts val="400"/>
              </a:spcAft>
              <a:defRPr sz="1200">
                <a:solidFill>
                  <a:srgbClr val="2D3A4A"/>
                </a:solidFill>
              </a:defRPr>
            </a:pPr>
            <a:r>
              <a:t>•    Agree but add new dimension</a:t>
            </a:r>
          </a:p>
          <a:p>
            <a:pPr>
              <a:spcAft>
                <a:spcPts val="400"/>
              </a:spcAft>
              <a:defRPr sz="1200">
                <a:solidFill>
                  <a:srgbClr val="2D3A4A"/>
                </a:solidFill>
              </a:defRPr>
            </a:pPr>
            <a:r>
              <a:t>• 7. Coming Alongside</a:t>
            </a:r>
          </a:p>
          <a:p>
            <a:pPr>
              <a:spcAft>
                <a:spcPts val="400"/>
              </a:spcAft>
              <a:defRPr sz="1200">
                <a:solidFill>
                  <a:srgbClr val="2D3A4A"/>
                </a:solidFill>
              </a:defRPr>
            </a:pPr>
            <a:r>
              <a:t>•    'Maybe you're not ready yet'</a:t>
            </a:r>
          </a:p>
        </p:txBody>
      </p:sp>
      <p:sp>
        <p:nvSpPr>
          <p:cNvPr id="7" name="Rounded Rectangle 6"/>
          <p:cNvSpPr/>
          <p:nvPr/>
        </p:nvSpPr>
        <p:spPr>
          <a:xfrm>
            <a:off x="6217920" y="1280160"/>
            <a:ext cx="5303520" cy="457200"/>
          </a:xfrm>
          <a:prstGeom prst="roundRect">
            <a:avLst/>
          </a:prstGeom>
          <a:solidFill>
            <a:srgbClr val="17A2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EXAMPLE</a:t>
            </a:r>
          </a:p>
        </p:txBody>
      </p:sp>
      <p:sp>
        <p:nvSpPr>
          <p:cNvPr id="8" name="TextBox 7"/>
          <p:cNvSpPr txBox="1"/>
          <p:nvPr/>
        </p:nvSpPr>
        <p:spPr>
          <a:xfrm>
            <a:off x="6309360" y="1828800"/>
            <a:ext cx="5120640" cy="3657600"/>
          </a:xfrm>
          <a:prstGeom prst="rect">
            <a:avLst/>
          </a:prstGeom>
          <a:noFill/>
        </p:spPr>
        <p:txBody>
          <a:bodyPr wrap="square">
            <a:spAutoFit/>
          </a:bodyPr>
          <a:lstStyle/>
          <a:p>
            <a:pPr>
              <a:spcAft>
                <a:spcPts val="400"/>
              </a:spcAft>
              <a:defRPr sz="1200">
                <a:solidFill>
                  <a:srgbClr val="2D3A4A"/>
                </a:solidFill>
              </a:defRPr>
            </a:pPr>
            <a:r>
              <a:t>• 1. 'You're not worried right now'</a:t>
            </a:r>
          </a:p>
          <a:p>
            <a:pPr>
              <a:spcAft>
                <a:spcPts val="400"/>
              </a:spcAft>
              <a:defRPr sz="1200">
                <a:solidFill>
                  <a:srgbClr val="2D3A4A"/>
                </a:solidFill>
              </a:defRPr>
            </a:pPr>
            <a:r>
              <a:t>• </a:t>
            </a:r>
          </a:p>
          <a:p>
            <a:pPr>
              <a:spcAft>
                <a:spcPts val="400"/>
              </a:spcAft>
              <a:defRPr sz="1200">
                <a:solidFill>
                  <a:srgbClr val="2D3A4A"/>
                </a:solidFill>
              </a:defRPr>
            </a:pPr>
            <a:r>
              <a:t>• 2. 'So absolutely no concerns at all'</a:t>
            </a:r>
          </a:p>
          <a:p>
            <a:pPr>
              <a:spcAft>
                <a:spcPts val="400"/>
              </a:spcAft>
              <a:defRPr sz="1200">
                <a:solidFill>
                  <a:srgbClr val="2D3A4A"/>
                </a:solidFill>
              </a:defRPr>
            </a:pPr>
            <a:r>
              <a:t>•    → 'Well, not NO concerns...'</a:t>
            </a:r>
          </a:p>
          <a:p>
            <a:pPr>
              <a:spcAft>
                <a:spcPts val="400"/>
              </a:spcAft>
              <a:defRPr sz="1200">
                <a:solidFill>
                  <a:srgbClr val="2D3A4A"/>
                </a:solidFill>
              </a:defRPr>
            </a:pPr>
            <a:r>
              <a:t>• 3. 'You enjoy it AND you worry'</a:t>
            </a:r>
          </a:p>
          <a:p>
            <a:pPr>
              <a:spcAft>
                <a:spcPts val="400"/>
              </a:spcAft>
              <a:defRPr sz="1200">
                <a:solidFill>
                  <a:srgbClr val="2D3A4A"/>
                </a:solidFill>
              </a:defRPr>
            </a:pPr>
            <a:r>
              <a:t>• </a:t>
            </a:r>
          </a:p>
          <a:p>
            <a:pPr>
              <a:spcAft>
                <a:spcPts val="400"/>
              </a:spcAft>
              <a:defRPr sz="1200">
                <a:solidFill>
                  <a:srgbClr val="2D3A4A"/>
                </a:solidFill>
              </a:defRPr>
            </a:pPr>
            <a:r>
              <a:t>• 4. 'Let's set labels aside. What concerns YOU?'</a:t>
            </a:r>
          </a:p>
          <a:p>
            <a:pPr>
              <a:spcAft>
                <a:spcPts val="400"/>
              </a:spcAft>
              <a:defRPr sz="1200">
                <a:solidFill>
                  <a:srgbClr val="2D3A4A"/>
                </a:solidFill>
              </a:defRPr>
            </a:pPr>
            <a:r>
              <a:t>• </a:t>
            </a:r>
          </a:p>
          <a:p>
            <a:pPr>
              <a:spcAft>
                <a:spcPts val="400"/>
              </a:spcAft>
              <a:defRPr sz="1200">
                <a:solidFill>
                  <a:srgbClr val="2D3A4A"/>
                </a:solidFill>
              </a:defRPr>
            </a:pPr>
            <a:r>
              <a:t>• 5. 'Your concern about labels shows thoughtfulness'</a:t>
            </a:r>
          </a:p>
          <a:p>
            <a:pPr>
              <a:spcAft>
                <a:spcPts val="400"/>
              </a:spcAft>
              <a:defRPr sz="1200">
                <a:solidFill>
                  <a:srgbClr val="2D3A4A"/>
                </a:solidFill>
              </a:defRPr>
            </a:pPr>
            <a:r>
              <a:t>• </a:t>
            </a:r>
          </a:p>
          <a:p>
            <a:pPr>
              <a:spcAft>
                <a:spcPts val="400"/>
              </a:spcAft>
              <a:defRPr sz="1200">
                <a:solidFill>
                  <a:srgbClr val="2D3A4A"/>
                </a:solidFill>
              </a:defRPr>
            </a:pPr>
            <a:r>
              <a:t>• 6. 'You're right — only YOU can decide'</a:t>
            </a:r>
          </a:p>
          <a:p>
            <a:pPr>
              <a:spcAft>
                <a:spcPts val="400"/>
              </a:spcAft>
              <a:defRPr sz="1200">
                <a:solidFill>
                  <a:srgbClr val="2D3A4A"/>
                </a:solidFill>
              </a:defRPr>
            </a:pPr>
            <a:r>
              <a:t>• </a:t>
            </a:r>
          </a:p>
          <a:p>
            <a:pPr>
              <a:spcAft>
                <a:spcPts val="400"/>
              </a:spcAft>
              <a:defRPr sz="1200">
                <a:solidFill>
                  <a:srgbClr val="2D3A4A"/>
                </a:solidFill>
              </a:defRPr>
            </a:pPr>
            <a:r>
              <a:t>• 7. 'Maybe this isn't the right time'</a:t>
            </a:r>
          </a:p>
          <a:p>
            <a:pPr>
              <a:spcAft>
                <a:spcPts val="400"/>
              </a:spcAft>
              <a:defRPr sz="1200">
                <a:solidFill>
                  <a:srgbClr val="2D3A4A"/>
                </a:solidFill>
              </a:defRPr>
            </a:pPr>
            <a:r>
              <a:t>•    → Often triggers client arguing FOR change</a:t>
            </a:r>
          </a:p>
        </p:txBody>
      </p:sp>
      <p:sp>
        <p:nvSpPr>
          <p:cNvPr id="9" name="Rounded Rectangle 8"/>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Seven tools for resistance: reflect, amplify, double-side, shift, reframe, agree-twist, come-alongside.</a:t>
            </a:r>
          </a:p>
        </p:txBody>
      </p:sp>
      <p:sp>
        <p:nvSpPr>
          <p:cNvPr id="10" name="Rectangle 9"/>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et al. (1995). MET Manual. | Miller &amp; Rollnick (2013). MI, 3rd ed.</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Involving Significant Others in MET</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MET optionally includes a spouse/partner/family member in Session 1:</a:t>
            </a:r>
          </a:p>
          <a:p>
            <a:pPr>
              <a:spcAft>
                <a:spcPts val="400"/>
              </a:spcAft>
              <a:defRPr sz="1500">
                <a:solidFill>
                  <a:srgbClr val="2D3A4A"/>
                </a:solidFill>
              </a:defRPr>
            </a:pPr>
          </a:p>
          <a:p>
            <a:pPr>
              <a:spcAft>
                <a:spcPts val="400"/>
              </a:spcAft>
              <a:defRPr sz="1500">
                <a:solidFill>
                  <a:srgbClr val="2D3A4A"/>
                </a:solidFill>
              </a:defRPr>
            </a:pPr>
            <a:r>
              <a:t>PURPOSE: Additional perspective; accountability; support system</a:t>
            </a:r>
          </a:p>
          <a:p>
            <a:pPr>
              <a:spcAft>
                <a:spcPts val="400"/>
              </a:spcAft>
              <a:defRPr sz="1500">
                <a:solidFill>
                  <a:srgbClr val="2D3A4A"/>
                </a:solidFill>
              </a:defRPr>
            </a:pPr>
          </a:p>
          <a:p>
            <a:pPr>
              <a:spcAft>
                <a:spcPts val="400"/>
              </a:spcAft>
              <a:defRPr sz="1500" b="1">
                <a:solidFill>
                  <a:srgbClr val="2C5F8A"/>
                </a:solidFill>
              </a:defRPr>
            </a:pPr>
            <a:r>
              <a:t>GUIDELINES:</a:t>
            </a:r>
          </a:p>
          <a:p>
            <a:pPr lvl="1">
              <a:spcAft>
                <a:spcPts val="400"/>
              </a:spcAft>
              <a:defRPr sz="1300">
                <a:solidFill>
                  <a:srgbClr val="2D3A4A"/>
                </a:solidFill>
              </a:defRPr>
            </a:pPr>
            <a:r>
              <a:t>• Invite SO to share observations (not accusations)</a:t>
            </a:r>
          </a:p>
          <a:p>
            <a:pPr lvl="1">
              <a:spcAft>
                <a:spcPts val="400"/>
              </a:spcAft>
              <a:defRPr sz="1300">
                <a:solidFill>
                  <a:srgbClr val="2D3A4A"/>
                </a:solidFill>
              </a:defRPr>
            </a:pPr>
            <a:r>
              <a:t>• Use reflective listening with the SO too</a:t>
            </a:r>
          </a:p>
          <a:p>
            <a:pPr lvl="1">
              <a:spcAft>
                <a:spcPts val="400"/>
              </a:spcAft>
              <a:defRPr sz="1300">
                <a:solidFill>
                  <a:srgbClr val="2D3A4A"/>
                </a:solidFill>
              </a:defRPr>
            </a:pPr>
            <a:r>
              <a:t>• REFRAME SO statements to highlight caring/concern</a:t>
            </a:r>
          </a:p>
          <a:p>
            <a:pPr>
              <a:spcAft>
                <a:spcPts val="400"/>
              </a:spcAft>
              <a:defRPr sz="1500">
                <a:solidFill>
                  <a:srgbClr val="2D3A4A"/>
                </a:solidFill>
              </a:defRPr>
            </a:pPr>
          </a:p>
          <a:p>
            <a:pPr>
              <a:spcAft>
                <a:spcPts val="400"/>
              </a:spcAft>
              <a:defRPr sz="1500" b="1">
                <a:solidFill>
                  <a:srgbClr val="2C5F8A"/>
                </a:solidFill>
              </a:defRPr>
            </a:pPr>
            <a:r>
              <a:t>Dialogue Examples from MET Manual:</a:t>
            </a:r>
          </a:p>
          <a:p>
            <a:pPr lvl="1">
              <a:spcAft>
                <a:spcPts val="400"/>
              </a:spcAft>
              <a:defRPr sz="1300">
                <a:solidFill>
                  <a:srgbClr val="2D3A4A"/>
                </a:solidFill>
              </a:defRPr>
            </a:pPr>
            <a:r>
              <a:t>Wife: 'I always thought he was drinking too much'</a:t>
            </a:r>
          </a:p>
          <a:p>
            <a:pPr lvl="1">
              <a:spcAft>
                <a:spcPts val="400"/>
              </a:spcAft>
              <a:defRPr sz="1300">
                <a:solidFill>
                  <a:srgbClr val="2D3A4A"/>
                </a:solidFill>
              </a:defRPr>
            </a:pPr>
            <a:r>
              <a:t>T: 'You've been worried about him for quite a while' [reflects caring]</a:t>
            </a:r>
          </a:p>
          <a:p>
            <a:pPr>
              <a:spcAft>
                <a:spcPts val="400"/>
              </a:spcAft>
              <a:defRPr sz="1500">
                <a:solidFill>
                  <a:srgbClr val="2D3A4A"/>
                </a:solidFill>
              </a:defRPr>
            </a:pPr>
          </a:p>
          <a:p>
            <a:pPr lvl="1">
              <a:spcAft>
                <a:spcPts val="400"/>
              </a:spcAft>
              <a:defRPr sz="1300">
                <a:solidFill>
                  <a:srgbClr val="2D3A4A"/>
                </a:solidFill>
              </a:defRPr>
            </a:pPr>
            <a:r>
              <a:t>Husband: (weeping) 'I've told you to quit drinking!'</a:t>
            </a:r>
          </a:p>
          <a:p>
            <a:pPr lvl="1">
              <a:spcAft>
                <a:spcPts val="400"/>
              </a:spcAft>
              <a:defRPr sz="1300">
                <a:solidFill>
                  <a:srgbClr val="2D3A4A"/>
                </a:solidFill>
              </a:defRPr>
            </a:pPr>
            <a:r>
              <a:t>T: 'You really care about her. It's hard to hear these results' [reframes]</a:t>
            </a:r>
          </a:p>
          <a:p>
            <a:pPr>
              <a:spcAft>
                <a:spcPts val="400"/>
              </a:spcAft>
              <a:defRPr sz="1500">
                <a:solidFill>
                  <a:srgbClr val="2D3A4A"/>
                </a:solidFill>
              </a:defRPr>
            </a:pPr>
          </a:p>
          <a:p>
            <a:pPr lvl="1">
              <a:spcAft>
                <a:spcPts val="400"/>
              </a:spcAft>
              <a:defRPr sz="1300">
                <a:solidFill>
                  <a:srgbClr val="2D3A4A"/>
                </a:solidFill>
              </a:defRPr>
            </a:pPr>
            <a:r>
              <a:t>Friend: 'I never thought he drank that much!'</a:t>
            </a:r>
          </a:p>
          <a:p>
            <a:pPr lvl="1">
              <a:spcAft>
                <a:spcPts val="400"/>
              </a:spcAft>
              <a:defRPr sz="1300">
                <a:solidFill>
                  <a:srgbClr val="2D3A4A"/>
                </a:solidFill>
              </a:defRPr>
            </a:pPr>
            <a:r>
              <a:t>T: 'This is surprising for you too. (To client:) Does this surprise you?'</a:t>
            </a:r>
          </a:p>
          <a:p>
            <a:pPr>
              <a:spcAft>
                <a:spcPts val="400"/>
              </a:spcAft>
              <a:defRPr sz="1500">
                <a:solidFill>
                  <a:srgbClr val="2D3A4A"/>
                </a:solidFill>
              </a:defRPr>
            </a:pPr>
          </a:p>
          <a:p>
            <a:pPr>
              <a:spcAft>
                <a:spcPts val="400"/>
              </a:spcAft>
              <a:defRPr sz="1500">
                <a:solidFill>
                  <a:srgbClr val="2D3A4A"/>
                </a:solidFill>
              </a:defRPr>
            </a:pPr>
            <a:r>
              <a:t>CAUTION: Maintain client as focus. Don't let SO become confrontational.</a:t>
            </a:r>
          </a:p>
          <a:p>
            <a:pPr>
              <a:spcAft>
                <a:spcPts val="400"/>
              </a:spcAft>
              <a:defRPr sz="1500">
                <a:solidFill>
                  <a:srgbClr val="2D3A4A"/>
                </a:solidFill>
              </a:defRPr>
            </a:pPr>
            <a:r>
              <a:t>After reflecting SO → ask client's reaction → reflect client's change talk</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Involve SOs supportively. Reframe their concerns as caring. Always maintain client as central focus.</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et al. (1995). MET Manual, pp. 35-42 (Significant Others section).</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MET for Mandated/Court-Ordered Clients</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CHALLENGES:</a:t>
            </a:r>
          </a:p>
          <a:p>
            <a:pPr lvl="1">
              <a:spcAft>
                <a:spcPts val="400"/>
              </a:spcAft>
              <a:defRPr sz="1300">
                <a:solidFill>
                  <a:srgbClr val="2D3A4A"/>
                </a:solidFill>
              </a:defRPr>
            </a:pPr>
            <a:r>
              <a:t>• Often precontemplators — not seeking help voluntarily</a:t>
            </a:r>
          </a:p>
          <a:p>
            <a:pPr lvl="1">
              <a:spcAft>
                <a:spcPts val="400"/>
              </a:spcAft>
              <a:defRPr sz="1300">
                <a:solidFill>
                  <a:srgbClr val="2D3A4A"/>
                </a:solidFill>
              </a:defRPr>
            </a:pPr>
            <a:r>
              <a:t>• May be angry, hostile, or resigned</a:t>
            </a:r>
          </a:p>
          <a:p>
            <a:pPr lvl="1">
              <a:spcAft>
                <a:spcPts val="400"/>
              </a:spcAft>
              <a:defRPr sz="1300">
                <a:solidFill>
                  <a:srgbClr val="2D3A4A"/>
                </a:solidFill>
              </a:defRPr>
            </a:pPr>
            <a:r>
              <a:t>• Perceived coercion undermines intrinsic motivation</a:t>
            </a:r>
          </a:p>
          <a:p>
            <a:pPr>
              <a:spcAft>
                <a:spcPts val="400"/>
              </a:spcAft>
              <a:defRPr sz="1500">
                <a:solidFill>
                  <a:srgbClr val="2D3A4A"/>
                </a:solidFill>
              </a:defRPr>
            </a:pPr>
          </a:p>
          <a:p>
            <a:pPr>
              <a:spcAft>
                <a:spcPts val="400"/>
              </a:spcAft>
              <a:defRPr sz="1500" b="1">
                <a:solidFill>
                  <a:srgbClr val="2C5F8A"/>
                </a:solidFill>
              </a:defRPr>
            </a:pPr>
            <a:r>
              <a:t>MET STRATEGIES — Five Steps:</a:t>
            </a:r>
          </a:p>
          <a:p>
            <a:pPr lvl="1">
              <a:spcAft>
                <a:spcPts val="400"/>
              </a:spcAft>
              <a:defRPr sz="1300">
                <a:solidFill>
                  <a:srgbClr val="2D3A4A"/>
                </a:solidFill>
              </a:defRPr>
            </a:pPr>
            <a:r>
              <a:t>1. Acknowledge honestly:</a:t>
            </a:r>
          </a:p>
          <a:p>
            <a:pPr lvl="2">
              <a:spcAft>
                <a:spcPts val="400"/>
              </a:spcAft>
              <a:defRPr sz="1200">
                <a:solidFill>
                  <a:srgbClr val="2D3A4A"/>
                </a:solidFill>
              </a:defRPr>
            </a:pPr>
            <a:r>
              <a:t>'You're here because the court required it. How do you feel about that?'</a:t>
            </a:r>
          </a:p>
          <a:p>
            <a:pPr>
              <a:spcAft>
                <a:spcPts val="400"/>
              </a:spcAft>
              <a:defRPr sz="1500">
                <a:solidFill>
                  <a:srgbClr val="2D3A4A"/>
                </a:solidFill>
              </a:defRPr>
            </a:pPr>
          </a:p>
          <a:p>
            <a:pPr lvl="1">
              <a:spcAft>
                <a:spcPts val="400"/>
              </a:spcAft>
              <a:defRPr sz="1300">
                <a:solidFill>
                  <a:srgbClr val="2D3A4A"/>
                </a:solidFill>
              </a:defRPr>
            </a:pPr>
            <a:r>
              <a:t>2. Separate mandate from person:</a:t>
            </a:r>
          </a:p>
          <a:p>
            <a:pPr lvl="2">
              <a:spcAft>
                <a:spcPts val="400"/>
              </a:spcAft>
              <a:defRPr sz="1200">
                <a:solidFill>
                  <a:srgbClr val="2D3A4A"/>
                </a:solidFill>
              </a:defRPr>
            </a:pPr>
            <a:r>
              <a:t>'You have to be here, but what you GET OUT OF IT is up to you'</a:t>
            </a:r>
          </a:p>
          <a:p>
            <a:pPr>
              <a:spcAft>
                <a:spcPts val="400"/>
              </a:spcAft>
              <a:defRPr sz="1500">
                <a:solidFill>
                  <a:srgbClr val="2D3A4A"/>
                </a:solidFill>
              </a:defRPr>
            </a:pPr>
          </a:p>
          <a:p>
            <a:pPr lvl="1">
              <a:spcAft>
                <a:spcPts val="400"/>
              </a:spcAft>
              <a:defRPr sz="1300">
                <a:solidFill>
                  <a:srgbClr val="2D3A4A"/>
                </a:solidFill>
              </a:defRPr>
            </a:pPr>
            <a:r>
              <a:t>3. Emphasize what IS within control:</a:t>
            </a:r>
          </a:p>
          <a:p>
            <a:pPr lvl="2">
              <a:spcAft>
                <a:spcPts val="400"/>
              </a:spcAft>
              <a:defRPr sz="1200">
                <a:solidFill>
                  <a:srgbClr val="2D3A4A"/>
                </a:solidFill>
              </a:defRPr>
            </a:pPr>
            <a:r>
              <a:t>'You can't control the court order, but you CAN choose what to do now'</a:t>
            </a:r>
          </a:p>
          <a:p>
            <a:pPr>
              <a:spcAft>
                <a:spcPts val="400"/>
              </a:spcAft>
              <a:defRPr sz="1500">
                <a:solidFill>
                  <a:srgbClr val="2D3A4A"/>
                </a:solidFill>
              </a:defRPr>
            </a:pPr>
          </a:p>
          <a:p>
            <a:pPr lvl="1">
              <a:spcAft>
                <a:spcPts val="400"/>
              </a:spcAft>
              <a:defRPr sz="1300">
                <a:solidFill>
                  <a:srgbClr val="2D3A4A"/>
                </a:solidFill>
              </a:defRPr>
            </a:pPr>
            <a:r>
              <a:t>4. Find ANY genuine motivation:</a:t>
            </a:r>
          </a:p>
          <a:p>
            <a:pPr lvl="2">
              <a:spcAft>
                <a:spcPts val="400"/>
              </a:spcAft>
              <a:defRPr sz="1200">
                <a:solidFill>
                  <a:srgbClr val="2D3A4A"/>
                </a:solidFill>
              </a:defRPr>
            </a:pPr>
            <a:r>
              <a:t>'Setting aside the court — is there anything about your drinking YOU'd change?'</a:t>
            </a:r>
          </a:p>
          <a:p>
            <a:pPr>
              <a:spcAft>
                <a:spcPts val="400"/>
              </a:spcAft>
              <a:defRPr sz="1500">
                <a:solidFill>
                  <a:srgbClr val="2D3A4A"/>
                </a:solidFill>
              </a:defRPr>
            </a:pPr>
          </a:p>
          <a:p>
            <a:pPr lvl="1">
              <a:spcAft>
                <a:spcPts val="400"/>
              </a:spcAft>
              <a:defRPr sz="1300">
                <a:solidFill>
                  <a:srgbClr val="2D3A4A"/>
                </a:solidFill>
              </a:defRPr>
            </a:pPr>
            <a:r>
              <a:t>5. Use gentle paradox (if appropriate):</a:t>
            </a:r>
          </a:p>
          <a:p>
            <a:pPr lvl="2">
              <a:spcAft>
                <a:spcPts val="400"/>
              </a:spcAft>
              <a:defRPr sz="1200">
                <a:solidFill>
                  <a:srgbClr val="2D3A4A"/>
                </a:solidFill>
              </a:defRPr>
            </a:pPr>
            <a:r>
              <a:t>'I'm not sure you're ready to think about this yet...'</a:t>
            </a:r>
          </a:p>
          <a:p>
            <a:pPr>
              <a:spcAft>
                <a:spcPts val="400"/>
              </a:spcAft>
              <a:defRPr sz="1500">
                <a:solidFill>
                  <a:srgbClr val="2D3A4A"/>
                </a:solidFill>
              </a:defRPr>
            </a:pPr>
          </a:p>
          <a:p>
            <a:pPr>
              <a:spcAft>
                <a:spcPts val="400"/>
              </a:spcAft>
              <a:defRPr sz="1500">
                <a:solidFill>
                  <a:srgbClr val="2D3A4A"/>
                </a:solidFill>
              </a:defRPr>
            </a:pPr>
            <a:r>
              <a:t>RESEARCH: MET is ESPECIALLY effective with reluctant/mandated clients</a:t>
            </a:r>
          </a:p>
          <a:p>
            <a:pPr lvl="1">
              <a:spcAft>
                <a:spcPts val="400"/>
              </a:spcAft>
              <a:defRPr sz="1300">
                <a:solidFill>
                  <a:srgbClr val="2D3A4A"/>
                </a:solidFill>
              </a:defRPr>
            </a:pPr>
            <a:r>
              <a:t>(because it reduces reactance by respecting autonomy)</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MET is especially effective with mandated clients — it reduces reactance by honoring autonomy.</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et al. (1995). MET Manual, Special Problems section. | Moyers &amp; Rollnick (2002). Substance Use &amp; Misuse, 37, 2089.</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DARES: The NIMHANS Motivational Interviewing Principles</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The NIMHANS Manual uses DARES as a mnemonic for MI principles:</a:t>
            </a:r>
          </a:p>
          <a:p>
            <a:pPr>
              <a:spcAft>
                <a:spcPts val="400"/>
              </a:spcAft>
              <a:defRPr sz="1500">
                <a:solidFill>
                  <a:srgbClr val="2D3A4A"/>
                </a:solidFill>
              </a:defRPr>
            </a:pPr>
          </a:p>
          <a:p>
            <a:pPr>
              <a:spcAft>
                <a:spcPts val="400"/>
              </a:spcAft>
              <a:defRPr sz="1500" b="1">
                <a:solidFill>
                  <a:srgbClr val="2C5F8A"/>
                </a:solidFill>
              </a:defRPr>
            </a:pPr>
            <a:r>
              <a:t>D — Develop Discrepancy:</a:t>
            </a:r>
          </a:p>
          <a:p>
            <a:pPr lvl="1">
              <a:spcAft>
                <a:spcPts val="400"/>
              </a:spcAft>
              <a:defRPr sz="1300">
                <a:solidFill>
                  <a:srgbClr val="2D3A4A"/>
                </a:solidFill>
              </a:defRPr>
            </a:pPr>
            <a:r>
              <a:t>Help client see gap between current behavior and valued goals</a:t>
            </a:r>
          </a:p>
          <a:p>
            <a:pPr>
              <a:spcAft>
                <a:spcPts val="400"/>
              </a:spcAft>
              <a:defRPr sz="1500">
                <a:solidFill>
                  <a:srgbClr val="2D3A4A"/>
                </a:solidFill>
              </a:defRPr>
            </a:pPr>
          </a:p>
          <a:p>
            <a:pPr>
              <a:spcAft>
                <a:spcPts val="400"/>
              </a:spcAft>
              <a:defRPr sz="1500" b="1">
                <a:solidFill>
                  <a:srgbClr val="2C5F8A"/>
                </a:solidFill>
              </a:defRPr>
            </a:pPr>
            <a:r>
              <a:t>A — Avoid Argumentation:</a:t>
            </a:r>
          </a:p>
          <a:p>
            <a:pPr lvl="1">
              <a:spcAft>
                <a:spcPts val="400"/>
              </a:spcAft>
              <a:defRPr sz="1300">
                <a:solidFill>
                  <a:srgbClr val="2D3A4A"/>
                </a:solidFill>
              </a:defRPr>
            </a:pPr>
            <a:r>
              <a:t>Never argue or confront; this ALWAYS increases resistance</a:t>
            </a:r>
          </a:p>
          <a:p>
            <a:pPr lvl="1">
              <a:spcAft>
                <a:spcPts val="400"/>
              </a:spcAft>
              <a:defRPr sz="1300">
                <a:solidFill>
                  <a:srgbClr val="2D3A4A"/>
                </a:solidFill>
              </a:defRPr>
            </a:pPr>
            <a:r>
              <a:t>Arguments about labels are especially counterproductive</a:t>
            </a:r>
          </a:p>
          <a:p>
            <a:pPr>
              <a:spcAft>
                <a:spcPts val="400"/>
              </a:spcAft>
              <a:defRPr sz="1500">
                <a:solidFill>
                  <a:srgbClr val="2D3A4A"/>
                </a:solidFill>
              </a:defRPr>
            </a:pPr>
          </a:p>
          <a:p>
            <a:pPr>
              <a:spcAft>
                <a:spcPts val="400"/>
              </a:spcAft>
              <a:defRPr sz="1500" b="1">
                <a:solidFill>
                  <a:srgbClr val="2C5F8A"/>
                </a:solidFill>
              </a:defRPr>
            </a:pPr>
            <a:r>
              <a:t>R — Roll with Resistance:</a:t>
            </a:r>
          </a:p>
          <a:p>
            <a:pPr lvl="1">
              <a:spcAft>
                <a:spcPts val="400"/>
              </a:spcAft>
              <a:defRPr sz="1300">
                <a:solidFill>
                  <a:srgbClr val="2D3A4A"/>
                </a:solidFill>
              </a:defRPr>
            </a:pPr>
            <a:r>
              <a:t>Use client's momentum; redirect rather than oppose</a:t>
            </a:r>
          </a:p>
          <a:p>
            <a:pPr lvl="1">
              <a:spcAft>
                <a:spcPts val="400"/>
              </a:spcAft>
              <a:defRPr sz="1300">
                <a:solidFill>
                  <a:srgbClr val="2D3A4A"/>
                </a:solidFill>
              </a:defRPr>
            </a:pPr>
            <a:r>
              <a:t>'You don't feel ready right now, and that's okay'</a:t>
            </a:r>
          </a:p>
          <a:p>
            <a:pPr>
              <a:spcAft>
                <a:spcPts val="400"/>
              </a:spcAft>
              <a:defRPr sz="1500">
                <a:solidFill>
                  <a:srgbClr val="2D3A4A"/>
                </a:solidFill>
              </a:defRPr>
            </a:pPr>
          </a:p>
          <a:p>
            <a:pPr>
              <a:spcAft>
                <a:spcPts val="400"/>
              </a:spcAft>
              <a:defRPr sz="1500" b="1">
                <a:solidFill>
                  <a:srgbClr val="2C5F8A"/>
                </a:solidFill>
              </a:defRPr>
            </a:pPr>
            <a:r>
              <a:t>E — Express Empathy:</a:t>
            </a:r>
          </a:p>
          <a:p>
            <a:pPr lvl="1">
              <a:spcAft>
                <a:spcPts val="400"/>
              </a:spcAft>
              <a:defRPr sz="1300">
                <a:solidFill>
                  <a:srgbClr val="2D3A4A"/>
                </a:solidFill>
              </a:defRPr>
            </a:pPr>
            <a:r>
              <a:t>Warm, reflective listening; genuine understanding</a:t>
            </a:r>
          </a:p>
          <a:p>
            <a:pPr lvl="1">
              <a:spcAft>
                <a:spcPts val="400"/>
              </a:spcAft>
              <a:defRPr sz="1300">
                <a:solidFill>
                  <a:srgbClr val="2D3A4A"/>
                </a:solidFill>
              </a:defRPr>
            </a:pPr>
            <a:r>
              <a:t>Acceptance of ambivalence as normal</a:t>
            </a:r>
          </a:p>
          <a:p>
            <a:pPr>
              <a:spcAft>
                <a:spcPts val="400"/>
              </a:spcAft>
              <a:defRPr sz="1500">
                <a:solidFill>
                  <a:srgbClr val="2D3A4A"/>
                </a:solidFill>
              </a:defRPr>
            </a:pPr>
          </a:p>
          <a:p>
            <a:pPr>
              <a:spcAft>
                <a:spcPts val="400"/>
              </a:spcAft>
              <a:defRPr sz="1500" b="1">
                <a:solidFill>
                  <a:srgbClr val="2C5F8A"/>
                </a:solidFill>
              </a:defRPr>
            </a:pPr>
            <a:r>
              <a:t>S — Support Self-Efficacy:</a:t>
            </a:r>
          </a:p>
          <a:p>
            <a:pPr lvl="1">
              <a:spcAft>
                <a:spcPts val="400"/>
              </a:spcAft>
              <a:defRPr sz="1300">
                <a:solidFill>
                  <a:srgbClr val="2D3A4A"/>
                </a:solidFill>
              </a:defRPr>
            </a:pPr>
            <a:r>
              <a:t>Boost confidence; highlight strengths and past successes</a:t>
            </a:r>
          </a:p>
          <a:p>
            <a:pPr lvl="1">
              <a:spcAft>
                <a:spcPts val="400"/>
              </a:spcAft>
              <a:defRPr sz="1300">
                <a:solidFill>
                  <a:srgbClr val="2D3A4A"/>
                </a:solidFill>
              </a:defRPr>
            </a:pPr>
            <a:r>
              <a:t>'You've shown you CAN make changes in your life'</a:t>
            </a:r>
          </a:p>
          <a:p>
            <a:pPr>
              <a:spcAft>
                <a:spcPts val="400"/>
              </a:spcAft>
              <a:defRPr sz="1500">
                <a:solidFill>
                  <a:srgbClr val="2D3A4A"/>
                </a:solidFill>
              </a:defRPr>
            </a:pPr>
          </a:p>
          <a:p>
            <a:pPr>
              <a:spcAft>
                <a:spcPts val="400"/>
              </a:spcAft>
              <a:defRPr sz="1500">
                <a:solidFill>
                  <a:srgbClr val="2D3A4A"/>
                </a:solidFill>
              </a:defRPr>
            </a:pPr>
            <a:r>
              <a:t>NIMHANS: 'Empathic communication and encouraging stance are common to FRAMES and DARES'</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DARES (Develop discrepancy, Avoid argumentation, Roll with resistance, Express empathy, Support self-efficacy).</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Murthy, P. (2008). NIMHANS Manual, p. 21. | Miller &amp; Rollnick (1991). MI. Guilford.</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Relapse Prevention Integration in MET Sessions 3-4</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MARLATT &amp; GORDON (1985) RELAPSE MODEL:</a:t>
            </a:r>
          </a:p>
          <a:p>
            <a:pPr lvl="1">
              <a:spcAft>
                <a:spcPts val="400"/>
              </a:spcAft>
              <a:defRPr sz="1300">
                <a:solidFill>
                  <a:srgbClr val="2D3A4A"/>
                </a:solidFill>
              </a:defRPr>
            </a:pPr>
            <a:r>
              <a:t>High-risk situation → No coping → Decreased efficacy → Lapse → Relapse</a:t>
            </a:r>
          </a:p>
          <a:p>
            <a:pPr lvl="1">
              <a:spcAft>
                <a:spcPts val="400"/>
              </a:spcAft>
              <a:defRPr sz="1300">
                <a:solidFill>
                  <a:srgbClr val="2D3A4A"/>
                </a:solidFill>
              </a:defRPr>
            </a:pPr>
            <a:r>
              <a:t>High-risk situation → Coping response → Increased efficacy → Maintained change</a:t>
            </a:r>
          </a:p>
          <a:p>
            <a:pPr>
              <a:spcAft>
                <a:spcPts val="400"/>
              </a:spcAft>
              <a:defRPr sz="1500">
                <a:solidFill>
                  <a:srgbClr val="2D3A4A"/>
                </a:solidFill>
              </a:defRPr>
            </a:pPr>
          </a:p>
          <a:p>
            <a:pPr>
              <a:spcAft>
                <a:spcPts val="400"/>
              </a:spcAft>
              <a:defRPr sz="1500" b="1">
                <a:solidFill>
                  <a:srgbClr val="2C5F8A"/>
                </a:solidFill>
              </a:defRPr>
            </a:pPr>
            <a:r>
              <a:t>MET-COMPATIBLE RELAPSE PREVENTION (Session 4):</a:t>
            </a:r>
          </a:p>
          <a:p>
            <a:pPr lvl="1">
              <a:spcAft>
                <a:spcPts val="400"/>
              </a:spcAft>
              <a:defRPr sz="1300">
                <a:solidFill>
                  <a:srgbClr val="2D3A4A"/>
                </a:solidFill>
              </a:defRPr>
            </a:pPr>
            <a:r>
              <a:t>1. Identify high-risk situations collaboratively</a:t>
            </a:r>
          </a:p>
          <a:p>
            <a:pPr lvl="2">
              <a:spcAft>
                <a:spcPts val="400"/>
              </a:spcAft>
              <a:defRPr sz="1200">
                <a:solidFill>
                  <a:srgbClr val="2D3A4A"/>
                </a:solidFill>
              </a:defRPr>
            </a:pPr>
            <a:r>
              <a:t>'What situations do you think might be challenging?'</a:t>
            </a:r>
          </a:p>
          <a:p>
            <a:pPr lvl="1">
              <a:spcAft>
                <a:spcPts val="400"/>
              </a:spcAft>
              <a:defRPr sz="1300">
                <a:solidFill>
                  <a:srgbClr val="2D3A4A"/>
                </a:solidFill>
              </a:defRPr>
            </a:pPr>
            <a:r>
              <a:t>2. Develop coping plans (using non-prescriptive style)</a:t>
            </a:r>
          </a:p>
          <a:p>
            <a:pPr lvl="2">
              <a:spcAft>
                <a:spcPts val="400"/>
              </a:spcAft>
              <a:defRPr sz="1200">
                <a:solidFill>
                  <a:srgbClr val="2D3A4A"/>
                </a:solidFill>
              </a:defRPr>
            </a:pPr>
            <a:r>
              <a:t>'How might you handle that situation?'</a:t>
            </a:r>
          </a:p>
          <a:p>
            <a:pPr lvl="1">
              <a:spcAft>
                <a:spcPts val="400"/>
              </a:spcAft>
              <a:defRPr sz="1300">
                <a:solidFill>
                  <a:srgbClr val="2D3A4A"/>
                </a:solidFill>
              </a:defRPr>
            </a:pPr>
            <a:r>
              <a:t>3. Build self-efficacy for coping</a:t>
            </a:r>
          </a:p>
          <a:p>
            <a:pPr lvl="2">
              <a:spcAft>
                <a:spcPts val="400"/>
              </a:spcAft>
              <a:defRPr sz="1200">
                <a:solidFill>
                  <a:srgbClr val="2D3A4A"/>
                </a:solidFill>
              </a:defRPr>
            </a:pPr>
            <a:r>
              <a:t>'What strengths do you have for managing this?'</a:t>
            </a:r>
          </a:p>
          <a:p>
            <a:pPr lvl="1">
              <a:spcAft>
                <a:spcPts val="400"/>
              </a:spcAft>
              <a:defRPr sz="1300">
                <a:solidFill>
                  <a:srgbClr val="2D3A4A"/>
                </a:solidFill>
              </a:defRPr>
            </a:pPr>
            <a:r>
              <a:t>4. Normalize lapses — not failures, but learning opportunities</a:t>
            </a:r>
          </a:p>
          <a:p>
            <a:pPr lvl="2">
              <a:spcAft>
                <a:spcPts val="400"/>
              </a:spcAft>
              <a:defRPr sz="1200">
                <a:solidFill>
                  <a:srgbClr val="2D3A4A"/>
                </a:solidFill>
              </a:defRPr>
            </a:pPr>
            <a:r>
              <a:t>'If you do slip, what would help you get back on track?'</a:t>
            </a:r>
          </a:p>
          <a:p>
            <a:pPr lvl="1">
              <a:spcAft>
                <a:spcPts val="400"/>
              </a:spcAft>
              <a:defRPr sz="1300">
                <a:solidFill>
                  <a:srgbClr val="2D3A4A"/>
                </a:solidFill>
              </a:defRPr>
            </a:pPr>
            <a:r>
              <a:t>5. Emergency planning</a:t>
            </a:r>
          </a:p>
          <a:p>
            <a:pPr lvl="2">
              <a:spcAft>
                <a:spcPts val="400"/>
              </a:spcAft>
              <a:defRPr sz="1200">
                <a:solidFill>
                  <a:srgbClr val="2D3A4A"/>
                </a:solidFill>
              </a:defRPr>
            </a:pPr>
            <a:r>
              <a:t>'Who could you call? Where could you go?'</a:t>
            </a:r>
          </a:p>
          <a:p>
            <a:pPr>
              <a:spcAft>
                <a:spcPts val="400"/>
              </a:spcAft>
              <a:defRPr sz="1500">
                <a:solidFill>
                  <a:srgbClr val="2D3A4A"/>
                </a:solidFill>
              </a:defRPr>
            </a:pPr>
          </a:p>
          <a:p>
            <a:pPr>
              <a:spcAft>
                <a:spcPts val="400"/>
              </a:spcAft>
              <a:defRPr sz="1500">
                <a:solidFill>
                  <a:srgbClr val="2D3A4A"/>
                </a:solidFill>
              </a:defRPr>
            </a:pPr>
            <a:r>
              <a:t>KEY: Maintain MET SPIRIT even during RP planning — collaborative, not prescriptive</a:t>
            </a:r>
          </a:p>
          <a:p>
            <a:pPr lvl="1">
              <a:spcAft>
                <a:spcPts val="400"/>
              </a:spcAft>
              <a:defRPr sz="1300">
                <a:solidFill>
                  <a:srgbClr val="2D3A4A"/>
                </a:solidFill>
              </a:defRPr>
            </a:pPr>
            <a:r>
              <a:t>NOT: 'You MUST avoid bars'</a:t>
            </a:r>
          </a:p>
          <a:p>
            <a:pPr lvl="1">
              <a:spcAft>
                <a:spcPts val="400"/>
              </a:spcAft>
              <a:defRPr sz="1300">
                <a:solidFill>
                  <a:srgbClr val="2D3A4A"/>
                </a:solidFill>
              </a:defRPr>
            </a:pPr>
            <a:r>
              <a:t>BUT: 'What situations do you think might be risky for you?'</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Relapse prevention in MET uses collaborative exploration, not prescriptive directives — maintaining the spirit.</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Marlatt &amp; Gordon (1985). Relapse Prevention. Guilford. | Witkiewitz &amp; Marlatt (2004). Clin Psych Rev, 24, 1-28.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Session 2: Values Clarification Exercise — Detailed Protocol</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VALUES CLARIFICATION — Step-by-Step Protocol:</a:t>
            </a:r>
          </a:p>
          <a:p>
            <a:pPr>
              <a:spcAft>
                <a:spcPts val="400"/>
              </a:spcAft>
              <a:defRPr sz="1500">
                <a:solidFill>
                  <a:srgbClr val="2D3A4A"/>
                </a:solidFill>
              </a:defRPr>
            </a:pPr>
          </a:p>
          <a:p>
            <a:pPr>
              <a:spcAft>
                <a:spcPts val="400"/>
              </a:spcAft>
              <a:defRPr sz="1500">
                <a:solidFill>
                  <a:srgbClr val="2D3A4A"/>
                </a:solidFill>
              </a:defRPr>
            </a:pPr>
            <a:r>
              <a:t>Step 1: 'What are the most important things in your life?'</a:t>
            </a:r>
          </a:p>
          <a:p>
            <a:pPr lvl="1">
              <a:spcAft>
                <a:spcPts val="400"/>
              </a:spcAft>
              <a:defRPr sz="1300">
                <a:solidFill>
                  <a:srgbClr val="2D3A4A"/>
                </a:solidFill>
              </a:defRPr>
            </a:pPr>
            <a:r>
              <a:t>(Let client generate freely; don't suggest)</a:t>
            </a:r>
          </a:p>
          <a:p>
            <a:pPr>
              <a:spcAft>
                <a:spcPts val="400"/>
              </a:spcAft>
              <a:defRPr sz="1500">
                <a:solidFill>
                  <a:srgbClr val="2D3A4A"/>
                </a:solidFill>
              </a:defRPr>
            </a:pPr>
          </a:p>
          <a:p>
            <a:pPr>
              <a:spcAft>
                <a:spcPts val="400"/>
              </a:spcAft>
              <a:defRPr sz="1500" b="1">
                <a:solidFill>
                  <a:srgbClr val="2C5F8A"/>
                </a:solidFill>
              </a:defRPr>
            </a:pPr>
            <a:r>
              <a:t>Step 2: Present values list or card sort — select top 5-10:</a:t>
            </a:r>
          </a:p>
          <a:p>
            <a:pPr lvl="1">
              <a:spcAft>
                <a:spcPts val="400"/>
              </a:spcAft>
              <a:defRPr sz="1300">
                <a:solidFill>
                  <a:srgbClr val="2D3A4A"/>
                </a:solidFill>
              </a:defRPr>
            </a:pPr>
            <a:r>
              <a:t>Family | Health | Career | Integrity | Freedom | Spirituality</a:t>
            </a:r>
          </a:p>
          <a:p>
            <a:pPr lvl="1">
              <a:spcAft>
                <a:spcPts val="400"/>
              </a:spcAft>
              <a:defRPr sz="1300">
                <a:solidFill>
                  <a:srgbClr val="2D3A4A"/>
                </a:solidFill>
              </a:defRPr>
            </a:pPr>
            <a:r>
              <a:t>Financial security | Self-respect | Relationships | Achievement</a:t>
            </a:r>
          </a:p>
          <a:p>
            <a:pPr>
              <a:spcAft>
                <a:spcPts val="400"/>
              </a:spcAft>
              <a:defRPr sz="1500">
                <a:solidFill>
                  <a:srgbClr val="2D3A4A"/>
                </a:solidFill>
              </a:defRPr>
            </a:pPr>
          </a:p>
          <a:p>
            <a:pPr>
              <a:spcAft>
                <a:spcPts val="400"/>
              </a:spcAft>
              <a:defRPr sz="1500">
                <a:solidFill>
                  <a:srgbClr val="2D3A4A"/>
                </a:solidFill>
              </a:defRPr>
            </a:pPr>
            <a:r>
              <a:t>Step 3: Rank in order of importance</a:t>
            </a:r>
          </a:p>
          <a:p>
            <a:pPr>
              <a:spcAft>
                <a:spcPts val="400"/>
              </a:spcAft>
              <a:defRPr sz="1500">
                <a:solidFill>
                  <a:srgbClr val="2D3A4A"/>
                </a:solidFill>
              </a:defRPr>
            </a:pPr>
          </a:p>
          <a:p>
            <a:pPr>
              <a:spcAft>
                <a:spcPts val="400"/>
              </a:spcAft>
              <a:defRPr sz="1500" b="1">
                <a:solidFill>
                  <a:srgbClr val="2C5F8A"/>
                </a:solidFill>
              </a:defRPr>
            </a:pPr>
            <a:r>
              <a:t>Step 4: For EACH top value, explore:</a:t>
            </a:r>
          </a:p>
          <a:p>
            <a:pPr lvl="1">
              <a:spcAft>
                <a:spcPts val="400"/>
              </a:spcAft>
              <a:defRPr sz="1300">
                <a:solidFill>
                  <a:srgbClr val="2D3A4A"/>
                </a:solidFill>
              </a:defRPr>
            </a:pPr>
            <a:r>
              <a:t>'How is your drinking related to this value?'</a:t>
            </a:r>
          </a:p>
          <a:p>
            <a:pPr lvl="1">
              <a:spcAft>
                <a:spcPts val="400"/>
              </a:spcAft>
              <a:defRPr sz="1300">
                <a:solidFill>
                  <a:srgbClr val="2D3A4A"/>
                </a:solidFill>
              </a:defRPr>
            </a:pPr>
            <a:r>
              <a:t>'How does drinking fit with being [that person]?'</a:t>
            </a:r>
          </a:p>
          <a:p>
            <a:pPr>
              <a:spcAft>
                <a:spcPts val="400"/>
              </a:spcAft>
              <a:defRPr sz="1500">
                <a:solidFill>
                  <a:srgbClr val="2D3A4A"/>
                </a:solidFill>
              </a:defRPr>
            </a:pPr>
          </a:p>
          <a:p>
            <a:pPr>
              <a:spcAft>
                <a:spcPts val="400"/>
              </a:spcAft>
              <a:defRPr sz="1500" b="1">
                <a:solidFill>
                  <a:srgbClr val="2C5F8A"/>
                </a:solidFill>
              </a:defRPr>
            </a:pPr>
            <a:r>
              <a:t>EXAMPLE DIALOGUE:</a:t>
            </a:r>
          </a:p>
          <a:p>
            <a:pPr lvl="1">
              <a:spcAft>
                <a:spcPts val="400"/>
              </a:spcAft>
              <a:defRPr sz="1300">
                <a:solidFill>
                  <a:srgbClr val="2D3A4A"/>
                </a:solidFill>
              </a:defRPr>
            </a:pPr>
            <a:r>
              <a:t>T: 'You said being a good father is #1. Tell me about that.'</a:t>
            </a:r>
          </a:p>
          <a:p>
            <a:pPr lvl="1">
              <a:spcAft>
                <a:spcPts val="400"/>
              </a:spcAft>
              <a:defRPr sz="1300">
                <a:solidFill>
                  <a:srgbClr val="2D3A4A"/>
                </a:solidFill>
              </a:defRPr>
            </a:pPr>
            <a:r>
              <a:t>C: 'My kids mean everything to me'</a:t>
            </a:r>
          </a:p>
          <a:p>
            <a:pPr lvl="1">
              <a:spcAft>
                <a:spcPts val="400"/>
              </a:spcAft>
              <a:defRPr sz="1300">
                <a:solidFill>
                  <a:srgbClr val="2D3A4A"/>
                </a:solidFill>
              </a:defRPr>
            </a:pPr>
            <a:r>
              <a:t>T: 'And where does drinking fit with being the father you want to be?'</a:t>
            </a:r>
          </a:p>
          <a:p>
            <a:pPr lvl="1">
              <a:spcAft>
                <a:spcPts val="400"/>
              </a:spcAft>
              <a:defRPr sz="1300">
                <a:solidFill>
                  <a:srgbClr val="2D3A4A"/>
                </a:solidFill>
              </a:defRPr>
            </a:pPr>
            <a:r>
              <a:t>C: '...Not well. I missed my daughter's recital because I was hungover.'</a:t>
            </a:r>
          </a:p>
          <a:p>
            <a:pPr lvl="1">
              <a:spcAft>
                <a:spcPts val="400"/>
              </a:spcAft>
              <a:defRPr sz="1300">
                <a:solidFill>
                  <a:srgbClr val="2D3A4A"/>
                </a:solidFill>
              </a:defRPr>
            </a:pPr>
            <a:r>
              <a:t>T: 'That doesn't sit right with you — there's a gap.'</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Values clarification creates the most powerful discrepancy — because it comes from the client's OWN priorities.</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et al. (1995). MET Manual. | Miller &amp; Rollnick (2013). MI, 3rd ed.</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Confidence &amp; Importance Rulers: Strategic Follow-Up Questions</a:t>
            </a:r>
          </a:p>
        </p:txBody>
      </p:sp>
      <p:graphicFrame>
        <p:nvGraphicFramePr>
          <p:cNvPr id="5" name="Table 4"/>
          <p:cNvGraphicFramePr>
            <a:graphicFrameLocks noGrp="1"/>
          </p:cNvGraphicFramePr>
          <p:nvPr/>
        </p:nvGraphicFramePr>
        <p:xfrm>
          <a:off x="457200" y="1371600"/>
          <a:ext cx="11247120" cy="2798064"/>
        </p:xfrm>
        <a:graphic>
          <a:graphicData uri="http://schemas.openxmlformats.org/drawingml/2006/table">
            <a:tbl>
              <a:tblPr firstRow="1" bandRow="1">
                <a:tableStyleId>{5C22544A-7EE6-4342-B048-85BDC9FD1C3A}</a:tableStyleId>
              </a:tblPr>
              <a:tblGrid>
                <a:gridCol w="1828800"/>
                <a:gridCol w="3657600"/>
                <a:gridCol w="3200400"/>
                <a:gridCol w="2560320"/>
              </a:tblGrid>
              <a:tr h="399723">
                <a:tc>
                  <a:txBody>
                    <a:bodyPr/>
                    <a:lstStyle/>
                    <a:p>
                      <a:pPr algn="ctr">
                        <a:defRPr sz="1200" b="1">
                          <a:solidFill>
                            <a:srgbClr val="FFFFFF"/>
                          </a:solidFill>
                        </a:defRPr>
                      </a:pPr>
                      <a:r>
                        <a:t>Ruler</a:t>
                      </a:r>
                    </a:p>
                  </a:txBody>
                  <a:tcPr anchor="ctr">
                    <a:solidFill>
                      <a:srgbClr val="1B2A4A"/>
                    </a:solidFill>
                  </a:tcPr>
                </a:tc>
                <a:tc>
                  <a:txBody>
                    <a:bodyPr/>
                    <a:lstStyle/>
                    <a:p>
                      <a:pPr algn="ctr">
                        <a:defRPr sz="1200" b="1">
                          <a:solidFill>
                            <a:srgbClr val="FFFFFF"/>
                          </a:solidFill>
                        </a:defRPr>
                      </a:pPr>
                      <a:r>
                        <a:t>Question</a:t>
                      </a:r>
                    </a:p>
                  </a:txBody>
                  <a:tcPr anchor="ctr">
                    <a:solidFill>
                      <a:srgbClr val="1B2A4A"/>
                    </a:solidFill>
                  </a:tcPr>
                </a:tc>
                <a:tc>
                  <a:txBody>
                    <a:bodyPr/>
                    <a:lstStyle/>
                    <a:p>
                      <a:pPr algn="ctr">
                        <a:defRPr sz="1200" b="1">
                          <a:solidFill>
                            <a:srgbClr val="FFFFFF"/>
                          </a:solidFill>
                        </a:defRPr>
                      </a:pPr>
                      <a:r>
                        <a:t>Follow-Up</a:t>
                      </a:r>
                    </a:p>
                  </a:txBody>
                  <a:tcPr anchor="ctr">
                    <a:solidFill>
                      <a:srgbClr val="1B2A4A"/>
                    </a:solidFill>
                  </a:tcPr>
                </a:tc>
                <a:tc>
                  <a:txBody>
                    <a:bodyPr/>
                    <a:lstStyle/>
                    <a:p>
                      <a:pPr algn="ctr">
                        <a:defRPr sz="1200" b="1">
                          <a:solidFill>
                            <a:srgbClr val="FFFFFF"/>
                          </a:solidFill>
                        </a:defRPr>
                      </a:pPr>
                      <a:r>
                        <a:t>Purpose</a:t>
                      </a:r>
                    </a:p>
                  </a:txBody>
                  <a:tcPr anchor="ctr">
                    <a:solidFill>
                      <a:srgbClr val="1B2A4A"/>
                    </a:solidFill>
                  </a:tcPr>
                </a:tc>
              </a:tr>
              <a:tr h="399723">
                <a:tc>
                  <a:txBody>
                    <a:bodyPr/>
                    <a:lstStyle/>
                    <a:p>
                      <a:pPr>
                        <a:defRPr sz="1100">
                          <a:solidFill>
                            <a:srgbClr val="2D3A4A"/>
                          </a:solidFill>
                        </a:defRPr>
                      </a:pPr>
                      <a:r>
                        <a:t>Importance</a:t>
                      </a:r>
                    </a:p>
                  </a:txBody>
                  <a:tcPr anchor="ctr">
                    <a:solidFill>
                      <a:srgbClr val="EBF5FF"/>
                    </a:solidFill>
                  </a:tcPr>
                </a:tc>
                <a:tc>
                  <a:txBody>
                    <a:bodyPr/>
                    <a:lstStyle/>
                    <a:p>
                      <a:pPr>
                        <a:defRPr sz="1100">
                          <a:solidFill>
                            <a:srgbClr val="2D3A4A"/>
                          </a:solidFill>
                        </a:defRPr>
                      </a:pPr>
                      <a:r>
                        <a:t>'How important is change? (0-10)'</a:t>
                      </a:r>
                    </a:p>
                  </a:txBody>
                  <a:tcPr anchor="ctr">
                    <a:solidFill>
                      <a:srgbClr val="EBF5FF"/>
                    </a:solidFill>
                  </a:tcPr>
                </a:tc>
                <a:tc>
                  <a:txBody>
                    <a:bodyPr/>
                    <a:lstStyle/>
                    <a:p>
                      <a:pPr>
                        <a:defRPr sz="1100">
                          <a:solidFill>
                            <a:srgbClr val="2D3A4A"/>
                          </a:solidFill>
                        </a:defRPr>
                      </a:pPr>
                      <a:r>
                        <a:t>'Why X and not 2?'</a:t>
                      </a:r>
                    </a:p>
                  </a:txBody>
                  <a:tcPr anchor="ctr">
                    <a:solidFill>
                      <a:srgbClr val="EBF5FF"/>
                    </a:solidFill>
                  </a:tcPr>
                </a:tc>
                <a:tc>
                  <a:txBody>
                    <a:bodyPr/>
                    <a:lstStyle/>
                    <a:p>
                      <a:pPr>
                        <a:defRPr sz="1100">
                          <a:solidFill>
                            <a:srgbClr val="2D3A4A"/>
                          </a:solidFill>
                        </a:defRPr>
                      </a:pPr>
                      <a:r>
                        <a:t>Evokes change talk</a:t>
                      </a:r>
                    </a:p>
                  </a:txBody>
                  <a:tcPr anchor="ctr">
                    <a:solidFill>
                      <a:srgbClr val="EBF5FF"/>
                    </a:solidFill>
                  </a:tcPr>
                </a:tc>
              </a:tr>
              <a:tr h="399723">
                <a:tc>
                  <a:txBody>
                    <a:bodyPr/>
                    <a:lstStyle/>
                    <a:p>
                      <a:pPr>
                        <a:defRPr sz="1100">
                          <a:solidFill>
                            <a:srgbClr val="2D3A4A"/>
                          </a:solidFill>
                        </a:defRPr>
                      </a:pPr>
                      <a:r>
                        <a:t>Importance</a:t>
                      </a:r>
                    </a:p>
                  </a:txBody>
                  <a:tcPr anchor="ctr">
                    <a:solidFill>
                      <a:srgbClr val="FFFFFF"/>
                    </a:solidFill>
                  </a:tcPr>
                </a:tc>
                <a:tc>
                  <a:txBody>
                    <a:bodyPr/>
                    <a:lstStyle/>
                    <a:p>
                      <a:pPr>
                        <a:defRPr sz="1100">
                          <a:solidFill>
                            <a:srgbClr val="2D3A4A"/>
                          </a:solidFill>
                        </a:defRPr>
                      </a:pPr>
                    </a:p>
                  </a:txBody>
                  <a:tcPr anchor="ctr">
                    <a:solidFill>
                      <a:srgbClr val="FFFFFF"/>
                    </a:solidFill>
                  </a:tcPr>
                </a:tc>
                <a:tc>
                  <a:txBody>
                    <a:bodyPr/>
                    <a:lstStyle/>
                    <a:p>
                      <a:pPr>
                        <a:defRPr sz="1100">
                          <a:solidFill>
                            <a:srgbClr val="2D3A4A"/>
                          </a:solidFill>
                        </a:defRPr>
                      </a:pPr>
                      <a:r>
                        <a:t>'What would move you to 8?'</a:t>
                      </a:r>
                    </a:p>
                  </a:txBody>
                  <a:tcPr anchor="ctr">
                    <a:solidFill>
                      <a:srgbClr val="FFFFFF"/>
                    </a:solidFill>
                  </a:tcPr>
                </a:tc>
                <a:tc>
                  <a:txBody>
                    <a:bodyPr/>
                    <a:lstStyle/>
                    <a:p>
                      <a:pPr>
                        <a:defRPr sz="1100">
                          <a:solidFill>
                            <a:srgbClr val="2D3A4A"/>
                          </a:solidFill>
                        </a:defRPr>
                      </a:pPr>
                      <a:r>
                        <a:t>Identifies barriers</a:t>
                      </a:r>
                    </a:p>
                  </a:txBody>
                  <a:tcPr anchor="ctr">
                    <a:solidFill>
                      <a:srgbClr val="FFFFFF"/>
                    </a:solidFill>
                  </a:tcPr>
                </a:tc>
              </a:tr>
              <a:tr h="399723">
                <a:tc>
                  <a:txBody>
                    <a:bodyPr/>
                    <a:lstStyle/>
                    <a:p>
                      <a:pPr>
                        <a:defRPr sz="1100">
                          <a:solidFill>
                            <a:srgbClr val="2D3A4A"/>
                          </a:solidFill>
                        </a:defRPr>
                      </a:pPr>
                      <a:r>
                        <a:t>Confidence</a:t>
                      </a:r>
                    </a:p>
                  </a:txBody>
                  <a:tcPr anchor="ctr">
                    <a:solidFill>
                      <a:srgbClr val="EBF5FF"/>
                    </a:solidFill>
                  </a:tcPr>
                </a:tc>
                <a:tc>
                  <a:txBody>
                    <a:bodyPr/>
                    <a:lstStyle/>
                    <a:p>
                      <a:pPr>
                        <a:defRPr sz="1100">
                          <a:solidFill>
                            <a:srgbClr val="2D3A4A"/>
                          </a:solidFill>
                        </a:defRPr>
                      </a:pPr>
                      <a:r>
                        <a:t>'How confident you could change? (0-10)'</a:t>
                      </a:r>
                    </a:p>
                  </a:txBody>
                  <a:tcPr anchor="ctr">
                    <a:solidFill>
                      <a:srgbClr val="EBF5FF"/>
                    </a:solidFill>
                  </a:tcPr>
                </a:tc>
                <a:tc>
                  <a:txBody>
                    <a:bodyPr/>
                    <a:lstStyle/>
                    <a:p>
                      <a:pPr>
                        <a:defRPr sz="1100">
                          <a:solidFill>
                            <a:srgbClr val="2D3A4A"/>
                          </a:solidFill>
                        </a:defRPr>
                      </a:pPr>
                      <a:r>
                        <a:t>'Why X and not zero?'</a:t>
                      </a:r>
                    </a:p>
                  </a:txBody>
                  <a:tcPr anchor="ctr">
                    <a:solidFill>
                      <a:srgbClr val="EBF5FF"/>
                    </a:solidFill>
                  </a:tcPr>
                </a:tc>
                <a:tc>
                  <a:txBody>
                    <a:bodyPr/>
                    <a:lstStyle/>
                    <a:p>
                      <a:pPr>
                        <a:defRPr sz="1100">
                          <a:solidFill>
                            <a:srgbClr val="2D3A4A"/>
                          </a:solidFill>
                        </a:defRPr>
                      </a:pPr>
                      <a:r>
                        <a:t>Identifies strengths</a:t>
                      </a:r>
                    </a:p>
                  </a:txBody>
                  <a:tcPr anchor="ctr">
                    <a:solidFill>
                      <a:srgbClr val="EBF5FF"/>
                    </a:solidFill>
                  </a:tcPr>
                </a:tc>
              </a:tr>
              <a:tr h="399723">
                <a:tc>
                  <a:txBody>
                    <a:bodyPr/>
                    <a:lstStyle/>
                    <a:p>
                      <a:pPr>
                        <a:defRPr sz="1100">
                          <a:solidFill>
                            <a:srgbClr val="2D3A4A"/>
                          </a:solidFill>
                        </a:defRPr>
                      </a:pPr>
                      <a:r>
                        <a:t>Confidence</a:t>
                      </a:r>
                    </a:p>
                  </a:txBody>
                  <a:tcPr anchor="ctr">
                    <a:solidFill>
                      <a:srgbClr val="FFFFFF"/>
                    </a:solidFill>
                  </a:tcPr>
                </a:tc>
                <a:tc>
                  <a:txBody>
                    <a:bodyPr/>
                    <a:lstStyle/>
                    <a:p>
                      <a:pPr>
                        <a:defRPr sz="1100">
                          <a:solidFill>
                            <a:srgbClr val="2D3A4A"/>
                          </a:solidFill>
                        </a:defRPr>
                      </a:pPr>
                    </a:p>
                  </a:txBody>
                  <a:tcPr anchor="ctr">
                    <a:solidFill>
                      <a:srgbClr val="FFFFFF"/>
                    </a:solidFill>
                  </a:tcPr>
                </a:tc>
                <a:tc>
                  <a:txBody>
                    <a:bodyPr/>
                    <a:lstStyle/>
                    <a:p>
                      <a:pPr>
                        <a:defRPr sz="1100">
                          <a:solidFill>
                            <a:srgbClr val="2D3A4A"/>
                          </a:solidFill>
                        </a:defRPr>
                      </a:pPr>
                      <a:r>
                        <a:t>'What would increase it?'</a:t>
                      </a:r>
                    </a:p>
                  </a:txBody>
                  <a:tcPr anchor="ctr">
                    <a:solidFill>
                      <a:srgbClr val="FFFFFF"/>
                    </a:solidFill>
                  </a:tcPr>
                </a:tc>
                <a:tc>
                  <a:txBody>
                    <a:bodyPr/>
                    <a:lstStyle/>
                    <a:p>
                      <a:pPr>
                        <a:defRPr sz="1100">
                          <a:solidFill>
                            <a:srgbClr val="2D3A4A"/>
                          </a:solidFill>
                        </a:defRPr>
                      </a:pPr>
                      <a:r>
                        <a:t>Identifies resources needed</a:t>
                      </a:r>
                    </a:p>
                  </a:txBody>
                  <a:tcPr anchor="ctr">
                    <a:solidFill>
                      <a:srgbClr val="FFFFFF"/>
                    </a:solidFill>
                  </a:tcPr>
                </a:tc>
              </a:tr>
              <a:tr h="399723">
                <a:tc>
                  <a:txBody>
                    <a:bodyPr/>
                    <a:lstStyle/>
                    <a:p>
                      <a:pPr>
                        <a:defRPr sz="1100">
                          <a:solidFill>
                            <a:srgbClr val="2D3A4A"/>
                          </a:solidFill>
                        </a:defRPr>
                      </a:pPr>
                      <a:r>
                        <a:t>Readiness</a:t>
                      </a:r>
                    </a:p>
                  </a:txBody>
                  <a:tcPr anchor="ctr">
                    <a:solidFill>
                      <a:srgbClr val="EBF5FF"/>
                    </a:solidFill>
                  </a:tcPr>
                </a:tc>
                <a:tc>
                  <a:txBody>
                    <a:bodyPr/>
                    <a:lstStyle/>
                    <a:p>
                      <a:pPr>
                        <a:defRPr sz="1100">
                          <a:solidFill>
                            <a:srgbClr val="2D3A4A"/>
                          </a:solidFill>
                        </a:defRPr>
                      </a:pPr>
                      <a:r>
                        <a:t>'How ready are you? (0-10)'</a:t>
                      </a:r>
                    </a:p>
                  </a:txBody>
                  <a:tcPr anchor="ctr">
                    <a:solidFill>
                      <a:srgbClr val="EBF5FF"/>
                    </a:solidFill>
                  </a:tcPr>
                </a:tc>
                <a:tc>
                  <a:txBody>
                    <a:bodyPr/>
                    <a:lstStyle/>
                    <a:p>
                      <a:pPr>
                        <a:defRPr sz="1100">
                          <a:solidFill>
                            <a:srgbClr val="2D3A4A"/>
                          </a:solidFill>
                        </a:defRPr>
                      </a:pPr>
                      <a:r>
                        <a:t>'Why X and not lower?'</a:t>
                      </a:r>
                    </a:p>
                  </a:txBody>
                  <a:tcPr anchor="ctr">
                    <a:solidFill>
                      <a:srgbClr val="EBF5FF"/>
                    </a:solidFill>
                  </a:tcPr>
                </a:tc>
                <a:tc>
                  <a:txBody>
                    <a:bodyPr/>
                    <a:lstStyle/>
                    <a:p>
                      <a:pPr>
                        <a:defRPr sz="1100">
                          <a:solidFill>
                            <a:srgbClr val="2D3A4A"/>
                          </a:solidFill>
                        </a:defRPr>
                      </a:pPr>
                      <a:r>
                        <a:t>Evokes motivation</a:t>
                      </a:r>
                    </a:p>
                  </a:txBody>
                  <a:tcPr anchor="ctr">
                    <a:solidFill>
                      <a:srgbClr val="EBF5FF"/>
                    </a:solidFill>
                  </a:tcPr>
                </a:tc>
              </a:tr>
              <a:tr h="399726">
                <a:tc>
                  <a:txBody>
                    <a:bodyPr/>
                    <a:lstStyle/>
                    <a:p>
                      <a:pPr>
                        <a:defRPr sz="1100">
                          <a:solidFill>
                            <a:srgbClr val="2D3A4A"/>
                          </a:solidFill>
                        </a:defRPr>
                      </a:pPr>
                      <a:r>
                        <a:t>ANY ruler</a:t>
                      </a:r>
                    </a:p>
                  </a:txBody>
                  <a:tcPr anchor="ctr">
                    <a:solidFill>
                      <a:srgbClr val="FFFFFF"/>
                    </a:solidFill>
                  </a:tcPr>
                </a:tc>
                <a:tc>
                  <a:txBody>
                    <a:bodyPr/>
                    <a:lstStyle/>
                    <a:p>
                      <a:pPr>
                        <a:defRPr sz="1100">
                          <a:solidFill>
                            <a:srgbClr val="2D3A4A"/>
                          </a:solidFill>
                        </a:defRPr>
                      </a:pPr>
                      <a:r>
                        <a:t>NEVER ask:</a:t>
                      </a:r>
                    </a:p>
                  </a:txBody>
                  <a:tcPr anchor="ctr">
                    <a:solidFill>
                      <a:srgbClr val="FFFFFF"/>
                    </a:solidFill>
                  </a:tcPr>
                </a:tc>
                <a:tc>
                  <a:txBody>
                    <a:bodyPr/>
                    <a:lstStyle/>
                    <a:p>
                      <a:pPr>
                        <a:defRPr sz="1100">
                          <a:solidFill>
                            <a:srgbClr val="2D3A4A"/>
                          </a:solidFill>
                        </a:defRPr>
                      </a:pPr>
                      <a:r>
                        <a:t>'Why not 10?'</a:t>
                      </a:r>
                    </a:p>
                  </a:txBody>
                  <a:tcPr anchor="ctr">
                    <a:solidFill>
                      <a:srgbClr val="FFFFFF"/>
                    </a:solidFill>
                  </a:tcPr>
                </a:tc>
                <a:tc>
                  <a:txBody>
                    <a:bodyPr/>
                    <a:lstStyle/>
                    <a:p>
                      <a:pPr>
                        <a:defRPr sz="1100">
                          <a:solidFill>
                            <a:srgbClr val="2D3A4A"/>
                          </a:solidFill>
                        </a:defRPr>
                      </a:pPr>
                      <a:r>
                        <a:t>This evokes SUSTAIN talk!</a:t>
                      </a:r>
                    </a:p>
                  </a:txBody>
                  <a:tcPr anchor="ctr">
                    <a:solidFill>
                      <a:srgbClr val="FFFFFF"/>
                    </a:solidFill>
                  </a:tcPr>
                </a:tc>
              </a:tr>
            </a:tbl>
          </a:graphicData>
        </a:graphic>
      </p:graphicFrame>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'Why X and not lower?' = evokes change talk. 'Why not higher?' = evokes sustain talk. ALWAYS use the former.</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&amp; Rollnick (2013). MI, 3rd ed. | Rollnick et al. (1999). Health Behavior Change.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MET and Comorbid Psychiatric Disorders</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50-70% of substance users have comorbid psychiatric disorders:</a:t>
            </a:r>
          </a:p>
          <a:p>
            <a:pPr>
              <a:spcAft>
                <a:spcPts val="400"/>
              </a:spcAft>
              <a:defRPr sz="1500">
                <a:solidFill>
                  <a:srgbClr val="2D3A4A"/>
                </a:solidFill>
              </a:defRPr>
            </a:pPr>
          </a:p>
          <a:p>
            <a:pPr>
              <a:spcAft>
                <a:spcPts val="400"/>
              </a:spcAft>
              <a:defRPr sz="1500" b="1">
                <a:solidFill>
                  <a:srgbClr val="2C5F8A"/>
                </a:solidFill>
              </a:defRPr>
            </a:pPr>
            <a:r>
              <a:t>DEPRESSION + SUBSTANCE USE:</a:t>
            </a:r>
          </a:p>
          <a:p>
            <a:pPr lvl="1">
              <a:spcAft>
                <a:spcPts val="400"/>
              </a:spcAft>
              <a:defRPr sz="1300">
                <a:solidFill>
                  <a:srgbClr val="2D3A4A"/>
                </a:solidFill>
              </a:defRPr>
            </a:pPr>
            <a:r>
              <a:t>Key discrepancy: 'Alcohol provides temporary relief but worsens depression'</a:t>
            </a:r>
          </a:p>
          <a:p>
            <a:pPr lvl="1">
              <a:spcAft>
                <a:spcPts val="400"/>
              </a:spcAft>
              <a:defRPr sz="1300">
                <a:solidFill>
                  <a:srgbClr val="2D3A4A"/>
                </a:solidFill>
              </a:defRPr>
            </a:pPr>
            <a:r>
              <a:t>Integration: MET for alcohol + Pharmacotherapy + CBT for depression</a:t>
            </a:r>
          </a:p>
          <a:p>
            <a:pPr lvl="1">
              <a:spcAft>
                <a:spcPts val="400"/>
              </a:spcAft>
              <a:defRPr sz="1300">
                <a:solidFill>
                  <a:srgbClr val="2D3A4A"/>
                </a:solidFill>
              </a:defRPr>
            </a:pPr>
            <a:r>
              <a:t>Focus: The depression-alcohol CYCLE as feedback</a:t>
            </a:r>
          </a:p>
          <a:p>
            <a:pPr>
              <a:spcAft>
                <a:spcPts val="400"/>
              </a:spcAft>
              <a:defRPr sz="1500">
                <a:solidFill>
                  <a:srgbClr val="2D3A4A"/>
                </a:solidFill>
              </a:defRPr>
            </a:pPr>
          </a:p>
          <a:p>
            <a:pPr>
              <a:spcAft>
                <a:spcPts val="400"/>
              </a:spcAft>
              <a:defRPr sz="1500" b="1">
                <a:solidFill>
                  <a:srgbClr val="2C5F8A"/>
                </a:solidFill>
              </a:defRPr>
            </a:pPr>
            <a:r>
              <a:t>ANXIETY + SUBSTANCE USE:</a:t>
            </a:r>
          </a:p>
          <a:p>
            <a:pPr lvl="1">
              <a:spcAft>
                <a:spcPts val="400"/>
              </a:spcAft>
              <a:defRPr sz="1300">
                <a:solidFill>
                  <a:srgbClr val="2D3A4A"/>
                </a:solidFill>
              </a:defRPr>
            </a:pPr>
            <a:r>
              <a:t>Key discrepancy: Anxiety drives use; withdrawal creates MORE anxiety</a:t>
            </a:r>
          </a:p>
          <a:p>
            <a:pPr lvl="1">
              <a:spcAft>
                <a:spcPts val="400"/>
              </a:spcAft>
              <a:defRPr sz="1300">
                <a:solidFill>
                  <a:srgbClr val="2D3A4A"/>
                </a:solidFill>
              </a:defRPr>
            </a:pPr>
            <a:r>
              <a:t>Focus: Build self-efficacy for alternative coping strategies</a:t>
            </a:r>
          </a:p>
          <a:p>
            <a:pPr>
              <a:spcAft>
                <a:spcPts val="400"/>
              </a:spcAft>
              <a:defRPr sz="1500">
                <a:solidFill>
                  <a:srgbClr val="2D3A4A"/>
                </a:solidFill>
              </a:defRPr>
            </a:pPr>
          </a:p>
          <a:p>
            <a:pPr>
              <a:spcAft>
                <a:spcPts val="400"/>
              </a:spcAft>
              <a:defRPr sz="1500" b="1">
                <a:solidFill>
                  <a:srgbClr val="2C5F8A"/>
                </a:solidFill>
              </a:defRPr>
            </a:pPr>
            <a:r>
              <a:t>PSYCHOSIS + SUBSTANCE USE:</a:t>
            </a:r>
          </a:p>
          <a:p>
            <a:pPr lvl="1">
              <a:spcAft>
                <a:spcPts val="400"/>
              </a:spcAft>
              <a:defRPr sz="1300">
                <a:solidFill>
                  <a:srgbClr val="2D3A4A"/>
                </a:solidFill>
              </a:defRPr>
            </a:pPr>
            <a:r>
              <a:t>Adaptations: Simplified, shorter sessions; concrete feedback</a:t>
            </a:r>
          </a:p>
          <a:p>
            <a:pPr lvl="1">
              <a:spcAft>
                <a:spcPts val="400"/>
              </a:spcAft>
              <a:defRPr sz="1300">
                <a:solidFill>
                  <a:srgbClr val="2D3A4A"/>
                </a:solidFill>
              </a:defRPr>
            </a:pPr>
            <a:r>
              <a:t>Evidence: MI effective for medication adherence in psychosis</a:t>
            </a:r>
          </a:p>
          <a:p>
            <a:pPr>
              <a:spcAft>
                <a:spcPts val="400"/>
              </a:spcAft>
              <a:defRPr sz="1500">
                <a:solidFill>
                  <a:srgbClr val="2D3A4A"/>
                </a:solidFill>
              </a:defRPr>
            </a:pPr>
          </a:p>
          <a:p>
            <a:pPr>
              <a:spcAft>
                <a:spcPts val="400"/>
              </a:spcAft>
              <a:defRPr sz="1500" b="1">
                <a:solidFill>
                  <a:srgbClr val="2C5F8A"/>
                </a:solidFill>
              </a:defRPr>
            </a:pPr>
            <a:r>
              <a:t>PTSD + SUBSTANCE USE:</a:t>
            </a:r>
          </a:p>
          <a:p>
            <a:pPr lvl="1">
              <a:spcAft>
                <a:spcPts val="400"/>
              </a:spcAft>
              <a:defRPr sz="1300">
                <a:solidFill>
                  <a:srgbClr val="2D3A4A"/>
                </a:solidFill>
              </a:defRPr>
            </a:pPr>
            <a:r>
              <a:t>Trauma-informed modifications essential; safety first</a:t>
            </a:r>
          </a:p>
          <a:p>
            <a:pPr lvl="1">
              <a:spcAft>
                <a:spcPts val="400"/>
              </a:spcAft>
              <a:defRPr sz="1300">
                <a:solidFill>
                  <a:srgbClr val="2D3A4A"/>
                </a:solidFill>
              </a:defRPr>
            </a:pPr>
            <a:r>
              <a:t>MET can motivate engagement with trauma-specific treatment</a:t>
            </a:r>
          </a:p>
          <a:p>
            <a:pPr>
              <a:spcAft>
                <a:spcPts val="400"/>
              </a:spcAft>
              <a:defRPr sz="1500">
                <a:solidFill>
                  <a:srgbClr val="2D3A4A"/>
                </a:solidFill>
              </a:defRPr>
            </a:pPr>
          </a:p>
          <a:p>
            <a:pPr>
              <a:spcAft>
                <a:spcPts val="400"/>
              </a:spcAft>
              <a:defRPr sz="1500">
                <a:solidFill>
                  <a:srgbClr val="2D3A4A"/>
                </a:solidFill>
              </a:defRPr>
            </a:pPr>
            <a:r>
              <a:t>NIMHANS: 'Appropriate referral for complex cases'</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MET addresses substance use in dual diagnosis; integration with disorder-specific treatment is essential.</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Baker et al. (2012). Clin Psych Rev, 32, 726. | Drake et al. (2004). JSAT, 27, 197. | NIMHANS (2008).</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MET for Smoking Cessation &amp; Weight Management</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SMOKING CESSATION:</a:t>
            </a:r>
          </a:p>
          <a:p>
            <a:pPr lvl="1">
              <a:spcAft>
                <a:spcPts val="400"/>
              </a:spcAft>
              <a:defRPr sz="1300">
                <a:solidFill>
                  <a:srgbClr val="2D3A4A"/>
                </a:solidFill>
              </a:defRPr>
            </a:pPr>
            <a:r>
              <a:t>• MI increases quit rates 30-40% over standard care</a:t>
            </a:r>
          </a:p>
          <a:p>
            <a:pPr lvl="1">
              <a:spcAft>
                <a:spcPts val="400"/>
              </a:spcAft>
              <a:defRPr sz="1300">
                <a:solidFill>
                  <a:srgbClr val="2D3A4A"/>
                </a:solidFill>
              </a:defRPr>
            </a:pPr>
            <a:r>
              <a:t>• Feedback: CO levels, lung function, cardiovascular risk</a:t>
            </a:r>
          </a:p>
          <a:p>
            <a:pPr lvl="1">
              <a:spcAft>
                <a:spcPts val="400"/>
              </a:spcAft>
              <a:defRPr sz="1300">
                <a:solidFill>
                  <a:srgbClr val="2D3A4A"/>
                </a:solidFill>
              </a:defRPr>
            </a:pPr>
            <a:r>
              <a:t>• Discrepancy: Health values vs. continued smoking</a:t>
            </a:r>
          </a:p>
          <a:p>
            <a:pPr lvl="1">
              <a:spcAft>
                <a:spcPts val="400"/>
              </a:spcAft>
              <a:defRPr sz="1300">
                <a:solidFill>
                  <a:srgbClr val="2D3A4A"/>
                </a:solidFill>
              </a:defRPr>
            </a:pPr>
            <a:r>
              <a:t>• Combines well with NRT and pharmacotherapy</a:t>
            </a:r>
          </a:p>
          <a:p>
            <a:pPr lvl="1">
              <a:spcAft>
                <a:spcPts val="400"/>
              </a:spcAft>
              <a:defRPr sz="1300">
                <a:solidFill>
                  <a:srgbClr val="2D3A4A"/>
                </a:solidFill>
              </a:defRPr>
            </a:pPr>
            <a:r>
              <a:t>• Even 5-minute MI in primary care increases quit attempts</a:t>
            </a:r>
          </a:p>
          <a:p>
            <a:pPr lvl="1">
              <a:spcAft>
                <a:spcPts val="400"/>
              </a:spcAft>
              <a:defRPr sz="1300">
                <a:solidFill>
                  <a:srgbClr val="2D3A4A"/>
                </a:solidFill>
              </a:defRPr>
            </a:pPr>
            <a:r>
              <a:t>• Evidence: Hettema &amp; Hendricks (2010); Lai et al. (2010)</a:t>
            </a:r>
          </a:p>
          <a:p>
            <a:pPr>
              <a:spcAft>
                <a:spcPts val="400"/>
              </a:spcAft>
              <a:defRPr sz="1500">
                <a:solidFill>
                  <a:srgbClr val="2D3A4A"/>
                </a:solidFill>
              </a:defRPr>
            </a:pPr>
          </a:p>
          <a:p>
            <a:pPr>
              <a:spcAft>
                <a:spcPts val="400"/>
              </a:spcAft>
              <a:defRPr sz="1500" b="1">
                <a:solidFill>
                  <a:srgbClr val="2C5F8A"/>
                </a:solidFill>
              </a:defRPr>
            </a:pPr>
            <a:r>
              <a:t>WEIGHT MANAGEMENT / OBESITY:</a:t>
            </a:r>
          </a:p>
          <a:p>
            <a:pPr lvl="1">
              <a:spcAft>
                <a:spcPts val="400"/>
              </a:spcAft>
              <a:defRPr sz="1300">
                <a:solidFill>
                  <a:srgbClr val="2D3A4A"/>
                </a:solidFill>
              </a:defRPr>
            </a:pPr>
            <a:r>
              <a:t>• Ambivalence about dietary change / exercise is universal</a:t>
            </a:r>
          </a:p>
          <a:p>
            <a:pPr lvl="1">
              <a:spcAft>
                <a:spcPts val="400"/>
              </a:spcAft>
              <a:defRPr sz="1300">
                <a:solidFill>
                  <a:srgbClr val="2D3A4A"/>
                </a:solidFill>
              </a:defRPr>
            </a:pPr>
            <a:r>
              <a:t>• Feedback: BMI, metabolic markers, risk assessment</a:t>
            </a:r>
          </a:p>
          <a:p>
            <a:pPr lvl="1">
              <a:spcAft>
                <a:spcPts val="400"/>
              </a:spcAft>
              <a:defRPr sz="1300">
                <a:solidFill>
                  <a:srgbClr val="2D3A4A"/>
                </a:solidFill>
              </a:defRPr>
            </a:pPr>
            <a:r>
              <a:t>• MI increases engagement with lifestyle interventions</a:t>
            </a:r>
          </a:p>
          <a:p>
            <a:pPr lvl="1">
              <a:spcAft>
                <a:spcPts val="400"/>
              </a:spcAft>
              <a:defRPr sz="1300">
                <a:solidFill>
                  <a:srgbClr val="2D3A4A"/>
                </a:solidFill>
              </a:defRPr>
            </a:pPr>
            <a:r>
              <a:t>• Armstrong et al. (2011): MI for weight loss effective</a:t>
            </a:r>
          </a:p>
          <a:p>
            <a:pPr>
              <a:spcAft>
                <a:spcPts val="400"/>
              </a:spcAft>
              <a:defRPr sz="1500">
                <a:solidFill>
                  <a:srgbClr val="2D3A4A"/>
                </a:solidFill>
              </a:defRPr>
            </a:pPr>
          </a:p>
          <a:p>
            <a:pPr>
              <a:spcAft>
                <a:spcPts val="400"/>
              </a:spcAft>
              <a:defRPr sz="1500" b="1">
                <a:solidFill>
                  <a:srgbClr val="2C5F8A"/>
                </a:solidFill>
              </a:defRPr>
            </a:pPr>
            <a:r>
              <a:t>MEDICATION ADHERENCE:</a:t>
            </a:r>
          </a:p>
          <a:p>
            <a:pPr lvl="1">
              <a:spcAft>
                <a:spcPts val="400"/>
              </a:spcAft>
              <a:defRPr sz="1300">
                <a:solidFill>
                  <a:srgbClr val="2D3A4A"/>
                </a:solidFill>
              </a:defRPr>
            </a:pPr>
            <a:r>
              <a:t>• HIV ART adherence: Parsons et al. (2007)</a:t>
            </a:r>
          </a:p>
          <a:p>
            <a:pPr lvl="1">
              <a:spcAft>
                <a:spcPts val="400"/>
              </a:spcAft>
              <a:defRPr sz="1300">
                <a:solidFill>
                  <a:srgbClr val="2D3A4A"/>
                </a:solidFill>
              </a:defRPr>
            </a:pPr>
            <a:r>
              <a:t>• Diabetes management: Channon et al. (2007)</a:t>
            </a:r>
          </a:p>
          <a:p>
            <a:pPr lvl="1">
              <a:spcAft>
                <a:spcPts val="400"/>
              </a:spcAft>
              <a:defRPr sz="1300">
                <a:solidFill>
                  <a:srgbClr val="2D3A4A"/>
                </a:solidFill>
              </a:defRPr>
            </a:pPr>
            <a:r>
              <a:t>• Discrepancy: 'You want to stay healthy AND you skip medications'</a:t>
            </a:r>
          </a:p>
          <a:p>
            <a:pPr>
              <a:spcAft>
                <a:spcPts val="400"/>
              </a:spcAft>
              <a:defRPr sz="1500">
                <a:solidFill>
                  <a:srgbClr val="2D3A4A"/>
                </a:solidFill>
              </a:defRPr>
            </a:pPr>
          </a:p>
          <a:p>
            <a:pPr>
              <a:spcAft>
                <a:spcPts val="400"/>
              </a:spcAft>
              <a:defRPr sz="1500">
                <a:solidFill>
                  <a:srgbClr val="2D3A4A"/>
                </a:solidFill>
              </a:defRPr>
            </a:pPr>
            <a:r>
              <a:t>COMMON PRINCIPLE: Wherever ambivalence exists, MET applies.</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MET works for any health behavior change: smoking, weight, exercise, medication adherence — same principles apply.</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Hettema &amp; Hendricks (2010). J Clin Psych, 66, 1162. | Armstrong et al. (2011). Int J Obesity, 35, 891.</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Project MATCH: Detailed Study Design &amp; Findings</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STUDY DESIGN (1989-1997):</a:t>
            </a:r>
          </a:p>
          <a:p>
            <a:pPr lvl="1">
              <a:spcAft>
                <a:spcPts val="400"/>
              </a:spcAft>
              <a:defRPr sz="1300">
                <a:solidFill>
                  <a:srgbClr val="2D3A4A"/>
                </a:solidFill>
              </a:defRPr>
            </a:pPr>
            <a:r>
              <a:t>• $27 million; largest alcoholism treatment trial ever</a:t>
            </a:r>
          </a:p>
          <a:p>
            <a:pPr lvl="1">
              <a:spcAft>
                <a:spcPts val="400"/>
              </a:spcAft>
              <a:defRPr sz="1300">
                <a:solidFill>
                  <a:srgbClr val="2D3A4A"/>
                </a:solidFill>
              </a:defRPr>
            </a:pPr>
            <a:r>
              <a:t>• 9 clinical sites across USA + 1 coordinating center</a:t>
            </a:r>
          </a:p>
          <a:p>
            <a:pPr lvl="1">
              <a:spcAft>
                <a:spcPts val="400"/>
              </a:spcAft>
              <a:defRPr sz="1300">
                <a:solidFill>
                  <a:srgbClr val="2D3A4A"/>
                </a:solidFill>
              </a:defRPr>
            </a:pPr>
            <a:r>
              <a:t>• 1,726 patients randomized to 3 treatments:</a:t>
            </a:r>
          </a:p>
          <a:p>
            <a:pPr lvl="2">
              <a:spcAft>
                <a:spcPts val="400"/>
              </a:spcAft>
              <a:defRPr sz="1200">
                <a:solidFill>
                  <a:srgbClr val="2D3A4A"/>
                </a:solidFill>
              </a:defRPr>
            </a:pPr>
            <a:r>
              <a:t>- MET: 4 sessions over 12 weeks</a:t>
            </a:r>
          </a:p>
          <a:p>
            <a:pPr lvl="2">
              <a:spcAft>
                <a:spcPts val="400"/>
              </a:spcAft>
              <a:defRPr sz="1200">
                <a:solidFill>
                  <a:srgbClr val="2D3A4A"/>
                </a:solidFill>
              </a:defRPr>
            </a:pPr>
            <a:r>
              <a:t>- CBT: 12 sessions over 12 weeks</a:t>
            </a:r>
          </a:p>
          <a:p>
            <a:pPr lvl="2">
              <a:spcAft>
                <a:spcPts val="400"/>
              </a:spcAft>
              <a:defRPr sz="1200">
                <a:solidFill>
                  <a:srgbClr val="2D3A4A"/>
                </a:solidFill>
              </a:defRPr>
            </a:pPr>
            <a:r>
              <a:t>- TSF: 12 sessions over 12 weeks</a:t>
            </a:r>
          </a:p>
          <a:p>
            <a:pPr lvl="1">
              <a:spcAft>
                <a:spcPts val="400"/>
              </a:spcAft>
              <a:defRPr sz="1300">
                <a:solidFill>
                  <a:srgbClr val="2D3A4A"/>
                </a:solidFill>
              </a:defRPr>
            </a:pPr>
            <a:r>
              <a:t>• Two arms: Outpatient (n=952) and Aftercare (n=774)</a:t>
            </a:r>
          </a:p>
          <a:p>
            <a:pPr lvl="1">
              <a:spcAft>
                <a:spcPts val="400"/>
              </a:spcAft>
              <a:defRPr sz="1300">
                <a:solidFill>
                  <a:srgbClr val="2D3A4A"/>
                </a:solidFill>
              </a:defRPr>
            </a:pPr>
            <a:r>
              <a:t>• Follow-up: 3, 6, 9, 12, and 15 months + 3-year follow-up</a:t>
            </a:r>
          </a:p>
          <a:p>
            <a:pPr>
              <a:spcAft>
                <a:spcPts val="400"/>
              </a:spcAft>
              <a:defRPr sz="1500">
                <a:solidFill>
                  <a:srgbClr val="2D3A4A"/>
                </a:solidFill>
              </a:defRPr>
            </a:pPr>
          </a:p>
          <a:p>
            <a:pPr>
              <a:spcAft>
                <a:spcPts val="400"/>
              </a:spcAft>
              <a:defRPr sz="1500" b="1">
                <a:solidFill>
                  <a:srgbClr val="2C5F8A"/>
                </a:solidFill>
              </a:defRPr>
            </a:pPr>
            <a:r>
              <a:t>KEY FINDINGS:</a:t>
            </a:r>
          </a:p>
          <a:p>
            <a:pPr lvl="1">
              <a:spcAft>
                <a:spcPts val="400"/>
              </a:spcAft>
              <a:defRPr sz="1300">
                <a:solidFill>
                  <a:srgbClr val="2D3A4A"/>
                </a:solidFill>
              </a:defRPr>
            </a:pPr>
            <a:r>
              <a:t>• ALL three treatments produced significant, sustained improvement</a:t>
            </a:r>
          </a:p>
          <a:p>
            <a:pPr lvl="1">
              <a:spcAft>
                <a:spcPts val="400"/>
              </a:spcAft>
              <a:defRPr sz="1300">
                <a:solidFill>
                  <a:srgbClr val="2D3A4A"/>
                </a:solidFill>
              </a:defRPr>
            </a:pPr>
            <a:r>
              <a:t>• MET (4 sessions) produced outcomes EQUIVALENT to 12-session treatments</a:t>
            </a:r>
          </a:p>
          <a:p>
            <a:pPr lvl="1">
              <a:spcAft>
                <a:spcPts val="400"/>
              </a:spcAft>
              <a:defRPr sz="1300">
                <a:solidFill>
                  <a:srgbClr val="2D3A4A"/>
                </a:solidFill>
              </a:defRPr>
            </a:pPr>
            <a:r>
              <a:t>• Patient-treatment matching effects were minimal (unexpected!)</a:t>
            </a:r>
          </a:p>
          <a:p>
            <a:pPr lvl="1">
              <a:spcAft>
                <a:spcPts val="400"/>
              </a:spcAft>
              <a:defRPr sz="1300">
                <a:solidFill>
                  <a:srgbClr val="2D3A4A"/>
                </a:solidFill>
              </a:defRPr>
            </a:pPr>
            <a:r>
              <a:t>• 3-year follow-up: Gains maintained across all groups</a:t>
            </a:r>
          </a:p>
          <a:p>
            <a:pPr lvl="1">
              <a:spcAft>
                <a:spcPts val="400"/>
              </a:spcAft>
              <a:defRPr sz="1300">
                <a:solidFill>
                  <a:srgbClr val="2D3A4A"/>
                </a:solidFill>
              </a:defRPr>
            </a:pPr>
            <a:r>
              <a:t>• Treatment effects began rapidly (within first month for MET)</a:t>
            </a:r>
          </a:p>
          <a:p>
            <a:pPr>
              <a:spcAft>
                <a:spcPts val="400"/>
              </a:spcAft>
              <a:defRPr sz="1500">
                <a:solidFill>
                  <a:srgbClr val="2D3A4A"/>
                </a:solidFill>
              </a:defRPr>
            </a:pPr>
          </a:p>
          <a:p>
            <a:pPr>
              <a:spcAft>
                <a:spcPts val="400"/>
              </a:spcAft>
              <a:defRPr sz="1500">
                <a:solidFill>
                  <a:srgbClr val="2D3A4A"/>
                </a:solidFill>
              </a:defRPr>
            </a:pPr>
            <a:r>
              <a:t>IMPLICATION: MET is 3× more cost-effective (same outcomes, 1/3 sessions)</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Project MATCH: 4 sessions of MET = 12 sessions of CBT/TSF. Three times more cost-effective.</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Project MATCH (1997). JOSA, 58, 7-29. | Project MATCH (1998). Addiction, 93, 1431-1446.</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Recent Evidence (2015-2025): Current State of MET Research</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RECENT META-ANALYSES AND KEY STUDIES:</a:t>
            </a:r>
          </a:p>
          <a:p>
            <a:pPr>
              <a:spcAft>
                <a:spcPts val="400"/>
              </a:spcAft>
              <a:defRPr sz="1500">
                <a:solidFill>
                  <a:srgbClr val="2D3A4A"/>
                </a:solidFill>
              </a:defRPr>
            </a:pPr>
          </a:p>
          <a:p>
            <a:pPr>
              <a:spcAft>
                <a:spcPts val="400"/>
              </a:spcAft>
              <a:defRPr sz="1500">
                <a:solidFill>
                  <a:srgbClr val="2D3A4A"/>
                </a:solidFill>
              </a:defRPr>
            </a:pPr>
            <a:r>
              <a:t>DiClemente et al. (2017): Mechanisms of MI — readiness to change mediates outcomes</a:t>
            </a:r>
          </a:p>
          <a:p>
            <a:pPr>
              <a:spcAft>
                <a:spcPts val="400"/>
              </a:spcAft>
              <a:defRPr sz="1500">
                <a:solidFill>
                  <a:srgbClr val="2D3A4A"/>
                </a:solidFill>
              </a:defRPr>
            </a:pPr>
          </a:p>
          <a:p>
            <a:pPr>
              <a:spcAft>
                <a:spcPts val="400"/>
              </a:spcAft>
              <a:defRPr sz="1500">
                <a:solidFill>
                  <a:srgbClr val="2D3A4A"/>
                </a:solidFill>
              </a:defRPr>
            </a:pPr>
            <a:r>
              <a:t>Magill et al. (2018): Updated MI meta-analysis — effects confirmed across substances</a:t>
            </a:r>
          </a:p>
          <a:p>
            <a:pPr lvl="1">
              <a:spcAft>
                <a:spcPts val="400"/>
              </a:spcAft>
              <a:defRPr sz="1300">
                <a:solidFill>
                  <a:srgbClr val="2D3A4A"/>
                </a:solidFill>
              </a:defRPr>
            </a:pPr>
            <a:r>
              <a:t>Small but consistent effects; most robust for alcohol and cannabis</a:t>
            </a:r>
          </a:p>
          <a:p>
            <a:pPr>
              <a:spcAft>
                <a:spcPts val="400"/>
              </a:spcAft>
              <a:defRPr sz="1500">
                <a:solidFill>
                  <a:srgbClr val="2D3A4A"/>
                </a:solidFill>
              </a:defRPr>
            </a:pPr>
          </a:p>
          <a:p>
            <a:pPr>
              <a:spcAft>
                <a:spcPts val="400"/>
              </a:spcAft>
              <a:defRPr sz="1500">
                <a:solidFill>
                  <a:srgbClr val="2D3A4A"/>
                </a:solidFill>
              </a:defRPr>
            </a:pPr>
            <a:r>
              <a:t>Frost et al. (2018): MI for young adults — effective for reducing heavy drinking</a:t>
            </a:r>
          </a:p>
          <a:p>
            <a:pPr>
              <a:spcAft>
                <a:spcPts val="400"/>
              </a:spcAft>
              <a:defRPr sz="1500">
                <a:solidFill>
                  <a:srgbClr val="2D3A4A"/>
                </a:solidFill>
              </a:defRPr>
            </a:pPr>
          </a:p>
          <a:p>
            <a:pPr>
              <a:spcAft>
                <a:spcPts val="400"/>
              </a:spcAft>
              <a:defRPr sz="1500">
                <a:solidFill>
                  <a:srgbClr val="2D3A4A"/>
                </a:solidFill>
              </a:defRPr>
            </a:pPr>
            <a:r>
              <a:t>Lindson et al. (2019): Cochrane review — MI for smoking cessation effective</a:t>
            </a:r>
          </a:p>
          <a:p>
            <a:pPr>
              <a:spcAft>
                <a:spcPts val="400"/>
              </a:spcAft>
              <a:defRPr sz="1500">
                <a:solidFill>
                  <a:srgbClr val="2D3A4A"/>
                </a:solidFill>
              </a:defRPr>
            </a:pPr>
          </a:p>
          <a:p>
            <a:pPr>
              <a:spcAft>
                <a:spcPts val="400"/>
              </a:spcAft>
              <a:defRPr sz="1500" b="1">
                <a:solidFill>
                  <a:srgbClr val="2C5F8A"/>
                </a:solidFill>
              </a:defRPr>
            </a:pPr>
            <a:r>
              <a:t>Technology-Assisted MI (emerging evidence):</a:t>
            </a:r>
          </a:p>
          <a:p>
            <a:pPr lvl="1">
              <a:spcAft>
                <a:spcPts val="400"/>
              </a:spcAft>
              <a:defRPr sz="1300">
                <a:solidFill>
                  <a:srgbClr val="2D3A4A"/>
                </a:solidFill>
              </a:defRPr>
            </a:pPr>
            <a:r>
              <a:t>• Telehealth MI delivery: Equivalent outcomes to in-person (post-COVID data)</a:t>
            </a:r>
          </a:p>
          <a:p>
            <a:pPr lvl="1">
              <a:spcAft>
                <a:spcPts val="400"/>
              </a:spcAft>
              <a:defRPr sz="1300">
                <a:solidFill>
                  <a:srgbClr val="2D3A4A"/>
                </a:solidFill>
              </a:defRPr>
            </a:pPr>
            <a:r>
              <a:t>• App-based MI elements: Promising but early-stage</a:t>
            </a:r>
          </a:p>
          <a:p>
            <a:pPr lvl="1">
              <a:spcAft>
                <a:spcPts val="400"/>
              </a:spcAft>
              <a:defRPr sz="1300">
                <a:solidFill>
                  <a:srgbClr val="2D3A4A"/>
                </a:solidFill>
              </a:defRPr>
            </a:pPr>
            <a:r>
              <a:t>• AI chatbots using MI principles: Under investigation</a:t>
            </a:r>
          </a:p>
          <a:p>
            <a:pPr>
              <a:spcAft>
                <a:spcPts val="400"/>
              </a:spcAft>
              <a:defRPr sz="1500">
                <a:solidFill>
                  <a:srgbClr val="2D3A4A"/>
                </a:solidFill>
              </a:defRPr>
            </a:pPr>
          </a:p>
          <a:p>
            <a:pPr>
              <a:spcAft>
                <a:spcPts val="400"/>
              </a:spcAft>
              <a:defRPr sz="1500" b="1">
                <a:solidFill>
                  <a:srgbClr val="2C5F8A"/>
                </a:solidFill>
              </a:defRPr>
            </a:pPr>
            <a:r>
              <a:t>Implementation Science:</a:t>
            </a:r>
          </a:p>
          <a:p>
            <a:pPr lvl="1">
              <a:spcAft>
                <a:spcPts val="400"/>
              </a:spcAft>
              <a:defRPr sz="1300">
                <a:solidFill>
                  <a:srgbClr val="2D3A4A"/>
                </a:solidFill>
              </a:defRPr>
            </a:pPr>
            <a:r>
              <a:t>• How to maintain fidelity in real-world (non-research) settings</a:t>
            </a:r>
          </a:p>
          <a:p>
            <a:pPr lvl="1">
              <a:spcAft>
                <a:spcPts val="400"/>
              </a:spcAft>
              <a:defRPr sz="1300">
                <a:solidFill>
                  <a:srgbClr val="2D3A4A"/>
                </a:solidFill>
              </a:defRPr>
            </a:pPr>
            <a:r>
              <a:t>• Task-shifting to non-specialists (NIMHANS model; WHO recommendations)</a:t>
            </a:r>
          </a:p>
          <a:p>
            <a:pPr lvl="1">
              <a:spcAft>
                <a:spcPts val="400"/>
              </a:spcAft>
              <a:defRPr sz="1300">
                <a:solidFill>
                  <a:srgbClr val="2D3A4A"/>
                </a:solidFill>
              </a:defRPr>
            </a:pPr>
            <a:r>
              <a:t>• Cost-effectiveness in developing healthcare systems</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Recent evidence confirms MET effectiveness; emerging areas include technology-assisted delivery and implementation science.</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DiClemente et al. (2017). Addiction, 112(S2), 92-100. | Magill et al. (2018). Addiction, 113, 2115-2126. | Lindson et al. (2019). Cochrane Database.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MET Effect Sizes Across Populations (Summary)</a:t>
            </a:r>
          </a:p>
        </p:txBody>
      </p:sp>
      <p:graphicFrame>
        <p:nvGraphicFramePr>
          <p:cNvPr id="5" name="Table 4"/>
          <p:cNvGraphicFramePr>
            <a:graphicFrameLocks noGrp="1"/>
          </p:cNvGraphicFramePr>
          <p:nvPr/>
        </p:nvGraphicFramePr>
        <p:xfrm>
          <a:off x="457200" y="1371600"/>
          <a:ext cx="11247120" cy="3493008"/>
        </p:xfrm>
        <a:graphic>
          <a:graphicData uri="http://schemas.openxmlformats.org/drawingml/2006/table">
            <a:tbl>
              <a:tblPr firstRow="1" bandRow="1">
                <a:tableStyleId>{5C22544A-7EE6-4342-B048-85BDC9FD1C3A}</a:tableStyleId>
              </a:tblPr>
              <a:tblGrid>
                <a:gridCol w="4114800"/>
                <a:gridCol w="3200400"/>
                <a:gridCol w="3931920"/>
              </a:tblGrid>
              <a:tr h="388112">
                <a:tc>
                  <a:txBody>
                    <a:bodyPr/>
                    <a:lstStyle/>
                    <a:p>
                      <a:pPr algn="ctr">
                        <a:defRPr sz="1200" b="1">
                          <a:solidFill>
                            <a:srgbClr val="FFFFFF"/>
                          </a:solidFill>
                        </a:defRPr>
                      </a:pPr>
                      <a:r>
                        <a:t>Population/Setting</a:t>
                      </a:r>
                    </a:p>
                  </a:txBody>
                  <a:tcPr anchor="ctr">
                    <a:solidFill>
                      <a:srgbClr val="1B2A4A"/>
                    </a:solidFill>
                  </a:tcPr>
                </a:tc>
                <a:tc>
                  <a:txBody>
                    <a:bodyPr/>
                    <a:lstStyle/>
                    <a:p>
                      <a:pPr algn="ctr">
                        <a:defRPr sz="1200" b="1">
                          <a:solidFill>
                            <a:srgbClr val="FFFFFF"/>
                          </a:solidFill>
                        </a:defRPr>
                      </a:pPr>
                      <a:r>
                        <a:t>Effect Size (d or OR)</a:t>
                      </a:r>
                    </a:p>
                  </a:txBody>
                  <a:tcPr anchor="ctr">
                    <a:solidFill>
                      <a:srgbClr val="1B2A4A"/>
                    </a:solidFill>
                  </a:tcPr>
                </a:tc>
                <a:tc>
                  <a:txBody>
                    <a:bodyPr/>
                    <a:lstStyle/>
                    <a:p>
                      <a:pPr algn="ctr">
                        <a:defRPr sz="1200" b="1">
                          <a:solidFill>
                            <a:srgbClr val="FFFFFF"/>
                          </a:solidFill>
                        </a:defRPr>
                      </a:pPr>
                      <a:r>
                        <a:t>Source</a:t>
                      </a:r>
                    </a:p>
                  </a:txBody>
                  <a:tcPr anchor="ctr">
                    <a:solidFill>
                      <a:srgbClr val="1B2A4A"/>
                    </a:solidFill>
                  </a:tcPr>
                </a:tc>
              </a:tr>
              <a:tr h="388112">
                <a:tc>
                  <a:txBody>
                    <a:bodyPr/>
                    <a:lstStyle/>
                    <a:p>
                      <a:pPr>
                        <a:defRPr sz="1100">
                          <a:solidFill>
                            <a:srgbClr val="2D3A4A"/>
                          </a:solidFill>
                        </a:defRPr>
                      </a:pPr>
                      <a:r>
                        <a:t>Alcohol (general)</a:t>
                      </a:r>
                    </a:p>
                  </a:txBody>
                  <a:tcPr anchor="ctr">
                    <a:solidFill>
                      <a:srgbClr val="EBF5FF"/>
                    </a:solidFill>
                  </a:tcPr>
                </a:tc>
                <a:tc>
                  <a:txBody>
                    <a:bodyPr/>
                    <a:lstStyle/>
                    <a:p>
                      <a:pPr>
                        <a:defRPr sz="1100">
                          <a:solidFill>
                            <a:srgbClr val="2D3A4A"/>
                          </a:solidFill>
                        </a:defRPr>
                      </a:pPr>
                      <a:r>
                        <a:t>d = 0.25-0.57</a:t>
                      </a:r>
                    </a:p>
                  </a:txBody>
                  <a:tcPr anchor="ctr">
                    <a:solidFill>
                      <a:srgbClr val="EBF5FF"/>
                    </a:solidFill>
                  </a:tcPr>
                </a:tc>
                <a:tc>
                  <a:txBody>
                    <a:bodyPr/>
                    <a:lstStyle/>
                    <a:p>
                      <a:pPr>
                        <a:defRPr sz="1100">
                          <a:solidFill>
                            <a:srgbClr val="2D3A4A"/>
                          </a:solidFill>
                        </a:defRPr>
                      </a:pPr>
                      <a:r>
                        <a:t>Burke et al. (2003)</a:t>
                      </a:r>
                    </a:p>
                  </a:txBody>
                  <a:tcPr anchor="ctr">
                    <a:solidFill>
                      <a:srgbClr val="EBF5FF"/>
                    </a:solidFill>
                  </a:tcPr>
                </a:tc>
              </a:tr>
              <a:tr h="388112">
                <a:tc>
                  <a:txBody>
                    <a:bodyPr/>
                    <a:lstStyle/>
                    <a:p>
                      <a:pPr>
                        <a:defRPr sz="1100">
                          <a:solidFill>
                            <a:srgbClr val="2D3A4A"/>
                          </a:solidFill>
                        </a:defRPr>
                      </a:pPr>
                      <a:r>
                        <a:t>Cannabis</a:t>
                      </a:r>
                    </a:p>
                  </a:txBody>
                  <a:tcPr anchor="ctr">
                    <a:solidFill>
                      <a:srgbClr val="FFFFFF"/>
                    </a:solidFill>
                  </a:tcPr>
                </a:tc>
                <a:tc>
                  <a:txBody>
                    <a:bodyPr/>
                    <a:lstStyle/>
                    <a:p>
                      <a:pPr>
                        <a:defRPr sz="1100">
                          <a:solidFill>
                            <a:srgbClr val="2D3A4A"/>
                          </a:solidFill>
                        </a:defRPr>
                      </a:pPr>
                      <a:r>
                        <a:t>d = 0.30-0.45</a:t>
                      </a:r>
                    </a:p>
                  </a:txBody>
                  <a:tcPr anchor="ctr">
                    <a:solidFill>
                      <a:srgbClr val="FFFFFF"/>
                    </a:solidFill>
                  </a:tcPr>
                </a:tc>
                <a:tc>
                  <a:txBody>
                    <a:bodyPr/>
                    <a:lstStyle/>
                    <a:p>
                      <a:pPr>
                        <a:defRPr sz="1100">
                          <a:solidFill>
                            <a:srgbClr val="2D3A4A"/>
                          </a:solidFill>
                        </a:defRPr>
                      </a:pPr>
                      <a:r>
                        <a:t>Stephens et al. (2004)</a:t>
                      </a:r>
                    </a:p>
                  </a:txBody>
                  <a:tcPr anchor="ctr">
                    <a:solidFill>
                      <a:srgbClr val="FFFFFF"/>
                    </a:solidFill>
                  </a:tcPr>
                </a:tc>
              </a:tr>
              <a:tr h="388112">
                <a:tc>
                  <a:txBody>
                    <a:bodyPr/>
                    <a:lstStyle/>
                    <a:p>
                      <a:pPr>
                        <a:defRPr sz="1100">
                          <a:solidFill>
                            <a:srgbClr val="2D3A4A"/>
                          </a:solidFill>
                        </a:defRPr>
                      </a:pPr>
                      <a:r>
                        <a:t>Tobacco/Smoking</a:t>
                      </a:r>
                    </a:p>
                  </a:txBody>
                  <a:tcPr anchor="ctr">
                    <a:solidFill>
                      <a:srgbClr val="EBF5FF"/>
                    </a:solidFill>
                  </a:tcPr>
                </a:tc>
                <a:tc>
                  <a:txBody>
                    <a:bodyPr/>
                    <a:lstStyle/>
                    <a:p>
                      <a:pPr>
                        <a:defRPr sz="1100">
                          <a:solidFill>
                            <a:srgbClr val="2D3A4A"/>
                          </a:solidFill>
                        </a:defRPr>
                      </a:pPr>
                      <a:r>
                        <a:t>OR = 1.26</a:t>
                      </a:r>
                    </a:p>
                  </a:txBody>
                  <a:tcPr anchor="ctr">
                    <a:solidFill>
                      <a:srgbClr val="EBF5FF"/>
                    </a:solidFill>
                  </a:tcPr>
                </a:tc>
                <a:tc>
                  <a:txBody>
                    <a:bodyPr/>
                    <a:lstStyle/>
                    <a:p>
                      <a:pPr>
                        <a:defRPr sz="1100">
                          <a:solidFill>
                            <a:srgbClr val="2D3A4A"/>
                          </a:solidFill>
                        </a:defRPr>
                      </a:pPr>
                      <a:r>
                        <a:t>Lindson et al. (2019)</a:t>
                      </a:r>
                    </a:p>
                  </a:txBody>
                  <a:tcPr anchor="ctr">
                    <a:solidFill>
                      <a:srgbClr val="EBF5FF"/>
                    </a:solidFill>
                  </a:tcPr>
                </a:tc>
              </a:tr>
              <a:tr h="388112">
                <a:tc>
                  <a:txBody>
                    <a:bodyPr/>
                    <a:lstStyle/>
                    <a:p>
                      <a:pPr>
                        <a:defRPr sz="1100">
                          <a:solidFill>
                            <a:srgbClr val="2D3A4A"/>
                          </a:solidFill>
                        </a:defRPr>
                      </a:pPr>
                      <a:r>
                        <a:t>Health behaviors (overall)</a:t>
                      </a:r>
                    </a:p>
                  </a:txBody>
                  <a:tcPr anchor="ctr">
                    <a:solidFill>
                      <a:srgbClr val="FFFFFF"/>
                    </a:solidFill>
                  </a:tcPr>
                </a:tc>
                <a:tc>
                  <a:txBody>
                    <a:bodyPr/>
                    <a:lstStyle/>
                    <a:p>
                      <a:pPr>
                        <a:defRPr sz="1100">
                          <a:solidFill>
                            <a:srgbClr val="2D3A4A"/>
                          </a:solidFill>
                        </a:defRPr>
                      </a:pPr>
                      <a:r>
                        <a:t>OR = 1.55</a:t>
                      </a:r>
                    </a:p>
                  </a:txBody>
                  <a:tcPr anchor="ctr">
                    <a:solidFill>
                      <a:srgbClr val="FFFFFF"/>
                    </a:solidFill>
                  </a:tcPr>
                </a:tc>
                <a:tc>
                  <a:txBody>
                    <a:bodyPr/>
                    <a:lstStyle/>
                    <a:p>
                      <a:pPr>
                        <a:defRPr sz="1100">
                          <a:solidFill>
                            <a:srgbClr val="2D3A4A"/>
                          </a:solidFill>
                        </a:defRPr>
                      </a:pPr>
                      <a:r>
                        <a:t>Lundahl et al. (2010)</a:t>
                      </a:r>
                    </a:p>
                  </a:txBody>
                  <a:tcPr anchor="ctr">
                    <a:solidFill>
                      <a:srgbClr val="FFFFFF"/>
                    </a:solidFill>
                  </a:tcPr>
                </a:tc>
              </a:tr>
              <a:tr h="388112">
                <a:tc>
                  <a:txBody>
                    <a:bodyPr/>
                    <a:lstStyle/>
                    <a:p>
                      <a:pPr>
                        <a:defRPr sz="1100">
                          <a:solidFill>
                            <a:srgbClr val="2D3A4A"/>
                          </a:solidFill>
                        </a:defRPr>
                      </a:pPr>
                      <a:r>
                        <a:t>College students</a:t>
                      </a:r>
                    </a:p>
                  </a:txBody>
                  <a:tcPr anchor="ctr">
                    <a:solidFill>
                      <a:srgbClr val="EBF5FF"/>
                    </a:solidFill>
                  </a:tcPr>
                </a:tc>
                <a:tc>
                  <a:txBody>
                    <a:bodyPr/>
                    <a:lstStyle/>
                    <a:p>
                      <a:pPr>
                        <a:defRPr sz="1100">
                          <a:solidFill>
                            <a:srgbClr val="2D3A4A"/>
                          </a:solidFill>
                        </a:defRPr>
                      </a:pPr>
                      <a:r>
                        <a:t>d = 0.35-0.50</a:t>
                      </a:r>
                    </a:p>
                  </a:txBody>
                  <a:tcPr anchor="ctr">
                    <a:solidFill>
                      <a:srgbClr val="EBF5FF"/>
                    </a:solidFill>
                  </a:tcPr>
                </a:tc>
                <a:tc>
                  <a:txBody>
                    <a:bodyPr/>
                    <a:lstStyle/>
                    <a:p>
                      <a:pPr>
                        <a:defRPr sz="1100">
                          <a:solidFill>
                            <a:srgbClr val="2D3A4A"/>
                          </a:solidFill>
                        </a:defRPr>
                      </a:pPr>
                      <a:r>
                        <a:t>Marlatt et al. (1998)</a:t>
                      </a:r>
                    </a:p>
                  </a:txBody>
                  <a:tcPr anchor="ctr">
                    <a:solidFill>
                      <a:srgbClr val="EBF5FF"/>
                    </a:solidFill>
                  </a:tcPr>
                </a:tc>
              </a:tr>
              <a:tr h="388112">
                <a:tc>
                  <a:txBody>
                    <a:bodyPr/>
                    <a:lstStyle/>
                    <a:p>
                      <a:pPr>
                        <a:defRPr sz="1100">
                          <a:solidFill>
                            <a:srgbClr val="2D3A4A"/>
                          </a:solidFill>
                        </a:defRPr>
                      </a:pPr>
                      <a:r>
                        <a:t>Mandated/reluctant clients</a:t>
                      </a:r>
                    </a:p>
                  </a:txBody>
                  <a:tcPr anchor="ctr">
                    <a:solidFill>
                      <a:srgbClr val="FFFFFF"/>
                    </a:solidFill>
                  </a:tcPr>
                </a:tc>
                <a:tc>
                  <a:txBody>
                    <a:bodyPr/>
                    <a:lstStyle/>
                    <a:p>
                      <a:pPr>
                        <a:defRPr sz="1100">
                          <a:solidFill>
                            <a:srgbClr val="2D3A4A"/>
                          </a:solidFill>
                        </a:defRPr>
                      </a:pPr>
                      <a:r>
                        <a:t>d = 0.40-0.60</a:t>
                      </a:r>
                    </a:p>
                  </a:txBody>
                  <a:tcPr anchor="ctr">
                    <a:solidFill>
                      <a:srgbClr val="FFFFFF"/>
                    </a:solidFill>
                  </a:tcPr>
                </a:tc>
                <a:tc>
                  <a:txBody>
                    <a:bodyPr/>
                    <a:lstStyle/>
                    <a:p>
                      <a:pPr>
                        <a:defRPr sz="1100">
                          <a:solidFill>
                            <a:srgbClr val="2D3A4A"/>
                          </a:solidFill>
                        </a:defRPr>
                      </a:pPr>
                      <a:r>
                        <a:t>Higher than non-mandated!</a:t>
                      </a:r>
                    </a:p>
                  </a:txBody>
                  <a:tcPr anchor="ctr">
                    <a:solidFill>
                      <a:srgbClr val="FFFFFF"/>
                    </a:solidFill>
                  </a:tcPr>
                </a:tc>
              </a:tr>
              <a:tr h="388112">
                <a:tc>
                  <a:txBody>
                    <a:bodyPr/>
                    <a:lstStyle/>
                    <a:p>
                      <a:pPr>
                        <a:defRPr sz="1100">
                          <a:solidFill>
                            <a:srgbClr val="2D3A4A"/>
                          </a:solidFill>
                        </a:defRPr>
                      </a:pPr>
                      <a:r>
                        <a:t>Primary care brief MI</a:t>
                      </a:r>
                    </a:p>
                  </a:txBody>
                  <a:tcPr anchor="ctr">
                    <a:solidFill>
                      <a:srgbClr val="EBF5FF"/>
                    </a:solidFill>
                  </a:tcPr>
                </a:tc>
                <a:tc>
                  <a:txBody>
                    <a:bodyPr/>
                    <a:lstStyle/>
                    <a:p>
                      <a:pPr>
                        <a:defRPr sz="1100">
                          <a:solidFill>
                            <a:srgbClr val="2D3A4A"/>
                          </a:solidFill>
                        </a:defRPr>
                      </a:pPr>
                      <a:r>
                        <a:t>d = 0.20-0.30</a:t>
                      </a:r>
                    </a:p>
                  </a:txBody>
                  <a:tcPr anchor="ctr">
                    <a:solidFill>
                      <a:srgbClr val="EBF5FF"/>
                    </a:solidFill>
                  </a:tcPr>
                </a:tc>
                <a:tc>
                  <a:txBody>
                    <a:bodyPr/>
                    <a:lstStyle/>
                    <a:p>
                      <a:pPr>
                        <a:defRPr sz="1100">
                          <a:solidFill>
                            <a:srgbClr val="2D3A4A"/>
                          </a:solidFill>
                        </a:defRPr>
                      </a:pPr>
                      <a:r>
                        <a:t>Rubak et al. (2005)</a:t>
                      </a:r>
                    </a:p>
                  </a:txBody>
                  <a:tcPr anchor="ctr">
                    <a:solidFill>
                      <a:srgbClr val="EBF5FF"/>
                    </a:solidFill>
                  </a:tcPr>
                </a:tc>
              </a:tr>
              <a:tr h="388112">
                <a:tc>
                  <a:txBody>
                    <a:bodyPr/>
                    <a:lstStyle/>
                    <a:p>
                      <a:pPr>
                        <a:defRPr sz="1100">
                          <a:solidFill>
                            <a:srgbClr val="2D3A4A"/>
                          </a:solidFill>
                        </a:defRPr>
                      </a:pPr>
                      <a:r>
                        <a:t>Dual diagnosis</a:t>
                      </a:r>
                    </a:p>
                  </a:txBody>
                  <a:tcPr anchor="ctr">
                    <a:solidFill>
                      <a:srgbClr val="FFFFFF"/>
                    </a:solidFill>
                  </a:tcPr>
                </a:tc>
                <a:tc>
                  <a:txBody>
                    <a:bodyPr/>
                    <a:lstStyle/>
                    <a:p>
                      <a:pPr>
                        <a:defRPr sz="1100">
                          <a:solidFill>
                            <a:srgbClr val="2D3A4A"/>
                          </a:solidFill>
                        </a:defRPr>
                      </a:pPr>
                      <a:r>
                        <a:t>d = 0.20-0.35</a:t>
                      </a:r>
                    </a:p>
                  </a:txBody>
                  <a:tcPr anchor="ctr">
                    <a:solidFill>
                      <a:srgbClr val="FFFFFF"/>
                    </a:solidFill>
                  </a:tcPr>
                </a:tc>
                <a:tc>
                  <a:txBody>
                    <a:bodyPr/>
                    <a:lstStyle/>
                    <a:p>
                      <a:pPr>
                        <a:defRPr sz="1100">
                          <a:solidFill>
                            <a:srgbClr val="2D3A4A"/>
                          </a:solidFill>
                        </a:defRPr>
                      </a:pPr>
                      <a:r>
                        <a:t>Baker et al. (2012)</a:t>
                      </a:r>
                    </a:p>
                  </a:txBody>
                  <a:tcPr anchor="ctr">
                    <a:solidFill>
                      <a:srgbClr val="FFFFFF"/>
                    </a:solidFill>
                  </a:tcPr>
                </a:tc>
              </a:tr>
            </a:tbl>
          </a:graphicData>
        </a:graphic>
      </p:graphicFrame>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Effect sizes are small-medium (d=0.25-0.57) but consistent. Notably LARGER for mandated/reluctant clients.</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Burke (2003). JCCP. | Lundahl (2010). Clin Psych Rev. | Lindson (2019). Cochrane. | Rubak (2005). Brit J Gen Pract.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Future Directions in MET Research &amp; Practice</a:t>
            </a:r>
          </a:p>
        </p:txBody>
      </p:sp>
      <p:sp>
        <p:nvSpPr>
          <p:cNvPr id="5" name="Rounded Rectangle 4"/>
          <p:cNvSpPr/>
          <p:nvPr/>
        </p:nvSpPr>
        <p:spPr>
          <a:xfrm>
            <a:off x="457200" y="1371600"/>
            <a:ext cx="5303520" cy="2011680"/>
          </a:xfrm>
          <a:prstGeom prst="roundRect">
            <a:avLst/>
          </a:prstGeom>
          <a:solidFill>
            <a:srgbClr val="FFFFFF"/>
          </a:solidFill>
          <a:ln w="31750">
            <a:solidFill>
              <a:srgbClr val="2C5F8A"/>
            </a:solidFill>
          </a:ln>
        </p:spPr>
        <p:style>
          <a:lnRef idx="1">
            <a:schemeClr val="accent1"/>
          </a:lnRef>
          <a:fillRef idx="3">
            <a:schemeClr val="accent1"/>
          </a:fillRef>
          <a:effectRef idx="2">
            <a:schemeClr val="accent1"/>
          </a:effectRef>
          <a:fontRef idx="minor">
            <a:schemeClr val="lt1"/>
          </a:fontRef>
        </p:style>
        <p:txBody>
          <a:bodyPr rtlCol="0" anchor="ctr" wrap="square" lIns="228600" tIns="91440"/>
          <a:lstStyle/>
          <a:p>
            <a:pPr algn="ctr">
              <a:defRPr sz="1400" b="1">
                <a:solidFill>
                  <a:srgbClr val="2C5F8A"/>
                </a:solidFill>
              </a:defRPr>
            </a:pPr>
            <a:r>
              <a:t>📱  TECHNOLOGY-ASSISTED MI</a:t>
            </a:r>
          </a:p>
          <a:p>
            <a:pPr>
              <a:spcBef>
                <a:spcPts val="600"/>
              </a:spcBef>
              <a:defRPr sz="1100">
                <a:solidFill>
                  <a:srgbClr val="2D3A4A"/>
                </a:solidFill>
              </a:defRPr>
            </a:pPr>
            <a:r>
              <a:t>Telehealth delivery (equivalent outcomes).</a:t>
            </a:r>
            <a:br/>
            <a:r>
              <a:t>AI chatbots using MI principles.</a:t>
            </a:r>
            <a:br/>
            <a:r>
              <a:t>App-based self-monitoring with MI feedback.</a:t>
            </a:r>
          </a:p>
        </p:txBody>
      </p:sp>
      <p:sp>
        <p:nvSpPr>
          <p:cNvPr id="6" name="Rectangle 5"/>
          <p:cNvSpPr/>
          <p:nvPr/>
        </p:nvSpPr>
        <p:spPr>
          <a:xfrm>
            <a:off x="457200" y="1371600"/>
            <a:ext cx="109728" cy="2011680"/>
          </a:xfrm>
          <a:prstGeom prst="rect">
            <a:avLst/>
          </a:prstGeom>
          <a:solidFill>
            <a:srgbClr val="2C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035040" y="1371600"/>
            <a:ext cx="5303520" cy="2011680"/>
          </a:xfrm>
          <a:prstGeom prst="roundRect">
            <a:avLst/>
          </a:prstGeom>
          <a:solidFill>
            <a:srgbClr val="FFFFFF"/>
          </a:solidFill>
          <a:ln w="317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228600" tIns="91440"/>
          <a:lstStyle/>
          <a:p>
            <a:pPr algn="ctr">
              <a:defRPr sz="1400" b="1">
                <a:solidFill>
                  <a:srgbClr val="17A2B8"/>
                </a:solidFill>
              </a:defRPr>
            </a:pPr>
            <a:r>
              <a:t>🧬  PRECISION/PERSONALIZED MET</a:t>
            </a:r>
          </a:p>
          <a:p>
            <a:pPr>
              <a:spcBef>
                <a:spcPts val="600"/>
              </a:spcBef>
              <a:defRPr sz="1100">
                <a:solidFill>
                  <a:srgbClr val="2D3A4A"/>
                </a:solidFill>
              </a:defRPr>
            </a:pPr>
            <a:r>
              <a:t>Matching interventions to client characteristics.</a:t>
            </a:r>
            <a:br/>
            <a:r>
              <a:t>Genomics + pharmacogenomics integration.</a:t>
            </a:r>
            <a:br/>
            <a:r>
              <a:t>Neuroimaging of MI brain effects.</a:t>
            </a:r>
          </a:p>
        </p:txBody>
      </p:sp>
      <p:sp>
        <p:nvSpPr>
          <p:cNvPr id="8" name="Rectangle 7"/>
          <p:cNvSpPr/>
          <p:nvPr/>
        </p:nvSpPr>
        <p:spPr>
          <a:xfrm>
            <a:off x="6035040" y="1371600"/>
            <a:ext cx="109728" cy="2011680"/>
          </a:xfrm>
          <a:prstGeom prst="rect">
            <a:avLst/>
          </a:prstGeom>
          <a:solidFill>
            <a:srgbClr val="17A2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57200" y="3657600"/>
            <a:ext cx="5303520" cy="2011680"/>
          </a:xfrm>
          <a:prstGeom prst="roundRect">
            <a:avLst/>
          </a:prstGeom>
          <a:solidFill>
            <a:srgbClr val="FFFFFF"/>
          </a:solidFill>
          <a:ln w="31750">
            <a:solidFill>
              <a:srgbClr val="28A745"/>
            </a:solidFill>
          </a:ln>
        </p:spPr>
        <p:style>
          <a:lnRef idx="1">
            <a:schemeClr val="accent1"/>
          </a:lnRef>
          <a:fillRef idx="3">
            <a:schemeClr val="accent1"/>
          </a:fillRef>
          <a:effectRef idx="2">
            <a:schemeClr val="accent1"/>
          </a:effectRef>
          <a:fontRef idx="minor">
            <a:schemeClr val="lt1"/>
          </a:fontRef>
        </p:style>
        <p:txBody>
          <a:bodyPr rtlCol="0" anchor="ctr" wrap="square" lIns="228600" tIns="91440"/>
          <a:lstStyle/>
          <a:p>
            <a:pPr algn="ctr">
              <a:defRPr sz="1400" b="1">
                <a:solidFill>
                  <a:srgbClr val="28A745"/>
                </a:solidFill>
              </a:defRPr>
            </a:pPr>
            <a:r>
              <a:t>🌐  IMPLEMENTATION SCIENCE</a:t>
            </a:r>
          </a:p>
          <a:p>
            <a:pPr>
              <a:spcBef>
                <a:spcPts val="600"/>
              </a:spcBef>
              <a:defRPr sz="1100">
                <a:solidFill>
                  <a:srgbClr val="2D3A4A"/>
                </a:solidFill>
              </a:defRPr>
            </a:pPr>
            <a:r>
              <a:t>Scaling MI training globally.</a:t>
            </a:r>
            <a:br/>
            <a:r>
              <a:t>Task-shifting to non-specialists (NIMHANS model).</a:t>
            </a:r>
            <a:br/>
            <a:r>
              <a:t>Maintaining fidelity in real-world settings.</a:t>
            </a:r>
          </a:p>
        </p:txBody>
      </p:sp>
      <p:sp>
        <p:nvSpPr>
          <p:cNvPr id="10" name="Rectangle 9"/>
          <p:cNvSpPr/>
          <p:nvPr/>
        </p:nvSpPr>
        <p:spPr>
          <a:xfrm>
            <a:off x="457200" y="3657600"/>
            <a:ext cx="109728" cy="2011680"/>
          </a:xfrm>
          <a:prstGeom prst="rect">
            <a:avLst/>
          </a:prstGeom>
          <a:solidFill>
            <a:srgbClr val="28A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35040" y="3657600"/>
            <a:ext cx="5303520" cy="2011680"/>
          </a:xfrm>
          <a:prstGeom prst="roundRect">
            <a:avLst/>
          </a:prstGeom>
          <a:solidFill>
            <a:srgbClr val="FFFFFF"/>
          </a:solidFill>
          <a:ln w="31750">
            <a:solidFill>
              <a:srgbClr val="D4A01C"/>
            </a:solidFill>
          </a:ln>
        </p:spPr>
        <p:style>
          <a:lnRef idx="1">
            <a:schemeClr val="accent1"/>
          </a:lnRef>
          <a:fillRef idx="3">
            <a:schemeClr val="accent1"/>
          </a:fillRef>
          <a:effectRef idx="2">
            <a:schemeClr val="accent1"/>
          </a:effectRef>
          <a:fontRef idx="minor">
            <a:schemeClr val="lt1"/>
          </a:fontRef>
        </p:style>
        <p:txBody>
          <a:bodyPr rtlCol="0" anchor="ctr" wrap="square" lIns="228600" tIns="91440"/>
          <a:lstStyle/>
          <a:p>
            <a:pPr algn="ctr">
              <a:defRPr sz="1400" b="1">
                <a:solidFill>
                  <a:srgbClr val="D4A01C"/>
                </a:solidFill>
              </a:defRPr>
            </a:pPr>
            <a:r>
              <a:t>🎮  NEW APPLICATIONS</a:t>
            </a:r>
          </a:p>
          <a:p>
            <a:pPr>
              <a:spcBef>
                <a:spcPts val="600"/>
              </a:spcBef>
              <a:defRPr sz="1100">
                <a:solidFill>
                  <a:srgbClr val="2D3A4A"/>
                </a:solidFill>
              </a:defRPr>
            </a:pPr>
            <a:r>
              <a:t>Behavioral addictions (gaming, social media).</a:t>
            </a:r>
            <a:br/>
            <a:r>
              <a:t>MI for climate-related behavior change.</a:t>
            </a:r>
            <a:br/>
            <a:r>
              <a:t>MI in organizational/workplace settings.</a:t>
            </a:r>
          </a:p>
        </p:txBody>
      </p:sp>
      <p:sp>
        <p:nvSpPr>
          <p:cNvPr id="12" name="Rectangle 11"/>
          <p:cNvSpPr/>
          <p:nvPr/>
        </p:nvSpPr>
        <p:spPr>
          <a:xfrm>
            <a:off x="6035040" y="3657600"/>
            <a:ext cx="109728" cy="2011680"/>
          </a:xfrm>
          <a:prstGeom prst="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57200" y="580644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MET's future: tech-assisted delivery, precision approaches, global implementation, behavioral addictions.</a:t>
            </a:r>
          </a:p>
        </p:txBody>
      </p:sp>
      <p:sp>
        <p:nvSpPr>
          <p:cNvPr id="14" name="Rectangle 13"/>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&amp; Rollnick (2013). MI, 3rd ed. | Apodaca &amp; Longabaugh (2009). Clin Psych Rev, 29, 199.</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The Causal Chain: Evidence for How MET Works</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PROVEN CAUSAL PATHWAY (Multiple studies confirm):</a:t>
            </a:r>
          </a:p>
          <a:p>
            <a:pPr>
              <a:spcAft>
                <a:spcPts val="400"/>
              </a:spcAft>
              <a:defRPr sz="1500">
                <a:solidFill>
                  <a:srgbClr val="2D3A4A"/>
                </a:solidFill>
              </a:defRPr>
            </a:pPr>
          </a:p>
          <a:p>
            <a:pPr lvl="1">
              <a:spcAft>
                <a:spcPts val="400"/>
              </a:spcAft>
              <a:defRPr sz="1300">
                <a:solidFill>
                  <a:srgbClr val="2D3A4A"/>
                </a:solidFill>
              </a:defRPr>
            </a:pPr>
            <a:r>
              <a:t>STEP 1: Therapist uses MI-consistent behaviors</a:t>
            </a:r>
          </a:p>
          <a:p>
            <a:pPr lvl="2">
              <a:spcAft>
                <a:spcPts val="400"/>
              </a:spcAft>
              <a:defRPr sz="1200">
                <a:solidFill>
                  <a:srgbClr val="2D3A4A"/>
                </a:solidFill>
              </a:defRPr>
            </a:pPr>
            <a:r>
              <a:t>(Open questions, affirmations, reflections, autonomy support)</a:t>
            </a:r>
          </a:p>
          <a:p>
            <a:pPr lvl="2">
              <a:spcAft>
                <a:spcPts val="400"/>
              </a:spcAft>
              <a:defRPr sz="1200">
                <a:solidFill>
                  <a:srgbClr val="2D3A4A"/>
                </a:solidFill>
              </a:defRPr>
            </a:pPr>
            <a:r>
              <a:t>↓</a:t>
            </a:r>
          </a:p>
          <a:p>
            <a:pPr lvl="1">
              <a:spcAft>
                <a:spcPts val="400"/>
              </a:spcAft>
              <a:defRPr sz="1300">
                <a:solidFill>
                  <a:srgbClr val="2D3A4A"/>
                </a:solidFill>
              </a:defRPr>
            </a:pPr>
            <a:r>
              <a:t>STEP 2: Client CHANGE TALK increases in session</a:t>
            </a:r>
          </a:p>
          <a:p>
            <a:pPr lvl="2">
              <a:spcAft>
                <a:spcPts val="400"/>
              </a:spcAft>
              <a:defRPr sz="1200">
                <a:solidFill>
                  <a:srgbClr val="2D3A4A"/>
                </a:solidFill>
              </a:defRPr>
            </a:pPr>
            <a:r>
              <a:t>(Desire, Ability, Reasons, Need → Commitment, Activation, Steps)</a:t>
            </a:r>
          </a:p>
          <a:p>
            <a:pPr lvl="2">
              <a:spcAft>
                <a:spcPts val="400"/>
              </a:spcAft>
              <a:defRPr sz="1200">
                <a:solidFill>
                  <a:srgbClr val="2D3A4A"/>
                </a:solidFill>
              </a:defRPr>
            </a:pPr>
            <a:r>
              <a:t>↓</a:t>
            </a:r>
          </a:p>
          <a:p>
            <a:pPr lvl="1">
              <a:spcAft>
                <a:spcPts val="400"/>
              </a:spcAft>
              <a:defRPr sz="1300">
                <a:solidFill>
                  <a:srgbClr val="2D3A4A"/>
                </a:solidFill>
              </a:defRPr>
            </a:pPr>
            <a:r>
              <a:t>STEP 3: Client's actual BEHAVIOR CHANGES</a:t>
            </a:r>
          </a:p>
          <a:p>
            <a:pPr lvl="2">
              <a:spcAft>
                <a:spcPts val="400"/>
              </a:spcAft>
              <a:defRPr sz="1200">
                <a:solidFill>
                  <a:srgbClr val="2D3A4A"/>
                </a:solidFill>
              </a:defRPr>
            </a:pPr>
            <a:r>
              <a:t>(Reduced substance use, improved health behaviors)</a:t>
            </a:r>
          </a:p>
          <a:p>
            <a:pPr>
              <a:spcAft>
                <a:spcPts val="400"/>
              </a:spcAft>
              <a:defRPr sz="1500">
                <a:solidFill>
                  <a:srgbClr val="2D3A4A"/>
                </a:solidFill>
              </a:defRPr>
            </a:pPr>
          </a:p>
          <a:p>
            <a:pPr>
              <a:spcAft>
                <a:spcPts val="400"/>
              </a:spcAft>
              <a:defRPr sz="1500" b="1">
                <a:solidFill>
                  <a:srgbClr val="2C5F8A"/>
                </a:solidFill>
              </a:defRPr>
            </a:pPr>
            <a:r>
              <a:t>KEY EVIDENCE:</a:t>
            </a:r>
          </a:p>
          <a:p>
            <a:pPr lvl="1">
              <a:spcAft>
                <a:spcPts val="400"/>
              </a:spcAft>
              <a:defRPr sz="1300">
                <a:solidFill>
                  <a:srgbClr val="2D3A4A"/>
                </a:solidFill>
              </a:defRPr>
            </a:pPr>
            <a:r>
              <a:t>• Moyers et al. (2007): MI-consistent therapist → more change talk</a:t>
            </a:r>
          </a:p>
          <a:p>
            <a:pPr lvl="1">
              <a:spcAft>
                <a:spcPts val="400"/>
              </a:spcAft>
              <a:defRPr sz="1300">
                <a:solidFill>
                  <a:srgbClr val="2D3A4A"/>
                </a:solidFill>
              </a:defRPr>
            </a:pPr>
            <a:r>
              <a:t>• Amrhein et al. (2003): Commitment language → drug use outcomes</a:t>
            </a:r>
          </a:p>
          <a:p>
            <a:pPr lvl="1">
              <a:spcAft>
                <a:spcPts val="400"/>
              </a:spcAft>
              <a:defRPr sz="1300">
                <a:solidFill>
                  <a:srgbClr val="2D3A4A"/>
                </a:solidFill>
              </a:defRPr>
            </a:pPr>
            <a:r>
              <a:t>• Magill et al. (2014): Change-to-sustain talk RATIO predicts outcomes</a:t>
            </a:r>
          </a:p>
          <a:p>
            <a:pPr lvl="1">
              <a:spcAft>
                <a:spcPts val="400"/>
              </a:spcAft>
              <a:defRPr sz="1300">
                <a:solidFill>
                  <a:srgbClr val="2D3A4A"/>
                </a:solidFill>
              </a:defRPr>
            </a:pPr>
            <a:r>
              <a:t>• Apodaca &amp; Longabaugh (2009): Comprehensive mechanism review</a:t>
            </a:r>
          </a:p>
          <a:p>
            <a:pPr>
              <a:spcAft>
                <a:spcPts val="400"/>
              </a:spcAft>
              <a:defRPr sz="1500">
                <a:solidFill>
                  <a:srgbClr val="2D3A4A"/>
                </a:solidFill>
              </a:defRPr>
            </a:pPr>
          </a:p>
          <a:p>
            <a:pPr>
              <a:spcAft>
                <a:spcPts val="400"/>
              </a:spcAft>
              <a:defRPr sz="1500">
                <a:solidFill>
                  <a:srgbClr val="2D3A4A"/>
                </a:solidFill>
              </a:defRPr>
            </a:pPr>
            <a:r>
              <a:t>CLINICAL IMPLICATION: Your primary technical goal = EVOKE CHANGE TALK</a:t>
            </a:r>
          </a:p>
          <a:p>
            <a:pPr lvl="1">
              <a:spcAft>
                <a:spcPts val="400"/>
              </a:spcAft>
              <a:defRPr sz="1300">
                <a:solidFill>
                  <a:srgbClr val="2D3A4A"/>
                </a:solidFill>
              </a:defRPr>
            </a:pPr>
            <a:r>
              <a:t>Everything else (reflections, questions, affirmations) SERVES this purpose.</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Primary technical goal of every MET session: evoke, recognize, and reinforce CLIENT CHANGE TALK.</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Moyers et al. (2007). JCCP, 75, 790. | Amrhein et al. (2003). JCCP, 71, 862. | Apodaca &amp; Longabaugh (2009). Clin Psych Rev, 29, 199.</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Common Therapist Traps to Avoid</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THE EXPERT TRAP:</a:t>
            </a:r>
          </a:p>
          <a:p>
            <a:pPr lvl="1">
              <a:spcAft>
                <a:spcPts val="400"/>
              </a:spcAft>
              <a:defRPr sz="1300">
                <a:solidFill>
                  <a:srgbClr val="2D3A4A"/>
                </a:solidFill>
              </a:defRPr>
            </a:pPr>
            <a:r>
              <a:t>Telling rather than asking. Installing rather than evoking.</a:t>
            </a:r>
          </a:p>
          <a:p>
            <a:pPr lvl="1">
              <a:spcAft>
                <a:spcPts val="400"/>
              </a:spcAft>
              <a:defRPr sz="1300">
                <a:solidFill>
                  <a:srgbClr val="2D3A4A"/>
                </a:solidFill>
              </a:defRPr>
            </a:pPr>
            <a:r>
              <a:t>Fix: Ask 'What do you think?' before sharing your opinion</a:t>
            </a:r>
          </a:p>
          <a:p>
            <a:pPr>
              <a:spcAft>
                <a:spcPts val="400"/>
              </a:spcAft>
              <a:defRPr sz="1500">
                <a:solidFill>
                  <a:srgbClr val="2D3A4A"/>
                </a:solidFill>
              </a:defRPr>
            </a:pPr>
          </a:p>
          <a:p>
            <a:pPr>
              <a:spcAft>
                <a:spcPts val="400"/>
              </a:spcAft>
              <a:defRPr sz="1500" b="1">
                <a:solidFill>
                  <a:srgbClr val="2C5F8A"/>
                </a:solidFill>
              </a:defRPr>
            </a:pPr>
            <a:r>
              <a:t>THE ASSESSMENT TRAP:</a:t>
            </a:r>
          </a:p>
          <a:p>
            <a:pPr lvl="1">
              <a:spcAft>
                <a:spcPts val="400"/>
              </a:spcAft>
              <a:defRPr sz="1300">
                <a:solidFill>
                  <a:srgbClr val="2D3A4A"/>
                </a:solidFill>
              </a:defRPr>
            </a:pPr>
            <a:r>
              <a:t>Too many questions, not enough reflections (interrogation mode).</a:t>
            </a:r>
          </a:p>
          <a:p>
            <a:pPr lvl="1">
              <a:spcAft>
                <a:spcPts val="400"/>
              </a:spcAft>
              <a:defRPr sz="1300">
                <a:solidFill>
                  <a:srgbClr val="2D3A4A"/>
                </a:solidFill>
              </a:defRPr>
            </a:pPr>
            <a:r>
              <a:t>Fix: After every question, reflect the answer before asking another</a:t>
            </a:r>
          </a:p>
          <a:p>
            <a:pPr>
              <a:spcAft>
                <a:spcPts val="400"/>
              </a:spcAft>
              <a:defRPr sz="1500">
                <a:solidFill>
                  <a:srgbClr val="2D3A4A"/>
                </a:solidFill>
              </a:defRPr>
            </a:pPr>
          </a:p>
          <a:p>
            <a:pPr>
              <a:spcAft>
                <a:spcPts val="400"/>
              </a:spcAft>
              <a:defRPr sz="1500" b="1">
                <a:solidFill>
                  <a:srgbClr val="2C5F8A"/>
                </a:solidFill>
              </a:defRPr>
            </a:pPr>
            <a:r>
              <a:t>THE PREMATURE FOCUS TRAP:</a:t>
            </a:r>
          </a:p>
          <a:p>
            <a:pPr lvl="1">
              <a:spcAft>
                <a:spcPts val="400"/>
              </a:spcAft>
              <a:defRPr sz="1300">
                <a:solidFill>
                  <a:srgbClr val="2D3A4A"/>
                </a:solidFill>
              </a:defRPr>
            </a:pPr>
            <a:r>
              <a:t>Moving to planning before client is ready (Phase 2 too early).</a:t>
            </a:r>
          </a:p>
          <a:p>
            <a:pPr lvl="1">
              <a:spcAft>
                <a:spcPts val="400"/>
              </a:spcAft>
              <a:defRPr sz="1300">
                <a:solidFill>
                  <a:srgbClr val="2D3A4A"/>
                </a:solidFill>
              </a:defRPr>
            </a:pPr>
            <a:r>
              <a:t>Fix: Look for readiness signals before transitioning</a:t>
            </a:r>
          </a:p>
          <a:p>
            <a:pPr>
              <a:spcAft>
                <a:spcPts val="400"/>
              </a:spcAft>
              <a:defRPr sz="1500">
                <a:solidFill>
                  <a:srgbClr val="2D3A4A"/>
                </a:solidFill>
              </a:defRPr>
            </a:pPr>
          </a:p>
          <a:p>
            <a:pPr>
              <a:spcAft>
                <a:spcPts val="400"/>
              </a:spcAft>
              <a:defRPr sz="1500" b="1">
                <a:solidFill>
                  <a:srgbClr val="2C5F8A"/>
                </a:solidFill>
              </a:defRPr>
            </a:pPr>
            <a:r>
              <a:t>THE LABELING TRAP:</a:t>
            </a:r>
          </a:p>
          <a:p>
            <a:pPr lvl="1">
              <a:spcAft>
                <a:spcPts val="400"/>
              </a:spcAft>
              <a:defRPr sz="1300">
                <a:solidFill>
                  <a:srgbClr val="2D3A4A"/>
                </a:solidFill>
              </a:defRPr>
            </a:pPr>
            <a:r>
              <a:t>Using 'alcoholic' or other stigmatizing labels.</a:t>
            </a:r>
          </a:p>
          <a:p>
            <a:pPr lvl="1">
              <a:spcAft>
                <a:spcPts val="400"/>
              </a:spcAft>
              <a:defRPr sz="1300">
                <a:solidFill>
                  <a:srgbClr val="2D3A4A"/>
                </a:solidFill>
              </a:defRPr>
            </a:pPr>
            <a:r>
              <a:t>Fix: Focus on behavior and concerns, not diagnostic labels</a:t>
            </a:r>
          </a:p>
          <a:p>
            <a:pPr>
              <a:spcAft>
                <a:spcPts val="400"/>
              </a:spcAft>
              <a:defRPr sz="1500">
                <a:solidFill>
                  <a:srgbClr val="2D3A4A"/>
                </a:solidFill>
              </a:defRPr>
            </a:pPr>
          </a:p>
          <a:p>
            <a:pPr>
              <a:spcAft>
                <a:spcPts val="400"/>
              </a:spcAft>
              <a:defRPr sz="1500" b="1">
                <a:solidFill>
                  <a:srgbClr val="2C5F8A"/>
                </a:solidFill>
              </a:defRPr>
            </a:pPr>
            <a:r>
              <a:t>THE BLAMING TRAP:</a:t>
            </a:r>
          </a:p>
          <a:p>
            <a:pPr lvl="1">
              <a:spcAft>
                <a:spcPts val="400"/>
              </a:spcAft>
              <a:defRPr sz="1300">
                <a:solidFill>
                  <a:srgbClr val="2D3A4A"/>
                </a:solidFill>
              </a:defRPr>
            </a:pPr>
            <a:r>
              <a:t>Attributing resistance to client pathology ('in denial').</a:t>
            </a:r>
          </a:p>
          <a:p>
            <a:pPr lvl="1">
              <a:spcAft>
                <a:spcPts val="400"/>
              </a:spcAft>
              <a:defRPr sz="1300">
                <a:solidFill>
                  <a:srgbClr val="2D3A4A"/>
                </a:solidFill>
              </a:defRPr>
            </a:pPr>
            <a:r>
              <a:t>Fix: See resistance as YOUR signal to change approach</a:t>
            </a:r>
          </a:p>
          <a:p>
            <a:pPr>
              <a:spcAft>
                <a:spcPts val="400"/>
              </a:spcAft>
              <a:defRPr sz="1500">
                <a:solidFill>
                  <a:srgbClr val="2D3A4A"/>
                </a:solidFill>
              </a:defRPr>
            </a:pPr>
          </a:p>
          <a:p>
            <a:pPr>
              <a:spcAft>
                <a:spcPts val="400"/>
              </a:spcAft>
              <a:defRPr sz="1500" b="1">
                <a:solidFill>
                  <a:srgbClr val="2C5F8A"/>
                </a:solidFill>
              </a:defRPr>
            </a:pPr>
            <a:r>
              <a:t>THE RIGHTING REFLEX:</a:t>
            </a:r>
          </a:p>
          <a:p>
            <a:pPr lvl="1">
              <a:spcAft>
                <a:spcPts val="400"/>
              </a:spcAft>
              <a:defRPr sz="1300">
                <a:solidFill>
                  <a:srgbClr val="2D3A4A"/>
                </a:solidFill>
              </a:defRPr>
            </a:pPr>
            <a:r>
              <a:t>Your urge to fix, advise, correct, solve, warn.</a:t>
            </a:r>
          </a:p>
          <a:p>
            <a:pPr lvl="1">
              <a:spcAft>
                <a:spcPts val="400"/>
              </a:spcAft>
              <a:defRPr sz="1300">
                <a:solidFill>
                  <a:srgbClr val="2D3A4A"/>
                </a:solidFill>
              </a:defRPr>
            </a:pPr>
            <a:r>
              <a:t>Fix: 'I wonder...' instead of 'You should...'</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Monitor for: expert trap, assessment trap, premature focus, labeling, blaming, and the righting reflex.</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&amp; Moyers (2006). Behav Cog Psychotherapy, 34, 135. | Miller et al. (1995). MET Manual.</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Decisional Balance: Worksheet with Therapist Guidance</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FOUR-QUADRANT DECISIONAL BALANCE (conducted in session):</a:t>
            </a:r>
          </a:p>
          <a:p>
            <a:pPr>
              <a:spcAft>
                <a:spcPts val="400"/>
              </a:spcAft>
              <a:defRPr sz="1500">
                <a:solidFill>
                  <a:srgbClr val="2D3A4A"/>
                </a:solidFill>
              </a:defRPr>
            </a:pPr>
          </a:p>
          <a:p>
            <a:pPr>
              <a:spcAft>
                <a:spcPts val="400"/>
              </a:spcAft>
              <a:defRPr sz="1500" b="1">
                <a:solidFill>
                  <a:srgbClr val="2C5F8A"/>
                </a:solidFill>
              </a:defRPr>
            </a:pPr>
            <a:r>
              <a:t>Start HERE (validates; reduces defensiveness):</a:t>
            </a:r>
          </a:p>
          <a:p>
            <a:pPr lvl="1">
              <a:spcAft>
                <a:spcPts val="400"/>
              </a:spcAft>
              <a:defRPr sz="1300">
                <a:solidFill>
                  <a:srgbClr val="2D3A4A"/>
                </a:solidFill>
              </a:defRPr>
            </a:pPr>
            <a:r>
              <a:t>Q1: 'What are the GOOD THINGS about drinking for you?'</a:t>
            </a:r>
          </a:p>
          <a:p>
            <a:pPr lvl="1">
              <a:spcAft>
                <a:spcPts val="400"/>
              </a:spcAft>
              <a:defRPr sz="1300">
                <a:solidFill>
                  <a:srgbClr val="2D3A4A"/>
                </a:solidFill>
              </a:defRPr>
            </a:pPr>
            <a:r>
              <a:t>(Client lists: relaxation, social, coping with stress, etc.)</a:t>
            </a:r>
          </a:p>
          <a:p>
            <a:pPr>
              <a:spcAft>
                <a:spcPts val="400"/>
              </a:spcAft>
              <a:defRPr sz="1500">
                <a:solidFill>
                  <a:srgbClr val="2D3A4A"/>
                </a:solidFill>
              </a:defRPr>
            </a:pPr>
          </a:p>
          <a:p>
            <a:pPr>
              <a:spcAft>
                <a:spcPts val="400"/>
              </a:spcAft>
              <a:defRPr sz="1500" b="1">
                <a:solidFill>
                  <a:srgbClr val="2C5F8A"/>
                </a:solidFill>
              </a:defRPr>
            </a:pPr>
            <a:r>
              <a:t>Then move to costs:</a:t>
            </a:r>
          </a:p>
          <a:p>
            <a:pPr lvl="1">
              <a:spcAft>
                <a:spcPts val="400"/>
              </a:spcAft>
              <a:defRPr sz="1300">
                <a:solidFill>
                  <a:srgbClr val="2D3A4A"/>
                </a:solidFill>
              </a:defRPr>
            </a:pPr>
            <a:r>
              <a:t>Q2: 'And what's the OTHER SIDE? What are your concerns?'</a:t>
            </a:r>
          </a:p>
          <a:p>
            <a:pPr lvl="1">
              <a:spcAft>
                <a:spcPts val="400"/>
              </a:spcAft>
              <a:defRPr sz="1300">
                <a:solidFill>
                  <a:srgbClr val="2D3A4A"/>
                </a:solidFill>
              </a:defRPr>
            </a:pPr>
            <a:r>
              <a:t>(Client lists: health, relationship, work, money, etc.)</a:t>
            </a:r>
          </a:p>
          <a:p>
            <a:pPr>
              <a:spcAft>
                <a:spcPts val="400"/>
              </a:spcAft>
              <a:defRPr sz="1500">
                <a:solidFill>
                  <a:srgbClr val="2D3A4A"/>
                </a:solidFill>
              </a:defRPr>
            </a:pPr>
          </a:p>
          <a:p>
            <a:pPr>
              <a:spcAft>
                <a:spcPts val="400"/>
              </a:spcAft>
              <a:defRPr sz="1500" b="1">
                <a:solidFill>
                  <a:srgbClr val="2C5F8A"/>
                </a:solidFill>
              </a:defRPr>
            </a:pPr>
            <a:r>
              <a:t>Then explore fears about change:</a:t>
            </a:r>
          </a:p>
          <a:p>
            <a:pPr lvl="1">
              <a:spcAft>
                <a:spcPts val="400"/>
              </a:spcAft>
              <a:defRPr sz="1300">
                <a:solidFill>
                  <a:srgbClr val="2D3A4A"/>
                </a:solidFill>
              </a:defRPr>
            </a:pPr>
            <a:r>
              <a:t>Q3: 'What worries you about making a change?'</a:t>
            </a:r>
          </a:p>
          <a:p>
            <a:pPr lvl="1">
              <a:spcAft>
                <a:spcPts val="400"/>
              </a:spcAft>
              <a:defRPr sz="1300">
                <a:solidFill>
                  <a:srgbClr val="2D3A4A"/>
                </a:solidFill>
              </a:defRPr>
            </a:pPr>
            <a:r>
              <a:t>(Client lists: losing friends, boredom, coping without, etc.)</a:t>
            </a:r>
          </a:p>
          <a:p>
            <a:pPr>
              <a:spcAft>
                <a:spcPts val="400"/>
              </a:spcAft>
              <a:defRPr sz="1500">
                <a:solidFill>
                  <a:srgbClr val="2D3A4A"/>
                </a:solidFill>
              </a:defRPr>
            </a:pPr>
          </a:p>
          <a:p>
            <a:pPr>
              <a:spcAft>
                <a:spcPts val="400"/>
              </a:spcAft>
              <a:defRPr sz="1500" b="1">
                <a:solidFill>
                  <a:srgbClr val="2C5F8A"/>
                </a:solidFill>
              </a:defRPr>
            </a:pPr>
            <a:r>
              <a:t>End HERE (builds momentum — leave session pointing forward):</a:t>
            </a:r>
          </a:p>
          <a:p>
            <a:pPr lvl="1">
              <a:spcAft>
                <a:spcPts val="400"/>
              </a:spcAft>
              <a:defRPr sz="1300">
                <a:solidFill>
                  <a:srgbClr val="2D3A4A"/>
                </a:solidFill>
              </a:defRPr>
            </a:pPr>
            <a:r>
              <a:t>Q4: 'And what might be BETTER if you did make this change?'</a:t>
            </a:r>
          </a:p>
          <a:p>
            <a:pPr lvl="1">
              <a:spcAft>
                <a:spcPts val="400"/>
              </a:spcAft>
              <a:defRPr sz="1300">
                <a:solidFill>
                  <a:srgbClr val="2D3A4A"/>
                </a:solidFill>
              </a:defRPr>
            </a:pPr>
            <a:r>
              <a:t>(Client lists: health, family, clarity, pride, etc.)</a:t>
            </a:r>
          </a:p>
          <a:p>
            <a:pPr>
              <a:spcAft>
                <a:spcPts val="400"/>
              </a:spcAft>
              <a:defRPr sz="1500">
                <a:solidFill>
                  <a:srgbClr val="2D3A4A"/>
                </a:solidFill>
              </a:defRPr>
            </a:pPr>
          </a:p>
          <a:p>
            <a:pPr>
              <a:spcAft>
                <a:spcPts val="400"/>
              </a:spcAft>
              <a:defRPr sz="1500">
                <a:solidFill>
                  <a:srgbClr val="2D3A4A"/>
                </a:solidFill>
              </a:defRPr>
            </a:pPr>
            <a:r>
              <a:t>THERAPIST THEN SUMMARIZES — strategically including MORE from Q2 and Q4.</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Start with benefits of drinking (validates), end with benefits of change (motivates). Summarize strategically.</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Janis &amp; Mann (1977). Decision Making. Free Press. | Miller et al. (1995). MET Manual.</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OARS Applied to Eliciting Change Talk</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Using OARS STRATEGICALLY to maximize change talk:</a:t>
            </a:r>
          </a:p>
          <a:p>
            <a:pPr>
              <a:spcAft>
                <a:spcPts val="400"/>
              </a:spcAft>
              <a:defRPr sz="1500">
                <a:solidFill>
                  <a:srgbClr val="2D3A4A"/>
                </a:solidFill>
              </a:defRPr>
            </a:pPr>
          </a:p>
          <a:p>
            <a:pPr>
              <a:spcAft>
                <a:spcPts val="400"/>
              </a:spcAft>
              <a:defRPr sz="1500" b="1">
                <a:solidFill>
                  <a:srgbClr val="2C5F8A"/>
                </a:solidFill>
              </a:defRPr>
            </a:pPr>
            <a:r>
              <a:t>OPEN QUESTIONS that evoke change talk:</a:t>
            </a:r>
          </a:p>
          <a:p>
            <a:pPr lvl="1">
              <a:spcAft>
                <a:spcPts val="400"/>
              </a:spcAft>
              <a:defRPr sz="1300">
                <a:solidFill>
                  <a:srgbClr val="2D3A4A"/>
                </a:solidFill>
              </a:defRPr>
            </a:pPr>
            <a:r>
              <a:t>'What concerns you most about your drinking?' (evokes Reasons)</a:t>
            </a:r>
          </a:p>
          <a:p>
            <a:pPr lvl="1">
              <a:spcAft>
                <a:spcPts val="400"/>
              </a:spcAft>
              <a:defRPr sz="1300">
                <a:solidFill>
                  <a:srgbClr val="2D3A4A"/>
                </a:solidFill>
              </a:defRPr>
            </a:pPr>
            <a:r>
              <a:t>'What would you like to be different?' (evokes Desire)</a:t>
            </a:r>
          </a:p>
          <a:p>
            <a:pPr lvl="1">
              <a:spcAft>
                <a:spcPts val="400"/>
              </a:spcAft>
              <a:defRPr sz="1300">
                <a:solidFill>
                  <a:srgbClr val="2D3A4A"/>
                </a:solidFill>
              </a:defRPr>
            </a:pPr>
            <a:r>
              <a:t>'What strengths do you have?' (evokes Ability)</a:t>
            </a:r>
          </a:p>
          <a:p>
            <a:pPr lvl="1">
              <a:spcAft>
                <a:spcPts val="400"/>
              </a:spcAft>
              <a:defRPr sz="1300">
                <a:solidFill>
                  <a:srgbClr val="2D3A4A"/>
                </a:solidFill>
              </a:defRPr>
            </a:pPr>
            <a:r>
              <a:t>'How important is this to you?' (evokes Need)</a:t>
            </a:r>
          </a:p>
          <a:p>
            <a:pPr>
              <a:spcAft>
                <a:spcPts val="400"/>
              </a:spcAft>
              <a:defRPr sz="1500">
                <a:solidFill>
                  <a:srgbClr val="2D3A4A"/>
                </a:solidFill>
              </a:defRPr>
            </a:pPr>
          </a:p>
          <a:p>
            <a:pPr>
              <a:spcAft>
                <a:spcPts val="400"/>
              </a:spcAft>
              <a:defRPr sz="1500" b="1">
                <a:solidFill>
                  <a:srgbClr val="2C5F8A"/>
                </a:solidFill>
              </a:defRPr>
            </a:pPr>
            <a:r>
              <a:t>AFFIRMATIONS that strengthen change talk:</a:t>
            </a:r>
          </a:p>
          <a:p>
            <a:pPr lvl="1">
              <a:spcAft>
                <a:spcPts val="400"/>
              </a:spcAft>
              <a:defRPr sz="1300">
                <a:solidFill>
                  <a:srgbClr val="2D3A4A"/>
                </a:solidFill>
              </a:defRPr>
            </a:pPr>
            <a:r>
              <a:t>'You clearly care about your health' (when they mention health concerns)</a:t>
            </a:r>
          </a:p>
          <a:p>
            <a:pPr lvl="1">
              <a:spcAft>
                <a:spcPts val="400"/>
              </a:spcAft>
              <a:defRPr sz="1300">
                <a:solidFill>
                  <a:srgbClr val="2D3A4A"/>
                </a:solidFill>
              </a:defRPr>
            </a:pPr>
            <a:r>
              <a:t>'That took real courage to say' (when they acknowledge problems)</a:t>
            </a:r>
          </a:p>
          <a:p>
            <a:pPr>
              <a:spcAft>
                <a:spcPts val="400"/>
              </a:spcAft>
              <a:defRPr sz="1500">
                <a:solidFill>
                  <a:srgbClr val="2D3A4A"/>
                </a:solidFill>
              </a:defRPr>
            </a:pPr>
          </a:p>
          <a:p>
            <a:pPr>
              <a:spcAft>
                <a:spcPts val="400"/>
              </a:spcAft>
              <a:defRPr sz="1500" b="1">
                <a:solidFill>
                  <a:srgbClr val="2C5F8A"/>
                </a:solidFill>
              </a:defRPr>
            </a:pPr>
            <a:r>
              <a:t>REFLECTIONS that amplify change talk:</a:t>
            </a:r>
          </a:p>
          <a:p>
            <a:pPr lvl="1">
              <a:spcAft>
                <a:spcPts val="400"/>
              </a:spcAft>
              <a:defRPr sz="1300">
                <a:solidFill>
                  <a:srgbClr val="2D3A4A"/>
                </a:solidFill>
              </a:defRPr>
            </a:pPr>
            <a:r>
              <a:t>Client: 'I guess I should probably think about cutting back'</a:t>
            </a:r>
          </a:p>
          <a:p>
            <a:pPr lvl="1">
              <a:spcAft>
                <a:spcPts val="400"/>
              </a:spcAft>
              <a:defRPr sz="1300">
                <a:solidFill>
                  <a:srgbClr val="2D3A4A"/>
                </a:solidFill>
              </a:defRPr>
            </a:pPr>
            <a:r>
              <a:t>Reflection: 'Part of you knows something needs to change'</a:t>
            </a:r>
          </a:p>
          <a:p>
            <a:pPr lvl="1">
              <a:spcAft>
                <a:spcPts val="400"/>
              </a:spcAft>
              <a:defRPr sz="1300">
                <a:solidFill>
                  <a:srgbClr val="2D3A4A"/>
                </a:solidFill>
              </a:defRPr>
            </a:pPr>
            <a:r>
              <a:t>(Strengthens and deepens the change talk)</a:t>
            </a:r>
          </a:p>
          <a:p>
            <a:pPr>
              <a:spcAft>
                <a:spcPts val="400"/>
              </a:spcAft>
              <a:defRPr sz="1500">
                <a:solidFill>
                  <a:srgbClr val="2D3A4A"/>
                </a:solidFill>
              </a:defRPr>
            </a:pPr>
          </a:p>
          <a:p>
            <a:pPr>
              <a:spcAft>
                <a:spcPts val="400"/>
              </a:spcAft>
              <a:defRPr sz="1500" b="1">
                <a:solidFill>
                  <a:srgbClr val="2C5F8A"/>
                </a:solidFill>
              </a:defRPr>
            </a:pPr>
            <a:r>
              <a:t>SUMMARIES that collect change talk:</a:t>
            </a:r>
          </a:p>
          <a:p>
            <a:pPr lvl="1">
              <a:spcAft>
                <a:spcPts val="400"/>
              </a:spcAft>
              <a:defRPr sz="1300">
                <a:solidFill>
                  <a:srgbClr val="2D3A4A"/>
                </a:solidFill>
              </a:defRPr>
            </a:pPr>
            <a:r>
              <a:t>Gather ALL change talk heard in session → present it as one collection</a:t>
            </a:r>
          </a:p>
          <a:p>
            <a:pPr lvl="1">
              <a:spcAft>
                <a:spcPts val="400"/>
              </a:spcAft>
              <a:defRPr sz="1300">
                <a:solidFill>
                  <a:srgbClr val="2D3A4A"/>
                </a:solidFill>
              </a:defRPr>
            </a:pPr>
            <a:r>
              <a:t>Leave out or minimize sustain talk in the summary</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Use OARS strategically: every question evokes, every reflection amplifies, every summary collects change talk.</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&amp; Rollnick (2013). MI, 3rd ed. | Moyers et al. (2009). JSAT, 36, 101.</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MET Treatment Fidelity: MITI Coding in Practice</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WHY FIDELITY MATTERS:</a:t>
            </a:r>
          </a:p>
          <a:p>
            <a:pPr lvl="1">
              <a:spcAft>
                <a:spcPts val="400"/>
              </a:spcAft>
              <a:defRPr sz="1300">
                <a:solidFill>
                  <a:srgbClr val="2D3A4A"/>
                </a:solidFill>
              </a:defRPr>
            </a:pPr>
            <a:r>
              <a:t>• Poorly delivered MI can be WORSE than no treatment</a:t>
            </a:r>
          </a:p>
          <a:p>
            <a:pPr lvl="1">
              <a:spcAft>
                <a:spcPts val="400"/>
              </a:spcAft>
              <a:defRPr sz="1300">
                <a:solidFill>
                  <a:srgbClr val="2D3A4A"/>
                </a:solidFill>
              </a:defRPr>
            </a:pPr>
            <a:r>
              <a:t>• Therapist drift is common without monitoring</a:t>
            </a:r>
          </a:p>
          <a:p>
            <a:pPr lvl="1">
              <a:spcAft>
                <a:spcPts val="400"/>
              </a:spcAft>
              <a:defRPr sz="1300">
                <a:solidFill>
                  <a:srgbClr val="2D3A4A"/>
                </a:solidFill>
              </a:defRPr>
            </a:pPr>
            <a:r>
              <a:t>• Quality determines effectiveness</a:t>
            </a:r>
          </a:p>
          <a:p>
            <a:pPr>
              <a:spcAft>
                <a:spcPts val="400"/>
              </a:spcAft>
              <a:defRPr sz="1500">
                <a:solidFill>
                  <a:srgbClr val="2D3A4A"/>
                </a:solidFill>
              </a:defRPr>
            </a:pPr>
          </a:p>
          <a:p>
            <a:pPr>
              <a:spcAft>
                <a:spcPts val="400"/>
              </a:spcAft>
              <a:defRPr sz="1500" b="1">
                <a:solidFill>
                  <a:srgbClr val="2C5F8A"/>
                </a:solidFill>
              </a:defRPr>
            </a:pPr>
            <a:r>
              <a:t>MITI 4.2 BEHAVIORAL COUNTS (per 20-min sample):</a:t>
            </a:r>
          </a:p>
          <a:p>
            <a:pPr lvl="1">
              <a:spcAft>
                <a:spcPts val="400"/>
              </a:spcAft>
              <a:defRPr sz="1300">
                <a:solidFill>
                  <a:srgbClr val="2D3A4A"/>
                </a:solidFill>
              </a:defRPr>
            </a:pPr>
            <a:r>
              <a:t>MI-Adherent: Affirm, Seek Collaboration, Emphasize Autonomy</a:t>
            </a:r>
          </a:p>
          <a:p>
            <a:pPr lvl="1">
              <a:spcAft>
                <a:spcPts val="400"/>
              </a:spcAft>
              <a:defRPr sz="1300">
                <a:solidFill>
                  <a:srgbClr val="2D3A4A"/>
                </a:solidFill>
              </a:defRPr>
            </a:pPr>
            <a:r>
              <a:t>MI-Non-Adherent: Confront, Direct, Warn</a:t>
            </a:r>
          </a:p>
          <a:p>
            <a:pPr lvl="1">
              <a:spcAft>
                <a:spcPts val="400"/>
              </a:spcAft>
              <a:defRPr sz="1300">
                <a:solidFill>
                  <a:srgbClr val="2D3A4A"/>
                </a:solidFill>
              </a:defRPr>
            </a:pPr>
            <a:r>
              <a:t>Questions: Open vs. Closed (ratio matters)</a:t>
            </a:r>
          </a:p>
          <a:p>
            <a:pPr lvl="1">
              <a:spcAft>
                <a:spcPts val="400"/>
              </a:spcAft>
              <a:defRPr sz="1300">
                <a:solidFill>
                  <a:srgbClr val="2D3A4A"/>
                </a:solidFill>
              </a:defRPr>
            </a:pPr>
            <a:r>
              <a:t>Reflections: Simple vs. Complex (ratio matters)</a:t>
            </a:r>
          </a:p>
          <a:p>
            <a:pPr>
              <a:spcAft>
                <a:spcPts val="400"/>
              </a:spcAft>
              <a:defRPr sz="1500">
                <a:solidFill>
                  <a:srgbClr val="2D3A4A"/>
                </a:solidFill>
              </a:defRPr>
            </a:pPr>
          </a:p>
          <a:p>
            <a:pPr>
              <a:spcAft>
                <a:spcPts val="400"/>
              </a:spcAft>
              <a:defRPr sz="1500" b="1">
                <a:solidFill>
                  <a:srgbClr val="2C5F8A"/>
                </a:solidFill>
              </a:defRPr>
            </a:pPr>
            <a:r>
              <a:t>PROFICIENCY BENCHMARKS:</a:t>
            </a:r>
          </a:p>
          <a:p>
            <a:pPr lvl="1">
              <a:spcAft>
                <a:spcPts val="400"/>
              </a:spcAft>
              <a:defRPr sz="1300">
                <a:solidFill>
                  <a:srgbClr val="2D3A4A"/>
                </a:solidFill>
              </a:defRPr>
            </a:pPr>
            <a:r>
              <a:t>• Reflection:Question ratio ≥ 2:1</a:t>
            </a:r>
          </a:p>
          <a:p>
            <a:pPr lvl="1">
              <a:spcAft>
                <a:spcPts val="400"/>
              </a:spcAft>
              <a:defRPr sz="1300">
                <a:solidFill>
                  <a:srgbClr val="2D3A4A"/>
                </a:solidFill>
              </a:defRPr>
            </a:pPr>
            <a:r>
              <a:t>• % Open Questions ≥ 70%</a:t>
            </a:r>
          </a:p>
          <a:p>
            <a:pPr lvl="1">
              <a:spcAft>
                <a:spcPts val="400"/>
              </a:spcAft>
              <a:defRPr sz="1300">
                <a:solidFill>
                  <a:srgbClr val="2D3A4A"/>
                </a:solidFill>
              </a:defRPr>
            </a:pPr>
            <a:r>
              <a:t>• % Complex Reflections ≥ 50%</a:t>
            </a:r>
          </a:p>
          <a:p>
            <a:pPr lvl="1">
              <a:spcAft>
                <a:spcPts val="400"/>
              </a:spcAft>
              <a:defRPr sz="1300">
                <a:solidFill>
                  <a:srgbClr val="2D3A4A"/>
                </a:solidFill>
              </a:defRPr>
            </a:pPr>
            <a:r>
              <a:t>• Technical Global ≥ 4.0/5</a:t>
            </a:r>
          </a:p>
          <a:p>
            <a:pPr lvl="1">
              <a:spcAft>
                <a:spcPts val="400"/>
              </a:spcAft>
              <a:defRPr sz="1300">
                <a:solidFill>
                  <a:srgbClr val="2D3A4A"/>
                </a:solidFill>
              </a:defRPr>
            </a:pPr>
            <a:r>
              <a:t>• Relational Global ≥ 4.0/5</a:t>
            </a:r>
          </a:p>
          <a:p>
            <a:pPr>
              <a:spcAft>
                <a:spcPts val="400"/>
              </a:spcAft>
              <a:defRPr sz="1500">
                <a:solidFill>
                  <a:srgbClr val="2D3A4A"/>
                </a:solidFill>
              </a:defRPr>
            </a:pPr>
          </a:p>
          <a:p>
            <a:pPr>
              <a:spcAft>
                <a:spcPts val="400"/>
              </a:spcAft>
              <a:defRPr sz="1500">
                <a:solidFill>
                  <a:srgbClr val="2D3A4A"/>
                </a:solidFill>
              </a:defRPr>
            </a:pPr>
            <a:r>
              <a:t>HOW TO USE: Record sessions → trained coder rates → feedback to therapist</a:t>
            </a:r>
          </a:p>
          <a:p>
            <a:pPr>
              <a:spcAft>
                <a:spcPts val="400"/>
              </a:spcAft>
              <a:defRPr sz="1500">
                <a:solidFill>
                  <a:srgbClr val="2D3A4A"/>
                </a:solidFill>
              </a:defRPr>
            </a:pPr>
            <a:r>
              <a:t>Frequency: Minimum quarterly; monthly during initial training</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Monitor fidelity: Record → Code (MITI) → Get feedback → Adjust. Without this, quality degrades over time.</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Moyers et al. (2014). MITI Manual 4.2. U of New Mexico. | Schwalbe et al. (2014). Addiction, 109, 1287.</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Summary of Key Worksheets and When to Use Them</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SESSION 1:</a:t>
            </a:r>
          </a:p>
          <a:p>
            <a:pPr lvl="1">
              <a:spcAft>
                <a:spcPts val="400"/>
              </a:spcAft>
              <a:defRPr sz="1300">
                <a:solidFill>
                  <a:srgbClr val="2D3A4A"/>
                </a:solidFill>
              </a:defRPr>
            </a:pPr>
            <a:r>
              <a:t>• Personal Feedback Report (delivered to client)</a:t>
            </a:r>
          </a:p>
          <a:p>
            <a:pPr lvl="1">
              <a:spcAft>
                <a:spcPts val="400"/>
              </a:spcAft>
              <a:defRPr sz="1300">
                <a:solidFill>
                  <a:srgbClr val="2D3A4A"/>
                </a:solidFill>
              </a:defRPr>
            </a:pPr>
            <a:r>
              <a:t>• Substance Use Diary (homework assignment)</a:t>
            </a:r>
          </a:p>
          <a:p>
            <a:pPr lvl="1">
              <a:spcAft>
                <a:spcPts val="400"/>
              </a:spcAft>
              <a:defRPr sz="1300">
                <a:solidFill>
                  <a:srgbClr val="2D3A4A"/>
                </a:solidFill>
              </a:defRPr>
            </a:pPr>
            <a:r>
              <a:t>• Readiness/Importance/Confidence Rulers</a:t>
            </a:r>
          </a:p>
          <a:p>
            <a:pPr>
              <a:spcAft>
                <a:spcPts val="400"/>
              </a:spcAft>
              <a:defRPr sz="1500">
                <a:solidFill>
                  <a:srgbClr val="2D3A4A"/>
                </a:solidFill>
              </a:defRPr>
            </a:pPr>
          </a:p>
          <a:p>
            <a:pPr>
              <a:spcAft>
                <a:spcPts val="400"/>
              </a:spcAft>
              <a:defRPr sz="1500" b="1">
                <a:solidFill>
                  <a:srgbClr val="2C5F8A"/>
                </a:solidFill>
              </a:defRPr>
            </a:pPr>
            <a:r>
              <a:t>SESSION 2:</a:t>
            </a:r>
          </a:p>
          <a:p>
            <a:pPr lvl="1">
              <a:spcAft>
                <a:spcPts val="400"/>
              </a:spcAft>
              <a:defRPr sz="1300">
                <a:solidFill>
                  <a:srgbClr val="2D3A4A"/>
                </a:solidFill>
              </a:defRPr>
            </a:pPr>
            <a:r>
              <a:t>• Decisional Balance Sheet (4 quadrants)</a:t>
            </a:r>
          </a:p>
          <a:p>
            <a:pPr lvl="1">
              <a:spcAft>
                <a:spcPts val="400"/>
              </a:spcAft>
              <a:defRPr sz="1300">
                <a:solidFill>
                  <a:srgbClr val="2D3A4A"/>
                </a:solidFill>
              </a:defRPr>
            </a:pPr>
            <a:r>
              <a:t>• Values Card Sort or Values List</a:t>
            </a:r>
          </a:p>
          <a:p>
            <a:pPr lvl="1">
              <a:spcAft>
                <a:spcPts val="400"/>
              </a:spcAft>
              <a:defRPr sz="1300">
                <a:solidFill>
                  <a:srgbClr val="2D3A4A"/>
                </a:solidFill>
              </a:defRPr>
            </a:pPr>
            <a:r>
              <a:t>• Change Plan Worksheet (if ready for commitment)</a:t>
            </a:r>
          </a:p>
          <a:p>
            <a:pPr>
              <a:spcAft>
                <a:spcPts val="400"/>
              </a:spcAft>
              <a:defRPr sz="1500">
                <a:solidFill>
                  <a:srgbClr val="2D3A4A"/>
                </a:solidFill>
              </a:defRPr>
            </a:pPr>
          </a:p>
          <a:p>
            <a:pPr>
              <a:spcAft>
                <a:spcPts val="400"/>
              </a:spcAft>
              <a:defRPr sz="1500" b="1">
                <a:solidFill>
                  <a:srgbClr val="2C5F8A"/>
                </a:solidFill>
              </a:defRPr>
            </a:pPr>
            <a:r>
              <a:t>SESSION 3:</a:t>
            </a:r>
          </a:p>
          <a:p>
            <a:pPr lvl="1">
              <a:spcAft>
                <a:spcPts val="400"/>
              </a:spcAft>
              <a:defRPr sz="1300">
                <a:solidFill>
                  <a:srgbClr val="2D3A4A"/>
                </a:solidFill>
              </a:defRPr>
            </a:pPr>
            <a:r>
              <a:t>• Progress Review Form</a:t>
            </a:r>
          </a:p>
          <a:p>
            <a:pPr lvl="1">
              <a:spcAft>
                <a:spcPts val="400"/>
              </a:spcAft>
              <a:defRPr sz="1300">
                <a:solidFill>
                  <a:srgbClr val="2D3A4A"/>
                </a:solidFill>
              </a:defRPr>
            </a:pPr>
            <a:r>
              <a:t>• Modified Change Plan (if needed)</a:t>
            </a:r>
          </a:p>
          <a:p>
            <a:pPr lvl="1">
              <a:spcAft>
                <a:spcPts val="400"/>
              </a:spcAft>
              <a:defRPr sz="1300">
                <a:solidFill>
                  <a:srgbClr val="2D3A4A"/>
                </a:solidFill>
              </a:defRPr>
            </a:pPr>
            <a:r>
              <a:t>• Trigger Identification Worksheet</a:t>
            </a:r>
          </a:p>
          <a:p>
            <a:pPr>
              <a:spcAft>
                <a:spcPts val="400"/>
              </a:spcAft>
              <a:defRPr sz="1500">
                <a:solidFill>
                  <a:srgbClr val="2D3A4A"/>
                </a:solidFill>
              </a:defRPr>
            </a:pPr>
          </a:p>
          <a:p>
            <a:pPr>
              <a:spcAft>
                <a:spcPts val="400"/>
              </a:spcAft>
              <a:defRPr sz="1500" b="1">
                <a:solidFill>
                  <a:srgbClr val="2C5F8A"/>
                </a:solidFill>
              </a:defRPr>
            </a:pPr>
            <a:r>
              <a:t>SESSION 4:</a:t>
            </a:r>
          </a:p>
          <a:p>
            <a:pPr lvl="1">
              <a:spcAft>
                <a:spcPts val="400"/>
              </a:spcAft>
              <a:defRPr sz="1300">
                <a:solidFill>
                  <a:srgbClr val="2D3A4A"/>
                </a:solidFill>
              </a:defRPr>
            </a:pPr>
            <a:r>
              <a:t>• Relapse Prevention Plan</a:t>
            </a:r>
          </a:p>
          <a:p>
            <a:pPr lvl="1">
              <a:spcAft>
                <a:spcPts val="400"/>
              </a:spcAft>
              <a:defRPr sz="1300">
                <a:solidFill>
                  <a:srgbClr val="2D3A4A"/>
                </a:solidFill>
              </a:defRPr>
            </a:pPr>
            <a:r>
              <a:t>• Emergency Contact Card</a:t>
            </a:r>
          </a:p>
          <a:p>
            <a:pPr lvl="1">
              <a:spcAft>
                <a:spcPts val="400"/>
              </a:spcAft>
              <a:defRPr sz="1300">
                <a:solidFill>
                  <a:srgbClr val="2D3A4A"/>
                </a:solidFill>
              </a:defRPr>
            </a:pPr>
            <a:r>
              <a:t>• Coping Skills Worksheet</a:t>
            </a:r>
          </a:p>
          <a:p>
            <a:pPr lvl="1">
              <a:spcAft>
                <a:spcPts val="400"/>
              </a:spcAft>
              <a:defRPr sz="1300">
                <a:solidFill>
                  <a:srgbClr val="2D3A4A"/>
                </a:solidFill>
              </a:defRPr>
            </a:pPr>
            <a:r>
              <a:t>• Long-term Goal Planning Sheet</a:t>
            </a:r>
          </a:p>
          <a:p>
            <a:pPr>
              <a:spcAft>
                <a:spcPts val="400"/>
              </a:spcAft>
              <a:defRPr sz="1500">
                <a:solidFill>
                  <a:srgbClr val="2D3A4A"/>
                </a:solidFill>
              </a:defRPr>
            </a:pPr>
          </a:p>
          <a:p>
            <a:pPr>
              <a:spcAft>
                <a:spcPts val="400"/>
              </a:spcAft>
              <a:defRPr sz="1500">
                <a:solidFill>
                  <a:srgbClr val="2D3A4A"/>
                </a:solidFill>
              </a:defRPr>
            </a:pPr>
            <a:r>
              <a:t>ALL SESSIONS: Self-monitoring diary (ongoing homework)</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Match worksheets to session goals: S1=Feedback, S2=Balance+Plan, S3=Review, S4=Prevention.</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et al. (1995). MET Manual. | SAMHSA (2019). TIP 35. | Marlatt &amp; Gordon (1985).</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Group Exercise: Identifying Change Talk vs. Sustain Talk</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CLASSIFY EACH STATEMENT (CT = Change Talk, ST = Sustain Talk):</a:t>
            </a:r>
          </a:p>
          <a:p>
            <a:pPr>
              <a:spcAft>
                <a:spcPts val="400"/>
              </a:spcAft>
              <a:defRPr sz="1500">
                <a:solidFill>
                  <a:srgbClr val="2D3A4A"/>
                </a:solidFill>
              </a:defRPr>
            </a:pPr>
          </a:p>
          <a:p>
            <a:pPr>
              <a:spcAft>
                <a:spcPts val="400"/>
              </a:spcAft>
              <a:defRPr sz="1500">
                <a:solidFill>
                  <a:srgbClr val="2D3A4A"/>
                </a:solidFill>
              </a:defRPr>
            </a:pPr>
            <a:r>
              <a:t>1. 'I know I need to cut down' → CT (Need)</a:t>
            </a:r>
          </a:p>
          <a:p>
            <a:pPr>
              <a:spcAft>
                <a:spcPts val="400"/>
              </a:spcAft>
              <a:defRPr sz="1500">
                <a:solidFill>
                  <a:srgbClr val="2D3A4A"/>
                </a:solidFill>
              </a:defRPr>
            </a:pPr>
            <a:r>
              <a:t>2. 'All my friends drink, I can't be different' → ST (Normalizing)</a:t>
            </a:r>
          </a:p>
          <a:p>
            <a:pPr>
              <a:spcAft>
                <a:spcPts val="400"/>
              </a:spcAft>
              <a:defRPr sz="1500">
                <a:solidFill>
                  <a:srgbClr val="2D3A4A"/>
                </a:solidFill>
              </a:defRPr>
            </a:pPr>
            <a:r>
              <a:t>3. 'My wife says she'll leave' → CT (Reasons)</a:t>
            </a:r>
          </a:p>
          <a:p>
            <a:pPr>
              <a:spcAft>
                <a:spcPts val="400"/>
              </a:spcAft>
              <a:defRPr sz="1500">
                <a:solidFill>
                  <a:srgbClr val="2D3A4A"/>
                </a:solidFill>
              </a:defRPr>
            </a:pPr>
            <a:r>
              <a:t>4. 'I've tried before, never works' → ST (Low ability)</a:t>
            </a:r>
          </a:p>
          <a:p>
            <a:pPr>
              <a:spcAft>
                <a:spcPts val="400"/>
              </a:spcAft>
              <a:defRPr sz="1500">
                <a:solidFill>
                  <a:srgbClr val="2D3A4A"/>
                </a:solidFill>
              </a:defRPr>
            </a:pPr>
            <a:r>
              <a:t>5. 'I wish I could drink normally' → CT (Desire)</a:t>
            </a:r>
          </a:p>
          <a:p>
            <a:pPr>
              <a:spcAft>
                <a:spcPts val="400"/>
              </a:spcAft>
              <a:defRPr sz="1500">
                <a:solidFill>
                  <a:srgbClr val="2D3A4A"/>
                </a:solidFill>
              </a:defRPr>
            </a:pPr>
            <a:r>
              <a:t>6. 'Life would be boring without alcohol' → ST (Cost of change)</a:t>
            </a:r>
          </a:p>
          <a:p>
            <a:pPr>
              <a:spcAft>
                <a:spcPts val="400"/>
              </a:spcAft>
              <a:defRPr sz="1500">
                <a:solidFill>
                  <a:srgbClr val="2D3A4A"/>
                </a:solidFill>
              </a:defRPr>
            </a:pPr>
            <a:r>
              <a:t>7. 'I'm going to try alcohol-free Mondays' → CT (Taking Steps)</a:t>
            </a:r>
          </a:p>
          <a:p>
            <a:pPr>
              <a:spcAft>
                <a:spcPts val="400"/>
              </a:spcAft>
              <a:defRPr sz="1500">
                <a:solidFill>
                  <a:srgbClr val="2D3A4A"/>
                </a:solidFill>
              </a:defRPr>
            </a:pPr>
            <a:r>
              <a:t>8. 'I'm not ready yet' → ST (No activation)</a:t>
            </a:r>
          </a:p>
          <a:p>
            <a:pPr>
              <a:spcAft>
                <a:spcPts val="400"/>
              </a:spcAft>
              <a:defRPr sz="1500">
                <a:solidFill>
                  <a:srgbClr val="2D3A4A"/>
                </a:solidFill>
              </a:defRPr>
            </a:pPr>
            <a:r>
              <a:t>9. 'I could probably cut back if I tried' → CT (Ability)</a:t>
            </a:r>
          </a:p>
          <a:p>
            <a:pPr>
              <a:spcAft>
                <a:spcPts val="400"/>
              </a:spcAft>
              <a:defRPr sz="1500">
                <a:solidFill>
                  <a:srgbClr val="2D3A4A"/>
                </a:solidFill>
              </a:defRPr>
            </a:pPr>
            <a:r>
              <a:t>10. 'I'm willing to give it a month' → CT (Activation/Commitment)</a:t>
            </a:r>
          </a:p>
          <a:p>
            <a:pPr>
              <a:spcAft>
                <a:spcPts val="400"/>
              </a:spcAft>
              <a:defRPr sz="1500">
                <a:solidFill>
                  <a:srgbClr val="2D3A4A"/>
                </a:solidFill>
              </a:defRPr>
            </a:pPr>
          </a:p>
          <a:p>
            <a:pPr>
              <a:spcAft>
                <a:spcPts val="400"/>
              </a:spcAft>
              <a:defRPr sz="1500" b="1">
                <a:solidFill>
                  <a:srgbClr val="2C5F8A"/>
                </a:solidFill>
              </a:defRPr>
            </a:pPr>
            <a:r>
              <a:t>PRACTICE RESPONDING:</a:t>
            </a:r>
          </a:p>
          <a:p>
            <a:pPr lvl="1">
              <a:spcAft>
                <a:spcPts val="400"/>
              </a:spcAft>
              <a:defRPr sz="1300">
                <a:solidFill>
                  <a:srgbClr val="2D3A4A"/>
                </a:solidFill>
              </a:defRPr>
            </a:pPr>
            <a:r>
              <a:t>For each CT: How would you REINFORCE it? (Reflect, affirm, elaborate)</a:t>
            </a:r>
          </a:p>
          <a:p>
            <a:pPr lvl="1">
              <a:spcAft>
                <a:spcPts val="400"/>
              </a:spcAft>
              <a:defRPr sz="1300">
                <a:solidFill>
                  <a:srgbClr val="2D3A4A"/>
                </a:solidFill>
              </a:defRPr>
            </a:pPr>
            <a:r>
              <a:t>For each ST: How would you respond WITHOUT strengthening it?</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Rapid CT/ST recognition is essential. Reinforce CT warmly; acknowledge ST briefly without dwelling.</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&amp; Rollnick (2013). MI, 3rd ed. | Moyers et al. (2009). JSAT, 36, 101.</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0" y="4572000"/>
            <a:ext cx="3657600" cy="3657600"/>
          </a:xfrm>
          <a:prstGeom prst="ellipse">
            <a:avLst/>
          </a:prstGeom>
          <a:solidFill>
            <a:srgbClr val="2C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371600"/>
            <a:ext cx="9144000" cy="1828800"/>
          </a:xfrm>
          <a:prstGeom prst="rect">
            <a:avLst/>
          </a:prstGeom>
          <a:noFill/>
        </p:spPr>
        <p:txBody>
          <a:bodyPr wrap="square">
            <a:spAutoFit/>
          </a:bodyPr>
          <a:lstStyle/>
          <a:p>
            <a:pPr algn="ctr">
              <a:defRPr sz="2400" i="1">
                <a:solidFill>
                  <a:srgbClr val="D4A01C"/>
                </a:solidFill>
              </a:defRPr>
            </a:pPr>
            <a:r>
              <a:t>"People are generally the best experts on themselves."</a:t>
            </a:r>
          </a:p>
          <a:p>
            <a:pPr algn="ctr">
              <a:defRPr sz="1600">
                <a:solidFill>
                  <a:srgbClr val="D4E6F1"/>
                </a:solidFill>
              </a:defRPr>
            </a:pPr>
            <a:r>
              <a:t>— William R. Miller</a:t>
            </a:r>
          </a:p>
        </p:txBody>
      </p:sp>
      <p:sp>
        <p:nvSpPr>
          <p:cNvPr id="5" name="TextBox 4"/>
          <p:cNvSpPr txBox="1"/>
          <p:nvPr/>
        </p:nvSpPr>
        <p:spPr>
          <a:xfrm>
            <a:off x="1371600" y="3200400"/>
            <a:ext cx="9144000" cy="1371600"/>
          </a:xfrm>
          <a:prstGeom prst="rect">
            <a:avLst/>
          </a:prstGeom>
          <a:noFill/>
        </p:spPr>
        <p:txBody>
          <a:bodyPr wrap="square">
            <a:spAutoFit/>
          </a:bodyPr>
          <a:lstStyle/>
          <a:p>
            <a:pPr algn="ctr">
              <a:defRPr sz="1800" i="1">
                <a:solidFill>
                  <a:srgbClr val="FFFFFF"/>
                </a:solidFill>
              </a:defRPr>
            </a:pPr>
            <a:r>
              <a:t>"If you find yourself working harder than the client, you are doing it wrong."</a:t>
            </a:r>
          </a:p>
        </p:txBody>
      </p:sp>
      <p:sp>
        <p:nvSpPr>
          <p:cNvPr id="6" name="TextBox 5"/>
          <p:cNvSpPr txBox="1"/>
          <p:nvPr/>
        </p:nvSpPr>
        <p:spPr>
          <a:xfrm>
            <a:off x="1371600" y="4754880"/>
            <a:ext cx="9144000" cy="1371600"/>
          </a:xfrm>
          <a:prstGeom prst="rect">
            <a:avLst/>
          </a:prstGeom>
          <a:noFill/>
        </p:spPr>
        <p:txBody>
          <a:bodyPr wrap="square">
            <a:spAutoFit/>
          </a:bodyPr>
          <a:lstStyle/>
          <a:p>
            <a:pPr algn="ctr">
              <a:defRPr sz="1800">
                <a:solidFill>
                  <a:srgbClr val="3A7BC8"/>
                </a:solidFill>
              </a:defRPr>
            </a:pPr>
            <a:r>
              <a:t>The Spirit of MET:</a:t>
            </a:r>
          </a:p>
          <a:p>
            <a:pPr algn="ctr">
              <a:defRPr sz="2200" b="1">
                <a:solidFill>
                  <a:srgbClr val="FFFFFF"/>
                </a:solidFill>
              </a:defRPr>
            </a:pPr>
            <a:r>
              <a:t>Partnership  •  Acceptance  •  Compassion  •  Evocation</a:t>
            </a:r>
          </a:p>
        </p:txBody>
      </p:sp>
      <p:sp>
        <p:nvSpPr>
          <p:cNvPr id="7" name="TextBox 6"/>
          <p:cNvSpPr txBox="1"/>
          <p:nvPr/>
        </p:nvSpPr>
        <p:spPr>
          <a:xfrm>
            <a:off x="1371600" y="5943600"/>
            <a:ext cx="9144000" cy="640080"/>
          </a:xfrm>
          <a:prstGeom prst="rect">
            <a:avLst/>
          </a:prstGeom>
          <a:noFill/>
        </p:spPr>
        <p:txBody>
          <a:bodyPr wrap="none">
            <a:spAutoFit/>
          </a:bodyPr>
          <a:lstStyle/>
          <a:p>
            <a:pPr algn="ctr">
              <a:defRPr sz="2800" b="1">
                <a:solidFill>
                  <a:srgbClr val="D4A01C"/>
                </a:solidFill>
              </a:defRPr>
            </a:pPr>
            <a:r>
              <a:t>Thank You</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Agenda Mapping: Collaborative Session Planning</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a:solidFill>
                  <a:srgbClr val="2D3A4A"/>
                </a:solidFill>
              </a:defRPr>
            </a:pPr>
            <a:r>
              <a:t>WHAT IS AGENDA MAPPING?</a:t>
            </a:r>
          </a:p>
          <a:p>
            <a:pPr lvl="1">
              <a:spcAft>
                <a:spcPts val="400"/>
              </a:spcAft>
              <a:defRPr sz="1300">
                <a:solidFill>
                  <a:srgbClr val="2D3A4A"/>
                </a:solidFill>
              </a:defRPr>
            </a:pPr>
            <a:r>
              <a:t>Collaboratively deciding what to discuss in the session</a:t>
            </a:r>
          </a:p>
          <a:p>
            <a:pPr lvl="1">
              <a:spcAft>
                <a:spcPts val="400"/>
              </a:spcAft>
              <a:defRPr sz="1300">
                <a:solidFill>
                  <a:srgbClr val="2D3A4A"/>
                </a:solidFill>
              </a:defRPr>
            </a:pPr>
            <a:r>
              <a:t>Gives client ownership; supports autonomy; reduces resistance</a:t>
            </a:r>
          </a:p>
          <a:p>
            <a:pPr>
              <a:spcAft>
                <a:spcPts val="400"/>
              </a:spcAft>
              <a:defRPr sz="1500">
                <a:solidFill>
                  <a:srgbClr val="2D3A4A"/>
                </a:solidFill>
              </a:defRPr>
            </a:pPr>
          </a:p>
          <a:p>
            <a:pPr>
              <a:spcAft>
                <a:spcPts val="400"/>
              </a:spcAft>
              <a:defRPr sz="1500" b="1">
                <a:solidFill>
                  <a:srgbClr val="2C5F8A"/>
                </a:solidFill>
              </a:defRPr>
            </a:pPr>
            <a:r>
              <a:t>HOW TO DO IT:</a:t>
            </a:r>
          </a:p>
          <a:p>
            <a:pPr lvl="1">
              <a:spcAft>
                <a:spcPts val="400"/>
              </a:spcAft>
              <a:defRPr sz="1300">
                <a:solidFill>
                  <a:srgbClr val="2D3A4A"/>
                </a:solidFill>
              </a:defRPr>
            </a:pPr>
            <a:r>
              <a:t>T: 'There are several things we could talk about today.'</a:t>
            </a:r>
          </a:p>
          <a:p>
            <a:pPr lvl="1">
              <a:spcAft>
                <a:spcPts val="400"/>
              </a:spcAft>
              <a:defRPr sz="1300">
                <a:solidFill>
                  <a:srgbClr val="2D3A4A"/>
                </a:solidFill>
              </a:defRPr>
            </a:pPr>
            <a:r>
              <a:t>T: 'We could look at your assessment results, explore your concerns,</a:t>
            </a:r>
          </a:p>
          <a:p>
            <a:pPr lvl="2">
              <a:spcAft>
                <a:spcPts val="400"/>
              </a:spcAft>
              <a:defRPr sz="1200">
                <a:solidFill>
                  <a:srgbClr val="2D3A4A"/>
                </a:solidFill>
              </a:defRPr>
            </a:pPr>
            <a:r>
              <a:t>talk about options, or discuss something else entirely.'</a:t>
            </a:r>
          </a:p>
          <a:p>
            <a:pPr lvl="1">
              <a:spcAft>
                <a:spcPts val="400"/>
              </a:spcAft>
              <a:defRPr sz="1300">
                <a:solidFill>
                  <a:srgbClr val="2D3A4A"/>
                </a:solidFill>
              </a:defRPr>
            </a:pPr>
            <a:r>
              <a:t>T: 'What would be most useful for you?'</a:t>
            </a:r>
          </a:p>
          <a:p>
            <a:pPr>
              <a:spcAft>
                <a:spcPts val="400"/>
              </a:spcAft>
              <a:defRPr sz="1500">
                <a:solidFill>
                  <a:srgbClr val="2D3A4A"/>
                </a:solidFill>
              </a:defRPr>
            </a:pPr>
          </a:p>
          <a:p>
            <a:pPr>
              <a:spcAft>
                <a:spcPts val="400"/>
              </a:spcAft>
              <a:defRPr sz="1500" b="1">
                <a:solidFill>
                  <a:srgbClr val="2C5F8A"/>
                </a:solidFill>
              </a:defRPr>
            </a:pPr>
            <a:r>
              <a:t>WHEN TO USE:</a:t>
            </a:r>
          </a:p>
          <a:p>
            <a:pPr lvl="1">
              <a:spcAft>
                <a:spcPts val="400"/>
              </a:spcAft>
              <a:defRPr sz="1300">
                <a:solidFill>
                  <a:srgbClr val="2D3A4A"/>
                </a:solidFill>
              </a:defRPr>
            </a:pPr>
            <a:r>
              <a:t>• Beginning of every session (especially Sessions 2-4)</a:t>
            </a:r>
          </a:p>
          <a:p>
            <a:pPr lvl="1">
              <a:spcAft>
                <a:spcPts val="400"/>
              </a:spcAft>
              <a:defRPr sz="1300">
                <a:solidFill>
                  <a:srgbClr val="2D3A4A"/>
                </a:solidFill>
              </a:defRPr>
            </a:pPr>
            <a:r>
              <a:t>• When session feels stuck or directionless</a:t>
            </a:r>
          </a:p>
          <a:p>
            <a:pPr lvl="1">
              <a:spcAft>
                <a:spcPts val="400"/>
              </a:spcAft>
              <a:defRPr sz="1300">
                <a:solidFill>
                  <a:srgbClr val="2D3A4A"/>
                </a:solidFill>
              </a:defRPr>
            </a:pPr>
            <a:r>
              <a:t>• When multiple topics compete for attention</a:t>
            </a:r>
          </a:p>
          <a:p>
            <a:pPr>
              <a:spcAft>
                <a:spcPts val="400"/>
              </a:spcAft>
              <a:defRPr sz="1500">
                <a:solidFill>
                  <a:srgbClr val="2D3A4A"/>
                </a:solidFill>
              </a:defRPr>
            </a:pPr>
          </a:p>
          <a:p>
            <a:pPr>
              <a:spcAft>
                <a:spcPts val="400"/>
              </a:spcAft>
              <a:defRPr sz="1500" b="1">
                <a:solidFill>
                  <a:srgbClr val="2C5F8A"/>
                </a:solidFill>
              </a:defRPr>
            </a:pPr>
            <a:r>
              <a:t>WHY IT WORKS:</a:t>
            </a:r>
          </a:p>
          <a:p>
            <a:pPr lvl="1">
              <a:spcAft>
                <a:spcPts val="400"/>
              </a:spcAft>
              <a:defRPr sz="1300">
                <a:solidFill>
                  <a:srgbClr val="2D3A4A"/>
                </a:solidFill>
              </a:defRPr>
            </a:pPr>
            <a:r>
              <a:t>• Client has choice → autonomy support → intrinsic motivation</a:t>
            </a:r>
          </a:p>
          <a:p>
            <a:pPr lvl="1">
              <a:spcAft>
                <a:spcPts val="400"/>
              </a:spcAft>
              <a:defRPr sz="1300">
                <a:solidFill>
                  <a:srgbClr val="2D3A4A"/>
                </a:solidFill>
              </a:defRPr>
            </a:pPr>
            <a:r>
              <a:t>• Therapist isn't imposing an agenda → reduces reactance</a:t>
            </a:r>
          </a:p>
          <a:p>
            <a:pPr lvl="1">
              <a:spcAft>
                <a:spcPts val="400"/>
              </a:spcAft>
              <a:defRPr sz="1300">
                <a:solidFill>
                  <a:srgbClr val="2D3A4A"/>
                </a:solidFill>
              </a:defRPr>
            </a:pPr>
            <a:r>
              <a:t>• Client's priorities get addressed → better engagement</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Let clients choose the session focus — this simple act communicates partnership and enhances engagement.</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Miller &amp; Rollnick (2013). MI, 3rd ed. | Rollnick, Butler &amp; Mason (2008). MI in Health Care.</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Scaling Questions: Beyond the Basic Ruler</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STANDARD RULERS:</a:t>
            </a:r>
          </a:p>
          <a:p>
            <a:pPr lvl="1">
              <a:spcAft>
                <a:spcPts val="400"/>
              </a:spcAft>
              <a:defRPr sz="1300">
                <a:solidFill>
                  <a:srgbClr val="2D3A4A"/>
                </a:solidFill>
              </a:defRPr>
            </a:pPr>
            <a:r>
              <a:t>Importance: 'How important is it to change? (0-10)'</a:t>
            </a:r>
          </a:p>
          <a:p>
            <a:pPr lvl="1">
              <a:spcAft>
                <a:spcPts val="400"/>
              </a:spcAft>
              <a:defRPr sz="1300">
                <a:solidFill>
                  <a:srgbClr val="2D3A4A"/>
                </a:solidFill>
              </a:defRPr>
            </a:pPr>
            <a:r>
              <a:t>Confidence: 'How confident are you that you could? (0-10)'</a:t>
            </a:r>
          </a:p>
          <a:p>
            <a:pPr lvl="1">
              <a:spcAft>
                <a:spcPts val="400"/>
              </a:spcAft>
              <a:defRPr sz="1300">
                <a:solidFill>
                  <a:srgbClr val="2D3A4A"/>
                </a:solidFill>
              </a:defRPr>
            </a:pPr>
            <a:r>
              <a:t>Readiness: 'How ready are you to make this change? (0-10)'</a:t>
            </a:r>
          </a:p>
          <a:p>
            <a:pPr>
              <a:spcAft>
                <a:spcPts val="400"/>
              </a:spcAft>
              <a:defRPr sz="1500">
                <a:solidFill>
                  <a:srgbClr val="2D3A4A"/>
                </a:solidFill>
              </a:defRPr>
            </a:pPr>
          </a:p>
          <a:p>
            <a:pPr>
              <a:spcAft>
                <a:spcPts val="400"/>
              </a:spcAft>
              <a:defRPr sz="1500" b="1">
                <a:solidFill>
                  <a:srgbClr val="2C5F8A"/>
                </a:solidFill>
              </a:defRPr>
            </a:pPr>
            <a:r>
              <a:t>ADVANCED SCALING APPLICATIONS:</a:t>
            </a:r>
          </a:p>
          <a:p>
            <a:pPr lvl="1">
              <a:spcAft>
                <a:spcPts val="400"/>
              </a:spcAft>
              <a:defRPr sz="1300">
                <a:solidFill>
                  <a:srgbClr val="2D3A4A"/>
                </a:solidFill>
              </a:defRPr>
            </a:pPr>
            <a:r>
              <a:t>Temporal scaling: 'Last month you were at 3; today you're at 6. What changed?'</a:t>
            </a:r>
          </a:p>
          <a:p>
            <a:pPr lvl="1">
              <a:spcAft>
                <a:spcPts val="400"/>
              </a:spcAft>
              <a:defRPr sz="1300">
                <a:solidFill>
                  <a:srgbClr val="2D3A4A"/>
                </a:solidFill>
              </a:defRPr>
            </a:pPr>
            <a:r>
              <a:t>Hypothetical scaling: 'If you were at an 8, what would that look like?'</a:t>
            </a:r>
          </a:p>
          <a:p>
            <a:pPr lvl="1">
              <a:spcAft>
                <a:spcPts val="400"/>
              </a:spcAft>
              <a:defRPr sz="1300">
                <a:solidFill>
                  <a:srgbClr val="2D3A4A"/>
                </a:solidFill>
              </a:defRPr>
            </a:pPr>
            <a:r>
              <a:t>Relational scaling: 'Where would your WIFE put you on this scale?'</a:t>
            </a:r>
          </a:p>
          <a:p>
            <a:pPr lvl="1">
              <a:spcAft>
                <a:spcPts val="400"/>
              </a:spcAft>
              <a:defRPr sz="1300">
                <a:solidFill>
                  <a:srgbClr val="2D3A4A"/>
                </a:solidFill>
              </a:defRPr>
            </a:pPr>
            <a:r>
              <a:t>Domain-specific: 'How important is it for your HEALTH? For your FAMILY?'</a:t>
            </a:r>
          </a:p>
          <a:p>
            <a:pPr>
              <a:spcAft>
                <a:spcPts val="400"/>
              </a:spcAft>
              <a:defRPr sz="1500">
                <a:solidFill>
                  <a:srgbClr val="2D3A4A"/>
                </a:solidFill>
              </a:defRPr>
            </a:pPr>
          </a:p>
          <a:p>
            <a:pPr>
              <a:spcAft>
                <a:spcPts val="400"/>
              </a:spcAft>
              <a:defRPr sz="1500" b="1">
                <a:solidFill>
                  <a:srgbClr val="2C5F8A"/>
                </a:solidFill>
              </a:defRPr>
            </a:pPr>
            <a:r>
              <a:t>POWERFUL FOLLOW-UPS:</a:t>
            </a:r>
          </a:p>
          <a:p>
            <a:pPr lvl="1">
              <a:spcAft>
                <a:spcPts val="400"/>
              </a:spcAft>
              <a:defRPr sz="1300">
                <a:solidFill>
                  <a:srgbClr val="2D3A4A"/>
                </a:solidFill>
              </a:defRPr>
            </a:pPr>
            <a:r>
              <a:t>'What gives you that much confidence? (even at 3)'</a:t>
            </a:r>
          </a:p>
          <a:p>
            <a:pPr lvl="1">
              <a:spcAft>
                <a:spcPts val="400"/>
              </a:spcAft>
              <a:defRPr sz="1300">
                <a:solidFill>
                  <a:srgbClr val="2D3A4A"/>
                </a:solidFill>
              </a:defRPr>
            </a:pPr>
            <a:r>
              <a:t>'What would need to happen to move up just one point?'</a:t>
            </a:r>
          </a:p>
          <a:p>
            <a:pPr lvl="1">
              <a:spcAft>
                <a:spcPts val="400"/>
              </a:spcAft>
              <a:defRPr sz="1300">
                <a:solidFill>
                  <a:srgbClr val="2D3A4A"/>
                </a:solidFill>
              </a:defRPr>
            </a:pPr>
            <a:r>
              <a:t>'What's keeping you from being a zero?'</a:t>
            </a:r>
          </a:p>
          <a:p>
            <a:pPr>
              <a:spcAft>
                <a:spcPts val="400"/>
              </a:spcAft>
              <a:defRPr sz="1500">
                <a:solidFill>
                  <a:srgbClr val="2D3A4A"/>
                </a:solidFill>
              </a:defRPr>
            </a:pPr>
          </a:p>
          <a:p>
            <a:pPr>
              <a:spcAft>
                <a:spcPts val="400"/>
              </a:spcAft>
              <a:defRPr sz="1500">
                <a:solidFill>
                  <a:srgbClr val="2D3A4A"/>
                </a:solidFill>
              </a:defRPr>
            </a:pPr>
            <a:r>
              <a:t>REMEMBER: Each follow-up is designed to evoke CHANGE TALK.</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Rulers are assessment + intervention combined. The follow-up question matters more than the number.</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Rollnick et al. (1999). Health Behavior Change. Churchill Livingstone. | Miller &amp; Rollnick (2013). MI, 3rd ed.</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4864"/>
          </a:xfrm>
          <a:prstGeom prst="rect">
            <a:avLst/>
          </a:prstGeom>
          <a:solidFill>
            <a:srgbClr val="3A7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0972800" cy="685800"/>
          </a:xfrm>
          <a:prstGeom prst="rect">
            <a:avLst/>
          </a:prstGeom>
          <a:noFill/>
        </p:spPr>
        <p:txBody>
          <a:bodyPr wrap="square">
            <a:spAutoFit/>
          </a:bodyPr>
          <a:lstStyle/>
          <a:p>
            <a:pPr>
              <a:defRPr sz="2600" b="1">
                <a:solidFill>
                  <a:srgbClr val="FFFFFF"/>
                </a:solidFill>
              </a:defRPr>
            </a:pPr>
            <a:r>
              <a:t>MET with Adolescents: Detailed Adaptations</a:t>
            </a:r>
          </a:p>
        </p:txBody>
      </p:sp>
      <p:sp>
        <p:nvSpPr>
          <p:cNvPr id="5" name="TextBox 4"/>
          <p:cNvSpPr txBox="1"/>
          <p:nvPr/>
        </p:nvSpPr>
        <p:spPr>
          <a:xfrm>
            <a:off x="457200" y="1234440"/>
            <a:ext cx="11247120" cy="4846320"/>
          </a:xfrm>
          <a:prstGeom prst="rect">
            <a:avLst/>
          </a:prstGeom>
          <a:noFill/>
        </p:spPr>
        <p:txBody>
          <a:bodyPr wrap="square">
            <a:spAutoFit/>
          </a:bodyPr>
          <a:lstStyle/>
          <a:p>
            <a:pPr>
              <a:spcAft>
                <a:spcPts val="400"/>
              </a:spcAft>
              <a:defRPr sz="1500" b="1">
                <a:solidFill>
                  <a:srgbClr val="2C5F8A"/>
                </a:solidFill>
              </a:defRPr>
            </a:pPr>
            <a:r>
              <a:t>UNIQUE DEVELOPMENTAL CONSIDERATIONS:</a:t>
            </a:r>
          </a:p>
          <a:p>
            <a:pPr lvl="1">
              <a:spcAft>
                <a:spcPts val="400"/>
              </a:spcAft>
              <a:defRPr sz="1300">
                <a:solidFill>
                  <a:srgbClr val="2D3A4A"/>
                </a:solidFill>
              </a:defRPr>
            </a:pPr>
            <a:r>
              <a:t>• Identity formation: 'Who am I?' is the central question</a:t>
            </a:r>
          </a:p>
          <a:p>
            <a:pPr lvl="1">
              <a:spcAft>
                <a:spcPts val="400"/>
              </a:spcAft>
              <a:defRPr sz="1300">
                <a:solidFill>
                  <a:srgbClr val="2D3A4A"/>
                </a:solidFill>
              </a:defRPr>
            </a:pPr>
            <a:r>
              <a:t>• Peer influence paramount: Norms matter more than health stats</a:t>
            </a:r>
          </a:p>
          <a:p>
            <a:pPr lvl="1">
              <a:spcAft>
                <a:spcPts val="400"/>
              </a:spcAft>
              <a:defRPr sz="1300">
                <a:solidFill>
                  <a:srgbClr val="2D3A4A"/>
                </a:solidFill>
              </a:defRPr>
            </a:pPr>
            <a:r>
              <a:t>• Stronger reactance to perceived authority (especially parents/therapists)</a:t>
            </a:r>
          </a:p>
          <a:p>
            <a:pPr lvl="1">
              <a:spcAft>
                <a:spcPts val="400"/>
              </a:spcAft>
              <a:defRPr sz="1300">
                <a:solidFill>
                  <a:srgbClr val="2D3A4A"/>
                </a:solidFill>
              </a:defRPr>
            </a:pPr>
            <a:r>
              <a:t>• Temporal discounting: 'I'll worry about that later'</a:t>
            </a:r>
          </a:p>
          <a:p>
            <a:pPr lvl="1">
              <a:spcAft>
                <a:spcPts val="400"/>
              </a:spcAft>
              <a:defRPr sz="1300">
                <a:solidFill>
                  <a:srgbClr val="2D3A4A"/>
                </a:solidFill>
              </a:defRPr>
            </a:pPr>
            <a:r>
              <a:t>• Often mandated: brought by parents, school, or courts</a:t>
            </a:r>
          </a:p>
          <a:p>
            <a:pPr>
              <a:spcAft>
                <a:spcPts val="400"/>
              </a:spcAft>
              <a:defRPr sz="1500">
                <a:solidFill>
                  <a:srgbClr val="2D3A4A"/>
                </a:solidFill>
              </a:defRPr>
            </a:pPr>
          </a:p>
          <a:p>
            <a:pPr>
              <a:spcAft>
                <a:spcPts val="400"/>
              </a:spcAft>
              <a:defRPr sz="1500" b="1">
                <a:solidFill>
                  <a:srgbClr val="2C5F8A"/>
                </a:solidFill>
              </a:defRPr>
            </a:pPr>
            <a:r>
              <a:t>ADAPTATIONS:</a:t>
            </a:r>
          </a:p>
          <a:p>
            <a:pPr lvl="1">
              <a:spcAft>
                <a:spcPts val="400"/>
              </a:spcAft>
              <a:defRPr sz="1300">
                <a:solidFill>
                  <a:srgbClr val="2D3A4A"/>
                </a:solidFill>
              </a:defRPr>
            </a:pPr>
            <a:r>
              <a:t>• Emphasize autonomy STRONGLY: 'It's YOUR life, YOUR choice'</a:t>
            </a:r>
          </a:p>
          <a:p>
            <a:pPr lvl="1">
              <a:spcAft>
                <a:spcPts val="400"/>
              </a:spcAft>
              <a:defRPr sz="1300">
                <a:solidFill>
                  <a:srgbClr val="2D3A4A"/>
                </a:solidFill>
              </a:defRPr>
            </a:pPr>
            <a:r>
              <a:t>• Use peer-relevant feedback: 'Compared to people your age...'</a:t>
            </a:r>
          </a:p>
          <a:p>
            <a:pPr lvl="1">
              <a:spcAft>
                <a:spcPts val="400"/>
              </a:spcAft>
              <a:defRPr sz="1300">
                <a:solidFill>
                  <a:srgbClr val="2D3A4A"/>
                </a:solidFill>
              </a:defRPr>
            </a:pPr>
            <a:r>
              <a:t>• Focus on IMMEDIATE consequences: social embarrassment, grades, sports</a:t>
            </a:r>
          </a:p>
          <a:p>
            <a:pPr lvl="1">
              <a:spcAft>
                <a:spcPts val="400"/>
              </a:spcAft>
              <a:defRPr sz="1300">
                <a:solidFill>
                  <a:srgbClr val="2D3A4A"/>
                </a:solidFill>
              </a:defRPr>
            </a:pPr>
            <a:r>
              <a:t>• Shorter sessions (30-45 min); more interactive; less formal</a:t>
            </a:r>
          </a:p>
          <a:p>
            <a:pPr lvl="1">
              <a:spcAft>
                <a:spcPts val="400"/>
              </a:spcAft>
              <a:defRPr sz="1300">
                <a:solidFill>
                  <a:srgbClr val="2D3A4A"/>
                </a:solidFill>
              </a:defRPr>
            </a:pPr>
            <a:r>
              <a:t>• Build alliance BEFORE any feedback delivery (trust first)</a:t>
            </a:r>
          </a:p>
          <a:p>
            <a:pPr lvl="1">
              <a:spcAft>
                <a:spcPts val="400"/>
              </a:spcAft>
              <a:defRPr sz="1300">
                <a:solidFill>
                  <a:srgbClr val="2D3A4A"/>
                </a:solidFill>
              </a:defRPr>
            </a:pPr>
            <a:r>
              <a:t>• Involve family sensitively (NIMHANS: critical in Indian context)</a:t>
            </a:r>
          </a:p>
          <a:p>
            <a:pPr>
              <a:spcAft>
                <a:spcPts val="400"/>
              </a:spcAft>
              <a:defRPr sz="1500">
                <a:solidFill>
                  <a:srgbClr val="2D3A4A"/>
                </a:solidFill>
              </a:defRPr>
            </a:pPr>
          </a:p>
          <a:p>
            <a:pPr>
              <a:spcAft>
                <a:spcPts val="400"/>
              </a:spcAft>
              <a:defRPr sz="1500" b="1">
                <a:solidFill>
                  <a:srgbClr val="2C5F8A"/>
                </a:solidFill>
              </a:defRPr>
            </a:pPr>
            <a:r>
              <a:t>EVIDENCE:</a:t>
            </a:r>
          </a:p>
          <a:p>
            <a:pPr lvl="1">
              <a:spcAft>
                <a:spcPts val="400"/>
              </a:spcAft>
              <a:defRPr sz="1300">
                <a:solidFill>
                  <a:srgbClr val="2D3A4A"/>
                </a:solidFill>
              </a:defRPr>
            </a:pPr>
            <a:r>
              <a:t>Marlatt et al. (1998): BASICS — single MI session reduced heavy drinking</a:t>
            </a:r>
          </a:p>
          <a:p>
            <a:pPr lvl="1">
              <a:spcAft>
                <a:spcPts val="400"/>
              </a:spcAft>
              <a:defRPr sz="1300">
                <a:solidFill>
                  <a:srgbClr val="2D3A4A"/>
                </a:solidFill>
              </a:defRPr>
            </a:pPr>
            <a:r>
              <a:t>at 2-year follow-up in college students</a:t>
            </a:r>
          </a:p>
          <a:p>
            <a:pPr lvl="1">
              <a:spcAft>
                <a:spcPts val="400"/>
              </a:spcAft>
              <a:defRPr sz="1300">
                <a:solidFill>
                  <a:srgbClr val="2D3A4A"/>
                </a:solidFill>
              </a:defRPr>
            </a:pPr>
            <a:r>
              <a:t>Jensen et al. (2011): MI effective for youth substance use</a:t>
            </a:r>
          </a:p>
        </p:txBody>
      </p:sp>
      <p:sp>
        <p:nvSpPr>
          <p:cNvPr id="6" name="Rounded Rectangle 5"/>
          <p:cNvSpPr/>
          <p:nvPr/>
        </p:nvSpPr>
        <p:spPr>
          <a:xfrm>
            <a:off x="457200" y="5669280"/>
            <a:ext cx="11247120" cy="548640"/>
          </a:xfrm>
          <a:prstGeom prst="roundRect">
            <a:avLst/>
          </a:prstGeom>
          <a:solidFill>
            <a:srgbClr val="CBFFFF"/>
          </a:solidFill>
          <a:ln w="1905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defRPr sz="1100" b="1">
                <a:solidFill>
                  <a:srgbClr val="1B2A4A"/>
                </a:solidFill>
              </a:defRPr>
            </a:pPr>
            <a:r>
              <a:t>KEY TAKEAWAY: Adolescent MET: maximum autonomy, peer-relevant feedback, immediate consequences, trust before content.</a:t>
            </a:r>
          </a:p>
        </p:txBody>
      </p:sp>
      <p:sp>
        <p:nvSpPr>
          <p:cNvPr id="7" name="Rectangle 6"/>
          <p:cNvSpPr/>
          <p:nvPr/>
        </p:nvSpPr>
        <p:spPr>
          <a:xfrm>
            <a:off x="0" y="6263640"/>
            <a:ext cx="12191695"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309360"/>
            <a:ext cx="11247120" cy="502920"/>
          </a:xfrm>
          <a:prstGeom prst="rect">
            <a:avLst/>
          </a:prstGeom>
          <a:noFill/>
        </p:spPr>
        <p:txBody>
          <a:bodyPr wrap="square">
            <a:spAutoFit/>
          </a:bodyPr>
          <a:lstStyle/>
          <a:p>
            <a:pPr>
              <a:defRPr sz="800" i="1">
                <a:solidFill>
                  <a:srgbClr val="5D6D7E"/>
                </a:solidFill>
              </a:defRPr>
            </a:pPr>
            <a:r>
              <a:t>Refs: Marlatt et al. (1998). JCCP, 66, 604. | Jensen et al. (2011). Clin Psych Rev, 31, 1024. | NIMHANS (2008).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