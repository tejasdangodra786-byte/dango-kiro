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5C"/>
              </a:gs>
              <a:gs pos="100000">
                <a:srgbClr val="0D47A1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097280"/>
            <a:ext cx="914400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FFFFFF"/>
                </a:solidFill>
                <a:latin typeface="Times New Roman"/>
              </a:defRPr>
            </a:pPr>
            <a:r>
              <a:t>MOTIVATIONAL ENHANCEMENT THERAPY (MET)</a:t>
            </a:r>
          </a:p>
          <a:p>
            <a:pPr algn="ctr">
              <a:spcAft>
                <a:spcPts val="3000"/>
              </a:spcAft>
              <a:defRPr sz="2200">
                <a:solidFill>
                  <a:srgbClr val="F9A825"/>
                </a:solidFill>
                <a:latin typeface="Times New Roman"/>
              </a:defRPr>
            </a:pPr>
            <a:r>
              <a:t>A Comprehensive Clinical Guide</a:t>
            </a:r>
          </a:p>
          <a:p>
            <a:pPr algn="ctr">
              <a:defRPr sz="1400">
                <a:solidFill>
                  <a:srgbClr val="BBDEFB"/>
                </a:solidFill>
                <a:latin typeface="Times New Roman"/>
              </a:defRPr>
            </a:pPr>
            <a:r>
              <a:t>Based on the NIAAA Project MATCH MET Manual (Miller et al., 1992)</a:t>
            </a:r>
          </a:p>
          <a:p>
            <a:pPr algn="ctr">
              <a:defRPr sz="1400">
                <a:solidFill>
                  <a:srgbClr val="BBDEFB"/>
                </a:solidFill>
                <a:latin typeface="Times New Roman"/>
              </a:defRPr>
            </a:pPr>
            <a:r>
              <a:t>&amp; NIMHANS Substance Use Disorders Manual (2016)</a:t>
            </a:r>
          </a:p>
          <a:p>
            <a:pPr>
              <a:spcAft>
                <a:spcPts val="2000"/>
              </a:spcAft>
            </a:pPr>
          </a:p>
          <a:p>
            <a:pPr algn="ctr">
              <a:defRPr sz="1300">
                <a:solidFill>
                  <a:srgbClr val="F9A825"/>
                </a:solidFill>
                <a:latin typeface="Times New Roman"/>
              </a:defRPr>
            </a:pPr>
            <a:r>
              <a:t>4-Session Brief Intervention  |  Evidence-Based  |  Client-Centered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Miller, W.R., Zweben, A., DiClemente, C.C., &amp; Rychtarik, R.G. (1992). MET Manual. NIAAA Project MATCH Series Vol. 2.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PRESENTATION OUTLINE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11430000" cy="438912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1. Introduction to MET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What is MET, origins, how it differs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527048"/>
            <a:ext cx="11430000" cy="438912"/>
          </a:xfrm>
          <a:prstGeom prst="roundRect">
            <a:avLst/>
          </a:prstGeom>
          <a:solidFill>
            <a:srgbClr val="B2DFDB"/>
          </a:solidFill>
          <a:ln w="1905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007B83"/>
                </a:solidFill>
                <a:latin typeface="Times New Roman"/>
              </a:defRPr>
            </a:pPr>
            <a:r>
              <a:t>2. Theoretical Foundations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TTM, Self-Efficacy, Cognitive Dissonance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002536"/>
            <a:ext cx="11430000" cy="438912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3. Principles &amp; Spirit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FRAMES, OARS, DARES, MI Spirit, Handling Resistance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478024"/>
            <a:ext cx="11430000" cy="438912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4. Session-by-Session Guide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4-session protocol with dialogues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953512"/>
            <a:ext cx="11430000" cy="438912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5. Clinical Techniques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Reflective listening, decisional balance, rulers, traps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429000"/>
            <a:ext cx="11430000" cy="438912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880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880038"/>
                </a:solidFill>
                <a:latin typeface="Times New Roman"/>
              </a:defRPr>
            </a:pPr>
            <a:r>
              <a:t>6. Case Conceptualization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Applied case with session-wise plans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904488"/>
            <a:ext cx="11430000" cy="438912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7. Worksheets &amp; Tools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6 printable clinical worksheets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4379976"/>
            <a:ext cx="11430000" cy="438912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8. Comparison with Other Therapies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MET vs CBT, 12-Step, BSFT; family/caregiver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4855464"/>
            <a:ext cx="11430000" cy="438912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9. Comorbid Psychiatric Disorders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PD, depression, anxiety, PTSD, psychosis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5330952"/>
            <a:ext cx="11430000" cy="438912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10. Research &amp; Effectiveness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MATCH, UKATT, meta-analyses, Indian research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Structure: Miller et al. (1992). MET Manual; NIMHANS (2016). Substance Use Disorders.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5C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Times New Roman"/>
              </a:defRPr>
            </a:pPr>
            <a:r>
              <a:t>SECTION 1</a:t>
            </a:r>
          </a:p>
          <a:p>
            <a:pPr algn="ctr">
              <a:defRPr sz="1800">
                <a:solidFill>
                  <a:srgbClr val="FFF8E1"/>
                </a:solidFill>
                <a:latin typeface="Times New Roman"/>
              </a:defRPr>
            </a:pPr>
            <a:r>
              <a:t>Introduction to Motivational Enhancement Therapy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F8E1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What is Motivational Enhancement Therapy (MET)?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Definition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is a brief, systematic intervention designed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to produce rapid, internally motivated change.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It does NOT guide the client step-by-step through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recovery. Instead, it uses motivational strategies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to mobilize the client's OWN change resources.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Key: 4 planned sessions over 12 weeks.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Key Facts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Developed for NIAAA Project MATCH (1992)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Based on Motivational Interviewing principles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Uses personal feedback + MI techniques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Designed for alcohol/substance use disorders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Adaptable to various clinical settings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Therapist as collaborator, NOT expert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From the Manual: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"MET is based on principles of motivational psychology and is designed to produce rapid,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internally motivated change. This treatment strategy does not attempt to guide and train the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client, step by step, through recovery, but instead employs motivational strategies to mobilize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client's own change resources." (MET Manual, p. 1)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Core idea: The motivation and resources for change ALREADY EXIST within the client.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therapist's job is to create conditions that help these emerge naturally.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Miller, W.R. et al. (1992). MET Manual, p. 1. NIAAA Project MATCH Monograph Series, Vol. 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How MET Differs from Other Approaches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11430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000"/>
                <a:gridCol w="3810000"/>
                <a:gridCol w="3810000"/>
              </a:tblGrid>
              <a:tr h="58293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Traditional Approaches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MET Approach</a:t>
                      </a:r>
                    </a:p>
                  </a:txBody>
                  <a:tcPr>
                    <a:solidFill>
                      <a:srgbClr val="2E7D3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Therapist Role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Expert / Teacher / Director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Collaborative partner; elicits client's own motivation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Client 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Passive recipient of treatment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Active agent of own change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View of Resistance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Denial to be confronted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Signal to change therapeutic strategy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Goals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Set by therapist or program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Negotiated with client based on their values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Core Techniques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Skills training, education, confrontation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Reflective listening, feedback, exploring ambivalence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Usually 12+ sessions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 structured sessions over 12 weeks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Change Mechanism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Teaching new skills/information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Mobilizing client's own internal resources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Miller et al. (1992). MET Manual, pp. 1-5; NIMHANS (2016). Ch. 8.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Origins and Development of MET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Timeline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1983: Miller publishes foundational MI paper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1991: Miller &amp; Rollnick publish first MI book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1992: MET Manual for Project MATCH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- Largest alcohol treatment trial ever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- 1,726 participants across 9 US sites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- Compared MET vs CBT vs 12-Step (TSF)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Core Components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= MI + Personalized Assessment Feedback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MOTIVATIONAL INTERVIEWING (MI):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Client-centered counseling style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Explores and resolves ambivalence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PERSONALIZED FEEDBACK: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Objective data presented to client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Creates discrepancy with goals/values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Key Finding: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Project MATCH Finding: MET achieved comparable outcomes to 12-session CBT and 12-session TSF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in just 4 sessions. This was revolutionary - a brief motivational intervention matching efficacy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of longer treatments. Particularly effective for clients HIGH in anger and LOW in readiness.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At 3-year follow-up, all three treatments maintained gains. MET was the most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cost-effective option, requiring only one-third of the therapist time (4 vs 12 sessions).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Project MATCH Research Group (1997). J Studies on Alcohol, 58, 7-29; Miller (1983). Behav Psychother, 11.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B83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Times New Roman"/>
              </a:defRPr>
            </a:pPr>
            <a:r>
              <a:t>SECTION 2</a:t>
            </a:r>
          </a:p>
          <a:p>
            <a:pPr algn="ctr">
              <a:defRPr sz="1800">
                <a:solidFill>
                  <a:srgbClr val="FFF8E1"/>
                </a:solidFill>
                <a:latin typeface="Times New Roman"/>
              </a:defRPr>
            </a:pPr>
            <a:r>
              <a:t>Theoretical Foundations of MET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2DFD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The Transtheoretical Model (TTM) of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11430000" cy="16459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007B83"/>
                </a:solidFill>
                <a:latin typeface="Times New Roman"/>
              </a:defRPr>
            </a:pPr>
            <a:r>
              <a:t>Foundation of MET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Transtheoretical Model (Prochaska &amp; DiClemente, 1982) is the PRIMARY theoretical foundation of MET.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It describes behavior change as a PROCESS through predictable stages. People do not change abruptly.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therapist's task is to match interventions to the client's current stage.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responsibility and capability for change lie within the client." (MET Manual, p. 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880360"/>
            <a:ext cx="1714500" cy="914400"/>
          </a:xfrm>
          <a:prstGeom prst="round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Times New Roman"/>
              </a:defRPr>
            </a:pPr>
            <a:r>
              <a:t>Pre-</a:t>
            </a:r>
            <a:br/>
            <a:r>
              <a:t>contemplation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080260" y="3154680"/>
            <a:ext cx="228600" cy="320040"/>
          </a:xfrm>
          <a:prstGeom prst="rightArrow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308860" y="2880360"/>
            <a:ext cx="1714500" cy="914400"/>
          </a:xfrm>
          <a:prstGeom prst="round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Times New Roman"/>
              </a:defRPr>
            </a:pPr>
            <a:r>
              <a:t>Contemplation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23360" y="3154680"/>
            <a:ext cx="228600" cy="320040"/>
          </a:xfrm>
          <a:prstGeom prst="rightArrow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51960" y="2880360"/>
            <a:ext cx="1714500" cy="914400"/>
          </a:xfrm>
          <a:prstGeom prst="round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Times New Roman"/>
              </a:defRPr>
            </a:pPr>
            <a:r>
              <a:t>Preparation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966460" y="3154680"/>
            <a:ext cx="228600" cy="320040"/>
          </a:xfrm>
          <a:prstGeom prst="rightArrow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95060" y="2880360"/>
            <a:ext cx="1714500" cy="91440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Times New Roman"/>
              </a:defRPr>
            </a:pPr>
            <a:r>
              <a:t>Action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909560" y="3154680"/>
            <a:ext cx="228600" cy="320040"/>
          </a:xfrm>
          <a:prstGeom prst="rightArrow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38160" y="2880360"/>
            <a:ext cx="1714500" cy="914400"/>
          </a:xfrm>
          <a:prstGeom prst="round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Times New Roman"/>
              </a:defRPr>
            </a:pPr>
            <a:r>
              <a:t>Maintenance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9852660" y="3154680"/>
            <a:ext cx="228600" cy="320040"/>
          </a:xfrm>
          <a:prstGeom prst="rightArrow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81260" y="2880360"/>
            <a:ext cx="1714500" cy="914400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Times New Roman"/>
              </a:defRPr>
            </a:pPr>
            <a:r>
              <a:t>Relapse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4023360"/>
            <a:ext cx="11430000" cy="164592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C62828"/>
                </a:solidFill>
                <a:latin typeface="Times New Roman"/>
              </a:defRPr>
            </a:pPr>
            <a:r>
              <a:t>Important: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 Principle: Change is CYCLICAL, not linear. Most people cycle through stages 3-7 times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before achieving lasting change. Relapse is a NORMAL part of the process, not failure.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Average smoker cycles 3 times before permanent quit (Prochaska et al., 1992).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Prochaska &amp; DiClemente (1984). The Transtheoretical Approach; MET Manual (1992), pp. 6-12.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CDD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Stage 1: PRECONTEMPLATION - Not Considering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C62828"/>
                </a:solidFill>
                <a:latin typeface="Times New Roman"/>
              </a:defRPr>
            </a:pPr>
            <a:r>
              <a:t>What It Looks Like: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Person does NOT see substance use as a problem.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Not thinking about change at all.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Common statements: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"I don't have a problem"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"Everyone drinks like me"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"My family is overreacting"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"I'm here because the court sent me"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Therapist Tasks: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DO: Raise doubt gently, increase awareness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DO: Provide objective information/feedback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DO: Explore events that brought them in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DO: Plant seeds without pushing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DON'T: Argue or confront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DON'T: Push for immediate change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DON'T: Label them as 'alcoholic'/'addict'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How MET Addresses This Stage: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Technique: Present Personal Feedback Report (PFR) showing objective data.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Example: "Your liver enzymes are at ___ level. Here's where that falls compared to norms..."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therapist presents FACTS without arguing, letting the DATA create discrepancy.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precontemplation stage is characterized by a lack of awareness that a problem exists.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individual has no intention to change behavior in the foreseeable future." (Manual, p. 7)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6-8; Prochaska &amp; DiClemente (1982). Psychotherapy, 19, 276-288.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Stage 2: CONTEMPLATION - Thinking About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What It Looks Like: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Person ACKNOWLEDGES a problem but is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AMBIVALENT. Sees both pros and cons.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Common statements: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"I know I drink too much, but..."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"I want to quit, but I don't know how"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"Sometimes I think I should cut down"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"Part of me wants to change, part doesn't"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Therapist Tasks: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DO: Explore ambivalence (don't resolve it)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DO: Use Decisional Balance worksheet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DO: Elicit self-motivational statements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DO: Tip the balance toward change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DO: Develop discrepancy with values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DON'T: Rush to action planning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DON'T: Tell them what to do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MET Strategy: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Key Strategy: EXPLORING AMBIVALENCE with Decisional Balance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Help client articulate BOTH sides - reasons to change AND reasons to stay the same.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"Ambivalence is the contemplator's defining feature. The therapist's task is to tip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decisional balance." (Manual, p. 8)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DiClemente et al. (1991) showed contemplators who explored ambivalence progressed faster.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8-10; DiClemente et al. (1991). J Consult Clin Psychol, 59, 295-304.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F8E1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Stage 3: PREPARATION - Ready to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F9A825"/>
                </a:solidFill>
                <a:latin typeface="Times New Roman"/>
              </a:defRPr>
            </a:pPr>
            <a:r>
              <a:t>What It Looks Like: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Person has DECIDED to change and is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planning how. Balance has tipped.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Common statements: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"I need to do something about this"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"What are my options?"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"I'm going to quit next Monday"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"I've already started cutting down"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Therapist Tasks: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DO: Help develop a Change Plan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DO: Offer a MENU of options (not prescribe)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DO: Support self-efficacy strongly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DO: Help set realistic, achievable goals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DO: Negotiate (not impose) a plan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DON'T: Prescribe a single path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DON'T: Miss the window of readiness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MET Strategy: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Key Strategy: CHANGE PLAN WORKSHEET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Help client complete: (1) Changes desired (2) Reasons (3) Steps planned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(4) How others can help (5) How they'll know it's working (6) Things that could interfere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window of determination is open for a period of time. If action is not taken, the person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may slip back into contemplation or precontemplation." (MET Manual, p. 10)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10-11; DiClemente et al. (1991). J Consult Clin Psychol, 59, 295-304.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Stages 4-6: Action, Maintenance, and Relapse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361188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Action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ACTION: Person is actively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making changes to behavior.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Therapist tasks: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- Affirm efforts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- Troubleshoot obstacles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- Review Change Plan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- Build self-efficacy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051560"/>
            <a:ext cx="3611880" cy="2194560"/>
          </a:xfrm>
          <a:prstGeom prst="roundRect">
            <a:avLst/>
          </a:prstGeom>
          <a:solidFill>
            <a:srgbClr val="B2DFDB"/>
          </a:solidFill>
          <a:ln w="1905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007B83"/>
                </a:solidFill>
                <a:latin typeface="Times New Roman"/>
              </a:defRPr>
            </a:pPr>
            <a:r>
              <a:t>Maintenance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MAINTENANCE: Sustaining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gains over time.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Therapist tasks: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- Prevent complacency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- Identify high-risk situations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- Plan coping strategies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- Celebrate milestones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51560"/>
            <a:ext cx="3611880" cy="219456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C62828"/>
                </a:solidFill>
                <a:latin typeface="Times New Roman"/>
              </a:defRPr>
            </a:pPr>
            <a:r>
              <a:t>Relapse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RELAPSE: Return to earlier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stage - NOT a failure.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Therapist tasks: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- Normalize (3-7 cycles avg)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- Explore without blame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- Revise Change Plan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- Re-engage motivation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From the Manual: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Transtheoretical Model views relapse not as catastrophic failure but as a normal part of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cycle of change. With each cycle, the person learns something new." (MET Manual, p. 12)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Sessions 3-4 focus on these stages: reviewing progress, affirming successes, problem-solving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obstacles, and normalizing any slips as information rather than defeat.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Prochaska et al. (1992) found most successful changers had 3+ prior attempts.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11-14; Prochaska, DiClemente &amp; Norcross (1992). Am Psychologist, 47.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Theoretical Foundation: Self-Efficacy (Bandura, 1977)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What is Self-Efficacy?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Self-efficacy = person's BELIEF in ability to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successfully perform a behavior.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In MET: belief that one CAN change.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Sources (Bandura):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Past performance accomplishments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Vicarious experience (others' success)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Verbal persuasion (therapist affirmation)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Physiological/emotional states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MET Application: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How MET Builds Self-Efficacy: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AFFIRMING client's strengths/past successes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"You stayed sober 3 months - real strength"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SUPPORTING ability to change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"You have what it takes to do this"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OFFERING menu of options (sense of control)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CELEBRATING small wins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"Why not a lower number?" on rulers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Manual Quote &amp; Research: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"A person who lacks confidence that he or she can change is unlikely to try. The therapist's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task is to enhance the client's belief in the possibility of change." (MET Manual, p. 17)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Ilgen et al. (2005) found self-efficacy at treatment entry predicted drinking outcomes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at 1-year follow-up. Clients with higher self-efficacy had significantly better outcomes.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This is the 'S' in FRAMES: Support self-efficacy.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Bandura (1977). Psychol Review, 84; MET Manual (1992), pp. 16-17; Ilgen et al. (2005). Addictive Behav.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Theoretical Foundation: Cognitive Dissonance (Festinger, 1957)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The Theory: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Cognitive Dissonance = uncomfortable tension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when behavior contradicts values/beliefs.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Substance use examples: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"I am a good parent" vs "I drink every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night and my children suffer"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"I value my health" vs "I am damaging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my liver with alcohol"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"I am independent" vs "I can't function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without my substance"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MET Application: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How MET Uses Cognitive Dissonance: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DEVELOPING DISCREPANCY (key principle)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Show gap between IS and WANT TO BE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Personal Feedback creates dissonance: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"You said health is your top value..."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"Your liver enzymes show damage..."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Client must resolve the tension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Resolution happens through CHANGE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(not through therapist confrontation)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Manual Quote &amp; Research: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"A discrepancy between present behavior and important personal goals will motivate change.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therapist's task is to develop and amplify such discrepancy." (MET Manual, p. 14)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Draycott &amp; Dabbs (1998) confirmed discrepancy awareness predicts behavior change.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McNally et al. (2005) showed developing discrepancy is the most potent MI technique for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moving clients from contemplation to preparation stage.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Festinger (1957). Cognitive Dissonance; MET Manual (1992), pp. 13-15; McNally et al. (2005).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2E7D32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Times New Roman"/>
              </a:defRPr>
            </a:pPr>
            <a:r>
              <a:t>SECTION 3</a:t>
            </a:r>
          </a:p>
          <a:p>
            <a:pPr algn="ctr">
              <a:defRPr sz="1800">
                <a:solidFill>
                  <a:srgbClr val="FFF8E1"/>
                </a:solidFill>
                <a:latin typeface="Times New Roman"/>
              </a:defRPr>
            </a:pPr>
            <a:r>
              <a:t>Principles and Spirit of MET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Five Principles of Motivational Interviewing in MET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11430000" cy="86868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1. Express Empathy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Accept client where they are. Ambivalence is NORMAL. Reflective listening.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11430000" cy="86868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2. Develop Discrepancy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Help client see gap between current behavior and important goals/values.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971800"/>
            <a:ext cx="11430000" cy="86868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3. Avoid Argumentation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Arguments are counterproductive. Defending breeds defensiveness.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931920"/>
            <a:ext cx="11430000" cy="868680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4. Roll with Resistance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Don't fight resistance - use it. Offer new perspectives without imposing.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4892040"/>
            <a:ext cx="11430000" cy="868680"/>
          </a:xfrm>
          <a:prstGeom prst="roundRect">
            <a:avLst/>
          </a:prstGeom>
          <a:solidFill>
            <a:srgbClr val="B2DFDB"/>
          </a:solidFill>
          <a:ln w="1905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007B83"/>
                </a:solidFill>
                <a:latin typeface="Times New Roman"/>
              </a:defRPr>
            </a:pPr>
            <a:r>
              <a:t>5. Support Self-Efficacy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Client's belief in possibility of change is a key motivator.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13-17; Miller &amp; Rollnick (1991). Motivational Interviewing, Ch. 3.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FRAMES: Elements of Effective Brief Interventions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11430000" cy="73152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C62828"/>
                </a:solidFill>
                <a:latin typeface="Times New Roman"/>
              </a:defRPr>
            </a:pPr>
            <a:r>
              <a:t>F - Feedback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Personal feedback about risk/impairment based on objective assessment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56232"/>
            <a:ext cx="11430000" cy="73152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R - Responsibility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Emphasize responsibility for change lies with the CLIENT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660904"/>
            <a:ext cx="11430000" cy="7315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F9A825"/>
                </a:solidFill>
                <a:latin typeface="Times New Roman"/>
              </a:defRPr>
            </a:pPr>
            <a:r>
              <a:t>A - Advice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Clear advice to change given in a non-prescriptive manner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465576"/>
            <a:ext cx="11430000" cy="73152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M - Menu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Offer a MENU of strategies/options - client chooses their own path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4270248"/>
            <a:ext cx="11430000" cy="73152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E - Empathy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Warm, reflective, empathic counseling style without judgment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074920"/>
            <a:ext cx="11430000" cy="731520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S - Self-Efficacy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Reinforce hope and belief that change IS possible for this person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16-17; Miller &amp; Sanchez (1994). Motivating young adults for change.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2DFD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OARS: Core Microskills of MET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O - Open Questions &amp; A - Affirmations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OPEN-ENDED QUESTIONS: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Cannot be answered with yes/no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"What concerns you about your drinking?"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"How has substance use affected your life?"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AFFIRMATIONS: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Recognize strengths and efforts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"It took courage to come here today"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"You've shown real resilience"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R - Reflections &amp; S - Summaries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REFLECTIVE LISTENING (Primary skill):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Repeat back MEANING (not just words)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Simple: "So you feel frustrated"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Complex: "You want to quit but worry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about losing your social circle"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SUMMARIES: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Collect and link what client has said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"Let me see if I have this right..."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Clinical Tip: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PRACTICE RATIO: Aim for 2-3 reflections for every question asked.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Most common mistake: asking too many questions (feels like interrogation).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principal technique for expressing empathy is reflective listening... seeking through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your responses to understand the client's meaning and feelings." (MET Manual, p. 21)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Moyers et al. (2005) showed MI-consistent behaviors (reflections) predicted better outcomes.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20-35; Moyers et al. (2005). J Subst Abuse Treat, 28, 19-26.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DARES: Self-Motivational Statements to Elicit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11430000" cy="10972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Core Principle: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Goal: ELICIT (not provide) self-motivational statements. The more the CLIENT voices arguments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FOR change, the more likely actual change becomes. Listen for and actively evoke these: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331720"/>
            <a:ext cx="11430000" cy="594360"/>
          </a:xfrm>
          <a:prstGeom prst="round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333333"/>
                </a:solidFill>
                <a:latin typeface="Times New Roman"/>
              </a:defRPr>
            </a:pPr>
            <a:r>
              <a:t>D - Desire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Example: "I want to change" / "I wish I could stop"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017520"/>
            <a:ext cx="11430000" cy="59436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333333"/>
                </a:solidFill>
                <a:latin typeface="Times New Roman"/>
              </a:defRPr>
            </a:pPr>
            <a:r>
              <a:t>A - Ability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Example: "I think I could do it" / "I was able to quit before"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703320"/>
            <a:ext cx="11430000" cy="594360"/>
          </a:xfrm>
          <a:prstGeom prst="roundRect">
            <a:avLst/>
          </a:prstGeom>
          <a:solidFill>
            <a:srgbClr val="E1BE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333333"/>
                </a:solidFill>
                <a:latin typeface="Times New Roman"/>
              </a:defRPr>
            </a:pPr>
            <a:r>
              <a:t>R - Reasons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Example: "My health is suffering" / "My family needs me sober"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4389120"/>
            <a:ext cx="11430000" cy="594360"/>
          </a:xfrm>
          <a:prstGeom prst="roundRect">
            <a:avLst/>
          </a:prstGeom>
          <a:solidFill>
            <a:srgbClr val="FFE0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333333"/>
                </a:solidFill>
                <a:latin typeface="Times New Roman"/>
              </a:defRPr>
            </a:pPr>
            <a:r>
              <a:t>E - Emotional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Example: "I'm tired of feeling this way" / "I hate what I've become"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074920"/>
            <a:ext cx="11430000" cy="594360"/>
          </a:xfrm>
          <a:prstGeom prst="roundRect">
            <a:avLst/>
          </a:prstGeom>
          <a:solidFill>
            <a:srgbClr val="B2DF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333333"/>
                </a:solidFill>
                <a:latin typeface="Times New Roman"/>
              </a:defRPr>
            </a:pPr>
            <a:r>
              <a:t>S - Steps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Example: "I could try meetings" / "Maybe I'll call my doctor"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25-30; Amrhein et al. (2003). J Consult Clin Psychol, 71, 862-878.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The Spirit of Motivational Interviewing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361188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Collaboration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Working WITH the client as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equal partners. NOT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expert-to-patient.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therapeutic relationship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is more like a partnership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than an expert-recipient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one." (Manual, p. 13)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51960" y="1051560"/>
            <a:ext cx="361188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Evocation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Drawing out client's OWN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motivations, strengths,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and reasons for change.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Motivation is EVOKED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from within, not installed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from outside. The client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has the answers.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051560"/>
            <a:ext cx="3611880" cy="2194560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Autonomy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Respecting client's right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and capacity to direct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their own life.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Client decides whether,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when, and how to change.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Even if they choose NOT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to change right now.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What It Looks Like: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In Practice: Therapist asks more than tells; listens more than instructs.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Client does most of the talking (aim for 70:30 client:therapist talk ratio).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No labeling, no shaming, no arguing for change on behalf of the client.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Miller et al. (1993) found therapist directiveness predicted worse outcomes.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Client resistance increased when therapists were confrontational.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13-18; Miller et al. (1993). J Stud Alcohol, 54, 455-461.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CDD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Handling Client Resistance: Strategies from the Manual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C62828"/>
                </a:solidFill>
                <a:latin typeface="Times New Roman"/>
              </a:defRPr>
            </a:pPr>
            <a:r>
              <a:t>Recognizing Resistance: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TYPES OF RESISTANCE: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Arguing - challenging, hostility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Interrupting - cutting off, talking over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Denying - blaming, excusing, minimizing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Ignoring - inattention, sidetracking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KEY: Resistance is a signal to CHANGE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your approach, not fight harder.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Rolling with Resistance: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STRATEGIES TO ROLL WITH IT: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Simple Reflection - acknowledge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Amplified Reflection - stronger form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Double-Sided Reflection - both sides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Shifting Focus - redirect topic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Agreement with Twist - agree then reframe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Reframing - new interpretation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7. Emphasize Personal Choice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Clinical Examples: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Client: "I don't think I drink more than my friends."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Simple Reflection: "You see yourself as a pretty normal drinker."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Amplified: "So there's really nothing at all to be concerned about."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Double-Sided: "Your drinking feels normal to you, AND something prompted you to come in."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Reframe: "Your friends are important and you want to fit in with them."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Research: Resistance in session predicts WORSE outcomes (Miller et al., 1993).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32-38; Miller et al. (1993). J Stud Alcohol, 54, 455-461.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6A1B9A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Times New Roman"/>
              </a:defRPr>
            </a:pPr>
            <a:r>
              <a:t>SECTION 4</a:t>
            </a:r>
          </a:p>
          <a:p>
            <a:pPr algn="ctr">
              <a:defRPr sz="1800">
                <a:solidFill>
                  <a:srgbClr val="FFF8E1"/>
                </a:solidFill>
                <a:latin typeface="Times New Roman"/>
              </a:defRPr>
            </a:pPr>
            <a:r>
              <a:t>Session-by-Session Therapy Guide</a:t>
            </a:r>
            <a:br/>
            <a:r>
              <a:t>How to Actually DO MET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MET: The 4-Session Structure (Overview)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Sessions 1 &amp; 2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 1 (Week 1):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Build rapport and therapeutic alliance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Present Personal Feedback Report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Explore client's reaction to feedback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Elicit self-motivational statements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Gauge readiness to change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 2 (Week 2):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Strengthen commitment to change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Develop Change Plan (collaborative)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Sessions 3 &amp; 4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 3 (Week 6):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Review progress since Session 2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Renew motivation and commitment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Problem-solve obstacles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Revise Change Plan if needed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 4 (Week 12):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Review overall progress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Consolidate gains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Maintenance/relapse prevention planning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Important Note: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 PRINCIPLE: Each session uses MI techniques throughout. MET is not a checklist but a clinical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style applied within a structured framework. The therapist continuously uses OARS skills, evokes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change talk, rolls with resistance, and supports self-efficacy in every interaction.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 spacing is intentional: Session 1-2 close together (build momentum), then space out to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allow client time to implement changes and experience results before reviewing progress.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40-80; Chapters III-V: Session protocols.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SESSION 1: Building Motivation for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Opening: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1: OPENING (10-15 min)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Welcome warmly and genuinely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Explain the process briefly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Set non-judgmental tone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Ask open question to start: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"What brought you here today?"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"How are things going for you?"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Then LISTEN. Use reflections.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Feedback: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2: PERSONAL FEEDBACK (30-40 min)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Present assessment data objectively: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Drinking/drug use patterns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Comparison with population norms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Blood test results (liver, etc.)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Neuropsych test results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Consequences reported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Risk factors identified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After each: "What do you make of this?"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Eliciting &amp; Closing: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3: ELICITING CHANGE TALK (15-20 min)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Evocative questions: "What worries you about your use?"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Importance Ruler: "How important is it to change? (0-10) Why not a lower number?"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Explore pros/cons: "What do you like about using? What concerns you?"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Look forward: "Where do you see yourself in 5 years if nothing changes?"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4: CLOSING (5-10 min) - Summarize key themes, assess readiness, assign reflection task.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40-58; Chapter III: Session 1 - Building Motivation for Change.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SESSION 1: Personal Feedback Report (Detail)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Components: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PERSONAL FEEDBACK REPORT contains: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DRINKING/DRUG USE PATTERN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Quantity/frequency data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Peak blood alcohol levels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Where client falls on population norms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NEGATIVE CONSEQUENCES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Physical, psychological, social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RISK FACTORS/INDICATORS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Family history, tolerance, dependence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Technique: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HOW TO PRESENT FEEDBACK: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Use a structured form/booklet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Go through each section systematically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After each piece of data, PAUSE and ASK: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"What do you make of this?"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"Does this surprise you?"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Use reflective listening on response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Do NOT argue if they minimize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Highlight discrepancies gently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Manual Guidance: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feedback session is not a lecture. It is a structured clinical interaction in which the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therapist presents information and invites the client's reaction. The style is empathic,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non-confrontational, and curious rather than didactic." (MET Manual, p. 44)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Agostinelli et al. (1995) found that personalized normative feedback significantly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increased motivation to change when compared to no-feedback control groups.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44-55; Agostinelli et al. (1995). J Consult Clin Psychol, 63, 284-290.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SESSION 1: Clinical Dialogue Example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114300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FEEDBACK DIALOGUE: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"I'd like to share results from your assessment. Here's where your drinking falls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 compared to the general adult population..." [shows graph]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"Hmm. I didn't think it was that high."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"It's more than you expected." (Simple reflection)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"Yeah. But a lot of people drink."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"You're not alone in drinking, AND what surprises you is how your amount compares."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"I mean... maybe I do drink more than I thought." (CHANGE TALK - problem recognition)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"You're starting to see that your drinking may be on the higher end." (Amplify change talk)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ELICITING CHANGE TALK: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"You mentioned your wife has been concerned. What concerns her the most?"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"She says I'm different when I drink. More angry. I guess she has a point."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"You've noticed that too - alcohol changes you in ways you don't like." (Reflection)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"Yeah... I don't want to be that kind of person. That's not who I am."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"Being a good person and partner is really important to you." (Affirming values)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NOTE: Therapist NEVER argues. Every response is reflection, affirmation, or open question.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48-55; Dialogue adapted from manual principles and examples.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SESSION 1: Eliciting Self-Motivational Statements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Change Talk Types: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CATEGORIES OF CHANGE TALK: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Problem Recognition: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"I guess this is more serious than I thought"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Concern: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"I'm worried about what this is doing to me"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Intention to Change: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"I think I need to do something about this"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Optimism: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"I think I can do this if I really try"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Techniques to Elicit: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HOW TO ELICIT CHANGE TALK: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EVOCATIVE QUESTIONS: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"What worries you about your drinking?"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"What would be different if you changed?"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IMPORTANCE RULER (0-10):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"Why not a lower number?" (key question!)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EXPLORING PROS &amp; CONS: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"What do you like about using?"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LOOKING FORWARD/BACK: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"Where are you in 5 years if nothing changes?"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Closing &amp; Readiness: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 1 CLOSING: Provide comprehensive summary that includes: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Key facts from feedback | Client's reactions | Any self-motivational statements made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Both sides of ambivalence | Any expressions of concern or intention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READINESS RULER: "On a scale of 1-10, how ready are you to change right now?"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If 1-3: Precontemplation (plant seeds) | If 4-6: Contemplation (explore ambivalence)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If 7-10: Preparation (move toward Change Plan in Session 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48-58; Miller &amp; Rollnick (1991). MI, Ch. 5: Eliciting Self-Motivational Stmts.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SESSION 2: Strengthening Commitment &amp; Change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First Half: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1: OPENING (10 min)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"What's happened since last time?"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"Have you thought more about this?"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Reflect on any changes already made.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2: RECAPITULATION (5 min)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Brief summary of Session 1 themes.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Check: "Did I capture that correctly?"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3: DEEPENING (15 min)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Continue exploring ambivalence if needed.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Change Plan: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4: CHANGE PLAN (25-30 min)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"Would you like to put together a plan?"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Change Plan Worksheet: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Changes I want to make...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Most important reasons...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Steps I plan to take...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How others can help...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I'll know it's working if...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Things that could interfere...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Adapting to Client: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ADAPTING TO READINESS: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NOT READY: Continue rapport, present more feedback, plant seeds gently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UNSURE: Use Decisional Balance, explore values vs behavior, evocative questions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READY: Negotiate Change Plan, offer menu of options, help set specific goals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Change Plan is the CLIENT's plan - not the therapist's prescription. It is negotiated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collaboratively, and the client's preferences and choices are honored." (MET Manual, p. 63)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59-68; Chapter IV: Session 2 - Strengthening Commitment.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SESSIONS 3 &amp; 4: Reviewing Progress &amp; Maintenance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Session 3: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 3 (Week 6):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"How have things been going?"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Review Change Plan progress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What's working? What isn't?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Any modifications needed?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Renew motivation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Re-explore importance/confidence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Affirm progress (even small steps)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Address slips WITHOUT judgment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Problem-solve new obstacles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Session 4: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 4 (Week 12):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Review overall progress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Compare current to baseline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Celebrate achievements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Maintenance planning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Identify high-risk situations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Plan coping strategies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Discuss relapse as normal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Plan ongoing support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Termination with hope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C62828"/>
                </a:solidFill>
                <a:latin typeface="Times New Roman"/>
              </a:defRPr>
            </a:pPr>
            <a:r>
              <a:t>Handling Relapse: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IF CLIENT HAS RELAPSED: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Normalize: "Slips are a common part of change. Many people experience this."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Explore without blame: "What happened? What was going on?"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Reframe: "Now you know that [situation] is a trigger. That's useful information."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Re-engage: "Where do you want to go from here?"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NEVER: Express disappointment, say "you failed", lecture, or label them as hopeless.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69-80; Chapter V: Sessions 3-4; Marlatt &amp; Gordon (1985).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07B83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Times New Roman"/>
              </a:defRPr>
            </a:pPr>
            <a:r>
              <a:t>SECTION 5</a:t>
            </a:r>
          </a:p>
          <a:p>
            <a:pPr algn="ctr">
              <a:defRPr sz="1800">
                <a:solidFill>
                  <a:srgbClr val="FFF8E1"/>
                </a:solidFill>
                <a:latin typeface="Times New Roman"/>
              </a:defRPr>
            </a:pPr>
            <a:r>
              <a:t>Clinical Techniques in Detail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2DFD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Reflective Listening: The Foundation Skill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2DFDB"/>
          </a:solidFill>
          <a:ln w="1905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007B83"/>
                </a:solidFill>
                <a:latin typeface="Times New Roman"/>
              </a:defRPr>
            </a:pPr>
            <a:r>
              <a:t>Types: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LEVELS OF REFLECTION: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Level 1 - REPEAT/REPHRASE: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C: "I drink every night" T: "You drink every evening"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Level 2 - PARAPHRASE (meaning):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T: "It's become a daily routine"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Level 3 - REFLECTION OF FEELING: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T: "You sound concerned about that pattern"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Strategic Use: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STRATEGIC USE IN MET: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Reflect CHANGE TALK more than sustain talk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AMPLIFY motivation: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C: "I guess I drink a bit much"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T: "You've realized your drinking has become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   a real problem" (amplified)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DOUBLE-SIDED for ambivalence: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"Drinking helps you relax AND it's costing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you your marriage."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Tips &amp; Research: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PRACTICE GUIDELINES: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Aim for 2-3 reflections for every question asked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Reflections are STATEMENTS (drop voice at end), not questions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If your reflection is wrong, client will correct you - that's fine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Common mistake: Too many questions, not enough reflections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Apodaca &amp; Longabaugh (2009) meta-analysis found MI-consistent therapist behaviors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(especially reflections) were significantly linked to reduced substance use.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20-24; Apodaca &amp; Longabaugh (2009). J Subst Abuse Treat, 37, 68-86.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Techniques: Decisional Balance &amp; Rulers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Decisional Balance: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DECISIONAL BALANCE (4-quadrant grid):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Good things about using | Costs of using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________________________|________________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Benefits of change     | Costs of change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________________________|________________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Start with GOOD things about using first!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(Shows understanding, builds trust)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Then: "Where does that leave you?"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Rulers: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IMPORTANCE &amp; CONFIDENCE RULERS: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"How important is it to change? (0-10)"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"How confident are you? (0-10)"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 QUESTION: "Why not a lower number?"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(Invites client to argue FOR change)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If importance low: develop discrepancy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If confidence low: build self-efficacy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If both high: move to Change Plan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Clinical Wisdom: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WHY "WHY NOT A LOWER NUMBER?" WORKS: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"Why not higher?" = client defends why they HAVEN'T changed (sustain talk)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"Why not lower?" = client articulates reasons they DO want to change (change talk)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LaBrie et al. (2006) found Importance/Confidence rulers in brief MI predicted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actual behavior change at follow-up. Articulation of own reasons for change is more persuasive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than hearing reasons from others (Self-Perception Theory, Bem 1972).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28-37; LaBrie et al. (2006). Addictive Behaviors, 31(8), 1428-1435.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CDD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Therapist Traps to AVOID (from the Manual)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C62828"/>
                </a:solidFill>
                <a:latin typeface="Times New Roman"/>
              </a:defRPr>
            </a:pPr>
            <a:r>
              <a:t>Traps 1-3: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QUESTION-ANSWER TRAP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Too many Qs = feels like interrogation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Fix: More reflections, fewer questions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CONFRONTATION-DENIAL TRAP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Arguing = client defends drinking more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Fix: Roll with resistance, reflect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EXPERT TRAP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"You should..." / "Research shows..."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Fix: Elicit client's own solutions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Traps 4-6: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LABELING TRAP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Insisting on "alcoholic" label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Fix: Focus on behavior, not labels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PREMATURE FOCUS TRAP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Jumping to solutions too early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Fix: Follow client's pace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BLAMING TRAP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Client feels blamed for problem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Fix: "What matters is what you want NOW"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Key Principle: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"Direct argumentation and an aggressive confrontational approach tend to increase client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resistance and are associated with poorer outcomes." (MET Manual, pp. 18-19)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REMEMBER: Every time YOU argue FOR change, the client argues AGAINST it.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This is the 'righting reflex' - therapist's desire to fix things actually backfires.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Miller et al. (1993) showed confrontational therapist style predicted client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drinking at 1-year follow-up: MORE confrontation = MORE drinking.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18-20; Miller et al. (1993). J Stud Alcohol, 54, 455-461.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880038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Times New Roman"/>
              </a:defRPr>
            </a:pPr>
            <a:r>
              <a:t>SECTION 6</a:t>
            </a:r>
          </a:p>
          <a:p>
            <a:pPr algn="ctr">
              <a:defRPr sz="1800">
                <a:solidFill>
                  <a:srgbClr val="FFF8E1"/>
                </a:solidFill>
                <a:latin typeface="Times New Roman"/>
              </a:defRPr>
            </a:pPr>
            <a:r>
              <a:t>Case Conceptualization</a:t>
            </a:r>
            <a:br/>
            <a:r>
              <a:t>Applying MET to a Clinical Case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CDD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8800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Case Study: Applying MET to a Substance Use Case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880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880038"/>
                </a:solidFill>
                <a:latin typeface="Times New Roman"/>
              </a:defRPr>
            </a:pPr>
            <a:r>
              <a:t>Client Background: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PRESENTING INFORMATION: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Age: 25 years, Male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Multiple substance use (polysubstance)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History of marital dissolution (divorced)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Referred for assessment and intervention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ASSESSMENT FINDINGS: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Externalizing personality organization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Adequate psychological resources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Poorly modulated affect (impulsive)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Damaged, negative self-concept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Psychological Profile: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 PSYCHOLOGICAL FEATURES: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Emotion-driven decision making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Hasty, inefficient information processing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Raw emotional discharge under stress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Socially engaged but difficulty with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deep intimate relationships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Pervasive pessimism/damage-oriented self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Elevated risk indicators (monitor closely)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SUBSTANCE USE FUNCTION: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Substances regulate overwhelming affect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MET Rationale: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WHY MET IS APPROPRIATE FOR THIS CLIENT: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Adequate resources but poor utilization (emotion-first style) - MET engages existing capacity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Confrontation would activate externalizing defenses and increase resistance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Damaged self-image NEEDS affirmation (the 'S' in FRAMES), not more criticism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Autonomy needs respect (impulsive style responds poorly to directives)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Substances serve affect-regulation function - MET explores this non-judgmentally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Case from Rorschach assessment (Exner Comprehensive System); MET Manual (1992).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Case: Session-by-Session MET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Session 1: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 1 FOCUS: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Build rapport carefully (guarded intimacy)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Present feedback GENTLY (damaged self)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Focus discrepancy: VALUES (being good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partner) vs SITUATION (divorced, dependent)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AFFIRM strengths heavily (resources exist)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Monitor emotional escalation closely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Caution: His affect can escalate quickly.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Keep pace slow, reflect often.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Session 2: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 2 FOCUS: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Change Plan addresses FUNCTION of use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(What does using DO for you? What need?)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Small, achievable steps (failures feel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catastrophic given damaged self-image)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Affect regulation alternatives: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"What else helps when feelings get intense?"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Reflective delay practice: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"What if you took 10 min before deciding?"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Key: Plan must match his pace/style.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Sessions 3-4 &amp; Beyond: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SESSIONS 3-4 FOCUS: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Session 3: If progress - affirm heavily (counters damaged self-image). If slip - normalize,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explore emotional triggers, revise plan to add more emotion regulation strategies.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Session 4: Maintenance plan for high-risk situations (intense emotions, conflict, rejection).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Referral for continued therapy (affect regulation, self-image repair, intimacy work).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BEYOND MET: Affect regulation training, self-image repair, interpersonal skills, slower processing.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provides the MOTIVATIONAL FOUNDATION for longer-term therapeutic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Chs. III-V; Exner (2003). Rorschach, Vol. 1; NIMHANS (2016).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Case: Clinical Dialogue (Session 1)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114300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"You mentioned that your marriage ended. What role, if any, did substance use play?"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"She said I was different when I used. Angry."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"Being the kind of partner you want to be is important to you, and the substances were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 getting in the way of that." (Developing discrepancy)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"Yeah... I didn't mean to be like that."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"There's a gap between who you WANT to be and what happens when you use."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"I guess so. I just... I don't know how to handle things without it."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"You're wondering if you can cope differently. That's an honest question." (Reflection)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"Nobody ever asked me that before. They just tell me to stop."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"And being told what to do doesn't help you." (Rolling with resistance)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"No, it makes me want to do it more."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"You respond better when you get to decide for yourself." (Affirming autonomy)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KEY TECHNIQUES USED: Developing discrepancy, reflective listening, rolling with resistance,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affirming autonomy, open questions. Notice: therapist NEVER said "you should stop using."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(1992); Dialogue based on MI principles applied to this case profile.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5C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Times New Roman"/>
              </a:defRPr>
            </a:pPr>
            <a:r>
              <a:t>SECTION 7</a:t>
            </a:r>
          </a:p>
          <a:p>
            <a:pPr algn="ctr">
              <a:defRPr sz="1800">
                <a:solidFill>
                  <a:srgbClr val="FFF8E1"/>
                </a:solidFill>
                <a:latin typeface="Times New Roman"/>
              </a:defRPr>
            </a:pPr>
            <a:r>
              <a:t>Clinical Worksheets &amp; Tools</a:t>
            </a:r>
            <a:br/>
            <a:r>
              <a:t>Printable Resources for MET Sessions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WORKSHEET 1: Change Plan (from MET Manual)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114300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THE CHANGES I WANT TO MAKE ARE: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THE MOST IMPORTANT REASONS WHY I WANT TO MAKE THESE CHANGES ARE: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THE STEPS I PLAN TO TAKE IN CHANGING ARE: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THE WAYS OTHER PEOPLE CAN HELP ME ARE: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Person: _________________ How: ___________________________________________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I WILL KNOW THAT MY PLAN IS WORKING IF: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SOME THINGS THAT COULD INTERFERE WITH MY PLAN ARE: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_________________________________________________________________________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Appendix B: Change Plan Worksheet.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WORKSHEET 2: Decisional Balance Grid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Benefits of Status Quo: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GOOD THINGS about my substance use: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____________________________________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C62828"/>
                </a:solidFill>
                <a:latin typeface="Times New Roman"/>
              </a:defRPr>
            </a:pPr>
            <a:r>
              <a:t>Costs of Status Quo: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COSTS of my current substance use: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____________________________________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Benefits of Change: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BENEFITS of making a change: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____________________________________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3429000"/>
            <a:ext cx="5532120" cy="2194560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Costs of Change: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COSTS of making a change: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____________________________________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Janis &amp; Mann (1977). Decision Making; MET Manual (1992), p. 29.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WORKSHEET 3: Importance, Confidence &amp; Readiness Rulers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11430000" cy="137160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IMPORTANCE: How important is it to you to make this change?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Not important  0 --- 1 --- 2 --- 3 --- 4 --- 5 --- 6 --- 7 --- 8 --- 9 --- 10  Extremely important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Why this number and not lower? _______________________________________________________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606040"/>
            <a:ext cx="11430000" cy="137160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CONFIDENCE: How confident are you that you COULD make this change?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Not confident  0 --- 1 --- 2 --- 3 --- 4 --- 5 --- 6 --- 7 --- 8 --- 9 --- 10  Extremely confident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Why this number and not lower? _______________________________________________________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4160520"/>
            <a:ext cx="11430000" cy="137160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READINESS: How ready are you to make this change RIGHT NOW?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Not ready  0 --- 1 --- 2 --- 3 --- 4 --- 5 --- 6 --- 7 --- 8 --- 9 --- 10  Completely ready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What would help you move up one point? _______________________________________________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35-37; Rollnick, Mason &amp; Butler (1999). Health Behavior Change.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WORKSHEET 4: Daily Self-Monitoring Diary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11430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58293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Day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Situation/Trigger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Feelings (0-10)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Urge (0-10)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What I Did Instead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Result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Monday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Tuesday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Wednesday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Thursday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Friday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Saturday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Sunday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____________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______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Adapted from MET Manual (1992); Marlatt &amp; Gordon (1985). Relapse Prevention.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WORKSHEET 5: My Relapse Prevention Plan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C62828"/>
                </a:solidFill>
                <a:latin typeface="Times New Roman"/>
              </a:defRPr>
            </a:pPr>
            <a:r>
              <a:t>Identifying Risks: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MY HIGH-RISK SITUATIONS: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MY EARLY WARNING SIGNS: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____________________________________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My Resources: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MY COPING STRATEGIES: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SUPPORT CONTACTS: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Name: _____________ Phone: 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Name: _____________ Phone: 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Name: _____________ Phone: _____________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Emergency Plan: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IF I HAVE A SLIP, I WILL: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Remember: a slip is NOT a failure - it's information about a trigger to address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Call: _________________________________ (my support person)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Do instead: _______________________________________________________________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Review: What triggered it? What was I feeling? What can I learn?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MY TOP REASONS TO STAY ON TRACK: ________________________________________________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Session 4; Marlatt &amp; Donovan (2005). Relapse Prevention, 2nd ed.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WORKSHEET 6: Personal Values Exploration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1143000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Values-Behavior Alignment: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Rate each: IMPORTANCE (1-5) and how CURRENT BEHAVIOR aligns (1-5)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VALUE                    IMPORTANCE    ALIGNMENT    GAP?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Being a good parent      _________     _________    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Physical health          _________     _________    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Financial security       _________     _________    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Being honest             _________     _________    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Close relationships      _________     _________    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Self-respect             _________     _________    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Career success           _________     _________    ___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Independence             _________     _________    ___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4160520"/>
            <a:ext cx="11430000" cy="15544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Reflection: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Which values have the BIGGEST gaps? How does substance use affect these values?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What would change look like for the values that matter most?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Therapist Note: Creates cognitive dissonance by making the gap explicit. Use to develop discrepancy.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Miller et al. (2001). Personal Values Card Sort; MET Manual (1992).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D47A1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Times New Roman"/>
              </a:defRPr>
            </a:pPr>
            <a:r>
              <a:t>SECTION 8</a:t>
            </a:r>
          </a:p>
          <a:p>
            <a:pPr algn="ctr">
              <a:defRPr sz="1800">
                <a:solidFill>
                  <a:srgbClr val="FFF8E1"/>
                </a:solidFill>
                <a:latin typeface="Times New Roman"/>
              </a:defRPr>
            </a:pPr>
            <a:r>
              <a:t>MET Compared with Other Therapies</a:t>
            </a:r>
            <a:br/>
            <a:r>
              <a:t>For Patient, Family, and Caregivers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MET vs Cognitive Behavioral Therapy (CBT)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MET: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APPROACH: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Focus: WHY to change (motivation)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Client provides the answers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- 4 sessions over 12 weeks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Non-directive, exploratory style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Works best EARLY in treatment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Addresses ambivalence and readiness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No homework assignments given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Therapist evokes, doesn't teach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CBT: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CBT APPROACH: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Focus: HOW to change (skills)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Therapist teaches coping skills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- 12-16 sessions typically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Structured, directive style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Works best DURING action stage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Addresses triggers and behaviors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Regular homework/practice assigned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Therapist educates and trains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Research Evidence: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EVIDENCE FOR COMBINING MET + CBT: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Project MATCH (1997): MET alone = CBT alone in outcomes (4 vs 12 sessions)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Cannabis Youth Treatment (Dennis et al., 2004): MET/CBT combination most effective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COMBINE Study (Anton et al., 2006, JAMA): MET as prelude to CBT improved engagement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Marijuana Treatment Project (Stephens et al., 2004): MET+CBT optimal for cannabis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RECOMMENDATION: Use MET FIRST (build motivation), then CBT for skills (sequential model).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Project MATCH (1997); Dennis et al. (2004). J Subst Abuse Treat; COMBINE (2006). JAMA, 295.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MET vs 12-Step Facilitation (TSF) / AA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MET: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APPROACH: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No labels required ("alcoholic")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Client sets own goals (abstinence or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moderation - client's choice)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Brief (4 sessions)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Individual therapy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Therapist is collaborative partner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No spiritual component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"You decide what's best for you"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12-Step: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12-STEP / TSF APPROACH: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Acceptance of "alcoholic" identity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Goal: total abstinence only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Ongoing/lifetime involvement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Group-based (AA/NA meetings)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Sponsor system for support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Spiritual foundation (Higher Power)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"You are powerless over alcohol"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Structured step-work program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Research Comparison: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EVIDENCE: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Project MATCH (1997): Both EQUALLY effective at 1 and 3-year follow-up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MET more cost-effective (4 sessions vs 12 for same outcomes)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MET better for clients HIGH in anger (Karno &amp; Longabaugh, 2005)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TSF better for clients with high social networks supportive of drinking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INTEGRATION: Use MET to BUILD motivation, then refer to AA/NA for ongoing community support.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addresses "why change" while 12-Step provides structure and fellowship.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Project MATCH (1997); Karno &amp; Longabaugh (2005). J Stud Alcohol, 66, 488-495.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Comprehensive Comparison of Evidence-Based Therapies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11430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666205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Therapy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Mechanism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Duration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Evidence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Internal motivation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(discrepancy + MI)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 sessions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Low-readiness clients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Angry clients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Brief settings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(MATCH, UKATT)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CBT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Skills training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(coping, triggers)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12-16 sessions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Action-stage clients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Anxiety comorbidity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(Carroll, 1994)</a:t>
                      </a:r>
                    </a:p>
                  </a:txBody>
                  <a:tcPr/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12-Step (TSF)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Peer support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Spiritual growth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Ongoing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Abstinence-oriented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High social support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(MATCH)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Contingency Mgmt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External rewards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for abstinence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12-24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Stimulant use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Immediate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(Higgins, 2004)</a:t>
                      </a:r>
                    </a:p>
                  </a:txBody>
                  <a:tcPr/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CRA+CRAFT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Environmental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restructuring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12-24 sessions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Family involvement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Social isolation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(Meyers, 1995)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BSFT (Family)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Family system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restructuring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12-16 sessions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Adolescents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Family conflict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(Szapocznik, 2003)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NICE Guidelines (2011); SAMHSA TIP 35 (1999); APA Practice Guidelines (2006).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Why MET is More Effective Than Traditional Approaches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Clinical: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CLINICAL ADVANTAGES: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COST-EFFECTIVE: 4 sessions = 12 sessions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(70% less therapist time, same results)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ENGAGES RESISTANT CLIENTS: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Works for court-mandated, family-pressured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REDUCES DROPOUT: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Non-confrontational = clients stay longer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(Carroll et al., 2006)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MATCHES CLIENT'S STAGE: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Doesn't force action on unready clients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Systemic: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SYSTEMIC ADVANTAGES: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SCALABLE: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Delivered by trained lay counselors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(Nadkarni et al., 2017 - Lancet)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UNIVERSAL ENHANCER: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Improves outcomes when added to ANY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other treatment (CBT, meds, residential)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7. CROSS-CULTURAL: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Works across cultures (WHO, 2002)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8. EVIDENCE FOR ANGRY CLIENTS: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Significantly better than other Tx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Evidence: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 SUPPORT: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Angry clients: MET significantly BETTER than CBT/TSF (Project MATCH matching hypothesis)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Low-readiness clients: MET better at engaging and retaining them in treatment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Brief settings: MET achievable where 12-session therapy is not feasible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Stepped care: MET as first step, add intensive treatment only if MET insufficient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Meta-analysis: Lundahl et al. (2010) - MI/MET effect size d=0.79 for substance use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compared to no treatment. This is a MEDIUM-LARGE effect for a 4-session intervention.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Lundahl et al. (2010). Patient Ed &amp; Counsel; Project MATCH (1997); Nadkarni et al. (2017). Lancet.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Family &amp; Caregiver Involvement in MET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Family in MET: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ROLE OF FAMILY IN MET: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Manual: A "concerned significant other"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can join Session 2 for Change Plan: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Provides support for client's goals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Helps identify triggers at home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Can reinforce positive changes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Learns non-confrontational approach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KEY: Family supports, doesn't direct.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Family uses MI principles too.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Adjunct Family Therapies: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COMPLEMENTARY FAMILY THERAPIES: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CRAFT (Community Reinforcement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and Family Training):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For families of unmotivated users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Teaches positive communication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- 64% engagement rate (Meyers, 2002)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Behavioral Couples Therapy: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Recovery contracts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Reduces substance use AND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  relationship distress simultaneously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Caregiver Education: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CAREGIVER PSYCHOEDUCATION (use alongside MET):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Teach CRAFT principles: reward sobriety, allow natural consequences, self-care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Avoid enabling behaviors (covering up, making excuses, giving money)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Understand stages of change (don't expect overnight transformation)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Learn MI techniques for home conversations (reflective listening, not lecturing)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Smith &amp; Meyers (2004) - CRAFT achieved 64% treatment engagement vs 30% Al-Anon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and 13% Johnson Intervention (confrontational). Non-confrontation wins for families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p. 65; Meyers et al. (2002). JCCP; Smith &amp; Meyers (2004). CRAFT handbook.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Combined Treatment: Therapies Used Alongside MET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11430000" cy="155448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Sequential Treatment: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STEPPED CARE MODEL (NIMHANS &amp; international guidelines):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1: MET/Brief MI (4 sessions) - for ALL clients as starting point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2: If insufficient - add CBT/Skills Training (12 sessions)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3: If still insufficient - add Pharmacotherapy + Intensive outpatient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Step 4: If still insufficient - Residential treatment / Therapeutic community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788920"/>
            <a:ext cx="5532120" cy="292608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For Patient: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FOR THE PATIENT: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MET + Pharmacotherapy: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Naltrexone/Acamprosate (alcohol)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Buprenorphine (opioids)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COMBINE (2006): MI + naltrexone effective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MET + CBT (sequential):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MET first for motivation (1-4)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CBT next for skills (5-16)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MET + Contingency Management: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- External + internal motivation combined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2788920"/>
            <a:ext cx="5532120" cy="2926080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For Family: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FOR FAMILY &amp; CAREGIVERS: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CRAFT Training (6-12 sessions)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Positive communication, consequences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Behavioral Family Therapy: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Communication skills, problem-solving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Family Psychoeducation: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Understanding addiction as illness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Reducing expressed emotion (EE)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Al-Anon/Nar-Anon support groups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Caregiver self-care programs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NIMHANS (2016), Ch. 8-10; COMBINE (2006). JAMA; Meyers et al. (2002); NICE (2011).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2DFD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MET as a 'Pretreatment' Enhancer for Other Therapies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2DFDB"/>
          </a:solidFill>
          <a:ln w="1905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007B83"/>
                </a:solidFill>
                <a:latin typeface="Times New Roman"/>
              </a:defRPr>
            </a:pPr>
            <a:r>
              <a:t>MET as Enhancer: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AS PRELUDE TO OTHER TREATMENTS: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 shows MET BEFORE other therapies: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Increases treatment ENGAGEMENT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(clients attend more sessions)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Reduces DROPOUT rates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Improves OUTCOMES of subsequent Tx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Increases MEDICATION adherence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Enhances CBT, DBT, residential Tx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"MI as a prelude to treatment is one of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its most promising applications"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(Hettema et al., 2005)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Studies: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 EVIDENCE: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Carroll et al. (2006): MI before Tx =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better retention in drug treatment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Westra &amp; Dozois (2006): MI before CBT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enhanced outcomes for anxiety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Martino et al. (2007): MI improved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engagement in psychiatric treatment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Swanson et al. (1999): MI before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residential Tx = longer stays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Daley et al. (1998): MI + 12-Step =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better than 12-Step alone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Cost: Only 1-2 extra sessions needed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Take-Home Message: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CLINICAL IMPLICATION: Even if your primary treatment modality is CBT, DBT, 12-Step, or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residential treatment, STARTING with 1-2 sessions of MET/MI will improve outcomes.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is not just a standalone treatment - it's a universal treatment ENHANCER.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This is particularly important for comorbid patients who need multiple therapies.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Start with MET to build motivation, then add the disorder-specific intervention.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Hettema et al. (2005) - MI as pretreatment had the largest effect sizes in their review.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Carroll et al. (2006). Drug Alcohol Depend; Hettema et al. (2005). Ann Rev Clin Psychol, 1, 91-111.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6A1B9A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Times New Roman"/>
              </a:defRPr>
            </a:pPr>
            <a:r>
              <a:t>SECTION 9</a:t>
            </a:r>
          </a:p>
          <a:p>
            <a:pPr algn="ctr">
              <a:defRPr sz="1800">
                <a:solidFill>
                  <a:srgbClr val="FFF8E1"/>
                </a:solidFill>
                <a:latin typeface="Times New Roman"/>
              </a:defRPr>
            </a:pPr>
            <a:r>
              <a:t>MET with Comorbid Psychiatric Disorders</a:t>
            </a:r>
            <a:br/>
            <a:r>
              <a:t>What to Do When Co-Occurring Conditions Exist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Dual Diagnosis: Substance Use + Psychiatric Disorders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The Problem: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PREVALENCE OF COMORBIDITY: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- 50-70% of substance users have at least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one comorbid psychiatric disorder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(Regier et al., 1990; Kessler, 2004)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Common comorbidities: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* Depression (30-50%)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* Anxiety disorders (25-40%)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* Personality disorders (40-70%)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* PTSD (25-40%)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* Bipolar disorder (20-30%)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MET Applicability: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CAN MET BE USED WITH COMORBIDITY?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YES - with adaptations: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MI/MET principles applicable regardless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of comorbid diagnosis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Tested in dual diagnosis populations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Key: INTEGRATE, don't separate treatment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"Integrated treatment is more effective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than parallel or sequential treatment"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(Drake et al., 2004, Schizophr Bull)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General Approach: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GENERAL PRINCIPLES FOR MET WITH COMORBIDITY: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TREAT BOTH SIMULTANEOUSLY (integrated approach superior to sequential)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Acknowledge substance use may be SELF-MEDICATION for psychiatric symptoms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Explore FUNCTION of use: "What does drinking do for your anxiety/depression?"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Develop discrepancy: "You use to feel better, but does it make things better long-term?"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Adapt pace - comorbid clients may need more sessions or slower progression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Coordinate with prescribing psychiatrist for pharmacotherapy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Drake et al. (2004). Schizophr Bull, 30; Kessler (2004). Biol Psych; NIMHANS (2016), Ch. 12.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CDD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MET with Comorbid Personality Disorders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C62828"/>
                </a:solidFill>
                <a:latin typeface="Times New Roman"/>
              </a:defRPr>
            </a:pPr>
            <a:r>
              <a:t>PD + Substance Use: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CHALLENGES: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Interpersonal difficulties affect rapport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Emotional dysregulation (BPD)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Impulsivity increases relapse risk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Identity disturbance complicates values work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Therapist-client dynamic more complex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Higher dropout rates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PREVALENCE: 40-70% of substance users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meet criteria for at least one PD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(Verheul, 2001; NIMHANS data)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Adaptations: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ADAPTATIONS FOR PD: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LONGER ENGAGEMENT PHASE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May need extra sessions before feedback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EMPHASIS ON ROLLING WITH RESISTANCE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PD clients show more resistance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VALIDATE EMOTIONS before exploring change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(especially for Borderline PD)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SMALLER CHANGE GOALS (reduce overwhelm)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CONSISTENT boundaries + empathy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Monitor for therapeutic relationship ruptures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Research: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 EVIDENCE: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Ball et al. (2007): Dual Focus Schema Therapy + MI for PD+SUD - improved outcomes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vs standard counseling (J Nervous &amp; Mental Disease, 195, 24-31)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Bornovalova &amp; Daughters (2007): MI effective for Borderline PD + SUD with distress tolerance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Gregory et al. (2008): MI feasible with Antisocial PD (commonly seen in substance users)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NIMHANS recommendation: MI/MET as engagement strategy for PD patients, then transition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to DBT (Borderline) or Schema Therapy (Cluster B) for long-term personality 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Ball et al. (2007). J Nerv Ment Dis; Bornovalova &amp; Daughters (2007); Verheul (2001).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MET with Comorbid Depression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The Challenge: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DEPRESSION + SUBSTANCE USE: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- 30-50% comorbidity rate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Alcohol is CNS depressant - worsens mood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Substance-induced vs independent depression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Both need addressing simultaneously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CHALLENGES FOR MET: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Low energy/motivation (core of depression)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Hopelessness affects self-efficacy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Suicidal ideation must be monitored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Cognitive distortions complicate reasoning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Adaptations: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ADAPTATIONS FOR DEPRESSION: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EXTRA EMPHASIS on self-efficacy building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(counters hopelessness of depression)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Explore MOOD-SUBSTANCE link: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"When do you drink most? When low?"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Develop discrepancy with MOOD: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"You drink to feel better, but next day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 your mood is even worse."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Coordinate antidepressant medication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Safety planning if suicidal ideation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Smaller goals (energy is limited)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Research: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 EVIDENCE: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Baker et al. (2010): MI + CBT for comorbid depression + SUD - significantly reduced both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depressive symptoms AND substance use (Addiction, 105, 1560-1568)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Satre et al. (2016): MI effective for older adults with depression + alcohol use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Westra &amp; Dozois (2006): MI as prelude to CBT for depression enhanced engagement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Rao et al. (2015, NIMHANS): MI-based brief intervention effective for depression + alcohol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in Indian primary care settings (Asian J Psychiatry, 16, 45-51)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Baker et al. (2010). Addiction; Westra &amp; Dozois (2006). JCCP; Rao et al. (2015). Asian J Psych.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2DFD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MET with Comorbid Anxiety Disorders &amp; PTSD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2DFDB"/>
          </a:solidFill>
          <a:ln w="1905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007B83"/>
                </a:solidFill>
                <a:latin typeface="Times New Roman"/>
              </a:defRPr>
            </a:pPr>
            <a:r>
              <a:t>The Challenge: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ANXIETY + SUBSTANCE USE: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- 25-40% comorbidity rate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Substances "self-medicate" anxiety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Alcohol reduces anxiety short-term,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increases it long-term (rebound)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Withdrawal mimics anxiety symptoms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PTSD + SUBSTANCE USE: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- 25-40% of PTSD patients have SUD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Substances numb trauma memories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Integrated treatment essential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Adaptations: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ADAPTATIONS: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For ANXIETY: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Validate anxiety as real (not excuse)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Explore substance-anxiety cycle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Include anxiety management in Change Plan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Confidence building is crucial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For PTSD: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Safety first - stabilization before change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Respect avoidance (don't push trauma)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MET for engagement, then EMDR/PE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Trauma-informed MI adaptation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Research: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 EVIDENCE: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Hien et al. (2009): Integrated MI + Seeking Safety for PTSD+SUD - effective in reducing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both trauma symptoms AND substance use (J Consult Clin Psychol, 77, 607-619)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Westra (2012): MI enhanced CBT outcomes for anxiety disorders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Najavits (2002): Seeking Safety + MI as integrated approach for trauma + substance use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Sannibale et al. (2013): MI + exposure therapy for alcohol+PTSD - feasible and effective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Bolton et al. (2016, Lancet Psychiatry): MI effective in low-resource settings for comorbidity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Hien et al. (2009). JCCP; Westra (2012). Addictive Behaviors; Sannibale et al. (2013). Addiction.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MET with Bipolar Disorder &amp; Psychotic Disorders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The Challenge: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BIPOLAR + SUBSTANCE USE: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- 40-60% lifetime SUD comorbidity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Mania: impulsivity increases use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Depression: self-medication pattern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Non-adherence to mood stabilizers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PSYCHOSIS + SUBSTANCE USE: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- 40-50% have comorbid SUD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Cannabis, alcohol most common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Complicates symptom management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Reduced insight may limit engagement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Adaptations: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ADAPTATIONS: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For BIPOLAR: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Address medication adherence with MI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Discrepancy: substance triggers episodes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Change Plan includes mood monitoring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Extra self-efficacy during depressive phases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For PSYCHOSIS: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Simplify language and concepts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Focus on immediate, concrete goals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Shorter sessions if attention limited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Affirm heavily (low self-esteem common)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Family involvement especially important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Research: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 EVIDENCE: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Barrowclough et al. (2001): MI + CBT for schizophrenia + SUD - significant reduction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in substance use over 18 months (BMJ, 323, 1-5). Landmark dual diagnosis trial.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Graeber et al. (2003): MI for psychosis + SUD improved engagement and retention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Kemp et al. (1996): Compliance Therapy (MI-based) for bipolar medication adherence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Baker et al. (2005): MI effective for comorbid psychosis + cannabis (Addiction, 100, 1614)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Haddock et al. (2003): Integrated MI+CBT for psychosis+SUD in community mental health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Barrowclough et al. (2001). BMJ; Baker et al. (2005). Addiction; Kemp et al. (1996).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MET with ADHD &amp; Other Comorbid Conditions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ADHD + SUD: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ADHD + SUBSTANCE USE: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- 25-40% of adults with SUD have ADHD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Impulsivity is a shared vulnerability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Stimulant medications may be needed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Short attention span affects session format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ADAPTATIONS FOR ADHD: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Shorter, more focused sessions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More visual aids and written summaries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Repeated summaries (attention issues)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Address impulsivity as shared target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"How does using affect your focus?"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Other Comorbidities: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EATING DISORDERS + SUBSTANCE USE: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- 20-35% comorbidity rate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Shared features: impulsivity, affect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regulation difficulties, body image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ADAPTATIONS FOR ED: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Address both behaviors in Change Plan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Explore function of BOTH (affect regulation)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Validate ambivalence about ED AND substance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Body image discrepancy can be explored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GAMBLING DISORDER: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MI has Level 1 evidence for gambling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(Hodgins et al., 2001; Petry et al., 2008)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Research: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 EVIDENCE: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Zulauf et al. (2014): MI effective for ADHD+SUD when sessions adapted for attention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Treasure &amp; Schmidt (2001): MI for eating disorders - MI effective for treatment ambivalence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Hodgins et al. (2001): MI reduced gambling in a brief telephone intervention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Petry et al. (2008): MI + CBT for pathological gambling - significant improvements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van Emmerik-van Oortmerssen et al. (2012): ADHD screening in SUD populations recommended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PRINCIPLE: MI/MET is adaptable to ANY behavioral change target - the principles are universal.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Zulauf et al. (2014). Curr Drug Abuse Rev; Hodgins et al. (2001). JCCP; Treasure &amp; Schmidt (2001).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Summary: MET Adaptations for All Comorbid Disorders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11430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666205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Comorbid Disorder</a:t>
                      </a:r>
                    </a:p>
                  </a:txBody>
                  <a:tcPr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Key MET Adaptation</a:t>
                      </a:r>
                    </a:p>
                  </a:txBody>
                  <a:tcPr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Adjunct Therapy</a:t>
                      </a:r>
                    </a:p>
                  </a:txBody>
                  <a:tcPr>
                    <a:solidFill>
                      <a:srgbClr val="6A1B9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Key Research</a:t>
                      </a:r>
                    </a:p>
                  </a:txBody>
                  <a:tcPr>
                    <a:solidFill>
                      <a:srgbClr val="6A1B9A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Personality Disorders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 alliance building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Validation before change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Smaller goals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DBT (Borderline)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Schema Therapy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Mentalisation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Ball et al. (2007)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Bornovalova (2007)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Major Depression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Extra self-efficacy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Mood-substance link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planning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Antidepressants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CBT for Depression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Behavioral Activation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Baker et al. (2010)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Rao et al. (2015)</a:t>
                      </a:r>
                    </a:p>
                  </a:txBody>
                  <a:tcPr/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Anxiety Disorders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Validate anxiety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Explore anxiety cycle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Confidence building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SSRIs/SNRIs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CBT for Anxiety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Relaxation Training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Westra (2012)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Westra &amp; Dozois (2006)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PTSD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Safety first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Trauma-informed MI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Respect avoidance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EMDR / PE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Seeking Safety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Hien et al. (2009)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Sannibale (2013)</a:t>
                      </a:r>
                    </a:p>
                  </a:txBody>
                  <a:tcPr/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Bipolar Disorder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Med adherence with MI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Link use to episodes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Mood monitoring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Mood Stabilizers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IPSRT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Psychoeducation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Kemp et al. (1996)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Graeber (2003)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Psychotic Disorders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Simplify language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Concrete goals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Shorter sessions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Antipsychotics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Integrated dual Dx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Family intervention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Barrowclough (2001)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Baker (2005)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All cited in individual slides. Review: Drake et al. (2004). Schizophr Bull, 30, 795-808.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D47A1"/>
              </a:gs>
              <a:gs pos="100000">
                <a:srgbClr val="FFFFFF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9144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Times New Roman"/>
              </a:defRPr>
            </a:pPr>
            <a:r>
              <a:t>SECTION 10</a:t>
            </a:r>
          </a:p>
          <a:p>
            <a:pPr algn="ctr">
              <a:defRPr sz="1800">
                <a:solidFill>
                  <a:srgbClr val="FFF8E1"/>
                </a:solidFill>
                <a:latin typeface="Times New Roman"/>
              </a:defRPr>
            </a:pPr>
            <a:r>
              <a:t>Research Evidence &amp; Effectiveness</a:t>
            </a:r>
            <a:br/>
            <a:r>
              <a:t>How Well Does MET Work?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Project MATCH: The Landmark Trial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0D47A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0D47A1"/>
                </a:solidFill>
                <a:latin typeface="Times New Roman"/>
              </a:defRPr>
            </a:pPr>
            <a:r>
              <a:t>The Study: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STUDY DESIGN: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Largest alcohol treatment trial ever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- 1,726 participants, 9 US sites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Randomized to 3 conditions: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1. MET (4 sessions / 12 weeks)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2. CBT (12 sessions)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3. TSF/12-Step (12 sessions)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Follow-up: 1 year and 3 years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Cost: $27 million (NIAAA funded)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Results: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 FINDINGS: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All three treatments significantly improved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MET achieved COMPARABLE outcomes to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CBT and TSF in just 4 sessions vs 12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Percent Days Abstinent improved in ALL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Drinks Per Drinking Day decreased in ALL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At 3-year follow-up: gains maintained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IMPLICATION: MET is as effective as longer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treatments = highly COST-EFFECTIVE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Significance: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MATCHING FINDING: Clients HIGH in anger did significantly BETTER in MET than other treatments.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Non-confrontational approach works better for angry, reactive clients.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finding that a 4-session motivational intervention could produce outcomes comparable to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12-session treatments had profound implications for cost-effectiveness." (MATCH Group, 1997)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India relevance: With limited therapist availability, a 4-session effective treatment is ideal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for resource-constrained settings (NIMHANS recommends MET as first-line, 2016).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Project MATCH (1997). J Stud Alcohol, 58, 7-29; (1998). Addiction, 93, 1434-1447.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Meta-Analyses: MI/MET Effectiveness Across Studies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11430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77724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Study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N Studies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Key Finding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Effect Size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Burke et al. (2003)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J Consult Clin Psychol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30 RCTs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MI/MET effective for alcohol,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drugs, diet, adherence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 = 0.25-0.57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Hettema et al. (2005)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Ann Rev Clin Psychol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72 studies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MI effective across substances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vs no treatment/advice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 = 0.77 at follow-up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Lundahl et al. (2010)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Patient Ed &amp; Counsel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119 studies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MI moderate effect;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stronger for substance use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 = 0.22 (combined)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 = 0.79 (substance)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Vasilaki et al. (2006)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Addiction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15 RCTs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Brief MI effective for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reducing alcohol consumption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Significant reduction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Smedslund et al. (2011)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Cochrane Review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59 RCTs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MI reduces substance use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more than no treatment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SMD = -0.79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All peer-reviewed meta-analyses of MI/MET interventions as cited.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Research Evidence: Indian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Indian Studies: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NIMHANS EVIDENCE: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Brief MI effective in Indian primary care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(Murthy et al., 2009)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NIMHANS protocols integrate MET as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first-line psychosocial intervention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Community MI reduced alcohol in rural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Karnataka (Nadkarni et al., 2017)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AIIMS, DELHI: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Brief MI for alcohol dependence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positive outcomes (Pal et al., 2007)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Key Studies: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PREMIUM TRIAL (Lancet, 2017):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Lay counselors delivered MI in Goa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Significant reduction in harmful drinking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Published in The Lancet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Proved task-shifting feasible in India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CHAND et al. (2018, NIMHANS):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Technology-assisted brief intervention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Showed feasibility in Indian clinics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OUTCOME: MI/MET effective in India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Indian Adaptations: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CULTURAL CONSIDERATIONS FOR INDIA: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Family involvement crucial (integrate into MET Change Plan)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High stigma - MI's non-judgmental approach especially valuable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Task-shifting to lay counselors feasible (PREMIUM trial conclusive)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Adaptations: family values, community roles, spiritual beliefs in values work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NIMHANS (2016) recommends MI/MET as evidence-based first-line intervention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Cost-effective for India's resource-constrained mental health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Nadkarni et al. (2017). Lancet, 389; NIMHANS (2016); Chand et al. (2018). Indian J Psych.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UKATT &amp; Global Evidence Summary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UKATT: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UKATT (UK Alcohol Treatment Trial):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Largest UK trial (742 clients)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MET (3 sessions) vs SBNT (8 sessions)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Result: BOTH equally effective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MET significantly more cost-effective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- 5x less therapist time, same results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CONCLUSION: MET achieves equivalent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outcomes at a fraction of the cost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(UKATT Research Team, 2005, BMJ)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Global: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OTHER INTERNATIONAL EVIDENCE: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WHO (2002): MI effective in 10 countries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COMBINE (2006, JAMA): MI + naltrexone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Cannabis Youth Treatment (2004):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MET effective for adolescent cannabis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Stephens et al. (2004):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2 sessions MI = 6 sessions CBT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MI/MET works across cultures, substances,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age groups, and clinical settings.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Bottom Line: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EVIDENCE SUMMARY: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EMPIRICALLY SUPPORTED for alcohol use disorders (Level 1 evidence)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Effective for cannabis, cocaine, opioids, polysubstance use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Works with adolescents, adults, older adults across cultures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Effective when delivered by trained lay counselors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Cost-effective: same results as longer treatments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Compatible with pharmacotherapy and enhances medication adherence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Universal treatment enhancer - improves other therapies when added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UKATT (2005). BMJ, 331; COMBINE (2006). JAMA, 295; WHO (2002); Stephens et al. (2004).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F8E1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Key Takeaways: MET in Clinical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11430000" cy="73152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MET is BRIEF but POWERFUL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 sessions achieve outcomes of 12-session treatments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856232"/>
            <a:ext cx="11430000" cy="73152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Based on SOLID THEORY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Transtheoretical Model + Self-Efficacy + Cognitive Dissonance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660904"/>
            <a:ext cx="11430000" cy="731520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The CLIENT does the work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Therapist evokes motivation, doesn't install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3465576"/>
            <a:ext cx="11430000" cy="73152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RESISTANCE is information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Not to fight - a signal to change approach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4270248"/>
            <a:ext cx="11430000" cy="731520"/>
          </a:xfrm>
          <a:prstGeom prst="roundRect">
            <a:avLst/>
          </a:prstGeom>
          <a:solidFill>
            <a:srgbClr val="B2DFDB"/>
          </a:solidFill>
          <a:ln w="1905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007B83"/>
                </a:solidFill>
                <a:latin typeface="Times New Roman"/>
              </a:defRPr>
            </a:pPr>
            <a:r>
              <a:t>Works with COMORBIDITY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Adaptable for PD, depression, anxiety, PTSD, psychosis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5074920"/>
            <a:ext cx="11430000" cy="73152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8800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880038"/>
                </a:solidFill>
                <a:latin typeface="Times New Roman"/>
              </a:defRPr>
            </a:pPr>
            <a:r>
              <a:t>EVIDENCE-BASED globally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Project MATCH, UKATT, PREMIUM trial, 100+ RCTs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Miller et al. (1992); Project MATCH (1997); UKATT (2005); NIMHANS (2016); Nadkarni et al. (2017).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Comprehensive References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PRIMARY SOURCES: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Miller, W.R. et al. (1992). MET Manual. NIAAA.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NIMHANS (2016). Substance Use Disorders Manual.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Miller &amp; Rollnick (2013). MI, 3rd ed. Guilford.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Prochaska &amp; DiClemente (1984). TTM.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Project MATCH (1997). J Stud Alcohol, 58.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UKATT (2005). BMJ, 331, 544.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COMORBIDITY: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Barrowclough et al. (2001). BMJ, 323.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Baker et al. (2010). Addiction, 105.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Ball et al. (2007). J Nerv Ment Dis, 195.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Hien et al. (2009). JCCP, 77.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Drake et al. (2004). Schizophr Bull, 30.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Westra &amp; Dozois (2006). JCCP, 74.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INDIAN RESEARCH: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Nadkarni et al. (2017). Lancet, 389.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Chand et al. (2018). Indian J Psychiatry.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Rao et al. (2015). Asian J Psychiatry, 16.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Murthy et al. (2009). NIMHANS.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META-ANALYSES: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Lundahl et al. (2010). Pat Ed Counsel, 80.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Hettema et al. (2005). Ann Rev Clin Psychol.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Smedslund et al. (2011). Cochrane Review.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Burke et al. (2003). JCCP, 71.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FAMILY: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Smith &amp; Meyers (2004). CRAFT.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Meyers et al. (2002). JCCP, 70.</a:t>
            </a:r>
          </a:p>
          <a:p>
            <a:pPr>
              <a:spcAft>
                <a:spcPts val="200"/>
              </a:spcAft>
              <a:defRPr sz="1000">
                <a:solidFill>
                  <a:srgbClr val="333333"/>
                </a:solidFill>
                <a:latin typeface="Times New Roman"/>
              </a:defRPr>
            </a:pPr>
            <a:r>
              <a:t>Carroll et al. (2006). Drug Alcohol Depend.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All from peer-reviewed journals, published manuals, and institutional publications.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1B3A5C"/>
              </a:gs>
              <a:gs pos="100000">
                <a:srgbClr val="0D47A1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64592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Times New Roman"/>
              </a:defRPr>
            </a:pPr>
            <a:r>
              <a:t>Thank You</a:t>
            </a:r>
          </a:p>
          <a:p>
            <a:pPr>
              <a:spcAft>
                <a:spcPts val="3000"/>
              </a:spcAft>
            </a:pPr>
          </a:p>
          <a:p>
            <a:pPr algn="ctr">
              <a:defRPr sz="1600" i="1">
                <a:solidFill>
                  <a:srgbClr val="F9A825"/>
                </a:solidFill>
                <a:latin typeface="Times New Roman"/>
              </a:defRPr>
            </a:pPr>
            <a:r>
              <a:t>"People are generally better persuaded by the reasons</a:t>
            </a:r>
          </a:p>
          <a:p>
            <a:pPr algn="ctr">
              <a:defRPr sz="1600" i="1">
                <a:solidFill>
                  <a:srgbClr val="F9A825"/>
                </a:solidFill>
                <a:latin typeface="Times New Roman"/>
              </a:defRPr>
            </a:pPr>
            <a:r>
              <a:t>which they have themselves discovered</a:t>
            </a:r>
          </a:p>
          <a:p>
            <a:pPr algn="ctr">
              <a:defRPr sz="1600" i="1">
                <a:solidFill>
                  <a:srgbClr val="F9A825"/>
                </a:solidFill>
                <a:latin typeface="Times New Roman"/>
              </a:defRPr>
            </a:pPr>
            <a:r>
              <a:t>than by those which have come into the minds of others."</a:t>
            </a:r>
          </a:p>
          <a:p>
            <a:pPr algn="ctr">
              <a:defRPr sz="1300">
                <a:solidFill>
                  <a:srgbClr val="BBDEFB"/>
                </a:solidFill>
                <a:latin typeface="Times New Roman"/>
              </a:defRPr>
            </a:pPr>
            <a:r>
              <a:t>— Blaise Pascal</a:t>
            </a:r>
          </a:p>
          <a:p>
            <a:pPr>
              <a:spcAft>
                <a:spcPts val="2000"/>
              </a:spcAft>
            </a:pPr>
          </a:p>
          <a:p>
            <a:pPr algn="ctr">
              <a:defRPr sz="1100">
                <a:solidFill>
                  <a:srgbClr val="BBDEFB"/>
                </a:solidFill>
                <a:latin typeface="Times New Roman"/>
              </a:defRPr>
            </a:pPr>
            <a:r>
              <a:t>Based on: MET Manual (NIAAA, 1992) &amp; NIMHANS Substance Use Disorders (2016)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SESSION 2: Clinical Dialogue - Change Plan Development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114300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DEVELOPING THE CHANGE PLAN - DIALOGUE: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"Last time we talked about how your drinking has been affecting your family life.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 You said you wanted things to be different. Would you like to put together a plan?"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"Yeah, I think so. But I don't know where to start."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"That's okay. Let's think about this together. What changes would you like to make?"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"I guess... I want to cut down. Maybe not drink during the week."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"Weekday abstinence - that's a specific, achievable goal. What's the most important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 reason for making that change?" (Eliciting commitment language)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"My kids. They deserve a better father in the evenings."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"Being present for your children is what matters most to you." (Affirming value)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"Yeah. And I can't be present if I'm drinking."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"You've connected the dots between drinking and missing out on what matters."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   (Reflecting change talk - the client is arguing for change, not the therapist)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"What steps could you take to make weekday abstinence work?"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C: "Maybe not keep beer in the house... and find something else to do in the evening."</a:t>
            </a:r>
          </a:p>
          <a:p>
            <a:pPr>
              <a:spcAft>
                <a:spcPts val="200"/>
              </a:spcAft>
              <a:defRPr sz="1100">
                <a:solidFill>
                  <a:srgbClr val="333333"/>
                </a:solidFill>
                <a:latin typeface="Times New Roman"/>
              </a:defRPr>
            </a:pPr>
            <a:r>
              <a:t>T: "You already have two concrete ideas. That's great. What might get in the way?"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63-68; Dialogue based on Change Plan Worksheet protocol.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Presenting Normative Feedback: A Key MET Technique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The Technique: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WHAT IS NORMATIVE FEEDBACK?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Showing the client WHERE they fall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compared to the general population: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"Of all adults in India, here's where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your drinking falls..."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[Show graph: 95th percentile]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"95% of adults drink LESS than you."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This creates discrepancy without arguing.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DATA does the work.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Delivery Tips: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HOW TO DELIVER EFFECTIVELY: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Present the data NEUTRALLY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(not with alarm or judgment)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Use visual aids (graphs, charts)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PAUSE after presenting - let it land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Ask: "What do you make of this?"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Reflect their reaction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Do NOT push if they minimize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(they'll think about it later)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"Let the data speak for itself"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What to Compare: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AREAS FOR NORMATIVE COMPARISON: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Drinking quantity vs population norms (percentile ranking)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Number of alcohol-related problems vs typical drinkers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Blood alcohol concentration estimates vs legal/medical limits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Liver enzyme levels vs normal ranges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Money spent on substances vs average household spending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Neighbors et al. (2004) showed personalized normative feedback alone reduced heavy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drinking in college students. When combined with MI, effects were even stronger.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44-50; Neighbors et al. (2004). J Consult Clin Psychol, 72, 434-442.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Assessing Stage of Change: Practical Guide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Quick Assessment: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HOW TO ASSESS READINESS: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Use the READINESS RULER: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"On a scale of 1-10, how ready are you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to make a change right now?"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1-3 = Precontemplation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(not ready, don't push)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4-6 = Contemplation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(thinking about it, explore ambivalence)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7-10 = Preparation/Action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(ready, develop Change Plan)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Listening for Stage: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LANGUAGE CLUES BY STAGE: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PRECONTEMPLATION: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"I don't have a problem" "Everyone does it"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CONTEMPLATION: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"Maybe" "I've been thinking" "I'm not sure"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"Part of me wants to" "But on the other hand"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PREPARATION: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"I need to" "I'm going to" "How do I?"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"What are my options?" "I've decided"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Stage-Matched Responses: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MATCHING YOUR RESPONSE TO THEIR STAGE: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Precontemplation: Raise awareness gently, provide feedback, plant seeds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Contemplation: Explore ambivalence, use decisional balance, evoke change talk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Preparation: Develop Change Plan, offer menu of options, set goals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Action: Affirm, troubleshoot, review plan, build confidence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Maintenance: Identify risks, plan for slips, celebrate, consolidate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CARDINAL RULE: Never be ahead of the client. Match YOUR energy to THEIR readiness.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MET Manual (1992), pp. 6-14; DiClemente &amp; Velasquez (2002). Ch. in MI 2nd ed.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MET/MI Evidence by Specific Population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11430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58293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Population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Setting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Key Study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Finding</a:t>
                      </a:r>
                    </a:p>
                  </a:txBody>
                  <a:tcPr>
                    <a:solidFill>
                      <a:srgbClr val="007B83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Heavy-drinking college students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University counseling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Marlatt et al. (1998)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BAMI Study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Single MI session reduced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harm at 2-year follow-up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Pregnant women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Prenatal care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Handmaker et al. (1999)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Project CHOICES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MI reduced drinking in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pregnancy significantly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Adolescents (cannabis)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Outpatient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Dennis et al. (2004)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CYT Study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MET/CBT5 most effective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brief intervention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HIV+ substance users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HIV clinic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Parsons et al. (2007)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Project PLUS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MI reduced substance use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and improved adherence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Emergency department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Hospital 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Bernstein et al. (2005)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Project ASSERT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Single MI session reduced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cocaine use at 6 months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Older adults (65+)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Primary care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Satre et al. (2016)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MI effective for reducing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hazardous drinking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Inmates/prisoners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Correctional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Stein et al. (2006)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MI reduced post-release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substance use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All studies cited in table. Review: Hettema et al. (2005). Ann Rev Clin Psychol, 1, 91-111.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2DFD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7B8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MET Therapist Skills Checklist (Self-Assessment)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2DFDB"/>
          </a:solidFill>
          <a:ln w="19050">
            <a:solidFill>
              <a:srgbClr val="007B8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007B83"/>
                </a:solidFill>
                <a:latin typeface="Times New Roman"/>
              </a:defRPr>
            </a:pPr>
            <a:r>
              <a:t>DO MORE: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MI-CONSISTENT BEHAVIORS: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(aim to maximize these)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Open-ended questions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Simple reflections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Complex reflections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Affirmations of client strengths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Summaries that capture both sides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Emphasis on personal choice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Supporting self-efficacy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Exploring ambivalence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Developing discrepancy gently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C62828"/>
                </a:solidFill>
                <a:latin typeface="Times New Roman"/>
              </a:defRPr>
            </a:pPr>
            <a:r>
              <a:t>DO LESS: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MI-INCONSISTENT BEHAVIORS: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(aim to minimize these)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Advising without permission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Confronting or arguing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Directing or ordering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Warning or threatening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Moralizing or preaching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Judging or criticizing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Labeling ("you're an alcoholic")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Overloading with information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[ ] Closed questions (yes/no)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Quality Measures: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QUALITY INDICATORS (from research):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Reflection-to-question ratio: aim for 2:1 or higher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% Open questions: aim for &gt;70% of all questions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% MI-consistent behaviors: aim for &gt;90% of all responses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% Complex reflections: aim for &gt;50% of all reflections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Moyers et al. (2005) showed these ratios predicted client outcomes.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MITI (Motivational Interviewing Treatment Integrity) scale measures these in supervision.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Moyers et al. (2005). MITI Manual; MET Manual (1992); Miller &amp; Rollnick (2013). MI 3rd ed.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C8E6C9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Training &amp; Supervision in MET/MI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Learning Path: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HOW TO LEARN MET/MI: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Read the MET Manual (freely available)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Attend a 2-day MI workshop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Practice with role-plays and feedback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Record sessions and review with supervisor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Use MITI coding for self-assessment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Join MI learning community (MINT)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 INSIGHT: Reading alone is insufficient.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MI is a SKILL that requires practice and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feedback, like learning a musical instrument.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Supervision: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SUPERVISION RECOMMENDATIONS: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Regular session recording review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Use MITI (MI Treatment Integrity) scale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Focus on reflection-to-question ratio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Identify MI-inconsistent behaviors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Practice difficult scenarios (resistance)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FIDELITY MATTERS: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 shows MI delivered POORLY can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actually HARM outcomes. Quality matters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more than quantity of sessions.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(Miller &amp; Rollnick, 2014)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Research on Training: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EVIDENCE ON TRAINING: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Miller et al. (2004): Workshop alone insufficient; need ongoing feedback/coaching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Martino et al. (2008): Supervision with feedback improved MI skill retention significantly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NIMHANS: Has structured MI training programs for Indian mental health professionals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Task-shifting: Nadkarni et al. (2017) showed lay counselors can learn MI effectively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RECOMMENDATION: Minimum training = 16-hour workshop + 6 months supervised practice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with regular recording review. This applies in both Indian and international contexts.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Miller et al. (2004). Drug Alcohol Depend; Martino et al. (2008). JCCP; NIMHANS (2016).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CDD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Limitations &amp; When MET May Not Be Sufficient Alone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CDD2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C62828"/>
                </a:solidFill>
                <a:latin typeface="Times New Roman"/>
              </a:defRPr>
            </a:pPr>
            <a:r>
              <a:t>Limitations: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WHEN MET ALONE MAY BE INSUFFICIENT: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Severe dependence requiring detox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Active psychosis (need stabilization first)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Severe cognitive impairment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Immediate safety risks (suicidal crisis)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Client already in Action stage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(may need skills, not motivation)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Severe social instability (homeless)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NOTE: Even in these cases, MI SPIRIT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should inform all clinical interactions.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Not Appropriate: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IS NOT APPROPRIATE FOR: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Clients who need SKILLS training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(already motivated, need HOW not WHY)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-&gt; Refer to CBT after MET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Emergency situations requiring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immediate medical intervention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-&gt; Stabilize first, then MET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Mandatory abstinence settings where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client choice is not an option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-&gt; MI spirit still applies, but autonomy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 support is constrained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Important: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IMPORTANT CAVEAT: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Even when MET alone is insufficient, its PRINCIPLES should inform all clinical interactions.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The MI spirit (collaboration, evocation, autonomy) is beneficial in ANY therapeutic relationship.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"MI is not just a technique - it is a way of being with clients that enhances all treatment."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(Miller &amp; Rollnick, 2013)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Clinical recommendation: Use MET principles as the foundation, add specific interventions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(CBT, DBT, medication, residential) on top as needed based on severity and presentation.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Miller &amp; Rollnick (2013). MI 3rd ed.; NICE Guidelines (2011); NIMHANS (2016), Ch. 8.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MET for Medication &amp; Treatment Adherence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BBDEFB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The Problem: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MI FOR MEDICATION ADHERENCE: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MI techniques can address: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Ambivalence about taking medication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Side effect concerns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Beliefs about not needing meds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Forgetting/practical barriers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Approach: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"What concerns you about the medication?"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"What would be different if you took it?"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Explore, don't lecture.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Research: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EVIDENCE: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Kemp et al. (1996): Compliance Therapy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(MI-based) improved medication adherence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in psychosis patients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Parsons et al. (2007): MI improved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antiretroviral adherence in HIV+ users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Zweben &amp; Zuckoff (2002): MI for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pharmacotherapy engagement review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PRINCIPLE: MI explores reasons TO adhere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without pressuring. Client decides.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How to Apply: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CLINICAL APPLICATION: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Session 4 of MET can address medication as part of maintenance planning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For comorbid patients on antidepressants/mood stabilizers/antipsychotics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Use same MI techniques: explore ambivalence, develop discrepancy, support autonomy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"What role could medication play in your plan?" (not "You need to take your meds")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Research: Medication adherence improves 40-60% when MI techniques are used vs standard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education approach (Zygmunt et al., 2002. Psychiatr Serv, 53, 1508-1515).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Kemp et al. (1996). BMJ; Parsons et al. (2007). AIDS Behav; Zygmunt et al. (2002). Psychiatr Serv.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E0B2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E65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Cultural Adaptations of MET for Indian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FFE0B2"/>
          </a:solidFill>
          <a:ln w="19050">
            <a:solidFill>
              <a:srgbClr val="E65C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Cultural Context: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INDIAN CULTURAL FACTORS: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Family-centric decision making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(not just individual autonomy)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Stigma around mental health/addiction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Spiritual/religious values important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Gender roles affect presentation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Economic pressures are major triggers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Joint family system: multiple stakeholders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Help-seeking often delayed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Traditional healing sought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Adaptations: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MET ADAPTATIONS FOR INDIA: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Include FAMILY in values exploration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(family honor, duty, role as provider)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Integrate SPIRITUAL values naturally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("How does your faith view this?")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Address STIGMA non-judgmentally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(normalize help-seeking)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Use culturally relevant EXAMPLES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5. Consider COLLECTIVIST values in Change Plan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6. GENDER-sensitive approach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7. Economic factors in discrepancy work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1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1B3A5C"/>
                </a:solidFill>
                <a:latin typeface="Times New Roman"/>
              </a:defRPr>
            </a:pPr>
            <a:r>
              <a:t>Evidence: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INDIAN RESEARCH ON CULTURAL ADAPTATION: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Nadkarni et al. (2017): PREMIUM trial showed culturally adapted MI delivered by lay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counselors ("Healthy Activity Programme") was effective in Goa (Lancet, 389)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Patel et al. (2010): Task-shifting mental health care to community workers feasible in India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NIMHANS (2016): Recommends family sessions as adjunct to individual MI in Indian settings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Cultural values like family duty/honor can be POWERFUL motivators when explored with MI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KEY INSIGHT: MI's person-centered, non-judgmental approach is especially valuable in cultures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with high stigma around substance use. The principles translate well across cultures.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Nadkarni et al. (2017). Lancet; Patel et al. (2010). Lancet; NIMHANS (2016), Ch. 8.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E1BEE7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Ethical Considerations in MET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51560"/>
            <a:ext cx="5532120" cy="2194560"/>
          </a:xfrm>
          <a:prstGeom prst="roundRect">
            <a:avLst/>
          </a:prstGeom>
          <a:solidFill>
            <a:srgbClr val="E1BEE7"/>
          </a:solidFill>
          <a:ln w="190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6A1B9A"/>
                </a:solidFill>
                <a:latin typeface="Times New Roman"/>
              </a:defRPr>
            </a:pPr>
            <a:r>
              <a:t>Ethical Framework: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ETHICAL PRINCIPLES IN MET: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1. AUTONOMY: Client's right to choose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(even if they choose not to change)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2. BENEFICENCE: Acting in client's interest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(even when they don't see the harm)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3. NON-MALEFICENCE: Do no harm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(confrontation can harm - MI avoids it)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4. INFORMED CONSENT: Client knows the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 approach and their rights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1051560"/>
            <a:ext cx="5532120" cy="2194560"/>
          </a:xfrm>
          <a:prstGeom prst="roundRect">
            <a:avLst/>
          </a:prstGeom>
          <a:solidFill>
            <a:srgbClr val="C8E6C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2E7D32"/>
                </a:solidFill>
                <a:latin typeface="Times New Roman"/>
              </a:defRPr>
            </a:pPr>
            <a:r>
              <a:t>Common Dilemmas: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ETHICAL DILEMMAS IN MET: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Client chooses continued use despite risks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-&gt; Respect autonomy but document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Mandated clients (court-ordered)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-&gt; MI still works; acknowledge constraint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Risk to self/others (suicidal, DUI)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-&gt; Safety overrides autonomy temporarily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Family pressure vs client wishes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-&gt; Client's goals take priority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- Therapist values vs client's choice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  -&gt; Manage countertransference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3429000"/>
            <a:ext cx="11430000" cy="2286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300"/>
              </a:spcAft>
              <a:defRPr sz="1400" b="1">
                <a:solidFill>
                  <a:srgbClr val="E65C00"/>
                </a:solidFill>
                <a:latin typeface="Times New Roman"/>
              </a:defRPr>
            </a:pPr>
            <a:r>
              <a:t>Key Principle: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"The spirit of MI is deeply respectful of client autonomy. The therapist may feel an urge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to persuade, direct, or confront - this is the 'righting reflex' that must be managed.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Even when a client makes choices we disagree with, their autonomy is honored."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(Miller &amp; Rollnick, 2013)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Exception: When there is IMMINENT risk to self or others, standard duty-of-care protocols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override MI autonomy principles (safety planning, hospitalization if needed, reporting).</a:t>
            </a:r>
          </a:p>
          <a:p>
            <a:pPr>
              <a:spcAft>
                <a:spcPts val="200"/>
              </a:spcAft>
              <a:defRPr sz="1200">
                <a:solidFill>
                  <a:srgbClr val="333333"/>
                </a:solidFill>
                <a:latin typeface="Times New Roman"/>
              </a:defRPr>
            </a:pPr>
            <a:r>
              <a:t>This applies to our case: elevated S-CON indicators require active risk monitoring.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Miller &amp; Rollnick (2013). MI 3rd ed., Ch. 2; APA Ethics Code (2017); MCI Guidelines.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BBDEFB"/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91440"/>
          <a:lstStyle/>
          <a:p>
            <a:pPr algn="ctr">
              <a:defRPr sz="3400" b="1">
                <a:solidFill>
                  <a:srgbClr val="FFFFFF"/>
                </a:solidFill>
                <a:latin typeface="Times New Roman"/>
              </a:defRPr>
            </a:pPr>
            <a:r>
              <a:t>Evidence-Based Indications: When to Use MET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051560"/>
          <a:ext cx="114300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58293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Indication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Evidence Level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Key Study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Times New Roman"/>
                        </a:defRPr>
                      </a:pPr>
                      <a:r>
                        <a:t>Effect</a:t>
                      </a:r>
                    </a:p>
                  </a:txBody>
                  <a:tcPr>
                    <a:solidFill>
                      <a:srgbClr val="0D47A1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Alcohol Use Disorder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 (Strong)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Project MATCH (1997)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UKATT (2005)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Equal to 12-session Tx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 4 sessions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Cannabis Use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 (Strong)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CYT (2004)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Stephens et al.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Significant reduction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Treatment Engagement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 (Strong)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Carroll et al. (2006)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Martino et al. (2007)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Increases retention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Medication Adherence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2 (Moderate)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Kemp (1996)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Parsons (2007)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40-60% improvement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Dual Diagnosis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2 (Moderate)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Barrowclough (2001)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Baker (2010)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Effective integrated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Adolescents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 (Strong)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CYT Study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Jensen et al. (2011)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Developmentally apt</a:t>
                      </a:r>
                    </a:p>
                  </a:txBody>
                  <a:tcPr/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Low-resource settings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Level 1 (Strong)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Nadkarni (2017)</a:t>
                      </a:r>
                    </a:p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WHO (2002)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3333"/>
                          </a:solidFill>
                          <a:latin typeface="Times New Roman"/>
                        </a:defRPr>
                      </a:pPr>
                      <a:r>
                        <a:t>Task-shifting works</a:t>
                      </a:r>
                    </a:p>
                  </a:txBody>
                  <a:tcPr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5989320"/>
            <a:ext cx="12191695" cy="50292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/>
          <a:lstStyle/>
          <a:p>
            <a:pPr algn="ctr">
              <a:defRPr sz="900" i="1">
                <a:solidFill>
                  <a:srgbClr val="555555"/>
                </a:solidFill>
                <a:latin typeface="Times New Roman"/>
              </a:defRPr>
            </a:pPr>
            <a:r>
              <a:t>Ref: NICE (2011); SAMHSA TIP 35; APA Guidelines (2006); NIMHANS (2016).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