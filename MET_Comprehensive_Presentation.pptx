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5C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Times New Roman"/>
              </a:defRPr>
            </a:pPr>
            <a:r>
              <a:t>MOTIVATIONAL ENHANCEMENT THERAPY (MET)</a:t>
            </a:r>
          </a:p>
          <a:p>
            <a:pPr algn="ctr">
              <a:spcAft>
                <a:spcPts val="3000"/>
              </a:spcAft>
              <a:defRPr sz="2200">
                <a:solidFill>
                  <a:srgbClr val="F9A825"/>
                </a:solidFill>
                <a:latin typeface="Times New Roman"/>
              </a:defRPr>
            </a:pPr>
            <a:r>
              <a:t>A Comprehensive Clinical Guide</a:t>
            </a:r>
          </a:p>
          <a:p>
            <a:pPr algn="ctr">
              <a:defRPr sz="1400">
                <a:solidFill>
                  <a:srgbClr val="BBDEFB"/>
                </a:solidFill>
                <a:latin typeface="Times New Roman"/>
              </a:defRPr>
            </a:pPr>
            <a:r>
              <a:t>Based on the NIAAA Project MATCH MET Manual (Miller et al., 1992)</a:t>
            </a:r>
          </a:p>
          <a:p>
            <a:pPr algn="ctr">
              <a:defRPr sz="1400">
                <a:solidFill>
                  <a:srgbClr val="BBDEFB"/>
                </a:solidFill>
                <a:latin typeface="Times New Roman"/>
              </a:defRPr>
            </a:pPr>
            <a:r>
              <a:t>&amp; NIMHANS Substance Use Disorders Manual (2016)</a:t>
            </a:r>
          </a:p>
          <a:p>
            <a:pPr>
              <a:spcAft>
                <a:spcPts val="2000"/>
              </a:spcAft>
            </a:pPr>
          </a:p>
          <a:p>
            <a:pPr algn="ctr">
              <a:defRPr sz="1300">
                <a:solidFill>
                  <a:srgbClr val="F9A825"/>
                </a:solidFill>
                <a:latin typeface="Times New Roman"/>
              </a:defRPr>
            </a:pPr>
            <a:r>
              <a:t>4-Session Brief Intervention  |  Evidence-Based  |  Client-Centered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Miller, W.R., Zweben, A., DiClemente, C.C., &amp; Rychtarik, R.G. (1992). MET Manual. NIAAA Project MATCH Series Vol. 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3891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1. Introduction to MET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What is MET, origins, how it differs from other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72768"/>
            <a:ext cx="11430000" cy="438912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2. Theoretical Foundations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Transtheoretical Model, Self-Efficacy, Cognitive Dissonance - in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48256"/>
            <a:ext cx="11430000" cy="438912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3. Principles &amp; Spirit of MET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FRAMES, OARS, DARES, MI Spirit, Handling Resistance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23744"/>
            <a:ext cx="11430000" cy="438912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4. Session-by-Session Guide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How to DO the therapy - 4-session protocol with dialogues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99232"/>
            <a:ext cx="11430000" cy="43891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5. Clinical Techniques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Reflective listening, decisional balance, rulers, therapist traps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74720"/>
            <a:ext cx="11430000" cy="438912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880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880038"/>
                </a:solidFill>
                <a:latin typeface="Times New Roman"/>
              </a:defRPr>
            </a:pPr>
            <a:r>
              <a:t>6. Case Conceptualization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Applied case study with session-wise MET intervention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50208"/>
            <a:ext cx="11430000" cy="438912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7. Worksheets &amp; Tools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6 printable clinical worksheets for MET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425696"/>
            <a:ext cx="11430000" cy="438912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8. Comparison with Other Therapies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MET vs CBT, 12-Step, BSFT; family &amp; caregiver approaches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901184"/>
            <a:ext cx="11430000" cy="438912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9. Comorbid Psychiatric Disorders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Personality disorders, depression, anxiety - what to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76672"/>
            <a:ext cx="11430000" cy="438912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10. Research &amp; Effectiveness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Project MATCH, UKATT, meta-analyses, Indian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Structure: Miller et al. (1992). MET Manual; NIMHANS (2016). Substance Use Disorders.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5C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1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Introduction to Motivational Enhancement Therapy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8E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What is Motivational Enhancement Therapy (MET)?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Definition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is a brief, systematic intervention designed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to produce rapid, internally motivated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It does NOT guide the client step-by-step through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recovery. Instead, it uses motivational strategies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to mobilize the client's OWN change resources.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Key: 4 planned sessions over 12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Key Facts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Developed for NIAAA Project MATCH (1992)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Based on Motivational Interviewing principles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Uses personal feedback + MI techniques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Designed for alcohol/substance use disorders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Adaptable to various clinical settings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 as collaborator, NOT expert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From the Manual: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"MET is based on principles of motivational psychology and is designed to produce rapid,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internally motivated change. This treatment strategy does not attempt to guide and train the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client, step by step, through recovery, but instead employs motivational strategies to mobilize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client's own change resources." (MET Manual, p. 1)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Core idea: The motivation and resources for change ALREADY EXIST within the client.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therapist's job is to create conditions that help these emerge naturally.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Miller, W.R. et al. (1992). MET Manual, p. 1. NIAAA Project MATCH Monograph Series, Vol.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How MET Differs from Other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Traditional Approaches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MET Approach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Therapist Role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Expert / Teacher / Director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Collaborative partner; elicits client's own motivation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Client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Passive recipient of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Active agent of own change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View of Resistance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Denial to be confronted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Signal to change therapeutic strategy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Set by therapist or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Negotiated with client based on their values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Core Techniques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Skills training, education, confrontation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Reflective listening, feedback, exploring ambivalence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Usually 12+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 structured sessions over 12 weeks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Change Mechanism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Teaching new skills/information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Mobilizing client's own internal resources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Miller et al. (1992). MET Manual, pp. 1-5; NIMHANS (2016). Substance Use Disorders, Ch. 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Origins and Development of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Timeline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1983: Miller publishes foundational MI paper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1991: Miller &amp; Rollnick publish first MI book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1992: MET Manual for Project MATCH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- Largest alcohol treatment trial ever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- 1,726 participants across 9 US sites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- Compared MET vs CBT vs 12-Step (TSF)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Core Components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= MI + Personalized Assessment Feedback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MOTIVATIONAL INTERVIEWING (MI):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Client-centered counseling style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Explores and resolves ambivalence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PERSONALIZED FEEDBACK: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Objective data presented to client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Creates discrepancy with goals/values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Key Finding: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Project MATCH Finding: MET achieved comparable outcomes to 12-session CBT and 12-session TSF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 just 4 sessions. This was revolutionary - a brief motivational intervention matching efficacy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of longer treatments. Particularly effective for clients HIGH in anger (non-confrontational approach)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and those LOW in readiness to change (meets them where they are).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Project MATCH Research Group (1997). J Studies on Alcohol, 58, 7-29; Miller (1983). Behav Psychother, 11, 147-172.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B83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2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Theoretical Foundations of MET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 Transtheoretical Model (TTM) of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1645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Foundation of MET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Transtheoretical Model (Prochaska &amp; DiClemente, 1982) is the PRIMARY theoretical foundation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of MET. It describes behavior change as a PROCESS through predictable stages. People do not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abruptly. The therapist's task is to match interventions to the client's current stage.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responsibility and capability for change lie within the client." (MET Manual, p.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1714500" cy="9144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Pre-</a:t>
            </a:r>
            <a:br/>
            <a:r>
              <a:t>contemplation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0260" y="3200400"/>
            <a:ext cx="228600" cy="320040"/>
          </a:xfrm>
          <a:prstGeom prst="rightArrow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08860" y="2926080"/>
            <a:ext cx="1714500" cy="9144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Contemplation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3200400"/>
            <a:ext cx="228600" cy="320040"/>
          </a:xfrm>
          <a:prstGeom prst="rightArrow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2926080"/>
            <a:ext cx="1714500" cy="9144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Preparation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6460" y="3200400"/>
            <a:ext cx="228600" cy="320040"/>
          </a:xfrm>
          <a:prstGeom prst="rightArrow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2926080"/>
            <a:ext cx="171450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60" y="3200400"/>
            <a:ext cx="228600" cy="320040"/>
          </a:xfrm>
          <a:prstGeom prst="rightArrow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2926080"/>
            <a:ext cx="1714500" cy="91440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Maintenance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52660" y="3200400"/>
            <a:ext cx="228600" cy="320040"/>
          </a:xfrm>
          <a:prstGeom prst="rightArrow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81260" y="2926080"/>
            <a:ext cx="1714500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Relapse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164592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Important: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 Principle: Change is CYCLICAL, not linear. Most people cycle through stages 3-7 times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before achieving lasting change. Relapse is a NORMAL part of the process, not failure.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Average smoker cycles through stages 3 times before permanent quit (Prochaska et al., 1992).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is designed to move people forward through these stages using motivational techniques.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Prochaska &amp; DiClemente (1984). The Transtheoretical Approach; MET Manual (1992), pp. 6-12.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D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Stage 1: PRECONTEMPLATION - Not Yet Considering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What It Looks Like: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Person does NOT see substance use as a problem.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Not thinking about change at all.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Common statements: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 don't have a problem"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"Everyone drinks like me"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"My family is overreacting"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"I'm here because the court sent me"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Raise doubt gently, increase awareness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Provide objective information/feedback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Explore events that brought them in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Plant seeds without pushing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Argue or confront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Push for immediate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Label them as 'alcoholic'/'addict'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How MET Addresses This Stage: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Technique: Present Personal Feedback Report (PFR) showing objective data.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Example: "Your liver enzymes are at ___ level. Here's where that falls compared to norms..."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therapist presents FACTS without arguing, letting the DATA create discrepancy.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precontemplation stage is characterized by a lack of awareness that a problem exists.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individual has no intention to change behavior in the foreseeable future." (Manual, p. 7)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6-8; Prochaska &amp; DiClemente (1982). Psychotherapy, 19, 276-288.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Stage 2: CONTEMPLATION - Thinking About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What It Looks Like: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Person ACKNOWLEDGES a problem but 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AMBIVALENT. Sees both pros and cons.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Common statements: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 know I drink too much, but..."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 want to quit, but I don't know how"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"Sometimes I think I should cut down"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"Part of me wants to change, part doesn't"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Explore ambivalence (don't resolve it for them)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Use Decisional Balance worksheet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Elicit self-motivational statements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Tip the balance toward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Develop discrepancy with values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Rush to action planning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Tell them what to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 Strategy: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Key Strategy: EXPLORING AMBIVALENCE with Decisional Balance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Help client articulate BOTH sides - reasons to change AND reasons to stay the same.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"Ambivalence is the contemplator's defining feature. The person is simultaneously considering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and rejecting change... The therapist's task is to tip the decisional balance." (Manual, p. 8)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DiClemente et al. (1991) showed contemplators who explored ambivalence progressed faster.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8-10; DiClemente et al. (1991). J Consult Clin Psychol, 59, 295-304.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8E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Stage 3: PREPARATION - Ready to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F9A825"/>
                </a:solidFill>
                <a:latin typeface="Times New Roman"/>
              </a:defRPr>
            </a:pPr>
            <a:r>
              <a:t>What It Looks Like: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Person has DECIDED to change and 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planning how. Balance has tipped.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Common statements: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 need to do something about this"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"What are my options?"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"I'm going to quit next Monday"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"I've already started cutting down"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Help develop a Change Plan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Offer a MENU of options (not prescribe)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Support self-efficacy strongly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Help set realistic, achievable goals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DO: Negotiate (not impose) a plan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Prescribe a single path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DON'T: Miss the window of 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 Strategy: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Key Strategy: CHANGE PLAN WORKSHEET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Help client complete: (1) Changes desired (2) Reasons for change (3) Steps planned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(4) How others can help (5) How they'll know it's working (6) Things that could interfere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window of determination is open for a period of time. If action is not taken, the person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may slip back into contemplation or precontemplation." (MET Manual, p. 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10-11; DiClemente et al. (1991). J Consult Clin Psychol, 59, 295-304.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Stages 4-6: Action, Maintenance, and Relapse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Action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ACTION: Person is actively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making changes to behavior.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Affirm efforts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Troubleshoot obstacles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Review Change Plan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Build self-efficacy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657600" cy="228600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Maintenance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MAINTENANCE: Sustaining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gains over time.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Prevent complacency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Identify high-risk situations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Plan coping strategies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Celebrate milestones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657600" cy="2286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Relapse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RELAPSE: Return to earlier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stage - NOT a failure.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 tasks: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Normalize (3-7 cycles avg)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Explore without blame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Revise the Change Plan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- Re-engage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From the Manual: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Transtheoretical Model views relapse not as catastrophic failure but as a normal part of the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cycle of change. With each cycle, the person learns something new and may achieve more stable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maintenance in the next attempt." (MET Manual, p. 12)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Sessions 3-4 focus on these stages: reviewing progress, affirming successes, problem-solving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obstacles, and normalizing any slips as information rather than defeat.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11-14; Prochaska, DiClemente &amp; Norcross (1992). Am Psychologist, 47, 1102-1114.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Theoretical Foundation: Self-Efficacy (Bandura, 1977)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What is Self-Efficacy?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Self-efficacy = person's BELIEF in ability to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successfully perform a behavior.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 MET: belief that one CAN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Sources (Bandura):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Past performance accomplishments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Vicarious experience (others' success)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Verbal persuasion (therapist affirmation)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Physiological/emotional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MET Application: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How MET Builds Self-Efficacy: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AFFIRMING client's strengths/past successes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 stayed sober 3 months - real strength"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SUPPORTING ability to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 have what it takes to do this"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OFFERING menu of options (sense of control)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CELEBRATING small wins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Asking "Why not a lower number?" on rulers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Manual Quote &amp; 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"A person who lacks confidence that he or she can change is unlikely to try. The therapist's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task is to enhance the client's belief in the possibility of change." (MET Manual, p. 17)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Ilgen et al. (2005) found that self-efficacy measured at treatment entry predicted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drinking outcomes at 1-year follow-up. Clients with higher self-efficacy had better outcomes.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This is the 'S' in FRAMES: Support self-efficacy.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Bandura (1977). Psychol Review, 84; MET Manual (1992), pp. 16-17; Ilgen et al. (2005). Addictive Behaviors, 30.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Theoretical Foundation: Cognitive Dissonance (Festinger, 1957)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The Theory: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Cognitive Dissonance = uncomfortable tension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when behavior contradicts values/beliefs.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Substance use examples: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"I am a good parent" vs "I drink every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night and my children suffer"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"I value my health" vs "I am damaging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my liver with alcohol"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"I am independent" vs "I can't function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without my substance"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 Application: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How MET Uses Cognitive Dissonance: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DEVELOPING DISCREPANCY (key principle)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Show gap between IS and WANT TO BE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Personal Feedback creates dissonance: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 said health is your top value..."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"Your liver enzymes show damage..."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Client must resolve the tension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Resolution happens through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(not through therapist confrontation)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Manual Quote &amp; 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"A discrepancy between present behavior and important personal goals will motivate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therapist's task is to develop and amplify such discrepancy." (MET Manual, p. 14)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Draycott &amp; Dabbs (1998) confirmed that discrepancy awareness predicts behavior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McNally et al. (2005) showed that developing discrepancy is the most potent MI technique for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moving clients from contemplation to preparation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Festinger (1957). Cognitive Dissonance; MET Manual (1992), pp. 13-15; McNally et al. (2005). Drug Alcohol Rev.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E7D32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3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Principles and Spirit of MET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Five Principles of Motivational Interviewing in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8686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1. Express Empathy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Accept the client where they are. Ambivalence is NORMAL. Use reflective listening.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11430000" cy="86868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2. Develop Discrepancy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Help client see gap between current behavior and important goals/values.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971800"/>
            <a:ext cx="11430000" cy="8686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3. Avoid Argumentation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Arguments are counterproductive. Defending breeds defensiveness.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931920"/>
            <a:ext cx="11430000" cy="86868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4. Roll with Resistance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Don't fight resistance - use it. Offer new perspectives without imposing.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892040"/>
            <a:ext cx="11430000" cy="86868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5. Support Self-Efficacy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Client's belief in possibility of change is a key motivator.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13-17; Miller &amp; Rollnick (1991). Motivational Interviewing, Ch.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FRAMES: Elements of Effective Brief Interventions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73152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F - Feedback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Personal feedback about risk/impairment based on objective assessment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56232"/>
            <a:ext cx="11430000" cy="73152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 - Responsibility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Emphasize responsibility for change lies with the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60904"/>
            <a:ext cx="114300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F9A825"/>
                </a:solidFill>
                <a:latin typeface="Times New Roman"/>
              </a:defRPr>
            </a:pPr>
            <a:r>
              <a:t>A - Advice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Clear advice to change given in a non-prescriptive manner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65576"/>
            <a:ext cx="11430000" cy="73152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M - Menu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Offer a MENU of strategies/options - client chooses their own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70248"/>
            <a:ext cx="11430000" cy="7315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E - Empathy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Warm, reflective, empathic counseling style without judgment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074920"/>
            <a:ext cx="11430000" cy="73152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S - Self-Efficacy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Reinforce hope and belief that change IS possible for this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16-17; Miller &amp; Sanchez (1994). Motivating young adults for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OARS: Core Microskills of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O - Open Questions &amp; A - Affirmations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OPEN-ENDED QUESTIONS: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Cannot be answered with yes/no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"What concerns you about your drinking?"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"How has substance use affected your life?"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AFFIRMATIONS: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Recognize strengths and efforts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"It took courage to come here today"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"You've shown real resilience"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R - Reflections &amp; S - Summaries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REFLECTIVE LISTENING (Primary skill):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Repeat back MEANING (not just words)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Simple: "So you feel frustrated"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Complex: "You want to quit but worry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about losing your social circle"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SUMMARIES: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Collect and link what client has said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"Let me see if I have this right..."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Clinical Tip: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PRACTICE RATIO: Aim for 2-3 reflections for every question asked.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Most common mistake: asking too many questions (feels like interrogation).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principal technique for expressing empathy is reflective listening... seeking through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your responses to understand the client's meaning and feelings." (MET Manual, p. 21)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Moyers et al. (2005) showed therapist MI-consistent behaviors (especially reflections)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predicted better client outcomes. The quality of MI delivery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20-35; Moyers et al. (2005). J Subst Abuse Treat, 28, 19-26.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DARES: Self-Motivational Statements to Elicit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Core Principle: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Goal: ELICIT (not provide) self-motivational statements. The more the CLIENT voices arguments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change, the more likely actual change becomes. Listen for and actively evoke these: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11430000" cy="566928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333333"/>
                </a:solidFill>
                <a:latin typeface="Times New Roman"/>
              </a:defRPr>
            </a:pPr>
            <a:r>
              <a:t>D - Desire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Example: "I want to change" / "I wish I could stop"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127248"/>
            <a:ext cx="11430000" cy="566928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333333"/>
                </a:solidFill>
                <a:latin typeface="Times New Roman"/>
              </a:defRPr>
            </a:pPr>
            <a:r>
              <a:t>A - Ability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Example: "I think I could do it" / "I was able to quit before"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85616"/>
            <a:ext cx="11430000" cy="566928"/>
          </a:xfrm>
          <a:prstGeom prst="round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333333"/>
                </a:solidFill>
                <a:latin typeface="Times New Roman"/>
              </a:defRPr>
            </a:pPr>
            <a:r>
              <a:t>R - Reasons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Example: "My health is suffering" / "My family needs me sober"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443984"/>
            <a:ext cx="11430000" cy="566928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333333"/>
                </a:solidFill>
                <a:latin typeface="Times New Roman"/>
              </a:defRPr>
            </a:pPr>
            <a:r>
              <a:t>E - Emotional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Example: "I'm tired of feeling this way" / "I hate what I've become"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02352"/>
            <a:ext cx="11430000" cy="566928"/>
          </a:xfrm>
          <a:prstGeom prst="round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333333"/>
                </a:solidFill>
                <a:latin typeface="Times New Roman"/>
              </a:defRPr>
            </a:pPr>
            <a:r>
              <a:t>S - Steps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Example: "I could try meetings" / "Maybe I'll call my doctor"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25-30; Amrhein et al. (2003). J Consult Clin Psychol, 71, 862-878.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 Spirit of Motivational Interviewing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286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Collaboration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Working WITH the client as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equal partners. NOT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expert-to-patient.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therapeutic relationship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is more like a partnership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than an expert-recipient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one." (Manual, p. 13)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65760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Evocation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Drawing out client's OWN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motivations, strengths,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and reasons for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Motivation is EVOKED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from within, not installed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from outside. The client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has the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657600" cy="22860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Autonomy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Respecting client's right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and capacity to direct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their own life.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 decides whether,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when, and how to change.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Even if they choose NOT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to change right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What It Looks Like: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 Practice: Therapist asks more than tells; listens more than instructs.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 does most of the talking (aim for 70:30 client:therapist talk ratio).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 labeling, no shaming, no arguing for change on behalf of the client.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Resistance is met with curiosity, not confrontation.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Miller et al. (1993) found therapist directiveness predicted worse outcomes.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 resistance increased when therapists were confrontational.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13-18; Miller et al. (1993). J Stud Alcohol, 54, 455-461.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D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Handling Client Resistance: Strategies from the Manual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Recognizing Resistance: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TYPES OF RESISTANCE: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Arguing - challenging, hostility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Interrupting - cutting off, talking over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Denying - blaming, excusing, minimizing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Ignoring - inattention, sidetracking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KEY: Resistance is a signal to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your approach, not fight harder.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Rolling with Resistance: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STRATEGIES TO ROLL WITH IT: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Simple Reflection - acknowledge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Amplified Reflection - stronger form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Double-Sided Reflection - both sides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Shifting Focus - redirect topic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Agreement with Twist - agree then reframe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Reframing - new interpretation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7. Emphasize Personal Choice - "It's up to you"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11430000" cy="2194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Clinical Examples: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"I don't think I drink more than my friends."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Simple Reflection: "You see yourself as a pretty normal drinker."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Amplified: "So there's really nothing at all to be concerned about."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Double-Sided: "Your drinking feels normal to you, AND something prompted you to come in."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Reframe: "Your friends are important and you want to fit in with them."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Research: Resistance in session predicts WORSE outcomes (Miller et al., 1993).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32-38; Miller et al. (1993). J Stud Alcohol, 54, 455-461.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A1B9A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4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Session-by-Session Therapy Guide</a:t>
            </a:r>
            <a:br/>
            <a:r>
              <a:t>How to Actually DO MET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MET: The 4-Session Structure (Overview)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Sessions 1 &amp; 2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1 (Week 1):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Build rapport and therapeutic alliance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Present Personal Feedback Report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Explore client's reaction to feedback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Elicit self-motivational statements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Gauge readiness to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2 (Week 2):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Strengthen commitment to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Develop Change Plan (collaborative)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Set specific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Sessions 3 &amp; 4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3 (Week 6):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Review progress since Session 2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Renew motivation and commitment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Problem-solve obstacles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Revise Change Plan if needed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4 (Week 12):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Review overall progress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Consolidate gains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Plan for maintenance/relapse prevention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Termination and future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Important Note: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 PRINCIPLE: Each session uses MI techniques throughout. MET is not a checklist but a clinical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style applied within a structured framework. The therapist continuously uses OARS skills, evokes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change talk, rolls with resistance, and supports self-efficacy in every interaction.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spacing is intentional: Session 1-2 close together (build momentum), then space out to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allow client time to implement changes and experience results before reviewing progress.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40-80; Chapters III-V: Session protocols.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SESSION 1: Building Motivation for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Opening: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1: OPENING (10-15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Welcome warmly and genuinely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Explain the process briefly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Set non-judgmental tone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Ask open question to start: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"What brought you here today?"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"How are things going for you?"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Then LISTEN. Use reflections.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Let them tell their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Feedback: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2: PERSONAL FEEDBACK (30-40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Present assessment data objectively: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Drinking/drug use patterns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Comparison with population norms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Blood test results (liver, etc.)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Neuropsych test results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Consequences reported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Risk factors identified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After each: "What do you make of this?"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Eliciting &amp; Closing: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3: ELICITING CHANGE TALK (15-20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Ask evocative questions: "What worries you about your use?"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Use Importance Ruler: "How important is it to change? (0-10) Why not a lower number?"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Explore pros/cons: "What do you like about using? What concerns you?"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Look forward: "Where do you see yourself in 5 years if nothing changes?"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4: CLOSING (5-10 min) - Summarize key themes, assess readiness, assign reflection 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40-58; Chapter III: Session 1 - Building Motivation for Change.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SESSION 1: Clinical Dialogue Example (from Manual)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FEEDBACK PRESENTATION DIALOGUE: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"I'd like to share some results from your assessment. Here's where your drinking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           falls compared to the general adult population in India..."  [shows graph]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   "Hmm. I didn't think it was that high."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"It's more than you expected." (Simple reflection)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   "Yeah. But a lot of people drink."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"You're not alone in drinking, AND what surprises you is how your amount compares."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           (Double-sided reflection)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   "I mean... maybe I do drink more than I thought." (CHANGE TALK - problem recognition)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"You're starting to see that your drinking may be on the higher end." (Amplify change talk)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ELICITING SELF-MOTIVATIONAL STATEMENTS: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"You mentioned your wife has been concerned. What concerns her the most?"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   "She says I'm different when I drink. More angry. I guess she has a point."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"You've noticed that too - alcohol changes you in ways you don't like." (Reflection)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Client:    "Yeah... I don't want to be that kind of person. That's not who I am."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Therapist: "Being a good person and partner is really important to you." (Affirming values)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NOTE: The therapist NEVER argues. Every response is a reflection, affirmation, or open question.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 CLIENT is the one voicing reasons for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48-55; Adapted dialogue based on manual principles and examples.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SESSION 2: Strengthening Commitment &amp; Change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First Half: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1: OPENING (10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"What's happened since last time?"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"Have you thought more about this?"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Reflect on any changes already made.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2: RECAPITULATION (5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Brief summary of Session 1 themes.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Check: "Did I capture that correctly?"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3: DEEPENING (15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Continue exploring ambivalence.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Use Decisional Balance if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Second Half - The Change Plan: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4: CHANGE PLAN (25-30 min)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"Would you like to put together a plan?"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Change Plan Worksheet: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Changes I want to make...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Most important reasons...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Steps I plan to take...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How others can help...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I'll know it's working if...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Things that could interfere...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Adapting to Client: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ADAPTING TO READINESS: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NOT READY (precontemplating): Continue building rapport, present more feedback, plant seeds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UNSURE (contemplating): Use Decisional Balance, explore values vs behavior, ask evocative Qs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READY (determined): Negotiate Change Plan, offer menu of options, help set specific goals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Change Plan is the CLIENT's plan - not the therapist's prescription. It is negotiated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collaboratively, and the client's preferences and choices are honored." (MET Manual, p. 63)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59-68; Chapter IV: Session 2 - Strengthening Commitment.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SESSIONS 3 &amp; 4: Reviewing Progress &amp; Maintenance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Session 3: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3 (Week 6):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"How have things been going?"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Review Change Plan progress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What's working? What isn't?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Any modifications needed?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Renew motivation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Re-explore importance/confidence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Affirm progress (even small steps)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Address slips WITHOUT judgment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Problem-solve new obstacles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Session 4: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4 (Week 12):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Review overall progress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Compare current to baseline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Celebrate achievements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Maintenance planning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Identify high-risk situations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Plan coping strategies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Discuss relapse as normal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Plan ongoing support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Termination with hope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Handling Relapse: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IF CLIENT HAS RELAPSED (Session 3/4 scenario):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Normalize: "Slips are a common part of change. Many people experience this."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Explore without blame: "What happened? What was going on?"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Reframe as learning: "Now you know that [situation] is a trigger. That's useful information."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Re-engage: "Where do you want to go from here?"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NEVER: Express disappointment, say "you failed", lecture, or label them as hopeless.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69-80; Chapter V: Sessions 3-4; Marlatt &amp; Gordon (1985).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B83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5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Clinical Techniques in Detail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Reflective Listening: The Foundation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Types: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LEVELS OF REFLECTION: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Level 1 - REPEAT/REPHRASE: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Client: "I drink every night"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Therapist: "You drink every evening"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Level 2 - PARAPHRASE (meaning):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Therapist: "It's become a daily routine"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Level 3 - REFLECTION OF FEELING: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Therapist: "You sound concerned about that"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Strategic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STRATEGIC USE IN 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Reflect CHANGE TALK more than sustain talk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AMPLIFY motivation: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C: "I guess I drink a bit much"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T: "You've realized your drinking has become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   a real problem" (amplified)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DOUBLE-SIDED for ambivalence: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"Drinking helps you relax AND it's costing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you your marriage."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Tips &amp; 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PRACTICE GUIDELINES: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Aim for 2-3 reflections for every question asked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Reflections are STATEMENTS (drop voice at end), not questions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If your reflection is wrong, the client will correct you - that's fine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Common mistake: Asking too many questions and not enough reflections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Apodaca &amp; Longabaugh (2009) meta-analysis found that MI-consistent therapist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behaviors (especially reflections) were significantly linked to reduced substance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20-24; Apodaca &amp; Longabaugh (2009). J Subst Abuse Treat, 37, 68-86.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Technique: Decisional Balance &amp; Rulers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Decisional Balance: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DECISIONAL BALANCE (4-quadrant grid):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Good things about using | Costs of using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________________________|________________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Benefits of change     | Costs of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________________________|________________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Start with GOOD things about using first!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(Shows understanding, builds trust)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Then: "Where does that leave you?"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Rulers: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IMPORTANCE &amp; CONFIDENCE RULERS: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"How important is it to change? (0-10)"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"How confident are you? (0-10)"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 QUESTION: "Why not a lower number?"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(Invites client to argue FOR change)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If importance low: develop discrepancy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If confidence low: build self-efficacy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If both high: move to Change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Clinical Wisdom: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WHY "WHY NOT A LOWER NUMBER?" WORKS: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Asking "Why not higher?" = client defends why they HAVEN'T changed (sustain talk).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Asking "Why not lower?" = client articulates reasons they DO want to change (change talk).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LaBrie et al. (2006) found that Importance and Confidence rulers used in brief MI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sessions predicted actual behavior change at follow-up. The articulation of one's own reasons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change is more persuasive than hearing reasons from others (Self-Perception Theory).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28-37; LaBrie et al. (2006). Addictive Behaviors, 31(8), 1428-1435.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D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Therapist Traps to AVOID (from the Manual)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Traps 1-3: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QUESTION-ANSWER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Too many Qs = feels like interrogation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More reflections, fewer questions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CONFRONTATION-DENIAL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Arguing = client defends drinking more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Roll with resistance, reflect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EXPERT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 should..." / "Research shows..."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Elicit client's own solutions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Traps 4-6: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LABELING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Insisting on "alcoholic" label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Focus on behavior, not labels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PREMATURE FOCUS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Jumping to solutions too early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Follow client's pace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BLAMING TRAP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Client feels blamed for problem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Fix: "Blame is irrelevant - what matters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is what you want to do NOW"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Key Principle: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"Direct argumentation and an aggressive confrontational approach tend to increase client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resistance and are associated with poorer outcomes." (MET Manual, pp. 18-19)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REMEMBER: Every time YOU argue FOR change, the client argues AGAINST it.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This is the 'righting reflex' - therapist's natural desire to fix things actually backfires.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Miller et al. (1993) showed that confrontational therapist style predicted client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drinking at 1-year follow-up: MORE confrontation = MORE drinking. The evidence is 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18-20; Miller et al. (1993). J Stud Alcohol, 54, 455-461.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880038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6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Case Conceptualization</a:t>
            </a:r>
            <a:br/>
            <a:r>
              <a:t>Applying MET to a Clinical Case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D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80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Case Study: Applying MET to a Substance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880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880038"/>
                </a:solidFill>
                <a:latin typeface="Times New Roman"/>
              </a:defRPr>
            </a:pPr>
            <a:r>
              <a:t>Client Background: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PRESENTING INFORMATION: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Age: 25 years, Male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Multiple substance use (polysubstance)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History of marital dissolution (divorced)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Referred for assessment and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ASSESSMENT FINDINGS: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Externalizing personality organization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Adequate psychological resources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Poorly modulated affect (impulsive)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Damaged, negative self-concept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Psychological Profile: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 PSYCHOLOGICAL FEATURES: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Emotion-driven decision making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Hasty, inefficient information processing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Raw emotional discharge under stress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Socially engaged but difficulty with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deep intimate relationships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Pervasive pessimism/damage-oriented self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Elevated risk indicators (monitor closely)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SUBSTANCE USE FUNCTION: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Substances regulate overwhelming affect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 Rationale: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WHY MET IS APPROPRIATE FOR THIS CLIENT: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He has ADEQUATE resources but uses them poorly (emotion-first style) - MET helps engage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his existing capacities without confrontation that would trigger defensiveness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Confrontation would activate his externalizing defenses and increase resistance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His damaged self-image NEEDS affirmation (the 'S' in FRAMES), not more criticism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His autonomy needs to be respected (his impulsive style responds poorly to directives)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Substances serve an affect-regulation function - MET explores this non-judgmentally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Case data from Rorschach assessment (Exner Comprehensive System); MET Manual (1992).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Case: Session-by-Session MET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Sessions 1-2: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1 FOCUS: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Build rapport carefully (guarded intimacy)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Present feedback GENTLY (damaged self)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Focus discrepancy: VALUES (being good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partner) vs SITUATION (divorced, dependent)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AFFIRM strengths heavily (resources exist)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Monitor emotional escalation closely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1 caution: His affect can escalate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quickly. Keep pace slow, reflect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 2 FOCUS: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Change Plan addresses FUNCTION of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(What does using DO for you? What need?)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Small, achievable steps (failures feel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catastrophic given damaged self-image)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Affect regulation alternatives: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"What else helps when feelings get intense?"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Reflective delay practice: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"What if you took 10 min before deciding?"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Key: Plan must match his pace/style.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Sessions 3-4 &amp; Beyond: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SESSIONS 3-4 FOCUS: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Session 3: If progress - affirm heavily (counters damaged self-image). If slip - normalize,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explore emotional triggers, revise plan to add more emotion regulation strategies.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Session 4: Maintenance plan focused on high-risk situations (intense emotions, conflict,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rejection, self-criticism). Referral for continued therapy (affect regulation, self-image repair).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BEYOND MET (this client needs): Affect regulation training, self-image repair work,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interpersonal skills, slower processing practice. MET provides MOTIVATIONAL FOUNDATION.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Chs. III-V; Exner (2003). Rorschach, Vol. 1; NIMHANS (2016).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5C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7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Clinical Worksheets &amp; Tools</a:t>
            </a:r>
            <a:br/>
            <a:r>
              <a:t>Printable Resources for MET Sessions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1: Change Plan (from MET Manual)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THE CHANGES I WANT TO MAKE ARE: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_________________________________________________________________________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THE MOST IMPORTANT REASONS WHY I WANT TO MAKE THESE CHANGES ARE: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_________________________________________________________________________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THE STEPS I PLAN TO TAKE IN CHANGING ARE: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_________________________________________________________________________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THE WAYS OTHER PEOPLE CAN HELP ME ARE: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Person: _________________ How: 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I WILL KNOW THAT MY PLAN IS WORKING IF: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_________________________________________________________________________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SOME THINGS THAT COULD INTERFERE WITH MY PLAN ARE: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_________________________________________________________________________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Appendix B: Change Plan Worksheet.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2: Decisional Balance Grid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Benefits of Status Quo: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GOOD THINGS about my current behavior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(What I LIKE about using substances):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____________________________________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Costs of Status Quo: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COSTS of my current behavior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(What CONCERNS me about using):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____________________________________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5577840" cy="2286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Benefits of Change: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BENEFITS of making a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(What would be GOOD about changing):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____________________________________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77840" cy="22860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Costs of Change: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COSTS of making a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(What would be HARD about changing):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____________________________________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Janis &amp; Mann (1977). Decision Making; MET Manual (1992), p. 29.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3: Readiness, Importance &amp; Confidence Rulers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13716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IMPORTANCE: How important is it to you to make this change?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Not important  0 --- 1 --- 2 --- 3 --- 4 --- 5 --- 6 --- 7 --- 8 --- 9 --- 10  Extremely important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Why this number and not lower? _______________________________________________________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11430000" cy="13716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CONFIDENCE: How confident are you that you COULD make this change?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Not confident  0 --- 1 --- 2 --- 3 --- 4 --- 5 --- 6 --- 7 --- 8 --- 9 --- 10  Extremely confident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Why this number and not lower? _______________________________________________________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206240"/>
            <a:ext cx="11430000" cy="137160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READINESS: How ready are you to make this change RIGHT NOW?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Not ready  0 --- 1 --- 2 --- 3 --- 4 --- 5 --- 6 --- 7 --- 8 --- 9 --- 10  Completely ready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What would help you move up one point? _______________________________________________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pp. 35-37; Rollnick, Mason &amp; Butler (1999). Health Behavior Change.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4: Daily Self-Monitoring Diary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4: Daily Self-Monitoring Diary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Situation/Trigger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Feelings (0-10)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Urge (0-10)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I Did Instead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Monday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Wednesday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Friday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Sunday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______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Adapted from MET Manual (1992); Marlatt &amp; Gordon (1985).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5: My Relapse Prevention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Identifying Risks: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MY HIGH-RISK SITUATIONS: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MY EARLY WARNING SIGNS: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My Resources: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MY COPING STRATEGIES: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SUPPORT CONTACTS: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Name: _____________ Phone: 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Name: _____________ Phone: 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Name: _____________ Phone: 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Emergency Plan: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IF I HAVE A SLIP, I WILL: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Remember: a slip is NOT a failure - it's information about a trigger to address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Call: _________________________________ (my support person)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Do instead: _______________________________________________________________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Review: What triggered it? What was I feeling? What can I learn?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MY TOP REASONS TO STAY ON TRACK (from Decisional Balance):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_______________________________________________________________________________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Session 4; Marlatt &amp; Donovan (2005). Relapse Prevention, 2nd 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WORKSHEET 6: Personal Values Exploration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Values-Behavior Alignment: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Rate each value: IMPORTANCE (1-5) and how much CURRENT BEHAVIOR aligns (1-5)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VALUE                    IMPORTANCE    ALIGNMENT    GAP?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Being a good parent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Physical health   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Financial security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Being honest      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Close relationships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Self-respect      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Career success    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Independence             _________     _________    ___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Spirituality/faith       _________     _________    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297680"/>
            <a:ext cx="11430000" cy="1463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Reflection: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Which values have the BIGGEST gaps? How does substance use affect these values?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What would change look like for the values that matter most?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Therapist Note: Creates cognitive dissonance by making the gap explicit. Use to develop discrepancy.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Miller et al. (2001). Personal Values Card Sort; MET Manual (1992); Miller &amp; Rollnick (2002).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7A1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8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MET Compared with Other Therapies</a:t>
            </a:r>
            <a:br/>
            <a:r>
              <a:t>For Patient, Family, and Caregivers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vs Cognitive Behavioral Therapy (CBT)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APPROACH: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Focus: WHY to change (motivation)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Client provides the answers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- 4 sessions over 12 weeks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Non-directive, exploratory style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Works best EARLY in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Addresses ambivalence and readiness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 homework assignments given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 evokes, doesn't teach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CBT: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CBT APPROACH: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Focus: HOW to change (skills)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 teaches coping skills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- 12-16 sessions typically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Structured, directive style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Works best DURING action stage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Addresses triggers and behaviors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Regular homework/practice assigned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 educates and trains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EVIDENCE FOR COMBINING MET + CBT: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Project MATCH (1997): MET alone = CBT alone in outcomes (4 sessions vs 12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Marijuana Treatment Project (Stephens et al., 2004): MET+CBT combined was optimal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Cannabis Youth Treatment Study (Dennis et al., 2004): MET/CBT combination most effective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COMBINE Study (Anton et al., 2006, JAMA): MET as prelude to CBT improved engagement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CLINICAL RECOMMENDATION: Use MET FIRST (Sessions 1-4) to build motivation, then transition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to CBT for skills training once client is in Action stage. Sequential model is most effective.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Project MATCH (1997); Stephens et al. (2004). J Consult Clin Psychol; COMBINE (2006). JAMA, 295.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vs 12-Step Facilitation (TSF) / AA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APPROACH: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 labels required ("alcoholic")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Client sets own goals (abstinence 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moderation - client's choice)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Brief (4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Individual therapy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 is collaborative partner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 spiritual component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"You decide what's best for you"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12-Step: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12-STEP / TSF APPROACH: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Acceptance of "alcoholic" identity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Goal: total abstinence only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Ongoing/lifetime involvement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Group-based (AA/NA meetings)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Sponsor system for support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Spiritual foundation (Higher Power)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"You are powerless over alcohol"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Structured step-work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EVIDENCE COMPARISON: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Project MATCH (1997): Both EQUALLY effective at 1 and 3-year follow-up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TSF produced slightly higher continuous abstinence rates (but not significantly)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more cost-effective (4 sessions vs 12 sessions for same outcomes)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better for clients HIGH in anger (Karno &amp; Longabaugh, 2005)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TSF better for clients with high social networks supportive of drinking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INTEGRATION: Many clinicians use MET to BUILD motivation, then refer to AA/NA for ongoing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support. MET addresses the "why change" while 12-Step provides community and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Project MATCH (1997); Karno &amp; Longabaugh (2005). J Stud Alcohol, 66, 488-495.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vs Other Evidence-Based Therapies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Comparison of Evidence-Based Therapies for Substance Use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Therapy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Evidence Level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Internal motivation</a:t>
                      </a:r>
                    </a:p>
                    <a:p>
                      <a:r>
                        <a:t>(discrepancy + MI)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 sessions</a:t>
                      </a:r>
                    </a:p>
                    <a:p>
                      <a:r>
                        <a:t>(12 weeks)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Low-readiness clients</a:t>
                      </a:r>
                    </a:p>
                    <a:p>
                      <a:r>
                        <a:t>Angry clients</a:t>
                      </a:r>
                    </a:p>
                    <a:p>
                      <a:r>
                        <a:t>Early treatment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(Project MATCH, UKATT)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Skills training</a:t>
                      </a:r>
                    </a:p>
                    <a:p>
                      <a:r>
                        <a:t>(coping, triggers)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12-16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Action-stage clients</a:t>
                      </a:r>
                    </a:p>
                    <a:p>
                      <a:r>
                        <a:t>Anxiety comorbidity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(Carroll et al., 1994)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12-Step (TSF)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Peer support</a:t>
                      </a:r>
                    </a:p>
                    <a:p>
                      <a:r>
                        <a:t>Spiritual growth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Ongoing/</a:t>
                      </a:r>
                    </a:p>
                    <a:p>
                      <a:r>
                        <a:t>lifetime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 social support</a:t>
                      </a:r>
                    </a:p>
                    <a:p>
                      <a:r>
                        <a:t>Abstinence-oriented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(Project MATCH)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Contingency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External rewards</a:t>
                      </a:r>
                    </a:p>
                    <a:p>
                      <a:r>
                        <a:t>for abstinence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12-24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Stimulant use</a:t>
                      </a:r>
                    </a:p>
                    <a:p>
                      <a:r>
                        <a:t>Opioid use</a:t>
                      </a:r>
                    </a:p>
                    <a:p>
                      <a:r>
                        <a:t>Immediate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(Higgins et al., 2004)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Community</a:t>
                      </a:r>
                    </a:p>
                    <a:p>
                      <a:r>
                        <a:t>Reinforcement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Restructure</a:t>
                      </a:r>
                    </a:p>
                    <a:p>
                      <a:r>
                        <a:t>environment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12-24 sessions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Social isolation</a:t>
                      </a:r>
                    </a:p>
                    <a:p>
                      <a:r>
                        <a:t>Unemployment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(Meyers &amp; Smith, 1995)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BSFT (Family)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Family system</a:t>
                      </a:r>
                    </a:p>
                    <a:p>
                      <a:r>
                        <a:t>restructuring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12-16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Adolescents</a:t>
                      </a:r>
                    </a:p>
                    <a:p>
                      <a:r>
                        <a:t>Family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Level 1</a:t>
                      </a:r>
                    </a:p>
                    <a:p>
                      <a:r>
                        <a:t>(Szapocznik et al., 2003)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NICE Guidelines (2011); SAMHSA TIP 35 (1999); APA Practice Guidelines (2006); NIMHANS (2016).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Why MET is Often MORE Effective Than Traditional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Clinical Advantages: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ADVANTAGES OF 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COST-EFFECTIVE: 4 sessions = 12 sessions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(70% less therapist time for same results)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ENGAGES RESISTANT CLIENTS: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Works for people who don't want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(court-mandated, family-pressured)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REDUCES DROPOUT: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Non-confrontational = clients stay longer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(Carroll et al., 2006)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Systemic Advantages: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MATCHES CLIENT'S STAGE: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Doesn't force action on unready clients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SCALABLE: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Can be delivered by trained lay counselors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(Nadkarni et al., 2017 - Lancet)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UNIVERSAL ENHANCER: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Improves outcomes when added to ANY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other treatment (CBT, pharmacotherapy,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residential treatment)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7. WORKS ACROSS CULTURES (WHO, 2002)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 SUPPORT FOR SUPERIORITY IN SPECIFIC CONTEXTS: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Angry clients: MET significantly BETTER than CBT/TSF (Project MATCH matching hypothesis)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Low-readiness clients: MET better at engaging and retaining them in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Brief settings (primary care): MET achievable where 12-session therapy is not feasible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Stepped care model: MET as first step, add intensive treatment only if MET insufficient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Lundahl et al. (2010) meta-analysis: MI/MET effect size d=0.22 overall; d=0.79 for substance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when compared to no treatment. This is a MEDIUM-LARGE effect for a 4-session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Lundahl et al. (2010). Patient Ed &amp; Counsel, 80; Project MATCH (1997); Nadkarni et al. (2017). Lancet.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Family &amp; Caregiver Involvement in 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Family in 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ROLE OF FAMILY IN 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MET Manual acknowledges that a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"concerned significant other" can be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involved in Session 2 for Change Plan: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Provides support for client's goals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Helps identify triggers at home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Can reinforce positive changes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Learns non-confrontational approach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KEY: Family supports, doesn't direct.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Adjunct Therapies: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COMPLEMENTARY FAMILY THERAPIES: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CRAFT (Community Reinforcement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and Family Training):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For families of unmotivated users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Teaches positive communication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Research: 64% engagement rate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(Meyers et al., 2002)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Behavioral Couples Therapy: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Recovery contracts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Reduces both substance use AND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  relationship distress simultaneously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Caregiver Education: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CAREGIVER PSYCHOEDUCATION (use alongside MET):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Teach CRAFT principles: reward sobriety, allow natural consequences, self-care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Avoid enabling behaviors (covering up, making excuses, giving money)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Understand stages of change (don't expect overnight transformation)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Learn MI techniques for home conversations (reflective listening, not lecturing)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Research: Smith &amp; Meyers (2004) showed CRAFT training for families achieved 64%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engagement vs 30% for Al-Anon and 13% for Johnson Intervention (confrontational approach).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MET Manual (1992), p. 65; Meyers et al. (2002). J Consult Clin Psychol; Smith &amp; Meyers (2004).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Therapies Used ALONGSIDE MET for Comprehensive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164592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Sequential Treatment Model: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STEPPED CARE MODEL (recommended by NIMHANS and international guidelines):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1: MET/Brief MI (4 sessions) - for ALL clients as starting point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2: If insufficient - add CBT/Skills Training (12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3: If still insufficient - add Pharmacotherapy + Intensive outpatient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Step 4: If still insufficient - Residential treatment / Therapeutic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5577840" cy="27432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For Patient: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THE PATIENT (adjunct therapies):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MET + Pharmacotherapy: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Naltrexone/Acamprosate (alcohol)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Buprenorphine (opioids)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Research: COMBINE (2006) showed MI +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  naltrexone as effective combination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MET + CBT (sequential):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MET first for motivation (Sessions 1-4)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CBT next for skills (Sessions 5-16)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Best evidence: Cannabis Youth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577840" cy="274320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For Family: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FAMILY &amp; CAREGIVERS: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CRAFT Training (6-12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Teaches: positive communication,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allowing consequences, self-care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Behavioral Family Therapy: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Communication skills, problem-solving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Family Psychoeducation: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Understanding addiction as illness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Reducing expressed emotion (EE)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Caregiver support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NIMHANS (2016), Ch. 8-10; COMBINE (2006). JAMA; Meyers et al. (2002); NICE Guidelines (2011).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A1B9A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9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MET with Comorbid Psychiatric Disorders</a:t>
            </a:r>
            <a:br/>
            <a:r>
              <a:t>What to Do When There Are Co-Occurring Conditions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1BEE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Dual Diagnosis: Substance Use + Psychiatric Disorders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The Problem: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PREVALENCE OF COMORBIDITY: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- 50-70% of substance users have at least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one comorbid psychiatric disorder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(Regier et al., 1990; Kessler, 2004)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Common comorbidities: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* Depression (30-50%)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* Anxiety disorders (25-40%)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* Personality disorders (40-70%)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* PTSD (25-40%)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* Bipolar disorder (20-30%)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MET Applicability: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CAN MET BE USED WITH COMORBIDITY?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YES - with 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principles are applicable regardless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of comorbid diagnosis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MI/MET has been tested in dual diagnosis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populations with positive results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Key: integrate, don't separate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"Integrated treatment is more effective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than parallel or sequential treatment"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(Drake et al., 2004, Schizophr Bull)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General Approach: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GENERAL PRINCIPLES FOR MET WITH COMORBIDITY (from research):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TREAT BOTH SIMULTANEOUSLY (integrated approach superior to sequential)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Acknowledge that substance use may be SELF-MEDICATION for psychiatric symptoms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Explore the FUNCTION of use: "What does drinking do for your anxiety/depression?"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Develop discrepancy: "You use to feel better, but does it actually make things better long-term?"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Adapt pace - comorbid clients may need more sessions or slower progression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Coordinate with prescribing psychiatrist for pharmacotherapy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Drake et al. (2004). Schizophr Bull, 30; Kessler (2004). Biol Psych; NIMHANS (2016), Ch. 12.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D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with Comorbid Personality Disorders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C62828"/>
                </a:solidFill>
                <a:latin typeface="Times New Roman"/>
              </a:defRPr>
            </a:pPr>
            <a:r>
              <a:t>Personality Disorders &amp; SUD: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CHALLENGES: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Interpersonal difficulties affect rapport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Emotional dysregulation (BPD)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Impulsivity increases relapse risk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Identity disturbance complicates values work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Therapist-client dynamic may become complex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Higher dropout rates in treatment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PREVALENCE: 40-70% of substance users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meet criteria for at least one PD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(Verheul, 2001; NIMHANS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ADAPTATIONS FOR PD: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LONGER ENGAGEMENT PHASE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May need extra sessions before feedback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Build alliance more carefully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EMPHASIS ON ROLLING WITH RESISTANCE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PD clients show more resistance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- Never argue or confront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VALIDATE EMOTIONS before exploring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(especially for Borderline PD)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SMALLER CHANGE GOALS (reduce overwhelm)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Ball et al. (2007): Dual Focus Schema Therapy + MI for PD+SUD: improved outcomes vs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standard drug counseling (J Nerv Ment Dis, 195, 24-31)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Bornovalova &amp; Daughters (2007): MI effective for Borderline PD + substance use when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distress tolerance component added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Gregory et al. (2008): MI feasible with Antisocial PD (often seen in substance users)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NIMHANS recommendation: Use MI/MET as engagement strategy for PD patients who are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difficult to retain in longer psychotherapy; then transition to DBT or Schema Therapy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Ball et al. (2007). J Nerv Ment Dis; Bornovalova &amp; Daughters (2007); NIMHANS (2016), Ch. 12.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with Comorbid Depression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The Challenge: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DEPRESSION + SUBSTANCE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- 30-50% of substance users have depression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Alcohol is a CNS depressant - worsens mood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Substance-induced vs independent depression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Both need addressing simultaneously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CHALLENGES FOR MET: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Low energy/motivation (core of depression)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Hopelessness may affect self-efficacy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Suicidal ideation must be monitored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Cognitive distortions complicate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ADAPTATIONS FOR DEPRESSION: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EXTRA EMPHASIS on self-efficacy building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(counters hopelessness of depression)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Explore MOOD-SUBSTANCE link: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"When do you drink most? When low?"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Develop discrepancy with MOOD: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"You drink to feel better, but next day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 your mood is even worse."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Coordinate with antidepressant medication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5. Safety planning if suicidal ideation present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6. Smaller goals (energy is limited)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Baker et al. (2010): MI + CBT for comorbid depression and substance use - significantly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reduced both depressive symptoms AND substance use (Addiction, 105, 1560-1568)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Satre et al. (2016): MI effective for older adults with depression + alcohol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Westra &amp; Dozois (2006): MI as prelude to CBT for depression enhanced treatment engagement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Rao et al. (2015, NIMHANS): MI-based brief intervention effective for depression + alcohol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in Indian primary care settings (Asian J Psychiatry, 16, 45-51)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Baker et al. (2010). Addiction; Westra &amp; Dozois (2006). J Consult Clin Psychol; Rao et al. (2015).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2DF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with Comorbid Anxiety Disorders &amp; PTSD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The Challenge: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ANXIETY + SUBSTANCE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- 25-40% comorbidity rate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Substances used to "self-medicate" anxiety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Alcohol reduces anxiety short-term,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increases it long-term (rebound effect)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Withdrawal mimics anxiety symptoms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PTSD + SUBSTANCE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- 25-40% of PTSD patients have SUD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Substances numb trauma memories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Integrated treatment essential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ANXIETY: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Validate anxiety as real (not just excuse)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Explore substance-anxiety cycle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Include anxiety management in Change Plan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Confidence building is crucial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PTSD: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Safety first - stabilization before change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Respect avoidance (don't push trauma work)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MET for engagement, then refer to EMDR/PE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Trauma-informed MI adaptation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Hien et al. (2009): Integrated MI + Seeking Safety for PTSD+SUD - effective in reducing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both trauma symptoms and substance use (J Consult Clin Psychol, 77, 607-619)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Westra (2012): MI enhanced CBT outcomes for anxiety disorders (Addictive Behaviors, 37, 159)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Najavits (2002): Seeking Safety + MI as integrated approach for trauma + substance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Bolton et al. (2016, Lancet Psychiatry): MI effective in low-resource settings for comorbidity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Sannibale et al. (2013): MI + exposure therapy for alcohol+PTSD - feasible and effective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Hien et al. (2009). JCCP; Westra (2012). Addictive Behaviors; Sannibale et al. (2013). Addiction.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 with Bipolar Disorder &amp; Psychotic Disorders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The Challenge: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BIPOLAR + SUBSTANCE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- 40-60% lifetime SUD comorbidity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Mania: impulsivity increases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Depression: self-medication pattern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Non-adherence to mood stabilizers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PSYCHOSIS + SUBSTANCE USE: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- 40-50% have comorbid SUD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Cannabis, alcohol most common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Complicates symptom management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Reduced insight may limit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MET 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BIPOLAR: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Address medication adherence with MI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Develop discrepancy: substance use triggers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 mood episodes (show the pattern)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Change Plan includes mood monitoring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PSYCHOSIS: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Simplify language and concepts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2. Focus on immediate, concrete goals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3. Shorter sessions if attention limited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4. Affirm heavily (low self-esteem common)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RESEARCH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Barrowclough et al. (2001): MI + CBT for schizophrenia + SUD - significant reduction in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substance use over 18 months (BMJ, 323, 1-5). Landmark dual diagnosis trial.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Graeber et al. (2003): MI for psychosis + SUD - improved engagement and treatment retention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Kemp et al. (1996): Compliance Therapy (MI-based) for bipolar medication adherence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Haddock et al. (2003): Integrated MI+CBT for psychosis+SUD in community mental health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Baker et al. (2005): MI effective for comorbid psychosis + cannabis use (Addiction, 100, 1614)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Barrowclough et al. (2001). BMJ; Baker et al. (2005). Addiction; Haddock et al. (2003).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Summary: MET Adaptations for Comorbid Disorders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Comorbid Disorder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MET Adaptation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Adjunct Therapy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Research</a:t>
                      </a:r>
                    </a:p>
                  </a:txBody>
                  <a:tcPr>
                    <a:solidFill>
                      <a:srgbClr val="6A1B9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Personality Disorders</a:t>
                      </a:r>
                    </a:p>
                    <a:p>
                      <a:r>
                        <a:t>(Borderline, Antisocial)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Extra alliance building</a:t>
                      </a:r>
                    </a:p>
                    <a:p>
                      <a:r>
                        <a:t>Validation before change</a:t>
                      </a:r>
                    </a:p>
                    <a:p>
                      <a:r>
                        <a:t>Smaller goals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DBT (Borderline)</a:t>
                      </a:r>
                    </a:p>
                    <a:p>
                      <a:r>
                        <a:t>Schema Therapy</a:t>
                      </a:r>
                    </a:p>
                    <a:p>
                      <a:r>
                        <a:t>Mentalisation Therapy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Ball et al. (2007)</a:t>
                      </a:r>
                    </a:p>
                    <a:p>
                      <a:r>
                        <a:t>Bornovalova (2007)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Major Depression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Extra self-efficacy</a:t>
                      </a:r>
                    </a:p>
                    <a:p>
                      <a:r>
                        <a:t>Explore mood-substance link</a:t>
                      </a:r>
                    </a:p>
                    <a:p>
                      <a:r>
                        <a:t>Safety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Antidepressants</a:t>
                      </a:r>
                    </a:p>
                    <a:p>
                      <a:r>
                        <a:t>CBT for Depression</a:t>
                      </a:r>
                    </a:p>
                    <a:p>
                      <a:r>
                        <a:t>Behavioral 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Baker et al. (2010)</a:t>
                      </a:r>
                    </a:p>
                    <a:p>
                      <a:r>
                        <a:t>Rao et al. (2015)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Anxiety Disorders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Validate anxiety</a:t>
                      </a:r>
                    </a:p>
                    <a:p>
                      <a:r>
                        <a:t>Explore substance-anxiety cycle</a:t>
                      </a:r>
                    </a:p>
                    <a:p>
                      <a:r>
                        <a:t>Include anxiety management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SSRIs/SNRIs</a:t>
                      </a:r>
                    </a:p>
                    <a:p>
                      <a:r>
                        <a:t>CBT for Anxiety</a:t>
                      </a:r>
                    </a:p>
                    <a:p>
                      <a:r>
                        <a:t>Relaxation Training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Westra (2012)</a:t>
                      </a:r>
                    </a:p>
                    <a:p>
                      <a:r>
                        <a:t>Westra &amp; Dozois (2006)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PTSD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Safety first</a:t>
                      </a:r>
                    </a:p>
                    <a:p>
                      <a:r>
                        <a:t>Trauma-informed MI</a:t>
                      </a:r>
                    </a:p>
                    <a:p>
                      <a:r>
                        <a:t>Respect avoidance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EMDR / PE</a:t>
                      </a:r>
                    </a:p>
                    <a:p>
                      <a:r>
                        <a:t>Seeking Safety</a:t>
                      </a:r>
                    </a:p>
                    <a:p>
                      <a:r>
                        <a:t>CPT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Hien et al. (2009)</a:t>
                      </a:r>
                    </a:p>
                    <a:p>
                      <a:r>
                        <a:t>Sannibale et al. (2013)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Bipolar Disorder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Address med adherence</a:t>
                      </a:r>
                    </a:p>
                    <a:p>
                      <a:r>
                        <a:t>Link use to mood episodes</a:t>
                      </a:r>
                    </a:p>
                    <a:p>
                      <a:r>
                        <a:t>Mood monitoring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Mood Stabilizers</a:t>
                      </a:r>
                    </a:p>
                    <a:p>
                      <a:r>
                        <a:t>IPSRT</a:t>
                      </a:r>
                    </a:p>
                    <a:p>
                      <a:r>
                        <a:t>Psychoeducation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Kemp et al. (1996)</a:t>
                      </a:r>
                    </a:p>
                    <a:p>
                      <a:r>
                        <a:t>Graeber et al. (2003)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Psychotic Disorders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Simplify language</a:t>
                      </a:r>
                    </a:p>
                    <a:p>
                      <a:r>
                        <a:t>Concrete goals</a:t>
                      </a:r>
                    </a:p>
                    <a:p>
                      <a:r>
                        <a:t>Shorter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Antipsychotics</a:t>
                      </a:r>
                    </a:p>
                    <a:p>
                      <a:r>
                        <a:t>Integrated dual Dx</a:t>
                      </a:r>
                    </a:p>
                    <a:p>
                      <a:r>
                        <a:t>Family 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Barrowclough (2001)</a:t>
                      </a:r>
                    </a:p>
                    <a:p>
                      <a:r>
                        <a:t>Baker et al. (2005)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All sources cited in individual slides. Review: Drake et al. (2004). Schizophr Bull, 30, 795-808.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7A1"/>
              </a:gs>
              <a:gs pos="100000">
                <a:srgbClr val="FF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t>SECTION 10</a:t>
            </a:r>
          </a:p>
          <a:p>
            <a:pPr algn="ctr">
              <a:defRPr sz="1800">
                <a:solidFill>
                  <a:srgbClr val="FFF8E1"/>
                </a:solidFill>
                <a:latin typeface="Times New Roman"/>
              </a:defRPr>
            </a:pPr>
            <a:r>
              <a:t>Research Evidence &amp; Effectiveness</a:t>
            </a:r>
            <a:br/>
            <a:r>
              <a:t>How Well Does MET Work?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Project MATCH: The Landmark 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D47A1"/>
                </a:solidFill>
                <a:latin typeface="Times New Roman"/>
              </a:defRPr>
            </a:pPr>
            <a:r>
              <a:t>The Study: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STUDY DESIGN: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Largest alcohol treatment trial ever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- 1,726 participants across 9 US sites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Randomized to 3 conditions: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1. MET (4 sessions / 12 weeks)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2. CBT (12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3. TSF/12-Step (12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Follow-up: 1 year and 3 years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Cost: $27 million (NIAAA funded)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Results: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KEY FINDINGS: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All three treatments significantly improved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achieved COMPARABLE outcomes to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CBT and TSF in just 4 sessions vs 12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Percent Days Abstinent improved in ALL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Drinks Per Drinking Day decreased in ALL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At 3-year follow-up: gains maintained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IMPLICATION: MET is as effective as longer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treatments = highly COST-EFFECTIVE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Key Implication: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MATCHING FINDING: Clients HIGH in anger did significantly BETTER in MET than other treatments.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Non-confrontational approach works better for angry, reactive clients.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"The finding that a 4-session motivational intervention could produce outcomes comparable to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12-session treatments had profound implications for cost-effectiveness." (MATCH Group, 1997)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India relevance: With limited therapist availability, a 4-session effective treatment is ideal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for resource-constrained settings (NIMHANS recommends MET as first-line, 2016).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Project MATCH (1997). J Stud Alcohol, 58, 7-29; (1998). Addiction, 93, 1434-1447.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Meta-Analyses: MI/MET Effectiveness Across Studies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 Studies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Burke et al. (2003)</a:t>
                      </a:r>
                    </a:p>
                    <a:p>
                      <a:r>
                        <a:t>J Consult Clin Psychol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30 RCTs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MI/MET effective for alcohol,</a:t>
                      </a:r>
                    </a:p>
                    <a:p>
                      <a:r>
                        <a:t>drugs, diet, adherence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 = 0.25-0.57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Hettema et al. (2005)</a:t>
                      </a:r>
                    </a:p>
                    <a:p>
                      <a:r>
                        <a:t>Annual Rev Clin Psychol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72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 effective across substances</a:t>
                      </a:r>
                    </a:p>
                    <a:p>
                      <a:r>
                        <a:t>vs no treatment/advice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 = 0.77 at follow-up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Lundahl et al. (2010)</a:t>
                      </a:r>
                    </a:p>
                    <a:p>
                      <a:r>
                        <a:t>Patient Ed &amp; Counsel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119 studies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 produces moderate effect</a:t>
                      </a:r>
                    </a:p>
                    <a:p>
                      <a:r>
                        <a:t>stronger for substance 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 = 0.22 (combined)</a:t>
                      </a:r>
                    </a:p>
                    <a:p>
                      <a:r>
                        <a:t>d = 0.79 (substance)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Vasilaki et al. (2006)</a:t>
                      </a:r>
                    </a:p>
                    <a:p>
                      <a:r>
                        <a:t>Addiction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15 RCTs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Brief MI effective for reducing</a:t>
                      </a:r>
                    </a:p>
                    <a:p>
                      <a:r>
                        <a:t>alcohol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Significant reduction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Smedslund et al. (2011)</a:t>
                      </a:r>
                    </a:p>
                    <a:p>
                      <a:r>
                        <a:t>Cochrane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59 RCTs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 reduces substance use</a:t>
                      </a:r>
                    </a:p>
                    <a:p>
                      <a:r>
                        <a:t>more than no treatment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SMD = -0.79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All meta-analyses cited in table. All are peer-reviewed systematic reviews/meta-analyses.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E0B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Research Evidence: Indian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Indian Studies: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NIMHANS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Brief MI effective in Indian primary care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(Murthy et al., 2009)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NIMHANS protocols integrate MET as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first-line psychosocial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Community MI reduced alcohol use in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rural Karnataka (Nadkarni et al., 2017)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AIIMS, DELHI: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Brief MI for alcohol dependence positive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outcomes (Pal et al., 2007)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Key Indian Studies: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PREMIUM TRIAL (Lancet, 2017):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Lay counselors delivered MI in Goa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Significant reduction in harmful drinking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Published in The Lancet (top journal)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Proved task-shifting feasible in India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CHAND et al. (2018, NIMHANS):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Technology-assisted brief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Showed feasibility in Indian clinics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OUTCOME: MI/MET effective 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Indian Adaptations: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CULTURAL CONSIDERATIONS FOR INDIA: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Family involvement crucial in Indian context (can integrate into MET Change Plan)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High stigma around substance use - MI's non-judgmental approach especially valuable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Task-shifting to lay counselors feasible (PREMIUM trial demonstrated this conclusively)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Adaptations needed: family values, community roles, spiritual beliefs integrated into values work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NIMHANS (2016) recommends MI/MET as evidence-based first-line psychosocial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Cost-effective for India's resource-constrained mental health system (4 sessions adequate)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Nadkarni et al. (2017). Lancet, 389, 186-195; NIMHANS (2016); Chand et al. (2018). Indian J Psych.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E6C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UKATT &amp; International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19456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UKATT Trial: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UKATT (UK Alcohol Treatment Trial):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Largest UK alcohol trial (742 clients)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(3 sessions) vs SBNT (8 sessions)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Result: BOTH equally effective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MET significantly more cost-effective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- 5x less therapist time for same results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CONCLUSION: MET achieves equivalent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outcomes at a fraction of the cost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(UKATT Research Team, 2005, BMJ)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21945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Global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OTHER INTERNATIONAL EVIDENCE: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WHO Brief Intervention (2002):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MI effective across 10 countries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COMBINE Study (2006, JAMA):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MI + naltrexone superior combination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Cannabis Youth Treatment (2004):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MET effective for adolescent cannabis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Stephens et al. (2004):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2 sessions of MI = 6 sessions of CBT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MI/MET works across cultures, substances,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age groups, and clinical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74720"/>
            <a:ext cx="1143000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Bottom Line: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SUMMARY OF RESEARCH: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EMPIRICALLY SUPPORTED for alcohol use disorders (Level 1 evidence, highest level)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Effective for cannabis, cocaine, opioids, and polysubstance use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Works with adolescents, adults, and older adults across cultures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Effective when delivered by trained lay counselors (not just specialists)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Cost-effective: same results as longer treatments in fewer sessions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- Compatible with pharmacotherapy and enhances medication adherence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UKATT (2005). BMJ, 331, 544; COMBINE (2006). JAMA, 295; WHO (2002).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8E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Key Takeaways: MET in Clinical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7315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B3A5C"/>
                </a:solidFill>
                <a:latin typeface="Times New Roman"/>
              </a:defRPr>
            </a:pPr>
            <a:r>
              <a:t>MET is BRIEF but POWERFUL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4 sessions = outcomes of 12-session treatments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56232"/>
            <a:ext cx="11430000" cy="73152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  <a:latin typeface="Times New Roman"/>
              </a:defRPr>
            </a:pPr>
            <a:r>
              <a:t>Based on SOLID THEORY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Transtheoretical Model + Self-Efficacy + Cognitive Dissonance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60904"/>
            <a:ext cx="11430000" cy="731520"/>
          </a:xfrm>
          <a:prstGeom prst="roundRect">
            <a:avLst/>
          </a:prstGeom>
          <a:solidFill>
            <a:srgbClr val="E1BEE7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  <a:latin typeface="Times New Roman"/>
              </a:defRPr>
            </a:pPr>
            <a:r>
              <a:t>The CLIENT does the work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Therapist evokes motivation, doesn't install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65576"/>
            <a:ext cx="11430000" cy="73152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E65C00"/>
                </a:solidFill>
                <a:latin typeface="Times New Roman"/>
              </a:defRPr>
            </a:pPr>
            <a:r>
              <a:t>RESISTANCE is information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Not to fight - a signal to change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70248"/>
            <a:ext cx="11430000" cy="731520"/>
          </a:xfrm>
          <a:prstGeom prst="roundRect">
            <a:avLst/>
          </a:prstGeom>
          <a:solidFill>
            <a:srgbClr val="B2DFDB"/>
          </a:solidFill>
          <a:ln w="19050">
            <a:solidFill>
              <a:srgbClr val="007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07B83"/>
                </a:solidFill>
                <a:latin typeface="Times New Roman"/>
              </a:defRPr>
            </a:pPr>
            <a:r>
              <a:t>Works with COMORBIDITY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Adaptable for PD, depression, anxiety, PTSD, psychosis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074920"/>
            <a:ext cx="11430000" cy="73152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880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880038"/>
                </a:solidFill>
                <a:latin typeface="Times New Roman"/>
              </a:defRPr>
            </a:pPr>
            <a:r>
              <a:t>EVIDENCE-BASED globally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Project MATCH, UKATT, Lancet PREMIUM trial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Ref: Miller et al. (1992); Project MATCH (1997); UKATT (2005); NIMHANS (2016); Nadkarni et al. (2017).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BBDE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3400" b="1">
                <a:solidFill>
                  <a:srgbClr val="FFFFFF"/>
                </a:solidFill>
                <a:latin typeface="Times New Roman"/>
              </a:defRPr>
            </a:pPr>
            <a:r>
              <a:t>Comprehensive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PRIMARY SOURCES: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Miller, W.R. et al. (1992). MET Manual. NIAAA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Project MATCH Monograph Series, Vol. 2.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NIMHANS (2016). Substance Use Disorders Manual.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Miller &amp; Rollnick (2013). MI, 3rd ed. Guilford.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Prochaska &amp; DiClemente (1984). TTM.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Project MATCH (1997). J Stud Alcohol, 58.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UKATT (2005). BMJ, 331, 544.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COMORBIDITY: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Barrowclough et al. (2001). BMJ, 323, 1-5.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Baker et al. (2010). Addiction, 105, 1560.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Ball et al. (2007). J Nerv Ment Dis, 195.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Hien et al. (2009). JCCP, 77, 607-619.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Drake et al. (2004). Schizophr Bull, 30.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INDIAN RESEARCH: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Nadkarni et al. (2017). Lancet, 389, 186-195.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Chand et al. (2018). Indian J Psychiatry.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Rao et al. (2015). Asian J Psychiatry, 16.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Murthy et al. (2009). NIMHANS Publication.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META-ANALYSES: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Lundahl et al. (2010). Pat Ed Counsel, 80.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Hettema et al. (2005). Ann Rev Clin Psychol, 1.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Smedslund et al. (2011). Cochrane Review.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Burke et al. (2003). JCCP, 71, 843-861.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FAMILY: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Smith &amp; Meyers (2004). CRAFT.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Meyers et al. (2002). JCCP, 70, 711.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900" i="1">
                <a:solidFill>
                  <a:srgbClr val="555555"/>
                </a:solidFill>
                <a:latin typeface="Times New Roman"/>
              </a:defRPr>
            </a:pPr>
            <a:r>
              <a:t>All references from peer-reviewed journals, published manuals, and institutional publications.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5C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  <a:p>
            <a:pPr>
              <a:spcAft>
                <a:spcPts val="3000"/>
              </a:spcAft>
            </a:pPr>
          </a:p>
          <a:p>
            <a:pPr algn="ctr">
              <a:defRPr sz="1600" i="1">
                <a:solidFill>
                  <a:srgbClr val="F9A825"/>
                </a:solidFill>
                <a:latin typeface="Times New Roman"/>
              </a:defRPr>
            </a:pPr>
            <a:r>
              <a:t>"People are generally better persuaded by the reasons</a:t>
            </a:r>
          </a:p>
          <a:p>
            <a:pPr algn="ctr">
              <a:defRPr sz="1600" i="1">
                <a:solidFill>
                  <a:srgbClr val="F9A825"/>
                </a:solidFill>
                <a:latin typeface="Times New Roman"/>
              </a:defRPr>
            </a:pPr>
            <a:r>
              <a:t>which they have themselves discovered</a:t>
            </a:r>
          </a:p>
          <a:p>
            <a:pPr algn="ctr">
              <a:defRPr sz="1600" i="1">
                <a:solidFill>
                  <a:srgbClr val="F9A825"/>
                </a:solidFill>
                <a:latin typeface="Times New Roman"/>
              </a:defRPr>
            </a:pPr>
            <a:r>
              <a:t>than by those which have come into the minds of others."</a:t>
            </a:r>
          </a:p>
          <a:p>
            <a:pPr algn="ctr">
              <a:spcAft>
                <a:spcPts val="3000"/>
              </a:spcAft>
              <a:defRPr sz="1300">
                <a:solidFill>
                  <a:srgbClr val="BBDEFB"/>
                </a:solidFill>
                <a:latin typeface="Times New Roman"/>
              </a:defRPr>
            </a:pPr>
            <a:r>
              <a:t>— Blaise Pascal</a:t>
            </a:r>
          </a:p>
          <a:p>
            <a:pPr algn="ctr">
              <a:defRPr sz="1100">
                <a:solidFill>
                  <a:srgbClr val="BBDEFB"/>
                </a:solidFill>
                <a:latin typeface="Times New Roman"/>
              </a:defRPr>
            </a:pPr>
            <a:r>
              <a:t>Based on: MET Manual (NIAAA, 1992) &amp; NIMHANS Substance Use Disorders (2016)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