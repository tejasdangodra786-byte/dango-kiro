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4"/>
  </p:sldMasterIdLst>
  <p:notesMasterIdLst>
    <p:notesMasterId r:id="rId45"/>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Lst>
  <p:sldSz cx="12192000" cy="6858000"/>
  <p:notesSz cx="6858000" cy="12192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Master" Target="slideMasters/slideMaster1.xml"/><Relationship Id="rId45" Type="http://schemas.openxmlformats.org/officeDocument/2006/relationships/notesMaster" Target="notesMasters/notesMaster1.xml"/><Relationship Id="rId46" Type="http://schemas.openxmlformats.org/officeDocument/2006/relationships/theme" Target="theme/theme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Open by stating the full title, that it is a 2024 systematic review and meta-analysis in Suicide and Life-Threatening Behavior (a leading suicidology journal), and that it pools trials of MBT (adults) and MBT-A (adolescents) for self-harm. Fill in your name, institution and the journal-club date. Frame the talk: I will summarise the clinical problem, the rationale for MBT, the review method, the pooled findings, and then critically appraise the evidence and its clinical implications.</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Motivate the paper. Self-harm is common, highly recurrent, and a leading predictor of later suicide. Individual trials of MBT exist but vary in size and quality, so clinicians lack a clear pooled answer. Walk down the right-hand pathway: self-harm tends to repeat, repetition raises suicide risk, which creates a treatment need, which this meta-analysis addresses by evaluating MBT. Emphasise that MBT is theory-driven, targeting the mentalizing failures thought to underlie impulsive self-harm.</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Define self-harm operationally: intentional self-poisoning or self-injury regardless of intent — the broad definition used across UK/NICE literature and this review. Stress the self-harm vs suicide distinction: they overlap but are not the same; NSSI and suicidal self-injury can coexist in the same person. Note the functions (emotion regulation, communication, self-punishment) because these are exactly what MBT targets. Read the caution box aloud: assessment of intent, lethality, frequency, triggers, function and safety is non-negotiable.</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Explain recurrence as the central treatment challenge. Interpersonal triggers (conflict, rejection, abandonment, shame) raise arousal; under arousal, mentalizing collapses, an urge appears, self-harm gives short-term relief, and the subsequent shame feeds the next episode. Point out the maintaining factors on the left — relief acts as negative reinforcement. This cycle is why relapse-prevention planning and a therapy that targets the mentalizing failure (the pivot point) are both needed.</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Frame the gap the review addresses. Effective, specialist psychotherapies for self-harm are limited in availability and show variable response and high dropout, especially in people with marked emotional dysregulation. Individual MBT trials disagree, use different protocols, and rarely report long follow-up. So clinicians cannot yet say confidently how well MBT works or for whom — which is exactly the pooled question this meta-analysis sets out to answer.</a:t>
            </a:r>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Define mentalization plainly, then give the causal model: an attachment threat or interpersonal stressor triggers a temporary failure of mentalizing; the person misreads their own and others' intentions, becomes dysregulated, and self-harms. MBT intervenes at the mentalizing-failure link. List its aims: rebuild reflective understanding, increase emotional awareness, loosen rigid negative interpretations, and improve affect regulation and relationships — which should, in turn, reduce impulsive self-harm.</a:t>
            </a: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Give three tight definitions. Self-harm: intentional injury/poisoning, a strong suicide predictor. Mentalization: reading behaviour through mental states; it is attachment-based and collapses under stress. MBT: the structured psychotherapy developed by Bateman and Fonagy, using a curious, not-knowing stance that keeps attention on present affect and interpersonal experience. Also remind the audience why we meta-analyse: to pool small trials into a more precise effect estimate and formally examine heterogeneity and bias.</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This is the integrating model for the whole talk. Read top to bottom: attachment/interpersonal stress reduces mentalizing; the person misreads self and others; dysregulation and impulsivity follow; self-harm brings brief relief but long-term distress. The last two green/lavender boxes are the therapeutic hypothesis: MBT works upstream on mentalizing and affect regulation, which should reduce self-harm and improve functioning. Keep this picture in mind when we reach the results.</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Summarise the landscape of trials that feed this meta-analysis. The landmark is Rossouw &amp; Fonagy (2012): 80 adolescents, MBT-A beat TAU on self-harm and depression, and the effect was mediated by improved mentalizing and reduced attachment avoidance. Bateman &amp; Fonagy's adult BPD work is the parent evidence base. Crucially, later trials (Laurenssen 2018, Beck 2020) were null or mixed, and some (Griffiths) were only feasibility studies. Flag this heterogeneity now — it is central to interpreting the pooled effect and its wide confidence intervals. Verify exact citations against the paper's reference list.</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This bar chart makes the small-sample problem visible: every constituent trial enrolled fewer than ~150 participants. Small samples mean low statistical power in the individual studies and wide confidence intervals even after pooling. Use this to set up the appraisal: a large pooled effect size from small, heterogeneous trials should be read cautiously. State clearly these Ns are taken from the published trial reports and should be checked against the review's data-extraction table.</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Consolidate the gaps that justify a synthesis: too few adequately powered RCTs, inconsistent self-harm definitions and outcome tools, mixed MBT formats and durations, heterogeneous controls, short follow-up, and weak reporting of adherence. There is little evidence outside Western settings and unclear mechanisms of change. These gaps are precisely why the authors pooled the trials — and also why we must temper confidence in any single pooled number.</a:t>
            </a: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State why the review was needed: to convert a set of small, conflicting trials into one pooled, more precise estimate; to quantify MBT's effect not only on self-harm but on BPD symptoms and depression; to test how consistent the trials are; and to give clinicians and future researchers a clearer evidence signal. Emphasise the dual clinical and research payoff.</a:t>
            </a: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Present the aim, question and objective together. Aim: synthesise the efficacy evidence for MBT on self-harm and related outcomes. Research question: does MBT reduce self-harm versus control/TAU? Because this is a systematic review, there is no conventional experimental hypothesis — the expectation is a significant reduction favouring MBT, tested through predefined review questions. Adapt wording to the paper's exact statement of objectives.</a:t>
            </a: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Structure the question with PICO. Population: people who self-harm, including those with BPD or emotional dysregulation, spanning adolescents and adults. Intervention: MBT or its adolescent form MBT-A. Comparison: usual care, structured clinical management, waiting list, or another active therapy. Outcomes: self-harm frequency and severity as primary, with suicidal behaviour, BPD symptoms, depression, functioning and treatment retention as secondary. This mapping mirrors the review's eligibility logic.</a:t>
            </a: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Walk the standard SR/MA pipeline left to right: register a protocol and run a systematic multi-database search; screen titles/abstracts then full texts against eligibility criteria; extract data; assess risk of bias; and pool with a random-effects meta-analysis. Highlight the analytic choices box: the effect metric is Hedges' g (a standardized mean difference suited to different measurement scales), heterogeneity is quantified with I², and the authors used random effects because the trials differ. Note exact databases/dates should be taken from the paper's methods.</a:t>
            </a: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Present eligibility as the filter that defines the evidence base. Inclusion: participants who self-harm or carry a relevant diagnosis, an MBT/MBT-A intervention, a self-harm or related outcome, a comparative design, and enough numeric data to compute Hedges' g. Exclusion: anything without MBT, without a relevant outcome, or without extractable data, plus case reports, bare abstracts and duplicates. Tell the audience to map these onto the paper's exact wording, as small criterion differences change which trials qualify.</a:t>
            </a: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Describe how studies were found: systematic searching of the major psychology/medicine databases (PubMed, PsycINFO, Embase, Cochrane CENTRAL), supplemented by reference-list and hand-searching. Show the three Boolean concept blocks — intervention terms AND self-harm terms AND diagnosis terms. Be explicit that this string is illustrative; read the actual databases, date range and final-search date from the methods so nothing is misattributed to the authors.</a:t>
            </a: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This is the PRISMA flow the review reports. Fill each 'n = __' from the paper's PRISMA diagram: records identified, duplicates removed, records screened, full texts assessed, and studies included in the qualitative and quantitative syntheses. The right-hand pink boxes capture exclusions with reasons. Do NOT invent these counts — transcribe them exactly. Verbally note the funnel from many records down to the small number of trials that were actually poolable.</a:t>
            </a:r>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Describe the pooled sample. Ages span adolescents (MBT-A trials) and adults (MBT trials). Samples are predominantly female — for example about 85% female in Rossouw &amp; Fonagy (2012). Most participants have self-harm with BPD or emerging BPD traits, treated in outpatient services in high-income, largely European settings. Insert the exact number of studies and total N from the characteristics table, and flag the female, young, Western skew because it limits generalisability.</a:t>
            </a:r>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Describe what MBT actually involves. Delivery ranges across trials: individual and/or group sessions, with MBT-A adding a family/parent component; the landmark adolescent trial ran about 12 months. Therapists are trained and supervised, and treatment is usually outpatient with crisis management running alongside. Note that fidelity reporting is patchy. On the right, summarise the core stance: curiosity, not-knowing, focus on present affect and mental states, exploring alternatives, regulating arousal and repairing ruptures — deliberately avoiding premature interpretation. Confirm session specifics per study.</a:t>
            </a:r>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Explain why the comparator matters. Most trials use treatment as usual, which is variable and non-specific, so part of MBT's apparent benefit may reflect weak usual care. A structured-clinical-management control is a much sterner test and typically shrinks the MBT advantage. Waiting-list/no-treatment controls tend to inflate effect sizes. Head-to-head comparisons with DBT are rare. Because the control conditions differ so much across trials, they are a major source of heterogeneity in the pooled estimate.</a:t>
            </a:r>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Organise outcomes into primary and secondary. Primary: self-harm frequency/number of episodes, severity, time to recurrence, and suicidal behaviour. Secondary: BPD symptoms, depression and anxiety, emotion dysregulation and impulsivity, functioning/quality of life, and treatment retention or hospital use. Note that trials used different instruments for the same construct — one reason a standardized effect size (Hedges' g) was needed to pool them. List the specific scales the paper reports where available.</a:t>
            </a:r>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Explain the risk-of-bias appraisal. Domains follow the Cochrane approach: randomisation, allocation concealment, blinding of outcome assessment, incomplete outcome data, selective reporting, and treatment fidelity. The recurring weak spots in psychotherapy trials are blinding (you cannot blind participants to talking therapy) and attrition. This traffic-light grid is illustrative — replace each dot with the paper's actual rating. Use it to argue that even a strong pooled effect carries moderate risk of bias.</a:t>
            </a:r>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Demystify the statistics for a clinical audience. The effect size is Hedges' g, a standardized mean difference that lets us combine trials using different scales; a negative g means MBT reduced the outcome. A random-effects model is used because the true effect probably varies across these heterogeneous trials. The confidence interval gives the plausible range, and I² tells us how much the trials disagree. Anchor g values: 0.2 small, 0.5 medium, 0.8 large. Close by stressing that significance and clinical importance are different questions.</a:t>
            </a:r>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This is the headline result. Pooled across MBT and MBT-A trials, self-harm fell with a Hedges' g of −0.82, 95% CI −1.15 to −0.50. The square is the point estimate and the line is the confidence interval; because it sits entirely left of zero and left of the g=−0.8 reference, this is a large, statistically significant reduction favouring MBT. Immediately temper it: the interval is wide, reflecting few, small, heterogeneous trials, so the true effect could plausibly be medium rather than large. These numbers are verified from the published abstract.</a:t>
            </a:r>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Handle suicidal behaviour carefully and honestly. Draw the ladder: self-harm, suicidal ideation, suicide attempt, and suicide death are distinct. The verified pooled results cover self-harm, BPD symptoms and depression — the abstract does not report a separate pooled effect for suicide attempts or deaths. If the full paper gives no pooled suicide-specific estimate, say so plainly and do not extrapolate a self-harm effect into a claim about suicide prevention. Remember: absence of evidence is not evidence of absence.</a:t>
            </a:r>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Present the two secondary outcomes alongside self-harm for context. BPD symptoms improved with g = −1.08 (95% CI −1.38 to −0.77) and depression with g = −1.10 (−1.52 to −0.68). All three effects are large and statistically significant. The bars show magnitude only. Note that these very large effect sizes from small trials are somewhat implausibly large and may reflect small-study effects or optimistic early trials — a point to develop in the appraisal. Numbers are verified from the published abstract.</a:t>
            </a:r>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Address feasibility, which matters as much as efficacy in this hard-to-engage group. Report the dropout and completion rates for MBT versus control from the paper. Feasibility work such as Griffiths et al. (2019) found group MBT acceptable and safe with reasonable attendance. Discuss reasons for dropout and any adverse events. Conclude cautiously on acceptability and flag that retention and adverse-event reporting is often incomplete across the trials.</a:t>
            </a:r>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A one-glance summary of the three verified pooled effects: self-harm g=−0.82, BPD symptoms g=−1.08, depression g=−1.10, all large and significant. Use this as the pivot from results to discussion: the signal is consistent and favourable, but it comes from a small, heterogeneous evidence base, so the honest headline is 'promising, not definitive.'</a:t>
            </a:r>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Summarise what was found: consistent, large, significant reductions in self-harm, BPD symptoms and depression, all favouring MBT. Then give the balanced verdict — the effects are encouraging and internally consistent, but they come from few small trials with mixed designs and controls, so overall confidence in the effect size is moderate at best. Avoid overselling.</a:t>
            </a:r>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Offer plausible mechanisms, framed tentatively. MBT is theorised to work by rebuilding reflective functioning so people read mental states more accurately, misinterpret interpersonal events less, regulate affect better, and insert a pause between urge and action; a strong alliance and better trigger-recognition support new coping. In Rossouw &amp; Fonagy (2012) the effect was actually mediated by improved mentalizing and reduced attachment avoidance, which supports this model. Stress that a meta-analysis of outcomes cannot by itself prove mechanism — use 'may'.</a:t>
            </a:r>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Place MBT among alternatives. DBT has the strongest, best-replicated evidence for adolescent self-harm and is the natural benchmark; CBT-based approaches show moderate benefit for repetition. MBT's pooled effects here are large but rest on fewer trials with mixed later results. Explain the inconsistencies by differences in sample severity, treatment intensity, outcome measurement and follow-up. The clinical takeaway: MBT is a reasonable option, but the comparative evidence does not yet establish superiority over DBT.</a:t>
            </a:r>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Translate findings into practice. MBT is a reasonable, evidence-supported option for recurrent self-harm with BPD features, but it must be individualized and sits within — never instead of — continuous risk assessment and crisis planning. Comorbidities may need medication; engagement and continuity are decisive in this population. Emphasise that MBT requires trained, supervised therapists and that setting should match risk. In adolescents, involving family (MBT-A) is important.</a:t>
            </a:r>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Be explicit and balanced about limitations — examiners reward this. The evidence base is few small trials, so power is low and CIs wide. Heterogeneity in design, MBT format and control conditions undermines a single pooled number. Follow-up is short, outcome measures differ, and attrition/reporting is inconsistent. Samples are predominantly female, young and Western, limiting generalisability, and self-harm and suicidal behaviour are not always clearly separated. These caveats are why the large effect sizes should be read as promising rather than conclusive.</a:t>
            </a:r>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Separate the appraisal into sample and design. Sample-side: participants are mostly female, young and Western, with limited male, gender-diverse and older-adult representation and variable baseline severity — so who these results apply to is narrow. Design-side: some trials had weak randomisation, no assessor blinding, poorly specified TAU comparators, notable attrition, and little fidelity monitoring or preregistration. Together these lower our certainty and point to what better trials must fix.</a:t>
            </a:r>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State the boundaries of generalisation. The findings map best onto outpatient services treating female-predominant adolescents and adults with self-harm and BPD features in Western settings. Be cautious applying them to emergency or inpatient contexts, low-resource or non-Western populations, older adults, males and gender-diverse people, or to self-harm without BPD and to comorbid psychosis or severe cognitive impairment — groups the trials barely represent.</a:t>
            </a:r>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Lay out implications across four levels. Practice: embed mentalizing-informed principles, assess mentalizing during crises, use collaborative formulation and individualized safety plans. Services: set up structured MBT programmes with training, supervision, stepped care and post-discharge continuity. Relapse prevention: identify early warning signs, rehearse coping alternatives, plan for interpersonal triggers and monitor recurrence. Psychosocial: involve family/carers, address trauma and attachment, and coordinate multidisciplinary care.</a:t>
            </a:r>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Show independent critical thinking. If you had run this programme, you would recruit larger, more diverse samples with longer standardized follow-up, cleanly separate suicidal from non-suicidal self-harm, use rigorous randomisation and blinded outcome assessment, and include an active comparator like DBT rather than only TAU. You would monitor fidelity, report therapist training, test mechanisms and subgroups, preregister the protocol, and report adverse events, dropout and cost-effectiveness fully. This directly answers the review's own limitations.</a:t>
            </a:r>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Deliver the six high-yield messages slowly. Self-harm is recurrent and needs thorough risk assessment. MBT targets mentalizing failure under arousal. The verified pooled effects are large and significant across self-harm, BPD symptoms and depression. But small, heterogeneous, short-follow-up trials mean the honest verdict is 'promising, not definitive.' MBT fits patients with interpersonal sensitivity and BPD features best. And the field needs bigger, more diverse, longer trials against active comparators. End on this balanced note.</a:t>
            </a:r>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Give a structured verdict, like a CASP checklist. The question and design are appropriate and the statistics (random effects, Hedges' g) are suitable. Confirm from the full paper whether the search was comprehensive and whether risk of bias was formally assessed. Heterogeneity is only partly addressed. Clinical relevance is moderate-to-high, but applicability is limited by the narrow samples, so overall confidence in the conclusions is moderate-to-low. Adjust each judgement once you have read the full methods.</a:t>
            </a:r>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Present the key references. Lead with the primary paper (DOI 10.1111/sltb.13044) — insert the full author list from the article. Then the landmark constituent trials (Rossouw &amp; Fonagy 2012; Bateman &amp; Fonagy 2009) and the MBT manual. Tell the audience these are cross-checked but a few constituent-trial details are marked 'confirm' and must be verified against the paper's reference list before the talk.</a:t>
            </a:r>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Continue with the remaining trials, PRISMA reporting guidance, NICE self-harm guidance, and the diagnostic systems (ICD-11, DSM-5-TR). Reiterate the accuracy rule: verify each citation against the paper before presenting, and never attribute unverified specifics to the authors.</a:t>
            </a:r>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Notes Placeholder"/>
          <p:cNvSpPr>
            <a:spLocks noGrp="1"/>
          </p:cNvSpPr>
          <p:nvPr>
            <p:ph type="body" idx="1"/>
          </p:nvPr>
        </p:nvSpPr>
        <p:spPr/>
        <p:txBody>
          <a:bodyPr/>
          <a:lstStyle/>
          <a:p>
            <a:r>
              <a:rPr lang="en-US" dirty="0"/>
              <a:t>Close and open the floor. Offer two or three prompts to seed discussion: (1) Given the large but uncertain effects, would you offer MBT or DBT first for adolescent self-harm with BPD features, and why? (2) How should we weigh a large pooled effect from small, heterogeneous trials in clinical decisions? (3) What would convince us MBT reduces suicide-specific outcomes, not just self-harm? Thank the audience.</a:t>
            </a: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
          <p:cNvSpPr/>
          <p:nvPr/>
        </p:nvSpPr>
        <p:spPr>
          <a:xfrm>
            <a:off x="0" y="0"/>
            <a:ext cx="12192000" cy="6858000"/>
          </a:xfrm>
          <a:prstGeom prst="rect">
            <a:avLst/>
          </a:prstGeom>
          <a:solidFill>
            <a:srgbClr val="FBF6EC"/>
          </a:solidFill>
          <a:ln>
            <a:noFill/>
          </a:ln>
        </p:spPr>
        <p:txBody>
          <a:bodyPr wrap="square" anchor="ctr" lIns="45720" tIns="18288" rIns="45720" bIns="18288">
            <a:normAutofit/>
          </a:bodyPr>
          <a:p>
            <a:pPr>
              <a:buNone/>
            </a:pPr>
          </a:p>
        </p:txBody>
      </p:sp>
      <p:sp>
        <p:nvSpPr>
          <p:cNvPr id="3" name="r"/>
          <p:cNvSpPr/>
          <p:nvPr/>
        </p:nvSpPr>
        <p:spPr>
          <a:xfrm>
            <a:off x="0" y="0"/>
            <a:ext cx="12192000" cy="120000"/>
          </a:xfrm>
          <a:prstGeom prst="rect">
            <a:avLst/>
          </a:prstGeom>
          <a:solidFill>
            <a:srgbClr val="6E5AA6"/>
          </a:solidFill>
          <a:ln>
            <a:noFill/>
          </a:ln>
        </p:spPr>
        <p:txBody>
          <a:bodyPr wrap="square" anchor="ctr" lIns="45720" tIns="18288" rIns="45720" bIns="18288">
            <a:normAutofit/>
          </a:bodyPr>
          <a:p>
            <a:pPr>
              <a:buNone/>
            </a:pPr>
          </a:p>
        </p:txBody>
      </p:sp>
      <p:sp>
        <p:nvSpPr>
          <p:cNvPr id="4" name="r"/>
          <p:cNvSpPr/>
          <p:nvPr/>
        </p:nvSpPr>
        <p:spPr>
          <a:xfrm>
            <a:off x="0" y="6738000"/>
            <a:ext cx="12192000" cy="120000"/>
          </a:xfrm>
          <a:prstGeom prst="rect">
            <a:avLst/>
          </a:prstGeom>
          <a:solidFill>
            <a:srgbClr val="6E5AA6"/>
          </a:solidFill>
          <a:ln>
            <a:noFill/>
          </a:ln>
        </p:spPr>
        <p:txBody>
          <a:bodyPr wrap="square" anchor="ctr" lIns="45720" tIns="18288" rIns="45720" bIns="18288">
            <a:normAutofit/>
          </a:bodyPr>
          <a:p>
            <a:pPr>
              <a:buNone/>
            </a:pPr>
          </a:p>
        </p:txBody>
      </p:sp>
      <p:sp>
        <p:nvSpPr>
          <p:cNvPr id="5" name="o"/>
          <p:cNvSpPr/>
          <p:nvPr/>
        </p:nvSpPr>
        <p:spPr>
          <a:xfrm>
            <a:off x="-500000" y="-500000"/>
            <a:ext cx="2200000" cy="2200000"/>
          </a:xfrm>
          <a:prstGeom prst="ellipse">
            <a:avLst/>
          </a:prstGeom>
          <a:solidFill>
            <a:srgbClr val="E7E0F7"/>
          </a:solidFill>
        </p:spPr>
        <p:txBody>
          <a:bodyPr wrap="square" anchor="ctr" lIns="45720" tIns="18288" rIns="45720" bIns="18288">
            <a:normAutofit/>
          </a:bodyPr>
          <a:p>
            <a:pPr>
              <a:buNone/>
            </a:pPr>
          </a:p>
        </p:txBody>
      </p:sp>
      <p:sp>
        <p:nvSpPr>
          <p:cNvPr id="6" name="o"/>
          <p:cNvSpPr/>
          <p:nvPr/>
        </p:nvSpPr>
        <p:spPr>
          <a:xfrm>
            <a:off x="10592000" y="5258000"/>
            <a:ext cx="2200000" cy="2200000"/>
          </a:xfrm>
          <a:prstGeom prst="ellipse">
            <a:avLst/>
          </a:prstGeom>
          <a:solidFill>
            <a:srgbClr val="D7E8F4"/>
          </a:solidFill>
        </p:spPr>
        <p:txBody>
          <a:bodyPr wrap="square" anchor="ctr" lIns="45720" tIns="18288" rIns="45720" bIns="18288">
            <a:normAutofit/>
          </a:bodyPr>
          <a:p>
            <a:pPr>
              <a:buNone/>
            </a:pPr>
          </a:p>
        </p:txBody>
      </p:sp>
      <p:sp>
        <p:nvSpPr>
          <p:cNvPr id="7" name="tb"/>
          <p:cNvSpPr txBox="1"/>
          <p:nvPr/>
        </p:nvSpPr>
        <p:spPr>
          <a:xfrm>
            <a:off x="900000" y="900000"/>
            <a:ext cx="10392000" cy="500000"/>
          </a:xfrm>
          <a:prstGeom prst="rect">
            <a:avLst/>
          </a:prstGeom>
          <a:noFill/>
        </p:spPr>
        <p:txBody>
          <a:bodyPr wrap="square" anchor="t" lIns="45720" tIns="27432" rIns="45720" bIns="27432">
            <a:normAutofit/>
          </a:bodyPr>
          <a:p>
            <a:pPr lvl="0" algn="ctr">
              <a:spcAft>
                <a:spcPts val="0"/>
              </a:spcAft>
              <a:buNone/>
            </a:pPr>
            <a:r>
              <a:rPr lang="en-US" sz="1500" b="1" dirty="0">
                <a:solidFill>
                  <a:srgbClr val="3E7CB1"/>
                </a:solidFill>
                <a:latin typeface="Calibri"/>
              </a:rPr>
              <a:t>M.Phil. CLINICAL PSYCHOLOGY  •  JOURNAL CLUB</a:t>
            </a:r>
          </a:p>
        </p:txBody>
      </p:sp>
      <p:sp>
        <p:nvSpPr>
          <p:cNvPr id="8" name="card"/>
          <p:cNvSpPr/>
          <p:nvPr/>
        </p:nvSpPr>
        <p:spPr>
          <a:xfrm>
            <a:off x="900000" y="1550000"/>
            <a:ext cx="10392000" cy="1650000"/>
          </a:xfrm>
          <a:prstGeom prst="roundRect">
            <a:avLst/>
          </a:prstGeom>
          <a:solidFill>
            <a:srgbClr val="FFFFFF"/>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200"/>
              </a:spcAft>
              <a:buNone/>
            </a:pPr>
            <a:r>
              <a:rPr lang="en-US" sz="3200" b="1" dirty="0">
                <a:solidFill>
                  <a:srgbClr val="6E5AA6"/>
                </a:solidFill>
                <a:latin typeface="Calibri"/>
              </a:rPr>
              <a:t>Efficacy of Mentalization-Based Therapy in Treating Self-Harm</a:t>
            </a:r>
          </a:p>
          <a:p>
            <a:pPr lvl="0" algn="ctr">
              <a:spcAft>
                <a:spcPts val="0"/>
              </a:spcAft>
              <a:buNone/>
            </a:pPr>
            <a:r>
              <a:rPr lang="en-US" sz="2200" i="1" dirty="0">
                <a:solidFill>
                  <a:srgbClr val="2E2E38"/>
                </a:solidFill>
                <a:latin typeface="Calibri"/>
              </a:rPr>
              <a:t>A Systematic Review and Meta-Analysis</a:t>
            </a:r>
          </a:p>
        </p:txBody>
      </p:sp>
      <p:sp>
        <p:nvSpPr>
          <p:cNvPr id="9" name="tb"/>
          <p:cNvSpPr txBox="1"/>
          <p:nvPr/>
        </p:nvSpPr>
        <p:spPr>
          <a:xfrm>
            <a:off x="900000" y="3400000"/>
            <a:ext cx="10392000" cy="900000"/>
          </a:xfrm>
          <a:prstGeom prst="rect">
            <a:avLst/>
          </a:prstGeom>
          <a:noFill/>
        </p:spPr>
        <p:txBody>
          <a:bodyPr wrap="square" anchor="t" lIns="45720" tIns="27432" rIns="45720" bIns="27432">
            <a:normAutofit/>
          </a:bodyPr>
          <a:p>
            <a:pPr lvl="0" algn="ctr">
              <a:spcAft>
                <a:spcPts val="200"/>
              </a:spcAft>
              <a:buNone/>
            </a:pPr>
            <a:r>
              <a:rPr lang="en-US" sz="1500" b="1" dirty="0">
                <a:solidFill>
                  <a:srgbClr val="3E7CB1"/>
                </a:solidFill>
                <a:latin typeface="Calibri"/>
              </a:rPr>
              <a:t>Journal: </a:t>
            </a:r>
            <a:r>
              <a:rPr lang="en-US" sz="1500" dirty="0">
                <a:solidFill>
                  <a:srgbClr val="2E2E38"/>
                </a:solidFill>
                <a:latin typeface="Calibri"/>
              </a:rPr>
              <a:t>Suicide and Life-Threatening Behavior (2024) • DOI: 10.1111/sltb.13044</a:t>
            </a:r>
          </a:p>
          <a:p>
            <a:pPr lvl="0" algn="ctr">
              <a:spcAft>
                <a:spcPts val="0"/>
              </a:spcAft>
              <a:buNone/>
            </a:pPr>
            <a:r>
              <a:rPr lang="en-US" sz="1400" b="1" dirty="0">
                <a:solidFill>
                  <a:srgbClr val="3E7CB1"/>
                </a:solidFill>
                <a:latin typeface="Calibri"/>
              </a:rPr>
              <a:t>Design: </a:t>
            </a:r>
            <a:r>
              <a:rPr lang="en-US" sz="1400" dirty="0">
                <a:solidFill>
                  <a:srgbClr val="2E2E38"/>
                </a:solidFill>
                <a:latin typeface="Calibri"/>
              </a:rPr>
              <a:t>Systematic review &amp; random-effects meta-analysis of MBT / MBT-A trials</a:t>
            </a:r>
          </a:p>
        </p:txBody>
      </p:sp>
      <p:sp>
        <p:nvSpPr>
          <p:cNvPr id="10" name="card"/>
          <p:cNvSpPr/>
          <p:nvPr/>
        </p:nvSpPr>
        <p:spPr>
          <a:xfrm>
            <a:off x="2400000" y="4550000"/>
            <a:ext cx="7392000" cy="1150000"/>
          </a:xfrm>
          <a:prstGeom prst="roundRect">
            <a:avLst/>
          </a:prstGeom>
          <a:solidFill>
            <a:srgbClr val="E7E0F7"/>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160"/>
              </a:spcAft>
              <a:buNone/>
            </a:pPr>
            <a:r>
              <a:rPr lang="en-US" sz="1500" b="1" dirty="0">
                <a:solidFill>
                  <a:srgbClr val="6E5AA6"/>
                </a:solidFill>
                <a:latin typeface="Calibri"/>
              </a:rPr>
              <a:t>Presented by: </a:t>
            </a:r>
            <a:r>
              <a:rPr lang="en-US" sz="1500" dirty="0">
                <a:solidFill>
                  <a:srgbClr val="2E2E38"/>
                </a:solidFill>
                <a:latin typeface="Calibri"/>
              </a:rPr>
              <a:t>Sonal ______________</a:t>
            </a:r>
          </a:p>
          <a:p>
            <a:pPr lvl="0" algn="ctr">
              <a:spcAft>
                <a:spcPts val="160"/>
              </a:spcAft>
              <a:buNone/>
            </a:pPr>
            <a:r>
              <a:rPr lang="en-US" sz="1300" dirty="0">
                <a:solidFill>
                  <a:srgbClr val="2E2E38"/>
                </a:solidFill>
                <a:latin typeface="Calibri"/>
              </a:rPr>
              <a:t>M.Phil. Clinical Psychology  •  Institution: ______________</a:t>
            </a:r>
          </a:p>
          <a:p>
            <a:pPr lvl="0" algn="ctr">
              <a:spcAft>
                <a:spcPts val="0"/>
              </a:spcAft>
              <a:buNone/>
            </a:pPr>
            <a:r>
              <a:rPr lang="en-US" sz="1300" dirty="0">
                <a:solidFill>
                  <a:srgbClr val="2E2E38"/>
                </a:solidFill>
                <a:latin typeface="Calibri"/>
              </a:rPr>
              <a:t>Journal Club Date: ______________</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12"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CLINICAL &amp; ACADEMIC RELEVANCE</a:t>
            </a:r>
          </a:p>
        </p:txBody>
      </p:sp>
      <p:sp>
        <p:nvSpPr>
          <p:cNvPr id="13"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Why This Paper Matters</a:t>
            </a:r>
          </a:p>
        </p:txBody>
      </p:sp>
      <p:cxnSp>
        <p:nvCxnSpPr>
          <p:cNvPr id="14" name="ln"/>
          <p:cNvCxnSpPr/>
          <p:nvPr/>
        </p:nvCxnSpPr>
        <p:spPr>
          <a:xfrm>
            <a:off x="560000" y="1320000"/>
            <a:ext cx="11072000" cy="0"/>
          </a:xfrm>
          <a:prstGeom prst="line">
            <a:avLst/>
          </a:prstGeom>
          <a:ln w="28575">
            <a:solidFill>
              <a:srgbClr val="D6C7EE"/>
            </a:solidFill>
          </a:ln>
        </p:spPr>
      </p:cxnSp>
      <p:sp>
        <p:nvSpPr>
          <p:cNvPr id="15" name="card"/>
          <p:cNvSpPr/>
          <p:nvPr/>
        </p:nvSpPr>
        <p:spPr>
          <a:xfrm>
            <a:off x="560000" y="1580000"/>
            <a:ext cx="5600000" cy="465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t" lIns="91440" tIns="45720" rIns="91440" bIns="45720">
            <a:normAutofit/>
          </a:bodyPr>
          <a:p>
            <a:pPr marL="342900" indent="-228600" lvl="0" algn="l">
              <a:spcAft>
                <a:spcPts val="320"/>
              </a:spcAft>
              <a:buFont typeface="Arial"/>
              <a:buChar char="•"/>
            </a:pPr>
            <a:r>
              <a:rPr lang="en-US" sz="1350" dirty="0">
                <a:solidFill>
                  <a:srgbClr val="2E2E38"/>
                </a:solidFill>
                <a:latin typeface="Calibri"/>
              </a:rPr>
              <a:t>Self-harm is a major clinical and public-health concern with high recurrence.</a:t>
            </a:r>
          </a:p>
          <a:p>
            <a:pPr marL="342900" indent="-228600" lvl="0" algn="l">
              <a:spcAft>
                <a:spcPts val="320"/>
              </a:spcAft>
              <a:buFont typeface="Arial"/>
              <a:buChar char="•"/>
            </a:pPr>
            <a:r>
              <a:rPr lang="en-US" sz="1350" dirty="0">
                <a:solidFill>
                  <a:srgbClr val="2E2E38"/>
                </a:solidFill>
                <a:latin typeface="Calibri"/>
              </a:rPr>
              <a:t>It is strongly linked to emotional dysregulation, trauma, personality pathology and elevated suicide risk.</a:t>
            </a:r>
          </a:p>
          <a:p>
            <a:pPr marL="342900" indent="-228600" lvl="0" algn="l">
              <a:spcAft>
                <a:spcPts val="320"/>
              </a:spcAft>
              <a:buFont typeface="Arial"/>
              <a:buChar char="•"/>
            </a:pPr>
            <a:r>
              <a:rPr lang="en-US" sz="1350" dirty="0">
                <a:solidFill>
                  <a:srgbClr val="2E2E38"/>
                </a:solidFill>
                <a:latin typeface="Calibri"/>
              </a:rPr>
              <a:t>Repetition is common, so effective psychological interventions are urgently needed.</a:t>
            </a:r>
          </a:p>
          <a:p>
            <a:pPr marL="342900" indent="-228600" lvl="0" algn="l">
              <a:spcAft>
                <a:spcPts val="320"/>
              </a:spcAft>
              <a:buFont typeface="Arial"/>
              <a:buChar char="•"/>
            </a:pPr>
            <a:r>
              <a:rPr lang="en-US" sz="1350" dirty="0">
                <a:solidFill>
                  <a:srgbClr val="2E2E38"/>
                </a:solidFill>
                <a:latin typeface="Calibri"/>
              </a:rPr>
              <a:t>Therapies that target underlying processes (not just the behaviour) are of particular interest.</a:t>
            </a:r>
          </a:p>
          <a:p>
            <a:pPr marL="342900" indent="-228600" lvl="0" algn="l">
              <a:spcAft>
                <a:spcPts val="0"/>
              </a:spcAft>
              <a:buFont typeface="Arial"/>
              <a:buChar char="•"/>
            </a:pPr>
            <a:r>
              <a:rPr lang="en-US" sz="1350" dirty="0">
                <a:solidFill>
                  <a:srgbClr val="2E2E38"/>
                </a:solidFill>
                <a:latin typeface="Calibri"/>
              </a:rPr>
              <a:t>Meta-analysis synthesises scattered trials into a pooled estimate to guide practice.</a:t>
            </a:r>
          </a:p>
        </p:txBody>
      </p:sp>
      <p:sp>
        <p:nvSpPr>
          <p:cNvPr id="16" name="card"/>
          <p:cNvSpPr/>
          <p:nvPr/>
        </p:nvSpPr>
        <p:spPr>
          <a:xfrm>
            <a:off x="6460000" y="1620000"/>
            <a:ext cx="5172000" cy="620000"/>
          </a:xfrm>
          <a:prstGeom prst="roundRect">
            <a:avLst/>
          </a:prstGeom>
          <a:solidFill>
            <a:srgbClr val="F7D9E0"/>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350" b="1" dirty="0">
                <a:solidFill>
                  <a:srgbClr val="2E2E38"/>
                </a:solidFill>
                <a:latin typeface="Calibri"/>
              </a:rPr>
              <a:t>Self-harm</a:t>
            </a:r>
          </a:p>
        </p:txBody>
      </p:sp>
      <p:sp>
        <p:nvSpPr>
          <p:cNvPr id="17" name="ar"/>
          <p:cNvSpPr/>
          <p:nvPr/>
        </p:nvSpPr>
        <p:spPr>
          <a:xfrm>
            <a:off x="8926000.0" y="2250000"/>
            <a:ext cx="240000" cy="180000"/>
          </a:xfrm>
          <a:prstGeom prst="downArrow">
            <a:avLst/>
          </a:prstGeom>
          <a:solidFill>
            <a:srgbClr val="6E5AA6"/>
          </a:solidFill>
        </p:spPr>
        <p:txBody>
          <a:bodyPr/>
          <a:p/>
        </p:txBody>
      </p:sp>
      <p:sp>
        <p:nvSpPr>
          <p:cNvPr id="18" name="card"/>
          <p:cNvSpPr/>
          <p:nvPr/>
        </p:nvSpPr>
        <p:spPr>
          <a:xfrm>
            <a:off x="6460000" y="2440000"/>
            <a:ext cx="5172000" cy="620000"/>
          </a:xfrm>
          <a:prstGeom prst="roundRect">
            <a:avLst/>
          </a:prstGeom>
          <a:solidFill>
            <a:srgbClr val="FBE3D2"/>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350" b="1" dirty="0">
                <a:solidFill>
                  <a:srgbClr val="2E2E38"/>
                </a:solidFill>
                <a:latin typeface="Calibri"/>
              </a:rPr>
              <a:t>Repetition</a:t>
            </a:r>
          </a:p>
        </p:txBody>
      </p:sp>
      <p:sp>
        <p:nvSpPr>
          <p:cNvPr id="19" name="ar"/>
          <p:cNvSpPr/>
          <p:nvPr/>
        </p:nvSpPr>
        <p:spPr>
          <a:xfrm>
            <a:off x="8926000.0" y="3070000"/>
            <a:ext cx="240000" cy="180000"/>
          </a:xfrm>
          <a:prstGeom prst="downArrow">
            <a:avLst/>
          </a:prstGeom>
          <a:solidFill>
            <a:srgbClr val="6E5AA6"/>
          </a:solidFill>
        </p:spPr>
        <p:txBody>
          <a:bodyPr/>
          <a:p/>
        </p:txBody>
      </p:sp>
      <p:sp>
        <p:nvSpPr>
          <p:cNvPr id="20" name="card"/>
          <p:cNvSpPr/>
          <p:nvPr/>
        </p:nvSpPr>
        <p:spPr>
          <a:xfrm>
            <a:off x="6460000" y="3260000"/>
            <a:ext cx="5172000" cy="620000"/>
          </a:xfrm>
          <a:prstGeom prst="roundRect">
            <a:avLst/>
          </a:prstGeom>
          <a:solidFill>
            <a:srgbClr val="D6C7EE"/>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350" b="1" dirty="0">
                <a:solidFill>
                  <a:srgbClr val="2E2E38"/>
                </a:solidFill>
                <a:latin typeface="Calibri"/>
              </a:rPr>
              <a:t>Suicide risk</a:t>
            </a:r>
          </a:p>
        </p:txBody>
      </p:sp>
      <p:sp>
        <p:nvSpPr>
          <p:cNvPr id="21" name="ar"/>
          <p:cNvSpPr/>
          <p:nvPr/>
        </p:nvSpPr>
        <p:spPr>
          <a:xfrm>
            <a:off x="8926000.0" y="3890000"/>
            <a:ext cx="240000" cy="180000"/>
          </a:xfrm>
          <a:prstGeom prst="downArrow">
            <a:avLst/>
          </a:prstGeom>
          <a:solidFill>
            <a:srgbClr val="6E5AA6"/>
          </a:solidFill>
        </p:spPr>
        <p:txBody>
          <a:bodyPr/>
          <a:p/>
        </p:txBody>
      </p:sp>
      <p:sp>
        <p:nvSpPr>
          <p:cNvPr id="22" name="card"/>
          <p:cNvSpPr/>
          <p:nvPr/>
        </p:nvSpPr>
        <p:spPr>
          <a:xfrm>
            <a:off x="6460000" y="4080000"/>
            <a:ext cx="5172000" cy="620000"/>
          </a:xfrm>
          <a:prstGeom prst="roundRect">
            <a:avLst/>
          </a:prstGeom>
          <a:solidFill>
            <a:srgbClr val="D7E8F4"/>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350" b="1" dirty="0">
                <a:solidFill>
                  <a:srgbClr val="2E2E38"/>
                </a:solidFill>
                <a:latin typeface="Calibri"/>
              </a:rPr>
              <a:t>Treatment need</a:t>
            </a:r>
          </a:p>
        </p:txBody>
      </p:sp>
      <p:sp>
        <p:nvSpPr>
          <p:cNvPr id="23" name="ar"/>
          <p:cNvSpPr/>
          <p:nvPr/>
        </p:nvSpPr>
        <p:spPr>
          <a:xfrm>
            <a:off x="8926000.0" y="4710000"/>
            <a:ext cx="240000" cy="180000"/>
          </a:xfrm>
          <a:prstGeom prst="downArrow">
            <a:avLst/>
          </a:prstGeom>
          <a:solidFill>
            <a:srgbClr val="6E5AA6"/>
          </a:solidFill>
        </p:spPr>
        <p:txBody>
          <a:bodyPr/>
          <a:p/>
        </p:txBody>
      </p:sp>
      <p:sp>
        <p:nvSpPr>
          <p:cNvPr id="24" name="card"/>
          <p:cNvSpPr/>
          <p:nvPr/>
        </p:nvSpPr>
        <p:spPr>
          <a:xfrm>
            <a:off x="6460000" y="4900000"/>
            <a:ext cx="5172000" cy="620000"/>
          </a:xfrm>
          <a:prstGeom prst="roundRect">
            <a:avLst/>
          </a:prstGeom>
          <a:solidFill>
            <a:srgbClr val="D9E8D2"/>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350" b="1" dirty="0">
                <a:solidFill>
                  <a:srgbClr val="2E2E38"/>
                </a:solidFill>
                <a:latin typeface="Calibri"/>
              </a:rPr>
              <a:t>Evidence-based intervention</a:t>
            </a:r>
          </a:p>
        </p:txBody>
      </p:sp>
      <p:sp>
        <p:nvSpPr>
          <p:cNvPr id="25"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6"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28"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BACKGROUND</a:t>
            </a:r>
          </a:p>
        </p:txBody>
      </p:sp>
      <p:sp>
        <p:nvSpPr>
          <p:cNvPr id="29"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The Clinical Problem: Defining Self-Harm</a:t>
            </a:r>
          </a:p>
        </p:txBody>
      </p:sp>
      <p:cxnSp>
        <p:nvCxnSpPr>
          <p:cNvPr id="30" name="ln"/>
          <p:cNvCxnSpPr/>
          <p:nvPr/>
        </p:nvCxnSpPr>
        <p:spPr>
          <a:xfrm>
            <a:off x="560000" y="1320000"/>
            <a:ext cx="11072000" cy="0"/>
          </a:xfrm>
          <a:prstGeom prst="line">
            <a:avLst/>
          </a:prstGeom>
          <a:ln w="28575">
            <a:solidFill>
              <a:srgbClr val="D6C7EE"/>
            </a:solidFill>
          </a:ln>
        </p:spPr>
      </p:cxnSp>
      <p:sp>
        <p:nvSpPr>
          <p:cNvPr id="31" name="card"/>
          <p:cNvSpPr/>
          <p:nvPr/>
        </p:nvSpPr>
        <p:spPr>
          <a:xfrm>
            <a:off x="560000" y="1580000"/>
            <a:ext cx="5386000" cy="429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60"/>
              </a:spcAft>
              <a:buNone/>
            </a:pPr>
            <a:r>
              <a:rPr lang="en-US" sz="1600" b="1" dirty="0">
                <a:solidFill>
                  <a:srgbClr val="6E5AA6"/>
                </a:solidFill>
                <a:latin typeface="Calibri"/>
              </a:rPr>
              <a:t>What is self-harm?</a:t>
            </a:r>
          </a:p>
          <a:p>
            <a:pPr marL="342900" indent="-228600" lvl="0" algn="l">
              <a:spcAft>
                <a:spcPts val="300"/>
              </a:spcAft>
              <a:buFont typeface="Arial"/>
              <a:buChar char="•"/>
            </a:pPr>
            <a:r>
              <a:rPr lang="en-US" sz="1300" dirty="0">
                <a:solidFill>
                  <a:srgbClr val="2E2E38"/>
                </a:solidFill>
                <a:latin typeface="Calibri"/>
              </a:rPr>
              <a:t>Intentional self-poisoning or self-injury, irrespective of motive or suicidal intent.</a:t>
            </a:r>
          </a:p>
          <a:p>
            <a:pPr marL="342900" indent="-228600" lvl="0" algn="l">
              <a:spcAft>
                <a:spcPts val="300"/>
              </a:spcAft>
              <a:buFont typeface="Arial"/>
              <a:buChar char="•"/>
            </a:pPr>
            <a:r>
              <a:rPr lang="en-US" sz="1300" dirty="0">
                <a:solidFill>
                  <a:srgbClr val="2E2E38"/>
                </a:solidFill>
                <a:latin typeface="Calibri"/>
              </a:rPr>
              <a:t>Overlaps with, but is not identical to, suicidal behaviour — non-suicidal self-injury and suicidal self-injury can co-occur.</a:t>
            </a:r>
          </a:p>
          <a:p>
            <a:pPr marL="342900" indent="-228600" lvl="0" algn="l">
              <a:spcAft>
                <a:spcPts val="0"/>
              </a:spcAft>
              <a:buFont typeface="Arial"/>
              <a:buChar char="•"/>
            </a:pPr>
            <a:r>
              <a:rPr lang="en-US" sz="1300" dirty="0">
                <a:solidFill>
                  <a:srgbClr val="2E2E38"/>
                </a:solidFill>
                <a:latin typeface="Calibri"/>
              </a:rPr>
              <a:t>Serves emotional and interpersonal functions (affect relief, communication, self-punishment).</a:t>
            </a:r>
          </a:p>
        </p:txBody>
      </p:sp>
      <p:sp>
        <p:nvSpPr>
          <p:cNvPr id="32" name="card"/>
          <p:cNvSpPr/>
          <p:nvPr/>
        </p:nvSpPr>
        <p:spPr>
          <a:xfrm>
            <a:off x="6246000" y="1580000"/>
            <a:ext cx="5386000" cy="4298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60"/>
              </a:spcAft>
              <a:buNone/>
            </a:pPr>
            <a:r>
              <a:rPr lang="en-US" sz="1600" b="1" dirty="0">
                <a:solidFill>
                  <a:srgbClr val="6E5AA6"/>
                </a:solidFill>
                <a:latin typeface="Calibri"/>
              </a:rPr>
              <a:t>Common forms</a:t>
            </a:r>
          </a:p>
          <a:p>
            <a:pPr marL="342900" indent="-228600" lvl="0" algn="l">
              <a:spcAft>
                <a:spcPts val="240"/>
              </a:spcAft>
              <a:buFont typeface="Arial"/>
              <a:buChar char="•"/>
            </a:pPr>
            <a:r>
              <a:rPr lang="en-US" sz="1300" dirty="0">
                <a:solidFill>
                  <a:srgbClr val="2E2E38"/>
                </a:solidFill>
                <a:latin typeface="Calibri"/>
              </a:rPr>
              <a:t>Cutting</a:t>
            </a:r>
          </a:p>
          <a:p>
            <a:pPr marL="342900" indent="-228600" lvl="0" algn="l">
              <a:spcAft>
                <a:spcPts val="240"/>
              </a:spcAft>
              <a:buFont typeface="Arial"/>
              <a:buChar char="•"/>
            </a:pPr>
            <a:r>
              <a:rPr lang="en-US" sz="1300" dirty="0">
                <a:solidFill>
                  <a:srgbClr val="2E2E38"/>
                </a:solidFill>
                <a:latin typeface="Calibri"/>
              </a:rPr>
              <a:t>Burning</a:t>
            </a:r>
          </a:p>
          <a:p>
            <a:pPr marL="342900" indent="-228600" lvl="0" algn="l">
              <a:spcAft>
                <a:spcPts val="240"/>
              </a:spcAft>
              <a:buFont typeface="Arial"/>
              <a:buChar char="•"/>
            </a:pPr>
            <a:r>
              <a:rPr lang="en-US" sz="1300" dirty="0">
                <a:solidFill>
                  <a:srgbClr val="2E2E38"/>
                </a:solidFill>
                <a:latin typeface="Calibri"/>
              </a:rPr>
              <a:t>Hitting oneself</a:t>
            </a:r>
          </a:p>
          <a:p>
            <a:pPr marL="342900" indent="-228600" lvl="0" algn="l">
              <a:spcAft>
                <a:spcPts val="240"/>
              </a:spcAft>
              <a:buFont typeface="Arial"/>
              <a:buChar char="•"/>
            </a:pPr>
            <a:r>
              <a:rPr lang="en-US" sz="1300" dirty="0">
                <a:solidFill>
                  <a:srgbClr val="2E2E38"/>
                </a:solidFill>
                <a:latin typeface="Calibri"/>
              </a:rPr>
              <a:t>Scratching</a:t>
            </a:r>
          </a:p>
          <a:p>
            <a:pPr marL="342900" indent="-228600" lvl="0" algn="l">
              <a:spcAft>
                <a:spcPts val="240"/>
              </a:spcAft>
              <a:buFont typeface="Arial"/>
              <a:buChar char="•"/>
            </a:pPr>
            <a:r>
              <a:rPr lang="en-US" sz="1300" dirty="0">
                <a:solidFill>
                  <a:srgbClr val="2E2E38"/>
                </a:solidFill>
                <a:latin typeface="Calibri"/>
              </a:rPr>
              <a:t>Self-poisoning (overdose)</a:t>
            </a:r>
          </a:p>
          <a:p>
            <a:pPr marL="342900" indent="-228600" lvl="0" algn="l">
              <a:spcAft>
                <a:spcPts val="240"/>
              </a:spcAft>
              <a:buFont typeface="Arial"/>
              <a:buChar char="•"/>
            </a:pPr>
            <a:r>
              <a:rPr lang="en-US" sz="1300" dirty="0">
                <a:solidFill>
                  <a:srgbClr val="2E2E38"/>
                </a:solidFill>
                <a:latin typeface="Calibri"/>
              </a:rPr>
              <a:t>Interfering with wound healing</a:t>
            </a:r>
          </a:p>
        </p:txBody>
      </p:sp>
      <p:sp>
        <p:nvSpPr>
          <p:cNvPr id="33" name="card"/>
          <p:cNvSpPr/>
          <p:nvPr/>
        </p:nvSpPr>
        <p:spPr>
          <a:xfrm>
            <a:off x="560000" y="5998000"/>
            <a:ext cx="11072000" cy="620000"/>
          </a:xfrm>
          <a:prstGeom prst="roundRect">
            <a:avLst/>
          </a:prstGeom>
          <a:solidFill>
            <a:srgbClr val="FBE3D2"/>
          </a:solidFill>
          <a:ln w="12700">
            <a:solidFill>
              <a:srgbClr val="E0A96D"/>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50" b="1" dirty="0">
                <a:solidFill>
                  <a:srgbClr val="B5651D"/>
                </a:solidFill>
                <a:latin typeface="Calibri"/>
              </a:rPr>
              <a:t>⚠  Clinical caution:  </a:t>
            </a:r>
            <a:r>
              <a:rPr lang="en-US" sz="1300" dirty="0">
                <a:solidFill>
                  <a:srgbClr val="2E2E38"/>
                </a:solidFill>
                <a:latin typeface="Calibri"/>
              </a:rPr>
              <a:t>Every episode must be assessed for suicidal intent, lethality, frequency, triggers, functions and current safety.</a:t>
            </a:r>
          </a:p>
        </p:txBody>
      </p:sp>
      <p:sp>
        <p:nvSpPr>
          <p:cNvPr id="34"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35"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37"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WHY IT REPEATS</a:t>
            </a:r>
          </a:p>
        </p:txBody>
      </p:sp>
      <p:sp>
        <p:nvSpPr>
          <p:cNvPr id="38"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Self-Harm &amp; the Recurrence Cycle</a:t>
            </a:r>
          </a:p>
        </p:txBody>
      </p:sp>
      <p:cxnSp>
        <p:nvCxnSpPr>
          <p:cNvPr id="39" name="ln"/>
          <p:cNvCxnSpPr/>
          <p:nvPr/>
        </p:nvCxnSpPr>
        <p:spPr>
          <a:xfrm>
            <a:off x="560000" y="1320000"/>
            <a:ext cx="11072000" cy="0"/>
          </a:xfrm>
          <a:prstGeom prst="line">
            <a:avLst/>
          </a:prstGeom>
          <a:ln w="28575">
            <a:solidFill>
              <a:srgbClr val="D6C7EE"/>
            </a:solidFill>
          </a:ln>
        </p:spPr>
      </p:cxnSp>
      <p:sp>
        <p:nvSpPr>
          <p:cNvPr id="40" name="card"/>
          <p:cNvSpPr/>
          <p:nvPr/>
        </p:nvSpPr>
        <p:spPr>
          <a:xfrm>
            <a:off x="560000" y="1580000"/>
            <a:ext cx="4400000" cy="465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t" lIns="91440" tIns="45720" rIns="91440" bIns="45720">
            <a:normAutofit/>
          </a:bodyPr>
          <a:p>
            <a:pPr lvl="0" algn="l">
              <a:spcAft>
                <a:spcPts val="260"/>
              </a:spcAft>
              <a:buNone/>
            </a:pPr>
            <a:r>
              <a:rPr lang="en-US" sz="1500" b="1" dirty="0">
                <a:solidFill>
                  <a:srgbClr val="6E5AA6"/>
                </a:solidFill>
                <a:latin typeface="Calibri"/>
              </a:rPr>
              <a:t>Common triggers</a:t>
            </a:r>
          </a:p>
          <a:p>
            <a:pPr marL="342900" indent="-228600" lvl="0" algn="l">
              <a:spcAft>
                <a:spcPts val="180"/>
              </a:spcAft>
              <a:buFont typeface="Arial"/>
              <a:buChar char="•"/>
            </a:pPr>
            <a:r>
              <a:rPr lang="en-US" sz="1200" dirty="0">
                <a:solidFill>
                  <a:srgbClr val="2E2E38"/>
                </a:solidFill>
                <a:latin typeface="Calibri"/>
              </a:rPr>
              <a:t>Interpersonal conflict / rejection</a:t>
            </a:r>
          </a:p>
          <a:p>
            <a:pPr marL="342900" indent="-228600" lvl="0" algn="l">
              <a:spcAft>
                <a:spcPts val="180"/>
              </a:spcAft>
              <a:buFont typeface="Arial"/>
              <a:buChar char="•"/>
            </a:pPr>
            <a:r>
              <a:rPr lang="en-US" sz="1200" dirty="0">
                <a:solidFill>
                  <a:srgbClr val="2E2E38"/>
                </a:solidFill>
                <a:latin typeface="Calibri"/>
              </a:rPr>
              <a:t>Abandonment fears</a:t>
            </a:r>
          </a:p>
          <a:p>
            <a:pPr marL="342900" indent="-228600" lvl="0" algn="l">
              <a:spcAft>
                <a:spcPts val="180"/>
              </a:spcAft>
              <a:buFont typeface="Arial"/>
              <a:buChar char="•"/>
            </a:pPr>
            <a:r>
              <a:rPr lang="en-US" sz="1200" dirty="0">
                <a:solidFill>
                  <a:srgbClr val="2E2E38"/>
                </a:solidFill>
                <a:latin typeface="Calibri"/>
              </a:rPr>
              <a:t>Shame &amp; emotional overwhelm</a:t>
            </a:r>
          </a:p>
          <a:p>
            <a:pPr marL="342900" indent="-228600" lvl="0" algn="l">
              <a:spcAft>
                <a:spcPts val="180"/>
              </a:spcAft>
              <a:buFont typeface="Arial"/>
              <a:buChar char="•"/>
            </a:pPr>
            <a:r>
              <a:rPr lang="en-US" sz="1200" dirty="0">
                <a:solidFill>
                  <a:srgbClr val="2E2E38"/>
                </a:solidFill>
                <a:latin typeface="Calibri"/>
              </a:rPr>
              <a:t>Dissociation, trauma reminders</a:t>
            </a:r>
          </a:p>
          <a:p>
            <a:pPr lvl="0" algn="l">
              <a:spcAft>
                <a:spcPts val="260"/>
              </a:spcAft>
              <a:buNone/>
            </a:pPr>
            <a:r>
              <a:rPr lang="en-US" sz="1500" b="1" dirty="0">
                <a:solidFill>
                  <a:srgbClr val="6E5AA6"/>
                </a:solidFill>
                <a:latin typeface="Calibri"/>
              </a:rPr>
              <a:t>Maintaining factors</a:t>
            </a:r>
          </a:p>
          <a:p>
            <a:pPr marL="342900" indent="-228600" lvl="0" algn="l">
              <a:spcAft>
                <a:spcPts val="180"/>
              </a:spcAft>
              <a:buFont typeface="Arial"/>
              <a:buChar char="•"/>
            </a:pPr>
            <a:r>
              <a:rPr lang="en-US" sz="1200" dirty="0">
                <a:solidFill>
                  <a:srgbClr val="2E2E38"/>
                </a:solidFill>
                <a:latin typeface="Calibri"/>
              </a:rPr>
              <a:t>Temporary emotional relief</a:t>
            </a:r>
          </a:p>
          <a:p>
            <a:pPr marL="342900" indent="-228600" lvl="0" algn="l">
              <a:spcAft>
                <a:spcPts val="180"/>
              </a:spcAft>
              <a:buFont typeface="Arial"/>
              <a:buChar char="•"/>
            </a:pPr>
            <a:r>
              <a:rPr lang="en-US" sz="1200" dirty="0">
                <a:solidFill>
                  <a:srgbClr val="2E2E38"/>
                </a:solidFill>
                <a:latin typeface="Calibri"/>
              </a:rPr>
              <a:t>Difficulty identifying emotions</a:t>
            </a:r>
          </a:p>
          <a:p>
            <a:pPr marL="342900" indent="-228600" lvl="0" algn="l">
              <a:spcAft>
                <a:spcPts val="180"/>
              </a:spcAft>
              <a:buFont typeface="Arial"/>
              <a:buChar char="•"/>
            </a:pPr>
            <a:r>
              <a:rPr lang="en-US" sz="1200" dirty="0">
                <a:solidFill>
                  <a:srgbClr val="2E2E38"/>
                </a:solidFill>
                <a:latin typeface="Calibri"/>
              </a:rPr>
              <a:t>Poor impulse control</a:t>
            </a:r>
          </a:p>
          <a:p>
            <a:pPr marL="342900" indent="-228600" lvl="0" algn="l">
              <a:spcAft>
                <a:spcPts val="180"/>
              </a:spcAft>
              <a:buFont typeface="Arial"/>
              <a:buChar char="•"/>
            </a:pPr>
            <a:r>
              <a:rPr lang="en-US" sz="1200" dirty="0">
                <a:solidFill>
                  <a:srgbClr val="2E2E38"/>
                </a:solidFill>
                <a:latin typeface="Calibri"/>
              </a:rPr>
              <a:t>Interpersonal reinforcement</a:t>
            </a:r>
          </a:p>
        </p:txBody>
      </p:sp>
      <p:sp>
        <p:nvSpPr>
          <p:cNvPr id="41" name="card"/>
          <p:cNvSpPr/>
          <p:nvPr/>
        </p:nvSpPr>
        <p:spPr>
          <a:xfrm>
            <a:off x="5260000" y="1580000"/>
            <a:ext cx="6372000" cy="460000"/>
          </a:xfrm>
          <a:prstGeom prst="roundRect">
            <a:avLst/>
          </a:prstGeom>
          <a:solidFill>
            <a:srgbClr val="F7D9E0"/>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Trigger</a:t>
            </a:r>
          </a:p>
        </p:txBody>
      </p:sp>
      <p:sp>
        <p:nvSpPr>
          <p:cNvPr id="42" name="ar"/>
          <p:cNvSpPr/>
          <p:nvPr/>
        </p:nvSpPr>
        <p:spPr>
          <a:xfrm>
            <a:off x="8346000.0" y="2042000"/>
            <a:ext cx="200000" cy="112000"/>
          </a:xfrm>
          <a:prstGeom prst="downArrow">
            <a:avLst/>
          </a:prstGeom>
          <a:solidFill>
            <a:srgbClr val="6E5AA6"/>
          </a:solidFill>
        </p:spPr>
        <p:txBody>
          <a:bodyPr/>
          <a:p/>
        </p:txBody>
      </p:sp>
      <p:sp>
        <p:nvSpPr>
          <p:cNvPr id="43" name="card"/>
          <p:cNvSpPr/>
          <p:nvPr/>
        </p:nvSpPr>
        <p:spPr>
          <a:xfrm>
            <a:off x="5260000" y="2160000"/>
            <a:ext cx="6372000" cy="460000"/>
          </a:xfrm>
          <a:prstGeom prst="roundRect">
            <a:avLst/>
          </a:prstGeom>
          <a:solidFill>
            <a:srgbClr val="FBE3D2"/>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Emotional arousal</a:t>
            </a:r>
          </a:p>
        </p:txBody>
      </p:sp>
      <p:sp>
        <p:nvSpPr>
          <p:cNvPr id="44" name="ar"/>
          <p:cNvSpPr/>
          <p:nvPr/>
        </p:nvSpPr>
        <p:spPr>
          <a:xfrm>
            <a:off x="8346000.0" y="2622000"/>
            <a:ext cx="200000" cy="112000"/>
          </a:xfrm>
          <a:prstGeom prst="downArrow">
            <a:avLst/>
          </a:prstGeom>
          <a:solidFill>
            <a:srgbClr val="6E5AA6"/>
          </a:solidFill>
        </p:spPr>
        <p:txBody>
          <a:bodyPr/>
          <a:p/>
        </p:txBody>
      </p:sp>
      <p:sp>
        <p:nvSpPr>
          <p:cNvPr id="45" name="card"/>
          <p:cNvSpPr/>
          <p:nvPr/>
        </p:nvSpPr>
        <p:spPr>
          <a:xfrm>
            <a:off x="5260000" y="2740000"/>
            <a:ext cx="6372000" cy="460000"/>
          </a:xfrm>
          <a:prstGeom prst="roundRect">
            <a:avLst/>
          </a:prstGeom>
          <a:solidFill>
            <a:srgbClr val="D6C7EE"/>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Reduced mentalization</a:t>
            </a:r>
          </a:p>
        </p:txBody>
      </p:sp>
      <p:sp>
        <p:nvSpPr>
          <p:cNvPr id="46" name="ar"/>
          <p:cNvSpPr/>
          <p:nvPr/>
        </p:nvSpPr>
        <p:spPr>
          <a:xfrm>
            <a:off x="8346000.0" y="3202000"/>
            <a:ext cx="200000" cy="112000"/>
          </a:xfrm>
          <a:prstGeom prst="downArrow">
            <a:avLst/>
          </a:prstGeom>
          <a:solidFill>
            <a:srgbClr val="6E5AA6"/>
          </a:solidFill>
        </p:spPr>
        <p:txBody>
          <a:bodyPr/>
          <a:p/>
        </p:txBody>
      </p:sp>
      <p:sp>
        <p:nvSpPr>
          <p:cNvPr id="47" name="card"/>
          <p:cNvSpPr/>
          <p:nvPr/>
        </p:nvSpPr>
        <p:spPr>
          <a:xfrm>
            <a:off x="5260000" y="3320000"/>
            <a:ext cx="6372000" cy="460000"/>
          </a:xfrm>
          <a:prstGeom prst="roundRect">
            <a:avLst/>
          </a:prstGeom>
          <a:solidFill>
            <a:srgbClr val="D7E8F4"/>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Self-harm urge → act</a:t>
            </a:r>
          </a:p>
        </p:txBody>
      </p:sp>
      <p:sp>
        <p:nvSpPr>
          <p:cNvPr id="48" name="ar"/>
          <p:cNvSpPr/>
          <p:nvPr/>
        </p:nvSpPr>
        <p:spPr>
          <a:xfrm>
            <a:off x="8346000.0" y="3782000"/>
            <a:ext cx="200000" cy="112000"/>
          </a:xfrm>
          <a:prstGeom prst="downArrow">
            <a:avLst/>
          </a:prstGeom>
          <a:solidFill>
            <a:srgbClr val="6E5AA6"/>
          </a:solidFill>
        </p:spPr>
        <p:txBody>
          <a:bodyPr/>
          <a:p/>
        </p:txBody>
      </p:sp>
      <p:sp>
        <p:nvSpPr>
          <p:cNvPr id="49" name="card"/>
          <p:cNvSpPr/>
          <p:nvPr/>
        </p:nvSpPr>
        <p:spPr>
          <a:xfrm>
            <a:off x="5260000" y="3900000"/>
            <a:ext cx="6372000" cy="460000"/>
          </a:xfrm>
          <a:prstGeom prst="roundRect">
            <a:avLst/>
          </a:prstGeom>
          <a:solidFill>
            <a:srgbClr val="D5EFE6"/>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Temporary relief</a:t>
            </a:r>
          </a:p>
        </p:txBody>
      </p:sp>
      <p:sp>
        <p:nvSpPr>
          <p:cNvPr id="50" name="ar"/>
          <p:cNvSpPr/>
          <p:nvPr/>
        </p:nvSpPr>
        <p:spPr>
          <a:xfrm>
            <a:off x="8346000.0" y="4362000"/>
            <a:ext cx="200000" cy="112000"/>
          </a:xfrm>
          <a:prstGeom prst="downArrow">
            <a:avLst/>
          </a:prstGeom>
          <a:solidFill>
            <a:srgbClr val="6E5AA6"/>
          </a:solidFill>
        </p:spPr>
        <p:txBody>
          <a:bodyPr/>
          <a:p/>
        </p:txBody>
      </p:sp>
      <p:sp>
        <p:nvSpPr>
          <p:cNvPr id="51" name="card"/>
          <p:cNvSpPr/>
          <p:nvPr/>
        </p:nvSpPr>
        <p:spPr>
          <a:xfrm>
            <a:off x="5260000" y="4480000"/>
            <a:ext cx="6372000" cy="460000"/>
          </a:xfrm>
          <a:prstGeom prst="roundRect">
            <a:avLst/>
          </a:prstGeom>
          <a:solidFill>
            <a:srgbClr val="F7D9E0"/>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Shame / distress → repeat</a:t>
            </a:r>
          </a:p>
        </p:txBody>
      </p:sp>
      <p:sp>
        <p:nvSpPr>
          <p:cNvPr id="52"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53"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4</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55"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RATIONALE</a:t>
            </a:r>
          </a:p>
        </p:txBody>
      </p:sp>
      <p:sp>
        <p:nvSpPr>
          <p:cNvPr id="56"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The Existing Treatment Gap</a:t>
            </a:r>
          </a:p>
        </p:txBody>
      </p:sp>
      <p:cxnSp>
        <p:nvCxnSpPr>
          <p:cNvPr id="57" name="ln"/>
          <p:cNvCxnSpPr/>
          <p:nvPr/>
        </p:nvCxnSpPr>
        <p:spPr>
          <a:xfrm>
            <a:off x="560000" y="1320000"/>
            <a:ext cx="11072000" cy="0"/>
          </a:xfrm>
          <a:prstGeom prst="line">
            <a:avLst/>
          </a:prstGeom>
          <a:ln w="28575">
            <a:solidFill>
              <a:srgbClr val="D6C7EE"/>
            </a:solidFill>
          </a:ln>
        </p:spPr>
      </p:cxnSp>
      <p:sp>
        <p:nvSpPr>
          <p:cNvPr id="58" name="card"/>
          <p:cNvSpPr/>
          <p:nvPr/>
        </p:nvSpPr>
        <p:spPr>
          <a:xfrm>
            <a:off x="560000" y="1580000"/>
            <a:ext cx="11072000" cy="4778000"/>
          </a:xfrm>
          <a:prstGeom prst="roundRect">
            <a:avLst/>
          </a:prstGeom>
          <a:solidFill>
            <a:srgbClr val="EEF0F2"/>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600" b="1" dirty="0">
                <a:solidFill>
                  <a:srgbClr val="6E5AA6"/>
                </a:solidFill>
                <a:latin typeface="Calibri"/>
              </a:rPr>
              <a:t>Access &amp; delivery</a:t>
            </a:r>
          </a:p>
          <a:p>
            <a:pPr marL="342900" indent="-228600" lvl="0" algn="l">
              <a:spcAft>
                <a:spcPts val="280"/>
              </a:spcAft>
              <a:buFont typeface="Arial"/>
              <a:buChar char="•"/>
            </a:pPr>
            <a:r>
              <a:rPr lang="en-US" sz="1350" dirty="0">
                <a:solidFill>
                  <a:srgbClr val="2E2E38"/>
                </a:solidFill>
                <a:latin typeface="Calibri"/>
              </a:rPr>
              <a:t>Specialist psychological therapies are scarce; treatment response is variable and dropout is high.</a:t>
            </a:r>
          </a:p>
          <a:p>
            <a:pPr marL="342900" indent="-228600" lvl="0" algn="l">
              <a:spcAft>
                <a:spcPts val="280"/>
              </a:spcAft>
              <a:buFont typeface="Arial"/>
              <a:buChar char="•"/>
            </a:pPr>
            <a:r>
              <a:rPr lang="en-US" sz="1350" dirty="0">
                <a:solidFill>
                  <a:srgbClr val="2E2E38"/>
                </a:solidFill>
                <a:latin typeface="Calibri"/>
              </a:rPr>
              <a:t>Individuals with severe emotional dysregulation are hard to engage and retain.</a:t>
            </a:r>
          </a:p>
          <a:p>
            <a:pPr lvl="0" algn="l">
              <a:spcAft>
                <a:spcPts val="300"/>
              </a:spcAft>
              <a:buNone/>
            </a:pPr>
            <a:r>
              <a:rPr lang="en-US" sz="1600" b="1" dirty="0">
                <a:solidFill>
                  <a:srgbClr val="6E5AA6"/>
                </a:solidFill>
                <a:latin typeface="Calibri"/>
              </a:rPr>
              <a:t>Evidence base</a:t>
            </a:r>
          </a:p>
          <a:p>
            <a:pPr marL="342900" indent="-228600" lvl="0" algn="l">
              <a:spcAft>
                <a:spcPts val="280"/>
              </a:spcAft>
              <a:buFont typeface="Arial"/>
              <a:buChar char="•"/>
            </a:pPr>
            <a:r>
              <a:rPr lang="en-US" sz="1350" dirty="0">
                <a:solidFill>
                  <a:srgbClr val="2E2E38"/>
                </a:solidFill>
                <a:latin typeface="Calibri"/>
              </a:rPr>
              <a:t>Inconsistent findings across studies, heterogeneous protocols, and limited long-term follow-up.</a:t>
            </a:r>
          </a:p>
          <a:p>
            <a:pPr marL="342900" indent="-228600" lvl="0" algn="l">
              <a:spcAft>
                <a:spcPts val="0"/>
              </a:spcAft>
              <a:buFont typeface="Arial"/>
              <a:buChar char="•"/>
            </a:pPr>
            <a:r>
              <a:rPr lang="en-US" sz="1350" dirty="0">
                <a:solidFill>
                  <a:srgbClr val="2E2E38"/>
                </a:solidFill>
                <a:latin typeface="Calibri"/>
              </a:rPr>
              <a:t>Unclear which patients benefit most, and limited pooled evidence on self-harm frequency, suicidal behaviour, BPD symptoms and general functioning.</a:t>
            </a:r>
          </a:p>
        </p:txBody>
      </p:sp>
      <p:sp>
        <p:nvSpPr>
          <p:cNvPr id="59"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60"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5</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62"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THEORETICAL RATIONALE</a:t>
            </a:r>
          </a:p>
        </p:txBody>
      </p:sp>
      <p:sp>
        <p:nvSpPr>
          <p:cNvPr id="63"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Why Mentalization-Based Therapy?</a:t>
            </a:r>
          </a:p>
        </p:txBody>
      </p:sp>
      <p:cxnSp>
        <p:nvCxnSpPr>
          <p:cNvPr id="64" name="ln"/>
          <p:cNvCxnSpPr/>
          <p:nvPr/>
        </p:nvCxnSpPr>
        <p:spPr>
          <a:xfrm>
            <a:off x="560000" y="1320000"/>
            <a:ext cx="11072000" cy="0"/>
          </a:xfrm>
          <a:prstGeom prst="line">
            <a:avLst/>
          </a:prstGeom>
          <a:ln w="28575">
            <a:solidFill>
              <a:srgbClr val="D6C7EE"/>
            </a:solidFill>
          </a:ln>
        </p:spPr>
      </p:cxnSp>
      <p:sp>
        <p:nvSpPr>
          <p:cNvPr id="65" name="card"/>
          <p:cNvSpPr/>
          <p:nvPr/>
        </p:nvSpPr>
        <p:spPr>
          <a:xfrm>
            <a:off x="560000" y="1580000"/>
            <a:ext cx="11072000" cy="780000"/>
          </a:xfrm>
          <a:prstGeom prst="roundRect">
            <a:avLst/>
          </a:prstGeom>
          <a:solidFill>
            <a:srgbClr val="E7E0F7"/>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400" b="1" dirty="0">
                <a:solidFill>
                  <a:srgbClr val="6E5AA6"/>
                </a:solidFill>
                <a:latin typeface="Calibri"/>
              </a:rPr>
              <a:t>Mentalization = </a:t>
            </a:r>
            <a:r>
              <a:rPr lang="en-US" sz="1350" dirty="0">
                <a:solidFill>
                  <a:srgbClr val="2E2E38"/>
                </a:solidFill>
                <a:latin typeface="Calibri"/>
              </a:rPr>
              <a:t>the capacity to understand oneself and others in terms of intentional mental states — thoughts, feelings, wishes, beliefs and intentions.</a:t>
            </a:r>
          </a:p>
        </p:txBody>
      </p:sp>
      <p:sp>
        <p:nvSpPr>
          <p:cNvPr id="66" name="card"/>
          <p:cNvSpPr/>
          <p:nvPr/>
        </p:nvSpPr>
        <p:spPr>
          <a:xfrm>
            <a:off x="416000" y="2500000"/>
            <a:ext cx="2000000" cy="780000"/>
          </a:xfrm>
          <a:prstGeom prst="roundRect">
            <a:avLst/>
          </a:prstGeom>
          <a:solidFill>
            <a:srgbClr val="F7D9E0"/>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Attachment threat</a:t>
            </a:r>
          </a:p>
        </p:txBody>
      </p:sp>
      <p:sp>
        <p:nvSpPr>
          <p:cNvPr id="67" name="ar"/>
          <p:cNvSpPr/>
          <p:nvPr/>
        </p:nvSpPr>
        <p:spPr>
          <a:xfrm>
            <a:off x="2456000" y="2800000.0"/>
            <a:ext cx="260000" cy="180000"/>
          </a:xfrm>
          <a:prstGeom prst="rightArrow">
            <a:avLst/>
          </a:prstGeom>
          <a:solidFill>
            <a:srgbClr val="6E5AA6"/>
          </a:solidFill>
        </p:spPr>
        <p:txBody>
          <a:bodyPr/>
          <a:p/>
        </p:txBody>
      </p:sp>
      <p:sp>
        <p:nvSpPr>
          <p:cNvPr id="68" name="card"/>
          <p:cNvSpPr/>
          <p:nvPr/>
        </p:nvSpPr>
        <p:spPr>
          <a:xfrm>
            <a:off x="2756000" y="2500000"/>
            <a:ext cx="2000000" cy="780000"/>
          </a:xfrm>
          <a:prstGeom prst="roundRect">
            <a:avLst/>
          </a:prstGeom>
          <a:solidFill>
            <a:srgbClr val="FBE3D2"/>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Mentalization failure</a:t>
            </a:r>
          </a:p>
        </p:txBody>
      </p:sp>
      <p:sp>
        <p:nvSpPr>
          <p:cNvPr id="69" name="ar"/>
          <p:cNvSpPr/>
          <p:nvPr/>
        </p:nvSpPr>
        <p:spPr>
          <a:xfrm>
            <a:off x="4796000" y="2800000.0"/>
            <a:ext cx="260000" cy="180000"/>
          </a:xfrm>
          <a:prstGeom prst="rightArrow">
            <a:avLst/>
          </a:prstGeom>
          <a:solidFill>
            <a:srgbClr val="6E5AA6"/>
          </a:solidFill>
        </p:spPr>
        <p:txBody>
          <a:bodyPr/>
          <a:p/>
        </p:txBody>
      </p:sp>
      <p:sp>
        <p:nvSpPr>
          <p:cNvPr id="70" name="card"/>
          <p:cNvSpPr/>
          <p:nvPr/>
        </p:nvSpPr>
        <p:spPr>
          <a:xfrm>
            <a:off x="5096000" y="2500000"/>
            <a:ext cx="2000000" cy="780000"/>
          </a:xfrm>
          <a:prstGeom prst="roundRect">
            <a:avLst/>
          </a:prstGeom>
          <a:solidFill>
            <a:srgbClr val="D6C7EE"/>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Misreading self/others</a:t>
            </a:r>
          </a:p>
        </p:txBody>
      </p:sp>
      <p:sp>
        <p:nvSpPr>
          <p:cNvPr id="71" name="ar"/>
          <p:cNvSpPr/>
          <p:nvPr/>
        </p:nvSpPr>
        <p:spPr>
          <a:xfrm>
            <a:off x="7136000" y="2800000.0"/>
            <a:ext cx="260000" cy="180000"/>
          </a:xfrm>
          <a:prstGeom prst="rightArrow">
            <a:avLst/>
          </a:prstGeom>
          <a:solidFill>
            <a:srgbClr val="6E5AA6"/>
          </a:solidFill>
        </p:spPr>
        <p:txBody>
          <a:bodyPr/>
          <a:p/>
        </p:txBody>
      </p:sp>
      <p:sp>
        <p:nvSpPr>
          <p:cNvPr id="72" name="card"/>
          <p:cNvSpPr/>
          <p:nvPr/>
        </p:nvSpPr>
        <p:spPr>
          <a:xfrm>
            <a:off x="7436000" y="2500000"/>
            <a:ext cx="2000000" cy="780000"/>
          </a:xfrm>
          <a:prstGeom prst="roundRect">
            <a:avLst/>
          </a:prstGeom>
          <a:solidFill>
            <a:srgbClr val="D7E8F4"/>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Emotional dysregulation</a:t>
            </a:r>
          </a:p>
        </p:txBody>
      </p:sp>
      <p:sp>
        <p:nvSpPr>
          <p:cNvPr id="73" name="ar"/>
          <p:cNvSpPr/>
          <p:nvPr/>
        </p:nvSpPr>
        <p:spPr>
          <a:xfrm>
            <a:off x="9476000" y="2800000.0"/>
            <a:ext cx="260000" cy="180000"/>
          </a:xfrm>
          <a:prstGeom prst="rightArrow">
            <a:avLst/>
          </a:prstGeom>
          <a:solidFill>
            <a:srgbClr val="6E5AA6"/>
          </a:solidFill>
        </p:spPr>
        <p:txBody>
          <a:bodyPr/>
          <a:p/>
        </p:txBody>
      </p:sp>
      <p:sp>
        <p:nvSpPr>
          <p:cNvPr id="74" name="card"/>
          <p:cNvSpPr/>
          <p:nvPr/>
        </p:nvSpPr>
        <p:spPr>
          <a:xfrm>
            <a:off x="9776000" y="2500000"/>
            <a:ext cx="2000000" cy="780000"/>
          </a:xfrm>
          <a:prstGeom prst="roundRect">
            <a:avLst/>
          </a:prstGeom>
          <a:solidFill>
            <a:srgbClr val="F7D9E0"/>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Self-harm</a:t>
            </a:r>
          </a:p>
        </p:txBody>
      </p:sp>
      <p:sp>
        <p:nvSpPr>
          <p:cNvPr id="75" name="card"/>
          <p:cNvSpPr/>
          <p:nvPr/>
        </p:nvSpPr>
        <p:spPr>
          <a:xfrm>
            <a:off x="560000" y="3500000"/>
            <a:ext cx="11072000" cy="2798000"/>
          </a:xfrm>
          <a:prstGeom prst="roundRect">
            <a:avLst/>
          </a:prstGeom>
          <a:solidFill>
            <a:srgbClr val="D5EFE6"/>
          </a:solidFill>
          <a:ln w="12700">
            <a:solidFill>
              <a:srgbClr val="D9E8D2"/>
            </a:solidFill>
          </a:ln>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450" b="1" dirty="0">
                <a:solidFill>
                  <a:srgbClr val="6E5AA6"/>
                </a:solidFill>
                <a:latin typeface="Calibri"/>
              </a:rPr>
              <a:t>MBT aims to:</a:t>
            </a:r>
          </a:p>
          <a:p>
            <a:pPr lvl="0" algn="l">
              <a:spcAft>
                <a:spcPts val="180"/>
              </a:spcAft>
              <a:buNone/>
            </a:pPr>
            <a:r>
              <a:rPr lang="en-US" sz="1250" dirty="0">
                <a:solidFill>
                  <a:srgbClr val="2E2E38"/>
                </a:solidFill>
                <a:latin typeface="Calibri"/>
              </a:rPr>
              <a:t>• improve understanding of mental states   • increase emotional awareness   • reduce certainty about negative interpretations</a:t>
            </a:r>
          </a:p>
          <a:p>
            <a:pPr lvl="0" algn="l">
              <a:spcAft>
                <a:spcPts val="0"/>
              </a:spcAft>
              <a:buNone/>
            </a:pPr>
            <a:r>
              <a:rPr lang="en-US" sz="1250" dirty="0">
                <a:solidFill>
                  <a:srgbClr val="2E2E38"/>
                </a:solidFill>
                <a:latin typeface="Calibri"/>
              </a:rPr>
              <a:t>• strengthen affect regulation   • improve interpersonal functioning   • reduce impulsive, self-destructive behaviour</a:t>
            </a:r>
          </a:p>
        </p:txBody>
      </p:sp>
      <p:sp>
        <p:nvSpPr>
          <p:cNvPr id="76"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77"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6</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79"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BACKGROUND</a:t>
            </a:r>
          </a:p>
        </p:txBody>
      </p:sp>
      <p:sp>
        <p:nvSpPr>
          <p:cNvPr id="80"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Introduction: Key Concepts</a:t>
            </a:r>
          </a:p>
        </p:txBody>
      </p:sp>
      <p:cxnSp>
        <p:nvCxnSpPr>
          <p:cNvPr id="81" name="ln"/>
          <p:cNvCxnSpPr/>
          <p:nvPr/>
        </p:nvCxnSpPr>
        <p:spPr>
          <a:xfrm>
            <a:off x="560000" y="1320000"/>
            <a:ext cx="11072000" cy="0"/>
          </a:xfrm>
          <a:prstGeom prst="line">
            <a:avLst/>
          </a:prstGeom>
          <a:ln w="28575">
            <a:solidFill>
              <a:srgbClr val="D6C7EE"/>
            </a:solidFill>
          </a:ln>
        </p:spPr>
      </p:cxnSp>
      <p:sp>
        <p:nvSpPr>
          <p:cNvPr id="82" name="card"/>
          <p:cNvSpPr/>
          <p:nvPr/>
        </p:nvSpPr>
        <p:spPr>
          <a:xfrm>
            <a:off x="560000" y="1580000"/>
            <a:ext cx="3517333" cy="465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500" b="1" dirty="0">
                <a:solidFill>
                  <a:srgbClr val="6E5AA6"/>
                </a:solidFill>
                <a:latin typeface="Calibri"/>
              </a:rPr>
              <a:t>Self-harm</a:t>
            </a:r>
          </a:p>
          <a:p>
            <a:pPr marL="342900" indent="-228600" lvl="0" algn="l">
              <a:spcAft>
                <a:spcPts val="0"/>
              </a:spcAft>
              <a:buFont typeface="Arial"/>
              <a:buChar char="•"/>
            </a:pPr>
            <a:r>
              <a:rPr lang="en-US" sz="1200" dirty="0">
                <a:solidFill>
                  <a:srgbClr val="2E2E38"/>
                </a:solidFill>
                <a:latin typeface="Calibri"/>
              </a:rPr>
              <a:t>Intentional self-injury/poisoning; multiple forms &amp; functions; a strong predictor of later suicide.</a:t>
            </a:r>
          </a:p>
        </p:txBody>
      </p:sp>
      <p:sp>
        <p:nvSpPr>
          <p:cNvPr id="83" name="card"/>
          <p:cNvSpPr/>
          <p:nvPr/>
        </p:nvSpPr>
        <p:spPr>
          <a:xfrm>
            <a:off x="4337333" y="1580000"/>
            <a:ext cx="3517333" cy="4658000"/>
          </a:xfrm>
          <a:prstGeom prst="roundRect">
            <a:avLst/>
          </a:prstGeom>
          <a:solidFill>
            <a:srgbClr val="E7E0F7"/>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500" b="1" dirty="0">
                <a:solidFill>
                  <a:srgbClr val="6E5AA6"/>
                </a:solidFill>
                <a:latin typeface="Calibri"/>
              </a:rPr>
              <a:t>Mentalization</a:t>
            </a:r>
          </a:p>
          <a:p>
            <a:pPr marL="342900" indent="-228600" lvl="0" algn="l">
              <a:spcAft>
                <a:spcPts val="0"/>
              </a:spcAft>
              <a:buFont typeface="Arial"/>
              <a:buChar char="•"/>
            </a:pPr>
            <a:r>
              <a:rPr lang="en-US" sz="1200" dirty="0">
                <a:solidFill>
                  <a:srgbClr val="2E2E38"/>
                </a:solidFill>
                <a:latin typeface="Calibri"/>
              </a:rPr>
              <a:t>Understanding behaviour via mental states; develops in secure attachment; fails under emotional arousal.</a:t>
            </a:r>
          </a:p>
        </p:txBody>
      </p:sp>
      <p:sp>
        <p:nvSpPr>
          <p:cNvPr id="84" name="card"/>
          <p:cNvSpPr/>
          <p:nvPr/>
        </p:nvSpPr>
        <p:spPr>
          <a:xfrm>
            <a:off x="8114666" y="1580000"/>
            <a:ext cx="3517333" cy="4658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500" b="1" dirty="0">
                <a:solidFill>
                  <a:srgbClr val="6E5AA6"/>
                </a:solidFill>
                <a:latin typeface="Calibri"/>
              </a:rPr>
              <a:t>MBT</a:t>
            </a:r>
          </a:p>
          <a:p>
            <a:pPr marL="342900" indent="-228600" lvl="0" algn="l">
              <a:spcAft>
                <a:spcPts val="0"/>
              </a:spcAft>
              <a:buFont typeface="Arial"/>
              <a:buChar char="•"/>
            </a:pPr>
            <a:r>
              <a:rPr lang="en-US" sz="1200" dirty="0">
                <a:solidFill>
                  <a:srgbClr val="2E2E38"/>
                </a:solidFill>
                <a:latin typeface="Calibri"/>
              </a:rPr>
              <a:t>Structured psychotherapy (Bateman &amp; Fonagy). Curious, not-knowing stance; focus on current affect &amp; interpersonal experience.</a:t>
            </a:r>
          </a:p>
        </p:txBody>
      </p:sp>
      <p:sp>
        <p:nvSpPr>
          <p:cNvPr id="85"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86"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7</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88"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MECHANISTIC PATHWAY</a:t>
            </a:r>
          </a:p>
        </p:txBody>
      </p:sp>
      <p:sp>
        <p:nvSpPr>
          <p:cNvPr id="89"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Conceptual Framework</a:t>
            </a:r>
          </a:p>
        </p:txBody>
      </p:sp>
      <p:cxnSp>
        <p:nvCxnSpPr>
          <p:cNvPr id="90" name="ln"/>
          <p:cNvCxnSpPr/>
          <p:nvPr/>
        </p:nvCxnSpPr>
        <p:spPr>
          <a:xfrm>
            <a:off x="560000" y="1320000"/>
            <a:ext cx="11072000" cy="0"/>
          </a:xfrm>
          <a:prstGeom prst="line">
            <a:avLst/>
          </a:prstGeom>
          <a:ln w="28575">
            <a:solidFill>
              <a:srgbClr val="D6C7EE"/>
            </a:solidFill>
          </a:ln>
        </p:spPr>
      </p:cxnSp>
      <p:sp>
        <p:nvSpPr>
          <p:cNvPr id="91" name="card"/>
          <p:cNvSpPr/>
          <p:nvPr/>
        </p:nvSpPr>
        <p:spPr>
          <a:xfrm>
            <a:off x="2060000" y="1540000"/>
            <a:ext cx="8072000" cy="520000"/>
          </a:xfrm>
          <a:prstGeom prst="roundRect">
            <a:avLst/>
          </a:prstGeom>
          <a:solidFill>
            <a:srgbClr val="D6C7EE"/>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dirty="0">
                <a:solidFill>
                  <a:srgbClr val="2E2E38"/>
                </a:solidFill>
                <a:latin typeface="Calibri"/>
              </a:rPr>
              <a:t>Attachment insecurity / interpersonal stress</a:t>
            </a:r>
          </a:p>
        </p:txBody>
      </p:sp>
      <p:sp>
        <p:nvSpPr>
          <p:cNvPr id="92" name="ar"/>
          <p:cNvSpPr/>
          <p:nvPr/>
        </p:nvSpPr>
        <p:spPr>
          <a:xfrm>
            <a:off x="6006000.0" y="2062000"/>
            <a:ext cx="180000" cy="82000"/>
          </a:xfrm>
          <a:prstGeom prst="downArrow">
            <a:avLst/>
          </a:prstGeom>
          <a:solidFill>
            <a:srgbClr val="6E5AA6"/>
          </a:solidFill>
        </p:spPr>
        <p:txBody>
          <a:bodyPr/>
          <a:p/>
        </p:txBody>
      </p:sp>
      <p:sp>
        <p:nvSpPr>
          <p:cNvPr id="93" name="card"/>
          <p:cNvSpPr/>
          <p:nvPr/>
        </p:nvSpPr>
        <p:spPr>
          <a:xfrm>
            <a:off x="2060000" y="2150000"/>
            <a:ext cx="8072000" cy="520000"/>
          </a:xfrm>
          <a:prstGeom prst="roundRect">
            <a:avLst/>
          </a:prstGeom>
          <a:solidFill>
            <a:srgbClr val="FBE3D2"/>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dirty="0">
                <a:solidFill>
                  <a:srgbClr val="2E2E38"/>
                </a:solidFill>
                <a:latin typeface="Calibri"/>
              </a:rPr>
              <a:t>Reduced mentalization under emotional arousal</a:t>
            </a:r>
          </a:p>
        </p:txBody>
      </p:sp>
      <p:sp>
        <p:nvSpPr>
          <p:cNvPr id="94" name="ar"/>
          <p:cNvSpPr/>
          <p:nvPr/>
        </p:nvSpPr>
        <p:spPr>
          <a:xfrm>
            <a:off x="6006000.0" y="2672000"/>
            <a:ext cx="180000" cy="82000"/>
          </a:xfrm>
          <a:prstGeom prst="downArrow">
            <a:avLst/>
          </a:prstGeom>
          <a:solidFill>
            <a:srgbClr val="6E5AA6"/>
          </a:solidFill>
        </p:spPr>
        <p:txBody>
          <a:bodyPr/>
          <a:p/>
        </p:txBody>
      </p:sp>
      <p:sp>
        <p:nvSpPr>
          <p:cNvPr id="95" name="card"/>
          <p:cNvSpPr/>
          <p:nvPr/>
        </p:nvSpPr>
        <p:spPr>
          <a:xfrm>
            <a:off x="2060000" y="2760000"/>
            <a:ext cx="8072000" cy="520000"/>
          </a:xfrm>
          <a:prstGeom prst="roundRect">
            <a:avLst/>
          </a:prstGeom>
          <a:solidFill>
            <a:srgbClr val="F7D9E0"/>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dirty="0">
                <a:solidFill>
                  <a:srgbClr val="2E2E38"/>
                </a:solidFill>
                <a:latin typeface="Calibri"/>
              </a:rPr>
              <a:t>Misinterpretation of self and others</a:t>
            </a:r>
          </a:p>
        </p:txBody>
      </p:sp>
      <p:sp>
        <p:nvSpPr>
          <p:cNvPr id="96" name="ar"/>
          <p:cNvSpPr/>
          <p:nvPr/>
        </p:nvSpPr>
        <p:spPr>
          <a:xfrm>
            <a:off x="6006000.0" y="3282000"/>
            <a:ext cx="180000" cy="82000"/>
          </a:xfrm>
          <a:prstGeom prst="downArrow">
            <a:avLst/>
          </a:prstGeom>
          <a:solidFill>
            <a:srgbClr val="6E5AA6"/>
          </a:solidFill>
        </p:spPr>
        <p:txBody>
          <a:bodyPr/>
          <a:p/>
        </p:txBody>
      </p:sp>
      <p:sp>
        <p:nvSpPr>
          <p:cNvPr id="97" name="card"/>
          <p:cNvSpPr/>
          <p:nvPr/>
        </p:nvSpPr>
        <p:spPr>
          <a:xfrm>
            <a:off x="2060000" y="3370000"/>
            <a:ext cx="8072000" cy="520000"/>
          </a:xfrm>
          <a:prstGeom prst="roundRect">
            <a:avLst/>
          </a:prstGeom>
          <a:solidFill>
            <a:srgbClr val="D7E8F4"/>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dirty="0">
                <a:solidFill>
                  <a:srgbClr val="2E2E38"/>
                </a:solidFill>
                <a:latin typeface="Calibri"/>
              </a:rPr>
              <a:t>Affect dysregulation &amp; impulsivity</a:t>
            </a:r>
          </a:p>
        </p:txBody>
      </p:sp>
      <p:sp>
        <p:nvSpPr>
          <p:cNvPr id="98" name="ar"/>
          <p:cNvSpPr/>
          <p:nvPr/>
        </p:nvSpPr>
        <p:spPr>
          <a:xfrm>
            <a:off x="6006000.0" y="3892000"/>
            <a:ext cx="180000" cy="82000"/>
          </a:xfrm>
          <a:prstGeom prst="downArrow">
            <a:avLst/>
          </a:prstGeom>
          <a:solidFill>
            <a:srgbClr val="6E5AA6"/>
          </a:solidFill>
        </p:spPr>
        <p:txBody>
          <a:bodyPr/>
          <a:p/>
        </p:txBody>
      </p:sp>
      <p:sp>
        <p:nvSpPr>
          <p:cNvPr id="99" name="card"/>
          <p:cNvSpPr/>
          <p:nvPr/>
        </p:nvSpPr>
        <p:spPr>
          <a:xfrm>
            <a:off x="2060000" y="3980000"/>
            <a:ext cx="8072000" cy="520000"/>
          </a:xfrm>
          <a:prstGeom prst="roundRect">
            <a:avLst/>
          </a:prstGeom>
          <a:solidFill>
            <a:srgbClr val="D5EFE6"/>
          </a:solidFill>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dirty="0">
                <a:solidFill>
                  <a:srgbClr val="2E2E38"/>
                </a:solidFill>
                <a:latin typeface="Calibri"/>
              </a:rPr>
              <a:t>Self-harm behaviour → short-term relief</a:t>
            </a:r>
          </a:p>
        </p:txBody>
      </p:sp>
      <p:sp>
        <p:nvSpPr>
          <p:cNvPr id="100" name="ar"/>
          <p:cNvSpPr/>
          <p:nvPr/>
        </p:nvSpPr>
        <p:spPr>
          <a:xfrm>
            <a:off x="6006000.0" y="4502000"/>
            <a:ext cx="180000" cy="82000"/>
          </a:xfrm>
          <a:prstGeom prst="downArrow">
            <a:avLst/>
          </a:prstGeom>
          <a:solidFill>
            <a:srgbClr val="6E5AA6"/>
          </a:solidFill>
        </p:spPr>
        <p:txBody>
          <a:bodyPr/>
          <a:p/>
        </p:txBody>
      </p:sp>
      <p:sp>
        <p:nvSpPr>
          <p:cNvPr id="101" name="card"/>
          <p:cNvSpPr/>
          <p:nvPr/>
        </p:nvSpPr>
        <p:spPr>
          <a:xfrm>
            <a:off x="2060000" y="4590000"/>
            <a:ext cx="8072000" cy="520000"/>
          </a:xfrm>
          <a:prstGeom prst="roundRect">
            <a:avLst/>
          </a:prstGeom>
          <a:solidFill>
            <a:srgbClr val="D9E8D2"/>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MBT targets mentalizing, affect regulation &amp; interpersonal understanding</a:t>
            </a:r>
          </a:p>
        </p:txBody>
      </p:sp>
      <p:sp>
        <p:nvSpPr>
          <p:cNvPr id="102" name="ar"/>
          <p:cNvSpPr/>
          <p:nvPr/>
        </p:nvSpPr>
        <p:spPr>
          <a:xfrm>
            <a:off x="6006000.0" y="5112000"/>
            <a:ext cx="180000" cy="82000"/>
          </a:xfrm>
          <a:prstGeom prst="downArrow">
            <a:avLst/>
          </a:prstGeom>
          <a:solidFill>
            <a:srgbClr val="6E5AA6"/>
          </a:solidFill>
        </p:spPr>
        <p:txBody>
          <a:bodyPr/>
          <a:p/>
        </p:txBody>
      </p:sp>
      <p:sp>
        <p:nvSpPr>
          <p:cNvPr id="103" name="card"/>
          <p:cNvSpPr/>
          <p:nvPr/>
        </p:nvSpPr>
        <p:spPr>
          <a:xfrm>
            <a:off x="2060000" y="5200000"/>
            <a:ext cx="8072000" cy="520000"/>
          </a:xfrm>
          <a:prstGeom prst="roundRect">
            <a:avLst/>
          </a:prstGeom>
          <a:solidFill>
            <a:srgbClr val="E7E0F7"/>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50" b="1" dirty="0">
                <a:solidFill>
                  <a:srgbClr val="2E2E38"/>
                </a:solidFill>
                <a:latin typeface="Calibri"/>
              </a:rPr>
              <a:t>Reduced self-harm &amp; improved clinical functioning</a:t>
            </a:r>
          </a:p>
        </p:txBody>
      </p:sp>
      <p:sp>
        <p:nvSpPr>
          <p:cNvPr id="104"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105"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8</a:t>
            </a: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107"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KEY CONSTITUENT / RELATED STUDIES</a:t>
            </a:r>
          </a:p>
        </p:txBody>
      </p:sp>
      <p:sp>
        <p:nvSpPr>
          <p:cNvPr id="108"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Review of Literature</a:t>
            </a:r>
          </a:p>
        </p:txBody>
      </p:sp>
      <p:cxnSp>
        <p:nvCxnSpPr>
          <p:cNvPr id="109" name="ln"/>
          <p:cNvCxnSpPr/>
          <p:nvPr/>
        </p:nvCxnSpPr>
        <p:spPr>
          <a:xfrm>
            <a:off x="560000" y="1320000"/>
            <a:ext cx="11072000" cy="0"/>
          </a:xfrm>
          <a:prstGeom prst="line">
            <a:avLst/>
          </a:prstGeom>
          <a:ln w="28575">
            <a:solidFill>
              <a:srgbClr val="D6C7EE"/>
            </a:solidFill>
          </a:ln>
        </p:spPr>
      </p:cxnSp>
      <p:sp>
        <p:nvSpPr>
          <p:cNvPr id="110" name="r"/>
          <p:cNvSpPr/>
          <p:nvPr/>
        </p:nvSpPr>
        <p:spPr>
          <a:xfrm>
            <a:off x="560000" y="1560000"/>
            <a:ext cx="2500000" cy="62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150" b="1" dirty="0">
                <a:solidFill>
                  <a:srgbClr val="FFFFFF"/>
                </a:solidFill>
                <a:latin typeface="Calibri"/>
              </a:rPr>
              <a:t>Study (year)</a:t>
            </a:r>
          </a:p>
        </p:txBody>
      </p:sp>
      <p:sp>
        <p:nvSpPr>
          <p:cNvPr id="111" name="r"/>
          <p:cNvSpPr/>
          <p:nvPr/>
        </p:nvSpPr>
        <p:spPr>
          <a:xfrm>
            <a:off x="3060000" y="1560000"/>
            <a:ext cx="2200000" cy="62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150" b="1" dirty="0">
                <a:solidFill>
                  <a:srgbClr val="FFFFFF"/>
                </a:solidFill>
                <a:latin typeface="Calibri"/>
              </a:rPr>
              <a:t>Setting / N</a:t>
            </a:r>
          </a:p>
        </p:txBody>
      </p:sp>
      <p:sp>
        <p:nvSpPr>
          <p:cNvPr id="112" name="r"/>
          <p:cNvSpPr/>
          <p:nvPr/>
        </p:nvSpPr>
        <p:spPr>
          <a:xfrm>
            <a:off x="5260000" y="1560000"/>
            <a:ext cx="3200000" cy="62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150" b="1" dirty="0">
                <a:solidFill>
                  <a:srgbClr val="FFFFFF"/>
                </a:solidFill>
                <a:latin typeface="Calibri"/>
              </a:rPr>
              <a:t>Intervention vs control</a:t>
            </a:r>
          </a:p>
        </p:txBody>
      </p:sp>
      <p:sp>
        <p:nvSpPr>
          <p:cNvPr id="113" name="r"/>
          <p:cNvSpPr/>
          <p:nvPr/>
        </p:nvSpPr>
        <p:spPr>
          <a:xfrm>
            <a:off x="8460000" y="1560000"/>
            <a:ext cx="3172000" cy="62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150" b="1" dirty="0">
                <a:solidFill>
                  <a:srgbClr val="FFFFFF"/>
                </a:solidFill>
                <a:latin typeface="Calibri"/>
              </a:rPr>
              <a:t>Main finding</a:t>
            </a:r>
          </a:p>
        </p:txBody>
      </p:sp>
      <p:sp>
        <p:nvSpPr>
          <p:cNvPr id="114" name="r"/>
          <p:cNvSpPr/>
          <p:nvPr/>
        </p:nvSpPr>
        <p:spPr>
          <a:xfrm>
            <a:off x="560000" y="2180000"/>
            <a:ext cx="25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Rossouw &amp; Fonagy (2012)</a:t>
            </a:r>
          </a:p>
        </p:txBody>
      </p:sp>
      <p:sp>
        <p:nvSpPr>
          <p:cNvPr id="115" name="r"/>
          <p:cNvSpPr/>
          <p:nvPr/>
        </p:nvSpPr>
        <p:spPr>
          <a:xfrm>
            <a:off x="3060000" y="2180000"/>
            <a:ext cx="22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UK; N=80 adolescents</a:t>
            </a:r>
          </a:p>
        </p:txBody>
      </p:sp>
      <p:sp>
        <p:nvSpPr>
          <p:cNvPr id="116" name="r"/>
          <p:cNvSpPr/>
          <p:nvPr/>
        </p:nvSpPr>
        <p:spPr>
          <a:xfrm>
            <a:off x="5260000" y="2180000"/>
            <a:ext cx="32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MBT-A vs TAU (12 mo)</a:t>
            </a:r>
          </a:p>
        </p:txBody>
      </p:sp>
      <p:sp>
        <p:nvSpPr>
          <p:cNvPr id="117" name="r"/>
          <p:cNvSpPr/>
          <p:nvPr/>
        </p:nvSpPr>
        <p:spPr>
          <a:xfrm>
            <a:off x="8460000" y="2180000"/>
            <a:ext cx="3172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MBT-A superior for self-harm &amp; depression; mediated by ↑ mentalizing</a:t>
            </a:r>
          </a:p>
        </p:txBody>
      </p:sp>
      <p:sp>
        <p:nvSpPr>
          <p:cNvPr id="118" name="r"/>
          <p:cNvSpPr/>
          <p:nvPr/>
        </p:nvSpPr>
        <p:spPr>
          <a:xfrm>
            <a:off x="560000" y="2800000"/>
            <a:ext cx="2500000" cy="62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Bateman &amp; Fonagy (2009)</a:t>
            </a:r>
          </a:p>
        </p:txBody>
      </p:sp>
      <p:sp>
        <p:nvSpPr>
          <p:cNvPr id="119" name="r"/>
          <p:cNvSpPr/>
          <p:nvPr/>
        </p:nvSpPr>
        <p:spPr>
          <a:xfrm>
            <a:off x="3060000" y="2800000"/>
            <a:ext cx="2200000" cy="62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UK; adults, BPD</a:t>
            </a:r>
          </a:p>
        </p:txBody>
      </p:sp>
      <p:sp>
        <p:nvSpPr>
          <p:cNvPr id="120" name="r"/>
          <p:cNvSpPr/>
          <p:nvPr/>
        </p:nvSpPr>
        <p:spPr>
          <a:xfrm>
            <a:off x="5260000" y="2800000"/>
            <a:ext cx="3200000" cy="62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MBT vs structured clinical mgmt</a:t>
            </a:r>
          </a:p>
        </p:txBody>
      </p:sp>
      <p:sp>
        <p:nvSpPr>
          <p:cNvPr id="121" name="r"/>
          <p:cNvSpPr/>
          <p:nvPr/>
        </p:nvSpPr>
        <p:spPr>
          <a:xfrm>
            <a:off x="8460000" y="2800000"/>
            <a:ext cx="3172000" cy="62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Fewer suicide attempts &amp; self-harm; symptom reduction</a:t>
            </a:r>
          </a:p>
        </p:txBody>
      </p:sp>
      <p:sp>
        <p:nvSpPr>
          <p:cNvPr id="122" name="r"/>
          <p:cNvSpPr/>
          <p:nvPr/>
        </p:nvSpPr>
        <p:spPr>
          <a:xfrm>
            <a:off x="560000" y="3420000"/>
            <a:ext cx="25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Laurenssen et al. (2018)</a:t>
            </a:r>
          </a:p>
        </p:txBody>
      </p:sp>
      <p:sp>
        <p:nvSpPr>
          <p:cNvPr id="123" name="r"/>
          <p:cNvSpPr/>
          <p:nvPr/>
        </p:nvSpPr>
        <p:spPr>
          <a:xfrm>
            <a:off x="3060000" y="3420000"/>
            <a:ext cx="22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NL; adolescents</a:t>
            </a:r>
          </a:p>
        </p:txBody>
      </p:sp>
      <p:sp>
        <p:nvSpPr>
          <p:cNvPr id="124" name="r"/>
          <p:cNvSpPr/>
          <p:nvPr/>
        </p:nvSpPr>
        <p:spPr>
          <a:xfrm>
            <a:off x="5260000" y="3420000"/>
            <a:ext cx="32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MBT-A vs TAU</a:t>
            </a:r>
          </a:p>
        </p:txBody>
      </p:sp>
      <p:sp>
        <p:nvSpPr>
          <p:cNvPr id="125" name="r"/>
          <p:cNvSpPr/>
          <p:nvPr/>
        </p:nvSpPr>
        <p:spPr>
          <a:xfrm>
            <a:off x="8460000" y="3420000"/>
            <a:ext cx="3172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No clear MBT-A advantage — mixed / null result</a:t>
            </a:r>
          </a:p>
        </p:txBody>
      </p:sp>
      <p:sp>
        <p:nvSpPr>
          <p:cNvPr id="126" name="r"/>
          <p:cNvSpPr/>
          <p:nvPr/>
        </p:nvSpPr>
        <p:spPr>
          <a:xfrm>
            <a:off x="560000" y="4040000"/>
            <a:ext cx="2500000" cy="62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Beck et al. (2020)</a:t>
            </a:r>
          </a:p>
        </p:txBody>
      </p:sp>
      <p:sp>
        <p:nvSpPr>
          <p:cNvPr id="127" name="r"/>
          <p:cNvSpPr/>
          <p:nvPr/>
        </p:nvSpPr>
        <p:spPr>
          <a:xfrm>
            <a:off x="3060000" y="4040000"/>
            <a:ext cx="2200000" cy="62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DK; adolescents, BPD</a:t>
            </a:r>
          </a:p>
        </p:txBody>
      </p:sp>
      <p:sp>
        <p:nvSpPr>
          <p:cNvPr id="128" name="r"/>
          <p:cNvSpPr/>
          <p:nvPr/>
        </p:nvSpPr>
        <p:spPr>
          <a:xfrm>
            <a:off x="5260000" y="4040000"/>
            <a:ext cx="3200000" cy="62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MBT-A vs TAU</a:t>
            </a:r>
          </a:p>
        </p:txBody>
      </p:sp>
      <p:sp>
        <p:nvSpPr>
          <p:cNvPr id="129" name="r"/>
          <p:cNvSpPr/>
          <p:nvPr/>
        </p:nvSpPr>
        <p:spPr>
          <a:xfrm>
            <a:off x="8460000" y="4040000"/>
            <a:ext cx="3172000" cy="62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No significant group difference on self-harm</a:t>
            </a:r>
          </a:p>
        </p:txBody>
      </p:sp>
      <p:sp>
        <p:nvSpPr>
          <p:cNvPr id="130" name="r"/>
          <p:cNvSpPr/>
          <p:nvPr/>
        </p:nvSpPr>
        <p:spPr>
          <a:xfrm>
            <a:off x="560000" y="4660000"/>
            <a:ext cx="25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Griffiths et al. (2019)</a:t>
            </a:r>
          </a:p>
        </p:txBody>
      </p:sp>
      <p:sp>
        <p:nvSpPr>
          <p:cNvPr id="131" name="r"/>
          <p:cNvSpPr/>
          <p:nvPr/>
        </p:nvSpPr>
        <p:spPr>
          <a:xfrm>
            <a:off x="3060000" y="4660000"/>
            <a:ext cx="22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UK; MBT-Ai (group)</a:t>
            </a:r>
          </a:p>
        </p:txBody>
      </p:sp>
      <p:sp>
        <p:nvSpPr>
          <p:cNvPr id="132" name="r"/>
          <p:cNvSpPr/>
          <p:nvPr/>
        </p:nvSpPr>
        <p:spPr>
          <a:xfrm>
            <a:off x="5260000" y="4660000"/>
            <a:ext cx="3200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Feasibility RCT</a:t>
            </a:r>
          </a:p>
        </p:txBody>
      </p:sp>
      <p:sp>
        <p:nvSpPr>
          <p:cNvPr id="133" name="r"/>
          <p:cNvSpPr/>
          <p:nvPr/>
        </p:nvSpPr>
        <p:spPr>
          <a:xfrm>
            <a:off x="8460000" y="4660000"/>
            <a:ext cx="3172000" cy="62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050" dirty="0">
                <a:solidFill>
                  <a:srgbClr val="2E2E38"/>
                </a:solidFill>
                <a:latin typeface="Calibri"/>
              </a:rPr>
              <a:t>Acceptable &amp; feasible; underpowered for efficacy</a:t>
            </a:r>
          </a:p>
        </p:txBody>
      </p:sp>
      <p:sp>
        <p:nvSpPr>
          <p:cNvPr id="134" name="tb"/>
          <p:cNvSpPr txBox="1"/>
          <p:nvPr/>
        </p:nvSpPr>
        <p:spPr>
          <a:xfrm>
            <a:off x="560000" y="5320000"/>
            <a:ext cx="11072000" cy="300000"/>
          </a:xfrm>
          <a:prstGeom prst="rect">
            <a:avLst/>
          </a:prstGeom>
          <a:noFill/>
        </p:spPr>
        <p:txBody>
          <a:bodyPr wrap="square" anchor="t" lIns="45720" tIns="27432" rIns="45720" bIns="27432">
            <a:normAutofit/>
          </a:bodyPr>
          <a:p>
            <a:pPr lvl="0" algn="l">
              <a:spcAft>
                <a:spcPts val="0"/>
              </a:spcAft>
              <a:buNone/>
            </a:pPr>
            <a:r>
              <a:rPr lang="en-US" sz="1000" i="1" dirty="0">
                <a:solidFill>
                  <a:srgbClr val="9AA0A6"/>
                </a:solidFill>
                <a:latin typeface="Calibri"/>
              </a:rPr>
              <a:t>Note: findings are mixed — early positive trials (Rossouw &amp; Fonagy) contrast with later null/feasibility trials. Sources cross-checked with PubMed.</a:t>
            </a:r>
          </a:p>
        </p:txBody>
      </p:sp>
      <p:sp>
        <p:nvSpPr>
          <p:cNvPr id="135"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136"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9</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138"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SAMPLE SIZE (illustrative)</a:t>
            </a:r>
          </a:p>
        </p:txBody>
      </p:sp>
      <p:sp>
        <p:nvSpPr>
          <p:cNvPr id="139"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Graphical Comparison of Constituent Trials</a:t>
            </a:r>
          </a:p>
        </p:txBody>
      </p:sp>
      <p:cxnSp>
        <p:nvCxnSpPr>
          <p:cNvPr id="140" name="ln"/>
          <p:cNvCxnSpPr/>
          <p:nvPr/>
        </p:nvCxnSpPr>
        <p:spPr>
          <a:xfrm>
            <a:off x="560000" y="1320000"/>
            <a:ext cx="11072000" cy="0"/>
          </a:xfrm>
          <a:prstGeom prst="line">
            <a:avLst/>
          </a:prstGeom>
          <a:ln w="28575">
            <a:solidFill>
              <a:srgbClr val="D6C7EE"/>
            </a:solidFill>
          </a:ln>
        </p:spPr>
      </p:cxnSp>
      <p:sp>
        <p:nvSpPr>
          <p:cNvPr id="141" name="tb"/>
          <p:cNvSpPr txBox="1"/>
          <p:nvPr/>
        </p:nvSpPr>
        <p:spPr>
          <a:xfrm>
            <a:off x="660000" y="1670000"/>
            <a:ext cx="1850000" cy="58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Rossouw &amp; Fonagy 2012</a:t>
            </a:r>
          </a:p>
        </p:txBody>
      </p:sp>
      <p:sp>
        <p:nvSpPr>
          <p:cNvPr id="142" name="r"/>
          <p:cNvSpPr/>
          <p:nvPr/>
        </p:nvSpPr>
        <p:spPr>
          <a:xfrm>
            <a:off x="2560000" y="1700000"/>
            <a:ext cx="8072000" cy="520000"/>
          </a:xfrm>
          <a:prstGeom prst="rect">
            <a:avLst/>
          </a:prstGeom>
          <a:solidFill>
            <a:srgbClr val="FFFFFF"/>
          </a:solidFill>
          <a:ln w="9525">
            <a:solidFill>
              <a:srgbClr val="E0E4E8"/>
            </a:solidFill>
          </a:ln>
        </p:spPr>
        <p:txBody>
          <a:bodyPr wrap="square" anchor="ctr" lIns="45720" tIns="18288" rIns="45720" bIns="18288">
            <a:normAutofit/>
          </a:bodyPr>
          <a:p>
            <a:pPr>
              <a:buNone/>
            </a:pPr>
          </a:p>
        </p:txBody>
      </p:sp>
      <p:sp>
        <p:nvSpPr>
          <p:cNvPr id="143" name="card"/>
          <p:cNvSpPr/>
          <p:nvPr/>
        </p:nvSpPr>
        <p:spPr>
          <a:xfrm>
            <a:off x="2560000" y="1700000"/>
            <a:ext cx="4612571" cy="520000"/>
          </a:xfrm>
          <a:prstGeom prst="roundRect">
            <a:avLst>
              <a:gd name="adj" fmla="val 8000"/>
            </a:avLst>
          </a:prstGeom>
          <a:solidFill>
            <a:srgbClr val="F7D9E0"/>
          </a:solidFill>
        </p:spPr>
        <p:txBody>
          <a:bodyPr wrap="square" anchor="ctr" lIns="91440" tIns="45720" rIns="91440" bIns="45720">
            <a:normAutofit/>
          </a:bodyPr>
          <a:p>
            <a:pPr>
              <a:buNone/>
            </a:pPr>
          </a:p>
        </p:txBody>
      </p:sp>
      <p:sp>
        <p:nvSpPr>
          <p:cNvPr id="144" name="tb"/>
          <p:cNvSpPr txBox="1"/>
          <p:nvPr/>
        </p:nvSpPr>
        <p:spPr>
          <a:xfrm>
            <a:off x="7212571" y="1670000"/>
            <a:ext cx="900000" cy="580000"/>
          </a:xfrm>
          <a:prstGeom prst="rect">
            <a:avLst/>
          </a:prstGeom>
          <a:noFill/>
        </p:spPr>
        <p:txBody>
          <a:bodyPr wrap="square" anchor="ctr" lIns="45720" tIns="27432" rIns="45720" bIns="27432">
            <a:normAutofit/>
          </a:bodyPr>
          <a:p>
            <a:pPr lvl="0" algn="l">
              <a:spcAft>
                <a:spcPts val="0"/>
              </a:spcAft>
              <a:buNone/>
            </a:pPr>
            <a:r>
              <a:rPr lang="en-US" sz="1050" b="1" dirty="0">
                <a:solidFill>
                  <a:srgbClr val="2E2E38"/>
                </a:solidFill>
                <a:latin typeface="Calibri"/>
              </a:rPr>
              <a:t>N=80</a:t>
            </a:r>
          </a:p>
        </p:txBody>
      </p:sp>
      <p:sp>
        <p:nvSpPr>
          <p:cNvPr id="145" name="tb"/>
          <p:cNvSpPr txBox="1"/>
          <p:nvPr/>
        </p:nvSpPr>
        <p:spPr>
          <a:xfrm>
            <a:off x="660000" y="2450000"/>
            <a:ext cx="1850000" cy="58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Bateman &amp; Fonagy 2009</a:t>
            </a:r>
          </a:p>
        </p:txBody>
      </p:sp>
      <p:sp>
        <p:nvSpPr>
          <p:cNvPr id="146" name="r"/>
          <p:cNvSpPr/>
          <p:nvPr/>
        </p:nvSpPr>
        <p:spPr>
          <a:xfrm>
            <a:off x="2560000" y="2480000"/>
            <a:ext cx="8072000" cy="520000"/>
          </a:xfrm>
          <a:prstGeom prst="rect">
            <a:avLst/>
          </a:prstGeom>
          <a:solidFill>
            <a:srgbClr val="FFFFFF"/>
          </a:solidFill>
          <a:ln w="9525">
            <a:solidFill>
              <a:srgbClr val="E0E4E8"/>
            </a:solidFill>
          </a:ln>
        </p:spPr>
        <p:txBody>
          <a:bodyPr wrap="square" anchor="ctr" lIns="45720" tIns="18288" rIns="45720" bIns="18288">
            <a:normAutofit/>
          </a:bodyPr>
          <a:p>
            <a:pPr>
              <a:buNone/>
            </a:pPr>
          </a:p>
        </p:txBody>
      </p:sp>
      <p:sp>
        <p:nvSpPr>
          <p:cNvPr id="147" name="card"/>
          <p:cNvSpPr/>
          <p:nvPr/>
        </p:nvSpPr>
        <p:spPr>
          <a:xfrm>
            <a:off x="2560000" y="2480000"/>
            <a:ext cx="7726057" cy="520000"/>
          </a:xfrm>
          <a:prstGeom prst="roundRect">
            <a:avLst>
              <a:gd name="adj" fmla="val 8000"/>
            </a:avLst>
          </a:prstGeom>
          <a:solidFill>
            <a:srgbClr val="FBE3D2"/>
          </a:solidFill>
        </p:spPr>
        <p:txBody>
          <a:bodyPr wrap="square" anchor="ctr" lIns="91440" tIns="45720" rIns="91440" bIns="45720">
            <a:normAutofit/>
          </a:bodyPr>
          <a:p>
            <a:pPr>
              <a:buNone/>
            </a:pPr>
          </a:p>
        </p:txBody>
      </p:sp>
      <p:sp>
        <p:nvSpPr>
          <p:cNvPr id="148" name="tb"/>
          <p:cNvSpPr txBox="1"/>
          <p:nvPr/>
        </p:nvSpPr>
        <p:spPr>
          <a:xfrm>
            <a:off x="10326057" y="2450000"/>
            <a:ext cx="900000" cy="580000"/>
          </a:xfrm>
          <a:prstGeom prst="rect">
            <a:avLst/>
          </a:prstGeom>
          <a:noFill/>
        </p:spPr>
        <p:txBody>
          <a:bodyPr wrap="square" anchor="ctr" lIns="45720" tIns="27432" rIns="45720" bIns="27432">
            <a:normAutofit/>
          </a:bodyPr>
          <a:p>
            <a:pPr lvl="0" algn="l">
              <a:spcAft>
                <a:spcPts val="0"/>
              </a:spcAft>
              <a:buNone/>
            </a:pPr>
            <a:r>
              <a:rPr lang="en-US" sz="1050" b="1" dirty="0">
                <a:solidFill>
                  <a:srgbClr val="2E2E38"/>
                </a:solidFill>
                <a:latin typeface="Calibri"/>
              </a:rPr>
              <a:t>N=134</a:t>
            </a:r>
          </a:p>
        </p:txBody>
      </p:sp>
      <p:sp>
        <p:nvSpPr>
          <p:cNvPr id="149" name="tb"/>
          <p:cNvSpPr txBox="1"/>
          <p:nvPr/>
        </p:nvSpPr>
        <p:spPr>
          <a:xfrm>
            <a:off x="660000" y="3230000"/>
            <a:ext cx="1850000" cy="58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Laurenssen 2018</a:t>
            </a:r>
          </a:p>
        </p:txBody>
      </p:sp>
      <p:sp>
        <p:nvSpPr>
          <p:cNvPr id="150" name="r"/>
          <p:cNvSpPr/>
          <p:nvPr/>
        </p:nvSpPr>
        <p:spPr>
          <a:xfrm>
            <a:off x="2560000" y="3260000"/>
            <a:ext cx="8072000" cy="520000"/>
          </a:xfrm>
          <a:prstGeom prst="rect">
            <a:avLst/>
          </a:prstGeom>
          <a:solidFill>
            <a:srgbClr val="FFFFFF"/>
          </a:solidFill>
          <a:ln w="9525">
            <a:solidFill>
              <a:srgbClr val="E0E4E8"/>
            </a:solidFill>
          </a:ln>
        </p:spPr>
        <p:txBody>
          <a:bodyPr wrap="square" anchor="ctr" lIns="45720" tIns="18288" rIns="45720" bIns="18288">
            <a:normAutofit/>
          </a:bodyPr>
          <a:p>
            <a:pPr>
              <a:buNone/>
            </a:pPr>
          </a:p>
        </p:txBody>
      </p:sp>
      <p:sp>
        <p:nvSpPr>
          <p:cNvPr id="151" name="card"/>
          <p:cNvSpPr/>
          <p:nvPr/>
        </p:nvSpPr>
        <p:spPr>
          <a:xfrm>
            <a:off x="2560000" y="3260000"/>
            <a:ext cx="6284628" cy="520000"/>
          </a:xfrm>
          <a:prstGeom prst="roundRect">
            <a:avLst>
              <a:gd name="adj" fmla="val 8000"/>
            </a:avLst>
          </a:prstGeom>
          <a:solidFill>
            <a:srgbClr val="D6C7EE"/>
          </a:solidFill>
        </p:spPr>
        <p:txBody>
          <a:bodyPr wrap="square" anchor="ctr" lIns="91440" tIns="45720" rIns="91440" bIns="45720">
            <a:normAutofit/>
          </a:bodyPr>
          <a:p>
            <a:pPr>
              <a:buNone/>
            </a:pPr>
          </a:p>
        </p:txBody>
      </p:sp>
      <p:sp>
        <p:nvSpPr>
          <p:cNvPr id="152" name="tb"/>
          <p:cNvSpPr txBox="1"/>
          <p:nvPr/>
        </p:nvSpPr>
        <p:spPr>
          <a:xfrm>
            <a:off x="8884628" y="3230000"/>
            <a:ext cx="900000" cy="580000"/>
          </a:xfrm>
          <a:prstGeom prst="rect">
            <a:avLst/>
          </a:prstGeom>
          <a:noFill/>
        </p:spPr>
        <p:txBody>
          <a:bodyPr wrap="square" anchor="ctr" lIns="45720" tIns="27432" rIns="45720" bIns="27432">
            <a:normAutofit/>
          </a:bodyPr>
          <a:p>
            <a:pPr lvl="0" algn="l">
              <a:spcAft>
                <a:spcPts val="0"/>
              </a:spcAft>
              <a:buNone/>
            </a:pPr>
            <a:r>
              <a:rPr lang="en-US" sz="1050" b="1" dirty="0">
                <a:solidFill>
                  <a:srgbClr val="2E2E38"/>
                </a:solidFill>
                <a:latin typeface="Calibri"/>
              </a:rPr>
              <a:t>N=109</a:t>
            </a:r>
          </a:p>
        </p:txBody>
      </p:sp>
      <p:sp>
        <p:nvSpPr>
          <p:cNvPr id="153" name="tb"/>
          <p:cNvSpPr txBox="1"/>
          <p:nvPr/>
        </p:nvSpPr>
        <p:spPr>
          <a:xfrm>
            <a:off x="660000" y="4010000"/>
            <a:ext cx="1850000" cy="58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Beck 2020</a:t>
            </a:r>
          </a:p>
        </p:txBody>
      </p:sp>
      <p:sp>
        <p:nvSpPr>
          <p:cNvPr id="154" name="r"/>
          <p:cNvSpPr/>
          <p:nvPr/>
        </p:nvSpPr>
        <p:spPr>
          <a:xfrm>
            <a:off x="2560000" y="4040000"/>
            <a:ext cx="8072000" cy="520000"/>
          </a:xfrm>
          <a:prstGeom prst="rect">
            <a:avLst/>
          </a:prstGeom>
          <a:solidFill>
            <a:srgbClr val="FFFFFF"/>
          </a:solidFill>
          <a:ln w="9525">
            <a:solidFill>
              <a:srgbClr val="E0E4E8"/>
            </a:solidFill>
          </a:ln>
        </p:spPr>
        <p:txBody>
          <a:bodyPr wrap="square" anchor="ctr" lIns="45720" tIns="18288" rIns="45720" bIns="18288">
            <a:normAutofit/>
          </a:bodyPr>
          <a:p>
            <a:pPr>
              <a:buNone/>
            </a:pPr>
          </a:p>
        </p:txBody>
      </p:sp>
      <p:sp>
        <p:nvSpPr>
          <p:cNvPr id="155" name="card"/>
          <p:cNvSpPr/>
          <p:nvPr/>
        </p:nvSpPr>
        <p:spPr>
          <a:xfrm>
            <a:off x="2560000" y="4040000"/>
            <a:ext cx="6399942" cy="520000"/>
          </a:xfrm>
          <a:prstGeom prst="roundRect">
            <a:avLst>
              <a:gd name="adj" fmla="val 8000"/>
            </a:avLst>
          </a:prstGeom>
          <a:solidFill>
            <a:srgbClr val="D7E8F4"/>
          </a:solidFill>
        </p:spPr>
        <p:txBody>
          <a:bodyPr wrap="square" anchor="ctr" lIns="91440" tIns="45720" rIns="91440" bIns="45720">
            <a:normAutofit/>
          </a:bodyPr>
          <a:p>
            <a:pPr>
              <a:buNone/>
            </a:pPr>
          </a:p>
        </p:txBody>
      </p:sp>
      <p:sp>
        <p:nvSpPr>
          <p:cNvPr id="156" name="tb"/>
          <p:cNvSpPr txBox="1"/>
          <p:nvPr/>
        </p:nvSpPr>
        <p:spPr>
          <a:xfrm>
            <a:off x="8999942" y="4010000"/>
            <a:ext cx="900000" cy="580000"/>
          </a:xfrm>
          <a:prstGeom prst="rect">
            <a:avLst/>
          </a:prstGeom>
          <a:noFill/>
        </p:spPr>
        <p:txBody>
          <a:bodyPr wrap="square" anchor="ctr" lIns="45720" tIns="27432" rIns="45720" bIns="27432">
            <a:normAutofit/>
          </a:bodyPr>
          <a:p>
            <a:pPr lvl="0" algn="l">
              <a:spcAft>
                <a:spcPts val="0"/>
              </a:spcAft>
              <a:buNone/>
            </a:pPr>
            <a:r>
              <a:rPr lang="en-US" sz="1050" b="1" dirty="0">
                <a:solidFill>
                  <a:srgbClr val="2E2E38"/>
                </a:solidFill>
                <a:latin typeface="Calibri"/>
              </a:rPr>
              <a:t>N=111</a:t>
            </a:r>
          </a:p>
        </p:txBody>
      </p:sp>
      <p:sp>
        <p:nvSpPr>
          <p:cNvPr id="157" name="tb"/>
          <p:cNvSpPr txBox="1"/>
          <p:nvPr/>
        </p:nvSpPr>
        <p:spPr>
          <a:xfrm>
            <a:off x="660000" y="4790000"/>
            <a:ext cx="1850000" cy="58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Griffiths 2019 (pilot)</a:t>
            </a:r>
          </a:p>
        </p:txBody>
      </p:sp>
      <p:sp>
        <p:nvSpPr>
          <p:cNvPr id="158" name="r"/>
          <p:cNvSpPr/>
          <p:nvPr/>
        </p:nvSpPr>
        <p:spPr>
          <a:xfrm>
            <a:off x="2560000" y="4820000"/>
            <a:ext cx="8072000" cy="520000"/>
          </a:xfrm>
          <a:prstGeom prst="rect">
            <a:avLst/>
          </a:prstGeom>
          <a:solidFill>
            <a:srgbClr val="FFFFFF"/>
          </a:solidFill>
          <a:ln w="9525">
            <a:solidFill>
              <a:srgbClr val="E0E4E8"/>
            </a:solidFill>
          </a:ln>
        </p:spPr>
        <p:txBody>
          <a:bodyPr wrap="square" anchor="ctr" lIns="45720" tIns="18288" rIns="45720" bIns="18288">
            <a:normAutofit/>
          </a:bodyPr>
          <a:p>
            <a:pPr>
              <a:buNone/>
            </a:pPr>
          </a:p>
        </p:txBody>
      </p:sp>
      <p:sp>
        <p:nvSpPr>
          <p:cNvPr id="159" name="card"/>
          <p:cNvSpPr/>
          <p:nvPr/>
        </p:nvSpPr>
        <p:spPr>
          <a:xfrm>
            <a:off x="2560000" y="4820000"/>
            <a:ext cx="3055828" cy="520000"/>
          </a:xfrm>
          <a:prstGeom prst="roundRect">
            <a:avLst>
              <a:gd name="adj" fmla="val 8000"/>
            </a:avLst>
          </a:prstGeom>
          <a:solidFill>
            <a:srgbClr val="D9E8D2"/>
          </a:solidFill>
        </p:spPr>
        <p:txBody>
          <a:bodyPr wrap="square" anchor="ctr" lIns="91440" tIns="45720" rIns="91440" bIns="45720">
            <a:normAutofit/>
          </a:bodyPr>
          <a:p>
            <a:pPr>
              <a:buNone/>
            </a:pPr>
          </a:p>
        </p:txBody>
      </p:sp>
      <p:sp>
        <p:nvSpPr>
          <p:cNvPr id="160" name="tb"/>
          <p:cNvSpPr txBox="1"/>
          <p:nvPr/>
        </p:nvSpPr>
        <p:spPr>
          <a:xfrm>
            <a:off x="5655828" y="4790000"/>
            <a:ext cx="900000" cy="580000"/>
          </a:xfrm>
          <a:prstGeom prst="rect">
            <a:avLst/>
          </a:prstGeom>
          <a:noFill/>
        </p:spPr>
        <p:txBody>
          <a:bodyPr wrap="square" anchor="ctr" lIns="45720" tIns="27432" rIns="45720" bIns="27432">
            <a:normAutofit/>
          </a:bodyPr>
          <a:p>
            <a:pPr lvl="0" algn="l">
              <a:spcAft>
                <a:spcPts val="0"/>
              </a:spcAft>
              <a:buNone/>
            </a:pPr>
            <a:r>
              <a:rPr lang="en-US" sz="1050" b="1" dirty="0">
                <a:solidFill>
                  <a:srgbClr val="2E2E38"/>
                </a:solidFill>
                <a:latin typeface="Calibri"/>
              </a:rPr>
              <a:t>N=53</a:t>
            </a:r>
          </a:p>
        </p:txBody>
      </p:sp>
      <p:sp>
        <p:nvSpPr>
          <p:cNvPr id="161" name="tb"/>
          <p:cNvSpPr txBox="1"/>
          <p:nvPr/>
        </p:nvSpPr>
        <p:spPr>
          <a:xfrm>
            <a:off x="560000" y="5640000"/>
            <a:ext cx="11072000" cy="400000"/>
          </a:xfrm>
          <a:prstGeom prst="rect">
            <a:avLst/>
          </a:prstGeom>
          <a:noFill/>
        </p:spPr>
        <p:txBody>
          <a:bodyPr wrap="square" anchor="t" lIns="45720" tIns="27432" rIns="45720" bIns="27432">
            <a:normAutofit/>
          </a:bodyPr>
          <a:p>
            <a:pPr lvl="0" algn="l">
              <a:spcAft>
                <a:spcPts val="0"/>
              </a:spcAft>
              <a:buNone/>
            </a:pPr>
            <a:r>
              <a:rPr lang="en-US" sz="1050" i="1" dirty="0">
                <a:solidFill>
                  <a:srgbClr val="9AA0A6"/>
                </a:solidFill>
                <a:latin typeface="Calibri"/>
              </a:rPr>
              <a:t>Small samples (all N&lt;150) → limited power and wide confidence intervals in the pooled analysis. Values illustrative from published trial reports; confirm against the paper.</a:t>
            </a:r>
          </a:p>
        </p:txBody>
      </p:sp>
      <p:sp>
        <p:nvSpPr>
          <p:cNvPr id="162"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163"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10</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165"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WHAT PRIOR LITERATURE LEAVES UNRESOLVED</a:t>
            </a:r>
          </a:p>
        </p:txBody>
      </p:sp>
      <p:sp>
        <p:nvSpPr>
          <p:cNvPr id="166"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Research Gap</a:t>
            </a:r>
          </a:p>
        </p:txBody>
      </p:sp>
      <p:cxnSp>
        <p:nvCxnSpPr>
          <p:cNvPr id="167" name="ln"/>
          <p:cNvCxnSpPr/>
          <p:nvPr/>
        </p:nvCxnSpPr>
        <p:spPr>
          <a:xfrm>
            <a:off x="560000" y="1320000"/>
            <a:ext cx="11072000" cy="0"/>
          </a:xfrm>
          <a:prstGeom prst="line">
            <a:avLst/>
          </a:prstGeom>
          <a:ln w="28575">
            <a:solidFill>
              <a:srgbClr val="D6C7EE"/>
            </a:solidFill>
          </a:ln>
        </p:spPr>
      </p:cxnSp>
      <p:sp>
        <p:nvSpPr>
          <p:cNvPr id="168" name="card"/>
          <p:cNvSpPr/>
          <p:nvPr/>
        </p:nvSpPr>
        <p:spPr>
          <a:xfrm>
            <a:off x="560000" y="1580000"/>
            <a:ext cx="11072000" cy="4778000"/>
          </a:xfrm>
          <a:prstGeom prst="roundRect">
            <a:avLst/>
          </a:prstGeom>
          <a:solidFill>
            <a:srgbClr val="EEF0F2"/>
          </a:solidFill>
          <a:effectLst>
            <a:outerShdw blurRad="40000" dist="20000" dir="5400000" rotWithShape="0">
              <a:srgbClr val="9AA0A6">
                <a:alpha val="38000"/>
              </a:srgbClr>
            </a:outerShdw>
          </a:effectLst>
        </p:spPr>
        <p:txBody>
          <a:bodyPr wrap="square" anchor="t" lIns="91440" tIns="45720" rIns="91440" bIns="45720">
            <a:normAutofit/>
          </a:bodyPr>
          <a:p>
            <a:pPr marL="342900" indent="-228600" lvl="0" algn="l">
              <a:spcAft>
                <a:spcPts val="260"/>
              </a:spcAft>
              <a:buFont typeface="Arial"/>
              <a:buChar char="•"/>
            </a:pPr>
            <a:r>
              <a:rPr lang="en-US" sz="1300" dirty="0">
                <a:solidFill>
                  <a:srgbClr val="2E2E38"/>
                </a:solidFill>
                <a:latin typeface="Calibri"/>
              </a:rPr>
              <a:t>Few well-powered randomized controlled trials; small samples dominate.</a:t>
            </a:r>
          </a:p>
          <a:p>
            <a:pPr marL="342900" indent="-228600" lvl="0" algn="l">
              <a:spcAft>
                <a:spcPts val="260"/>
              </a:spcAft>
              <a:buFont typeface="Arial"/>
              <a:buChar char="•"/>
            </a:pPr>
            <a:r>
              <a:rPr lang="en-US" sz="1300" dirty="0">
                <a:solidFill>
                  <a:srgbClr val="2E2E38"/>
                </a:solidFill>
                <a:latin typeface="Calibri"/>
              </a:rPr>
              <a:t>Inconsistent definitions of self-harm and differing outcome measures.</a:t>
            </a:r>
          </a:p>
          <a:p>
            <a:pPr marL="342900" indent="-228600" lvl="0" algn="l">
              <a:spcAft>
                <a:spcPts val="260"/>
              </a:spcAft>
              <a:buFont typeface="Arial"/>
              <a:buChar char="•"/>
            </a:pPr>
            <a:r>
              <a:rPr lang="en-US" sz="1300" dirty="0">
                <a:solidFill>
                  <a:srgbClr val="2E2E38"/>
                </a:solidFill>
                <a:latin typeface="Calibri"/>
              </a:rPr>
              <a:t>Varied MBT formats (individual, group, MBT-A) and treatment durations.</a:t>
            </a:r>
          </a:p>
          <a:p>
            <a:pPr marL="342900" indent="-228600" lvl="0" algn="l">
              <a:spcAft>
                <a:spcPts val="260"/>
              </a:spcAft>
              <a:buFont typeface="Arial"/>
              <a:buChar char="•"/>
            </a:pPr>
            <a:r>
              <a:rPr lang="en-US" sz="1300" dirty="0">
                <a:solidFill>
                  <a:srgbClr val="2E2E38"/>
                </a:solidFill>
                <a:latin typeface="Calibri"/>
              </a:rPr>
              <a:t>Heterogeneous control conditions (TAU, SCM, waiting list).</a:t>
            </a:r>
          </a:p>
          <a:p>
            <a:pPr marL="342900" indent="-228600" lvl="0" algn="l">
              <a:spcAft>
                <a:spcPts val="260"/>
              </a:spcAft>
              <a:buFont typeface="Arial"/>
              <a:buChar char="•"/>
            </a:pPr>
            <a:r>
              <a:rPr lang="en-US" sz="1300" dirty="0">
                <a:solidFill>
                  <a:srgbClr val="2E2E38"/>
                </a:solidFill>
                <a:latin typeface="Calibri"/>
              </a:rPr>
              <a:t>Limited long-term follow-up and inconsistent adherence/fidelity reporting.</a:t>
            </a:r>
          </a:p>
          <a:p>
            <a:pPr marL="342900" indent="-228600" lvl="0" algn="l">
              <a:spcAft>
                <a:spcPts val="260"/>
              </a:spcAft>
              <a:buFont typeface="Arial"/>
              <a:buChar char="•"/>
            </a:pPr>
            <a:r>
              <a:rPr lang="en-US" sz="1300" dirty="0">
                <a:solidFill>
                  <a:srgbClr val="2E2E38"/>
                </a:solidFill>
                <a:latin typeface="Calibri"/>
              </a:rPr>
              <a:t>Little evidence from culturally diverse / low-resource settings; unclear mechanisms of change.</a:t>
            </a:r>
          </a:p>
          <a:p>
            <a:pPr marL="342900" indent="-228600" lvl="0" algn="l">
              <a:spcAft>
                <a:spcPts val="0"/>
              </a:spcAft>
              <a:buFont typeface="Arial"/>
              <a:buChar char="•"/>
            </a:pPr>
            <a:r>
              <a:rPr lang="en-US" sz="1300" dirty="0">
                <a:solidFill>
                  <a:srgbClr val="2E2E38"/>
                </a:solidFill>
                <a:latin typeface="Calibri"/>
              </a:rPr>
              <a:t>Limited head-to-head comparison with other evidence-based therapies (DBT, CBT).</a:t>
            </a:r>
          </a:p>
        </p:txBody>
      </p:sp>
      <p:sp>
        <p:nvSpPr>
          <p:cNvPr id="169"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170"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11</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172"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WHY A SYSTEMATIC REVIEW &amp; META-ANALYSIS</a:t>
            </a:r>
          </a:p>
        </p:txBody>
      </p:sp>
      <p:sp>
        <p:nvSpPr>
          <p:cNvPr id="173"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Rationale of the Study</a:t>
            </a:r>
          </a:p>
        </p:txBody>
      </p:sp>
      <p:cxnSp>
        <p:nvCxnSpPr>
          <p:cNvPr id="174" name="ln"/>
          <p:cNvCxnSpPr/>
          <p:nvPr/>
        </p:nvCxnSpPr>
        <p:spPr>
          <a:xfrm>
            <a:off x="560000" y="1320000"/>
            <a:ext cx="11072000" cy="0"/>
          </a:xfrm>
          <a:prstGeom prst="line">
            <a:avLst/>
          </a:prstGeom>
          <a:ln w="28575">
            <a:solidFill>
              <a:srgbClr val="D6C7EE"/>
            </a:solidFill>
          </a:ln>
        </p:spPr>
      </p:cxnSp>
      <p:sp>
        <p:nvSpPr>
          <p:cNvPr id="175" name="card"/>
          <p:cNvSpPr/>
          <p:nvPr/>
        </p:nvSpPr>
        <p:spPr>
          <a:xfrm>
            <a:off x="560000" y="1580000"/>
            <a:ext cx="11072000" cy="4778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marL="342900" indent="-228600" lvl="0" algn="l">
              <a:spcAft>
                <a:spcPts val="300"/>
              </a:spcAft>
              <a:buFont typeface="Arial"/>
              <a:buChar char="•"/>
            </a:pPr>
            <a:r>
              <a:rPr lang="en-US" sz="1350" dirty="0">
                <a:solidFill>
                  <a:srgbClr val="2E2E38"/>
                </a:solidFill>
                <a:latin typeface="Calibri"/>
              </a:rPr>
              <a:t>Synthesise the scattered evidence into a single pooled estimate of MBT efficacy for self-harm.</a:t>
            </a:r>
          </a:p>
          <a:p>
            <a:pPr marL="342900" indent="-228600" lvl="0" algn="l">
              <a:spcAft>
                <a:spcPts val="300"/>
              </a:spcAft>
              <a:buFont typeface="Arial"/>
              <a:buChar char="•"/>
            </a:pPr>
            <a:r>
              <a:rPr lang="en-US" sz="1350" dirty="0">
                <a:solidFill>
                  <a:srgbClr val="2E2E38"/>
                </a:solidFill>
                <a:latin typeface="Calibri"/>
              </a:rPr>
              <a:t>Quantify effects on self-harm and related outcomes (BPD symptoms, depression).</a:t>
            </a:r>
          </a:p>
          <a:p>
            <a:pPr marL="342900" indent="-228600" lvl="0" algn="l">
              <a:spcAft>
                <a:spcPts val="300"/>
              </a:spcAft>
              <a:buFont typeface="Arial"/>
              <a:buChar char="•"/>
            </a:pPr>
            <a:r>
              <a:rPr lang="en-US" sz="1350" dirty="0">
                <a:solidFill>
                  <a:srgbClr val="2E2E38"/>
                </a:solidFill>
                <a:latin typeface="Calibri"/>
              </a:rPr>
              <a:t>Assess consistency across studies and identify sources of heterogeneity.</a:t>
            </a:r>
          </a:p>
          <a:p>
            <a:pPr marL="342900" indent="-228600" lvl="0" algn="l">
              <a:spcAft>
                <a:spcPts val="300"/>
              </a:spcAft>
              <a:buFont typeface="Arial"/>
              <a:buChar char="•"/>
            </a:pPr>
            <a:r>
              <a:rPr lang="en-US" sz="1350" dirty="0">
                <a:solidFill>
                  <a:srgbClr val="2E2E38"/>
                </a:solidFill>
                <a:latin typeface="Calibri"/>
              </a:rPr>
              <a:t>Inform clinical decision-making about when and for whom to offer MBT.</a:t>
            </a:r>
          </a:p>
          <a:p>
            <a:pPr marL="342900" indent="-228600" lvl="0" algn="l">
              <a:spcAft>
                <a:spcPts val="0"/>
              </a:spcAft>
              <a:buFont typeface="Arial"/>
              <a:buChar char="•"/>
            </a:pPr>
            <a:r>
              <a:rPr lang="en-US" sz="1350" dirty="0">
                <a:solidFill>
                  <a:srgbClr val="2E2E38"/>
                </a:solidFill>
                <a:latin typeface="Calibri"/>
              </a:rPr>
              <a:t>Define priorities for future, better-designed trials.</a:t>
            </a:r>
          </a:p>
        </p:txBody>
      </p:sp>
      <p:sp>
        <p:nvSpPr>
          <p:cNvPr id="176"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177"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12</a:t>
            </a: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179"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OBJECTIVES</a:t>
            </a:r>
          </a:p>
        </p:txBody>
      </p:sp>
      <p:sp>
        <p:nvSpPr>
          <p:cNvPr id="180"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Aim, Research Question &amp; Review Objective</a:t>
            </a:r>
          </a:p>
        </p:txBody>
      </p:sp>
      <p:cxnSp>
        <p:nvCxnSpPr>
          <p:cNvPr id="181" name="ln"/>
          <p:cNvCxnSpPr/>
          <p:nvPr/>
        </p:nvCxnSpPr>
        <p:spPr>
          <a:xfrm>
            <a:off x="560000" y="1320000"/>
            <a:ext cx="11072000" cy="0"/>
          </a:xfrm>
          <a:prstGeom prst="line">
            <a:avLst/>
          </a:prstGeom>
          <a:ln w="28575">
            <a:solidFill>
              <a:srgbClr val="D6C7EE"/>
            </a:solidFill>
          </a:ln>
        </p:spPr>
      </p:cxnSp>
      <p:sp>
        <p:nvSpPr>
          <p:cNvPr id="182" name="card"/>
          <p:cNvSpPr/>
          <p:nvPr/>
        </p:nvSpPr>
        <p:spPr>
          <a:xfrm>
            <a:off x="560000" y="1580000"/>
            <a:ext cx="11072000" cy="1432666"/>
          </a:xfrm>
          <a:prstGeom prst="roundRect">
            <a:avLst/>
          </a:prstGeom>
          <a:solidFill>
            <a:srgbClr val="E7E0F7"/>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450" b="1" dirty="0">
                <a:solidFill>
                  <a:srgbClr val="6E5AA6"/>
                </a:solidFill>
                <a:latin typeface="Calibri"/>
              </a:rPr>
              <a:t>Aim:  </a:t>
            </a:r>
            <a:r>
              <a:rPr lang="en-US" sz="1300" dirty="0">
                <a:solidFill>
                  <a:srgbClr val="2E2E38"/>
                </a:solidFill>
                <a:latin typeface="Calibri"/>
              </a:rPr>
              <a:t>To systematically review and quantitatively synthesise the evidence on the efficacy of MBT in reducing self-harm and improving related clinical outcomes.</a:t>
            </a:r>
          </a:p>
        </p:txBody>
      </p:sp>
      <p:sp>
        <p:nvSpPr>
          <p:cNvPr id="183" name="card"/>
          <p:cNvSpPr/>
          <p:nvPr/>
        </p:nvSpPr>
        <p:spPr>
          <a:xfrm>
            <a:off x="560000" y="3192666"/>
            <a:ext cx="11072000" cy="1432666"/>
          </a:xfrm>
          <a:prstGeom prst="roundRect">
            <a:avLst/>
          </a:prstGeom>
          <a:solidFill>
            <a:srgbClr val="D7E8F4"/>
          </a:solidFill>
          <a:ln w="12700">
            <a:solidFill>
              <a:srgbClr val="3E7CB1"/>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450" b="1" dirty="0">
                <a:solidFill>
                  <a:srgbClr val="6E5AA6"/>
                </a:solidFill>
                <a:latin typeface="Calibri"/>
              </a:rPr>
              <a:t>Research question:  </a:t>
            </a:r>
            <a:r>
              <a:rPr lang="en-US" sz="1300" dirty="0">
                <a:solidFill>
                  <a:srgbClr val="2E2E38"/>
                </a:solidFill>
                <a:latin typeface="Calibri"/>
              </a:rPr>
              <a:t>Is MBT effective in reducing self-harm and related outcomes compared with control / treatment-as-usual conditions?</a:t>
            </a:r>
          </a:p>
        </p:txBody>
      </p:sp>
      <p:sp>
        <p:nvSpPr>
          <p:cNvPr id="184" name="card"/>
          <p:cNvSpPr/>
          <p:nvPr/>
        </p:nvSpPr>
        <p:spPr>
          <a:xfrm>
            <a:off x="560000" y="4805332"/>
            <a:ext cx="11072000" cy="1432666"/>
          </a:xfrm>
          <a:prstGeom prst="roundRect">
            <a:avLst/>
          </a:prstGeom>
          <a:solidFill>
            <a:srgbClr val="D5EFE6"/>
          </a:solidFill>
          <a:ln w="12700">
            <a:solidFill>
              <a:srgbClr val="D9E8D2"/>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400" b="1" dirty="0">
                <a:solidFill>
                  <a:srgbClr val="6E5AA6"/>
                </a:solidFill>
                <a:latin typeface="Calibri"/>
              </a:rPr>
              <a:t>Review objective (in lieu of a formal hypothesis):  </a:t>
            </a:r>
            <a:r>
              <a:rPr lang="en-US" sz="1250" dirty="0">
                <a:solidFill>
                  <a:srgbClr val="2E2E38"/>
                </a:solidFill>
                <a:latin typeface="Calibri"/>
              </a:rPr>
              <a:t>MBT is expected to be associated with a significant reduction in self-harm and related symptoms vs control. As a meta-analysis, the study used predefined review questions rather than an experimental hypothesis.</a:t>
            </a:r>
          </a:p>
        </p:txBody>
      </p:sp>
      <p:sp>
        <p:nvSpPr>
          <p:cNvPr id="185"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186"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13</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188"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FRAMING</a:t>
            </a:r>
          </a:p>
        </p:txBody>
      </p:sp>
      <p:sp>
        <p:nvSpPr>
          <p:cNvPr id="189"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Research Question in PICO Format</a:t>
            </a:r>
          </a:p>
        </p:txBody>
      </p:sp>
      <p:cxnSp>
        <p:nvCxnSpPr>
          <p:cNvPr id="190" name="ln"/>
          <p:cNvCxnSpPr/>
          <p:nvPr/>
        </p:nvCxnSpPr>
        <p:spPr>
          <a:xfrm>
            <a:off x="560000" y="1320000"/>
            <a:ext cx="11072000" cy="0"/>
          </a:xfrm>
          <a:prstGeom prst="line">
            <a:avLst/>
          </a:prstGeom>
          <a:ln w="28575">
            <a:solidFill>
              <a:srgbClr val="D6C7EE"/>
            </a:solidFill>
          </a:ln>
        </p:spPr>
      </p:cxnSp>
      <p:sp>
        <p:nvSpPr>
          <p:cNvPr id="191" name="card"/>
          <p:cNvSpPr/>
          <p:nvPr/>
        </p:nvSpPr>
        <p:spPr>
          <a:xfrm>
            <a:off x="560000" y="1580000"/>
            <a:ext cx="2603000" cy="4658000"/>
          </a:xfrm>
          <a:prstGeom prst="roundRect">
            <a:avLst/>
          </a:prstGeom>
          <a:solidFill>
            <a:srgbClr val="F7D9E0"/>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500" b="1" dirty="0">
                <a:solidFill>
                  <a:srgbClr val="6E5AA6"/>
                </a:solidFill>
                <a:latin typeface="Calibri"/>
              </a:rPr>
              <a:t>P — Population</a:t>
            </a:r>
          </a:p>
          <a:p>
            <a:pPr lvl="0" algn="l">
              <a:spcAft>
                <a:spcPts val="0"/>
              </a:spcAft>
              <a:buNone/>
            </a:pPr>
            <a:r>
              <a:rPr lang="en-US" sz="1200" dirty="0">
                <a:solidFill>
                  <a:srgbClr val="2E2E38"/>
                </a:solidFill>
                <a:latin typeface="Calibri"/>
              </a:rPr>
              <a:t>Individuals with self-harm, BPD or emotional dysregulation (adolescents &amp; adults).</a:t>
            </a:r>
          </a:p>
        </p:txBody>
      </p:sp>
      <p:sp>
        <p:nvSpPr>
          <p:cNvPr id="192" name="card"/>
          <p:cNvSpPr/>
          <p:nvPr/>
        </p:nvSpPr>
        <p:spPr>
          <a:xfrm>
            <a:off x="3383000" y="1580000"/>
            <a:ext cx="2603000" cy="4658000"/>
          </a:xfrm>
          <a:prstGeom prst="roundRect">
            <a:avLst/>
          </a:prstGeom>
          <a:solidFill>
            <a:srgbClr val="E7E0F7"/>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500" b="1" dirty="0">
                <a:solidFill>
                  <a:srgbClr val="6E5AA6"/>
                </a:solidFill>
                <a:latin typeface="Calibri"/>
              </a:rPr>
              <a:t>I — Intervention</a:t>
            </a:r>
          </a:p>
          <a:p>
            <a:pPr lvl="0" algn="l">
              <a:spcAft>
                <a:spcPts val="0"/>
              </a:spcAft>
              <a:buNone/>
            </a:pPr>
            <a:r>
              <a:rPr lang="en-US" sz="1200" dirty="0">
                <a:solidFill>
                  <a:srgbClr val="2E2E38"/>
                </a:solidFill>
                <a:latin typeface="Calibri"/>
              </a:rPr>
              <a:t>Mentalization-based therapy (MBT / MBT-A), individual or group.</a:t>
            </a:r>
          </a:p>
        </p:txBody>
      </p:sp>
      <p:sp>
        <p:nvSpPr>
          <p:cNvPr id="193" name="card"/>
          <p:cNvSpPr/>
          <p:nvPr/>
        </p:nvSpPr>
        <p:spPr>
          <a:xfrm>
            <a:off x="6206000" y="1580000"/>
            <a:ext cx="2603000" cy="465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500" b="1" dirty="0">
                <a:solidFill>
                  <a:srgbClr val="6E5AA6"/>
                </a:solidFill>
                <a:latin typeface="Calibri"/>
              </a:rPr>
              <a:t>C — Comparison</a:t>
            </a:r>
          </a:p>
          <a:p>
            <a:pPr lvl="0" algn="l">
              <a:spcAft>
                <a:spcPts val="0"/>
              </a:spcAft>
              <a:buNone/>
            </a:pPr>
            <a:r>
              <a:rPr lang="en-US" sz="1200" dirty="0">
                <a:solidFill>
                  <a:srgbClr val="2E2E38"/>
                </a:solidFill>
                <a:latin typeface="Calibri"/>
              </a:rPr>
              <a:t>Treatment as usual, structured clinical management, waiting list or another therapy.</a:t>
            </a:r>
          </a:p>
        </p:txBody>
      </p:sp>
      <p:sp>
        <p:nvSpPr>
          <p:cNvPr id="194" name="card"/>
          <p:cNvSpPr/>
          <p:nvPr/>
        </p:nvSpPr>
        <p:spPr>
          <a:xfrm>
            <a:off x="9029000" y="1580000"/>
            <a:ext cx="2603000" cy="4658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500" b="1" dirty="0">
                <a:solidFill>
                  <a:srgbClr val="6E5AA6"/>
                </a:solidFill>
                <a:latin typeface="Calibri"/>
              </a:rPr>
              <a:t>O — Outcomes</a:t>
            </a:r>
          </a:p>
          <a:p>
            <a:pPr lvl="0" algn="l">
              <a:spcAft>
                <a:spcPts val="0"/>
              </a:spcAft>
              <a:buNone/>
            </a:pPr>
            <a:r>
              <a:rPr lang="en-US" sz="1200" dirty="0">
                <a:solidFill>
                  <a:srgbClr val="2E2E38"/>
                </a:solidFill>
                <a:latin typeface="Calibri"/>
              </a:rPr>
              <a:t>Self-harm frequency/severity, suicidal behaviour, BPD symptoms, depression, functioning, retention.</a:t>
            </a:r>
          </a:p>
        </p:txBody>
      </p:sp>
      <p:sp>
        <p:nvSpPr>
          <p:cNvPr id="195"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196"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14</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198"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SYSTEMATIC REVIEW WORKFLOW</a:t>
            </a:r>
          </a:p>
        </p:txBody>
      </p:sp>
      <p:sp>
        <p:nvSpPr>
          <p:cNvPr id="199"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Methodology Overview</a:t>
            </a:r>
          </a:p>
        </p:txBody>
      </p:sp>
      <p:cxnSp>
        <p:nvCxnSpPr>
          <p:cNvPr id="200" name="ln"/>
          <p:cNvCxnSpPr/>
          <p:nvPr/>
        </p:nvCxnSpPr>
        <p:spPr>
          <a:xfrm>
            <a:off x="560000" y="1320000"/>
            <a:ext cx="11072000" cy="0"/>
          </a:xfrm>
          <a:prstGeom prst="line">
            <a:avLst/>
          </a:prstGeom>
          <a:ln w="28575">
            <a:solidFill>
              <a:srgbClr val="D6C7EE"/>
            </a:solidFill>
          </a:ln>
        </p:spPr>
      </p:cxnSp>
      <p:sp>
        <p:nvSpPr>
          <p:cNvPr id="201" name="card"/>
          <p:cNvSpPr/>
          <p:nvPr/>
        </p:nvSpPr>
        <p:spPr>
          <a:xfrm>
            <a:off x="661000" y="1700000"/>
            <a:ext cx="1950000" cy="1000000"/>
          </a:xfrm>
          <a:prstGeom prst="roundRect">
            <a:avLst/>
          </a:prstGeom>
          <a:solidFill>
            <a:srgbClr val="E7E0F7"/>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60"/>
              </a:spcAft>
              <a:buNone/>
            </a:pPr>
            <a:r>
              <a:rPr lang="en-US" sz="1250" b="1" dirty="0">
                <a:solidFill>
                  <a:srgbClr val="2E2E38"/>
                </a:solidFill>
                <a:latin typeface="Calibri"/>
              </a:rPr>
              <a:t>Protocol &amp;</a:t>
            </a:r>
          </a:p>
          <a:p>
            <a:pPr lvl="0" algn="ctr">
              <a:spcAft>
                <a:spcPts val="0"/>
              </a:spcAft>
              <a:buNone/>
            </a:pPr>
            <a:r>
              <a:rPr lang="en-US" sz="1250" b="1" dirty="0">
                <a:solidFill>
                  <a:srgbClr val="2E2E38"/>
                </a:solidFill>
                <a:latin typeface="Calibri"/>
              </a:rPr>
              <a:t>search strategy</a:t>
            </a:r>
          </a:p>
        </p:txBody>
      </p:sp>
      <p:sp>
        <p:nvSpPr>
          <p:cNvPr id="202" name="ar"/>
          <p:cNvSpPr/>
          <p:nvPr/>
        </p:nvSpPr>
        <p:spPr>
          <a:xfrm>
            <a:off x="2641000" y="2110000.0"/>
            <a:ext cx="220000" cy="180000"/>
          </a:xfrm>
          <a:prstGeom prst="rightArrow">
            <a:avLst/>
          </a:prstGeom>
          <a:solidFill>
            <a:srgbClr val="6E5AA6"/>
          </a:solidFill>
        </p:spPr>
        <p:txBody>
          <a:bodyPr/>
          <a:p/>
        </p:txBody>
      </p:sp>
      <p:sp>
        <p:nvSpPr>
          <p:cNvPr id="203" name="card"/>
          <p:cNvSpPr/>
          <p:nvPr/>
        </p:nvSpPr>
        <p:spPr>
          <a:xfrm>
            <a:off x="2891000" y="1700000"/>
            <a:ext cx="1950000" cy="1000000"/>
          </a:xfrm>
          <a:prstGeom prst="roundRect">
            <a:avLst/>
          </a:prstGeom>
          <a:solidFill>
            <a:srgbClr val="D7E8F4"/>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60"/>
              </a:spcAft>
              <a:buNone/>
            </a:pPr>
            <a:r>
              <a:rPr lang="en-US" sz="1250" b="1" dirty="0">
                <a:solidFill>
                  <a:srgbClr val="2E2E38"/>
                </a:solidFill>
                <a:latin typeface="Calibri"/>
              </a:rPr>
              <a:t>Screening &amp;</a:t>
            </a:r>
          </a:p>
          <a:p>
            <a:pPr lvl="0" algn="ctr">
              <a:spcAft>
                <a:spcPts val="0"/>
              </a:spcAft>
              <a:buNone/>
            </a:pPr>
            <a:r>
              <a:rPr lang="en-US" sz="1250" b="1" dirty="0">
                <a:solidFill>
                  <a:srgbClr val="2E2E38"/>
                </a:solidFill>
                <a:latin typeface="Calibri"/>
              </a:rPr>
              <a:t>study selection</a:t>
            </a:r>
          </a:p>
        </p:txBody>
      </p:sp>
      <p:sp>
        <p:nvSpPr>
          <p:cNvPr id="204" name="ar"/>
          <p:cNvSpPr/>
          <p:nvPr/>
        </p:nvSpPr>
        <p:spPr>
          <a:xfrm>
            <a:off x="4871000" y="2110000.0"/>
            <a:ext cx="220000" cy="180000"/>
          </a:xfrm>
          <a:prstGeom prst="rightArrow">
            <a:avLst/>
          </a:prstGeom>
          <a:solidFill>
            <a:srgbClr val="6E5AA6"/>
          </a:solidFill>
        </p:spPr>
        <p:txBody>
          <a:bodyPr/>
          <a:p/>
        </p:txBody>
      </p:sp>
      <p:sp>
        <p:nvSpPr>
          <p:cNvPr id="205" name="card"/>
          <p:cNvSpPr/>
          <p:nvPr/>
        </p:nvSpPr>
        <p:spPr>
          <a:xfrm>
            <a:off x="5121000" y="1700000"/>
            <a:ext cx="1950000" cy="1000000"/>
          </a:xfrm>
          <a:prstGeom prst="roundRect">
            <a:avLst/>
          </a:prstGeom>
          <a:solidFill>
            <a:srgbClr val="D5EFE6"/>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60"/>
              </a:spcAft>
              <a:buNone/>
            </a:pPr>
            <a:r>
              <a:rPr lang="en-US" sz="1250" b="1" dirty="0">
                <a:solidFill>
                  <a:srgbClr val="2E2E38"/>
                </a:solidFill>
                <a:latin typeface="Calibri"/>
              </a:rPr>
              <a:t>Data</a:t>
            </a:r>
          </a:p>
          <a:p>
            <a:pPr lvl="0" algn="ctr">
              <a:spcAft>
                <a:spcPts val="0"/>
              </a:spcAft>
              <a:buNone/>
            </a:pPr>
            <a:r>
              <a:rPr lang="en-US" sz="1250" b="1" dirty="0">
                <a:solidFill>
                  <a:srgbClr val="2E2E38"/>
                </a:solidFill>
                <a:latin typeface="Calibri"/>
              </a:rPr>
              <a:t>extraction</a:t>
            </a:r>
          </a:p>
        </p:txBody>
      </p:sp>
      <p:sp>
        <p:nvSpPr>
          <p:cNvPr id="206" name="ar"/>
          <p:cNvSpPr/>
          <p:nvPr/>
        </p:nvSpPr>
        <p:spPr>
          <a:xfrm>
            <a:off x="7101000" y="2110000.0"/>
            <a:ext cx="220000" cy="180000"/>
          </a:xfrm>
          <a:prstGeom prst="rightArrow">
            <a:avLst/>
          </a:prstGeom>
          <a:solidFill>
            <a:srgbClr val="6E5AA6"/>
          </a:solidFill>
        </p:spPr>
        <p:txBody>
          <a:bodyPr/>
          <a:p/>
        </p:txBody>
      </p:sp>
      <p:sp>
        <p:nvSpPr>
          <p:cNvPr id="207" name="card"/>
          <p:cNvSpPr/>
          <p:nvPr/>
        </p:nvSpPr>
        <p:spPr>
          <a:xfrm>
            <a:off x="7351000" y="1700000"/>
            <a:ext cx="1950000" cy="1000000"/>
          </a:xfrm>
          <a:prstGeom prst="roundRect">
            <a:avLst/>
          </a:prstGeom>
          <a:solidFill>
            <a:srgbClr val="FBE3D2"/>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60"/>
              </a:spcAft>
              <a:buNone/>
            </a:pPr>
            <a:r>
              <a:rPr lang="en-US" sz="1250" b="1" dirty="0">
                <a:solidFill>
                  <a:srgbClr val="2E2E38"/>
                </a:solidFill>
                <a:latin typeface="Calibri"/>
              </a:rPr>
              <a:t>Risk-of-bias</a:t>
            </a:r>
          </a:p>
          <a:p>
            <a:pPr lvl="0" algn="ctr">
              <a:spcAft>
                <a:spcPts val="0"/>
              </a:spcAft>
              <a:buNone/>
            </a:pPr>
            <a:r>
              <a:rPr lang="en-US" sz="1250" b="1" dirty="0">
                <a:solidFill>
                  <a:srgbClr val="2E2E38"/>
                </a:solidFill>
                <a:latin typeface="Calibri"/>
              </a:rPr>
              <a:t>assessment</a:t>
            </a:r>
          </a:p>
        </p:txBody>
      </p:sp>
      <p:sp>
        <p:nvSpPr>
          <p:cNvPr id="208" name="ar"/>
          <p:cNvSpPr/>
          <p:nvPr/>
        </p:nvSpPr>
        <p:spPr>
          <a:xfrm>
            <a:off x="9331000" y="2110000.0"/>
            <a:ext cx="220000" cy="180000"/>
          </a:xfrm>
          <a:prstGeom prst="rightArrow">
            <a:avLst/>
          </a:prstGeom>
          <a:solidFill>
            <a:srgbClr val="6E5AA6"/>
          </a:solidFill>
        </p:spPr>
        <p:txBody>
          <a:bodyPr/>
          <a:p/>
        </p:txBody>
      </p:sp>
      <p:sp>
        <p:nvSpPr>
          <p:cNvPr id="209" name="card"/>
          <p:cNvSpPr/>
          <p:nvPr/>
        </p:nvSpPr>
        <p:spPr>
          <a:xfrm>
            <a:off x="9581000" y="1700000"/>
            <a:ext cx="1950000" cy="1000000"/>
          </a:xfrm>
          <a:prstGeom prst="roundRect">
            <a:avLst/>
          </a:prstGeom>
          <a:solidFill>
            <a:srgbClr val="D9E8D2"/>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60"/>
              </a:spcAft>
              <a:buNone/>
            </a:pPr>
            <a:r>
              <a:rPr lang="en-US" sz="1250" b="1" dirty="0">
                <a:solidFill>
                  <a:srgbClr val="2E2E38"/>
                </a:solidFill>
                <a:latin typeface="Calibri"/>
              </a:rPr>
              <a:t>Meta-analysis</a:t>
            </a:r>
          </a:p>
          <a:p>
            <a:pPr lvl="0" algn="ctr">
              <a:spcAft>
                <a:spcPts val="0"/>
              </a:spcAft>
              <a:buNone/>
            </a:pPr>
            <a:r>
              <a:rPr lang="en-US" sz="1250" b="1" dirty="0">
                <a:solidFill>
                  <a:srgbClr val="2E2E38"/>
                </a:solidFill>
                <a:latin typeface="Calibri"/>
              </a:rPr>
              <a:t>(random effects)</a:t>
            </a:r>
          </a:p>
        </p:txBody>
      </p:sp>
      <p:sp>
        <p:nvSpPr>
          <p:cNvPr id="210" name="card"/>
          <p:cNvSpPr/>
          <p:nvPr/>
        </p:nvSpPr>
        <p:spPr>
          <a:xfrm>
            <a:off x="560000" y="2980000"/>
            <a:ext cx="11072000" cy="1100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t" lIns="91440" tIns="45720" rIns="91440" bIns="45720">
            <a:normAutofit/>
          </a:bodyPr>
          <a:p>
            <a:pPr lvl="0" algn="l">
              <a:spcAft>
                <a:spcPts val="200"/>
              </a:spcAft>
              <a:buNone/>
            </a:pPr>
            <a:r>
              <a:rPr lang="en-US" sz="1350" b="1" dirty="0">
                <a:solidFill>
                  <a:srgbClr val="6E5AA6"/>
                </a:solidFill>
                <a:latin typeface="Calibri"/>
              </a:rPr>
              <a:t>Analytic choices</a:t>
            </a:r>
          </a:p>
          <a:p>
            <a:pPr lvl="0" algn="l">
              <a:spcAft>
                <a:spcPts val="0"/>
              </a:spcAft>
              <a:buNone/>
            </a:pPr>
            <a:r>
              <a:rPr lang="en-US" sz="1250" dirty="0">
                <a:solidFill>
                  <a:srgbClr val="2E2E38"/>
                </a:solidFill>
                <a:latin typeface="Calibri"/>
              </a:rPr>
              <a:t>Random-effects model • effect size = Hedges' g (standardized mean difference) • heterogeneity via I² • sensitivity &amp; subgroup checks • publication-bias assessment.</a:t>
            </a:r>
          </a:p>
        </p:txBody>
      </p:sp>
      <p:sp>
        <p:nvSpPr>
          <p:cNvPr id="211"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12"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15</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214"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ELIGIBILITY</a:t>
            </a:r>
          </a:p>
        </p:txBody>
      </p:sp>
      <p:sp>
        <p:nvSpPr>
          <p:cNvPr id="215"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Inclusion &amp; Exclusion Criteria</a:t>
            </a:r>
          </a:p>
        </p:txBody>
      </p:sp>
      <p:cxnSp>
        <p:nvCxnSpPr>
          <p:cNvPr id="216" name="ln"/>
          <p:cNvCxnSpPr/>
          <p:nvPr/>
        </p:nvCxnSpPr>
        <p:spPr>
          <a:xfrm>
            <a:off x="560000" y="1320000"/>
            <a:ext cx="11072000" cy="0"/>
          </a:xfrm>
          <a:prstGeom prst="line">
            <a:avLst/>
          </a:prstGeom>
          <a:ln w="28575">
            <a:solidFill>
              <a:srgbClr val="D6C7EE"/>
            </a:solidFill>
          </a:ln>
        </p:spPr>
      </p:cxnSp>
      <p:sp>
        <p:nvSpPr>
          <p:cNvPr id="217" name="card"/>
          <p:cNvSpPr/>
          <p:nvPr/>
        </p:nvSpPr>
        <p:spPr>
          <a:xfrm>
            <a:off x="560000" y="1580000"/>
            <a:ext cx="5386000" cy="4658000"/>
          </a:xfrm>
          <a:prstGeom prst="roundRect">
            <a:avLst/>
          </a:prstGeom>
          <a:solidFill>
            <a:srgbClr val="D9E8D2"/>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500"/>
              </a:spcAft>
              <a:buNone/>
            </a:pPr>
            <a:r>
              <a:rPr lang="en-US" sz="1700" b="1" dirty="0">
                <a:solidFill>
                  <a:srgbClr val="6E5AA6"/>
                </a:solidFill>
                <a:latin typeface="Calibri"/>
              </a:rPr>
              <a:t>Inclusion</a:t>
            </a:r>
          </a:p>
          <a:p>
            <a:pPr marL="342900" indent="-228600" lvl="0" algn="l">
              <a:spcAft>
                <a:spcPts val="340"/>
              </a:spcAft>
              <a:buFont typeface="Arial"/>
              <a:buChar char="•"/>
            </a:pPr>
            <a:r>
              <a:rPr lang="en-US" sz="1350" dirty="0">
                <a:solidFill>
                  <a:srgbClr val="2E2E38"/>
                </a:solidFill>
                <a:latin typeface="Calibri"/>
              </a:rPr>
              <a:t>Participants with documented self-harm or a relevant clinical diagnosis (e.g., BPD)</a:t>
            </a:r>
          </a:p>
          <a:p>
            <a:pPr marL="342900" indent="-228600" lvl="0" algn="l">
              <a:spcAft>
                <a:spcPts val="340"/>
              </a:spcAft>
              <a:buFont typeface="Arial"/>
              <a:buChar char="•"/>
            </a:pPr>
            <a:r>
              <a:rPr lang="en-US" sz="1350" dirty="0">
                <a:solidFill>
                  <a:srgbClr val="2E2E38"/>
                </a:solidFill>
                <a:latin typeface="Calibri"/>
              </a:rPr>
              <a:t>Studies evaluating MBT / MBT-A</a:t>
            </a:r>
          </a:p>
          <a:p>
            <a:pPr marL="342900" indent="-228600" lvl="0" algn="l">
              <a:spcAft>
                <a:spcPts val="340"/>
              </a:spcAft>
              <a:buFont typeface="Arial"/>
              <a:buChar char="•"/>
            </a:pPr>
            <a:r>
              <a:rPr lang="en-US" sz="1350" dirty="0">
                <a:solidFill>
                  <a:srgbClr val="2E2E38"/>
                </a:solidFill>
                <a:latin typeface="Calibri"/>
              </a:rPr>
              <a:t>Report a self-harm or related clinical outcome</a:t>
            </a:r>
          </a:p>
          <a:p>
            <a:pPr marL="342900" indent="-228600" lvl="0" algn="l">
              <a:spcAft>
                <a:spcPts val="340"/>
              </a:spcAft>
              <a:buFont typeface="Arial"/>
              <a:buChar char="•"/>
            </a:pPr>
            <a:r>
              <a:rPr lang="en-US" sz="1350" dirty="0">
                <a:solidFill>
                  <a:srgbClr val="2E2E38"/>
                </a:solidFill>
                <a:latin typeface="Calibri"/>
              </a:rPr>
              <a:t>Controlled or eligible comparative designs</a:t>
            </a:r>
          </a:p>
          <a:p>
            <a:pPr marL="342900" indent="-228600" lvl="0" algn="l">
              <a:spcAft>
                <a:spcPts val="340"/>
              </a:spcAft>
              <a:buFont typeface="Arial"/>
              <a:buChar char="•"/>
            </a:pPr>
            <a:r>
              <a:rPr lang="en-US" sz="1350" dirty="0">
                <a:solidFill>
                  <a:srgbClr val="2E2E38"/>
                </a:solidFill>
                <a:latin typeface="Calibri"/>
              </a:rPr>
              <a:t>Sufficient quantitative data to compute an effect size</a:t>
            </a:r>
          </a:p>
          <a:p>
            <a:pPr marL="342900" indent="-228600" lvl="0" algn="l">
              <a:spcAft>
                <a:spcPts val="340"/>
              </a:spcAft>
              <a:buFont typeface="Arial"/>
              <a:buChar char="•"/>
            </a:pPr>
            <a:r>
              <a:rPr lang="en-US" sz="1350" dirty="0">
                <a:solidFill>
                  <a:srgbClr val="2E2E38"/>
                </a:solidFill>
                <a:latin typeface="Calibri"/>
              </a:rPr>
              <a:t>Published within the specified period &amp; eligible language</a:t>
            </a:r>
          </a:p>
        </p:txBody>
      </p:sp>
      <p:sp>
        <p:nvSpPr>
          <p:cNvPr id="218" name="card"/>
          <p:cNvSpPr/>
          <p:nvPr/>
        </p:nvSpPr>
        <p:spPr>
          <a:xfrm>
            <a:off x="6246000" y="1580000"/>
            <a:ext cx="5386000" cy="4658000"/>
          </a:xfrm>
          <a:prstGeom prst="roundRect">
            <a:avLst/>
          </a:prstGeom>
          <a:solidFill>
            <a:srgbClr val="F7D9E0"/>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500"/>
              </a:spcAft>
              <a:buNone/>
            </a:pPr>
            <a:r>
              <a:rPr lang="en-US" sz="1700" b="1" dirty="0">
                <a:solidFill>
                  <a:srgbClr val="6E5AA6"/>
                </a:solidFill>
                <a:latin typeface="Calibri"/>
              </a:rPr>
              <a:t>Exclusion</a:t>
            </a:r>
          </a:p>
          <a:p>
            <a:pPr marL="342900" indent="-228600" lvl="0" algn="l">
              <a:spcAft>
                <a:spcPts val="340"/>
              </a:spcAft>
              <a:buFont typeface="Arial"/>
              <a:buChar char="•"/>
            </a:pPr>
            <a:r>
              <a:rPr lang="en-US" sz="1350" dirty="0">
                <a:solidFill>
                  <a:srgbClr val="2E2E38"/>
                </a:solidFill>
                <a:latin typeface="Calibri"/>
              </a:rPr>
              <a:t>No mentalization-based intervention</a:t>
            </a:r>
          </a:p>
          <a:p>
            <a:pPr marL="342900" indent="-228600" lvl="0" algn="l">
              <a:spcAft>
                <a:spcPts val="340"/>
              </a:spcAft>
              <a:buFont typeface="Arial"/>
              <a:buChar char="•"/>
            </a:pPr>
            <a:r>
              <a:rPr lang="en-US" sz="1350" dirty="0">
                <a:solidFill>
                  <a:srgbClr val="2E2E38"/>
                </a:solidFill>
                <a:latin typeface="Calibri"/>
              </a:rPr>
              <a:t>No relevant self-harm / clinical outcome</a:t>
            </a:r>
          </a:p>
          <a:p>
            <a:pPr marL="342900" indent="-228600" lvl="0" algn="l">
              <a:spcAft>
                <a:spcPts val="340"/>
              </a:spcAft>
              <a:buFont typeface="Arial"/>
              <a:buChar char="•"/>
            </a:pPr>
            <a:r>
              <a:rPr lang="en-US" sz="1350" dirty="0">
                <a:solidFill>
                  <a:srgbClr val="2E2E38"/>
                </a:solidFill>
                <a:latin typeface="Calibri"/>
              </a:rPr>
              <a:t>Single-case reports or case series</a:t>
            </a:r>
          </a:p>
          <a:p>
            <a:pPr marL="342900" indent="-228600" lvl="0" algn="l">
              <a:spcAft>
                <a:spcPts val="340"/>
              </a:spcAft>
              <a:buFont typeface="Arial"/>
              <a:buChar char="•"/>
            </a:pPr>
            <a:r>
              <a:rPr lang="en-US" sz="1350" dirty="0">
                <a:solidFill>
                  <a:srgbClr val="2E2E38"/>
                </a:solidFill>
                <a:latin typeface="Calibri"/>
              </a:rPr>
              <a:t>Conference abstracts lacking extractable data</a:t>
            </a:r>
          </a:p>
          <a:p>
            <a:pPr marL="342900" indent="-228600" lvl="0" algn="l">
              <a:spcAft>
                <a:spcPts val="340"/>
              </a:spcAft>
              <a:buFont typeface="Arial"/>
              <a:buChar char="•"/>
            </a:pPr>
            <a:r>
              <a:rPr lang="en-US" sz="1350" dirty="0">
                <a:solidFill>
                  <a:srgbClr val="2E2E38"/>
                </a:solidFill>
                <a:latin typeface="Calibri"/>
              </a:rPr>
              <a:t>Duplicate publications</a:t>
            </a:r>
          </a:p>
          <a:p>
            <a:pPr marL="342900" indent="-228600" lvl="0" algn="l">
              <a:spcAft>
                <a:spcPts val="340"/>
              </a:spcAft>
              <a:buFont typeface="Arial"/>
              <a:buChar char="•"/>
            </a:pPr>
            <a:r>
              <a:rPr lang="en-US" sz="1350" dirty="0">
                <a:solidFill>
                  <a:srgbClr val="2E2E38"/>
                </a:solidFill>
                <a:latin typeface="Calibri"/>
              </a:rPr>
              <a:t>Studies without extractable outcome data</a:t>
            </a:r>
          </a:p>
        </p:txBody>
      </p:sp>
      <p:sp>
        <p:nvSpPr>
          <p:cNvPr id="219"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20"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16</a:t>
            </a: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222"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IDENTIFYING STUDIES</a:t>
            </a:r>
          </a:p>
        </p:txBody>
      </p:sp>
      <p:sp>
        <p:nvSpPr>
          <p:cNvPr id="223"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Search Strategy</a:t>
            </a:r>
          </a:p>
        </p:txBody>
      </p:sp>
      <p:cxnSp>
        <p:nvCxnSpPr>
          <p:cNvPr id="224" name="ln"/>
          <p:cNvCxnSpPr/>
          <p:nvPr/>
        </p:nvCxnSpPr>
        <p:spPr>
          <a:xfrm>
            <a:off x="560000" y="1320000"/>
            <a:ext cx="11072000" cy="0"/>
          </a:xfrm>
          <a:prstGeom prst="line">
            <a:avLst/>
          </a:prstGeom>
          <a:ln w="28575">
            <a:solidFill>
              <a:srgbClr val="D6C7EE"/>
            </a:solidFill>
          </a:ln>
        </p:spPr>
      </p:cxnSp>
      <p:sp>
        <p:nvSpPr>
          <p:cNvPr id="225" name="card"/>
          <p:cNvSpPr/>
          <p:nvPr/>
        </p:nvSpPr>
        <p:spPr>
          <a:xfrm>
            <a:off x="560000" y="1580000"/>
            <a:ext cx="5400000" cy="465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400" b="1" dirty="0">
                <a:solidFill>
                  <a:srgbClr val="6E5AA6"/>
                </a:solidFill>
                <a:latin typeface="Calibri"/>
              </a:rPr>
              <a:t>Databases (typical for this field)</a:t>
            </a:r>
          </a:p>
          <a:p>
            <a:pPr marL="342900" indent="-228600" lvl="0" algn="l">
              <a:spcAft>
                <a:spcPts val="200"/>
              </a:spcAft>
              <a:buFont typeface="Arial"/>
              <a:buChar char="•"/>
            </a:pPr>
            <a:r>
              <a:rPr lang="en-US" sz="1250" dirty="0">
                <a:solidFill>
                  <a:srgbClr val="2E2E38"/>
                </a:solidFill>
                <a:latin typeface="Calibri"/>
              </a:rPr>
              <a:t>PubMed / MEDLINE</a:t>
            </a:r>
          </a:p>
          <a:p>
            <a:pPr marL="342900" indent="-228600" lvl="0" algn="l">
              <a:spcAft>
                <a:spcPts val="200"/>
              </a:spcAft>
              <a:buFont typeface="Arial"/>
              <a:buChar char="•"/>
            </a:pPr>
            <a:r>
              <a:rPr lang="en-US" sz="1250" dirty="0">
                <a:solidFill>
                  <a:srgbClr val="2E2E38"/>
                </a:solidFill>
                <a:latin typeface="Calibri"/>
              </a:rPr>
              <a:t>PsycINFO</a:t>
            </a:r>
          </a:p>
          <a:p>
            <a:pPr marL="342900" indent="-228600" lvl="0" algn="l">
              <a:spcAft>
                <a:spcPts val="200"/>
              </a:spcAft>
              <a:buFont typeface="Arial"/>
              <a:buChar char="•"/>
            </a:pPr>
            <a:r>
              <a:rPr lang="en-US" sz="1250" dirty="0">
                <a:solidFill>
                  <a:srgbClr val="2E2E38"/>
                </a:solidFill>
                <a:latin typeface="Calibri"/>
              </a:rPr>
              <a:t>Embase</a:t>
            </a:r>
          </a:p>
          <a:p>
            <a:pPr marL="342900" indent="-228600" lvl="0" algn="l">
              <a:spcAft>
                <a:spcPts val="200"/>
              </a:spcAft>
              <a:buFont typeface="Arial"/>
              <a:buChar char="•"/>
            </a:pPr>
            <a:r>
              <a:rPr lang="en-US" sz="1250" dirty="0">
                <a:solidFill>
                  <a:srgbClr val="2E2E38"/>
                </a:solidFill>
                <a:latin typeface="Calibri"/>
              </a:rPr>
              <a:t>Cochrane CENTRAL</a:t>
            </a:r>
          </a:p>
          <a:p>
            <a:pPr marL="342900" indent="-228600" lvl="0" algn="l">
              <a:spcAft>
                <a:spcPts val="200"/>
              </a:spcAft>
              <a:buFont typeface="Arial"/>
              <a:buChar char="•"/>
            </a:pPr>
            <a:r>
              <a:rPr lang="en-US" sz="1250" dirty="0">
                <a:solidFill>
                  <a:srgbClr val="2E2E38"/>
                </a:solidFill>
                <a:latin typeface="Calibri"/>
              </a:rPr>
              <a:t>Reference-list &amp; hand-searching</a:t>
            </a:r>
          </a:p>
          <a:p>
            <a:pPr lvl="0" algn="l">
              <a:spcAft>
                <a:spcPts val="0"/>
              </a:spcAft>
              <a:buNone/>
            </a:pPr>
            <a:r>
              <a:rPr lang="en-US" sz="1050" i="1" dirty="0">
                <a:solidFill>
                  <a:srgbClr val="9AA0A6"/>
                </a:solidFill>
                <a:latin typeface="Calibri"/>
              </a:rPr>
              <a:t>Confirm the exact databases, date range and final search date from the paper.</a:t>
            </a:r>
          </a:p>
        </p:txBody>
      </p:sp>
      <p:sp>
        <p:nvSpPr>
          <p:cNvPr id="226" name="card"/>
          <p:cNvSpPr/>
          <p:nvPr/>
        </p:nvSpPr>
        <p:spPr>
          <a:xfrm>
            <a:off x="6260000" y="1580000"/>
            <a:ext cx="5372000" cy="465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t" lIns="91440" tIns="45720" rIns="91440" bIns="45720">
            <a:normAutofit/>
          </a:bodyPr>
          <a:p>
            <a:pPr lvl="0" algn="l">
              <a:spcAft>
                <a:spcPts val="260"/>
              </a:spcAft>
              <a:buNone/>
            </a:pPr>
            <a:r>
              <a:rPr lang="en-US" sz="1350" b="1" dirty="0">
                <a:solidFill>
                  <a:srgbClr val="6E5AA6"/>
                </a:solidFill>
                <a:latin typeface="Calibri"/>
              </a:rPr>
              <a:t>Example concept blocks (Boolean)</a:t>
            </a:r>
          </a:p>
          <a:p>
            <a:pPr lvl="0" algn="l">
              <a:spcAft>
                <a:spcPts val="120"/>
              </a:spcAft>
              <a:buNone/>
            </a:pPr>
            <a:r>
              <a:rPr lang="en-US" sz="1250" b="1" dirty="0">
                <a:solidFill>
                  <a:srgbClr val="2E2E38"/>
                </a:solidFill>
                <a:latin typeface="Calibri"/>
              </a:rPr>
              <a:t>"mentalization-based therapy" OR "MBT"</a:t>
            </a:r>
          </a:p>
          <a:p>
            <a:pPr lvl="0" algn="ctr">
              <a:spcAft>
                <a:spcPts val="120"/>
              </a:spcAft>
              <a:buNone/>
            </a:pPr>
            <a:r>
              <a:rPr lang="en-US" sz="1250" b="1" dirty="0">
                <a:solidFill>
                  <a:srgbClr val="3E7CB1"/>
                </a:solidFill>
                <a:latin typeface="Calibri"/>
              </a:rPr>
              <a:t>AND</a:t>
            </a:r>
          </a:p>
          <a:p>
            <a:pPr lvl="0" algn="l">
              <a:spcAft>
                <a:spcPts val="120"/>
              </a:spcAft>
              <a:buNone/>
            </a:pPr>
            <a:r>
              <a:rPr lang="en-US" sz="1250" b="1" dirty="0">
                <a:solidFill>
                  <a:srgbClr val="2E2E38"/>
                </a:solidFill>
                <a:latin typeface="Calibri"/>
              </a:rPr>
              <a:t>"self-harm" OR "self-injury" OR "suicidal behaviour"</a:t>
            </a:r>
          </a:p>
          <a:p>
            <a:pPr lvl="0" algn="ctr">
              <a:spcAft>
                <a:spcPts val="120"/>
              </a:spcAft>
              <a:buNone/>
            </a:pPr>
            <a:r>
              <a:rPr lang="en-US" sz="1250" b="1" dirty="0">
                <a:solidFill>
                  <a:srgbClr val="3E7CB1"/>
                </a:solidFill>
                <a:latin typeface="Calibri"/>
              </a:rPr>
              <a:t>AND</a:t>
            </a:r>
          </a:p>
          <a:p>
            <a:pPr lvl="0" algn="l">
              <a:spcAft>
                <a:spcPts val="200"/>
              </a:spcAft>
              <a:buNone/>
            </a:pPr>
            <a:r>
              <a:rPr lang="en-US" sz="1250" b="1" dirty="0">
                <a:solidFill>
                  <a:srgbClr val="2E2E38"/>
                </a:solidFill>
                <a:latin typeface="Calibri"/>
              </a:rPr>
              <a:t>"borderline personality disorder" OR "emotional dysregulation"</a:t>
            </a:r>
          </a:p>
          <a:p>
            <a:pPr lvl="0" algn="l">
              <a:spcAft>
                <a:spcPts val="0"/>
              </a:spcAft>
              <a:buNone/>
            </a:pPr>
            <a:r>
              <a:rPr lang="en-US" sz="1000" i="1" dirty="0">
                <a:solidFill>
                  <a:srgbClr val="9AA0A6"/>
                </a:solidFill>
                <a:latin typeface="Calibri"/>
              </a:rPr>
              <a:t>Illustrative only — not the verified search string.</a:t>
            </a:r>
          </a:p>
        </p:txBody>
      </p:sp>
      <p:sp>
        <p:nvSpPr>
          <p:cNvPr id="227"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28"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17</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230"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TEMPLATE — INSERT VERIFIED NUMBERS</a:t>
            </a:r>
          </a:p>
        </p:txBody>
      </p:sp>
      <p:sp>
        <p:nvSpPr>
          <p:cNvPr id="231"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PRISMA Study-Selection Flow</a:t>
            </a:r>
          </a:p>
        </p:txBody>
      </p:sp>
      <p:cxnSp>
        <p:nvCxnSpPr>
          <p:cNvPr id="232" name="ln"/>
          <p:cNvCxnSpPr/>
          <p:nvPr/>
        </p:nvCxnSpPr>
        <p:spPr>
          <a:xfrm>
            <a:off x="560000" y="1320000"/>
            <a:ext cx="11072000" cy="0"/>
          </a:xfrm>
          <a:prstGeom prst="line">
            <a:avLst/>
          </a:prstGeom>
          <a:ln w="28575">
            <a:solidFill>
              <a:srgbClr val="D6C7EE"/>
            </a:solidFill>
          </a:ln>
        </p:spPr>
      </p:cxnSp>
      <p:sp>
        <p:nvSpPr>
          <p:cNvPr id="233" name="card"/>
          <p:cNvSpPr/>
          <p:nvPr/>
        </p:nvSpPr>
        <p:spPr>
          <a:xfrm>
            <a:off x="860000" y="1580000"/>
            <a:ext cx="5200000" cy="560000"/>
          </a:xfrm>
          <a:prstGeom prst="roundRect">
            <a:avLst/>
          </a:prstGeom>
          <a:solidFill>
            <a:srgbClr val="E7E0F7"/>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00" b="1" dirty="0">
                <a:solidFill>
                  <a:srgbClr val="2E2E38"/>
                </a:solidFill>
                <a:latin typeface="Calibri"/>
              </a:rPr>
              <a:t>Records identified through database searching (n = __)</a:t>
            </a:r>
          </a:p>
        </p:txBody>
      </p:sp>
      <p:sp>
        <p:nvSpPr>
          <p:cNvPr id="234" name="ar"/>
          <p:cNvSpPr/>
          <p:nvPr/>
        </p:nvSpPr>
        <p:spPr>
          <a:xfrm>
            <a:off x="3380000.0" y="2144000"/>
            <a:ext cx="160000" cy="164000"/>
          </a:xfrm>
          <a:prstGeom prst="downArrow">
            <a:avLst/>
          </a:prstGeom>
          <a:solidFill>
            <a:srgbClr val="6E5AA6"/>
          </a:solidFill>
        </p:spPr>
        <p:txBody>
          <a:bodyPr/>
          <a:p/>
        </p:txBody>
      </p:sp>
      <p:sp>
        <p:nvSpPr>
          <p:cNvPr id="235" name="card"/>
          <p:cNvSpPr/>
          <p:nvPr/>
        </p:nvSpPr>
        <p:spPr>
          <a:xfrm>
            <a:off x="860000" y="2320000"/>
            <a:ext cx="5200000" cy="560000"/>
          </a:xfrm>
          <a:prstGeom prst="roundRect">
            <a:avLst/>
          </a:prstGeom>
          <a:solidFill>
            <a:srgbClr val="D7E8F4"/>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00" b="1" dirty="0">
                <a:solidFill>
                  <a:srgbClr val="2E2E38"/>
                </a:solidFill>
                <a:latin typeface="Calibri"/>
              </a:rPr>
              <a:t>Records after duplicates removed (n = __)</a:t>
            </a:r>
          </a:p>
        </p:txBody>
      </p:sp>
      <p:sp>
        <p:nvSpPr>
          <p:cNvPr id="236" name="ar"/>
          <p:cNvSpPr/>
          <p:nvPr/>
        </p:nvSpPr>
        <p:spPr>
          <a:xfrm>
            <a:off x="3380000.0" y="2884000"/>
            <a:ext cx="160000" cy="164000"/>
          </a:xfrm>
          <a:prstGeom prst="downArrow">
            <a:avLst/>
          </a:prstGeom>
          <a:solidFill>
            <a:srgbClr val="6E5AA6"/>
          </a:solidFill>
        </p:spPr>
        <p:txBody>
          <a:bodyPr/>
          <a:p/>
        </p:txBody>
      </p:sp>
      <p:sp>
        <p:nvSpPr>
          <p:cNvPr id="237" name="card"/>
          <p:cNvSpPr/>
          <p:nvPr/>
        </p:nvSpPr>
        <p:spPr>
          <a:xfrm>
            <a:off x="860000" y="3060000"/>
            <a:ext cx="5200000" cy="560000"/>
          </a:xfrm>
          <a:prstGeom prst="roundRect">
            <a:avLst/>
          </a:prstGeom>
          <a:solidFill>
            <a:srgbClr val="D5EFE6"/>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00" b="1" dirty="0">
                <a:solidFill>
                  <a:srgbClr val="2E2E38"/>
                </a:solidFill>
                <a:latin typeface="Calibri"/>
              </a:rPr>
              <a:t>Records screened by title/abstract (n = __)</a:t>
            </a:r>
          </a:p>
        </p:txBody>
      </p:sp>
      <p:sp>
        <p:nvSpPr>
          <p:cNvPr id="238" name="ar"/>
          <p:cNvSpPr/>
          <p:nvPr/>
        </p:nvSpPr>
        <p:spPr>
          <a:xfrm>
            <a:off x="3380000.0" y="3624000"/>
            <a:ext cx="160000" cy="164000"/>
          </a:xfrm>
          <a:prstGeom prst="downArrow">
            <a:avLst/>
          </a:prstGeom>
          <a:solidFill>
            <a:srgbClr val="6E5AA6"/>
          </a:solidFill>
        </p:spPr>
        <p:txBody>
          <a:bodyPr/>
          <a:p/>
        </p:txBody>
      </p:sp>
      <p:sp>
        <p:nvSpPr>
          <p:cNvPr id="239" name="card"/>
          <p:cNvSpPr/>
          <p:nvPr/>
        </p:nvSpPr>
        <p:spPr>
          <a:xfrm>
            <a:off x="860000" y="3800000"/>
            <a:ext cx="5200000" cy="560000"/>
          </a:xfrm>
          <a:prstGeom prst="roundRect">
            <a:avLst/>
          </a:prstGeom>
          <a:solidFill>
            <a:srgbClr val="FBE3D2"/>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00" b="1" dirty="0">
                <a:solidFill>
                  <a:srgbClr val="2E2E38"/>
                </a:solidFill>
                <a:latin typeface="Calibri"/>
              </a:rPr>
              <a:t>Full-text articles assessed for eligibility (n = __)</a:t>
            </a:r>
          </a:p>
        </p:txBody>
      </p:sp>
      <p:sp>
        <p:nvSpPr>
          <p:cNvPr id="240" name="ar"/>
          <p:cNvSpPr/>
          <p:nvPr/>
        </p:nvSpPr>
        <p:spPr>
          <a:xfrm>
            <a:off x="3380000.0" y="4364000"/>
            <a:ext cx="160000" cy="164000"/>
          </a:xfrm>
          <a:prstGeom prst="downArrow">
            <a:avLst/>
          </a:prstGeom>
          <a:solidFill>
            <a:srgbClr val="6E5AA6"/>
          </a:solidFill>
        </p:spPr>
        <p:txBody>
          <a:bodyPr/>
          <a:p/>
        </p:txBody>
      </p:sp>
      <p:sp>
        <p:nvSpPr>
          <p:cNvPr id="241" name="card"/>
          <p:cNvSpPr/>
          <p:nvPr/>
        </p:nvSpPr>
        <p:spPr>
          <a:xfrm>
            <a:off x="860000" y="4540000"/>
            <a:ext cx="5200000" cy="560000"/>
          </a:xfrm>
          <a:prstGeom prst="roundRect">
            <a:avLst/>
          </a:prstGeom>
          <a:solidFill>
            <a:srgbClr val="D9E8D2"/>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00" b="1" dirty="0">
                <a:solidFill>
                  <a:srgbClr val="2E2E38"/>
                </a:solidFill>
                <a:latin typeface="Calibri"/>
              </a:rPr>
              <a:t>Studies included in qualitative synthesis (n = __)</a:t>
            </a:r>
          </a:p>
        </p:txBody>
      </p:sp>
      <p:sp>
        <p:nvSpPr>
          <p:cNvPr id="242" name="ar"/>
          <p:cNvSpPr/>
          <p:nvPr/>
        </p:nvSpPr>
        <p:spPr>
          <a:xfrm>
            <a:off x="3380000.0" y="5104000"/>
            <a:ext cx="160000" cy="164000"/>
          </a:xfrm>
          <a:prstGeom prst="downArrow">
            <a:avLst/>
          </a:prstGeom>
          <a:solidFill>
            <a:srgbClr val="6E5AA6"/>
          </a:solidFill>
        </p:spPr>
        <p:txBody>
          <a:bodyPr/>
          <a:p/>
        </p:txBody>
      </p:sp>
      <p:sp>
        <p:nvSpPr>
          <p:cNvPr id="243" name="card"/>
          <p:cNvSpPr/>
          <p:nvPr/>
        </p:nvSpPr>
        <p:spPr>
          <a:xfrm>
            <a:off x="860000" y="5280000"/>
            <a:ext cx="5200000" cy="560000"/>
          </a:xfrm>
          <a:prstGeom prst="roundRect">
            <a:avLst/>
          </a:prstGeom>
          <a:solidFill>
            <a:srgbClr val="E7E0F7"/>
          </a:solidFill>
          <a:ln w="12700">
            <a:solidFill>
              <a:srgbClr val="6E5AA6"/>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200" b="1" dirty="0">
                <a:solidFill>
                  <a:srgbClr val="2E2E38"/>
                </a:solidFill>
                <a:latin typeface="Calibri"/>
              </a:rPr>
              <a:t>Studies included in meta-analysis (n = __)</a:t>
            </a:r>
          </a:p>
        </p:txBody>
      </p:sp>
      <p:sp>
        <p:nvSpPr>
          <p:cNvPr id="244" name="card"/>
          <p:cNvSpPr/>
          <p:nvPr/>
        </p:nvSpPr>
        <p:spPr>
          <a:xfrm>
            <a:off x="6560000" y="3060000"/>
            <a:ext cx="5072000" cy="560000"/>
          </a:xfrm>
          <a:prstGeom prst="roundRect">
            <a:avLst/>
          </a:prstGeom>
          <a:solidFill>
            <a:srgbClr val="F7D9E0"/>
          </a:solidFill>
          <a:ln w="12700">
            <a:solidFill>
              <a:srgbClr val="D98B9E"/>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150" b="1" dirty="0">
                <a:solidFill>
                  <a:srgbClr val="2E2E38"/>
                </a:solidFill>
                <a:latin typeface="Calibri"/>
              </a:rPr>
              <a:t>Excluded after screening (n = __)</a:t>
            </a:r>
          </a:p>
        </p:txBody>
      </p:sp>
      <p:sp>
        <p:nvSpPr>
          <p:cNvPr id="245" name="ar"/>
          <p:cNvSpPr/>
          <p:nvPr/>
        </p:nvSpPr>
        <p:spPr>
          <a:xfrm>
            <a:off x="6100000" y="3260000.0"/>
            <a:ext cx="420000" cy="160000"/>
          </a:xfrm>
          <a:prstGeom prst="rightArrow">
            <a:avLst/>
          </a:prstGeom>
          <a:solidFill>
            <a:srgbClr val="D98B9E"/>
          </a:solidFill>
        </p:spPr>
        <p:txBody>
          <a:bodyPr/>
          <a:p/>
        </p:txBody>
      </p:sp>
      <p:sp>
        <p:nvSpPr>
          <p:cNvPr id="246" name="card"/>
          <p:cNvSpPr/>
          <p:nvPr/>
        </p:nvSpPr>
        <p:spPr>
          <a:xfrm>
            <a:off x="6560000" y="3800000"/>
            <a:ext cx="5072000" cy="680000"/>
          </a:xfrm>
          <a:prstGeom prst="roundRect">
            <a:avLst/>
          </a:prstGeom>
          <a:solidFill>
            <a:srgbClr val="F7D9E0"/>
          </a:solidFill>
          <a:ln w="12700">
            <a:solidFill>
              <a:srgbClr val="D98B9E"/>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0"/>
              </a:spcAft>
              <a:buNone/>
            </a:pPr>
            <a:r>
              <a:rPr lang="en-US" sz="1050" dirty="0">
                <a:solidFill>
                  <a:srgbClr val="2E2E38"/>
                </a:solidFill>
                <a:latin typeface="Calibri"/>
              </a:rPr>
              <a:t>Full texts excluded, with reasons (n = __): no MBT / no relevant outcome / no extractable data / duplicate</a:t>
            </a:r>
          </a:p>
        </p:txBody>
      </p:sp>
      <p:sp>
        <p:nvSpPr>
          <p:cNvPr id="247" name="ar"/>
          <p:cNvSpPr/>
          <p:nvPr/>
        </p:nvSpPr>
        <p:spPr>
          <a:xfrm>
            <a:off x="6100000" y="4000000.0"/>
            <a:ext cx="420000" cy="160000"/>
          </a:xfrm>
          <a:prstGeom prst="rightArrow">
            <a:avLst/>
          </a:prstGeom>
          <a:solidFill>
            <a:srgbClr val="D98B9E"/>
          </a:solidFill>
        </p:spPr>
        <p:txBody>
          <a:bodyPr/>
          <a:p/>
        </p:txBody>
      </p:sp>
      <p:sp>
        <p:nvSpPr>
          <p:cNvPr id="248"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49"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18</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251"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WHO WAS STUDIED</a:t>
            </a:r>
          </a:p>
        </p:txBody>
      </p:sp>
      <p:sp>
        <p:nvSpPr>
          <p:cNvPr id="252"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Participant Characteristics</a:t>
            </a:r>
          </a:p>
        </p:txBody>
      </p:sp>
      <p:cxnSp>
        <p:nvCxnSpPr>
          <p:cNvPr id="253" name="ln"/>
          <p:cNvCxnSpPr/>
          <p:nvPr/>
        </p:nvCxnSpPr>
        <p:spPr>
          <a:xfrm>
            <a:off x="560000" y="1320000"/>
            <a:ext cx="11072000" cy="0"/>
          </a:xfrm>
          <a:prstGeom prst="line">
            <a:avLst/>
          </a:prstGeom>
          <a:ln w="28575">
            <a:solidFill>
              <a:srgbClr val="D6C7EE"/>
            </a:solidFill>
          </a:ln>
        </p:spPr>
      </p:cxnSp>
      <p:sp>
        <p:nvSpPr>
          <p:cNvPr id="254" name="card"/>
          <p:cNvSpPr/>
          <p:nvPr/>
        </p:nvSpPr>
        <p:spPr>
          <a:xfrm>
            <a:off x="560000" y="1580000"/>
            <a:ext cx="2603000" cy="1500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500" b="1" dirty="0">
                <a:solidFill>
                  <a:srgbClr val="6E5AA6"/>
                </a:solidFill>
                <a:latin typeface="Calibri"/>
              </a:rPr>
              <a:t>Age</a:t>
            </a:r>
          </a:p>
          <a:p>
            <a:pPr lvl="0" algn="l">
              <a:spcAft>
                <a:spcPts val="0"/>
              </a:spcAft>
              <a:buNone/>
            </a:pPr>
            <a:r>
              <a:rPr lang="en-US" sz="1150" dirty="0">
                <a:solidFill>
                  <a:srgbClr val="2E2E38"/>
                </a:solidFill>
                <a:latin typeface="Calibri"/>
              </a:rPr>
              <a:t>Adolescents (MBT-A) &amp; adults (MBT); confirm ranges from paper</a:t>
            </a:r>
          </a:p>
        </p:txBody>
      </p:sp>
      <p:sp>
        <p:nvSpPr>
          <p:cNvPr id="255" name="card"/>
          <p:cNvSpPr/>
          <p:nvPr/>
        </p:nvSpPr>
        <p:spPr>
          <a:xfrm>
            <a:off x="3383000" y="1580000"/>
            <a:ext cx="2603000" cy="1500000"/>
          </a:xfrm>
          <a:prstGeom prst="roundRect">
            <a:avLst/>
          </a:prstGeom>
          <a:solidFill>
            <a:srgbClr val="F7D9E0"/>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500" b="1" dirty="0">
                <a:solidFill>
                  <a:srgbClr val="6E5AA6"/>
                </a:solidFill>
                <a:latin typeface="Calibri"/>
              </a:rPr>
              <a:t>Sex</a:t>
            </a:r>
          </a:p>
          <a:p>
            <a:pPr lvl="0" algn="l">
              <a:spcAft>
                <a:spcPts val="0"/>
              </a:spcAft>
              <a:buNone/>
            </a:pPr>
            <a:r>
              <a:rPr lang="en-US" sz="1150" dirty="0">
                <a:solidFill>
                  <a:srgbClr val="2E2E38"/>
                </a:solidFill>
                <a:latin typeface="Calibri"/>
              </a:rPr>
              <a:t>Predominantly female in the constituent trials (e.g., ~85% in Rossouw &amp; Fonagy 2012)</a:t>
            </a:r>
          </a:p>
        </p:txBody>
      </p:sp>
      <p:sp>
        <p:nvSpPr>
          <p:cNvPr id="256" name="card"/>
          <p:cNvSpPr/>
          <p:nvPr/>
        </p:nvSpPr>
        <p:spPr>
          <a:xfrm>
            <a:off x="6206000" y="1580000"/>
            <a:ext cx="2603000" cy="1500000"/>
          </a:xfrm>
          <a:prstGeom prst="roundRect">
            <a:avLst/>
          </a:prstGeom>
          <a:solidFill>
            <a:srgbClr val="E7E0F7"/>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500" b="1" dirty="0">
                <a:solidFill>
                  <a:srgbClr val="6E5AA6"/>
                </a:solidFill>
                <a:latin typeface="Calibri"/>
              </a:rPr>
              <a:t>Diagnosis</a:t>
            </a:r>
          </a:p>
          <a:p>
            <a:pPr lvl="0" algn="l">
              <a:spcAft>
                <a:spcPts val="0"/>
              </a:spcAft>
              <a:buNone/>
            </a:pPr>
            <a:r>
              <a:rPr lang="en-US" sz="1150" dirty="0">
                <a:solidFill>
                  <a:srgbClr val="2E2E38"/>
                </a:solidFill>
                <a:latin typeface="Calibri"/>
              </a:rPr>
              <a:t>Self-harm ± BPD / emerging BPD traits; emotional dysregulation</a:t>
            </a:r>
          </a:p>
        </p:txBody>
      </p:sp>
      <p:sp>
        <p:nvSpPr>
          <p:cNvPr id="257" name="card"/>
          <p:cNvSpPr/>
          <p:nvPr/>
        </p:nvSpPr>
        <p:spPr>
          <a:xfrm>
            <a:off x="9029000" y="1580000"/>
            <a:ext cx="2603000" cy="1500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500" b="1" dirty="0">
                <a:solidFill>
                  <a:srgbClr val="6E5AA6"/>
                </a:solidFill>
                <a:latin typeface="Calibri"/>
              </a:rPr>
              <a:t>Setting</a:t>
            </a:r>
          </a:p>
          <a:p>
            <a:pPr lvl="0" algn="l">
              <a:spcAft>
                <a:spcPts val="0"/>
              </a:spcAft>
              <a:buNone/>
            </a:pPr>
            <a:r>
              <a:rPr lang="en-US" sz="1150" dirty="0">
                <a:solidFill>
                  <a:srgbClr val="2E2E38"/>
                </a:solidFill>
                <a:latin typeface="Calibri"/>
              </a:rPr>
              <a:t>Mostly outpatient mental-health services in high-income (largely European) countries</a:t>
            </a:r>
          </a:p>
        </p:txBody>
      </p:sp>
      <p:sp>
        <p:nvSpPr>
          <p:cNvPr id="258" name="card"/>
          <p:cNvSpPr/>
          <p:nvPr/>
        </p:nvSpPr>
        <p:spPr>
          <a:xfrm>
            <a:off x="560000" y="3300000"/>
            <a:ext cx="11072000" cy="299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00" b="1" dirty="0">
                <a:solidFill>
                  <a:srgbClr val="6E5AA6"/>
                </a:solidFill>
                <a:latin typeface="Calibri"/>
              </a:rPr>
              <a:t>Total studies and pooled N: </a:t>
            </a:r>
            <a:r>
              <a:rPr lang="en-US" sz="1250" dirty="0">
                <a:solidFill>
                  <a:srgbClr val="2E2E38"/>
                </a:solidFill>
                <a:latin typeface="Calibri"/>
              </a:rPr>
              <a:t>insert from the paper's characteristics table. Samples are small and skew female, adolescent/young-adult, and Western — note this for generalisability.</a:t>
            </a:r>
          </a:p>
        </p:txBody>
      </p:sp>
      <p:sp>
        <p:nvSpPr>
          <p:cNvPr id="259"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60"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19</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262"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THE INTERVENTION</a:t>
            </a:r>
          </a:p>
        </p:txBody>
      </p:sp>
      <p:sp>
        <p:nvSpPr>
          <p:cNvPr id="263"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MBT Treatment Protocol &amp; Core Principles</a:t>
            </a:r>
          </a:p>
        </p:txBody>
      </p:sp>
      <p:cxnSp>
        <p:nvCxnSpPr>
          <p:cNvPr id="264" name="ln"/>
          <p:cNvCxnSpPr/>
          <p:nvPr/>
        </p:nvCxnSpPr>
        <p:spPr>
          <a:xfrm>
            <a:off x="560000" y="1320000"/>
            <a:ext cx="11072000" cy="0"/>
          </a:xfrm>
          <a:prstGeom prst="line">
            <a:avLst/>
          </a:prstGeom>
          <a:ln w="28575">
            <a:solidFill>
              <a:srgbClr val="D6C7EE"/>
            </a:solidFill>
          </a:ln>
        </p:spPr>
      </p:cxnSp>
      <p:sp>
        <p:nvSpPr>
          <p:cNvPr id="265" name="card"/>
          <p:cNvSpPr/>
          <p:nvPr/>
        </p:nvSpPr>
        <p:spPr>
          <a:xfrm>
            <a:off x="560000" y="1580000"/>
            <a:ext cx="5600000" cy="465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400" b="1" dirty="0">
                <a:solidFill>
                  <a:srgbClr val="6E5AA6"/>
                </a:solidFill>
                <a:latin typeface="Calibri"/>
              </a:rPr>
              <a:t>Delivery (as reported across trials)</a:t>
            </a:r>
          </a:p>
          <a:p>
            <a:pPr marL="342900" indent="-228600" lvl="0" algn="l">
              <a:spcAft>
                <a:spcPts val="200"/>
              </a:spcAft>
              <a:buFont typeface="Arial"/>
              <a:buChar char="•"/>
            </a:pPr>
            <a:r>
              <a:rPr lang="en-US" sz="1200" dirty="0">
                <a:solidFill>
                  <a:srgbClr val="2E2E38"/>
                </a:solidFill>
                <a:latin typeface="Calibri"/>
              </a:rPr>
              <a:t>Individual and/or group MBT (MBT-A adds a parent/family strand)</a:t>
            </a:r>
          </a:p>
          <a:p>
            <a:pPr marL="342900" indent="-228600" lvl="0" algn="l">
              <a:spcAft>
                <a:spcPts val="200"/>
              </a:spcAft>
              <a:buFont typeface="Arial"/>
              <a:buChar char="•"/>
            </a:pPr>
            <a:r>
              <a:rPr lang="en-US" sz="1200" dirty="0">
                <a:solidFill>
                  <a:srgbClr val="2E2E38"/>
                </a:solidFill>
                <a:latin typeface="Calibri"/>
              </a:rPr>
              <a:t>Typically ~12 months in landmark adolescent trial; frequency varies</a:t>
            </a:r>
          </a:p>
          <a:p>
            <a:pPr marL="342900" indent="-228600" lvl="0" algn="l">
              <a:spcAft>
                <a:spcPts val="200"/>
              </a:spcAft>
              <a:buFont typeface="Arial"/>
              <a:buChar char="•"/>
            </a:pPr>
            <a:r>
              <a:rPr lang="en-US" sz="1200" dirty="0">
                <a:solidFill>
                  <a:srgbClr val="2E2E38"/>
                </a:solidFill>
                <a:latin typeface="Calibri"/>
              </a:rPr>
              <a:t>Delivered by trained therapists with supervision</a:t>
            </a:r>
          </a:p>
          <a:p>
            <a:pPr marL="342900" indent="-228600" lvl="0" algn="l">
              <a:spcAft>
                <a:spcPts val="200"/>
              </a:spcAft>
              <a:buFont typeface="Arial"/>
              <a:buChar char="•"/>
            </a:pPr>
            <a:r>
              <a:rPr lang="en-US" sz="1200" dirty="0">
                <a:solidFill>
                  <a:srgbClr val="2E2E38"/>
                </a:solidFill>
                <a:latin typeface="Calibri"/>
              </a:rPr>
              <a:t>Outpatient delivery; crisis management alongside therapy</a:t>
            </a:r>
          </a:p>
          <a:p>
            <a:pPr marL="342900" indent="-228600" lvl="0" algn="l">
              <a:spcAft>
                <a:spcPts val="200"/>
              </a:spcAft>
              <a:buFont typeface="Arial"/>
              <a:buChar char="•"/>
            </a:pPr>
            <a:r>
              <a:rPr lang="en-US" sz="1200" dirty="0">
                <a:solidFill>
                  <a:srgbClr val="2E2E38"/>
                </a:solidFill>
                <a:latin typeface="Calibri"/>
              </a:rPr>
              <a:t>Fidelity/adherence monitoring inconsistently reported</a:t>
            </a:r>
          </a:p>
          <a:p>
            <a:pPr lvl="0" algn="l">
              <a:spcAft>
                <a:spcPts val="0"/>
              </a:spcAft>
              <a:buNone/>
            </a:pPr>
            <a:r>
              <a:rPr lang="en-US" sz="1000" i="1" dirty="0">
                <a:solidFill>
                  <a:srgbClr val="9AA0A6"/>
                </a:solidFill>
                <a:latin typeface="Calibri"/>
              </a:rPr>
              <a:t>Confirm session number, duration and format from each included study.</a:t>
            </a:r>
          </a:p>
        </p:txBody>
      </p:sp>
      <p:sp>
        <p:nvSpPr>
          <p:cNvPr id="266" name="card"/>
          <p:cNvSpPr/>
          <p:nvPr/>
        </p:nvSpPr>
        <p:spPr>
          <a:xfrm>
            <a:off x="6460000" y="1580000"/>
            <a:ext cx="5172000" cy="4658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400" b="1" dirty="0">
                <a:solidFill>
                  <a:srgbClr val="6E5AA6"/>
                </a:solidFill>
                <a:latin typeface="Calibri"/>
              </a:rPr>
              <a:t>Core therapeutic stance</a:t>
            </a:r>
          </a:p>
          <a:p>
            <a:pPr marL="342900" indent="-228600" lvl="0" algn="l">
              <a:spcAft>
                <a:spcPts val="180"/>
              </a:spcAft>
              <a:buFont typeface="Arial"/>
              <a:buChar char="•"/>
            </a:pPr>
            <a:r>
              <a:rPr lang="en-US" sz="1200" dirty="0">
                <a:solidFill>
                  <a:srgbClr val="2E2E38"/>
                </a:solidFill>
                <a:latin typeface="Calibri"/>
              </a:rPr>
              <a:t>Curiosity &amp; 'not-knowing' stance</a:t>
            </a:r>
          </a:p>
          <a:p>
            <a:pPr marL="342900" indent="-228600" lvl="0" algn="l">
              <a:spcAft>
                <a:spcPts val="180"/>
              </a:spcAft>
              <a:buFont typeface="Arial"/>
              <a:buChar char="•"/>
            </a:pPr>
            <a:r>
              <a:rPr lang="en-US" sz="1200" dirty="0">
                <a:solidFill>
                  <a:srgbClr val="2E2E38"/>
                </a:solidFill>
                <a:latin typeface="Calibri"/>
              </a:rPr>
              <a:t>Focus on current mental states &amp; affect</a:t>
            </a:r>
          </a:p>
          <a:p>
            <a:pPr marL="342900" indent="-228600" lvl="0" algn="l">
              <a:spcAft>
                <a:spcPts val="180"/>
              </a:spcAft>
              <a:buFont typeface="Arial"/>
              <a:buChar char="•"/>
            </a:pPr>
            <a:r>
              <a:rPr lang="en-US" sz="1200" dirty="0">
                <a:solidFill>
                  <a:srgbClr val="2E2E38"/>
                </a:solidFill>
                <a:latin typeface="Calibri"/>
              </a:rPr>
              <a:t>Clarify, explore alternative perspectives</a:t>
            </a:r>
          </a:p>
          <a:p>
            <a:pPr marL="342900" indent="-228600" lvl="0" algn="l">
              <a:spcAft>
                <a:spcPts val="180"/>
              </a:spcAft>
              <a:buFont typeface="Arial"/>
              <a:buChar char="•"/>
            </a:pPr>
            <a:r>
              <a:rPr lang="en-US" sz="1200" dirty="0">
                <a:solidFill>
                  <a:srgbClr val="2E2E38"/>
                </a:solidFill>
                <a:latin typeface="Calibri"/>
              </a:rPr>
              <a:t>Regulate arousal; repair misunderstandings</a:t>
            </a:r>
          </a:p>
          <a:p>
            <a:pPr marL="342900" indent="-228600" lvl="0" algn="l">
              <a:spcAft>
                <a:spcPts val="180"/>
              </a:spcAft>
              <a:buFont typeface="Arial"/>
              <a:buChar char="•"/>
            </a:pPr>
            <a:r>
              <a:rPr lang="en-US" sz="1200" dirty="0">
                <a:solidFill>
                  <a:srgbClr val="2E2E38"/>
                </a:solidFill>
                <a:latin typeface="Calibri"/>
              </a:rPr>
              <a:t>Stay in the interpersonal context</a:t>
            </a:r>
          </a:p>
          <a:p>
            <a:pPr marL="342900" indent="-228600" lvl="0" algn="l">
              <a:spcAft>
                <a:spcPts val="180"/>
              </a:spcAft>
              <a:buFont typeface="Arial"/>
              <a:buChar char="•"/>
            </a:pPr>
            <a:r>
              <a:rPr lang="en-US" sz="1200" dirty="0">
                <a:solidFill>
                  <a:srgbClr val="2E2E38"/>
                </a:solidFill>
                <a:latin typeface="Calibri"/>
              </a:rPr>
              <a:t>Avoid premature interpretation</a:t>
            </a:r>
          </a:p>
        </p:txBody>
      </p:sp>
      <p:sp>
        <p:nvSpPr>
          <p:cNvPr id="267"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68"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20</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270"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WHAT MBT WAS COMPARED AGAINST</a:t>
            </a:r>
          </a:p>
        </p:txBody>
      </p:sp>
      <p:sp>
        <p:nvSpPr>
          <p:cNvPr id="271"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Control / Comparison Conditions</a:t>
            </a:r>
          </a:p>
        </p:txBody>
      </p:sp>
      <p:cxnSp>
        <p:nvCxnSpPr>
          <p:cNvPr id="272" name="ln"/>
          <p:cNvCxnSpPr/>
          <p:nvPr/>
        </p:nvCxnSpPr>
        <p:spPr>
          <a:xfrm>
            <a:off x="560000" y="1320000"/>
            <a:ext cx="11072000" cy="0"/>
          </a:xfrm>
          <a:prstGeom prst="line">
            <a:avLst/>
          </a:prstGeom>
          <a:ln w="28575">
            <a:solidFill>
              <a:srgbClr val="D6C7EE"/>
            </a:solidFill>
          </a:ln>
        </p:spPr>
      </p:cxnSp>
      <p:sp>
        <p:nvSpPr>
          <p:cNvPr id="273" name="r"/>
          <p:cNvSpPr/>
          <p:nvPr/>
        </p:nvSpPr>
        <p:spPr>
          <a:xfrm>
            <a:off x="560000" y="1580000"/>
            <a:ext cx="3000000" cy="70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00" b="1" dirty="0">
                <a:solidFill>
                  <a:srgbClr val="FFFFFF"/>
                </a:solidFill>
                <a:latin typeface="Calibri"/>
              </a:rPr>
              <a:t>Comparator</a:t>
            </a:r>
          </a:p>
        </p:txBody>
      </p:sp>
      <p:sp>
        <p:nvSpPr>
          <p:cNvPr id="274" name="r"/>
          <p:cNvSpPr/>
          <p:nvPr/>
        </p:nvSpPr>
        <p:spPr>
          <a:xfrm>
            <a:off x="3560000" y="1580000"/>
            <a:ext cx="4200000" cy="70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00" b="1" dirty="0">
                <a:solidFill>
                  <a:srgbClr val="FFFFFF"/>
                </a:solidFill>
                <a:latin typeface="Calibri"/>
              </a:rPr>
              <a:t>What it involves</a:t>
            </a:r>
          </a:p>
        </p:txBody>
      </p:sp>
      <p:sp>
        <p:nvSpPr>
          <p:cNvPr id="275" name="r"/>
          <p:cNvSpPr/>
          <p:nvPr/>
        </p:nvSpPr>
        <p:spPr>
          <a:xfrm>
            <a:off x="7760000" y="1580000"/>
            <a:ext cx="3872000" cy="70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00" b="1" dirty="0">
                <a:solidFill>
                  <a:srgbClr val="FFFFFF"/>
                </a:solidFill>
                <a:latin typeface="Calibri"/>
              </a:rPr>
              <a:t>Implication for interpretation</a:t>
            </a:r>
          </a:p>
        </p:txBody>
      </p:sp>
      <p:sp>
        <p:nvSpPr>
          <p:cNvPr id="276" name="r"/>
          <p:cNvSpPr/>
          <p:nvPr/>
        </p:nvSpPr>
        <p:spPr>
          <a:xfrm>
            <a:off x="560000" y="2280000"/>
            <a:ext cx="3000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Treatment as usual (TAU)</a:t>
            </a:r>
          </a:p>
        </p:txBody>
      </p:sp>
      <p:sp>
        <p:nvSpPr>
          <p:cNvPr id="277" name="r"/>
          <p:cNvSpPr/>
          <p:nvPr/>
        </p:nvSpPr>
        <p:spPr>
          <a:xfrm>
            <a:off x="3560000" y="2280000"/>
            <a:ext cx="4200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Routine care, often variable &amp; non-specific</a:t>
            </a:r>
          </a:p>
        </p:txBody>
      </p:sp>
      <p:sp>
        <p:nvSpPr>
          <p:cNvPr id="278" name="r"/>
          <p:cNvSpPr/>
          <p:nvPr/>
        </p:nvSpPr>
        <p:spPr>
          <a:xfrm>
            <a:off x="7760000" y="2280000"/>
            <a:ext cx="3872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Most common comparator; effect may partly reflect TAU quality</a:t>
            </a:r>
          </a:p>
        </p:txBody>
      </p:sp>
      <p:sp>
        <p:nvSpPr>
          <p:cNvPr id="279" name="r"/>
          <p:cNvSpPr/>
          <p:nvPr/>
        </p:nvSpPr>
        <p:spPr>
          <a:xfrm>
            <a:off x="560000" y="2980000"/>
            <a:ext cx="3000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Structured clinical management</a:t>
            </a:r>
          </a:p>
        </p:txBody>
      </p:sp>
      <p:sp>
        <p:nvSpPr>
          <p:cNvPr id="280" name="r"/>
          <p:cNvSpPr/>
          <p:nvPr/>
        </p:nvSpPr>
        <p:spPr>
          <a:xfrm>
            <a:off x="3560000" y="2980000"/>
            <a:ext cx="4200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Manualised generic support (active control)</a:t>
            </a:r>
          </a:p>
        </p:txBody>
      </p:sp>
      <p:sp>
        <p:nvSpPr>
          <p:cNvPr id="281" name="r"/>
          <p:cNvSpPr/>
          <p:nvPr/>
        </p:nvSpPr>
        <p:spPr>
          <a:xfrm>
            <a:off x="7760000" y="2980000"/>
            <a:ext cx="3872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Sterner test — smaller MBT advantage expected</a:t>
            </a:r>
          </a:p>
        </p:txBody>
      </p:sp>
      <p:sp>
        <p:nvSpPr>
          <p:cNvPr id="282" name="r"/>
          <p:cNvSpPr/>
          <p:nvPr/>
        </p:nvSpPr>
        <p:spPr>
          <a:xfrm>
            <a:off x="560000" y="3680000"/>
            <a:ext cx="3000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Waiting list / no treatment</a:t>
            </a:r>
          </a:p>
        </p:txBody>
      </p:sp>
      <p:sp>
        <p:nvSpPr>
          <p:cNvPr id="283" name="r"/>
          <p:cNvSpPr/>
          <p:nvPr/>
        </p:nvSpPr>
        <p:spPr>
          <a:xfrm>
            <a:off x="3560000" y="3680000"/>
            <a:ext cx="4200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No active therapy</a:t>
            </a:r>
          </a:p>
        </p:txBody>
      </p:sp>
      <p:sp>
        <p:nvSpPr>
          <p:cNvPr id="284" name="r"/>
          <p:cNvSpPr/>
          <p:nvPr/>
        </p:nvSpPr>
        <p:spPr>
          <a:xfrm>
            <a:off x="7760000" y="3680000"/>
            <a:ext cx="3872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Tends to inflate apparent effect sizes</a:t>
            </a:r>
          </a:p>
        </p:txBody>
      </p:sp>
      <p:sp>
        <p:nvSpPr>
          <p:cNvPr id="285" name="r"/>
          <p:cNvSpPr/>
          <p:nvPr/>
        </p:nvSpPr>
        <p:spPr>
          <a:xfrm>
            <a:off x="560000" y="4380000"/>
            <a:ext cx="3000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Another psychotherapy</a:t>
            </a:r>
          </a:p>
        </p:txBody>
      </p:sp>
      <p:sp>
        <p:nvSpPr>
          <p:cNvPr id="286" name="r"/>
          <p:cNvSpPr/>
          <p:nvPr/>
        </p:nvSpPr>
        <p:spPr>
          <a:xfrm>
            <a:off x="3560000" y="4380000"/>
            <a:ext cx="4200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e.g., DBT / supportive therapy</a:t>
            </a:r>
          </a:p>
        </p:txBody>
      </p:sp>
      <p:sp>
        <p:nvSpPr>
          <p:cNvPr id="287" name="r"/>
          <p:cNvSpPr/>
          <p:nvPr/>
        </p:nvSpPr>
        <p:spPr>
          <a:xfrm>
            <a:off x="7760000" y="4380000"/>
            <a:ext cx="3872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Head-to-head; rare in the MBT self-harm literature</a:t>
            </a:r>
          </a:p>
        </p:txBody>
      </p:sp>
      <p:sp>
        <p:nvSpPr>
          <p:cNvPr id="288" name="tb"/>
          <p:cNvSpPr txBox="1"/>
          <p:nvPr/>
        </p:nvSpPr>
        <p:spPr>
          <a:xfrm>
            <a:off x="560000" y="5120000"/>
            <a:ext cx="11072000" cy="360000"/>
          </a:xfrm>
          <a:prstGeom prst="rect">
            <a:avLst/>
          </a:prstGeom>
          <a:noFill/>
        </p:spPr>
        <p:txBody>
          <a:bodyPr wrap="square" anchor="t" lIns="45720" tIns="27432" rIns="45720" bIns="27432">
            <a:normAutofit/>
          </a:bodyPr>
          <a:p>
            <a:pPr lvl="0" algn="l">
              <a:spcAft>
                <a:spcPts val="0"/>
              </a:spcAft>
              <a:buNone/>
            </a:pPr>
            <a:r>
              <a:rPr lang="en-US" sz="1050" i="1" dirty="0">
                <a:solidFill>
                  <a:srgbClr val="9AA0A6"/>
                </a:solidFill>
                <a:latin typeface="Calibri"/>
              </a:rPr>
              <a:t>Heterogeneous comparators are a key driver of between-study variance and complicate a single pooled estimate.</a:t>
            </a:r>
          </a:p>
        </p:txBody>
      </p:sp>
      <p:sp>
        <p:nvSpPr>
          <p:cNvPr id="289"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90"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21</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292"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PRIMARY &amp; SECONDARY</a:t>
            </a:r>
          </a:p>
        </p:txBody>
      </p:sp>
      <p:sp>
        <p:nvSpPr>
          <p:cNvPr id="293"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Outcome Measures</a:t>
            </a:r>
          </a:p>
        </p:txBody>
      </p:sp>
      <p:cxnSp>
        <p:nvCxnSpPr>
          <p:cNvPr id="294" name="ln"/>
          <p:cNvCxnSpPr/>
          <p:nvPr/>
        </p:nvCxnSpPr>
        <p:spPr>
          <a:xfrm>
            <a:off x="560000" y="1320000"/>
            <a:ext cx="11072000" cy="0"/>
          </a:xfrm>
          <a:prstGeom prst="line">
            <a:avLst/>
          </a:prstGeom>
          <a:ln w="28575">
            <a:solidFill>
              <a:srgbClr val="D6C7EE"/>
            </a:solidFill>
          </a:ln>
        </p:spPr>
      </p:cxnSp>
      <p:sp>
        <p:nvSpPr>
          <p:cNvPr id="295" name="card"/>
          <p:cNvSpPr/>
          <p:nvPr/>
        </p:nvSpPr>
        <p:spPr>
          <a:xfrm>
            <a:off x="560000" y="1580000"/>
            <a:ext cx="5386000" cy="4658000"/>
          </a:xfrm>
          <a:prstGeom prst="roundRect">
            <a:avLst/>
          </a:prstGeom>
          <a:solidFill>
            <a:srgbClr val="F7D9E0"/>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600" b="1" dirty="0">
                <a:solidFill>
                  <a:srgbClr val="6E5AA6"/>
                </a:solidFill>
                <a:latin typeface="Calibri"/>
              </a:rPr>
              <a:t>Primary</a:t>
            </a:r>
          </a:p>
          <a:p>
            <a:pPr marL="342900" indent="-228600" lvl="0" algn="l">
              <a:spcAft>
                <a:spcPts val="240"/>
              </a:spcAft>
              <a:buFont typeface="Arial"/>
              <a:buChar char="•"/>
            </a:pPr>
            <a:r>
              <a:rPr lang="en-US" sz="1300" dirty="0">
                <a:solidFill>
                  <a:srgbClr val="2E2E38"/>
                </a:solidFill>
                <a:latin typeface="Calibri"/>
              </a:rPr>
              <a:t>Frequency / number of self-harm episodes</a:t>
            </a:r>
          </a:p>
          <a:p>
            <a:pPr marL="342900" indent="-228600" lvl="0" algn="l">
              <a:spcAft>
                <a:spcPts val="240"/>
              </a:spcAft>
              <a:buFont typeface="Arial"/>
              <a:buChar char="•"/>
            </a:pPr>
            <a:r>
              <a:rPr lang="en-US" sz="1300" dirty="0">
                <a:solidFill>
                  <a:srgbClr val="2E2E38"/>
                </a:solidFill>
                <a:latin typeface="Calibri"/>
              </a:rPr>
              <a:t>Self-harm severity</a:t>
            </a:r>
          </a:p>
          <a:p>
            <a:pPr marL="342900" indent="-228600" lvl="0" algn="l">
              <a:spcAft>
                <a:spcPts val="240"/>
              </a:spcAft>
              <a:buFont typeface="Arial"/>
              <a:buChar char="•"/>
            </a:pPr>
            <a:r>
              <a:rPr lang="en-US" sz="1300" dirty="0">
                <a:solidFill>
                  <a:srgbClr val="2E2E38"/>
                </a:solidFill>
                <a:latin typeface="Calibri"/>
              </a:rPr>
              <a:t>Time to recurrence</a:t>
            </a:r>
          </a:p>
          <a:p>
            <a:pPr marL="342900" indent="-228600" lvl="0" algn="l">
              <a:spcAft>
                <a:spcPts val="240"/>
              </a:spcAft>
              <a:buFont typeface="Arial"/>
              <a:buChar char="•"/>
            </a:pPr>
            <a:r>
              <a:rPr lang="en-US" sz="1300" dirty="0">
                <a:solidFill>
                  <a:srgbClr val="2E2E38"/>
                </a:solidFill>
                <a:latin typeface="Calibri"/>
              </a:rPr>
              <a:t>Suicidal behaviour</a:t>
            </a:r>
          </a:p>
        </p:txBody>
      </p:sp>
      <p:sp>
        <p:nvSpPr>
          <p:cNvPr id="296" name="card"/>
          <p:cNvSpPr/>
          <p:nvPr/>
        </p:nvSpPr>
        <p:spPr>
          <a:xfrm>
            <a:off x="6246000" y="1580000"/>
            <a:ext cx="5386000" cy="465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600" b="1" dirty="0">
                <a:solidFill>
                  <a:srgbClr val="6E5AA6"/>
                </a:solidFill>
                <a:latin typeface="Calibri"/>
              </a:rPr>
              <a:t>Secondary</a:t>
            </a:r>
          </a:p>
          <a:p>
            <a:pPr marL="342900" indent="-228600" lvl="0" algn="l">
              <a:spcAft>
                <a:spcPts val="210"/>
              </a:spcAft>
              <a:buFont typeface="Arial"/>
              <a:buChar char="•"/>
            </a:pPr>
            <a:r>
              <a:rPr lang="en-US" sz="1300" dirty="0">
                <a:solidFill>
                  <a:srgbClr val="2E2E38"/>
                </a:solidFill>
                <a:latin typeface="Calibri"/>
              </a:rPr>
              <a:t>BPD symptoms</a:t>
            </a:r>
          </a:p>
          <a:p>
            <a:pPr marL="342900" indent="-228600" lvl="0" algn="l">
              <a:spcAft>
                <a:spcPts val="210"/>
              </a:spcAft>
              <a:buFont typeface="Arial"/>
              <a:buChar char="•"/>
            </a:pPr>
            <a:r>
              <a:rPr lang="en-US" sz="1300" dirty="0">
                <a:solidFill>
                  <a:srgbClr val="2E2E38"/>
                </a:solidFill>
                <a:latin typeface="Calibri"/>
              </a:rPr>
              <a:t>Depression &amp; anxiety</a:t>
            </a:r>
          </a:p>
          <a:p>
            <a:pPr marL="342900" indent="-228600" lvl="0" algn="l">
              <a:spcAft>
                <a:spcPts val="210"/>
              </a:spcAft>
              <a:buFont typeface="Arial"/>
              <a:buChar char="•"/>
            </a:pPr>
            <a:r>
              <a:rPr lang="en-US" sz="1300" dirty="0">
                <a:solidFill>
                  <a:srgbClr val="2E2E38"/>
                </a:solidFill>
                <a:latin typeface="Calibri"/>
              </a:rPr>
              <a:t>Emotion dysregulation &amp; impulsivity</a:t>
            </a:r>
          </a:p>
          <a:p>
            <a:pPr marL="342900" indent="-228600" lvl="0" algn="l">
              <a:spcAft>
                <a:spcPts val="210"/>
              </a:spcAft>
              <a:buFont typeface="Arial"/>
              <a:buChar char="•"/>
            </a:pPr>
            <a:r>
              <a:rPr lang="en-US" sz="1300" dirty="0">
                <a:solidFill>
                  <a:srgbClr val="2E2E38"/>
                </a:solidFill>
                <a:latin typeface="Calibri"/>
              </a:rPr>
              <a:t>Global functioning / quality of life</a:t>
            </a:r>
          </a:p>
          <a:p>
            <a:pPr marL="342900" indent="-228600" lvl="0" algn="l">
              <a:spcAft>
                <a:spcPts val="210"/>
              </a:spcAft>
              <a:buFont typeface="Arial"/>
              <a:buChar char="•"/>
            </a:pPr>
            <a:r>
              <a:rPr lang="en-US" sz="1300" dirty="0">
                <a:solidFill>
                  <a:srgbClr val="2E2E38"/>
                </a:solidFill>
                <a:latin typeface="Calibri"/>
              </a:rPr>
              <a:t>Treatment retention &amp; hospital use</a:t>
            </a:r>
          </a:p>
        </p:txBody>
      </p:sp>
      <p:sp>
        <p:nvSpPr>
          <p:cNvPr id="297"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298"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22</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300"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TEMPLATE — CONFIRM RATINGS FROM PAPER</a:t>
            </a:r>
          </a:p>
        </p:txBody>
      </p:sp>
      <p:sp>
        <p:nvSpPr>
          <p:cNvPr id="301"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Risk-of-Bias Assessment</a:t>
            </a:r>
          </a:p>
        </p:txBody>
      </p:sp>
      <p:cxnSp>
        <p:nvCxnSpPr>
          <p:cNvPr id="302" name="ln"/>
          <p:cNvCxnSpPr/>
          <p:nvPr/>
        </p:nvCxnSpPr>
        <p:spPr>
          <a:xfrm>
            <a:off x="560000" y="1320000"/>
            <a:ext cx="11072000" cy="0"/>
          </a:xfrm>
          <a:prstGeom prst="line">
            <a:avLst/>
          </a:prstGeom>
          <a:ln w="28575">
            <a:solidFill>
              <a:srgbClr val="D6C7EE"/>
            </a:solidFill>
          </a:ln>
        </p:spPr>
      </p:cxnSp>
      <p:sp>
        <p:nvSpPr>
          <p:cNvPr id="303" name="tb"/>
          <p:cNvSpPr txBox="1"/>
          <p:nvPr/>
        </p:nvSpPr>
        <p:spPr>
          <a:xfrm>
            <a:off x="560000" y="2140000"/>
            <a:ext cx="2500000" cy="56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Random sequence generation</a:t>
            </a:r>
          </a:p>
        </p:txBody>
      </p:sp>
      <p:sp>
        <p:nvSpPr>
          <p:cNvPr id="304" name="tb"/>
          <p:cNvSpPr txBox="1"/>
          <p:nvPr/>
        </p:nvSpPr>
        <p:spPr>
          <a:xfrm>
            <a:off x="560000" y="2700000"/>
            <a:ext cx="2500000" cy="56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Allocation concealment</a:t>
            </a:r>
          </a:p>
        </p:txBody>
      </p:sp>
      <p:sp>
        <p:nvSpPr>
          <p:cNvPr id="305" name="tb"/>
          <p:cNvSpPr txBox="1"/>
          <p:nvPr/>
        </p:nvSpPr>
        <p:spPr>
          <a:xfrm>
            <a:off x="560000" y="3260000"/>
            <a:ext cx="2500000" cy="56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Blinding of outcome assessment</a:t>
            </a:r>
          </a:p>
        </p:txBody>
      </p:sp>
      <p:sp>
        <p:nvSpPr>
          <p:cNvPr id="306" name="tb"/>
          <p:cNvSpPr txBox="1"/>
          <p:nvPr/>
        </p:nvSpPr>
        <p:spPr>
          <a:xfrm>
            <a:off x="560000" y="3820000"/>
            <a:ext cx="2500000" cy="56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Incomplete outcome data</a:t>
            </a:r>
          </a:p>
        </p:txBody>
      </p:sp>
      <p:sp>
        <p:nvSpPr>
          <p:cNvPr id="307" name="tb"/>
          <p:cNvSpPr txBox="1"/>
          <p:nvPr/>
        </p:nvSpPr>
        <p:spPr>
          <a:xfrm>
            <a:off x="560000" y="4380000"/>
            <a:ext cx="2500000" cy="56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Selective reporting</a:t>
            </a:r>
          </a:p>
        </p:txBody>
      </p:sp>
      <p:sp>
        <p:nvSpPr>
          <p:cNvPr id="308" name="tb"/>
          <p:cNvSpPr txBox="1"/>
          <p:nvPr/>
        </p:nvSpPr>
        <p:spPr>
          <a:xfrm>
            <a:off x="560000" y="4940000"/>
            <a:ext cx="2500000" cy="560000"/>
          </a:xfrm>
          <a:prstGeom prst="rect">
            <a:avLst/>
          </a:prstGeom>
          <a:noFill/>
        </p:spPr>
        <p:txBody>
          <a:bodyPr wrap="square" anchor="ctr" lIns="45720" tIns="27432" rIns="45720" bIns="27432">
            <a:normAutofit/>
          </a:bodyPr>
          <a:p>
            <a:pPr lvl="0" algn="r">
              <a:spcAft>
                <a:spcPts val="0"/>
              </a:spcAft>
              <a:buNone/>
            </a:pPr>
            <a:r>
              <a:rPr lang="en-US" sz="1050" dirty="0">
                <a:solidFill>
                  <a:srgbClr val="2E2E38"/>
                </a:solidFill>
                <a:latin typeface="Calibri"/>
              </a:rPr>
              <a:t>Treatment fidelity</a:t>
            </a:r>
          </a:p>
        </p:txBody>
      </p:sp>
      <p:sp>
        <p:nvSpPr>
          <p:cNvPr id="309" name="tb"/>
          <p:cNvSpPr txBox="1"/>
          <p:nvPr/>
        </p:nvSpPr>
        <p:spPr>
          <a:xfrm>
            <a:off x="2960000" y="1600000"/>
            <a:ext cx="1500000" cy="560000"/>
          </a:xfrm>
          <a:prstGeom prst="rect">
            <a:avLst/>
          </a:prstGeom>
          <a:noFill/>
        </p:spPr>
        <p:txBody>
          <a:bodyPr wrap="square" anchor="ctr" lIns="45720" tIns="27432" rIns="45720" bIns="27432">
            <a:normAutofit/>
          </a:bodyPr>
          <a:p>
            <a:pPr lvl="0" algn="ctr">
              <a:spcAft>
                <a:spcPts val="0"/>
              </a:spcAft>
              <a:buNone/>
            </a:pPr>
            <a:r>
              <a:rPr lang="en-US" sz="1050" b="1" dirty="0">
                <a:solidFill>
                  <a:srgbClr val="2E2E38"/>
                </a:solidFill>
                <a:latin typeface="Calibri"/>
              </a:rPr>
              <a:t>Rossouw 2012</a:t>
            </a:r>
          </a:p>
        </p:txBody>
      </p:sp>
      <p:sp>
        <p:nvSpPr>
          <p:cNvPr id="310" name="tb"/>
          <p:cNvSpPr txBox="1"/>
          <p:nvPr/>
        </p:nvSpPr>
        <p:spPr>
          <a:xfrm>
            <a:off x="4460000" y="1600000"/>
            <a:ext cx="1500000" cy="560000"/>
          </a:xfrm>
          <a:prstGeom prst="rect">
            <a:avLst/>
          </a:prstGeom>
          <a:noFill/>
        </p:spPr>
        <p:txBody>
          <a:bodyPr wrap="square" anchor="ctr" lIns="45720" tIns="27432" rIns="45720" bIns="27432">
            <a:normAutofit/>
          </a:bodyPr>
          <a:p>
            <a:pPr lvl="0" algn="ctr">
              <a:spcAft>
                <a:spcPts val="0"/>
              </a:spcAft>
              <a:buNone/>
            </a:pPr>
            <a:r>
              <a:rPr lang="en-US" sz="1050" b="1" dirty="0">
                <a:solidFill>
                  <a:srgbClr val="2E2E38"/>
                </a:solidFill>
                <a:latin typeface="Calibri"/>
              </a:rPr>
              <a:t>Bateman 2009</a:t>
            </a:r>
          </a:p>
        </p:txBody>
      </p:sp>
      <p:sp>
        <p:nvSpPr>
          <p:cNvPr id="311" name="tb"/>
          <p:cNvSpPr txBox="1"/>
          <p:nvPr/>
        </p:nvSpPr>
        <p:spPr>
          <a:xfrm>
            <a:off x="5960000" y="1600000"/>
            <a:ext cx="1500000" cy="560000"/>
          </a:xfrm>
          <a:prstGeom prst="rect">
            <a:avLst/>
          </a:prstGeom>
          <a:noFill/>
        </p:spPr>
        <p:txBody>
          <a:bodyPr wrap="square" anchor="ctr" lIns="45720" tIns="27432" rIns="45720" bIns="27432">
            <a:normAutofit/>
          </a:bodyPr>
          <a:p>
            <a:pPr lvl="0" algn="ctr">
              <a:spcAft>
                <a:spcPts val="0"/>
              </a:spcAft>
              <a:buNone/>
            </a:pPr>
            <a:r>
              <a:rPr lang="en-US" sz="1050" b="1" dirty="0">
                <a:solidFill>
                  <a:srgbClr val="2E2E38"/>
                </a:solidFill>
                <a:latin typeface="Calibri"/>
              </a:rPr>
              <a:t>Laurenssen 2018</a:t>
            </a:r>
          </a:p>
        </p:txBody>
      </p:sp>
      <p:sp>
        <p:nvSpPr>
          <p:cNvPr id="312" name="tb"/>
          <p:cNvSpPr txBox="1"/>
          <p:nvPr/>
        </p:nvSpPr>
        <p:spPr>
          <a:xfrm>
            <a:off x="7460000" y="1600000"/>
            <a:ext cx="1500000" cy="560000"/>
          </a:xfrm>
          <a:prstGeom prst="rect">
            <a:avLst/>
          </a:prstGeom>
          <a:noFill/>
        </p:spPr>
        <p:txBody>
          <a:bodyPr wrap="square" anchor="ctr" lIns="45720" tIns="27432" rIns="45720" bIns="27432">
            <a:normAutofit/>
          </a:bodyPr>
          <a:p>
            <a:pPr lvl="0" algn="ctr">
              <a:spcAft>
                <a:spcPts val="0"/>
              </a:spcAft>
              <a:buNone/>
            </a:pPr>
            <a:r>
              <a:rPr lang="en-US" sz="1050" b="1" dirty="0">
                <a:solidFill>
                  <a:srgbClr val="2E2E38"/>
                </a:solidFill>
                <a:latin typeface="Calibri"/>
              </a:rPr>
              <a:t>Beck 2020</a:t>
            </a:r>
          </a:p>
        </p:txBody>
      </p:sp>
      <p:sp>
        <p:nvSpPr>
          <p:cNvPr id="313" name="o"/>
          <p:cNvSpPr/>
          <p:nvPr/>
        </p:nvSpPr>
        <p:spPr>
          <a:xfrm>
            <a:off x="3560000.0" y="227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14" name="o"/>
          <p:cNvSpPr/>
          <p:nvPr/>
        </p:nvSpPr>
        <p:spPr>
          <a:xfrm>
            <a:off x="5060000.0" y="227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15" name="o"/>
          <p:cNvSpPr/>
          <p:nvPr/>
        </p:nvSpPr>
        <p:spPr>
          <a:xfrm>
            <a:off x="6560000.0" y="227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16" name="o"/>
          <p:cNvSpPr/>
          <p:nvPr/>
        </p:nvSpPr>
        <p:spPr>
          <a:xfrm>
            <a:off x="8060000.0" y="227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17" name="o"/>
          <p:cNvSpPr/>
          <p:nvPr/>
        </p:nvSpPr>
        <p:spPr>
          <a:xfrm>
            <a:off x="3560000.0" y="283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18" name="o"/>
          <p:cNvSpPr/>
          <p:nvPr/>
        </p:nvSpPr>
        <p:spPr>
          <a:xfrm>
            <a:off x="5060000.0" y="283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19" name="o"/>
          <p:cNvSpPr/>
          <p:nvPr/>
        </p:nvSpPr>
        <p:spPr>
          <a:xfrm>
            <a:off x="6560000.0" y="283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20" name="o"/>
          <p:cNvSpPr/>
          <p:nvPr/>
        </p:nvSpPr>
        <p:spPr>
          <a:xfrm>
            <a:off x="8060000.0" y="283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21" name="o"/>
          <p:cNvSpPr/>
          <p:nvPr/>
        </p:nvSpPr>
        <p:spPr>
          <a:xfrm>
            <a:off x="3560000.0" y="339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22" name="o"/>
          <p:cNvSpPr/>
          <p:nvPr/>
        </p:nvSpPr>
        <p:spPr>
          <a:xfrm>
            <a:off x="5060000.0" y="339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23" name="o"/>
          <p:cNvSpPr/>
          <p:nvPr/>
        </p:nvSpPr>
        <p:spPr>
          <a:xfrm>
            <a:off x="6560000.0" y="339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24" name="o"/>
          <p:cNvSpPr/>
          <p:nvPr/>
        </p:nvSpPr>
        <p:spPr>
          <a:xfrm>
            <a:off x="8060000.0" y="339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25" name="o"/>
          <p:cNvSpPr/>
          <p:nvPr/>
        </p:nvSpPr>
        <p:spPr>
          <a:xfrm>
            <a:off x="3560000.0" y="395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26" name="o"/>
          <p:cNvSpPr/>
          <p:nvPr/>
        </p:nvSpPr>
        <p:spPr>
          <a:xfrm>
            <a:off x="5060000.0" y="395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27" name="o"/>
          <p:cNvSpPr/>
          <p:nvPr/>
        </p:nvSpPr>
        <p:spPr>
          <a:xfrm>
            <a:off x="6560000.0" y="395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28" name="o"/>
          <p:cNvSpPr/>
          <p:nvPr/>
        </p:nvSpPr>
        <p:spPr>
          <a:xfrm>
            <a:off x="8060000.0" y="395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29" name="o"/>
          <p:cNvSpPr/>
          <p:nvPr/>
        </p:nvSpPr>
        <p:spPr>
          <a:xfrm>
            <a:off x="3560000.0" y="451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30" name="o"/>
          <p:cNvSpPr/>
          <p:nvPr/>
        </p:nvSpPr>
        <p:spPr>
          <a:xfrm>
            <a:off x="5060000.0" y="451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31" name="o"/>
          <p:cNvSpPr/>
          <p:nvPr/>
        </p:nvSpPr>
        <p:spPr>
          <a:xfrm>
            <a:off x="6560000.0" y="451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32" name="o"/>
          <p:cNvSpPr/>
          <p:nvPr/>
        </p:nvSpPr>
        <p:spPr>
          <a:xfrm>
            <a:off x="8060000.0" y="451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33" name="o"/>
          <p:cNvSpPr/>
          <p:nvPr/>
        </p:nvSpPr>
        <p:spPr>
          <a:xfrm>
            <a:off x="3560000.0" y="507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34" name="o"/>
          <p:cNvSpPr/>
          <p:nvPr/>
        </p:nvSpPr>
        <p:spPr>
          <a:xfrm>
            <a:off x="5060000.0" y="507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35" name="o"/>
          <p:cNvSpPr/>
          <p:nvPr/>
        </p:nvSpPr>
        <p:spPr>
          <a:xfrm>
            <a:off x="6560000.0" y="5070000.0"/>
            <a:ext cx="300000" cy="30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36" name="o"/>
          <p:cNvSpPr/>
          <p:nvPr/>
        </p:nvSpPr>
        <p:spPr>
          <a:xfrm>
            <a:off x="8060000.0" y="5070000.0"/>
            <a:ext cx="300000" cy="30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37" name="o"/>
          <p:cNvSpPr/>
          <p:nvPr/>
        </p:nvSpPr>
        <p:spPr>
          <a:xfrm>
            <a:off x="560000" y="5580000"/>
            <a:ext cx="260000" cy="260000"/>
          </a:xfrm>
          <a:prstGeom prst="ellipse">
            <a:avLst/>
          </a:prstGeom>
          <a:solidFill>
            <a:srgbClr val="8FCB9B"/>
          </a:solidFill>
          <a:ln w="12700">
            <a:solidFill>
              <a:srgbClr val="FFFFFF"/>
            </a:solidFill>
          </a:ln>
        </p:spPr>
        <p:txBody>
          <a:bodyPr wrap="square" anchor="ctr" lIns="45720" tIns="18288" rIns="45720" bIns="18288">
            <a:normAutofit/>
          </a:bodyPr>
          <a:p>
            <a:pPr>
              <a:buNone/>
            </a:pPr>
          </a:p>
        </p:txBody>
      </p:sp>
      <p:sp>
        <p:nvSpPr>
          <p:cNvPr id="338" name="tb"/>
          <p:cNvSpPr txBox="1"/>
          <p:nvPr/>
        </p:nvSpPr>
        <p:spPr>
          <a:xfrm>
            <a:off x="880000" y="5550000"/>
            <a:ext cx="1400000" cy="320000"/>
          </a:xfrm>
          <a:prstGeom prst="rect">
            <a:avLst/>
          </a:prstGeom>
          <a:noFill/>
        </p:spPr>
        <p:txBody>
          <a:bodyPr wrap="square" anchor="ctr" lIns="45720" tIns="27432" rIns="45720" bIns="27432">
            <a:normAutofit/>
          </a:bodyPr>
          <a:p>
            <a:pPr lvl="0" algn="l">
              <a:spcAft>
                <a:spcPts val="0"/>
              </a:spcAft>
              <a:buNone/>
            </a:pPr>
            <a:r>
              <a:rPr lang="en-US" sz="1100" dirty="0">
                <a:solidFill>
                  <a:srgbClr val="2E2E38"/>
                </a:solidFill>
                <a:latin typeface="Calibri"/>
              </a:rPr>
              <a:t>Low risk</a:t>
            </a:r>
          </a:p>
        </p:txBody>
      </p:sp>
      <p:sp>
        <p:nvSpPr>
          <p:cNvPr id="339" name="o"/>
          <p:cNvSpPr/>
          <p:nvPr/>
        </p:nvSpPr>
        <p:spPr>
          <a:xfrm>
            <a:off x="2360000" y="5580000"/>
            <a:ext cx="260000" cy="260000"/>
          </a:xfrm>
          <a:prstGeom prst="ellipse">
            <a:avLst/>
          </a:prstGeom>
          <a:solidFill>
            <a:srgbClr val="F2D479"/>
          </a:solidFill>
          <a:ln w="12700">
            <a:solidFill>
              <a:srgbClr val="FFFFFF"/>
            </a:solidFill>
          </a:ln>
        </p:spPr>
        <p:txBody>
          <a:bodyPr wrap="square" anchor="ctr" lIns="45720" tIns="18288" rIns="45720" bIns="18288">
            <a:normAutofit/>
          </a:bodyPr>
          <a:p>
            <a:pPr>
              <a:buNone/>
            </a:pPr>
          </a:p>
        </p:txBody>
      </p:sp>
      <p:sp>
        <p:nvSpPr>
          <p:cNvPr id="340" name="tb"/>
          <p:cNvSpPr txBox="1"/>
          <p:nvPr/>
        </p:nvSpPr>
        <p:spPr>
          <a:xfrm>
            <a:off x="2680000" y="5550000"/>
            <a:ext cx="1600000" cy="320000"/>
          </a:xfrm>
          <a:prstGeom prst="rect">
            <a:avLst/>
          </a:prstGeom>
          <a:noFill/>
        </p:spPr>
        <p:txBody>
          <a:bodyPr wrap="square" anchor="ctr" lIns="45720" tIns="27432" rIns="45720" bIns="27432">
            <a:normAutofit/>
          </a:bodyPr>
          <a:p>
            <a:pPr lvl="0" algn="l">
              <a:spcAft>
                <a:spcPts val="0"/>
              </a:spcAft>
              <a:buNone/>
            </a:pPr>
            <a:r>
              <a:rPr lang="en-US" sz="1100" dirty="0">
                <a:solidFill>
                  <a:srgbClr val="2E2E38"/>
                </a:solidFill>
                <a:latin typeface="Calibri"/>
              </a:rPr>
              <a:t>Some concerns</a:t>
            </a:r>
          </a:p>
        </p:txBody>
      </p:sp>
      <p:sp>
        <p:nvSpPr>
          <p:cNvPr id="341" name="o"/>
          <p:cNvSpPr/>
          <p:nvPr/>
        </p:nvSpPr>
        <p:spPr>
          <a:xfrm>
            <a:off x="4360000" y="5580000"/>
            <a:ext cx="260000" cy="260000"/>
          </a:xfrm>
          <a:prstGeom prst="ellipse">
            <a:avLst/>
          </a:prstGeom>
          <a:solidFill>
            <a:srgbClr val="E39B9B"/>
          </a:solidFill>
          <a:ln w="12700">
            <a:solidFill>
              <a:srgbClr val="FFFFFF"/>
            </a:solidFill>
          </a:ln>
        </p:spPr>
        <p:txBody>
          <a:bodyPr wrap="square" anchor="ctr" lIns="45720" tIns="18288" rIns="45720" bIns="18288">
            <a:normAutofit/>
          </a:bodyPr>
          <a:p>
            <a:pPr>
              <a:buNone/>
            </a:pPr>
          </a:p>
        </p:txBody>
      </p:sp>
      <p:sp>
        <p:nvSpPr>
          <p:cNvPr id="342" name="tb"/>
          <p:cNvSpPr txBox="1"/>
          <p:nvPr/>
        </p:nvSpPr>
        <p:spPr>
          <a:xfrm>
            <a:off x="4680000" y="5550000"/>
            <a:ext cx="1600000" cy="320000"/>
          </a:xfrm>
          <a:prstGeom prst="rect">
            <a:avLst/>
          </a:prstGeom>
          <a:noFill/>
        </p:spPr>
        <p:txBody>
          <a:bodyPr wrap="square" anchor="ctr" lIns="45720" tIns="27432" rIns="45720" bIns="27432">
            <a:normAutofit/>
          </a:bodyPr>
          <a:p>
            <a:pPr lvl="0" algn="l">
              <a:spcAft>
                <a:spcPts val="0"/>
              </a:spcAft>
              <a:buNone/>
            </a:pPr>
            <a:r>
              <a:rPr lang="en-US" sz="1100" dirty="0">
                <a:solidFill>
                  <a:srgbClr val="2E2E38"/>
                </a:solidFill>
                <a:latin typeface="Calibri"/>
              </a:rPr>
              <a:t>High risk</a:t>
            </a:r>
          </a:p>
        </p:txBody>
      </p:sp>
      <p:sp>
        <p:nvSpPr>
          <p:cNvPr id="343" name="tb"/>
          <p:cNvSpPr txBox="1"/>
          <p:nvPr/>
        </p:nvSpPr>
        <p:spPr>
          <a:xfrm>
            <a:off x="6560000" y="5550000"/>
            <a:ext cx="5072000" cy="320000"/>
          </a:xfrm>
          <a:prstGeom prst="rect">
            <a:avLst/>
          </a:prstGeom>
          <a:noFill/>
        </p:spPr>
        <p:txBody>
          <a:bodyPr wrap="square" anchor="ctr" lIns="45720" tIns="27432" rIns="45720" bIns="27432">
            <a:normAutofit/>
          </a:bodyPr>
          <a:p>
            <a:pPr lvl="0" algn="l">
              <a:spcAft>
                <a:spcPts val="0"/>
              </a:spcAft>
              <a:buNone/>
            </a:pPr>
            <a:r>
              <a:rPr lang="en-US" sz="1000" i="1" dirty="0">
                <a:solidFill>
                  <a:srgbClr val="9AA0A6"/>
                </a:solidFill>
                <a:latin typeface="Calibri"/>
              </a:rPr>
              <a:t>Illustrative pattern — replace with the paper's actual RoB table.</a:t>
            </a:r>
          </a:p>
        </p:txBody>
      </p:sp>
      <p:sp>
        <p:nvSpPr>
          <p:cNvPr id="344"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345"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23</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347"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HOW EFFECTS WERE POOLED</a:t>
            </a:r>
          </a:p>
        </p:txBody>
      </p:sp>
      <p:sp>
        <p:nvSpPr>
          <p:cNvPr id="348"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Statistical Analysis (in Plain Language)</a:t>
            </a:r>
          </a:p>
        </p:txBody>
      </p:sp>
      <p:cxnSp>
        <p:nvCxnSpPr>
          <p:cNvPr id="349" name="ln"/>
          <p:cNvCxnSpPr/>
          <p:nvPr/>
        </p:nvCxnSpPr>
        <p:spPr>
          <a:xfrm>
            <a:off x="560000" y="1320000"/>
            <a:ext cx="11072000" cy="0"/>
          </a:xfrm>
          <a:prstGeom prst="line">
            <a:avLst/>
          </a:prstGeom>
          <a:ln w="28575">
            <a:solidFill>
              <a:srgbClr val="D6C7EE"/>
            </a:solidFill>
          </a:ln>
        </p:spPr>
      </p:cxnSp>
      <p:sp>
        <p:nvSpPr>
          <p:cNvPr id="350" name="card"/>
          <p:cNvSpPr/>
          <p:nvPr/>
        </p:nvSpPr>
        <p:spPr>
          <a:xfrm>
            <a:off x="560000" y="1580000"/>
            <a:ext cx="5386000" cy="4298000"/>
          </a:xfrm>
          <a:prstGeom prst="roundRect">
            <a:avLst/>
          </a:prstGeom>
          <a:solidFill>
            <a:srgbClr val="EEF0F2"/>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60"/>
              </a:spcAft>
              <a:buNone/>
            </a:pPr>
            <a:r>
              <a:rPr lang="en-US" sz="1450" b="1" dirty="0">
                <a:solidFill>
                  <a:srgbClr val="6E5AA6"/>
                </a:solidFill>
                <a:latin typeface="Calibri"/>
              </a:rPr>
              <a:t>Key concepts</a:t>
            </a:r>
          </a:p>
          <a:p>
            <a:pPr marL="342900" indent="-228600" lvl="0" algn="l">
              <a:spcAft>
                <a:spcPts val="200"/>
              </a:spcAft>
              <a:buFont typeface="Arial"/>
              <a:buChar char="•"/>
            </a:pPr>
            <a:r>
              <a:rPr lang="en-US" sz="1200" dirty="0">
                <a:solidFill>
                  <a:srgbClr val="2E2E38"/>
                </a:solidFill>
                <a:latin typeface="Calibri"/>
              </a:rPr>
              <a:t>Effect size = Hedges' g (a standardized mean difference); negative g favours MBT</a:t>
            </a:r>
          </a:p>
          <a:p>
            <a:pPr marL="342900" indent="-228600" lvl="0" algn="l">
              <a:spcAft>
                <a:spcPts val="200"/>
              </a:spcAft>
              <a:buFont typeface="Arial"/>
              <a:buChar char="•"/>
            </a:pPr>
            <a:r>
              <a:rPr lang="en-US" sz="1200" dirty="0">
                <a:solidFill>
                  <a:srgbClr val="2E2E38"/>
                </a:solidFill>
                <a:latin typeface="Calibri"/>
              </a:rPr>
              <a:t>Random-effects model — assumes true effects vary across trials</a:t>
            </a:r>
          </a:p>
          <a:p>
            <a:pPr marL="342900" indent="-228600" lvl="0" algn="l">
              <a:spcAft>
                <a:spcPts val="200"/>
              </a:spcAft>
              <a:buFont typeface="Arial"/>
              <a:buChar char="•"/>
            </a:pPr>
            <a:r>
              <a:rPr lang="en-US" sz="1200" dirty="0">
                <a:solidFill>
                  <a:srgbClr val="2E2E38"/>
                </a:solidFill>
                <a:latin typeface="Calibri"/>
              </a:rPr>
              <a:t>95% confidence interval shows the plausible range of the true effect</a:t>
            </a:r>
          </a:p>
          <a:p>
            <a:pPr marL="342900" indent="-228600" lvl="0" algn="l">
              <a:spcAft>
                <a:spcPts val="200"/>
              </a:spcAft>
              <a:buFont typeface="Arial"/>
              <a:buChar char="•"/>
            </a:pPr>
            <a:r>
              <a:rPr lang="en-US" sz="1200" dirty="0">
                <a:solidFill>
                  <a:srgbClr val="2E2E38"/>
                </a:solidFill>
                <a:latin typeface="Calibri"/>
              </a:rPr>
              <a:t>I² quantifies heterogeneity (how much studies disagree)</a:t>
            </a:r>
          </a:p>
          <a:p>
            <a:pPr marL="342900" indent="-228600" lvl="0" algn="l">
              <a:spcAft>
                <a:spcPts val="200"/>
              </a:spcAft>
              <a:buFont typeface="Arial"/>
              <a:buChar char="•"/>
            </a:pPr>
            <a:r>
              <a:rPr lang="en-US" sz="1200" dirty="0">
                <a:solidFill>
                  <a:srgbClr val="2E2E38"/>
                </a:solidFill>
                <a:latin typeface="Calibri"/>
              </a:rPr>
              <a:t>Sensitivity / subgroup analyses &amp; publication-bias checks</a:t>
            </a:r>
          </a:p>
        </p:txBody>
      </p:sp>
      <p:sp>
        <p:nvSpPr>
          <p:cNvPr id="351" name="card"/>
          <p:cNvSpPr/>
          <p:nvPr/>
        </p:nvSpPr>
        <p:spPr>
          <a:xfrm>
            <a:off x="6246000" y="1580000"/>
            <a:ext cx="5386000" cy="429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t" lIns="91440" tIns="45720" rIns="91440" bIns="45720">
            <a:normAutofit/>
          </a:bodyPr>
          <a:p>
            <a:pPr lvl="0" algn="l">
              <a:spcAft>
                <a:spcPts val="260"/>
              </a:spcAft>
              <a:buNone/>
            </a:pPr>
            <a:r>
              <a:rPr lang="en-US" sz="1450" b="1" dirty="0">
                <a:solidFill>
                  <a:srgbClr val="6E5AA6"/>
                </a:solidFill>
                <a:latin typeface="Calibri"/>
              </a:rPr>
              <a:t>Interpreting Hedges' g</a:t>
            </a:r>
          </a:p>
          <a:p>
            <a:pPr lvl="0" algn="l">
              <a:spcAft>
                <a:spcPts val="220"/>
              </a:spcAft>
              <a:buNone/>
            </a:pPr>
            <a:r>
              <a:rPr lang="en-US" sz="1300" b="1" dirty="0">
                <a:solidFill>
                  <a:srgbClr val="2E2E38"/>
                </a:solidFill>
                <a:latin typeface="Calibri"/>
              </a:rPr>
              <a:t>≈ 0.2 small   •   ≈ 0.5 medium   •   ≈ 0.8 large</a:t>
            </a:r>
          </a:p>
          <a:p>
            <a:pPr lvl="0" algn="l">
              <a:spcAft>
                <a:spcPts val="0"/>
              </a:spcAft>
              <a:buNone/>
            </a:pPr>
            <a:r>
              <a:rPr lang="en-US" sz="1200" dirty="0">
                <a:solidFill>
                  <a:srgbClr val="2E2E38"/>
                </a:solidFill>
                <a:latin typeface="Calibri"/>
              </a:rPr>
              <a:t>A pooled estimate summarises the average treatment effect across studies; high I² warns that this average may hide real differences between trials.</a:t>
            </a:r>
          </a:p>
        </p:txBody>
      </p:sp>
      <p:sp>
        <p:nvSpPr>
          <p:cNvPr id="352" name="card"/>
          <p:cNvSpPr/>
          <p:nvPr/>
        </p:nvSpPr>
        <p:spPr>
          <a:xfrm>
            <a:off x="560000" y="5998000"/>
            <a:ext cx="11072000" cy="620000"/>
          </a:xfrm>
          <a:prstGeom prst="roundRect">
            <a:avLst/>
          </a:prstGeom>
          <a:solidFill>
            <a:srgbClr val="E7E0F7"/>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00" b="1" dirty="0">
                <a:solidFill>
                  <a:srgbClr val="6E5AA6"/>
                </a:solidFill>
                <a:latin typeface="Calibri"/>
              </a:rPr>
              <a:t>Reminder:  </a:t>
            </a:r>
            <a:r>
              <a:rPr lang="en-US" sz="1250" dirty="0">
                <a:solidFill>
                  <a:srgbClr val="2E2E38"/>
                </a:solidFill>
                <a:latin typeface="Calibri"/>
              </a:rPr>
              <a:t>statistical significance (does the CI exclude 0?) is not the same as clinical meaningfulness — always report both.</a:t>
            </a:r>
          </a:p>
        </p:txBody>
      </p:sp>
      <p:sp>
        <p:nvSpPr>
          <p:cNvPr id="353"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354"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24</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356"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PRIMARY OUTCOME (VERIFIED)</a:t>
            </a:r>
          </a:p>
        </p:txBody>
      </p:sp>
      <p:sp>
        <p:nvSpPr>
          <p:cNvPr id="357"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Results — Effect on Self-Harm</a:t>
            </a:r>
          </a:p>
        </p:txBody>
      </p:sp>
      <p:cxnSp>
        <p:nvCxnSpPr>
          <p:cNvPr id="358" name="ln"/>
          <p:cNvCxnSpPr/>
          <p:nvPr/>
        </p:nvCxnSpPr>
        <p:spPr>
          <a:xfrm>
            <a:off x="560000" y="1320000"/>
            <a:ext cx="11072000" cy="0"/>
          </a:xfrm>
          <a:prstGeom prst="line">
            <a:avLst/>
          </a:prstGeom>
          <a:ln w="28575">
            <a:solidFill>
              <a:srgbClr val="D6C7EE"/>
            </a:solidFill>
          </a:ln>
        </p:spPr>
      </p:cxnSp>
      <p:cxnSp>
        <p:nvCxnSpPr>
          <p:cNvPr id="359" name="ln"/>
          <p:cNvCxnSpPr/>
          <p:nvPr/>
        </p:nvCxnSpPr>
        <p:spPr>
          <a:xfrm>
            <a:off x="4860000" y="1740000"/>
            <a:ext cx="3600000" cy="0"/>
          </a:xfrm>
          <a:prstGeom prst="line">
            <a:avLst/>
          </a:prstGeom>
          <a:ln w="12700">
            <a:solidFill>
              <a:srgbClr val="9AA0A6"/>
            </a:solidFill>
          </a:ln>
        </p:spPr>
      </p:cxnSp>
      <p:cxnSp>
        <p:nvCxnSpPr>
          <p:cNvPr id="360" name="ln"/>
          <p:cNvCxnSpPr/>
          <p:nvPr/>
        </p:nvCxnSpPr>
        <p:spPr>
          <a:xfrm>
            <a:off x="7260000" y="1740000"/>
            <a:ext cx="0" cy="1900000"/>
          </a:xfrm>
          <a:prstGeom prst="line">
            <a:avLst/>
          </a:prstGeom>
          <a:ln w="12700">
            <a:solidFill>
              <a:srgbClr val="B0B4B8"/>
            </a:solidFill>
          </a:ln>
        </p:spPr>
      </p:cxnSp>
      <p:sp>
        <p:nvSpPr>
          <p:cNvPr id="361" name="tb"/>
          <p:cNvSpPr txBox="1"/>
          <p:nvPr/>
        </p:nvSpPr>
        <p:spPr>
          <a:xfrm>
            <a:off x="6760000" y="3650000"/>
            <a:ext cx="1000000" cy="300000"/>
          </a:xfrm>
          <a:prstGeom prst="rect">
            <a:avLst/>
          </a:prstGeom>
          <a:noFill/>
        </p:spPr>
        <p:txBody>
          <a:bodyPr wrap="square" anchor="ctr" lIns="45720" tIns="27432" rIns="45720" bIns="27432">
            <a:normAutofit/>
          </a:bodyPr>
          <a:p>
            <a:pPr lvl="0" algn="ctr">
              <a:spcAft>
                <a:spcPts val="0"/>
              </a:spcAft>
              <a:buNone/>
            </a:pPr>
            <a:r>
              <a:rPr lang="en-US" sz="950" dirty="0">
                <a:solidFill>
                  <a:srgbClr val="9AA0A6"/>
                </a:solidFill>
                <a:latin typeface="Calibri"/>
              </a:rPr>
              <a:t>0 (no effect)</a:t>
            </a:r>
          </a:p>
        </p:txBody>
      </p:sp>
      <p:sp>
        <p:nvSpPr>
          <p:cNvPr id="362" name="tb"/>
          <p:cNvSpPr txBox="1"/>
          <p:nvPr/>
        </p:nvSpPr>
        <p:spPr>
          <a:xfrm>
            <a:off x="4360000" y="1440000"/>
            <a:ext cx="1000000" cy="260000"/>
          </a:xfrm>
          <a:prstGeom prst="rect">
            <a:avLst/>
          </a:prstGeom>
          <a:noFill/>
        </p:spPr>
        <p:txBody>
          <a:bodyPr wrap="square" anchor="ctr" lIns="45720" tIns="27432" rIns="45720" bIns="27432">
            <a:normAutofit/>
          </a:bodyPr>
          <a:p>
            <a:pPr lvl="0" algn="ctr">
              <a:spcAft>
                <a:spcPts val="0"/>
              </a:spcAft>
              <a:buNone/>
            </a:pPr>
            <a:r>
              <a:rPr lang="en-US" sz="1000" b="1" dirty="0">
                <a:solidFill>
                  <a:srgbClr val="3E7CB1"/>
                </a:solidFill>
                <a:latin typeface="Calibri"/>
              </a:rPr>
              <a:t>← favours MBT</a:t>
            </a:r>
          </a:p>
        </p:txBody>
      </p:sp>
      <p:sp>
        <p:nvSpPr>
          <p:cNvPr id="363" name="tb"/>
          <p:cNvSpPr txBox="1"/>
          <p:nvPr/>
        </p:nvSpPr>
        <p:spPr>
          <a:xfrm>
            <a:off x="660000" y="1980000"/>
            <a:ext cx="4100000" cy="420000"/>
          </a:xfrm>
          <a:prstGeom prst="rect">
            <a:avLst/>
          </a:prstGeom>
          <a:noFill/>
        </p:spPr>
        <p:txBody>
          <a:bodyPr wrap="square" anchor="ctr" lIns="45720" tIns="27432" rIns="45720" bIns="27432">
            <a:normAutofit/>
          </a:bodyPr>
          <a:p>
            <a:pPr lvl="0" algn="r">
              <a:spcAft>
                <a:spcPts val="0"/>
              </a:spcAft>
              <a:buNone/>
            </a:pPr>
            <a:r>
              <a:rPr lang="en-US" sz="1150" dirty="0">
                <a:solidFill>
                  <a:srgbClr val="2E2E38"/>
                </a:solidFill>
                <a:latin typeface="Calibri"/>
              </a:rPr>
              <a:t>Self-harm (pooled, MBT &amp; MBT-A)</a:t>
            </a:r>
          </a:p>
        </p:txBody>
      </p:sp>
      <p:cxnSp>
        <p:nvCxnSpPr>
          <p:cNvPr id="364" name="ln"/>
          <p:cNvCxnSpPr/>
          <p:nvPr/>
        </p:nvCxnSpPr>
        <p:spPr>
          <a:xfrm>
            <a:off x="5880000" y="2160000"/>
            <a:ext cx="780000" cy="0"/>
          </a:xfrm>
          <a:prstGeom prst="line">
            <a:avLst/>
          </a:prstGeom>
          <a:ln w="28575">
            <a:solidFill>
              <a:srgbClr val="C25E7A"/>
            </a:solidFill>
          </a:ln>
        </p:spPr>
      </p:cxnSp>
      <p:sp>
        <p:nvSpPr>
          <p:cNvPr id="365" name="r"/>
          <p:cNvSpPr/>
          <p:nvPr/>
        </p:nvSpPr>
        <p:spPr>
          <a:xfrm>
            <a:off x="6186000" y="2070000"/>
            <a:ext cx="180000" cy="180000"/>
          </a:xfrm>
          <a:prstGeom prst="rect">
            <a:avLst/>
          </a:prstGeom>
          <a:solidFill>
            <a:srgbClr val="C25E7A"/>
          </a:solidFill>
          <a:ln>
            <a:noFill/>
          </a:ln>
        </p:spPr>
        <p:txBody>
          <a:bodyPr wrap="square" anchor="ctr" lIns="45720" tIns="18288" rIns="45720" bIns="18288">
            <a:normAutofit/>
          </a:bodyPr>
          <a:p>
            <a:pPr>
              <a:buNone/>
            </a:pPr>
          </a:p>
        </p:txBody>
      </p:sp>
      <p:sp>
        <p:nvSpPr>
          <p:cNvPr id="366" name="tb"/>
          <p:cNvSpPr txBox="1"/>
          <p:nvPr/>
        </p:nvSpPr>
        <p:spPr>
          <a:xfrm>
            <a:off x="8540000" y="1980000"/>
            <a:ext cx="2600000" cy="420000"/>
          </a:xfrm>
          <a:prstGeom prst="rect">
            <a:avLst/>
          </a:prstGeom>
          <a:noFill/>
        </p:spPr>
        <p:txBody>
          <a:bodyPr wrap="square" anchor="ctr" lIns="45720" tIns="27432" rIns="45720" bIns="27432">
            <a:normAutofit/>
          </a:bodyPr>
          <a:p>
            <a:pPr lvl="0" algn="l">
              <a:spcAft>
                <a:spcPts val="0"/>
              </a:spcAft>
              <a:buNone/>
            </a:pPr>
            <a:r>
              <a:rPr lang="en-US" sz="1100" b="1" dirty="0">
                <a:solidFill>
                  <a:srgbClr val="2E2E38"/>
                </a:solidFill>
                <a:latin typeface="Calibri"/>
              </a:rPr>
              <a:t>g = -0.82  [-1.15, -0.50]</a:t>
            </a:r>
          </a:p>
        </p:txBody>
      </p:sp>
      <p:sp>
        <p:nvSpPr>
          <p:cNvPr id="367" name="card"/>
          <p:cNvSpPr/>
          <p:nvPr/>
        </p:nvSpPr>
        <p:spPr>
          <a:xfrm>
            <a:off x="560000" y="3800000"/>
            <a:ext cx="11072000" cy="2498000"/>
          </a:xfrm>
          <a:prstGeom prst="roundRect">
            <a:avLst/>
          </a:prstGeom>
          <a:solidFill>
            <a:srgbClr val="D5EFE6"/>
          </a:solidFill>
          <a:ln w="12700">
            <a:solidFill>
              <a:srgbClr val="D9E8D2"/>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180"/>
              </a:spcAft>
              <a:buNone/>
            </a:pPr>
            <a:r>
              <a:rPr lang="en-US" sz="1400" b="1" dirty="0">
                <a:solidFill>
                  <a:srgbClr val="6E5AA6"/>
                </a:solidFill>
                <a:latin typeface="Calibri"/>
              </a:rPr>
              <a:t>Pooled effect on self-harm:  </a:t>
            </a:r>
            <a:r>
              <a:rPr lang="en-US" sz="1350" b="1" dirty="0">
                <a:solidFill>
                  <a:srgbClr val="2E2E38"/>
                </a:solidFill>
                <a:latin typeface="Calibri"/>
              </a:rPr>
              <a:t>Hedges' g = −0.82 (95% CI −1.15 to −0.50).</a:t>
            </a:r>
          </a:p>
          <a:p>
            <a:pPr lvl="0" algn="l">
              <a:spcAft>
                <a:spcPts val="0"/>
              </a:spcAft>
              <a:buNone/>
            </a:pPr>
            <a:r>
              <a:rPr lang="en-US" sz="1300" b="1" dirty="0">
                <a:solidFill>
                  <a:srgbClr val="6E5AA6"/>
                </a:solidFill>
                <a:latin typeface="Calibri"/>
              </a:rPr>
              <a:t>Interpretation:  </a:t>
            </a:r>
            <a:r>
              <a:rPr lang="en-US" sz="1250" dirty="0">
                <a:solidFill>
                  <a:srgbClr val="2E2E38"/>
                </a:solidFill>
                <a:latin typeface="Calibri"/>
              </a:rPr>
              <a:t>A large reduction favouring MBT/MBT-A; the CI excludes 0, so the effect is statistically significant. Wide CImirrors small, heterogeneous trials — interpret with caution.</a:t>
            </a:r>
          </a:p>
        </p:txBody>
      </p:sp>
      <p:sp>
        <p:nvSpPr>
          <p:cNvPr id="368"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369"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25</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371"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DISTINGUISH FROM SELF-HARM</a:t>
            </a:r>
          </a:p>
        </p:txBody>
      </p:sp>
      <p:sp>
        <p:nvSpPr>
          <p:cNvPr id="372"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Results — Suicidal Behaviour</a:t>
            </a:r>
          </a:p>
        </p:txBody>
      </p:sp>
      <p:cxnSp>
        <p:nvCxnSpPr>
          <p:cNvPr id="373" name="ln"/>
          <p:cNvCxnSpPr/>
          <p:nvPr/>
        </p:nvCxnSpPr>
        <p:spPr>
          <a:xfrm>
            <a:off x="560000" y="1320000"/>
            <a:ext cx="11072000" cy="0"/>
          </a:xfrm>
          <a:prstGeom prst="line">
            <a:avLst/>
          </a:prstGeom>
          <a:ln w="28575">
            <a:solidFill>
              <a:srgbClr val="D6C7EE"/>
            </a:solidFill>
          </a:ln>
        </p:spPr>
      </p:cxnSp>
      <p:sp>
        <p:nvSpPr>
          <p:cNvPr id="374" name="card"/>
          <p:cNvSpPr/>
          <p:nvPr/>
        </p:nvSpPr>
        <p:spPr>
          <a:xfrm>
            <a:off x="560000" y="1580000"/>
            <a:ext cx="11072000" cy="900000"/>
          </a:xfrm>
          <a:prstGeom prst="roundRect">
            <a:avLst/>
          </a:prstGeom>
          <a:solidFill>
            <a:srgbClr val="FBE3D2"/>
          </a:solidFill>
          <a:ln w="12700">
            <a:solidFill>
              <a:srgbClr val="E0A96D"/>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50" b="1" dirty="0">
                <a:solidFill>
                  <a:srgbClr val="B5651D"/>
                </a:solidFill>
                <a:latin typeface="Calibri"/>
              </a:rPr>
              <a:t>Definitional care:  </a:t>
            </a:r>
            <a:r>
              <a:rPr lang="en-US" sz="1250" dirty="0">
                <a:solidFill>
                  <a:srgbClr val="2E2E38"/>
                </a:solidFill>
                <a:latin typeface="Calibri"/>
              </a:rPr>
              <a:t>self-harm ≠ suicidal ideation ≠ suicide attempt ≠ suicide death. Many trials measured self-harm broadly rather than suicide-specific endpoints.</a:t>
            </a:r>
          </a:p>
        </p:txBody>
      </p:sp>
      <p:sp>
        <p:nvSpPr>
          <p:cNvPr id="375" name="card"/>
          <p:cNvSpPr/>
          <p:nvPr/>
        </p:nvSpPr>
        <p:spPr>
          <a:xfrm>
            <a:off x="560000" y="2600000"/>
            <a:ext cx="11072000" cy="369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t" lIns="91440" tIns="45720" rIns="91440" bIns="45720">
            <a:normAutofit/>
          </a:bodyPr>
          <a:p>
            <a:pPr lvl="0" algn="l">
              <a:spcAft>
                <a:spcPts val="260"/>
              </a:spcAft>
              <a:buNone/>
            </a:pPr>
            <a:r>
              <a:rPr lang="en-US" sz="1400" b="1" dirty="0">
                <a:solidFill>
                  <a:srgbClr val="6E5AA6"/>
                </a:solidFill>
                <a:latin typeface="Calibri"/>
              </a:rPr>
              <a:t>What the review can and cannot say</a:t>
            </a:r>
          </a:p>
          <a:p>
            <a:pPr marL="342900" indent="-228600" lvl="0" algn="l">
              <a:spcAft>
                <a:spcPts val="220"/>
              </a:spcAft>
              <a:buFont typeface="Arial"/>
              <a:buChar char="•"/>
            </a:pPr>
            <a:r>
              <a:rPr lang="en-US" sz="1250" dirty="0">
                <a:solidFill>
                  <a:srgbClr val="2E2E38"/>
                </a:solidFill>
                <a:latin typeface="Calibri"/>
              </a:rPr>
              <a:t>The abstract reports pooled effects for self-harm, BPD symptoms and depression — not a separate pooled estimate for suicide attempts or deaths.</a:t>
            </a:r>
          </a:p>
          <a:p>
            <a:pPr marL="342900" indent="-228600" lvl="0" algn="l">
              <a:spcAft>
                <a:spcPts val="220"/>
              </a:spcAft>
              <a:buFont typeface="Arial"/>
              <a:buChar char="•"/>
            </a:pPr>
            <a:r>
              <a:rPr lang="en-US" sz="1250" dirty="0">
                <a:solidFill>
                  <a:srgbClr val="2E2E38"/>
                </a:solidFill>
                <a:latin typeface="Calibri"/>
              </a:rPr>
              <a:t>If the paper provides no pooled estimate for a suicide-specific outcome, state that explicitly: 'No pooled estimate was available for this outcome.'</a:t>
            </a:r>
          </a:p>
          <a:p>
            <a:pPr marL="342900" indent="-228600" lvl="0" algn="l">
              <a:spcAft>
                <a:spcPts val="0"/>
              </a:spcAft>
              <a:buFont typeface="Arial"/>
              <a:buChar char="•"/>
            </a:pPr>
            <a:r>
              <a:rPr lang="en-US" sz="1250" dirty="0">
                <a:solidFill>
                  <a:srgbClr val="2E2E38"/>
                </a:solidFill>
                <a:latin typeface="Calibri"/>
              </a:rPr>
              <a:t>Absence of evidence for a suicide-specific effect is NOT evidence of no effect — avoid over-claiming on suicide prevention.</a:t>
            </a:r>
          </a:p>
        </p:txBody>
      </p:sp>
      <p:sp>
        <p:nvSpPr>
          <p:cNvPr id="376"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377"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26</a:t>
            </a: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379"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SECONDARY OUTCOMES (VERIFIED)</a:t>
            </a:r>
          </a:p>
        </p:txBody>
      </p:sp>
      <p:sp>
        <p:nvSpPr>
          <p:cNvPr id="380"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Results — BPD Symptoms &amp; Depression</a:t>
            </a:r>
          </a:p>
        </p:txBody>
      </p:sp>
      <p:cxnSp>
        <p:nvCxnSpPr>
          <p:cNvPr id="381" name="ln"/>
          <p:cNvCxnSpPr/>
          <p:nvPr/>
        </p:nvCxnSpPr>
        <p:spPr>
          <a:xfrm>
            <a:off x="560000" y="1320000"/>
            <a:ext cx="11072000" cy="0"/>
          </a:xfrm>
          <a:prstGeom prst="line">
            <a:avLst/>
          </a:prstGeom>
          <a:ln w="28575">
            <a:solidFill>
              <a:srgbClr val="D6C7EE"/>
            </a:solidFill>
          </a:ln>
        </p:spPr>
      </p:cxnSp>
      <p:sp>
        <p:nvSpPr>
          <p:cNvPr id="382" name="tb"/>
          <p:cNvSpPr txBox="1"/>
          <p:nvPr/>
        </p:nvSpPr>
        <p:spPr>
          <a:xfrm>
            <a:off x="660000" y="1710000"/>
            <a:ext cx="2900000" cy="680000"/>
          </a:xfrm>
          <a:prstGeom prst="rect">
            <a:avLst/>
          </a:prstGeom>
          <a:noFill/>
        </p:spPr>
        <p:txBody>
          <a:bodyPr wrap="square" anchor="ctr" lIns="45720" tIns="27432" rIns="45720" bIns="27432">
            <a:normAutofit/>
          </a:bodyPr>
          <a:p>
            <a:pPr lvl="0" algn="r">
              <a:spcAft>
                <a:spcPts val="0"/>
              </a:spcAft>
              <a:buNone/>
            </a:pPr>
            <a:r>
              <a:rPr lang="en-US" sz="1200" dirty="0">
                <a:solidFill>
                  <a:srgbClr val="2E2E38"/>
                </a:solidFill>
                <a:latin typeface="Calibri"/>
              </a:rPr>
              <a:t>Self-harm</a:t>
            </a:r>
          </a:p>
        </p:txBody>
      </p:sp>
      <p:sp>
        <p:nvSpPr>
          <p:cNvPr id="383" name="r"/>
          <p:cNvSpPr/>
          <p:nvPr/>
        </p:nvSpPr>
        <p:spPr>
          <a:xfrm>
            <a:off x="3660000" y="1740000"/>
            <a:ext cx="4572000" cy="620000"/>
          </a:xfrm>
          <a:prstGeom prst="rect">
            <a:avLst/>
          </a:prstGeom>
          <a:solidFill>
            <a:srgbClr val="FFFFFF"/>
          </a:solidFill>
          <a:ln w="9525">
            <a:solidFill>
              <a:srgbClr val="E0E4E8"/>
            </a:solidFill>
          </a:ln>
        </p:spPr>
        <p:txBody>
          <a:bodyPr wrap="square" anchor="ctr" lIns="45720" tIns="18288" rIns="45720" bIns="18288">
            <a:normAutofit/>
          </a:bodyPr>
          <a:p>
            <a:pPr>
              <a:buNone/>
            </a:pPr>
          </a:p>
        </p:txBody>
      </p:sp>
      <p:sp>
        <p:nvSpPr>
          <p:cNvPr id="384" name="card"/>
          <p:cNvSpPr/>
          <p:nvPr/>
        </p:nvSpPr>
        <p:spPr>
          <a:xfrm>
            <a:off x="3660000" y="1740000"/>
            <a:ext cx="2343150" cy="620000"/>
          </a:xfrm>
          <a:prstGeom prst="roundRect">
            <a:avLst>
              <a:gd name="adj" fmla="val 6000"/>
            </a:avLst>
          </a:prstGeom>
          <a:solidFill>
            <a:srgbClr val="C25E7A"/>
          </a:solidFill>
        </p:spPr>
        <p:txBody>
          <a:bodyPr wrap="square" anchor="ctr" lIns="91440" tIns="45720" rIns="91440" bIns="45720">
            <a:normAutofit/>
          </a:bodyPr>
          <a:p>
            <a:pPr>
              <a:buNone/>
            </a:pPr>
          </a:p>
        </p:txBody>
      </p:sp>
      <p:sp>
        <p:nvSpPr>
          <p:cNvPr id="385" name="tb"/>
          <p:cNvSpPr txBox="1"/>
          <p:nvPr/>
        </p:nvSpPr>
        <p:spPr>
          <a:xfrm>
            <a:off x="6053150" y="1710000"/>
            <a:ext cx="3200000" cy="680000"/>
          </a:xfrm>
          <a:prstGeom prst="rect">
            <a:avLst/>
          </a:prstGeom>
          <a:noFill/>
        </p:spPr>
        <p:txBody>
          <a:bodyPr wrap="square" anchor="ctr" lIns="45720" tIns="27432" rIns="45720" bIns="27432">
            <a:normAutofit/>
          </a:bodyPr>
          <a:p>
            <a:pPr lvl="0" algn="l">
              <a:spcAft>
                <a:spcPts val="0"/>
              </a:spcAft>
              <a:buNone/>
            </a:pPr>
            <a:r>
              <a:rPr lang="en-US" sz="1150" b="1" dirty="0">
                <a:solidFill>
                  <a:srgbClr val="2E2E38"/>
                </a:solidFill>
                <a:latin typeface="Calibri"/>
              </a:rPr>
              <a:t>g = -0.82  [-1.15, -0.50]</a:t>
            </a:r>
          </a:p>
        </p:txBody>
      </p:sp>
      <p:sp>
        <p:nvSpPr>
          <p:cNvPr id="386" name="tb"/>
          <p:cNvSpPr txBox="1"/>
          <p:nvPr/>
        </p:nvSpPr>
        <p:spPr>
          <a:xfrm>
            <a:off x="660000" y="2610000"/>
            <a:ext cx="2900000" cy="680000"/>
          </a:xfrm>
          <a:prstGeom prst="rect">
            <a:avLst/>
          </a:prstGeom>
          <a:noFill/>
        </p:spPr>
        <p:txBody>
          <a:bodyPr wrap="square" anchor="ctr" lIns="45720" tIns="27432" rIns="45720" bIns="27432">
            <a:normAutofit/>
          </a:bodyPr>
          <a:p>
            <a:pPr lvl="0" algn="r">
              <a:spcAft>
                <a:spcPts val="0"/>
              </a:spcAft>
              <a:buNone/>
            </a:pPr>
            <a:r>
              <a:rPr lang="en-US" sz="1200" dirty="0">
                <a:solidFill>
                  <a:srgbClr val="2E2E38"/>
                </a:solidFill>
                <a:latin typeface="Calibri"/>
              </a:rPr>
              <a:t>BPD symptoms</a:t>
            </a:r>
          </a:p>
        </p:txBody>
      </p:sp>
      <p:sp>
        <p:nvSpPr>
          <p:cNvPr id="387" name="r"/>
          <p:cNvSpPr/>
          <p:nvPr/>
        </p:nvSpPr>
        <p:spPr>
          <a:xfrm>
            <a:off x="3660000" y="2640000"/>
            <a:ext cx="4572000" cy="620000"/>
          </a:xfrm>
          <a:prstGeom prst="rect">
            <a:avLst/>
          </a:prstGeom>
          <a:solidFill>
            <a:srgbClr val="FFFFFF"/>
          </a:solidFill>
          <a:ln w="9525">
            <a:solidFill>
              <a:srgbClr val="E0E4E8"/>
            </a:solidFill>
          </a:ln>
        </p:spPr>
        <p:txBody>
          <a:bodyPr wrap="square" anchor="ctr" lIns="45720" tIns="18288" rIns="45720" bIns="18288">
            <a:normAutofit/>
          </a:bodyPr>
          <a:p>
            <a:pPr>
              <a:buNone/>
            </a:pPr>
          </a:p>
        </p:txBody>
      </p:sp>
      <p:sp>
        <p:nvSpPr>
          <p:cNvPr id="388" name="card"/>
          <p:cNvSpPr/>
          <p:nvPr/>
        </p:nvSpPr>
        <p:spPr>
          <a:xfrm>
            <a:off x="3660000" y="2640000"/>
            <a:ext cx="3086100" cy="620000"/>
          </a:xfrm>
          <a:prstGeom prst="roundRect">
            <a:avLst>
              <a:gd name="adj" fmla="val 6000"/>
            </a:avLst>
          </a:prstGeom>
          <a:solidFill>
            <a:srgbClr val="6E5AA6"/>
          </a:solidFill>
        </p:spPr>
        <p:txBody>
          <a:bodyPr wrap="square" anchor="ctr" lIns="91440" tIns="45720" rIns="91440" bIns="45720">
            <a:normAutofit/>
          </a:bodyPr>
          <a:p>
            <a:pPr>
              <a:buNone/>
            </a:pPr>
          </a:p>
        </p:txBody>
      </p:sp>
      <p:sp>
        <p:nvSpPr>
          <p:cNvPr id="389" name="tb"/>
          <p:cNvSpPr txBox="1"/>
          <p:nvPr/>
        </p:nvSpPr>
        <p:spPr>
          <a:xfrm>
            <a:off x="6796100" y="2610000"/>
            <a:ext cx="3200000" cy="680000"/>
          </a:xfrm>
          <a:prstGeom prst="rect">
            <a:avLst/>
          </a:prstGeom>
          <a:noFill/>
        </p:spPr>
        <p:txBody>
          <a:bodyPr wrap="square" anchor="ctr" lIns="45720" tIns="27432" rIns="45720" bIns="27432">
            <a:normAutofit/>
          </a:bodyPr>
          <a:p>
            <a:pPr lvl="0" algn="l">
              <a:spcAft>
                <a:spcPts val="0"/>
              </a:spcAft>
              <a:buNone/>
            </a:pPr>
            <a:r>
              <a:rPr lang="en-US" sz="1150" b="1" dirty="0">
                <a:solidFill>
                  <a:srgbClr val="2E2E38"/>
                </a:solidFill>
                <a:latin typeface="Calibri"/>
              </a:rPr>
              <a:t>g = -1.08  [-1.38, -0.77]</a:t>
            </a:r>
          </a:p>
        </p:txBody>
      </p:sp>
      <p:sp>
        <p:nvSpPr>
          <p:cNvPr id="390" name="tb"/>
          <p:cNvSpPr txBox="1"/>
          <p:nvPr/>
        </p:nvSpPr>
        <p:spPr>
          <a:xfrm>
            <a:off x="660000" y="3510000"/>
            <a:ext cx="2900000" cy="680000"/>
          </a:xfrm>
          <a:prstGeom prst="rect">
            <a:avLst/>
          </a:prstGeom>
          <a:noFill/>
        </p:spPr>
        <p:txBody>
          <a:bodyPr wrap="square" anchor="ctr" lIns="45720" tIns="27432" rIns="45720" bIns="27432">
            <a:normAutofit/>
          </a:bodyPr>
          <a:p>
            <a:pPr lvl="0" algn="r">
              <a:spcAft>
                <a:spcPts val="0"/>
              </a:spcAft>
              <a:buNone/>
            </a:pPr>
            <a:r>
              <a:rPr lang="en-US" sz="1200" dirty="0">
                <a:solidFill>
                  <a:srgbClr val="2E2E38"/>
                </a:solidFill>
                <a:latin typeface="Calibri"/>
              </a:rPr>
              <a:t>Depression</a:t>
            </a:r>
          </a:p>
        </p:txBody>
      </p:sp>
      <p:sp>
        <p:nvSpPr>
          <p:cNvPr id="391" name="r"/>
          <p:cNvSpPr/>
          <p:nvPr/>
        </p:nvSpPr>
        <p:spPr>
          <a:xfrm>
            <a:off x="3660000" y="3540000"/>
            <a:ext cx="4572000" cy="620000"/>
          </a:xfrm>
          <a:prstGeom prst="rect">
            <a:avLst/>
          </a:prstGeom>
          <a:solidFill>
            <a:srgbClr val="FFFFFF"/>
          </a:solidFill>
          <a:ln w="9525">
            <a:solidFill>
              <a:srgbClr val="E0E4E8"/>
            </a:solidFill>
          </a:ln>
        </p:spPr>
        <p:txBody>
          <a:bodyPr wrap="square" anchor="ctr" lIns="45720" tIns="18288" rIns="45720" bIns="18288">
            <a:normAutofit/>
          </a:bodyPr>
          <a:p>
            <a:pPr>
              <a:buNone/>
            </a:pPr>
          </a:p>
        </p:txBody>
      </p:sp>
      <p:sp>
        <p:nvSpPr>
          <p:cNvPr id="392" name="card"/>
          <p:cNvSpPr/>
          <p:nvPr/>
        </p:nvSpPr>
        <p:spPr>
          <a:xfrm>
            <a:off x="3660000" y="3540000"/>
            <a:ext cx="3143250" cy="620000"/>
          </a:xfrm>
          <a:prstGeom prst="roundRect">
            <a:avLst>
              <a:gd name="adj" fmla="val 6000"/>
            </a:avLst>
          </a:prstGeom>
          <a:solidFill>
            <a:srgbClr val="3E7CB1"/>
          </a:solidFill>
        </p:spPr>
        <p:txBody>
          <a:bodyPr wrap="square" anchor="ctr" lIns="91440" tIns="45720" rIns="91440" bIns="45720">
            <a:normAutofit/>
          </a:bodyPr>
          <a:p>
            <a:pPr>
              <a:buNone/>
            </a:pPr>
          </a:p>
        </p:txBody>
      </p:sp>
      <p:sp>
        <p:nvSpPr>
          <p:cNvPr id="393" name="tb"/>
          <p:cNvSpPr txBox="1"/>
          <p:nvPr/>
        </p:nvSpPr>
        <p:spPr>
          <a:xfrm>
            <a:off x="6853250" y="3510000"/>
            <a:ext cx="3200000" cy="680000"/>
          </a:xfrm>
          <a:prstGeom prst="rect">
            <a:avLst/>
          </a:prstGeom>
          <a:noFill/>
        </p:spPr>
        <p:txBody>
          <a:bodyPr wrap="square" anchor="ctr" lIns="45720" tIns="27432" rIns="45720" bIns="27432">
            <a:normAutofit/>
          </a:bodyPr>
          <a:p>
            <a:pPr lvl="0" algn="l">
              <a:spcAft>
                <a:spcPts val="0"/>
              </a:spcAft>
              <a:buNone/>
            </a:pPr>
            <a:r>
              <a:rPr lang="en-US" sz="1150" b="1" dirty="0">
                <a:solidFill>
                  <a:srgbClr val="2E2E38"/>
                </a:solidFill>
                <a:latin typeface="Calibri"/>
              </a:rPr>
              <a:t>g = -1.10  [-1.52, -0.68]</a:t>
            </a:r>
          </a:p>
        </p:txBody>
      </p:sp>
      <p:sp>
        <p:nvSpPr>
          <p:cNvPr id="394" name="card"/>
          <p:cNvSpPr/>
          <p:nvPr/>
        </p:nvSpPr>
        <p:spPr>
          <a:xfrm>
            <a:off x="560000" y="4440000"/>
            <a:ext cx="11072000" cy="760000"/>
          </a:xfrm>
          <a:prstGeom prst="roundRect">
            <a:avLst/>
          </a:prstGeom>
          <a:solidFill>
            <a:srgbClr val="E7E0F7"/>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250" b="1" dirty="0">
                <a:solidFill>
                  <a:srgbClr val="2E2E38"/>
                </a:solidFill>
                <a:latin typeface="Calibri"/>
              </a:rPr>
              <a:t>All three pooled effects are large and statistically significant (CIs exclude 0). </a:t>
            </a:r>
            <a:r>
              <a:rPr lang="en-US" sz="1200" dirty="0">
                <a:solidFill>
                  <a:srgbClr val="2E2E38"/>
                </a:solidFill>
                <a:latin typeface="Calibri"/>
              </a:rPr>
              <a:t>Bar length = magnitude of |g|; longer = larger reduction favouring MBT.</a:t>
            </a:r>
          </a:p>
        </p:txBody>
      </p:sp>
      <p:sp>
        <p:nvSpPr>
          <p:cNvPr id="395"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396"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27</a:t>
            </a: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398"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FEASIBILITY</a:t>
            </a:r>
          </a:p>
        </p:txBody>
      </p:sp>
      <p:sp>
        <p:nvSpPr>
          <p:cNvPr id="399"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Treatment Retention &amp; Acceptability</a:t>
            </a:r>
          </a:p>
        </p:txBody>
      </p:sp>
      <p:cxnSp>
        <p:nvCxnSpPr>
          <p:cNvPr id="400" name="ln"/>
          <p:cNvCxnSpPr/>
          <p:nvPr/>
        </p:nvCxnSpPr>
        <p:spPr>
          <a:xfrm>
            <a:off x="560000" y="1320000"/>
            <a:ext cx="11072000" cy="0"/>
          </a:xfrm>
          <a:prstGeom prst="line">
            <a:avLst/>
          </a:prstGeom>
          <a:ln w="28575">
            <a:solidFill>
              <a:srgbClr val="D6C7EE"/>
            </a:solidFill>
          </a:ln>
        </p:spPr>
      </p:cxnSp>
      <p:sp>
        <p:nvSpPr>
          <p:cNvPr id="401" name="card"/>
          <p:cNvSpPr/>
          <p:nvPr/>
        </p:nvSpPr>
        <p:spPr>
          <a:xfrm>
            <a:off x="560000" y="1580000"/>
            <a:ext cx="11072000" cy="4778000"/>
          </a:xfrm>
          <a:prstGeom prst="roundRect">
            <a:avLst/>
          </a:prstGeom>
          <a:solidFill>
            <a:srgbClr val="EEF0F2"/>
          </a:solidFill>
          <a:effectLst>
            <a:outerShdw blurRad="40000" dist="20000" dir="5400000" rotWithShape="0">
              <a:srgbClr val="9AA0A6">
                <a:alpha val="38000"/>
              </a:srgbClr>
            </a:outerShdw>
          </a:effectLst>
        </p:spPr>
        <p:txBody>
          <a:bodyPr wrap="square" anchor="t" lIns="91440" tIns="45720" rIns="91440" bIns="45720">
            <a:normAutofit/>
          </a:bodyPr>
          <a:p>
            <a:pPr marL="342900" indent="-228600" lvl="0" algn="l">
              <a:spcAft>
                <a:spcPts val="280"/>
              </a:spcAft>
              <a:buFont typeface="Arial"/>
              <a:buChar char="•"/>
            </a:pPr>
            <a:r>
              <a:rPr lang="en-US" sz="1300" dirty="0">
                <a:solidFill>
                  <a:srgbClr val="2E2E38"/>
                </a:solidFill>
                <a:latin typeface="Calibri"/>
              </a:rPr>
              <a:t>Report dropout, completion and attendance for MBT vs control in each trial (insert values from the paper).</a:t>
            </a:r>
          </a:p>
          <a:p>
            <a:pPr marL="342900" indent="-228600" lvl="0" algn="l">
              <a:spcAft>
                <a:spcPts val="280"/>
              </a:spcAft>
              <a:buFont typeface="Arial"/>
              <a:buChar char="•"/>
            </a:pPr>
            <a:r>
              <a:rPr lang="en-US" sz="1300" dirty="0">
                <a:solidFill>
                  <a:srgbClr val="2E2E38"/>
                </a:solidFill>
                <a:latin typeface="Calibri"/>
              </a:rPr>
              <a:t>Feasibility trials (e.g., Griffiths et al., 2019) reported acceptable group attendance and safety.</a:t>
            </a:r>
          </a:p>
          <a:p>
            <a:pPr marL="342900" indent="-228600" lvl="0" algn="l">
              <a:spcAft>
                <a:spcPts val="280"/>
              </a:spcAft>
              <a:buFont typeface="Arial"/>
              <a:buChar char="•"/>
            </a:pPr>
            <a:r>
              <a:rPr lang="en-US" sz="1300" dirty="0">
                <a:solidFill>
                  <a:srgbClr val="2E2E38"/>
                </a:solidFill>
                <a:latin typeface="Calibri"/>
              </a:rPr>
              <a:t>Consider reasons for dropout and any adverse events, if reported.</a:t>
            </a:r>
          </a:p>
          <a:p>
            <a:pPr marL="342900" indent="-228600" lvl="0" algn="l">
              <a:spcAft>
                <a:spcPts val="280"/>
              </a:spcAft>
              <a:buFont typeface="Arial"/>
              <a:buChar char="•"/>
            </a:pPr>
            <a:r>
              <a:rPr lang="en-US" sz="1300" dirty="0">
                <a:solidFill>
                  <a:srgbClr val="2E2E38"/>
                </a:solidFill>
                <a:latin typeface="Calibri"/>
              </a:rPr>
              <a:t>Discuss whether MBT is feasible and acceptable for people with recurrent self-harm and emotional dysregulation.</a:t>
            </a:r>
          </a:p>
          <a:p>
            <a:pPr marL="342900" indent="-228600" lvl="0" algn="l">
              <a:spcAft>
                <a:spcPts val="0"/>
              </a:spcAft>
              <a:buFont typeface="Arial"/>
              <a:buChar char="•"/>
            </a:pPr>
            <a:r>
              <a:rPr lang="en-US" sz="1300" dirty="0">
                <a:solidFill>
                  <a:srgbClr val="2E2E38"/>
                </a:solidFill>
                <a:latin typeface="Calibri"/>
              </a:rPr>
              <a:t>Retention data are often incompletely reported — note this as a limitation.</a:t>
            </a:r>
          </a:p>
        </p:txBody>
      </p:sp>
      <p:sp>
        <p:nvSpPr>
          <p:cNvPr id="402"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03"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28</a:t>
            </a:r>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405"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VERIFIED POOLED EFFECTS</a:t>
            </a:r>
          </a:p>
        </p:txBody>
      </p:sp>
      <p:sp>
        <p:nvSpPr>
          <p:cNvPr id="406"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Results at a Glance</a:t>
            </a:r>
          </a:p>
        </p:txBody>
      </p:sp>
      <p:cxnSp>
        <p:nvCxnSpPr>
          <p:cNvPr id="407" name="ln"/>
          <p:cNvCxnSpPr/>
          <p:nvPr/>
        </p:nvCxnSpPr>
        <p:spPr>
          <a:xfrm>
            <a:off x="560000" y="1320000"/>
            <a:ext cx="11072000" cy="0"/>
          </a:xfrm>
          <a:prstGeom prst="line">
            <a:avLst/>
          </a:prstGeom>
          <a:ln w="28575">
            <a:solidFill>
              <a:srgbClr val="D6C7EE"/>
            </a:solidFill>
          </a:ln>
        </p:spPr>
      </p:cxnSp>
      <p:sp>
        <p:nvSpPr>
          <p:cNvPr id="408" name="card"/>
          <p:cNvSpPr/>
          <p:nvPr/>
        </p:nvSpPr>
        <p:spPr>
          <a:xfrm>
            <a:off x="560000" y="1620000"/>
            <a:ext cx="3490666" cy="2000000"/>
          </a:xfrm>
          <a:prstGeom prst="roundRect">
            <a:avLst/>
          </a:prstGeom>
          <a:solidFill>
            <a:srgbClr val="F7D9E0"/>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260"/>
              </a:spcAft>
              <a:buNone/>
            </a:pPr>
            <a:r>
              <a:rPr lang="en-US" sz="1500" b="1" dirty="0">
                <a:solidFill>
                  <a:srgbClr val="6E5AA6"/>
                </a:solidFill>
                <a:latin typeface="Calibri"/>
              </a:rPr>
              <a:t>Self-harm</a:t>
            </a:r>
          </a:p>
          <a:p>
            <a:pPr lvl="0" algn="ctr">
              <a:spcAft>
                <a:spcPts val="200"/>
              </a:spcAft>
              <a:buNone/>
            </a:pPr>
            <a:r>
              <a:rPr lang="en-US" sz="2600" b="1" dirty="0">
                <a:solidFill>
                  <a:srgbClr val="2E2E38"/>
                </a:solidFill>
                <a:latin typeface="Calibri"/>
              </a:rPr>
              <a:t>g = −0.82</a:t>
            </a:r>
          </a:p>
          <a:p>
            <a:pPr lvl="0" algn="ctr">
              <a:spcAft>
                <a:spcPts val="160"/>
              </a:spcAft>
              <a:buNone/>
            </a:pPr>
            <a:r>
              <a:rPr lang="en-US" sz="1200" dirty="0">
                <a:solidFill>
                  <a:srgbClr val="2E2E38"/>
                </a:solidFill>
                <a:latin typeface="Calibri"/>
              </a:rPr>
              <a:t>95% CI −1.15, −0.50</a:t>
            </a:r>
          </a:p>
          <a:p>
            <a:pPr lvl="0" algn="ctr">
              <a:spcAft>
                <a:spcPts val="0"/>
              </a:spcAft>
              <a:buNone/>
            </a:pPr>
            <a:r>
              <a:rPr lang="en-US" sz="1100" b="1" dirty="0">
                <a:solidFill>
                  <a:srgbClr val="3E7CB1"/>
                </a:solidFill>
                <a:latin typeface="Calibri"/>
              </a:rPr>
              <a:t>large • significant</a:t>
            </a:r>
          </a:p>
        </p:txBody>
      </p:sp>
      <p:sp>
        <p:nvSpPr>
          <p:cNvPr id="409" name="card"/>
          <p:cNvSpPr/>
          <p:nvPr/>
        </p:nvSpPr>
        <p:spPr>
          <a:xfrm>
            <a:off x="4350666" y="1620000"/>
            <a:ext cx="3490666" cy="2000000"/>
          </a:xfrm>
          <a:prstGeom prst="roundRect">
            <a:avLst/>
          </a:prstGeom>
          <a:solidFill>
            <a:srgbClr val="E7E0F7"/>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260"/>
              </a:spcAft>
              <a:buNone/>
            </a:pPr>
            <a:r>
              <a:rPr lang="en-US" sz="1500" b="1" dirty="0">
                <a:solidFill>
                  <a:srgbClr val="6E5AA6"/>
                </a:solidFill>
                <a:latin typeface="Calibri"/>
              </a:rPr>
              <a:t>BPD symptoms</a:t>
            </a:r>
          </a:p>
          <a:p>
            <a:pPr lvl="0" algn="ctr">
              <a:spcAft>
                <a:spcPts val="200"/>
              </a:spcAft>
              <a:buNone/>
            </a:pPr>
            <a:r>
              <a:rPr lang="en-US" sz="2600" b="1" dirty="0">
                <a:solidFill>
                  <a:srgbClr val="2E2E38"/>
                </a:solidFill>
                <a:latin typeface="Calibri"/>
              </a:rPr>
              <a:t>g = −1.08</a:t>
            </a:r>
          </a:p>
          <a:p>
            <a:pPr lvl="0" algn="ctr">
              <a:spcAft>
                <a:spcPts val="160"/>
              </a:spcAft>
              <a:buNone/>
            </a:pPr>
            <a:r>
              <a:rPr lang="en-US" sz="1200" dirty="0">
                <a:solidFill>
                  <a:srgbClr val="2E2E38"/>
                </a:solidFill>
                <a:latin typeface="Calibri"/>
              </a:rPr>
              <a:t>95% CI −1.38, −0.77</a:t>
            </a:r>
          </a:p>
          <a:p>
            <a:pPr lvl="0" algn="ctr">
              <a:spcAft>
                <a:spcPts val="0"/>
              </a:spcAft>
              <a:buNone/>
            </a:pPr>
            <a:r>
              <a:rPr lang="en-US" sz="1100" b="1" dirty="0">
                <a:solidFill>
                  <a:srgbClr val="3E7CB1"/>
                </a:solidFill>
                <a:latin typeface="Calibri"/>
              </a:rPr>
              <a:t>large • significant</a:t>
            </a:r>
          </a:p>
        </p:txBody>
      </p:sp>
      <p:sp>
        <p:nvSpPr>
          <p:cNvPr id="410" name="card"/>
          <p:cNvSpPr/>
          <p:nvPr/>
        </p:nvSpPr>
        <p:spPr>
          <a:xfrm>
            <a:off x="8141332" y="1620000"/>
            <a:ext cx="3490666" cy="2000000"/>
          </a:xfrm>
          <a:prstGeom prst="roundRect">
            <a:avLst/>
          </a:prstGeom>
          <a:solidFill>
            <a:srgbClr val="D7E8F4"/>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ctr">
              <a:spcAft>
                <a:spcPts val="260"/>
              </a:spcAft>
              <a:buNone/>
            </a:pPr>
            <a:r>
              <a:rPr lang="en-US" sz="1500" b="1" dirty="0">
                <a:solidFill>
                  <a:srgbClr val="6E5AA6"/>
                </a:solidFill>
                <a:latin typeface="Calibri"/>
              </a:rPr>
              <a:t>Depression</a:t>
            </a:r>
          </a:p>
          <a:p>
            <a:pPr lvl="0" algn="ctr">
              <a:spcAft>
                <a:spcPts val="200"/>
              </a:spcAft>
              <a:buNone/>
            </a:pPr>
            <a:r>
              <a:rPr lang="en-US" sz="2600" b="1" dirty="0">
                <a:solidFill>
                  <a:srgbClr val="2E2E38"/>
                </a:solidFill>
                <a:latin typeface="Calibri"/>
              </a:rPr>
              <a:t>g = −1.10</a:t>
            </a:r>
          </a:p>
          <a:p>
            <a:pPr lvl="0" algn="ctr">
              <a:spcAft>
                <a:spcPts val="160"/>
              </a:spcAft>
              <a:buNone/>
            </a:pPr>
            <a:r>
              <a:rPr lang="en-US" sz="1200" dirty="0">
                <a:solidFill>
                  <a:srgbClr val="2E2E38"/>
                </a:solidFill>
                <a:latin typeface="Calibri"/>
              </a:rPr>
              <a:t>95% CI −1.52, −0.68</a:t>
            </a:r>
          </a:p>
          <a:p>
            <a:pPr lvl="0" algn="ctr">
              <a:spcAft>
                <a:spcPts val="0"/>
              </a:spcAft>
              <a:buNone/>
            </a:pPr>
            <a:r>
              <a:rPr lang="en-US" sz="1100" b="1" dirty="0">
                <a:solidFill>
                  <a:srgbClr val="3E7CB1"/>
                </a:solidFill>
                <a:latin typeface="Calibri"/>
              </a:rPr>
              <a:t>large • significant</a:t>
            </a:r>
          </a:p>
        </p:txBody>
      </p:sp>
      <p:sp>
        <p:nvSpPr>
          <p:cNvPr id="411" name="card"/>
          <p:cNvSpPr/>
          <p:nvPr/>
        </p:nvSpPr>
        <p:spPr>
          <a:xfrm>
            <a:off x="560000" y="3840000"/>
            <a:ext cx="11072000" cy="245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250" dirty="0">
                <a:solidFill>
                  <a:srgbClr val="2E2E38"/>
                </a:solidFill>
                <a:latin typeface="Calibri"/>
              </a:rPr>
              <a:t>All effects favour MBT and are statistically significant, but derive from few, small trials with wide CIs and heterogeneous designs — </a:t>
            </a:r>
            <a:r>
              <a:rPr lang="en-US" sz="1250" b="1" dirty="0">
                <a:solidFill>
                  <a:srgbClr val="6E5AA6"/>
                </a:solidFill>
                <a:latin typeface="Calibri"/>
              </a:rPr>
              <a:t>treat as promising, not definitive.</a:t>
            </a:r>
          </a:p>
        </p:txBody>
      </p:sp>
      <p:sp>
        <p:nvSpPr>
          <p:cNvPr id="412"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13"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29</a:t>
            </a: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415"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INTERPRETATION</a:t>
            </a:r>
          </a:p>
        </p:txBody>
      </p:sp>
      <p:sp>
        <p:nvSpPr>
          <p:cNvPr id="416"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Discussion — Main Findings</a:t>
            </a:r>
          </a:p>
        </p:txBody>
      </p:sp>
      <p:cxnSp>
        <p:nvCxnSpPr>
          <p:cNvPr id="417" name="ln"/>
          <p:cNvCxnSpPr/>
          <p:nvPr/>
        </p:nvCxnSpPr>
        <p:spPr>
          <a:xfrm>
            <a:off x="560000" y="1320000"/>
            <a:ext cx="11072000" cy="0"/>
          </a:xfrm>
          <a:prstGeom prst="line">
            <a:avLst/>
          </a:prstGeom>
          <a:ln w="28575">
            <a:solidFill>
              <a:srgbClr val="D6C7EE"/>
            </a:solidFill>
          </a:ln>
        </p:spPr>
      </p:cxnSp>
      <p:sp>
        <p:nvSpPr>
          <p:cNvPr id="418" name="card"/>
          <p:cNvSpPr/>
          <p:nvPr/>
        </p:nvSpPr>
        <p:spPr>
          <a:xfrm>
            <a:off x="560000" y="1580000"/>
            <a:ext cx="11072000" cy="4778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marL="342900" indent="-228600" lvl="0" algn="l">
              <a:spcAft>
                <a:spcPts val="260"/>
              </a:spcAft>
              <a:buFont typeface="Arial"/>
              <a:buChar char="•"/>
            </a:pPr>
            <a:r>
              <a:rPr lang="en-US" sz="1300" dirty="0">
                <a:solidFill>
                  <a:srgbClr val="2E2E38"/>
                </a:solidFill>
                <a:latin typeface="Calibri"/>
              </a:rPr>
              <a:t>MBT / MBT-A was associated with large, statistically significant reductions in self-harm (g=−0.82).</a:t>
            </a:r>
          </a:p>
          <a:p>
            <a:pPr marL="342900" indent="-228600" lvl="0" algn="l">
              <a:spcAft>
                <a:spcPts val="260"/>
              </a:spcAft>
              <a:buFont typeface="Arial"/>
              <a:buChar char="•"/>
            </a:pPr>
            <a:r>
              <a:rPr lang="en-US" sz="1300" dirty="0">
                <a:solidFill>
                  <a:srgbClr val="2E2E38"/>
                </a:solidFill>
                <a:latin typeface="Calibri"/>
              </a:rPr>
              <a:t>Parallel large improvements in BPD symptoms (g=−1.08) and depression (g=−1.10).</a:t>
            </a:r>
          </a:p>
          <a:p>
            <a:pPr marL="342900" indent="-228600" lvl="0" algn="l">
              <a:spcAft>
                <a:spcPts val="260"/>
              </a:spcAft>
              <a:buFont typeface="Arial"/>
              <a:buChar char="•"/>
            </a:pPr>
            <a:r>
              <a:rPr lang="en-US" sz="1300" dirty="0">
                <a:solidFill>
                  <a:srgbClr val="2E2E38"/>
                </a:solidFill>
                <a:latin typeface="Calibri"/>
              </a:rPr>
              <a:t>Direction of effect was consistent across the pooled outcomes — all favour MBT.</a:t>
            </a:r>
          </a:p>
          <a:p>
            <a:pPr marL="342900" indent="-228600" lvl="0" algn="l">
              <a:spcAft>
                <a:spcPts val="260"/>
              </a:spcAft>
              <a:buFont typeface="Arial"/>
              <a:buChar char="•"/>
            </a:pPr>
            <a:r>
              <a:rPr lang="en-US" sz="1300" dirty="0">
                <a:solidFill>
                  <a:srgbClr val="2E2E38"/>
                </a:solidFill>
                <a:latin typeface="Calibri"/>
              </a:rPr>
              <a:t>However, effects rest on a small number of small trials with heterogeneous designs and controls.</a:t>
            </a:r>
          </a:p>
          <a:p>
            <a:pPr marL="342900" indent="-228600" lvl="0" algn="l">
              <a:spcAft>
                <a:spcPts val="0"/>
              </a:spcAft>
              <a:buFont typeface="Arial"/>
              <a:buChar char="•"/>
            </a:pPr>
            <a:r>
              <a:rPr lang="en-US" sz="1300" dirty="0">
                <a:solidFill>
                  <a:srgbClr val="2E2E38"/>
                </a:solidFill>
                <a:latin typeface="Calibri"/>
              </a:rPr>
              <a:t>Overall evidence quality is best described as promising but limited / moderate-to-low confidence.</a:t>
            </a:r>
          </a:p>
        </p:txBody>
      </p:sp>
      <p:sp>
        <p:nvSpPr>
          <p:cNvPr id="419"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20"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30</a:t>
            </a:r>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422"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MECHANISMS (CAUTIOUS)</a:t>
            </a:r>
          </a:p>
        </p:txBody>
      </p:sp>
      <p:sp>
        <p:nvSpPr>
          <p:cNvPr id="423"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Discussion — How Might MBT Work?</a:t>
            </a:r>
          </a:p>
        </p:txBody>
      </p:sp>
      <p:cxnSp>
        <p:nvCxnSpPr>
          <p:cNvPr id="424" name="ln"/>
          <p:cNvCxnSpPr/>
          <p:nvPr/>
        </p:nvCxnSpPr>
        <p:spPr>
          <a:xfrm>
            <a:off x="560000" y="1320000"/>
            <a:ext cx="11072000" cy="0"/>
          </a:xfrm>
          <a:prstGeom prst="line">
            <a:avLst/>
          </a:prstGeom>
          <a:ln w="28575">
            <a:solidFill>
              <a:srgbClr val="D6C7EE"/>
            </a:solidFill>
          </a:ln>
        </p:spPr>
      </p:cxnSp>
      <p:sp>
        <p:nvSpPr>
          <p:cNvPr id="425" name="card"/>
          <p:cNvSpPr/>
          <p:nvPr/>
        </p:nvSpPr>
        <p:spPr>
          <a:xfrm>
            <a:off x="560000" y="1580000"/>
            <a:ext cx="3517333" cy="2199000"/>
          </a:xfrm>
          <a:prstGeom prst="roundRect">
            <a:avLst/>
          </a:prstGeom>
          <a:solidFill>
            <a:srgbClr val="E7E0F7"/>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00"/>
              </a:spcAft>
              <a:buNone/>
            </a:pPr>
            <a:r>
              <a:rPr lang="en-US" sz="1300" b="1" dirty="0">
                <a:solidFill>
                  <a:srgbClr val="6E5AA6"/>
                </a:solidFill>
                <a:latin typeface="Calibri"/>
              </a:rPr>
              <a:t>Improved reflective functioning</a:t>
            </a:r>
          </a:p>
          <a:p>
            <a:pPr lvl="0" algn="l">
              <a:spcAft>
                <a:spcPts val="0"/>
              </a:spcAft>
              <a:buNone/>
            </a:pPr>
            <a:r>
              <a:rPr lang="en-US" sz="1150" dirty="0">
                <a:solidFill>
                  <a:srgbClr val="2E2E38"/>
                </a:solidFill>
                <a:latin typeface="Calibri"/>
              </a:rPr>
              <a:t>Better reading of own &amp; others' mental states</a:t>
            </a:r>
          </a:p>
        </p:txBody>
      </p:sp>
      <p:sp>
        <p:nvSpPr>
          <p:cNvPr id="426" name="card"/>
          <p:cNvSpPr/>
          <p:nvPr/>
        </p:nvSpPr>
        <p:spPr>
          <a:xfrm>
            <a:off x="4337333" y="1580000"/>
            <a:ext cx="3517333" cy="2199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00"/>
              </a:spcAft>
              <a:buNone/>
            </a:pPr>
            <a:r>
              <a:rPr lang="en-US" sz="1300" b="1" dirty="0">
                <a:solidFill>
                  <a:srgbClr val="6E5AA6"/>
                </a:solidFill>
                <a:latin typeface="Calibri"/>
              </a:rPr>
              <a:t>Reduced misinterpretation</a:t>
            </a:r>
          </a:p>
          <a:p>
            <a:pPr lvl="0" algn="l">
              <a:spcAft>
                <a:spcPts val="0"/>
              </a:spcAft>
              <a:buNone/>
            </a:pPr>
            <a:r>
              <a:rPr lang="en-US" sz="1150" dirty="0">
                <a:solidFill>
                  <a:srgbClr val="2E2E38"/>
                </a:solidFill>
                <a:latin typeface="Calibri"/>
              </a:rPr>
              <a:t>Fewer catastrophic readings of interpersonal events</a:t>
            </a:r>
          </a:p>
        </p:txBody>
      </p:sp>
      <p:sp>
        <p:nvSpPr>
          <p:cNvPr id="427" name="card"/>
          <p:cNvSpPr/>
          <p:nvPr/>
        </p:nvSpPr>
        <p:spPr>
          <a:xfrm>
            <a:off x="8114666" y="1580000"/>
            <a:ext cx="3517333" cy="2199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00"/>
              </a:spcAft>
              <a:buNone/>
            </a:pPr>
            <a:r>
              <a:rPr lang="en-US" sz="1300" b="1" dirty="0">
                <a:solidFill>
                  <a:srgbClr val="6E5AA6"/>
                </a:solidFill>
                <a:latin typeface="Calibri"/>
              </a:rPr>
              <a:t>Better affect regulation</a:t>
            </a:r>
          </a:p>
          <a:p>
            <a:pPr lvl="0" algn="l">
              <a:spcAft>
                <a:spcPts val="0"/>
              </a:spcAft>
              <a:buNone/>
            </a:pPr>
            <a:r>
              <a:rPr lang="en-US" sz="1150" dirty="0">
                <a:solidFill>
                  <a:srgbClr val="2E2E38"/>
                </a:solidFill>
                <a:latin typeface="Calibri"/>
              </a:rPr>
              <a:t>Tolerating arousal without acting on it</a:t>
            </a:r>
          </a:p>
        </p:txBody>
      </p:sp>
      <p:sp>
        <p:nvSpPr>
          <p:cNvPr id="428" name="card"/>
          <p:cNvSpPr/>
          <p:nvPr/>
        </p:nvSpPr>
        <p:spPr>
          <a:xfrm>
            <a:off x="560000" y="4039000"/>
            <a:ext cx="3517333" cy="2199000"/>
          </a:xfrm>
          <a:prstGeom prst="roundRect">
            <a:avLst/>
          </a:prstGeom>
          <a:solidFill>
            <a:srgbClr val="FBE3D2"/>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00"/>
              </a:spcAft>
              <a:buNone/>
            </a:pPr>
            <a:r>
              <a:rPr lang="en-US" sz="1300" b="1" dirty="0">
                <a:solidFill>
                  <a:srgbClr val="6E5AA6"/>
                </a:solidFill>
                <a:latin typeface="Calibri"/>
              </a:rPr>
              <a:t>Fewer impulsive responses</a:t>
            </a:r>
          </a:p>
          <a:p>
            <a:pPr lvl="0" algn="l">
              <a:spcAft>
                <a:spcPts val="0"/>
              </a:spcAft>
              <a:buNone/>
            </a:pPr>
            <a:r>
              <a:rPr lang="en-US" sz="1150" dirty="0">
                <a:solidFill>
                  <a:srgbClr val="2E2E38"/>
                </a:solidFill>
                <a:latin typeface="Calibri"/>
              </a:rPr>
              <a:t>Pause between urge and action</a:t>
            </a:r>
          </a:p>
        </p:txBody>
      </p:sp>
      <p:sp>
        <p:nvSpPr>
          <p:cNvPr id="429" name="card"/>
          <p:cNvSpPr/>
          <p:nvPr/>
        </p:nvSpPr>
        <p:spPr>
          <a:xfrm>
            <a:off x="4337333" y="4039000"/>
            <a:ext cx="3517333" cy="2199000"/>
          </a:xfrm>
          <a:prstGeom prst="roundRect">
            <a:avLst/>
          </a:prstGeom>
          <a:solidFill>
            <a:srgbClr val="F7D9E0"/>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00"/>
              </a:spcAft>
              <a:buNone/>
            </a:pPr>
            <a:r>
              <a:rPr lang="en-US" sz="1300" b="1" dirty="0">
                <a:solidFill>
                  <a:srgbClr val="6E5AA6"/>
                </a:solidFill>
                <a:latin typeface="Calibri"/>
              </a:rPr>
              <a:t>Stronger therapeutic alliance</a:t>
            </a:r>
          </a:p>
          <a:p>
            <a:pPr lvl="0" algn="l">
              <a:spcAft>
                <a:spcPts val="0"/>
              </a:spcAft>
              <a:buNone/>
            </a:pPr>
            <a:r>
              <a:rPr lang="en-US" sz="1150" dirty="0">
                <a:solidFill>
                  <a:srgbClr val="2E2E38"/>
                </a:solidFill>
                <a:latin typeface="Calibri"/>
              </a:rPr>
              <a:t>Engagement supports change</a:t>
            </a:r>
          </a:p>
        </p:txBody>
      </p:sp>
      <p:sp>
        <p:nvSpPr>
          <p:cNvPr id="430" name="card"/>
          <p:cNvSpPr/>
          <p:nvPr/>
        </p:nvSpPr>
        <p:spPr>
          <a:xfrm>
            <a:off x="8114666" y="4039000"/>
            <a:ext cx="3517333" cy="2199000"/>
          </a:xfrm>
          <a:prstGeom prst="roundRect">
            <a:avLst/>
          </a:prstGeom>
          <a:solidFill>
            <a:srgbClr val="D9E8D2"/>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00"/>
              </a:spcAft>
              <a:buNone/>
            </a:pPr>
            <a:r>
              <a:rPr lang="en-US" sz="1300" b="1" dirty="0">
                <a:solidFill>
                  <a:srgbClr val="6E5AA6"/>
                </a:solidFill>
                <a:latin typeface="Calibri"/>
              </a:rPr>
              <a:t>Recognising triggers &amp; alternatives</a:t>
            </a:r>
          </a:p>
          <a:p>
            <a:pPr lvl="0" algn="l">
              <a:spcAft>
                <a:spcPts val="0"/>
              </a:spcAft>
              <a:buNone/>
            </a:pPr>
            <a:r>
              <a:rPr lang="en-US" sz="1150" dirty="0">
                <a:solidFill>
                  <a:srgbClr val="2E2E38"/>
                </a:solidFill>
                <a:latin typeface="Calibri"/>
              </a:rPr>
              <a:t>New coping instead of self-harm</a:t>
            </a:r>
          </a:p>
        </p:txBody>
      </p:sp>
      <p:sp>
        <p:nvSpPr>
          <p:cNvPr id="431"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32"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31</a:t>
            </a:r>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434"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CONTEXT</a:t>
            </a:r>
          </a:p>
        </p:txBody>
      </p:sp>
      <p:sp>
        <p:nvSpPr>
          <p:cNvPr id="435"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Discussion — Comparison with Other Evidence</a:t>
            </a:r>
          </a:p>
        </p:txBody>
      </p:sp>
      <p:cxnSp>
        <p:nvCxnSpPr>
          <p:cNvPr id="436" name="ln"/>
          <p:cNvCxnSpPr/>
          <p:nvPr/>
        </p:nvCxnSpPr>
        <p:spPr>
          <a:xfrm>
            <a:off x="560000" y="1320000"/>
            <a:ext cx="11072000" cy="0"/>
          </a:xfrm>
          <a:prstGeom prst="line">
            <a:avLst/>
          </a:prstGeom>
          <a:ln w="28575">
            <a:solidFill>
              <a:srgbClr val="D6C7EE"/>
            </a:solidFill>
          </a:ln>
        </p:spPr>
      </p:cxnSp>
      <p:sp>
        <p:nvSpPr>
          <p:cNvPr id="437" name="r"/>
          <p:cNvSpPr/>
          <p:nvPr/>
        </p:nvSpPr>
        <p:spPr>
          <a:xfrm>
            <a:off x="560000" y="1580000"/>
            <a:ext cx="2600000" cy="70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00" b="1" dirty="0">
                <a:solidFill>
                  <a:srgbClr val="FFFFFF"/>
                </a:solidFill>
                <a:latin typeface="Calibri"/>
              </a:rPr>
              <a:t>Therapy</a:t>
            </a:r>
          </a:p>
        </p:txBody>
      </p:sp>
      <p:sp>
        <p:nvSpPr>
          <p:cNvPr id="438" name="r"/>
          <p:cNvSpPr/>
          <p:nvPr/>
        </p:nvSpPr>
        <p:spPr>
          <a:xfrm>
            <a:off x="3160000" y="1580000"/>
            <a:ext cx="4600000" cy="70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00" b="1" dirty="0">
                <a:solidFill>
                  <a:srgbClr val="FFFFFF"/>
                </a:solidFill>
                <a:latin typeface="Calibri"/>
              </a:rPr>
              <a:t>Evidence for self-harm</a:t>
            </a:r>
          </a:p>
        </p:txBody>
      </p:sp>
      <p:sp>
        <p:nvSpPr>
          <p:cNvPr id="439" name="r"/>
          <p:cNvSpPr/>
          <p:nvPr/>
        </p:nvSpPr>
        <p:spPr>
          <a:xfrm>
            <a:off x="7760000" y="1580000"/>
            <a:ext cx="3872000" cy="70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00" b="1" dirty="0">
                <a:solidFill>
                  <a:srgbClr val="FFFFFF"/>
                </a:solidFill>
                <a:latin typeface="Calibri"/>
              </a:rPr>
              <a:t>Note</a:t>
            </a:r>
          </a:p>
        </p:txBody>
      </p:sp>
      <p:sp>
        <p:nvSpPr>
          <p:cNvPr id="440" name="r"/>
          <p:cNvSpPr/>
          <p:nvPr/>
        </p:nvSpPr>
        <p:spPr>
          <a:xfrm>
            <a:off x="560000" y="2280000"/>
            <a:ext cx="2600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MBT / MBT-A</a:t>
            </a:r>
          </a:p>
        </p:txBody>
      </p:sp>
      <p:sp>
        <p:nvSpPr>
          <p:cNvPr id="441" name="r"/>
          <p:cNvSpPr/>
          <p:nvPr/>
        </p:nvSpPr>
        <p:spPr>
          <a:xfrm>
            <a:off x="3160000" y="2280000"/>
            <a:ext cx="4600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Large pooled effects here; early positive, later mixed trials</a:t>
            </a:r>
          </a:p>
        </p:txBody>
      </p:sp>
      <p:sp>
        <p:nvSpPr>
          <p:cNvPr id="442" name="r"/>
          <p:cNvSpPr/>
          <p:nvPr/>
        </p:nvSpPr>
        <p:spPr>
          <a:xfrm>
            <a:off x="7760000" y="2280000"/>
            <a:ext cx="3872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This review's focus</a:t>
            </a:r>
          </a:p>
        </p:txBody>
      </p:sp>
      <p:sp>
        <p:nvSpPr>
          <p:cNvPr id="443" name="r"/>
          <p:cNvSpPr/>
          <p:nvPr/>
        </p:nvSpPr>
        <p:spPr>
          <a:xfrm>
            <a:off x="560000" y="2980000"/>
            <a:ext cx="2600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DBT / DBT-A</a:t>
            </a:r>
          </a:p>
        </p:txBody>
      </p:sp>
      <p:sp>
        <p:nvSpPr>
          <p:cNvPr id="444" name="r"/>
          <p:cNvSpPr/>
          <p:nvPr/>
        </p:nvSpPr>
        <p:spPr>
          <a:xfrm>
            <a:off x="3160000" y="2980000"/>
            <a:ext cx="4600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Strongest evidence base; 'well-established' for adolescent self-harm</a:t>
            </a:r>
          </a:p>
        </p:txBody>
      </p:sp>
      <p:sp>
        <p:nvSpPr>
          <p:cNvPr id="445" name="r"/>
          <p:cNvSpPr/>
          <p:nvPr/>
        </p:nvSpPr>
        <p:spPr>
          <a:xfrm>
            <a:off x="7760000" y="2980000"/>
            <a:ext cx="3872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Common comparator/benchmark</a:t>
            </a:r>
          </a:p>
        </p:txBody>
      </p:sp>
      <p:sp>
        <p:nvSpPr>
          <p:cNvPr id="446" name="r"/>
          <p:cNvSpPr/>
          <p:nvPr/>
        </p:nvSpPr>
        <p:spPr>
          <a:xfrm>
            <a:off x="560000" y="3680000"/>
            <a:ext cx="2600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CBT-based</a:t>
            </a:r>
          </a:p>
        </p:txBody>
      </p:sp>
      <p:sp>
        <p:nvSpPr>
          <p:cNvPr id="447" name="r"/>
          <p:cNvSpPr/>
          <p:nvPr/>
        </p:nvSpPr>
        <p:spPr>
          <a:xfrm>
            <a:off x="3160000" y="3680000"/>
            <a:ext cx="4600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Moderate evidence for reducing repetition</a:t>
            </a:r>
          </a:p>
        </p:txBody>
      </p:sp>
      <p:sp>
        <p:nvSpPr>
          <p:cNvPr id="448" name="r"/>
          <p:cNvSpPr/>
          <p:nvPr/>
        </p:nvSpPr>
        <p:spPr>
          <a:xfrm>
            <a:off x="7760000" y="3680000"/>
            <a:ext cx="3872000" cy="70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Widely available</a:t>
            </a:r>
          </a:p>
        </p:txBody>
      </p:sp>
      <p:sp>
        <p:nvSpPr>
          <p:cNvPr id="449" name="r"/>
          <p:cNvSpPr/>
          <p:nvPr/>
        </p:nvSpPr>
        <p:spPr>
          <a:xfrm>
            <a:off x="560000" y="4380000"/>
            <a:ext cx="2600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TAU / SCM</a:t>
            </a:r>
          </a:p>
        </p:txBody>
      </p:sp>
      <p:sp>
        <p:nvSpPr>
          <p:cNvPr id="450" name="r"/>
          <p:cNvSpPr/>
          <p:nvPr/>
        </p:nvSpPr>
        <p:spPr>
          <a:xfrm>
            <a:off x="3160000" y="4380000"/>
            <a:ext cx="4600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Active controls shrink apparent MBT advantage</a:t>
            </a:r>
          </a:p>
        </p:txBody>
      </p:sp>
      <p:sp>
        <p:nvSpPr>
          <p:cNvPr id="451" name="r"/>
          <p:cNvSpPr/>
          <p:nvPr/>
        </p:nvSpPr>
        <p:spPr>
          <a:xfrm>
            <a:off x="7760000" y="4380000"/>
            <a:ext cx="3872000" cy="70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00" dirty="0">
                <a:solidFill>
                  <a:srgbClr val="2E2E38"/>
                </a:solidFill>
                <a:latin typeface="Calibri"/>
              </a:rPr>
              <a:t>Comparator quality matters</a:t>
            </a:r>
          </a:p>
        </p:txBody>
      </p:sp>
      <p:sp>
        <p:nvSpPr>
          <p:cNvPr id="452" name="tb"/>
          <p:cNvSpPr txBox="1"/>
          <p:nvPr/>
        </p:nvSpPr>
        <p:spPr>
          <a:xfrm>
            <a:off x="560000" y="5120000"/>
            <a:ext cx="11072000" cy="420000"/>
          </a:xfrm>
          <a:prstGeom prst="rect">
            <a:avLst/>
          </a:prstGeom>
          <a:noFill/>
        </p:spPr>
        <p:txBody>
          <a:bodyPr wrap="square" anchor="t" lIns="45720" tIns="27432" rIns="45720" bIns="27432">
            <a:normAutofit/>
          </a:bodyPr>
          <a:p>
            <a:pPr lvl="0" algn="l">
              <a:spcAft>
                <a:spcPts val="0"/>
              </a:spcAft>
              <a:buNone/>
            </a:pPr>
            <a:r>
              <a:rPr lang="en-US" sz="1050" i="1" dirty="0">
                <a:solidFill>
                  <a:srgbClr val="9AA0A6"/>
                </a:solidFill>
                <a:latin typeface="Calibri"/>
              </a:rPr>
              <a:t>Inconsistencies across MBT trials likely reflect differences in sample severity, treatment intensity, outcome measures and follow-up length.</a:t>
            </a:r>
          </a:p>
        </p:txBody>
      </p:sp>
      <p:sp>
        <p:nvSpPr>
          <p:cNvPr id="453"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54"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32</a:t>
            </a:r>
          </a:p>
        </p:txBody>
      </p:sp>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456"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IMPLICATIONS FOR PRACTICE</a:t>
            </a:r>
          </a:p>
        </p:txBody>
      </p:sp>
      <p:sp>
        <p:nvSpPr>
          <p:cNvPr id="457"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Clinical Meaning</a:t>
            </a:r>
          </a:p>
        </p:txBody>
      </p:sp>
      <p:cxnSp>
        <p:nvCxnSpPr>
          <p:cNvPr id="458" name="ln"/>
          <p:cNvCxnSpPr/>
          <p:nvPr/>
        </p:nvCxnSpPr>
        <p:spPr>
          <a:xfrm>
            <a:off x="560000" y="1320000"/>
            <a:ext cx="11072000" cy="0"/>
          </a:xfrm>
          <a:prstGeom prst="line">
            <a:avLst/>
          </a:prstGeom>
          <a:ln w="28575">
            <a:solidFill>
              <a:srgbClr val="D6C7EE"/>
            </a:solidFill>
          </a:ln>
        </p:spPr>
      </p:cxnSp>
      <p:sp>
        <p:nvSpPr>
          <p:cNvPr id="459" name="card"/>
          <p:cNvSpPr/>
          <p:nvPr/>
        </p:nvSpPr>
        <p:spPr>
          <a:xfrm>
            <a:off x="560000" y="1580000"/>
            <a:ext cx="11072000" cy="477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marL="342900" indent="-228600" lvl="0" algn="l">
              <a:spcAft>
                <a:spcPts val="250"/>
              </a:spcAft>
              <a:buFont typeface="Arial"/>
              <a:buChar char="•"/>
            </a:pPr>
            <a:r>
              <a:rPr lang="en-US" sz="1300" dirty="0">
                <a:solidFill>
                  <a:srgbClr val="2E2E38"/>
                </a:solidFill>
                <a:latin typeface="Calibri"/>
              </a:rPr>
              <a:t>MBT may be considered for individuals with recurrent self-harm and BPD/emerging BPD features.</a:t>
            </a:r>
          </a:p>
          <a:p>
            <a:pPr marL="342900" indent="-228600" lvl="0" algn="l">
              <a:spcAft>
                <a:spcPts val="250"/>
              </a:spcAft>
              <a:buFont typeface="Arial"/>
              <a:buChar char="•"/>
            </a:pPr>
            <a:r>
              <a:rPr lang="en-US" sz="1300" dirty="0">
                <a:solidFill>
                  <a:srgbClr val="2E2E38"/>
                </a:solidFill>
                <a:latin typeface="Calibri"/>
              </a:rPr>
              <a:t>Treatment should be individualized; ongoing risk assessment remains essential.</a:t>
            </a:r>
          </a:p>
          <a:p>
            <a:pPr marL="342900" indent="-228600" lvl="0" algn="l">
              <a:spcAft>
                <a:spcPts val="250"/>
              </a:spcAft>
              <a:buFont typeface="Arial"/>
              <a:buChar char="•"/>
            </a:pPr>
            <a:r>
              <a:rPr lang="en-US" sz="1300" dirty="0">
                <a:solidFill>
                  <a:srgbClr val="2E2E38"/>
                </a:solidFill>
                <a:latin typeface="Calibri"/>
              </a:rPr>
              <a:t>MBT complements — does not replace — crisis planning and safety management.</a:t>
            </a:r>
          </a:p>
          <a:p>
            <a:pPr marL="342900" indent="-228600" lvl="0" algn="l">
              <a:spcAft>
                <a:spcPts val="250"/>
              </a:spcAft>
              <a:buFont typeface="Arial"/>
              <a:buChar char="•"/>
            </a:pPr>
            <a:r>
              <a:rPr lang="en-US" sz="1300" dirty="0">
                <a:solidFill>
                  <a:srgbClr val="2E2E38"/>
                </a:solidFill>
                <a:latin typeface="Calibri"/>
              </a:rPr>
              <a:t>Medication may be needed for comorbid conditions; engagement &amp; continuity of care matter.</a:t>
            </a:r>
          </a:p>
          <a:p>
            <a:pPr marL="342900" indent="-228600" lvl="0" algn="l">
              <a:spcAft>
                <a:spcPts val="250"/>
              </a:spcAft>
              <a:buFont typeface="Arial"/>
              <a:buChar char="•"/>
            </a:pPr>
            <a:r>
              <a:rPr lang="en-US" sz="1300" dirty="0">
                <a:solidFill>
                  <a:srgbClr val="2E2E38"/>
                </a:solidFill>
                <a:latin typeface="Calibri"/>
              </a:rPr>
              <a:t>Therapists require appropriate training and supervision; match setting to risk level.</a:t>
            </a:r>
          </a:p>
          <a:p>
            <a:pPr marL="342900" indent="-228600" lvl="0" algn="l">
              <a:spcAft>
                <a:spcPts val="0"/>
              </a:spcAft>
              <a:buFont typeface="Arial"/>
              <a:buChar char="•"/>
            </a:pPr>
            <a:r>
              <a:rPr lang="en-US" sz="1300" dirty="0">
                <a:solidFill>
                  <a:srgbClr val="2E2E38"/>
                </a:solidFill>
                <a:latin typeface="Calibri"/>
              </a:rPr>
              <a:t>Involve family/carers where appropriate (especially in adolescent MBT-A).</a:t>
            </a:r>
          </a:p>
        </p:txBody>
      </p:sp>
      <p:sp>
        <p:nvSpPr>
          <p:cNvPr id="460"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61"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33</a:t>
            </a:r>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463"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CRITICAL APPRAISAL</a:t>
            </a:r>
          </a:p>
        </p:txBody>
      </p:sp>
      <p:sp>
        <p:nvSpPr>
          <p:cNvPr id="464"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Limitations of the Review</a:t>
            </a:r>
          </a:p>
        </p:txBody>
      </p:sp>
      <p:cxnSp>
        <p:nvCxnSpPr>
          <p:cNvPr id="465" name="ln"/>
          <p:cNvCxnSpPr/>
          <p:nvPr/>
        </p:nvCxnSpPr>
        <p:spPr>
          <a:xfrm>
            <a:off x="560000" y="1320000"/>
            <a:ext cx="11072000" cy="0"/>
          </a:xfrm>
          <a:prstGeom prst="line">
            <a:avLst/>
          </a:prstGeom>
          <a:ln w="28575">
            <a:solidFill>
              <a:srgbClr val="D6C7EE"/>
            </a:solidFill>
          </a:ln>
        </p:spPr>
      </p:cxnSp>
      <p:sp>
        <p:nvSpPr>
          <p:cNvPr id="466" name="r"/>
          <p:cNvSpPr/>
          <p:nvPr/>
        </p:nvSpPr>
        <p:spPr>
          <a:xfrm>
            <a:off x="560000" y="1580000"/>
            <a:ext cx="5200000" cy="56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50" b="1" dirty="0">
                <a:solidFill>
                  <a:srgbClr val="FFFFFF"/>
                </a:solidFill>
                <a:latin typeface="Calibri"/>
              </a:rPr>
              <a:t>Limitation</a:t>
            </a:r>
          </a:p>
        </p:txBody>
      </p:sp>
      <p:sp>
        <p:nvSpPr>
          <p:cNvPr id="467" name="r"/>
          <p:cNvSpPr/>
          <p:nvPr/>
        </p:nvSpPr>
        <p:spPr>
          <a:xfrm>
            <a:off x="5760000" y="1580000"/>
            <a:ext cx="5872000" cy="56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50" b="1" dirty="0">
                <a:solidFill>
                  <a:srgbClr val="FFFFFF"/>
                </a:solidFill>
                <a:latin typeface="Calibri"/>
              </a:rPr>
              <a:t>Possible impact</a:t>
            </a:r>
          </a:p>
        </p:txBody>
      </p:sp>
      <p:sp>
        <p:nvSpPr>
          <p:cNvPr id="468" name="r"/>
          <p:cNvSpPr/>
          <p:nvPr/>
        </p:nvSpPr>
        <p:spPr>
          <a:xfrm>
            <a:off x="560000" y="2140000"/>
            <a:ext cx="5200000" cy="56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Few, small studies</a:t>
            </a:r>
          </a:p>
        </p:txBody>
      </p:sp>
      <p:sp>
        <p:nvSpPr>
          <p:cNvPr id="469" name="r"/>
          <p:cNvSpPr/>
          <p:nvPr/>
        </p:nvSpPr>
        <p:spPr>
          <a:xfrm>
            <a:off x="5760000" y="2140000"/>
            <a:ext cx="5872000" cy="56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Reduced power; wide confidence intervals</a:t>
            </a:r>
          </a:p>
        </p:txBody>
      </p:sp>
      <p:sp>
        <p:nvSpPr>
          <p:cNvPr id="470" name="r"/>
          <p:cNvSpPr/>
          <p:nvPr/>
        </p:nvSpPr>
        <p:spPr>
          <a:xfrm>
            <a:off x="560000" y="2700000"/>
            <a:ext cx="5200000" cy="56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Heterogeneity (design, format, controls)</a:t>
            </a:r>
          </a:p>
        </p:txBody>
      </p:sp>
      <p:sp>
        <p:nvSpPr>
          <p:cNvPr id="471" name="r"/>
          <p:cNvSpPr/>
          <p:nvPr/>
        </p:nvSpPr>
        <p:spPr>
          <a:xfrm>
            <a:off x="5760000" y="2700000"/>
            <a:ext cx="5872000" cy="56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Lower confidence in the pooled estimate</a:t>
            </a:r>
          </a:p>
        </p:txBody>
      </p:sp>
      <p:sp>
        <p:nvSpPr>
          <p:cNvPr id="472" name="r"/>
          <p:cNvSpPr/>
          <p:nvPr/>
        </p:nvSpPr>
        <p:spPr>
          <a:xfrm>
            <a:off x="560000" y="3260000"/>
            <a:ext cx="5200000" cy="56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Short / variable follow-up</a:t>
            </a:r>
          </a:p>
        </p:txBody>
      </p:sp>
      <p:sp>
        <p:nvSpPr>
          <p:cNvPr id="473" name="r"/>
          <p:cNvSpPr/>
          <p:nvPr/>
        </p:nvSpPr>
        <p:spPr>
          <a:xfrm>
            <a:off x="5760000" y="3260000"/>
            <a:ext cx="5872000" cy="56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Long-term durability of effects unclear</a:t>
            </a:r>
          </a:p>
        </p:txBody>
      </p:sp>
      <p:sp>
        <p:nvSpPr>
          <p:cNvPr id="474" name="r"/>
          <p:cNvSpPr/>
          <p:nvPr/>
        </p:nvSpPr>
        <p:spPr>
          <a:xfrm>
            <a:off x="560000" y="3820000"/>
            <a:ext cx="5200000" cy="56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Different outcome measures</a:t>
            </a:r>
          </a:p>
        </p:txBody>
      </p:sp>
      <p:sp>
        <p:nvSpPr>
          <p:cNvPr id="475" name="r"/>
          <p:cNvSpPr/>
          <p:nvPr/>
        </p:nvSpPr>
        <p:spPr>
          <a:xfrm>
            <a:off x="5760000" y="3820000"/>
            <a:ext cx="5872000" cy="56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Harder to compare and combine</a:t>
            </a:r>
          </a:p>
        </p:txBody>
      </p:sp>
      <p:sp>
        <p:nvSpPr>
          <p:cNvPr id="476" name="r"/>
          <p:cNvSpPr/>
          <p:nvPr/>
        </p:nvSpPr>
        <p:spPr>
          <a:xfrm>
            <a:off x="560000" y="4380000"/>
            <a:ext cx="5200000" cy="56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Attrition &amp; incomplete reporting</a:t>
            </a:r>
          </a:p>
        </p:txBody>
      </p:sp>
      <p:sp>
        <p:nvSpPr>
          <p:cNvPr id="477" name="r"/>
          <p:cNvSpPr/>
          <p:nvPr/>
        </p:nvSpPr>
        <p:spPr>
          <a:xfrm>
            <a:off x="5760000" y="4380000"/>
            <a:ext cx="5872000" cy="56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Risk of attrition / reporting bias</a:t>
            </a:r>
          </a:p>
        </p:txBody>
      </p:sp>
      <p:sp>
        <p:nvSpPr>
          <p:cNvPr id="478" name="r"/>
          <p:cNvSpPr/>
          <p:nvPr/>
        </p:nvSpPr>
        <p:spPr>
          <a:xfrm>
            <a:off x="560000" y="4940000"/>
            <a:ext cx="5200000" cy="56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Limited diversity (female, Western, young)</a:t>
            </a:r>
          </a:p>
        </p:txBody>
      </p:sp>
      <p:sp>
        <p:nvSpPr>
          <p:cNvPr id="479" name="r"/>
          <p:cNvSpPr/>
          <p:nvPr/>
        </p:nvSpPr>
        <p:spPr>
          <a:xfrm>
            <a:off x="5760000" y="4940000"/>
            <a:ext cx="5872000" cy="56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Restricted generalisability</a:t>
            </a:r>
          </a:p>
        </p:txBody>
      </p:sp>
      <p:sp>
        <p:nvSpPr>
          <p:cNvPr id="480" name="r"/>
          <p:cNvSpPr/>
          <p:nvPr/>
        </p:nvSpPr>
        <p:spPr>
          <a:xfrm>
            <a:off x="560000" y="5500000"/>
            <a:ext cx="5200000" cy="56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Self-harm vs suicide not always separated</a:t>
            </a:r>
          </a:p>
        </p:txBody>
      </p:sp>
      <p:sp>
        <p:nvSpPr>
          <p:cNvPr id="481" name="r"/>
          <p:cNvSpPr/>
          <p:nvPr/>
        </p:nvSpPr>
        <p:spPr>
          <a:xfrm>
            <a:off x="5760000" y="5500000"/>
            <a:ext cx="5872000" cy="56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Ambiguity in what was reduced</a:t>
            </a:r>
          </a:p>
        </p:txBody>
      </p:sp>
      <p:sp>
        <p:nvSpPr>
          <p:cNvPr id="482"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83"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34</a:t>
            </a:r>
          </a:p>
        </p:txBody>
      </p:sp>
    </p:spTree>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485"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APPRAISAL</a:t>
            </a:r>
          </a:p>
        </p:txBody>
      </p:sp>
      <p:sp>
        <p:nvSpPr>
          <p:cNvPr id="486"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Sample &amp; Design Limitations</a:t>
            </a:r>
          </a:p>
        </p:txBody>
      </p:sp>
      <p:cxnSp>
        <p:nvCxnSpPr>
          <p:cNvPr id="487" name="ln"/>
          <p:cNvCxnSpPr/>
          <p:nvPr/>
        </p:nvCxnSpPr>
        <p:spPr>
          <a:xfrm>
            <a:off x="560000" y="1320000"/>
            <a:ext cx="11072000" cy="0"/>
          </a:xfrm>
          <a:prstGeom prst="line">
            <a:avLst/>
          </a:prstGeom>
          <a:ln w="28575">
            <a:solidFill>
              <a:srgbClr val="D6C7EE"/>
            </a:solidFill>
          </a:ln>
        </p:spPr>
      </p:cxnSp>
      <p:sp>
        <p:nvSpPr>
          <p:cNvPr id="488" name="card"/>
          <p:cNvSpPr/>
          <p:nvPr/>
        </p:nvSpPr>
        <p:spPr>
          <a:xfrm>
            <a:off x="560000" y="1580000"/>
            <a:ext cx="5386000" cy="4658000"/>
          </a:xfrm>
          <a:prstGeom prst="roundRect">
            <a:avLst/>
          </a:prstGeom>
          <a:solidFill>
            <a:srgbClr val="F7D9E0"/>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500"/>
              </a:spcAft>
              <a:buNone/>
            </a:pPr>
            <a:r>
              <a:rPr lang="en-US" sz="1700" b="1" dirty="0">
                <a:solidFill>
                  <a:srgbClr val="6E5AA6"/>
                </a:solidFill>
                <a:latin typeface="Calibri"/>
              </a:rPr>
              <a:t>Sample</a:t>
            </a:r>
          </a:p>
          <a:p>
            <a:pPr marL="342900" indent="-228600" lvl="0" algn="l">
              <a:spcAft>
                <a:spcPts val="340"/>
              </a:spcAft>
              <a:buFont typeface="Arial"/>
              <a:buChar char="•"/>
            </a:pPr>
            <a:r>
              <a:rPr lang="en-US" sz="1350" dirty="0">
                <a:solidFill>
                  <a:srgbClr val="2E2E38"/>
                </a:solidFill>
                <a:latin typeface="Calibri"/>
              </a:rPr>
              <a:t>Predominantly female participants</a:t>
            </a:r>
          </a:p>
          <a:p>
            <a:pPr marL="342900" indent="-228600" lvl="0" algn="l">
              <a:spcAft>
                <a:spcPts val="340"/>
              </a:spcAft>
              <a:buFont typeface="Arial"/>
              <a:buChar char="•"/>
            </a:pPr>
            <a:r>
              <a:rPr lang="en-US" sz="1350" dirty="0">
                <a:solidFill>
                  <a:srgbClr val="2E2E38"/>
                </a:solidFill>
                <a:latin typeface="Calibri"/>
              </a:rPr>
              <a:t>Under-representation of males &amp; gender-diverse people</a:t>
            </a:r>
          </a:p>
          <a:p>
            <a:pPr marL="342900" indent="-228600" lvl="0" algn="l">
              <a:spcAft>
                <a:spcPts val="340"/>
              </a:spcAft>
              <a:buFont typeface="Arial"/>
              <a:buChar char="•"/>
            </a:pPr>
            <a:r>
              <a:rPr lang="en-US" sz="1350" dirty="0">
                <a:solidFill>
                  <a:srgbClr val="2E2E38"/>
                </a:solidFill>
                <a:latin typeface="Calibri"/>
              </a:rPr>
              <a:t>Limited older-adult representation</a:t>
            </a:r>
          </a:p>
          <a:p>
            <a:pPr marL="342900" indent="-228600" lvl="0" algn="l">
              <a:spcAft>
                <a:spcPts val="340"/>
              </a:spcAft>
              <a:buFont typeface="Arial"/>
              <a:buChar char="•"/>
            </a:pPr>
            <a:r>
              <a:rPr lang="en-US" sz="1350" dirty="0">
                <a:solidFill>
                  <a:srgbClr val="2E2E38"/>
                </a:solidFill>
                <a:latin typeface="Calibri"/>
              </a:rPr>
              <a:t>Largely Western / high-income settings</a:t>
            </a:r>
          </a:p>
          <a:p>
            <a:pPr marL="342900" indent="-228600" lvl="0" algn="l">
              <a:spcAft>
                <a:spcPts val="340"/>
              </a:spcAft>
              <a:buFont typeface="Arial"/>
              <a:buChar char="•"/>
            </a:pPr>
            <a:r>
              <a:rPr lang="en-US" sz="1350" dirty="0">
                <a:solidFill>
                  <a:srgbClr val="2E2E38"/>
                </a:solidFill>
                <a:latin typeface="Calibri"/>
              </a:rPr>
              <a:t>Diagnostic overlap; varying baseline severity</a:t>
            </a:r>
          </a:p>
        </p:txBody>
      </p:sp>
      <p:sp>
        <p:nvSpPr>
          <p:cNvPr id="489" name="card"/>
          <p:cNvSpPr/>
          <p:nvPr/>
        </p:nvSpPr>
        <p:spPr>
          <a:xfrm>
            <a:off x="6246000" y="1580000"/>
            <a:ext cx="5386000" cy="465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500"/>
              </a:spcAft>
              <a:buNone/>
            </a:pPr>
            <a:r>
              <a:rPr lang="en-US" sz="1700" b="1" dirty="0">
                <a:solidFill>
                  <a:srgbClr val="6E5AA6"/>
                </a:solidFill>
                <a:latin typeface="Calibri"/>
              </a:rPr>
              <a:t>Design</a:t>
            </a:r>
          </a:p>
          <a:p>
            <a:pPr marL="342900" indent="-228600" lvl="0" algn="l">
              <a:spcAft>
                <a:spcPts val="340"/>
              </a:spcAft>
              <a:buFont typeface="Arial"/>
              <a:buChar char="•"/>
            </a:pPr>
            <a:r>
              <a:rPr lang="en-US" sz="1350" dirty="0">
                <a:solidFill>
                  <a:srgbClr val="2E2E38"/>
                </a:solidFill>
                <a:latin typeface="Calibri"/>
              </a:rPr>
              <a:t>Incomplete randomization in some trials</a:t>
            </a:r>
          </a:p>
          <a:p>
            <a:pPr marL="342900" indent="-228600" lvl="0" algn="l">
              <a:spcAft>
                <a:spcPts val="340"/>
              </a:spcAft>
              <a:buFont typeface="Arial"/>
              <a:buChar char="•"/>
            </a:pPr>
            <a:r>
              <a:rPr lang="en-US" sz="1350" dirty="0">
                <a:solidFill>
                  <a:srgbClr val="2E2E38"/>
                </a:solidFill>
                <a:latin typeface="Calibri"/>
              </a:rPr>
              <a:t>Lack of assessor blinding</a:t>
            </a:r>
          </a:p>
          <a:p>
            <a:pPr marL="342900" indent="-228600" lvl="0" algn="l">
              <a:spcAft>
                <a:spcPts val="340"/>
              </a:spcAft>
              <a:buFont typeface="Arial"/>
              <a:buChar char="•"/>
            </a:pPr>
            <a:r>
              <a:rPr lang="en-US" sz="1350" dirty="0">
                <a:solidFill>
                  <a:srgbClr val="2E2E38"/>
                </a:solidFill>
                <a:latin typeface="Calibri"/>
              </a:rPr>
              <a:t>Variable / non-specific TAU comparators</a:t>
            </a:r>
          </a:p>
          <a:p>
            <a:pPr marL="342900" indent="-228600" lvl="0" algn="l">
              <a:spcAft>
                <a:spcPts val="340"/>
              </a:spcAft>
              <a:buFont typeface="Arial"/>
              <a:buChar char="•"/>
            </a:pPr>
            <a:r>
              <a:rPr lang="en-US" sz="1350" dirty="0">
                <a:solidFill>
                  <a:srgbClr val="2E2E38"/>
                </a:solidFill>
                <a:latin typeface="Calibri"/>
              </a:rPr>
              <a:t>High or differential attrition</a:t>
            </a:r>
          </a:p>
          <a:p>
            <a:pPr marL="342900" indent="-228600" lvl="0" algn="l">
              <a:spcAft>
                <a:spcPts val="340"/>
              </a:spcAft>
              <a:buFont typeface="Arial"/>
              <a:buChar char="•"/>
            </a:pPr>
            <a:r>
              <a:rPr lang="en-US" sz="1350" dirty="0">
                <a:solidFill>
                  <a:srgbClr val="2E2E38"/>
                </a:solidFill>
                <a:latin typeface="Calibri"/>
              </a:rPr>
              <a:t>Limited fidelity monitoring &amp; preregistration</a:t>
            </a:r>
          </a:p>
        </p:txBody>
      </p:sp>
      <p:sp>
        <p:nvSpPr>
          <p:cNvPr id="490"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91"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35</a:t>
            </a:r>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493"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TO WHOM DO RESULTS APPLY?</a:t>
            </a:r>
          </a:p>
        </p:txBody>
      </p:sp>
      <p:sp>
        <p:nvSpPr>
          <p:cNvPr id="494"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Generalizability</a:t>
            </a:r>
          </a:p>
        </p:txBody>
      </p:sp>
      <p:cxnSp>
        <p:nvCxnSpPr>
          <p:cNvPr id="495" name="ln"/>
          <p:cNvCxnSpPr/>
          <p:nvPr/>
        </p:nvCxnSpPr>
        <p:spPr>
          <a:xfrm>
            <a:off x="560000" y="1320000"/>
            <a:ext cx="11072000" cy="0"/>
          </a:xfrm>
          <a:prstGeom prst="line">
            <a:avLst/>
          </a:prstGeom>
          <a:ln w="28575">
            <a:solidFill>
              <a:srgbClr val="D6C7EE"/>
            </a:solidFill>
          </a:ln>
        </p:spPr>
      </p:cxnSp>
      <p:sp>
        <p:nvSpPr>
          <p:cNvPr id="496" name="card"/>
          <p:cNvSpPr/>
          <p:nvPr/>
        </p:nvSpPr>
        <p:spPr>
          <a:xfrm>
            <a:off x="560000" y="1580000"/>
            <a:ext cx="5386000" cy="4658000"/>
          </a:xfrm>
          <a:prstGeom prst="roundRect">
            <a:avLst/>
          </a:prstGeom>
          <a:solidFill>
            <a:srgbClr val="D9E8D2"/>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500" b="1" dirty="0">
                <a:solidFill>
                  <a:srgbClr val="6E5AA6"/>
                </a:solidFill>
                <a:latin typeface="Calibri"/>
              </a:rPr>
              <a:t>More applicable to</a:t>
            </a:r>
          </a:p>
          <a:p>
            <a:pPr marL="342900" indent="-228600" lvl="0" algn="l">
              <a:spcAft>
                <a:spcPts val="240"/>
              </a:spcAft>
              <a:buFont typeface="Arial"/>
              <a:buChar char="•"/>
            </a:pPr>
            <a:r>
              <a:rPr lang="en-US" sz="1300" dirty="0">
                <a:solidFill>
                  <a:srgbClr val="2E2E38"/>
                </a:solidFill>
                <a:latin typeface="Calibri"/>
              </a:rPr>
              <a:t>Outpatient mental-health services</a:t>
            </a:r>
          </a:p>
          <a:p>
            <a:pPr marL="342900" indent="-228600" lvl="0" algn="l">
              <a:spcAft>
                <a:spcPts val="240"/>
              </a:spcAft>
              <a:buFont typeface="Arial"/>
              <a:buChar char="•"/>
            </a:pPr>
            <a:r>
              <a:rPr lang="en-US" sz="1300" dirty="0">
                <a:solidFill>
                  <a:srgbClr val="2E2E38"/>
                </a:solidFill>
                <a:latin typeface="Calibri"/>
              </a:rPr>
              <a:t>Adolescents &amp; adults with self-harm + BPD features</a:t>
            </a:r>
          </a:p>
          <a:p>
            <a:pPr marL="342900" indent="-228600" lvl="0" algn="l">
              <a:spcAft>
                <a:spcPts val="240"/>
              </a:spcAft>
              <a:buFont typeface="Arial"/>
              <a:buChar char="•"/>
            </a:pPr>
            <a:r>
              <a:rPr lang="en-US" sz="1300" dirty="0">
                <a:solidFill>
                  <a:srgbClr val="2E2E38"/>
                </a:solidFill>
                <a:latin typeface="Calibri"/>
              </a:rPr>
              <a:t>High-income / Western settings</a:t>
            </a:r>
          </a:p>
          <a:p>
            <a:pPr marL="342900" indent="-228600" lvl="0" algn="l">
              <a:spcAft>
                <a:spcPts val="240"/>
              </a:spcAft>
              <a:buFont typeface="Arial"/>
              <a:buChar char="•"/>
            </a:pPr>
            <a:r>
              <a:rPr lang="en-US" sz="1300" dirty="0">
                <a:solidFill>
                  <a:srgbClr val="2E2E38"/>
                </a:solidFill>
                <a:latin typeface="Calibri"/>
              </a:rPr>
              <a:t>Female-predominant clinical samples</a:t>
            </a:r>
          </a:p>
        </p:txBody>
      </p:sp>
      <p:sp>
        <p:nvSpPr>
          <p:cNvPr id="497" name="card"/>
          <p:cNvSpPr/>
          <p:nvPr/>
        </p:nvSpPr>
        <p:spPr>
          <a:xfrm>
            <a:off x="6246000" y="1580000"/>
            <a:ext cx="5386000" cy="4658000"/>
          </a:xfrm>
          <a:prstGeom prst="roundRect">
            <a:avLst/>
          </a:prstGeom>
          <a:solidFill>
            <a:srgbClr val="FBE3D2"/>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300"/>
              </a:spcAft>
              <a:buNone/>
            </a:pPr>
            <a:r>
              <a:rPr lang="en-US" sz="1500" b="1" dirty="0">
                <a:solidFill>
                  <a:srgbClr val="6E5AA6"/>
                </a:solidFill>
                <a:latin typeface="Calibri"/>
              </a:rPr>
              <a:t>Caution / limited evidence</a:t>
            </a:r>
          </a:p>
          <a:p>
            <a:pPr marL="342900" indent="-228600" lvl="0" algn="l">
              <a:spcAft>
                <a:spcPts val="210"/>
              </a:spcAft>
              <a:buFont typeface="Arial"/>
              <a:buChar char="•"/>
            </a:pPr>
            <a:r>
              <a:rPr lang="en-US" sz="1300" dirty="0">
                <a:solidFill>
                  <a:srgbClr val="2E2E38"/>
                </a:solidFill>
                <a:latin typeface="Calibri"/>
              </a:rPr>
              <a:t>Emergency-department &amp; inpatient settings</a:t>
            </a:r>
          </a:p>
          <a:p>
            <a:pPr marL="342900" indent="-228600" lvl="0" algn="l">
              <a:spcAft>
                <a:spcPts val="210"/>
              </a:spcAft>
              <a:buFont typeface="Arial"/>
              <a:buChar char="•"/>
            </a:pPr>
            <a:r>
              <a:rPr lang="en-US" sz="1300" dirty="0">
                <a:solidFill>
                  <a:srgbClr val="2E2E38"/>
                </a:solidFill>
                <a:latin typeface="Calibri"/>
              </a:rPr>
              <a:t>Low-resource / non-Western populations</a:t>
            </a:r>
          </a:p>
          <a:p>
            <a:pPr marL="342900" indent="-228600" lvl="0" algn="l">
              <a:spcAft>
                <a:spcPts val="210"/>
              </a:spcAft>
              <a:buFont typeface="Arial"/>
              <a:buChar char="•"/>
            </a:pPr>
            <a:r>
              <a:rPr lang="en-US" sz="1300" dirty="0">
                <a:solidFill>
                  <a:srgbClr val="2E2E38"/>
                </a:solidFill>
                <a:latin typeface="Calibri"/>
              </a:rPr>
              <a:t>Older adults; males &amp; gender-diverse people</a:t>
            </a:r>
          </a:p>
          <a:p>
            <a:pPr marL="342900" indent="-228600" lvl="0" algn="l">
              <a:spcAft>
                <a:spcPts val="210"/>
              </a:spcAft>
              <a:buFont typeface="Arial"/>
              <a:buChar char="•"/>
            </a:pPr>
            <a:r>
              <a:rPr lang="en-US" sz="1300" dirty="0">
                <a:solidFill>
                  <a:srgbClr val="2E2E38"/>
                </a:solidFill>
                <a:latin typeface="Calibri"/>
              </a:rPr>
              <a:t>Self-harm without BPD; comorbid psychosis or severe cognitive impairment</a:t>
            </a:r>
          </a:p>
        </p:txBody>
      </p:sp>
      <p:sp>
        <p:nvSpPr>
          <p:cNvPr id="498"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499"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36</a:t>
            </a:r>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501"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LOOKING FORWARD</a:t>
            </a:r>
          </a:p>
        </p:txBody>
      </p:sp>
      <p:sp>
        <p:nvSpPr>
          <p:cNvPr id="502"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Future Applications &amp; Implications</a:t>
            </a:r>
          </a:p>
        </p:txBody>
      </p:sp>
      <p:cxnSp>
        <p:nvCxnSpPr>
          <p:cNvPr id="503" name="ln"/>
          <p:cNvCxnSpPr/>
          <p:nvPr/>
        </p:nvCxnSpPr>
        <p:spPr>
          <a:xfrm>
            <a:off x="560000" y="1320000"/>
            <a:ext cx="11072000" cy="0"/>
          </a:xfrm>
          <a:prstGeom prst="line">
            <a:avLst/>
          </a:prstGeom>
          <a:ln w="28575">
            <a:solidFill>
              <a:srgbClr val="D6C7EE"/>
            </a:solidFill>
          </a:ln>
        </p:spPr>
      </p:cxnSp>
      <p:sp>
        <p:nvSpPr>
          <p:cNvPr id="504" name="card"/>
          <p:cNvSpPr/>
          <p:nvPr/>
        </p:nvSpPr>
        <p:spPr>
          <a:xfrm>
            <a:off x="560000" y="1580000"/>
            <a:ext cx="2603000" cy="4658000"/>
          </a:xfrm>
          <a:prstGeom prst="roundRect">
            <a:avLst/>
          </a:prstGeom>
          <a:solidFill>
            <a:srgbClr val="E7E0F7"/>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400" b="1" dirty="0">
                <a:solidFill>
                  <a:srgbClr val="6E5AA6"/>
                </a:solidFill>
                <a:latin typeface="Calibri"/>
              </a:rPr>
              <a:t>Clinical practice</a:t>
            </a:r>
          </a:p>
          <a:p>
            <a:pPr lvl="0" algn="l">
              <a:spcAft>
                <a:spcPts val="0"/>
              </a:spcAft>
              <a:buNone/>
            </a:pPr>
            <a:r>
              <a:rPr lang="en-US" sz="1150" dirty="0">
                <a:solidFill>
                  <a:srgbClr val="2E2E38"/>
                </a:solidFill>
                <a:latin typeface="Calibri"/>
              </a:rPr>
              <a:t>Integrate mentalizing-informed principles; assess mentalizing in crises; collaborative formulation; individualized safety plans</a:t>
            </a:r>
          </a:p>
        </p:txBody>
      </p:sp>
      <p:sp>
        <p:nvSpPr>
          <p:cNvPr id="505" name="card"/>
          <p:cNvSpPr/>
          <p:nvPr/>
        </p:nvSpPr>
        <p:spPr>
          <a:xfrm>
            <a:off x="3383000" y="1580000"/>
            <a:ext cx="2603000" cy="4658000"/>
          </a:xfrm>
          <a:prstGeom prst="roundRect">
            <a:avLst/>
          </a:prstGeom>
          <a:solidFill>
            <a:srgbClr val="D7E8F4"/>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400" b="1" dirty="0">
                <a:solidFill>
                  <a:srgbClr val="6E5AA6"/>
                </a:solidFill>
                <a:latin typeface="Calibri"/>
              </a:rPr>
              <a:t>Services</a:t>
            </a:r>
          </a:p>
          <a:p>
            <a:pPr lvl="0" algn="l">
              <a:spcAft>
                <a:spcPts val="0"/>
              </a:spcAft>
              <a:buNone/>
            </a:pPr>
            <a:r>
              <a:rPr lang="en-US" sz="1150" dirty="0">
                <a:solidFill>
                  <a:srgbClr val="2E2E38"/>
                </a:solidFill>
                <a:latin typeface="Calibri"/>
              </a:rPr>
              <a:t>Structured MBT programmes; clinician training &amp; supervision; stepped care; continuity after discharge</a:t>
            </a:r>
          </a:p>
        </p:txBody>
      </p:sp>
      <p:sp>
        <p:nvSpPr>
          <p:cNvPr id="506" name="card"/>
          <p:cNvSpPr/>
          <p:nvPr/>
        </p:nvSpPr>
        <p:spPr>
          <a:xfrm>
            <a:off x="6206000" y="1580000"/>
            <a:ext cx="2603000" cy="4658000"/>
          </a:xfrm>
          <a:prstGeom prst="roundRect">
            <a:avLst/>
          </a:prstGeom>
          <a:solidFill>
            <a:srgbClr val="D5EFE6"/>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400" b="1" dirty="0">
                <a:solidFill>
                  <a:srgbClr val="6E5AA6"/>
                </a:solidFill>
                <a:latin typeface="Calibri"/>
              </a:rPr>
              <a:t>Relapse prevention</a:t>
            </a:r>
          </a:p>
          <a:p>
            <a:pPr lvl="0" algn="l">
              <a:spcAft>
                <a:spcPts val="0"/>
              </a:spcAft>
              <a:buNone/>
            </a:pPr>
            <a:r>
              <a:rPr lang="en-US" sz="1150" dirty="0">
                <a:solidFill>
                  <a:srgbClr val="2E2E38"/>
                </a:solidFill>
                <a:latin typeface="Calibri"/>
              </a:rPr>
              <a:t>Identify early warning signs; build coping alternatives; plan for interpersonal crises; monitor recurrence</a:t>
            </a:r>
          </a:p>
        </p:txBody>
      </p:sp>
      <p:sp>
        <p:nvSpPr>
          <p:cNvPr id="507" name="card"/>
          <p:cNvSpPr/>
          <p:nvPr/>
        </p:nvSpPr>
        <p:spPr>
          <a:xfrm>
            <a:off x="9029000" y="1580000"/>
            <a:ext cx="2603000" cy="4658000"/>
          </a:xfrm>
          <a:prstGeom prst="roundRect">
            <a:avLst/>
          </a:prstGeom>
          <a:solidFill>
            <a:srgbClr val="FBE3D2"/>
          </a:solidFill>
          <a:effectLst>
            <a:outerShdw blurRad="40000" dist="20000" dir="5400000" rotWithShape="0">
              <a:srgbClr val="9AA0A6">
                <a:alpha val="38000"/>
              </a:srgbClr>
            </a:outerShdw>
          </a:effectLst>
        </p:spPr>
        <p:txBody>
          <a:bodyPr wrap="square" anchor="t" lIns="91440" tIns="45720" rIns="91440" bIns="45720">
            <a:normAutofit/>
          </a:bodyPr>
          <a:p>
            <a:pPr lvl="0" algn="l">
              <a:spcAft>
                <a:spcPts val="240"/>
              </a:spcAft>
              <a:buNone/>
            </a:pPr>
            <a:r>
              <a:rPr lang="en-US" sz="1400" b="1" dirty="0">
                <a:solidFill>
                  <a:srgbClr val="6E5AA6"/>
                </a:solidFill>
                <a:latin typeface="Calibri"/>
              </a:rPr>
              <a:t>Psychosocial</a:t>
            </a:r>
          </a:p>
          <a:p>
            <a:pPr lvl="0" algn="l">
              <a:spcAft>
                <a:spcPts val="0"/>
              </a:spcAft>
              <a:buNone/>
            </a:pPr>
            <a:r>
              <a:rPr lang="en-US" sz="1150" dirty="0">
                <a:solidFill>
                  <a:srgbClr val="2E2E38"/>
                </a:solidFill>
                <a:latin typeface="Calibri"/>
              </a:rPr>
              <a:t>Involve family/carers; address trauma &amp; attachment; support social functioning; multidisciplinary care</a:t>
            </a:r>
          </a:p>
        </p:txBody>
      </p:sp>
      <p:sp>
        <p:nvSpPr>
          <p:cNvPr id="508"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509"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37</a:t>
            </a:r>
          </a:p>
        </p:txBody>
      </p:sp>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511"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REFLECTIVE CRITICAL APPRAISAL</a:t>
            </a:r>
          </a:p>
        </p:txBody>
      </p:sp>
      <p:sp>
        <p:nvSpPr>
          <p:cNvPr id="512"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What Could I Have Done as a Researcher?</a:t>
            </a:r>
          </a:p>
        </p:txBody>
      </p:sp>
      <p:cxnSp>
        <p:nvCxnSpPr>
          <p:cNvPr id="513" name="ln"/>
          <p:cNvCxnSpPr/>
          <p:nvPr/>
        </p:nvCxnSpPr>
        <p:spPr>
          <a:xfrm>
            <a:off x="560000" y="1320000"/>
            <a:ext cx="11072000" cy="0"/>
          </a:xfrm>
          <a:prstGeom prst="line">
            <a:avLst/>
          </a:prstGeom>
          <a:ln w="28575">
            <a:solidFill>
              <a:srgbClr val="D6C7EE"/>
            </a:solidFill>
          </a:ln>
        </p:spPr>
      </p:cxnSp>
      <p:sp>
        <p:nvSpPr>
          <p:cNvPr id="514" name="card"/>
          <p:cNvSpPr/>
          <p:nvPr/>
        </p:nvSpPr>
        <p:spPr>
          <a:xfrm>
            <a:off x="560000" y="1580000"/>
            <a:ext cx="5406000" cy="465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t" lIns="91440" tIns="45720" rIns="91440" bIns="45720">
            <a:normAutofit/>
          </a:bodyPr>
          <a:p>
            <a:pPr marL="342900" indent="-228600" lvl="0" algn="l">
              <a:spcAft>
                <a:spcPts val="250"/>
              </a:spcAft>
              <a:buFont typeface="Arial"/>
              <a:buChar char="•"/>
            </a:pPr>
            <a:r>
              <a:rPr lang="en-US" sz="1250" dirty="0">
                <a:solidFill>
                  <a:srgbClr val="2E2E38"/>
                </a:solidFill>
                <a:latin typeface="Calibri"/>
              </a:rPr>
              <a:t>Recruit a larger, more diverse sample (age, sex, culture)</a:t>
            </a:r>
          </a:p>
          <a:p>
            <a:pPr marL="342900" indent="-228600" lvl="0" algn="l">
              <a:spcAft>
                <a:spcPts val="250"/>
              </a:spcAft>
              <a:buFont typeface="Arial"/>
              <a:buChar char="•"/>
            </a:pPr>
            <a:r>
              <a:rPr lang="en-US" sz="1250" dirty="0">
                <a:solidFill>
                  <a:srgbClr val="2E2E38"/>
                </a:solidFill>
                <a:latin typeface="Calibri"/>
              </a:rPr>
              <a:t>Use longer, standardized follow-up</a:t>
            </a:r>
          </a:p>
          <a:p>
            <a:pPr marL="342900" indent="-228600" lvl="0" algn="l">
              <a:spcAft>
                <a:spcPts val="250"/>
              </a:spcAft>
              <a:buFont typeface="Arial"/>
              <a:buChar char="•"/>
            </a:pPr>
            <a:r>
              <a:rPr lang="en-US" sz="1250" dirty="0">
                <a:solidFill>
                  <a:srgbClr val="2E2E38"/>
                </a:solidFill>
                <a:latin typeface="Calibri"/>
              </a:rPr>
              <a:t>Clearly separate suicidal from non-suicidal self-harm</a:t>
            </a:r>
          </a:p>
          <a:p>
            <a:pPr marL="342900" indent="-228600" lvl="0" algn="l">
              <a:spcAft>
                <a:spcPts val="250"/>
              </a:spcAft>
              <a:buFont typeface="Arial"/>
              <a:buChar char="•"/>
            </a:pPr>
            <a:r>
              <a:rPr lang="en-US" sz="1250" dirty="0">
                <a:solidFill>
                  <a:srgbClr val="2E2E38"/>
                </a:solidFill>
                <a:latin typeface="Calibri"/>
              </a:rPr>
              <a:t>Employ rigorous randomization &amp; assessor blinding</a:t>
            </a:r>
          </a:p>
          <a:p>
            <a:pPr marL="342900" indent="-228600" lvl="0" algn="l">
              <a:spcAft>
                <a:spcPts val="250"/>
              </a:spcAft>
              <a:buFont typeface="Arial"/>
              <a:buChar char="•"/>
            </a:pPr>
            <a:r>
              <a:rPr lang="en-US" sz="1250" dirty="0">
                <a:solidFill>
                  <a:srgbClr val="2E2E38"/>
                </a:solidFill>
                <a:latin typeface="Calibri"/>
              </a:rPr>
              <a:t>Include active psychotherapy comparators (e.g., DBT)</a:t>
            </a:r>
          </a:p>
        </p:txBody>
      </p:sp>
      <p:sp>
        <p:nvSpPr>
          <p:cNvPr id="515" name="card"/>
          <p:cNvSpPr/>
          <p:nvPr/>
        </p:nvSpPr>
        <p:spPr>
          <a:xfrm>
            <a:off x="6226000" y="1580000"/>
            <a:ext cx="5406000" cy="4658000"/>
          </a:xfrm>
          <a:prstGeom prst="roundRect">
            <a:avLst/>
          </a:prstGeom>
          <a:solidFill>
            <a:srgbClr val="FBF6EC"/>
          </a:solidFill>
          <a:ln w="12700">
            <a:solidFill>
              <a:srgbClr val="D6C7EE"/>
            </a:solidFill>
          </a:ln>
          <a:effectLst>
            <a:outerShdw blurRad="40000" dist="20000" dir="5400000" rotWithShape="0">
              <a:srgbClr val="9AA0A6">
                <a:alpha val="38000"/>
              </a:srgbClr>
            </a:outerShdw>
          </a:effectLst>
        </p:spPr>
        <p:txBody>
          <a:bodyPr wrap="square" anchor="t" lIns="91440" tIns="45720" rIns="91440" bIns="45720">
            <a:normAutofit/>
          </a:bodyPr>
          <a:p>
            <a:pPr marL="342900" indent="-228600" lvl="0" algn="l">
              <a:spcAft>
                <a:spcPts val="250"/>
              </a:spcAft>
              <a:buFont typeface="Arial"/>
              <a:buChar char="•"/>
            </a:pPr>
            <a:r>
              <a:rPr lang="en-US" sz="1250" dirty="0">
                <a:solidFill>
                  <a:srgbClr val="2E2E38"/>
                </a:solidFill>
                <a:latin typeface="Calibri"/>
              </a:rPr>
              <a:t>Monitor treatment fidelity; report therapist training</a:t>
            </a:r>
          </a:p>
          <a:p>
            <a:pPr marL="342900" indent="-228600" lvl="0" algn="l">
              <a:spcAft>
                <a:spcPts val="250"/>
              </a:spcAft>
              <a:buFont typeface="Arial"/>
              <a:buChar char="•"/>
            </a:pPr>
            <a:r>
              <a:rPr lang="en-US" sz="1250" dirty="0">
                <a:solidFill>
                  <a:srgbClr val="2E2E38"/>
                </a:solidFill>
                <a:latin typeface="Calibri"/>
              </a:rPr>
              <a:t>Examine mechanisms of change; run subgroup analyses</a:t>
            </a:r>
          </a:p>
          <a:p>
            <a:pPr marL="342900" indent="-228600" lvl="0" algn="l">
              <a:spcAft>
                <a:spcPts val="250"/>
              </a:spcAft>
              <a:buFont typeface="Arial"/>
              <a:buChar char="•"/>
            </a:pPr>
            <a:r>
              <a:rPr lang="en-US" sz="1250" dirty="0">
                <a:solidFill>
                  <a:srgbClr val="2E2E38"/>
                </a:solidFill>
                <a:latin typeface="Calibri"/>
              </a:rPr>
              <a:t>Preregister the protocol; report adverse events &amp; dropout fully</a:t>
            </a:r>
          </a:p>
          <a:p>
            <a:pPr marL="342900" indent="-228600" lvl="0" algn="l">
              <a:spcAft>
                <a:spcPts val="250"/>
              </a:spcAft>
              <a:buFont typeface="Arial"/>
              <a:buChar char="•"/>
            </a:pPr>
            <a:r>
              <a:rPr lang="en-US" sz="1250" dirty="0">
                <a:solidFill>
                  <a:srgbClr val="2E2E38"/>
                </a:solidFill>
                <a:latin typeface="Calibri"/>
              </a:rPr>
              <a:t>Assess cost-effectiveness &amp; post-discharge outcomes</a:t>
            </a:r>
          </a:p>
        </p:txBody>
      </p:sp>
      <p:sp>
        <p:nvSpPr>
          <p:cNvPr id="516"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517"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38</a:t>
            </a:r>
          </a:p>
        </p:txBody>
      </p:sp>
    </p:spTree>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519"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HIGH-YIELD POINTS</a:t>
            </a:r>
          </a:p>
        </p:txBody>
      </p:sp>
      <p:sp>
        <p:nvSpPr>
          <p:cNvPr id="520"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Key Takeaways</a:t>
            </a:r>
          </a:p>
        </p:txBody>
      </p:sp>
      <p:cxnSp>
        <p:nvCxnSpPr>
          <p:cNvPr id="521" name="ln"/>
          <p:cNvCxnSpPr/>
          <p:nvPr/>
        </p:nvCxnSpPr>
        <p:spPr>
          <a:xfrm>
            <a:off x="560000" y="1320000"/>
            <a:ext cx="11072000" cy="0"/>
          </a:xfrm>
          <a:prstGeom prst="line">
            <a:avLst/>
          </a:prstGeom>
          <a:ln w="28575">
            <a:solidFill>
              <a:srgbClr val="D6C7EE"/>
            </a:solidFill>
          </a:ln>
        </p:spPr>
      </p:cxnSp>
      <p:sp>
        <p:nvSpPr>
          <p:cNvPr id="522" name="card"/>
          <p:cNvSpPr/>
          <p:nvPr/>
        </p:nvSpPr>
        <p:spPr>
          <a:xfrm>
            <a:off x="560000" y="1580000"/>
            <a:ext cx="11072000" cy="659666"/>
          </a:xfrm>
          <a:prstGeom prst="roundRect">
            <a:avLst/>
          </a:prstGeom>
          <a:solidFill>
            <a:srgbClr val="F7D9E0"/>
          </a:solidFill>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00" b="1" dirty="0">
                <a:solidFill>
                  <a:srgbClr val="6E5AA6"/>
                </a:solidFill>
                <a:latin typeface="Calibri"/>
              </a:rPr>
              <a:t>1.  </a:t>
            </a:r>
            <a:r>
              <a:rPr lang="en-US" sz="1250" dirty="0">
                <a:solidFill>
                  <a:srgbClr val="2E2E38"/>
                </a:solidFill>
                <a:latin typeface="Calibri"/>
              </a:rPr>
              <a:t>Self-harm is recurrent and clinically complex — comprehensive risk assessment is essential.</a:t>
            </a:r>
          </a:p>
        </p:txBody>
      </p:sp>
      <p:sp>
        <p:nvSpPr>
          <p:cNvPr id="523" name="card"/>
          <p:cNvSpPr/>
          <p:nvPr/>
        </p:nvSpPr>
        <p:spPr>
          <a:xfrm>
            <a:off x="560000" y="2379666"/>
            <a:ext cx="11072000" cy="659666"/>
          </a:xfrm>
          <a:prstGeom prst="roundRect">
            <a:avLst/>
          </a:prstGeom>
          <a:solidFill>
            <a:srgbClr val="FBE3D2"/>
          </a:solidFill>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00" b="1" dirty="0">
                <a:solidFill>
                  <a:srgbClr val="6E5AA6"/>
                </a:solidFill>
                <a:latin typeface="Calibri"/>
              </a:rPr>
              <a:t>2.  </a:t>
            </a:r>
            <a:r>
              <a:rPr lang="en-US" sz="1250" dirty="0">
                <a:solidFill>
                  <a:srgbClr val="2E2E38"/>
                </a:solidFill>
                <a:latin typeface="Calibri"/>
              </a:rPr>
              <a:t>MBT targets difficulties in understanding self and others during emotional arousal.</a:t>
            </a:r>
          </a:p>
        </p:txBody>
      </p:sp>
      <p:sp>
        <p:nvSpPr>
          <p:cNvPr id="524" name="card"/>
          <p:cNvSpPr/>
          <p:nvPr/>
        </p:nvSpPr>
        <p:spPr>
          <a:xfrm>
            <a:off x="560000" y="3179332"/>
            <a:ext cx="11072000" cy="659666"/>
          </a:xfrm>
          <a:prstGeom prst="roundRect">
            <a:avLst/>
          </a:prstGeom>
          <a:solidFill>
            <a:srgbClr val="D9E8D2"/>
          </a:solidFill>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00" b="1" dirty="0">
                <a:solidFill>
                  <a:srgbClr val="6E5AA6"/>
                </a:solidFill>
                <a:latin typeface="Calibri"/>
              </a:rPr>
              <a:t>3.  </a:t>
            </a:r>
            <a:r>
              <a:rPr lang="en-US" sz="1250" dirty="0">
                <a:solidFill>
                  <a:srgbClr val="2E2E38"/>
                </a:solidFill>
                <a:latin typeface="Calibri"/>
              </a:rPr>
              <a:t>Pooled evidence shows large, significant reductions: self-harm g=−0.82, BPD g=−1.08, depression g=−1.10.</a:t>
            </a:r>
          </a:p>
        </p:txBody>
      </p:sp>
      <p:sp>
        <p:nvSpPr>
          <p:cNvPr id="525" name="card"/>
          <p:cNvSpPr/>
          <p:nvPr/>
        </p:nvSpPr>
        <p:spPr>
          <a:xfrm>
            <a:off x="560000" y="3978998"/>
            <a:ext cx="11072000" cy="659666"/>
          </a:xfrm>
          <a:prstGeom prst="roundRect">
            <a:avLst/>
          </a:prstGeom>
          <a:solidFill>
            <a:srgbClr val="D7E8F4"/>
          </a:solidFill>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00" b="1" dirty="0">
                <a:solidFill>
                  <a:srgbClr val="6E5AA6"/>
                </a:solidFill>
                <a:latin typeface="Calibri"/>
              </a:rPr>
              <a:t>4.  </a:t>
            </a:r>
            <a:r>
              <a:rPr lang="en-US" sz="1250" dirty="0">
                <a:solidFill>
                  <a:srgbClr val="2E2E38"/>
                </a:solidFill>
                <a:latin typeface="Calibri"/>
              </a:rPr>
              <a:t>Small samples, heterogeneity and short follow-up limit confidence — promising, not definitive.</a:t>
            </a:r>
          </a:p>
        </p:txBody>
      </p:sp>
      <p:sp>
        <p:nvSpPr>
          <p:cNvPr id="526" name="card"/>
          <p:cNvSpPr/>
          <p:nvPr/>
        </p:nvSpPr>
        <p:spPr>
          <a:xfrm>
            <a:off x="560000" y="4778664"/>
            <a:ext cx="11072000" cy="659666"/>
          </a:xfrm>
          <a:prstGeom prst="roundRect">
            <a:avLst/>
          </a:prstGeom>
          <a:solidFill>
            <a:srgbClr val="E7E0F7"/>
          </a:solidFill>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00" b="1" dirty="0">
                <a:solidFill>
                  <a:srgbClr val="6E5AA6"/>
                </a:solidFill>
                <a:latin typeface="Calibri"/>
              </a:rPr>
              <a:t>5.  </a:t>
            </a:r>
            <a:r>
              <a:rPr lang="en-US" sz="1250" dirty="0">
                <a:solidFill>
                  <a:srgbClr val="2E2E38"/>
                </a:solidFill>
                <a:latin typeface="Calibri"/>
              </a:rPr>
              <a:t>MBT is especially relevant for interpersonal sensitivity, emotional dysregulation &amp; BPD features.</a:t>
            </a:r>
          </a:p>
        </p:txBody>
      </p:sp>
      <p:sp>
        <p:nvSpPr>
          <p:cNvPr id="527" name="card"/>
          <p:cNvSpPr/>
          <p:nvPr/>
        </p:nvSpPr>
        <p:spPr>
          <a:xfrm>
            <a:off x="560000" y="5578330"/>
            <a:ext cx="11072000" cy="659666"/>
          </a:xfrm>
          <a:prstGeom prst="roundRect">
            <a:avLst/>
          </a:prstGeom>
          <a:solidFill>
            <a:srgbClr val="D5EFE6"/>
          </a:solidFill>
          <a:effectLst>
            <a:outerShdw blurRad="40000" dist="20000" dir="5400000" rotWithShape="0">
              <a:srgbClr val="9AA0A6">
                <a:alpha val="38000"/>
              </a:srgbClr>
            </a:outerShdw>
          </a:effectLst>
        </p:spPr>
        <p:txBody>
          <a:bodyPr wrap="square" anchor="ctr" lIns="91440" tIns="45720" rIns="91440" bIns="45720">
            <a:normAutofit/>
          </a:bodyPr>
          <a:p>
            <a:pPr lvl="0" algn="l">
              <a:spcAft>
                <a:spcPts val="0"/>
              </a:spcAft>
              <a:buNone/>
            </a:pPr>
            <a:r>
              <a:rPr lang="en-US" sz="1300" b="1" dirty="0">
                <a:solidFill>
                  <a:srgbClr val="6E5AA6"/>
                </a:solidFill>
                <a:latin typeface="Calibri"/>
              </a:rPr>
              <a:t>6.  </a:t>
            </a:r>
            <a:r>
              <a:rPr lang="en-US" sz="1250" dirty="0">
                <a:solidFill>
                  <a:srgbClr val="2E2E38"/>
                </a:solidFill>
                <a:latin typeface="Calibri"/>
              </a:rPr>
              <a:t>More rigorous, diverse, long-term trials (ideally vs active comparators) are needed.</a:t>
            </a:r>
          </a:p>
        </p:txBody>
      </p:sp>
      <p:sp>
        <p:nvSpPr>
          <p:cNvPr id="528"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529"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39</a:t>
            </a:r>
          </a:p>
        </p:txBody>
      </p:sp>
    </p:spTree>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531"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OVERALL JUDGEMENT (template)</a:t>
            </a:r>
          </a:p>
        </p:txBody>
      </p:sp>
      <p:sp>
        <p:nvSpPr>
          <p:cNvPr id="532"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Critical Appraisal Summary</a:t>
            </a:r>
          </a:p>
        </p:txBody>
      </p:sp>
      <p:cxnSp>
        <p:nvCxnSpPr>
          <p:cNvPr id="533" name="ln"/>
          <p:cNvCxnSpPr/>
          <p:nvPr/>
        </p:nvCxnSpPr>
        <p:spPr>
          <a:xfrm>
            <a:off x="560000" y="1320000"/>
            <a:ext cx="11072000" cy="0"/>
          </a:xfrm>
          <a:prstGeom prst="line">
            <a:avLst/>
          </a:prstGeom>
          <a:ln w="28575">
            <a:solidFill>
              <a:srgbClr val="D6C7EE"/>
            </a:solidFill>
          </a:ln>
        </p:spPr>
      </p:cxnSp>
      <p:sp>
        <p:nvSpPr>
          <p:cNvPr id="534" name="r"/>
          <p:cNvSpPr/>
          <p:nvPr/>
        </p:nvSpPr>
        <p:spPr>
          <a:xfrm>
            <a:off x="560000" y="1580000"/>
            <a:ext cx="6800000" cy="43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50" b="1" dirty="0">
                <a:solidFill>
                  <a:srgbClr val="FFFFFF"/>
                </a:solidFill>
                <a:latin typeface="Calibri"/>
              </a:rPr>
              <a:t>Appraisal domain</a:t>
            </a:r>
          </a:p>
        </p:txBody>
      </p:sp>
      <p:sp>
        <p:nvSpPr>
          <p:cNvPr id="535" name="r"/>
          <p:cNvSpPr/>
          <p:nvPr/>
        </p:nvSpPr>
        <p:spPr>
          <a:xfrm>
            <a:off x="7360000" y="1580000"/>
            <a:ext cx="4272000" cy="430000"/>
          </a:xfrm>
          <a:prstGeom prst="rect">
            <a:avLst/>
          </a:prstGeom>
          <a:solidFill>
            <a:srgbClr val="6E5AA6"/>
          </a:solidFill>
          <a:ln>
            <a:noFill/>
          </a:ln>
        </p:spPr>
        <p:txBody>
          <a:bodyPr wrap="square" anchor="ctr" lIns="45720" tIns="18288" rIns="45720" bIns="18288">
            <a:normAutofit/>
          </a:bodyPr>
          <a:p>
            <a:pPr lvl="0" algn="l">
              <a:spcAft>
                <a:spcPts val="0"/>
              </a:spcAft>
              <a:buNone/>
            </a:pPr>
            <a:r>
              <a:rPr lang="en-US" sz="1250" b="1" dirty="0">
                <a:solidFill>
                  <a:srgbClr val="FFFFFF"/>
                </a:solidFill>
                <a:latin typeface="Calibri"/>
              </a:rPr>
              <a:t>Judgement</a:t>
            </a:r>
          </a:p>
        </p:txBody>
      </p:sp>
      <p:sp>
        <p:nvSpPr>
          <p:cNvPr id="536" name="r"/>
          <p:cNvSpPr/>
          <p:nvPr/>
        </p:nvSpPr>
        <p:spPr>
          <a:xfrm>
            <a:off x="560000" y="2010000"/>
            <a:ext cx="6800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Clear research question</a:t>
            </a:r>
          </a:p>
        </p:txBody>
      </p:sp>
      <p:sp>
        <p:nvSpPr>
          <p:cNvPr id="537" name="r"/>
          <p:cNvSpPr/>
          <p:nvPr/>
        </p:nvSpPr>
        <p:spPr>
          <a:xfrm>
            <a:off x="7360000" y="2010000"/>
            <a:ext cx="4272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Yes</a:t>
            </a:r>
          </a:p>
        </p:txBody>
      </p:sp>
      <p:sp>
        <p:nvSpPr>
          <p:cNvPr id="538" name="r"/>
          <p:cNvSpPr/>
          <p:nvPr/>
        </p:nvSpPr>
        <p:spPr>
          <a:xfrm>
            <a:off x="560000" y="2440000"/>
            <a:ext cx="6800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Appropriate design (SR &amp; meta-analysis)</a:t>
            </a:r>
          </a:p>
        </p:txBody>
      </p:sp>
      <p:sp>
        <p:nvSpPr>
          <p:cNvPr id="539" name="r"/>
          <p:cNvSpPr/>
          <p:nvPr/>
        </p:nvSpPr>
        <p:spPr>
          <a:xfrm>
            <a:off x="7360000" y="2440000"/>
            <a:ext cx="4272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Yes</a:t>
            </a:r>
          </a:p>
        </p:txBody>
      </p:sp>
      <p:sp>
        <p:nvSpPr>
          <p:cNvPr id="540" name="r"/>
          <p:cNvSpPr/>
          <p:nvPr/>
        </p:nvSpPr>
        <p:spPr>
          <a:xfrm>
            <a:off x="560000" y="2870000"/>
            <a:ext cx="6800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Comprehensive search</a:t>
            </a:r>
          </a:p>
        </p:txBody>
      </p:sp>
      <p:sp>
        <p:nvSpPr>
          <p:cNvPr id="541" name="r"/>
          <p:cNvSpPr/>
          <p:nvPr/>
        </p:nvSpPr>
        <p:spPr>
          <a:xfrm>
            <a:off x="7360000" y="2870000"/>
            <a:ext cx="4272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Confirm from paper</a:t>
            </a:r>
          </a:p>
        </p:txBody>
      </p:sp>
      <p:sp>
        <p:nvSpPr>
          <p:cNvPr id="542" name="r"/>
          <p:cNvSpPr/>
          <p:nvPr/>
        </p:nvSpPr>
        <p:spPr>
          <a:xfrm>
            <a:off x="560000" y="3300000"/>
            <a:ext cx="6800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Appropriate inclusion criteria</a:t>
            </a:r>
          </a:p>
        </p:txBody>
      </p:sp>
      <p:sp>
        <p:nvSpPr>
          <p:cNvPr id="543" name="r"/>
          <p:cNvSpPr/>
          <p:nvPr/>
        </p:nvSpPr>
        <p:spPr>
          <a:xfrm>
            <a:off x="7360000" y="3300000"/>
            <a:ext cx="4272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Partly / Yes</a:t>
            </a:r>
          </a:p>
        </p:txBody>
      </p:sp>
      <p:sp>
        <p:nvSpPr>
          <p:cNvPr id="544" name="r"/>
          <p:cNvSpPr/>
          <p:nvPr/>
        </p:nvSpPr>
        <p:spPr>
          <a:xfrm>
            <a:off x="560000" y="3730000"/>
            <a:ext cx="6800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Risk-of-bias assessment conducted</a:t>
            </a:r>
          </a:p>
        </p:txBody>
      </p:sp>
      <p:sp>
        <p:nvSpPr>
          <p:cNvPr id="545" name="r"/>
          <p:cNvSpPr/>
          <p:nvPr/>
        </p:nvSpPr>
        <p:spPr>
          <a:xfrm>
            <a:off x="7360000" y="3730000"/>
            <a:ext cx="4272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Confirm from paper</a:t>
            </a:r>
          </a:p>
        </p:txBody>
      </p:sp>
      <p:sp>
        <p:nvSpPr>
          <p:cNvPr id="546" name="r"/>
          <p:cNvSpPr/>
          <p:nvPr/>
        </p:nvSpPr>
        <p:spPr>
          <a:xfrm>
            <a:off x="560000" y="4160000"/>
            <a:ext cx="6800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Appropriate statistical analysis (random effects, Hedges' g)</a:t>
            </a:r>
          </a:p>
        </p:txBody>
      </p:sp>
      <p:sp>
        <p:nvSpPr>
          <p:cNvPr id="547" name="r"/>
          <p:cNvSpPr/>
          <p:nvPr/>
        </p:nvSpPr>
        <p:spPr>
          <a:xfrm>
            <a:off x="7360000" y="4160000"/>
            <a:ext cx="4272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Yes</a:t>
            </a:r>
          </a:p>
        </p:txBody>
      </p:sp>
      <p:sp>
        <p:nvSpPr>
          <p:cNvPr id="548" name="r"/>
          <p:cNvSpPr/>
          <p:nvPr/>
        </p:nvSpPr>
        <p:spPr>
          <a:xfrm>
            <a:off x="560000" y="4590000"/>
            <a:ext cx="6800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Heterogeneity addressed</a:t>
            </a:r>
          </a:p>
        </p:txBody>
      </p:sp>
      <p:sp>
        <p:nvSpPr>
          <p:cNvPr id="549" name="r"/>
          <p:cNvSpPr/>
          <p:nvPr/>
        </p:nvSpPr>
        <p:spPr>
          <a:xfrm>
            <a:off x="7360000" y="4590000"/>
            <a:ext cx="4272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Partly</a:t>
            </a:r>
          </a:p>
        </p:txBody>
      </p:sp>
      <p:sp>
        <p:nvSpPr>
          <p:cNvPr id="550" name="r"/>
          <p:cNvSpPr/>
          <p:nvPr/>
        </p:nvSpPr>
        <p:spPr>
          <a:xfrm>
            <a:off x="560000" y="5020000"/>
            <a:ext cx="6800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Clinical relevance</a:t>
            </a:r>
          </a:p>
        </p:txBody>
      </p:sp>
      <p:sp>
        <p:nvSpPr>
          <p:cNvPr id="551" name="r"/>
          <p:cNvSpPr/>
          <p:nvPr/>
        </p:nvSpPr>
        <p:spPr>
          <a:xfrm>
            <a:off x="7360000" y="5020000"/>
            <a:ext cx="4272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Moderate–High</a:t>
            </a:r>
          </a:p>
        </p:txBody>
      </p:sp>
      <p:sp>
        <p:nvSpPr>
          <p:cNvPr id="552" name="r"/>
          <p:cNvSpPr/>
          <p:nvPr/>
        </p:nvSpPr>
        <p:spPr>
          <a:xfrm>
            <a:off x="560000" y="5450000"/>
            <a:ext cx="6800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Applicability / generalisability</a:t>
            </a:r>
          </a:p>
        </p:txBody>
      </p:sp>
      <p:sp>
        <p:nvSpPr>
          <p:cNvPr id="553" name="r"/>
          <p:cNvSpPr/>
          <p:nvPr/>
        </p:nvSpPr>
        <p:spPr>
          <a:xfrm>
            <a:off x="7360000" y="5450000"/>
            <a:ext cx="4272000" cy="430000"/>
          </a:xfrm>
          <a:prstGeom prst="rect">
            <a:avLst/>
          </a:prstGeom>
          <a:solidFill>
            <a:srgbClr val="FBF6EC"/>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Limited</a:t>
            </a:r>
          </a:p>
        </p:txBody>
      </p:sp>
      <p:sp>
        <p:nvSpPr>
          <p:cNvPr id="554" name="r"/>
          <p:cNvSpPr/>
          <p:nvPr/>
        </p:nvSpPr>
        <p:spPr>
          <a:xfrm>
            <a:off x="560000" y="5880000"/>
            <a:ext cx="6800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Overall confidence in conclusions</a:t>
            </a:r>
          </a:p>
        </p:txBody>
      </p:sp>
      <p:sp>
        <p:nvSpPr>
          <p:cNvPr id="555" name="r"/>
          <p:cNvSpPr/>
          <p:nvPr/>
        </p:nvSpPr>
        <p:spPr>
          <a:xfrm>
            <a:off x="7360000" y="5880000"/>
            <a:ext cx="4272000" cy="430000"/>
          </a:xfrm>
          <a:prstGeom prst="rect">
            <a:avLst/>
          </a:prstGeom>
          <a:solidFill>
            <a:srgbClr val="E7E0F7"/>
          </a:solidFill>
          <a:ln w="9525">
            <a:solidFill>
              <a:srgbClr val="D8DCE0"/>
            </a:solidFill>
          </a:ln>
        </p:spPr>
        <p:txBody>
          <a:bodyPr wrap="square" anchor="ctr" lIns="45720" tIns="18288" rIns="45720" bIns="18288">
            <a:normAutofit/>
          </a:bodyPr>
          <a:p>
            <a:pPr lvl="0" algn="l">
              <a:spcAft>
                <a:spcPts val="0"/>
              </a:spcAft>
              <a:buNone/>
            </a:pPr>
            <a:r>
              <a:rPr lang="en-US" sz="1150" dirty="0">
                <a:solidFill>
                  <a:srgbClr val="2E2E38"/>
                </a:solidFill>
                <a:latin typeface="Calibri"/>
              </a:rPr>
              <a:t>Moderate–Low</a:t>
            </a:r>
          </a:p>
        </p:txBody>
      </p:sp>
      <p:sp>
        <p:nvSpPr>
          <p:cNvPr id="556"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557"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40</a:t>
            </a:r>
          </a:p>
        </p:txBody>
      </p:sp>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559"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APA 7th EDITION — VERIFY BEFORE USE</a:t>
            </a:r>
          </a:p>
        </p:txBody>
      </p:sp>
      <p:sp>
        <p:nvSpPr>
          <p:cNvPr id="560"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References</a:t>
            </a:r>
          </a:p>
        </p:txBody>
      </p:sp>
      <p:cxnSp>
        <p:nvCxnSpPr>
          <p:cNvPr id="561" name="ln"/>
          <p:cNvCxnSpPr/>
          <p:nvPr/>
        </p:nvCxnSpPr>
        <p:spPr>
          <a:xfrm>
            <a:off x="560000" y="1320000"/>
            <a:ext cx="11072000" cy="0"/>
          </a:xfrm>
          <a:prstGeom prst="line">
            <a:avLst/>
          </a:prstGeom>
          <a:ln w="28575">
            <a:solidFill>
              <a:srgbClr val="D6C7EE"/>
            </a:solidFill>
          </a:ln>
        </p:spPr>
      </p:cxnSp>
      <p:sp>
        <p:nvSpPr>
          <p:cNvPr id="562" name="tb"/>
          <p:cNvSpPr txBox="1"/>
          <p:nvPr/>
        </p:nvSpPr>
        <p:spPr>
          <a:xfrm>
            <a:off x="560000" y="1580000"/>
            <a:ext cx="11072000" cy="4838000"/>
          </a:xfrm>
          <a:prstGeom prst="rect">
            <a:avLst/>
          </a:prstGeom>
          <a:noFill/>
        </p:spPr>
        <p:txBody>
          <a:bodyPr wrap="square" anchor="t" lIns="45720" tIns="27432" rIns="45720" bIns="27432">
            <a:normAutofit/>
          </a:bodyPr>
          <a:p>
            <a:pPr lvl="0" algn="l">
              <a:spcAft>
                <a:spcPts val="280"/>
              </a:spcAft>
              <a:buNone/>
            </a:pPr>
            <a:r>
              <a:rPr lang="en-US" sz="1150" dirty="0">
                <a:solidFill>
                  <a:srgbClr val="2E2E38"/>
                </a:solidFill>
                <a:latin typeface="Calibri"/>
              </a:rPr>
              <a:t>Primary paper: (2024). Efficacy of mentalization-based therapy in treating self-harm: A systematic review and meta-analysis. Suicide and Life-Threatening Behavior. https://doi.org/10.1111/sltb.13044  [insert full author list from the paper]</a:t>
            </a:r>
          </a:p>
          <a:p>
            <a:pPr lvl="0" algn="l">
              <a:spcAft>
                <a:spcPts val="280"/>
              </a:spcAft>
              <a:buNone/>
            </a:pPr>
            <a:r>
              <a:rPr lang="en-US" sz="1150" dirty="0">
                <a:solidFill>
                  <a:srgbClr val="2E2E38"/>
                </a:solidFill>
                <a:latin typeface="Calibri"/>
              </a:rPr>
              <a:t>Rossouw, T. I., &amp; Fonagy, P. (2012). Mentalization-based treatment for self-harm in adolescents: A randomized controlled trial. Journal of the American Academy of Child &amp; Adolescent Psychiatry, 51(12), 1304–1313.</a:t>
            </a:r>
          </a:p>
          <a:p>
            <a:pPr lvl="0" algn="l">
              <a:spcAft>
                <a:spcPts val="280"/>
              </a:spcAft>
              <a:buNone/>
            </a:pPr>
            <a:r>
              <a:rPr lang="en-US" sz="1150" dirty="0">
                <a:solidFill>
                  <a:srgbClr val="2E2E38"/>
                </a:solidFill>
                <a:latin typeface="Calibri"/>
              </a:rPr>
              <a:t>Bateman, A., &amp; Fonagy, P. (2009). Randomized controlled trial of outpatient mentalization-based treatment versus structured clinical management for borderline personality disorder. American Journal of Psychiatry, 166(12), 1355–1364.</a:t>
            </a:r>
          </a:p>
          <a:p>
            <a:pPr lvl="0" algn="l">
              <a:spcAft>
                <a:spcPts val="280"/>
              </a:spcAft>
              <a:buNone/>
            </a:pPr>
            <a:r>
              <a:rPr lang="en-US" sz="1150" dirty="0">
                <a:solidFill>
                  <a:srgbClr val="2E2E38"/>
                </a:solidFill>
                <a:latin typeface="Calibri"/>
              </a:rPr>
              <a:t>Bateman, A., &amp; Fonagy, P. (2016). Mentalization-based treatment for personality disorders: A practical guide. Oxford University Press.</a:t>
            </a:r>
          </a:p>
          <a:p>
            <a:pPr lvl="0" algn="l">
              <a:spcAft>
                <a:spcPts val="280"/>
              </a:spcAft>
              <a:buNone/>
            </a:pPr>
            <a:r>
              <a:rPr lang="en-US" sz="1150" dirty="0">
                <a:solidFill>
                  <a:srgbClr val="2E2E38"/>
                </a:solidFill>
                <a:latin typeface="Calibri"/>
              </a:rPr>
              <a:t>Laurenssen, E. M. P., et al. (2018). Day hospital mentalization-based treatment for adolescents (MBT-A). [confirm citation details].</a:t>
            </a:r>
          </a:p>
        </p:txBody>
      </p:sp>
      <p:sp>
        <p:nvSpPr>
          <p:cNvPr id="563"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564"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41</a:t>
            </a:r>
          </a:p>
        </p:txBody>
      </p:sp>
    </p:spTree>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r"/>
          <p:cNvSpPr/>
          <p:nvPr/>
        </p:nvSpPr>
        <p:spPr>
          <a:xfrm>
            <a:off x="0" y="0"/>
            <a:ext cx="12192000" cy="168000"/>
          </a:xfrm>
          <a:prstGeom prst="rect">
            <a:avLst/>
          </a:prstGeom>
          <a:solidFill>
            <a:srgbClr val="6E5AA6"/>
          </a:solidFill>
          <a:ln>
            <a:noFill/>
          </a:ln>
        </p:spPr>
        <p:txBody>
          <a:bodyPr wrap="square" anchor="ctr" lIns="45720" tIns="18288" rIns="45720" bIns="18288">
            <a:normAutofit/>
          </a:bodyPr>
          <a:p>
            <a:pPr>
              <a:buNone/>
            </a:pPr>
          </a:p>
        </p:txBody>
      </p:sp>
      <p:sp>
        <p:nvSpPr>
          <p:cNvPr id="566" name="tb"/>
          <p:cNvSpPr txBox="1"/>
          <p:nvPr/>
        </p:nvSpPr>
        <p:spPr>
          <a:xfrm>
            <a:off x="560000" y="250000"/>
            <a:ext cx="11072000" cy="360000"/>
          </a:xfrm>
          <a:prstGeom prst="rect">
            <a:avLst/>
          </a:prstGeom>
          <a:noFill/>
        </p:spPr>
        <p:txBody>
          <a:bodyPr wrap="square" anchor="t" lIns="45720" tIns="27432" rIns="45720" bIns="27432">
            <a:normAutofit/>
          </a:bodyPr>
          <a:p>
            <a:pPr lvl="0" algn="l">
              <a:spcAft>
                <a:spcPts val="0"/>
              </a:spcAft>
              <a:buNone/>
            </a:pPr>
            <a:r>
              <a:rPr lang="en-US" sz="1300" b="1" dirty="0">
                <a:solidFill>
                  <a:srgbClr val="3E7CB1"/>
                </a:solidFill>
                <a:latin typeface="Calibri"/>
              </a:rPr>
              <a:t>APA 7th EDITION — VERIFY BEFORE USE</a:t>
            </a:r>
          </a:p>
        </p:txBody>
      </p:sp>
      <p:sp>
        <p:nvSpPr>
          <p:cNvPr id="567" name="tb"/>
          <p:cNvSpPr txBox="1"/>
          <p:nvPr/>
        </p:nvSpPr>
        <p:spPr>
          <a:xfrm>
            <a:off x="560000" y="560000"/>
            <a:ext cx="11072000" cy="900000"/>
          </a:xfrm>
          <a:prstGeom prst="rect">
            <a:avLst/>
          </a:prstGeom>
          <a:noFill/>
        </p:spPr>
        <p:txBody>
          <a:bodyPr wrap="square" anchor="t" lIns="45720" tIns="27432" rIns="45720" bIns="27432">
            <a:normAutofit/>
          </a:bodyPr>
          <a:p>
            <a:pPr lvl="0" algn="l">
              <a:spcAft>
                <a:spcPts val="0"/>
              </a:spcAft>
              <a:buNone/>
            </a:pPr>
            <a:r>
              <a:rPr lang="en-US" sz="2600" b="1" dirty="0">
                <a:solidFill>
                  <a:srgbClr val="6E5AA6"/>
                </a:solidFill>
                <a:latin typeface="Calibri"/>
              </a:rPr>
              <a:t>References (cont.)</a:t>
            </a:r>
          </a:p>
        </p:txBody>
      </p:sp>
      <p:cxnSp>
        <p:nvCxnSpPr>
          <p:cNvPr id="568" name="ln"/>
          <p:cNvCxnSpPr/>
          <p:nvPr/>
        </p:nvCxnSpPr>
        <p:spPr>
          <a:xfrm>
            <a:off x="560000" y="1320000"/>
            <a:ext cx="11072000" cy="0"/>
          </a:xfrm>
          <a:prstGeom prst="line">
            <a:avLst/>
          </a:prstGeom>
          <a:ln w="28575">
            <a:solidFill>
              <a:srgbClr val="D6C7EE"/>
            </a:solidFill>
          </a:ln>
        </p:spPr>
      </p:cxnSp>
      <p:sp>
        <p:nvSpPr>
          <p:cNvPr id="569" name="tb"/>
          <p:cNvSpPr txBox="1"/>
          <p:nvPr/>
        </p:nvSpPr>
        <p:spPr>
          <a:xfrm>
            <a:off x="560000" y="1580000"/>
            <a:ext cx="11072000" cy="4838000"/>
          </a:xfrm>
          <a:prstGeom prst="rect">
            <a:avLst/>
          </a:prstGeom>
          <a:noFill/>
        </p:spPr>
        <p:txBody>
          <a:bodyPr wrap="square" anchor="t" lIns="45720" tIns="27432" rIns="45720" bIns="27432">
            <a:normAutofit/>
          </a:bodyPr>
          <a:p>
            <a:pPr lvl="0" algn="l">
              <a:spcAft>
                <a:spcPts val="280"/>
              </a:spcAft>
              <a:buNone/>
            </a:pPr>
            <a:r>
              <a:rPr lang="en-US" sz="1150" dirty="0">
                <a:solidFill>
                  <a:srgbClr val="2E2E38"/>
                </a:solidFill>
                <a:latin typeface="Calibri"/>
              </a:rPr>
              <a:t>Beck, E., et al. (2020). Mentalization-based treatment in groups for adolescents with borderline personality disorder: A randomized controlled trial. [confirm citation details].</a:t>
            </a:r>
          </a:p>
          <a:p>
            <a:pPr lvl="0" algn="l">
              <a:spcAft>
                <a:spcPts val="280"/>
              </a:spcAft>
              <a:buNone/>
            </a:pPr>
            <a:r>
              <a:rPr lang="en-US" sz="1150" dirty="0">
                <a:solidFill>
                  <a:srgbClr val="2E2E38"/>
                </a:solidFill>
                <a:latin typeface="Calibri"/>
              </a:rPr>
              <a:t>Griffiths, H., et al. (2019). Group mentalization-based treatment for adolescents (MBT-Ai): Feasibility RCT. [confirm citation details].</a:t>
            </a:r>
          </a:p>
          <a:p>
            <a:pPr lvl="0" algn="l">
              <a:spcAft>
                <a:spcPts val="280"/>
              </a:spcAft>
              <a:buNone/>
            </a:pPr>
            <a:r>
              <a:rPr lang="en-US" sz="1150" dirty="0">
                <a:solidFill>
                  <a:srgbClr val="2E2E38"/>
                </a:solidFill>
                <a:latin typeface="Calibri"/>
              </a:rPr>
              <a:t>Page, M. J., et al. (2021). The PRISMA 2020 statement: An updated guideline for reporting systematic reviews. BMJ, 372, n71.</a:t>
            </a:r>
          </a:p>
          <a:p>
            <a:pPr lvl="0" algn="l">
              <a:spcAft>
                <a:spcPts val="280"/>
              </a:spcAft>
              <a:buNone/>
            </a:pPr>
            <a:r>
              <a:rPr lang="en-US" sz="1150" dirty="0">
                <a:solidFill>
                  <a:srgbClr val="2E2E38"/>
                </a:solidFill>
                <a:latin typeface="Calibri"/>
              </a:rPr>
              <a:t>National Institute for Health and Care Excellence (NICE). Self-harm: assessment, management and preventing recurrence (NG225).</a:t>
            </a:r>
          </a:p>
          <a:p>
            <a:pPr lvl="0" algn="l">
              <a:spcAft>
                <a:spcPts val="280"/>
              </a:spcAft>
              <a:buNone/>
            </a:pPr>
            <a:r>
              <a:rPr lang="en-US" sz="1150" dirty="0">
                <a:solidFill>
                  <a:srgbClr val="2E2E38"/>
                </a:solidFill>
                <a:latin typeface="Calibri"/>
              </a:rPr>
              <a:t>World Health Organization. (2019). International Classification of Diseases (11th ed.).</a:t>
            </a:r>
          </a:p>
          <a:p>
            <a:pPr lvl="0" algn="l">
              <a:spcAft>
                <a:spcPts val="280"/>
              </a:spcAft>
              <a:buNone/>
            </a:pPr>
            <a:r>
              <a:rPr lang="en-US" sz="1150" dirty="0">
                <a:solidFill>
                  <a:srgbClr val="2E2E38"/>
                </a:solidFill>
                <a:latin typeface="Calibri"/>
              </a:rPr>
              <a:t>American Psychiatric Association. (2022). Diagnostic and statistical manual of mental disorders (5th ed., text rev.).</a:t>
            </a:r>
          </a:p>
          <a:p>
            <a:pPr lvl="0" algn="l">
              <a:spcAft>
                <a:spcPts val="280"/>
              </a:spcAft>
              <a:buNone/>
            </a:pPr>
            <a:r>
              <a:rPr lang="en-US" sz="1150" dirty="0">
                <a:solidFill>
                  <a:srgbClr val="2E2E38"/>
                </a:solidFill>
                <a:latin typeface="Calibri"/>
              </a:rPr>
              <a:t>Note: verify every citation against the paper's reference list before presenting; do not present unverified details as the authors' own.</a:t>
            </a:r>
          </a:p>
        </p:txBody>
      </p:sp>
      <p:sp>
        <p:nvSpPr>
          <p:cNvPr id="570" name="tb"/>
          <p:cNvSpPr txBox="1"/>
          <p:nvPr/>
        </p:nvSpPr>
        <p:spPr>
          <a:xfrm>
            <a:off x="560000" y="6498000"/>
            <a:ext cx="6000000" cy="300000"/>
          </a:xfrm>
          <a:prstGeom prst="rect">
            <a:avLst/>
          </a:prstGeom>
          <a:noFill/>
        </p:spPr>
        <p:txBody>
          <a:bodyPr wrap="square" anchor="t" lIns="45720" tIns="27432" rIns="45720" bIns="27432">
            <a:normAutofit/>
          </a:bodyPr>
          <a:p>
            <a:pPr lvl="0" algn="l">
              <a:spcAft>
                <a:spcPts val="0"/>
              </a:spcAft>
              <a:buNone/>
            </a:pPr>
            <a:r>
              <a:rPr lang="en-US" sz="1000" dirty="0">
                <a:solidFill>
                  <a:srgbClr val="9AA0A6"/>
                </a:solidFill>
                <a:latin typeface="Calibri"/>
              </a:rPr>
              <a:t>MBT for Self-Harm  •  Systematic Review &amp; Meta-Analysis (SLTB, 2024)</a:t>
            </a:r>
          </a:p>
        </p:txBody>
      </p:sp>
      <p:sp>
        <p:nvSpPr>
          <p:cNvPr id="571" name="tb"/>
          <p:cNvSpPr txBox="1"/>
          <p:nvPr/>
        </p:nvSpPr>
        <p:spPr>
          <a:xfrm>
            <a:off x="10792000" y="6498000"/>
            <a:ext cx="900000" cy="300000"/>
          </a:xfrm>
          <a:prstGeom prst="rect">
            <a:avLst/>
          </a:prstGeom>
          <a:noFill/>
        </p:spPr>
        <p:txBody>
          <a:bodyPr wrap="square" anchor="t" lIns="45720" tIns="27432" rIns="45720" bIns="27432">
            <a:normAutofit/>
          </a:bodyPr>
          <a:p>
            <a:pPr lvl="0" algn="r">
              <a:spcAft>
                <a:spcPts val="0"/>
              </a:spcAft>
              <a:buNone/>
            </a:pPr>
            <a:r>
              <a:rPr lang="en-US" sz="1000" dirty="0">
                <a:solidFill>
                  <a:srgbClr val="9AA0A6"/>
                </a:solidFill>
                <a:latin typeface="Calibri"/>
              </a:rPr>
              <a:t>42</a:t>
            </a:r>
          </a:p>
        </p:txBody>
      </p:sp>
    </p:spTree>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 name="r"/>
          <p:cNvSpPr/>
          <p:nvPr/>
        </p:nvSpPr>
        <p:spPr>
          <a:xfrm>
            <a:off x="0" y="0"/>
            <a:ext cx="12192000" cy="6858000"/>
          </a:xfrm>
          <a:prstGeom prst="rect">
            <a:avLst/>
          </a:prstGeom>
          <a:solidFill>
            <a:srgbClr val="6E5AA6"/>
          </a:solidFill>
          <a:ln>
            <a:noFill/>
          </a:ln>
        </p:spPr>
        <p:txBody>
          <a:bodyPr wrap="square" anchor="ctr" lIns="45720" tIns="18288" rIns="45720" bIns="18288">
            <a:normAutofit/>
          </a:bodyPr>
          <a:p>
            <a:pPr>
              <a:buNone/>
            </a:pPr>
          </a:p>
        </p:txBody>
      </p:sp>
      <p:sp>
        <p:nvSpPr>
          <p:cNvPr id="573" name="o"/>
          <p:cNvSpPr/>
          <p:nvPr/>
        </p:nvSpPr>
        <p:spPr>
          <a:xfrm>
            <a:off x="-600000" y="-600000"/>
            <a:ext cx="2400000" cy="2400000"/>
          </a:xfrm>
          <a:prstGeom prst="ellipse">
            <a:avLst/>
          </a:prstGeom>
          <a:solidFill>
            <a:srgbClr val="3E7CB1"/>
          </a:solidFill>
        </p:spPr>
        <p:txBody>
          <a:bodyPr wrap="square" anchor="ctr" lIns="45720" tIns="18288" rIns="45720" bIns="18288">
            <a:normAutofit/>
          </a:bodyPr>
          <a:p>
            <a:pPr>
              <a:buNone/>
            </a:pPr>
          </a:p>
        </p:txBody>
      </p:sp>
      <p:sp>
        <p:nvSpPr>
          <p:cNvPr id="574" name="o"/>
          <p:cNvSpPr/>
          <p:nvPr/>
        </p:nvSpPr>
        <p:spPr>
          <a:xfrm>
            <a:off x="10392000" y="5058000"/>
            <a:ext cx="2400000" cy="2400000"/>
          </a:xfrm>
          <a:prstGeom prst="ellipse">
            <a:avLst/>
          </a:prstGeom>
          <a:solidFill>
            <a:srgbClr val="5A4A8A"/>
          </a:solidFill>
        </p:spPr>
        <p:txBody>
          <a:bodyPr wrap="square" anchor="ctr" lIns="45720" tIns="18288" rIns="45720" bIns="18288">
            <a:normAutofit/>
          </a:bodyPr>
          <a:p>
            <a:pPr>
              <a:buNone/>
            </a:pPr>
          </a:p>
        </p:txBody>
      </p:sp>
      <p:sp>
        <p:nvSpPr>
          <p:cNvPr id="575" name="tb"/>
          <p:cNvSpPr txBox="1"/>
          <p:nvPr/>
        </p:nvSpPr>
        <p:spPr>
          <a:xfrm>
            <a:off x="1200000" y="2400000"/>
            <a:ext cx="9792000" cy="1400000"/>
          </a:xfrm>
          <a:prstGeom prst="rect">
            <a:avLst/>
          </a:prstGeom>
          <a:noFill/>
        </p:spPr>
        <p:txBody>
          <a:bodyPr wrap="square" anchor="t" lIns="45720" tIns="27432" rIns="45720" bIns="27432">
            <a:normAutofit/>
          </a:bodyPr>
          <a:p>
            <a:pPr lvl="0" algn="ctr">
              <a:spcAft>
                <a:spcPts val="260"/>
              </a:spcAft>
              <a:buNone/>
            </a:pPr>
            <a:r>
              <a:rPr lang="en-US" sz="4000" b="1" dirty="0">
                <a:solidFill>
                  <a:srgbClr val="FFFFFF"/>
                </a:solidFill>
                <a:latin typeface="Calibri"/>
              </a:rPr>
              <a:t>Thank you — Questions &amp; Discussion</a:t>
            </a:r>
          </a:p>
          <a:p>
            <a:pPr lvl="0" algn="ctr">
              <a:spcAft>
                <a:spcPts val="0"/>
              </a:spcAft>
              <a:buNone/>
            </a:pPr>
            <a:r>
              <a:rPr lang="en-US" sz="1500" i="1" dirty="0">
                <a:solidFill>
                  <a:srgbClr val="E7E0F7"/>
                </a:solidFill>
                <a:latin typeface="Calibri"/>
              </a:rPr>
              <a:t>Efficacy of Mentalization-Based Therapy in Treating Self-Harm: A Systematic Review &amp; Meta-Analysis</a:t>
            </a:r>
          </a:p>
        </p:txBody>
      </p:sp>
      <p:sp>
        <p:nvSpPr>
          <p:cNvPr id="576" name="tb"/>
          <p:cNvSpPr txBox="1"/>
          <p:nvPr/>
        </p:nvSpPr>
        <p:spPr>
          <a:xfrm>
            <a:off x="1200000" y="4300000"/>
            <a:ext cx="9792000" cy="600000"/>
          </a:xfrm>
          <a:prstGeom prst="rect">
            <a:avLst/>
          </a:prstGeom>
          <a:noFill/>
        </p:spPr>
        <p:txBody>
          <a:bodyPr wrap="square" anchor="t" lIns="45720" tIns="27432" rIns="45720" bIns="27432">
            <a:normAutofit/>
          </a:bodyPr>
          <a:p>
            <a:pPr lvl="0" algn="ctr">
              <a:spcAft>
                <a:spcPts val="0"/>
              </a:spcAft>
              <a:buNone/>
            </a:pPr>
            <a:r>
              <a:rPr lang="en-US" sz="1300" dirty="0">
                <a:solidFill>
                  <a:srgbClr val="D6C7EE"/>
                </a:solidFill>
                <a:latin typeface="Calibri"/>
              </a:rPr>
              <a:t>Sonal  •  M.Phil. Clinical Psychology  •  DOI: 10.1111/sltb.13044</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MBT Pastel">
  <a:themeElements>
    <a:clrScheme name="Custom">
      <a:dk1>
        <a:srgbClr val="2E2E38"/>
      </a:dk1>
      <a:lt1>
        <a:srgbClr val="FFFFFF"/>
      </a:lt1>
      <a:dk2>
        <a:srgbClr val="6E5AA6"/>
      </a:dk2>
      <a:lt2>
        <a:srgbClr val="FBF6EC"/>
      </a:lt2>
      <a:accent1>
        <a:srgbClr val="6E5AA6"/>
      </a:accent1>
      <a:accent2>
        <a:srgbClr val="3E7CB1"/>
      </a:accent2>
      <a:accent3>
        <a:srgbClr val="D9E8D2"/>
      </a:accent3>
      <a:accent4>
        <a:srgbClr val="FBE3D2"/>
      </a:accent4>
      <a:accent5>
        <a:srgbClr val="F7D9E0"/>
      </a:accent5>
      <a:accent6>
        <a:srgbClr val="D7E8F4"/>
      </a:accent6>
      <a:hlink>
        <a:srgbClr val="3E7CB1"/>
      </a:hlink>
      <a:folHlink>
        <a:srgbClr val="6E5AA6"/>
      </a:folHlink>
    </a:clrScheme>
    <a:fontScheme name="Calibri">
      <a:majorFont>
        <a:latin typeface="Calibri"/>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9525"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Kiro OOXML Generator</Application>
  <Slides>43</Slides>
</Properties>
</file>

<file path=docProps/core.xml><?xml version="1.0" encoding="utf-8"?>
<cp:coreProperties xmlns:cp="http://schemas.openxmlformats.org/package/2006/metadata/core-properties" xmlns:dc="http://purl.org/dc/elements/1.1/" xmlns:dcterms="http://purl.org/dc/terms/" xmlns:xsi="http://www.w3.org/2001/XMLSchema-instance">
  <dc:title>Efficacy of MBT in Treating Self-Harm: A Systematic Review and Meta-Analysis</dc:title>
  <dc:creator>Journal Club (Sonal)</dc:creator>
  <cp:keywords>MBT; self-harm; meta-analysis</cp:keywords>
  <dcterms:created xsi:type="dcterms:W3CDTF">2026-09-30T00:00:00Z</dcterms:created>
  <dcterms:modified xsi:type="dcterms:W3CDTF">2026-09-30T00:00:00Z</dcterms:modified>
</cp:coreProperties>
</file>