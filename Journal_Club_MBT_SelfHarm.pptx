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4"/>
  </p:sldMasterIdLst>
  <p:notesMasterIdLst>
    <p:notesMasterId r:id="rId45"/>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Lst>
  <p:sldSz cx="12192000" cy="6858000"/>
  <p:notesSz cx="6858000" cy="12192000"/>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Master" Target="slideMasters/slideMaster1.xml"/><Relationship Id="rId45" Type="http://schemas.openxmlformats.org/officeDocument/2006/relationships/notesMaster" Target="notesMasters/notesMaster1.xml"/><Relationship Id="rId46" Type="http://schemas.openxmlformats.org/officeDocument/2006/relationships/theme" Target="theme/theme1.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Open simply: 'Today I am presenting a 2024 paper that asks one clear question - does mentalization-based therapy (a talking therapy that helps people understand thoughts and feelings) actually reduce self-harm?' Explain it is a systematic review and meta-analysis: the authors did not run a new experiment; they collected earlier good-quality studies and combined them to get one overall result. Introduce yourself (Ms. Sonal Tripathi, M.Phil. Year II) and acknowledge your supervisor (Dr. Ajay Sharma, Professor &amp; HoD). Give the plan: the problem, why this therapy, how the review was done, what it found, and how strong the evidence really is.</a:t>
            </a:r>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why the topic matters in everyday words. Self-harm is common and keeps coming back. It travels with trouble managing emotions, past trauma, personality difficulties, and a higher chance of suicide later. Because it repeats, we need therapies that genuinely help - ideally ones that treat the underlying cause. Then explain why a meta-analysis is valuable: one small study can be a fluke, but combining many gives a steadier answer. Walk down the arrow-chain on the right.</a:t>
            </a:r>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Define self-harm plainly: deliberately hurting or poisoning yourself, regardless of intent. Make the key distinction: self-harm and suicide overlap but are not identical; a person can hurt themselves with no wish to die, or with a wish to die. Stress that self-harm serves a function - relief, coping, communicating pain, self-punishment - and those functions are what this therapy addresses. Read the orange safety box aloud.</a:t>
            </a:r>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recurrence as a vicious cycle. A trigger (often a relationship problem) raises emotion; when emotion is high, thinking clearly about feelings drops; an urge appears; self-harm brings quick relief - which is why the brain wants to repeat it; then shame becomes the next trigger. Point to the maintaining factors on the left: relief acts as a reward, so the loop keeps running. That is why we need a therapy that works at the 'can't think clearly' step.</a:t>
            </a:r>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the problem the review solves. In real life, specialist therapies for self-harm are scarce, people respond unevenly, and dropout is high - especially in those with the biggest emotional struggles. On the research side, individual studies contradict each other, use different versions of the therapy, and rarely follow people long enough. Nobody had combined them into one clear answer - which is what this meta-analysis does.</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Give the core idea plainly. 'Mentalizing' means reading the feelings and intentions behind behaviour - in yourself and others. The horizontal chain shows the theory: relationship stress makes this mind-reading break down, so the person misjudges what's happening, emotions overflow, and self-harm follows. MBT targets that breakdown. List what MBT builds: better understanding of feelings, more emotional awareness, less certainty that 'they hate me' is true, calmer reactions, better relationships, fewer impulsive acts. Give a quick everyday example if time allows.</a:t>
            </a:r>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Give three simple definitions. Self-harm: deliberately hurting yourself; a strong warning sign for suicide. Mentalizing: understanding behaviour by the feelings behind it; develops in safe relationships and switches off under stress. MBT: a structured talking therapy where the therapist stays curious and avoids assuming ('not-knowing stance'), focusing on present feelings and relationships. Also remind them why we combine studies: a more reliable answer than any single small study.</a:t>
            </a:r>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single picture ties the talk together - read top to bottom. Relationship stress makes reading feelings harder; the person misjudges; emotions overflow and they act on impulse; self-harm brings quick relief. The last two highlighted boxes are the hopeful part: MBT strengthens mind-reading and emotion-control, which should break the chain and reduce self-harm while improving daily life. Keep this in mind for the results.</a:t>
            </a:r>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Walk through the earlier studies plainly. The landmark is Rossouw &amp; Fonagy (2012): 80 teenagers; MBT beat usual care on self-harm and depression, working specifically by improving mind-reading. Bateman &amp; Fonagy's adult work is the foundation. Be honest: later studies (Laurenssen 2018, Beck 2020) found no clear extra benefit, and some were only small pilots. This disagreement is the key reason we need a combined answer, and it explains why the final result must be read carefully. Say details should be checked against the paper.</a:t>
            </a:r>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bar chart makes one point visually: every study was small - all under about 150 people. Say why it matters: small studies are more easily thrown off by chance, so their results are less reliable, and even combined the answer has a wide margin of uncertainty. Use it to prepare for the appraisal: a big-looking benefit built from small studies deserves caution. Check exact numbers against the paper.</a:t>
            </a: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List the gaps in everyday language: too few large, good-quality trials; different definitions and measures; different forms and lengths of therapy; different comparison groups; short follow-up; and often unclear whether the therapy was even delivered correctly. Almost nothing from non-Western settings and little head-to-head comparison with other proven therapies. These gaps justify combining the studies - and remind us to stay cautious about the final number.</a:t>
            </a:r>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State the purpose simply: turn many small, conflicting studies into one clearer answer; measure how much MBT helps self-harm, borderline symptoms and depression; check whether studies agree; guide clinicians on when to use it; and flag what future research must improve. Emphasise the practical value for real decisions.</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Keep this short. Aim: combine the evidence on whether MBT reduces self-harm. Question: does MBT help more than usual care or another comparison? What they expected: MBT would reduce self-harm and related symptoms. Explain the technical point simply - because this reviews existing studies rather than running a new experiment, it uses pre-set review questions instead of a classic hypothesis. Match wording to the paper.</a:t>
            </a:r>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Introduce PICO as a simple recipe. Population: people who self-harm, including borderline traits, teens and adults. Intervention: MBT (and teen MBT-A), one-to-one or group. Comparison: usual care, structured support, waiting list, or another therapy. Outcomes: self-harm and suicidal behaviour first, then borderline symptoms, depression, functioning and staying in treatment. Just a tidy way to see what was tested.</a:t>
            </a:r>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the method as five plain steps: plan and search databases; screen and select studies that fit; pull out their numbers; judge how trustworthy each is; then combine them statistically. Read the key-terms box slowly - effect size is how big the benefit is; random-effects is a fair way to combine non-identical studies; I-squared measures how much they disagree. Say exact databases and dates come from the paper.</a:t>
            </a:r>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these as the entry rules deciding which studies count. In: people who self-harm, tested MBT, reported a relevant result, had a comparison group, and gave enough numbers. Out: no MBT, no relevant result, single case, brief conference summary, duplicate, or unusable numbers. Small differences in these rules change which studies qualify, so match them to the paper.</a:t>
            </a:r>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Describe searching plainly: they looked through the main research databases and checked reference lists of found papers. Explain the logic using the caption - 'OR' widens by accepting any listed word, 'AND' narrows by requiring all groups together. Stress this string is only an example; real terms and dates come from the paper.</a:t>
            </a:r>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PRISMA: a standard picture showing how you go from thousands of studies down to the few actually used, and why studies were dropped. Read the left column top to bottom - found, duplicates removed, screened, full papers read, then included and combined. The pink boxes show exclusions and reasons. Fill every 'n = __' from the paper's own diagram - do not guess.</a:t>
            </a:r>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Describe the people plainly. They span teenagers (MBT-A) and adults (MBT). Most were female - about 85% in the 2012 trial. Most had self-harm with borderline traits and emotion-control difficulty, treated in outpatient clinics in wealthy, mainly European countries. Use the caption to make the honest point about limited generalisability. Insert the exact totals from the paper.</a:t>
            </a:r>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Describe what happens in MBT. Given one-to-one and/or in groups; the teen version adds work with parents. In the main teen study it ran about a year. Therapists are trained and supervised (guided by a senior colleague), usually outpatient with crisis support alongside. Note honestly that fidelity - whether it was delivered as designed - wasn't always reported. On the right, sum up the therapist's style: curious, not assuming, focused on present feelings, exploring other viewpoints, calming emotions, repairing misunderstandings, not jumping to conclusions.</a:t>
            </a:r>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that the comparison group changes the meaning of the result. Most studies compared MBT with usual care, which is often weak - so part of MBT's apparent benefit may reflect poor usual care. Structured support is a fairer, tougher test and shrinks MBT's advantage. A waiting list flatters any therapy. Direct DBT comparisons are rare. Takeaway: beating a waiting list is easy; beating real structured support is the meaningful test.</a:t>
            </a:r>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Split what was measured into main and other. Main: how often self-harm happened, how severe, how long until it returned, and suicidal behaviour. Other: borderline symptoms, depression and anxiety, emotion control and impulsivity, functioning and quality of life, and staying in treatment or needing hospital. Mention different studies used different questionnaires for the same thing - why a common effect size was needed to combine them.</a:t>
            </a:r>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risk of bias simply: how much can we trust each study? Each dot rates one quality check - green good, yellow some doubts, red weak. Explain the checks plainly: was grouping truly random and fair, hidden from staff and assessors, did few drop out, were all results reported, was the therapy delivered as intended. Point out the common weak spot: in talking therapies you can't hide which treatment someone got, so blinding often scores yellow. This grid is illustrative - replace with the paper's real ratings.</a:t>
            </a:r>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Demystify the numbers. Effect size (Hedges' g) is one number for how big the benefit is; here negative is good (self-harm down). The confidence interval is the likely range - narrow means more certain. Random-effects is a fair way to combine differing studies; I-squared measures disagreement. Anchor the scale: 0.2 small, 0.5 medium, 0.8 large. Stress the difference between statistically significant (probably not chance) and clinically meaningful (actually helps) - mention both.</a:t>
            </a:r>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is the headline. Combining all studies, self-harm went down with an effect size of g = -0.82 (likely range -1.15 to -0.50). Explain the picture: the square is the average benefit, the line is the uncertainty range; because both sit left of zero (the 'better' side), MBT clearly reduced self-harm, and by the scale this is a large effect. Be honest: the line is wide because studies were few and small, so the true benefit could range from medium to very large. Verified from the paper.</a:t>
            </a:r>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Handle suicide carefully. First separate the terms: self-harm (may have no wish to die) is not the same as suicidal thoughts, a suicide attempt, or death by suicide. The verified combined results cover self-harm, borderline symptoms and depression - the paper does not give a separate combined number just for suicide attempts or deaths. If missing, say so directly. Make the logic clear: absence of a proven suicide-specific benefit does not prove there is none. So do not overclaim that MBT prevents suicide.</a:t>
            </a:r>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Show the two other verified results next to self-harm. Borderline personality symptoms improved by g = -1.08 (range -1.38 to -0.77) and depression by g = -1.10 (range -1.52 to -0.68). Explain the bars: longer means bigger improvement, and all three are large. Add the balanced note - these very large numbers come from small studies, which tend to produce bigger-looking effects, so treat the exact size cautiously. Verified from the paper.</a:t>
            </a:r>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Feasibility matters as much as effectiveness here. Report how many finished versus dropped out in each arm from the paper. Small pilot work (Griffiths 2019) suggests group MBT is acceptable and safe with reasonable attendance. Look at reasons for dropout and any harms. The real-world question is whether MBT is practical for people who repeatedly self-harm - and flag honestly that dropout and safety reporting was often incomplete.</a:t>
            </a:r>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Give the one-glance summary: self-harm -0.82, borderline symptoms -1.08, depression -1.10 - all large, all unlikely to be chance, all favouring MBT. Use it to bridge to the discussion: the signal is encouraging and consistent, but rests on few, small, differing studies. So the honest, examiner-friendly summary is 'promising, not yet proven'.</a:t>
            </a:r>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Sum up plainly. MBT reduced self-harm by a large, real amount, and improved borderline symptoms and depression a lot. Every combined result favoured MBT and was unlikely to be chance. Then the balanced verdict: because results come from only a few small, differing studies, be only moderately confident - promising but not yet solid. Don't oversell.</a:t>
            </a:r>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Offer likely reasons, tentatively. MBT probably helps by improving mind-reading so people understand feelings better and misjudge others less; by staying calmer and sitting with distress; by adding a pause between urge and action; by building a bond that keeps them in therapy; and by spotting triggers and coping differently. Supportive evidence: in the 2012 study the benefit flowed through improved mind-reading. But combining outcome results can't fully prove mechanism - hence 'may'.</a:t>
            </a:r>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Place MBT among alternatives fairly. DBT has the strongest, best-replicated evidence for teen self-harm and is the natural benchmark; CBT-based approaches show moderate benefit. MBT's combined benefit here looks large but rests on fewer studies with mixed later results. Explain disagreements plainly: different patients, different intensity, different outcome measures. Takeaway: MBT is a reasonable option, but this evidence doesn't yet show it beats DBT.</a:t>
            </a:r>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Translate into practice. MBT is worth considering for people who repeatedly self-harm with borderline traits, but tailor it and always keep it alongside - never instead of - ongoing risk assessment and crisis planning. Other conditions may need medication, and keeping the person engaged in continuous care is decisive. Emphasise trained, supervised therapists, matching setting to risk, and involving family, especially for teenagers.</a:t>
            </a:r>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Be open about weaknesses - examiners reward balance. Few, small studies mean a less reliable answer and wide uncertainty. Studies differed a lot in setup, format and comparison, making one combined number harder to trust. Follow-up was short or inconsistent, so we don't know if benefit lasts. Different tools, dropout, reporting gaps, a mostly young/female/Western sample, and not always separating self-harm from suicide all lower certainty. This is why the large effects are 'promising, not proven'.</a:t>
            </a:r>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Split weaknesses into who was studied and how. People: mostly female, few males or gender-diverse people, few older adults, almost all Western, differing severity - a fairly narrow group. Design: grouping not always fully random, assessors often knew who got MBT (can bias ratings), 'usual care' varied, dropout high or uneven, and rarely checked whether therapy was delivered properly. These show exactly what better trials must fix.</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generalisability as 'who can we safely apply this to?'. The findings fit the people studied: mostly female teens and adults with self-harm and borderline traits, in outpatient clinics in Western countries. Be cautious applying them to emergency or hospital settings, low-resource or non-Western populations, older adults, males and gender-diverse people, or self-harm without borderline traits and people with psychosis - these were barely included.</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Lay out implications at four levels. In the clinic: use MBT ideas day to day, check mind-reading during crises, build the formulation with the patient, and make personal safety plans. In services: set up proper MBT programmes with training and supervision, step care up when needed, and keep support going after discharge. Relapse prevention: spot early warning signs, build coping alternatives, track over time. With family/society: involve carers, address trauma and attachment, coordinate the team.</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Show your own critical thinking. If you ran this, you would study more people and a more varied group, follow them longer with consistent measures, and clearly separate suicidal from non-suicidal self-harm. You would group people truly at random, keep assessors blind, and compare against a real therapy like DBT rather than only usual care. You would check the therapy was delivered properly, report training, test how and for whom it works, register the plan in advance, report all dropouts and harms, and look at value for money and after-discharge outcomes. This answers the review's own weaknesses.</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Deliver these six messages slowly and plainly. Self-harm keeps coming back, so safety assessment is essential. MBT targets the 'can't read feelings' breakdown under stress. Combined results show large benefits across self-harm, borderline symptoms and depression. But few, small, differing, short studies mean 'promising, not yet proven'. MBT fits best for people with relationship sensitivity and borderline traits. And the field needs bigger, more varied, longer studies against other real therapies. End balanced.</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Give a simple structured verdict, like ticking a checklist. Question and study type were right; statistics appropriate. Confirm from the full paper whether the search was thorough and study quality formally checked. Disagreement between studies was only partly handled. Moderately-to-highly useful for patients, but applies to a narrow group, so overall confidence is moderate-to-low. Adjust each answer after reading the full methods.</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Present the key references. Lead with the primary paper (DOI 10.1111/sltb.13044) and insert its full author list. Then the landmark studies (Rossouw &amp; Fonagy 2012; Bateman &amp; Fonagy 2009) and the MBT manual. These are cross-checked, but a few details are marked 'confirm' and must be verified against the paper before the talk.</a:t>
            </a:r>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Continue with the other studies, the PRISMA guideline, NICE self-harm guidance, and the diagnostic manuals (ICD-11, DSM-5-TR). Repeat the accuracy rule: verify each reference against the paper, and never attribute unverified specifics to the authors.</a:t>
            </a:r>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Close and open the floor with simple prompts: (1) For a teenager who self-harms with borderline traits, would you choose MBT or DBT first, and why? (2) How much should a large benefit change practice when it comes from small, differing studies? (3) What evidence would convince us MBT reduces suicide itself, not just self-harm? Thank the audience.</a:t>
            </a:r>
          </a:p>
        </p:txBody>
      </p:sp>
    </p:spTree>
  </p:cSld>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
          <p:cNvSpPr/>
          <p:nvPr/>
        </p:nvSpPr>
        <p:spPr>
          <a:xfrm>
            <a:off x="0" y="0"/>
            <a:ext cx="12192000" cy="6858000"/>
          </a:xfrm>
          <a:prstGeom prst="rect">
            <a:avLst/>
          </a:prstGeom>
          <a:solidFill>
            <a:srgbClr val="FBF6EC"/>
          </a:solidFill>
          <a:ln>
            <a:noFill/>
          </a:ln>
        </p:spPr>
        <p:txBody>
          <a:bodyPr wrap="square" anchor="ctr" lIns="45720" tIns="18288" rIns="45720" bIns="18288">
            <a:normAutofit/>
          </a:bodyPr>
          <a:p>
            <a:pPr>
              <a:buNone/>
            </a:pPr>
          </a:p>
        </p:txBody>
      </p:sp>
      <p:sp>
        <p:nvSpPr>
          <p:cNvPr id="3" name="r"/>
          <p:cNvSpPr/>
          <p:nvPr/>
        </p:nvSpPr>
        <p:spPr>
          <a:xfrm>
            <a:off x="0" y="0"/>
            <a:ext cx="12192000" cy="120000"/>
          </a:xfrm>
          <a:prstGeom prst="rect">
            <a:avLst/>
          </a:prstGeom>
          <a:solidFill>
            <a:srgbClr val="6E5AA6"/>
          </a:solidFill>
          <a:ln>
            <a:noFill/>
          </a:ln>
        </p:spPr>
        <p:txBody>
          <a:bodyPr wrap="square" anchor="ctr" lIns="45720" tIns="18288" rIns="45720" bIns="18288">
            <a:normAutofit/>
          </a:bodyPr>
          <a:p>
            <a:pPr>
              <a:buNone/>
            </a:pPr>
          </a:p>
        </p:txBody>
      </p:sp>
      <p:sp>
        <p:nvSpPr>
          <p:cNvPr id="4" name="r"/>
          <p:cNvSpPr/>
          <p:nvPr/>
        </p:nvSpPr>
        <p:spPr>
          <a:xfrm>
            <a:off x="0" y="6738000"/>
            <a:ext cx="12192000" cy="120000"/>
          </a:xfrm>
          <a:prstGeom prst="rect">
            <a:avLst/>
          </a:prstGeom>
          <a:solidFill>
            <a:srgbClr val="6E5AA6"/>
          </a:solidFill>
          <a:ln>
            <a:noFill/>
          </a:ln>
        </p:spPr>
        <p:txBody>
          <a:bodyPr wrap="square" anchor="ctr" lIns="45720" tIns="18288" rIns="45720" bIns="18288">
            <a:normAutofit/>
          </a:bodyPr>
          <a:p>
            <a:pPr>
              <a:buNone/>
            </a:pPr>
          </a:p>
        </p:txBody>
      </p:sp>
      <p:sp>
        <p:nvSpPr>
          <p:cNvPr id="5" name="o"/>
          <p:cNvSpPr/>
          <p:nvPr/>
        </p:nvSpPr>
        <p:spPr>
          <a:xfrm>
            <a:off x="-500000" y="-500000"/>
            <a:ext cx="2200000" cy="2200000"/>
          </a:xfrm>
          <a:prstGeom prst="ellipse">
            <a:avLst/>
          </a:prstGeom>
          <a:solidFill>
            <a:srgbClr val="E7E0F7"/>
          </a:solidFill>
        </p:spPr>
        <p:txBody>
          <a:bodyPr wrap="square" anchor="ctr" lIns="45720" tIns="18288" rIns="45720" bIns="18288">
            <a:normAutofit/>
          </a:bodyPr>
          <a:p>
            <a:pPr>
              <a:buNone/>
            </a:pPr>
          </a:p>
        </p:txBody>
      </p:sp>
      <p:sp>
        <p:nvSpPr>
          <p:cNvPr id="6" name="o"/>
          <p:cNvSpPr/>
          <p:nvPr/>
        </p:nvSpPr>
        <p:spPr>
          <a:xfrm>
            <a:off x="10592000" y="5258000"/>
            <a:ext cx="2200000" cy="2200000"/>
          </a:xfrm>
          <a:prstGeom prst="ellipse">
            <a:avLst/>
          </a:prstGeom>
          <a:solidFill>
            <a:srgbClr val="D7E8F4"/>
          </a:solidFill>
        </p:spPr>
        <p:txBody>
          <a:bodyPr wrap="square" anchor="ctr" lIns="45720" tIns="18288" rIns="45720" bIns="18288">
            <a:normAutofit/>
          </a:bodyPr>
          <a:p>
            <a:pPr>
              <a:buNone/>
            </a:pPr>
          </a:p>
        </p:txBody>
      </p:sp>
      <p:sp>
        <p:nvSpPr>
          <p:cNvPr id="7" name="tb"/>
          <p:cNvSpPr txBox="1"/>
          <p:nvPr/>
        </p:nvSpPr>
        <p:spPr>
          <a:xfrm>
            <a:off x="900000" y="850000"/>
            <a:ext cx="10392000" cy="500000"/>
          </a:xfrm>
          <a:prstGeom prst="rect">
            <a:avLst/>
          </a:prstGeom>
          <a:noFill/>
        </p:spPr>
        <p:txBody>
          <a:bodyPr wrap="square" anchor="t" lIns="45720" tIns="27432" rIns="45720" bIns="27432">
            <a:normAutofit/>
          </a:bodyPr>
          <a:p>
            <a:pPr lvl="0" algn="ctr">
              <a:spcAft>
                <a:spcPts val="0"/>
              </a:spcAft>
              <a:buNone/>
            </a:pPr>
            <a:r>
              <a:rPr lang="en-US" sz="1500" b="1" dirty="0">
                <a:solidFill>
                  <a:srgbClr val="3E7CB1"/>
                </a:solidFill>
                <a:latin typeface="Calibri"/>
              </a:rPr>
              <a:t>M.Phil. CLINICAL PSYCHOLOGY  •  JOURNAL CLUB</a:t>
            </a:r>
          </a:p>
        </p:txBody>
      </p:sp>
      <p:sp>
        <p:nvSpPr>
          <p:cNvPr id="8" name="card"/>
          <p:cNvSpPr/>
          <p:nvPr/>
        </p:nvSpPr>
        <p:spPr>
          <a:xfrm>
            <a:off x="900000" y="1480000"/>
            <a:ext cx="10392000" cy="1650000"/>
          </a:xfrm>
          <a:prstGeom prst="roundRect">
            <a:avLst/>
          </a:prstGeom>
          <a:solidFill>
            <a:srgbClr val="FFFFFF"/>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200"/>
              </a:spcAft>
              <a:buNone/>
            </a:pPr>
            <a:r>
              <a:rPr lang="en-US" sz="3200" b="1" dirty="0">
                <a:solidFill>
                  <a:srgbClr val="6E5AA6"/>
                </a:solidFill>
                <a:latin typeface="Calibri"/>
              </a:rPr>
              <a:t>Efficacy of Mentalization-Based Therapy in Treating Self-Harm</a:t>
            </a:r>
          </a:p>
          <a:p>
            <a:pPr lvl="0" algn="ctr">
              <a:spcAft>
                <a:spcPts val="0"/>
              </a:spcAft>
              <a:buNone/>
            </a:pPr>
            <a:r>
              <a:rPr lang="en-US" sz="2200" i="1" dirty="0">
                <a:solidFill>
                  <a:srgbClr val="2E2E38"/>
                </a:solidFill>
                <a:latin typeface="Calibri"/>
              </a:rPr>
              <a:t>A Systematic Review and Meta-Analysis</a:t>
            </a:r>
          </a:p>
        </p:txBody>
      </p:sp>
      <p:sp>
        <p:nvSpPr>
          <p:cNvPr id="9" name="tb"/>
          <p:cNvSpPr txBox="1"/>
          <p:nvPr/>
        </p:nvSpPr>
        <p:spPr>
          <a:xfrm>
            <a:off x="900000" y="3180000"/>
            <a:ext cx="10392000" cy="640000"/>
          </a:xfrm>
          <a:prstGeom prst="rect">
            <a:avLst/>
          </a:prstGeom>
          <a:noFill/>
        </p:spPr>
        <p:txBody>
          <a:bodyPr wrap="square" anchor="t" lIns="45720" tIns="27432" rIns="45720" bIns="27432">
            <a:normAutofit/>
          </a:bodyPr>
          <a:p>
            <a:pPr lvl="0" algn="ctr">
              <a:spcAft>
                <a:spcPts val="0"/>
              </a:spcAft>
              <a:buNone/>
            </a:pPr>
            <a:r>
              <a:rPr lang="en-US" sz="1300" b="1" dirty="0">
                <a:solidFill>
                  <a:srgbClr val="3E7CB1"/>
                </a:solidFill>
                <a:latin typeface="Calibri"/>
              </a:rPr>
              <a:t>Journal: </a:t>
            </a:r>
            <a:r>
              <a:rPr lang="en-US" sz="1300" dirty="0">
                <a:solidFill>
                  <a:srgbClr val="2E2E38"/>
                </a:solidFill>
                <a:latin typeface="Calibri"/>
              </a:rPr>
              <a:t>Suicide and Life-Threatening Behavior (2024)  •  DOI: 10.1111/sltb.13044</a:t>
            </a:r>
            <a:r>
              <a:rPr lang="en-US" sz="1300" b="1" dirty="0">
                <a:solidFill>
                  <a:srgbClr val="3E7CB1"/>
                </a:solidFill>
                <a:latin typeface="Calibri"/>
              </a:rPr>
              <a:t>      What kind of study: </a:t>
            </a:r>
            <a:r>
              <a:rPr lang="en-US" sz="1300" dirty="0">
                <a:solidFill>
                  <a:srgbClr val="2E2E38"/>
                </a:solidFill>
                <a:latin typeface="Calibri"/>
              </a:rPr>
              <a:t>systematic review + meta-analysis (combines earlier studies into one overall answer).</a:t>
            </a:r>
          </a:p>
        </p:txBody>
      </p:sp>
      <p:sp>
        <p:nvSpPr>
          <p:cNvPr id="10" name="card"/>
          <p:cNvSpPr/>
          <p:nvPr/>
        </p:nvSpPr>
        <p:spPr>
          <a:xfrm>
            <a:off x="900000" y="3900000"/>
            <a:ext cx="5046000" cy="2350000"/>
          </a:xfrm>
          <a:prstGeom prst="roundRect">
            <a:avLst/>
          </a:prstGeom>
          <a:solidFill>
            <a:srgbClr val="E7E0F7"/>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200"/>
              </a:spcAft>
              <a:buNone/>
            </a:pPr>
            <a:r>
              <a:rPr lang="en-US" sz="1500" b="1" dirty="0">
                <a:solidFill>
                  <a:srgbClr val="6E5AA6"/>
                </a:solidFill>
                <a:latin typeface="Calibri"/>
              </a:rPr>
              <a:t>Presented by</a:t>
            </a:r>
          </a:p>
          <a:p>
            <a:pPr lvl="0" algn="ctr">
              <a:spcAft>
                <a:spcPts val="140"/>
              </a:spcAft>
              <a:buNone/>
            </a:pPr>
            <a:r>
              <a:rPr lang="en-US" sz="1400" b="1" dirty="0">
                <a:solidFill>
                  <a:srgbClr val="2E2E38"/>
                </a:solidFill>
                <a:latin typeface="Calibri"/>
              </a:rPr>
              <a:t>Ms. Sonal Tripathi</a:t>
            </a:r>
          </a:p>
          <a:p>
            <a:pPr lvl="0" algn="ctr">
              <a:spcAft>
                <a:spcPts val="140"/>
              </a:spcAft>
              <a:buNone/>
            </a:pPr>
            <a:r>
              <a:rPr lang="en-US" sz="1400" dirty="0">
                <a:solidFill>
                  <a:srgbClr val="2E2E38"/>
                </a:solidFill>
                <a:latin typeface="Calibri"/>
              </a:rPr>
              <a:t>M.Phil. Year II Trainee</a:t>
            </a:r>
          </a:p>
          <a:p>
            <a:pPr lvl="0" algn="ctr">
              <a:spcAft>
                <a:spcPts val="140"/>
              </a:spcAft>
              <a:buNone/>
            </a:pPr>
            <a:r>
              <a:rPr lang="en-US" sz="1400" dirty="0">
                <a:solidFill>
                  <a:srgbClr val="2E2E38"/>
                </a:solidFill>
                <a:latin typeface="Calibri"/>
              </a:rPr>
              <a:t>Department of Clinical Psychology</a:t>
            </a:r>
          </a:p>
          <a:p>
            <a:pPr lvl="0" algn="ctr">
              <a:spcAft>
                <a:spcPts val="0"/>
              </a:spcAft>
              <a:buNone/>
            </a:pPr>
            <a:r>
              <a:rPr lang="en-US" sz="1400" dirty="0">
                <a:solidFill>
                  <a:srgbClr val="2E2E38"/>
                </a:solidFill>
                <a:latin typeface="Calibri"/>
              </a:rPr>
              <a:t>MAN College of Special Education and Psychological Studies, Guna, M.P.</a:t>
            </a:r>
          </a:p>
        </p:txBody>
      </p:sp>
      <p:sp>
        <p:nvSpPr>
          <p:cNvPr id="11" name="card"/>
          <p:cNvSpPr/>
          <p:nvPr/>
        </p:nvSpPr>
        <p:spPr>
          <a:xfrm>
            <a:off x="6246000" y="3900000"/>
            <a:ext cx="5046000" cy="2350000"/>
          </a:xfrm>
          <a:prstGeom prst="roundRect">
            <a:avLst/>
          </a:prstGeom>
          <a:solidFill>
            <a:srgbClr val="D5EFE6"/>
          </a:solidFill>
          <a:ln w="12700">
            <a:solidFill>
              <a:srgbClr val="D9E8D2"/>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200"/>
              </a:spcAft>
              <a:buNone/>
            </a:pPr>
            <a:r>
              <a:rPr lang="en-US" sz="1500" b="1" dirty="0">
                <a:solidFill>
                  <a:srgbClr val="6E5AA6"/>
                </a:solidFill>
                <a:latin typeface="Calibri"/>
              </a:rPr>
              <a:t>Supervised by</a:t>
            </a:r>
          </a:p>
          <a:p>
            <a:pPr lvl="0" algn="ctr">
              <a:spcAft>
                <a:spcPts val="140"/>
              </a:spcAft>
              <a:buNone/>
            </a:pPr>
            <a:r>
              <a:rPr lang="en-US" sz="1400" b="1" dirty="0">
                <a:solidFill>
                  <a:srgbClr val="2E2E38"/>
                </a:solidFill>
                <a:latin typeface="Calibri"/>
              </a:rPr>
              <a:t>Dr. Ajay Sharma</a:t>
            </a:r>
          </a:p>
          <a:p>
            <a:pPr lvl="0" algn="ctr">
              <a:spcAft>
                <a:spcPts val="140"/>
              </a:spcAft>
              <a:buNone/>
            </a:pPr>
            <a:r>
              <a:rPr lang="en-US" sz="1400" dirty="0">
                <a:solidFill>
                  <a:srgbClr val="2E2E38"/>
                </a:solidFill>
                <a:latin typeface="Calibri"/>
              </a:rPr>
              <a:t>Professor &amp; Head of Department</a:t>
            </a:r>
          </a:p>
          <a:p>
            <a:pPr lvl="0" algn="ctr">
              <a:spcAft>
                <a:spcPts val="140"/>
              </a:spcAft>
              <a:buNone/>
            </a:pPr>
            <a:r>
              <a:rPr lang="en-US" sz="1400" dirty="0">
                <a:solidFill>
                  <a:srgbClr val="2E2E38"/>
                </a:solidFill>
                <a:latin typeface="Calibri"/>
              </a:rPr>
              <a:t>Department of Clinical Psychology</a:t>
            </a:r>
          </a:p>
          <a:p>
            <a:pPr lvl="0" algn="ctr">
              <a:spcAft>
                <a:spcPts val="0"/>
              </a:spcAft>
              <a:buNone/>
            </a:pPr>
            <a:r>
              <a:rPr lang="en-US" sz="1400" dirty="0">
                <a:solidFill>
                  <a:srgbClr val="2E2E38"/>
                </a:solidFill>
                <a:latin typeface="Calibri"/>
              </a:rPr>
              <a:t>MAN College of Special Education and Psychological Studies, Guna, M.P.</a:t>
            </a:r>
          </a:p>
        </p:txBody>
      </p:sp>
      <p:sp>
        <p:nvSpPr>
          <p:cNvPr id="12" name="tb"/>
          <p:cNvSpPr txBox="1"/>
          <p:nvPr/>
        </p:nvSpPr>
        <p:spPr>
          <a:xfrm>
            <a:off x="900000" y="6370000"/>
            <a:ext cx="10392000" cy="320000"/>
          </a:xfrm>
          <a:prstGeom prst="rect">
            <a:avLst/>
          </a:prstGeom>
          <a:noFill/>
        </p:spPr>
        <p:txBody>
          <a:bodyPr wrap="square" anchor="t" lIns="45720" tIns="27432" rIns="45720" bIns="27432">
            <a:normAutofit/>
          </a:bodyPr>
          <a:p>
            <a:pPr lvl="0" algn="ctr">
              <a:spcAft>
                <a:spcPts val="0"/>
              </a:spcAft>
              <a:buNone/>
            </a:pPr>
            <a:r>
              <a:rPr lang="en-US" sz="1300" dirty="0">
                <a:solidFill>
                  <a:srgbClr val="6B6B75"/>
                </a:solidFill>
                <a:latin typeface="Calibri"/>
              </a:rPr>
              <a:t>Journal Club Date: ______________</a:t>
            </a:r>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4"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CLINICAL &amp; ACADEMIC RELEVANCE</a:t>
            </a:r>
          </a:p>
        </p:txBody>
      </p:sp>
      <p:sp>
        <p:nvSpPr>
          <p:cNvPr id="15"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Why This Paper Matters</a:t>
            </a:r>
          </a:p>
        </p:txBody>
      </p:sp>
      <p:cxnSp>
        <p:nvCxnSpPr>
          <p:cNvPr id="16" name="ln"/>
          <p:cNvCxnSpPr/>
          <p:nvPr/>
        </p:nvCxnSpPr>
        <p:spPr>
          <a:xfrm>
            <a:off x="560000" y="1320000"/>
            <a:ext cx="11072000" cy="0"/>
          </a:xfrm>
          <a:prstGeom prst="line">
            <a:avLst/>
          </a:prstGeom>
          <a:ln w="28575">
            <a:solidFill>
              <a:srgbClr val="D6C7EE"/>
            </a:solidFill>
          </a:ln>
        </p:spPr>
      </p:cxnSp>
      <p:sp>
        <p:nvSpPr>
          <p:cNvPr id="17" name="card"/>
          <p:cNvSpPr/>
          <p:nvPr/>
        </p:nvSpPr>
        <p:spPr>
          <a:xfrm>
            <a:off x="560000" y="1580000"/>
            <a:ext cx="5600000" cy="455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300"/>
              </a:spcAft>
              <a:buFont typeface="Arial"/>
              <a:buChar char="•"/>
            </a:pPr>
            <a:r>
              <a:rPr lang="en-US" sz="1400" dirty="0">
                <a:solidFill>
                  <a:srgbClr val="2E2E38"/>
                </a:solidFill>
                <a:latin typeface="Calibri"/>
              </a:rPr>
              <a:t>Self-harm is common and tends to happen again and again (high recurrence).</a:t>
            </a:r>
          </a:p>
          <a:p>
            <a:pPr marL="342900" indent="-228600" lvl="0" algn="l">
              <a:spcAft>
                <a:spcPts val="300"/>
              </a:spcAft>
              <a:buFont typeface="Arial"/>
              <a:buChar char="•"/>
            </a:pPr>
            <a:r>
              <a:rPr lang="en-US" sz="1400" dirty="0">
                <a:solidFill>
                  <a:srgbClr val="2E2E38"/>
                </a:solidFill>
                <a:latin typeface="Calibri"/>
              </a:rPr>
              <a:t>It is closely linked to poor emotion control (emotional dysregulation), past trauma, personality difficulties, and a higher risk of suicide.</a:t>
            </a:r>
          </a:p>
          <a:p>
            <a:pPr marL="342900" indent="-228600" lvl="0" algn="l">
              <a:spcAft>
                <a:spcPts val="300"/>
              </a:spcAft>
              <a:buFont typeface="Arial"/>
              <a:buChar char="•"/>
            </a:pPr>
            <a:r>
              <a:rPr lang="en-US" sz="1400" dirty="0">
                <a:solidFill>
                  <a:srgbClr val="2E2E38"/>
                </a:solidFill>
                <a:latin typeface="Calibri"/>
              </a:rPr>
              <a:t>Because it repeats so often, we badly need talking therapies that actually work.</a:t>
            </a:r>
          </a:p>
          <a:p>
            <a:pPr marL="342900" indent="-228600" lvl="0" algn="l">
              <a:spcAft>
                <a:spcPts val="300"/>
              </a:spcAft>
              <a:buFont typeface="Arial"/>
              <a:buChar char="•"/>
            </a:pPr>
            <a:r>
              <a:rPr lang="en-US" sz="1400" dirty="0">
                <a:solidFill>
                  <a:srgbClr val="2E2E38"/>
                </a:solidFill>
                <a:latin typeface="Calibri"/>
              </a:rPr>
              <a:t>Therapies that fix the root cause (how a person handles emotions and relationships) are more useful than ones that only stop the behaviour briefly.</a:t>
            </a:r>
          </a:p>
          <a:p>
            <a:pPr marL="342900" indent="-228600" lvl="0" algn="l">
              <a:spcAft>
                <a:spcPts val="0"/>
              </a:spcAft>
              <a:buFont typeface="Arial"/>
              <a:buChar char="•"/>
            </a:pPr>
            <a:r>
              <a:rPr lang="en-US" sz="1400" dirty="0">
                <a:solidFill>
                  <a:srgbClr val="2E2E38"/>
                </a:solidFill>
                <a:latin typeface="Calibri"/>
              </a:rPr>
              <a:t>A meta-analysis (combining many studies) gives one clearer, stronger answer than any single small study.</a:t>
            </a:r>
          </a:p>
        </p:txBody>
      </p:sp>
      <p:sp>
        <p:nvSpPr>
          <p:cNvPr id="18" name="card"/>
          <p:cNvSpPr/>
          <p:nvPr/>
        </p:nvSpPr>
        <p:spPr>
          <a:xfrm>
            <a:off x="6460000" y="1600000"/>
            <a:ext cx="5172000" cy="560000"/>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400" b="1" dirty="0">
                <a:solidFill>
                  <a:srgbClr val="2E2E38"/>
                </a:solidFill>
                <a:latin typeface="Calibri"/>
              </a:rPr>
              <a:t>Self-harm</a:t>
            </a:r>
          </a:p>
        </p:txBody>
      </p:sp>
      <p:sp>
        <p:nvSpPr>
          <p:cNvPr id="19" name="ar"/>
          <p:cNvSpPr/>
          <p:nvPr/>
        </p:nvSpPr>
        <p:spPr>
          <a:xfrm>
            <a:off x="8926000.0" y="2168000"/>
            <a:ext cx="240000" cy="154000"/>
          </a:xfrm>
          <a:prstGeom prst="downArrow">
            <a:avLst/>
          </a:prstGeom>
          <a:solidFill>
            <a:srgbClr val="6E5AA6"/>
          </a:solidFill>
        </p:spPr>
        <p:txBody>
          <a:bodyPr/>
          <a:p/>
        </p:txBody>
      </p:sp>
      <p:sp>
        <p:nvSpPr>
          <p:cNvPr id="20" name="card"/>
          <p:cNvSpPr/>
          <p:nvPr/>
        </p:nvSpPr>
        <p:spPr>
          <a:xfrm>
            <a:off x="6460000" y="2330000"/>
            <a:ext cx="5172000" cy="560000"/>
          </a:xfrm>
          <a:prstGeom prst="roundRect">
            <a:avLst/>
          </a:prstGeom>
          <a:solidFill>
            <a:srgbClr val="FBE3D2"/>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400" b="1" dirty="0">
                <a:solidFill>
                  <a:srgbClr val="2E2E38"/>
                </a:solidFill>
                <a:latin typeface="Calibri"/>
              </a:rPr>
              <a:t>It repeats</a:t>
            </a:r>
          </a:p>
        </p:txBody>
      </p:sp>
      <p:sp>
        <p:nvSpPr>
          <p:cNvPr id="21" name="ar"/>
          <p:cNvSpPr/>
          <p:nvPr/>
        </p:nvSpPr>
        <p:spPr>
          <a:xfrm>
            <a:off x="8926000.0" y="2898000"/>
            <a:ext cx="240000" cy="154000"/>
          </a:xfrm>
          <a:prstGeom prst="downArrow">
            <a:avLst/>
          </a:prstGeom>
          <a:solidFill>
            <a:srgbClr val="6E5AA6"/>
          </a:solidFill>
        </p:spPr>
        <p:txBody>
          <a:bodyPr/>
          <a:p/>
        </p:txBody>
      </p:sp>
      <p:sp>
        <p:nvSpPr>
          <p:cNvPr id="22" name="card"/>
          <p:cNvSpPr/>
          <p:nvPr/>
        </p:nvSpPr>
        <p:spPr>
          <a:xfrm>
            <a:off x="6460000" y="3060000"/>
            <a:ext cx="5172000" cy="560000"/>
          </a:xfrm>
          <a:prstGeom prst="roundRect">
            <a:avLst/>
          </a:prstGeom>
          <a:solidFill>
            <a:srgbClr val="D6C7EE"/>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400" b="1" dirty="0">
                <a:solidFill>
                  <a:srgbClr val="2E2E38"/>
                </a:solidFill>
                <a:latin typeface="Calibri"/>
              </a:rPr>
              <a:t>Suicide risk rises</a:t>
            </a:r>
          </a:p>
        </p:txBody>
      </p:sp>
      <p:sp>
        <p:nvSpPr>
          <p:cNvPr id="23" name="ar"/>
          <p:cNvSpPr/>
          <p:nvPr/>
        </p:nvSpPr>
        <p:spPr>
          <a:xfrm>
            <a:off x="8926000.0" y="3628000"/>
            <a:ext cx="240000" cy="154000"/>
          </a:xfrm>
          <a:prstGeom prst="downArrow">
            <a:avLst/>
          </a:prstGeom>
          <a:solidFill>
            <a:srgbClr val="6E5AA6"/>
          </a:solidFill>
        </p:spPr>
        <p:txBody>
          <a:bodyPr/>
          <a:p/>
        </p:txBody>
      </p:sp>
      <p:sp>
        <p:nvSpPr>
          <p:cNvPr id="24" name="card"/>
          <p:cNvSpPr/>
          <p:nvPr/>
        </p:nvSpPr>
        <p:spPr>
          <a:xfrm>
            <a:off x="6460000" y="3790000"/>
            <a:ext cx="5172000" cy="560000"/>
          </a:xfrm>
          <a:prstGeom prst="roundRect">
            <a:avLst/>
          </a:prstGeom>
          <a:solidFill>
            <a:srgbClr val="D7E8F4"/>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400" b="1" dirty="0">
                <a:solidFill>
                  <a:srgbClr val="2E2E38"/>
                </a:solidFill>
                <a:latin typeface="Calibri"/>
              </a:rPr>
              <a:t>Treatment needed</a:t>
            </a:r>
          </a:p>
        </p:txBody>
      </p:sp>
      <p:sp>
        <p:nvSpPr>
          <p:cNvPr id="25" name="ar"/>
          <p:cNvSpPr/>
          <p:nvPr/>
        </p:nvSpPr>
        <p:spPr>
          <a:xfrm>
            <a:off x="8926000.0" y="4358000"/>
            <a:ext cx="240000" cy="154000"/>
          </a:xfrm>
          <a:prstGeom prst="downArrow">
            <a:avLst/>
          </a:prstGeom>
          <a:solidFill>
            <a:srgbClr val="6E5AA6"/>
          </a:solidFill>
        </p:spPr>
        <p:txBody>
          <a:bodyPr/>
          <a:p/>
        </p:txBody>
      </p:sp>
      <p:sp>
        <p:nvSpPr>
          <p:cNvPr id="26" name="card"/>
          <p:cNvSpPr/>
          <p:nvPr/>
        </p:nvSpPr>
        <p:spPr>
          <a:xfrm>
            <a:off x="6460000" y="4520000"/>
            <a:ext cx="5172000" cy="560000"/>
          </a:xfrm>
          <a:prstGeom prst="roundRect">
            <a:avLst/>
          </a:prstGeom>
          <a:solidFill>
            <a:srgbClr val="D9E8D2"/>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400" b="1" dirty="0">
                <a:solidFill>
                  <a:srgbClr val="2E2E38"/>
                </a:solidFill>
                <a:latin typeface="Calibri"/>
              </a:rPr>
              <a:t>Use proven therapy</a:t>
            </a:r>
          </a:p>
        </p:txBody>
      </p:sp>
      <p:sp>
        <p:nvSpPr>
          <p:cNvPr id="27" name="card"/>
          <p:cNvSpPr/>
          <p:nvPr/>
        </p:nvSpPr>
        <p:spPr>
          <a:xfrm>
            <a:off x="6460000" y="5260000"/>
            <a:ext cx="51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 chain: self-harm usually repeats, repeating raises suicide risk, so treatment is needed - ideally a therapy already proven to work.</a:t>
            </a:r>
          </a:p>
        </p:txBody>
      </p:sp>
      <p:sp>
        <p:nvSpPr>
          <p:cNvPr id="28"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9"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1"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BACKGROUND</a:t>
            </a:r>
          </a:p>
        </p:txBody>
      </p:sp>
      <p:sp>
        <p:nvSpPr>
          <p:cNvPr id="32"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The Clinical Problem: What Is Self-Harm?</a:t>
            </a:r>
          </a:p>
        </p:txBody>
      </p:sp>
      <p:cxnSp>
        <p:nvCxnSpPr>
          <p:cNvPr id="33" name="ln"/>
          <p:cNvCxnSpPr/>
          <p:nvPr/>
        </p:nvCxnSpPr>
        <p:spPr>
          <a:xfrm>
            <a:off x="560000" y="1320000"/>
            <a:ext cx="11072000" cy="0"/>
          </a:xfrm>
          <a:prstGeom prst="line">
            <a:avLst/>
          </a:prstGeom>
          <a:ln w="28575">
            <a:solidFill>
              <a:srgbClr val="D6C7EE"/>
            </a:solidFill>
          </a:ln>
        </p:spPr>
      </p:cxnSp>
      <p:sp>
        <p:nvSpPr>
          <p:cNvPr id="34" name="card"/>
          <p:cNvSpPr/>
          <p:nvPr/>
        </p:nvSpPr>
        <p:spPr>
          <a:xfrm>
            <a:off x="560000" y="1580000"/>
            <a:ext cx="5386000" cy="419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600" b="1" dirty="0">
                <a:solidFill>
                  <a:srgbClr val="6E5AA6"/>
                </a:solidFill>
                <a:latin typeface="Calibri"/>
              </a:rPr>
              <a:t>Definition</a:t>
            </a:r>
          </a:p>
          <a:p>
            <a:pPr marL="342900" indent="-228600" lvl="0" algn="l">
              <a:spcAft>
                <a:spcPts val="300"/>
              </a:spcAft>
              <a:buFont typeface="Arial"/>
              <a:buChar char="•"/>
            </a:pPr>
            <a:r>
              <a:rPr lang="en-US" sz="1400" dirty="0">
                <a:solidFill>
                  <a:srgbClr val="2E2E38"/>
                </a:solidFill>
                <a:latin typeface="Calibri"/>
              </a:rPr>
              <a:t>Deliberately hurting or poisoning oneself, whether or not the person wants to die.</a:t>
            </a:r>
          </a:p>
          <a:p>
            <a:pPr marL="342900" indent="-228600" lvl="0" algn="l">
              <a:spcAft>
                <a:spcPts val="300"/>
              </a:spcAft>
              <a:buFont typeface="Arial"/>
              <a:buChar char="•"/>
            </a:pPr>
            <a:r>
              <a:rPr lang="en-US" sz="1400" dirty="0">
                <a:solidFill>
                  <a:srgbClr val="2E2E38"/>
                </a:solidFill>
                <a:latin typeface="Calibri"/>
              </a:rPr>
              <a:t>It overlaps with, but is not the same as, suicidal behaviour - non-suicidal self-injury (hurting self with no wish to die) and suicidal self-injury (with a wish to die) can both occur.</a:t>
            </a:r>
          </a:p>
          <a:p>
            <a:pPr marL="342900" indent="-228600" lvl="0" algn="l">
              <a:spcAft>
                <a:spcPts val="0"/>
              </a:spcAft>
              <a:buFont typeface="Arial"/>
              <a:buChar char="•"/>
            </a:pPr>
            <a:r>
              <a:rPr lang="en-US" sz="1400" dirty="0">
                <a:solidFill>
                  <a:srgbClr val="2E2E38"/>
                </a:solidFill>
                <a:latin typeface="Calibri"/>
              </a:rPr>
              <a:t>It serves a purpose for the person: to feel relief, to cope, to communicate distress, or to punish oneself.</a:t>
            </a:r>
          </a:p>
        </p:txBody>
      </p:sp>
      <p:sp>
        <p:nvSpPr>
          <p:cNvPr id="35" name="card"/>
          <p:cNvSpPr/>
          <p:nvPr/>
        </p:nvSpPr>
        <p:spPr>
          <a:xfrm>
            <a:off x="6246000" y="1580000"/>
            <a:ext cx="5386000" cy="419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600" b="1" dirty="0">
                <a:solidFill>
                  <a:srgbClr val="6E5AA6"/>
                </a:solidFill>
                <a:latin typeface="Calibri"/>
              </a:rPr>
              <a:t>Common forms</a:t>
            </a:r>
          </a:p>
          <a:p>
            <a:pPr marL="342900" indent="-228600" lvl="0" algn="l">
              <a:spcAft>
                <a:spcPts val="250"/>
              </a:spcAft>
              <a:buFont typeface="Arial"/>
              <a:buChar char="•"/>
            </a:pPr>
            <a:r>
              <a:rPr lang="en-US" sz="1400" dirty="0">
                <a:solidFill>
                  <a:srgbClr val="2E2E38"/>
                </a:solidFill>
                <a:latin typeface="Calibri"/>
              </a:rPr>
              <a:t>Cutting</a:t>
            </a:r>
          </a:p>
          <a:p>
            <a:pPr marL="342900" indent="-228600" lvl="0" algn="l">
              <a:spcAft>
                <a:spcPts val="250"/>
              </a:spcAft>
              <a:buFont typeface="Arial"/>
              <a:buChar char="•"/>
            </a:pPr>
            <a:r>
              <a:rPr lang="en-US" sz="1400" dirty="0">
                <a:solidFill>
                  <a:srgbClr val="2E2E38"/>
                </a:solidFill>
                <a:latin typeface="Calibri"/>
              </a:rPr>
              <a:t>Burning</a:t>
            </a:r>
          </a:p>
          <a:p>
            <a:pPr marL="342900" indent="-228600" lvl="0" algn="l">
              <a:spcAft>
                <a:spcPts val="250"/>
              </a:spcAft>
              <a:buFont typeface="Arial"/>
              <a:buChar char="•"/>
            </a:pPr>
            <a:r>
              <a:rPr lang="en-US" sz="1400" dirty="0">
                <a:solidFill>
                  <a:srgbClr val="2E2E38"/>
                </a:solidFill>
                <a:latin typeface="Calibri"/>
              </a:rPr>
              <a:t>Hitting oneself</a:t>
            </a:r>
          </a:p>
          <a:p>
            <a:pPr marL="342900" indent="-228600" lvl="0" algn="l">
              <a:spcAft>
                <a:spcPts val="250"/>
              </a:spcAft>
              <a:buFont typeface="Arial"/>
              <a:buChar char="•"/>
            </a:pPr>
            <a:r>
              <a:rPr lang="en-US" sz="1400" dirty="0">
                <a:solidFill>
                  <a:srgbClr val="2E2E38"/>
                </a:solidFill>
                <a:latin typeface="Calibri"/>
              </a:rPr>
              <a:t>Scratching</a:t>
            </a:r>
          </a:p>
          <a:p>
            <a:pPr marL="342900" indent="-228600" lvl="0" algn="l">
              <a:spcAft>
                <a:spcPts val="250"/>
              </a:spcAft>
              <a:buFont typeface="Arial"/>
              <a:buChar char="•"/>
            </a:pPr>
            <a:r>
              <a:rPr lang="en-US" sz="1400" dirty="0">
                <a:solidFill>
                  <a:srgbClr val="2E2E38"/>
                </a:solidFill>
                <a:latin typeface="Calibri"/>
              </a:rPr>
              <a:t>Self-poisoning (taking an overdose)</a:t>
            </a:r>
          </a:p>
          <a:p>
            <a:pPr marL="342900" indent="-228600" lvl="0" algn="l">
              <a:spcAft>
                <a:spcPts val="250"/>
              </a:spcAft>
              <a:buFont typeface="Arial"/>
              <a:buChar char="•"/>
            </a:pPr>
            <a:r>
              <a:rPr lang="en-US" sz="1400" dirty="0">
                <a:solidFill>
                  <a:srgbClr val="2E2E38"/>
                </a:solidFill>
                <a:latin typeface="Calibri"/>
              </a:rPr>
              <a:t>Interfering with wound healing (stopping wounds from healing)</a:t>
            </a:r>
          </a:p>
        </p:txBody>
      </p:sp>
      <p:sp>
        <p:nvSpPr>
          <p:cNvPr id="36" name="card"/>
          <p:cNvSpPr/>
          <p:nvPr/>
        </p:nvSpPr>
        <p:spPr>
          <a:xfrm>
            <a:off x="560000" y="5898000"/>
            <a:ext cx="11072000" cy="720000"/>
          </a:xfrm>
          <a:prstGeom prst="roundRect">
            <a:avLst/>
          </a:prstGeom>
          <a:solidFill>
            <a:srgbClr val="FBE3D2"/>
          </a:solidFill>
          <a:ln w="12700">
            <a:solidFill>
              <a:srgbClr val="E0A96D"/>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B5651D"/>
                </a:solidFill>
                <a:latin typeface="Calibri"/>
              </a:rPr>
              <a:t>⚠  Always assess safety:  </a:t>
            </a:r>
            <a:r>
              <a:rPr lang="en-US" sz="1400" dirty="0">
                <a:solidFill>
                  <a:srgbClr val="2E2E38"/>
                </a:solidFill>
                <a:latin typeface="Calibri"/>
              </a:rPr>
              <a:t>check for suicidal intent (wish to die), lethality (how dangerous), how often it happens, what triggers it, what purpose it serves, and whether the person is safe right now.</a:t>
            </a:r>
          </a:p>
        </p:txBody>
      </p:sp>
      <p:sp>
        <p:nvSpPr>
          <p:cNvPr id="37"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8"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a:t>
            </a:r>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0"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RECURRENCE</a:t>
            </a:r>
          </a:p>
        </p:txBody>
      </p:sp>
      <p:sp>
        <p:nvSpPr>
          <p:cNvPr id="41"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Why Self-Harm Repeats: The Cycle</a:t>
            </a:r>
          </a:p>
        </p:txBody>
      </p:sp>
      <p:cxnSp>
        <p:nvCxnSpPr>
          <p:cNvPr id="42" name="ln"/>
          <p:cNvCxnSpPr/>
          <p:nvPr/>
        </p:nvCxnSpPr>
        <p:spPr>
          <a:xfrm>
            <a:off x="560000" y="1320000"/>
            <a:ext cx="11072000" cy="0"/>
          </a:xfrm>
          <a:prstGeom prst="line">
            <a:avLst/>
          </a:prstGeom>
          <a:ln w="28575">
            <a:solidFill>
              <a:srgbClr val="D6C7EE"/>
            </a:solidFill>
          </a:ln>
        </p:spPr>
      </p:cxnSp>
      <p:sp>
        <p:nvSpPr>
          <p:cNvPr id="43" name="card"/>
          <p:cNvSpPr/>
          <p:nvPr/>
        </p:nvSpPr>
        <p:spPr>
          <a:xfrm>
            <a:off x="560000" y="1580000"/>
            <a:ext cx="4400000" cy="455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lvl="0" algn="l">
              <a:spcAft>
                <a:spcPts val="240"/>
              </a:spcAft>
              <a:buNone/>
            </a:pPr>
            <a:r>
              <a:rPr lang="en-US" sz="1400" b="1" dirty="0">
                <a:solidFill>
                  <a:srgbClr val="6E5AA6"/>
                </a:solidFill>
                <a:latin typeface="Calibri"/>
              </a:rPr>
              <a:t>Common triggers (what sets it off)</a:t>
            </a:r>
          </a:p>
          <a:p>
            <a:pPr marL="342900" indent="-228600" lvl="0" algn="l">
              <a:spcAft>
                <a:spcPts val="200"/>
              </a:spcAft>
              <a:buFont typeface="Arial"/>
              <a:buChar char="•"/>
            </a:pPr>
            <a:r>
              <a:rPr lang="en-US" sz="1400" dirty="0">
                <a:solidFill>
                  <a:srgbClr val="2E2E38"/>
                </a:solidFill>
                <a:latin typeface="Calibri"/>
              </a:rPr>
              <a:t>Conflict or rejection by others</a:t>
            </a:r>
          </a:p>
          <a:p>
            <a:pPr marL="342900" indent="-228600" lvl="0" algn="l">
              <a:spcAft>
                <a:spcPts val="200"/>
              </a:spcAft>
              <a:buFont typeface="Arial"/>
              <a:buChar char="•"/>
            </a:pPr>
            <a:r>
              <a:rPr lang="en-US" sz="1400" dirty="0">
                <a:solidFill>
                  <a:srgbClr val="2E2E38"/>
                </a:solidFill>
                <a:latin typeface="Calibri"/>
              </a:rPr>
              <a:t>Fear of being abandoned</a:t>
            </a:r>
          </a:p>
          <a:p>
            <a:pPr marL="342900" indent="-228600" lvl="0" algn="l">
              <a:spcAft>
                <a:spcPts val="200"/>
              </a:spcAft>
              <a:buFont typeface="Arial"/>
              <a:buChar char="•"/>
            </a:pPr>
            <a:r>
              <a:rPr lang="en-US" sz="1400" dirty="0">
                <a:solidFill>
                  <a:srgbClr val="2E2E38"/>
                </a:solidFill>
                <a:latin typeface="Calibri"/>
              </a:rPr>
              <a:t>Shame and feeling overwhelmed</a:t>
            </a:r>
          </a:p>
          <a:p>
            <a:pPr marL="342900" indent="-228600" lvl="0" algn="l">
              <a:spcAft>
                <a:spcPts val="200"/>
              </a:spcAft>
              <a:buFont typeface="Arial"/>
              <a:buChar char="•"/>
            </a:pPr>
            <a:r>
              <a:rPr lang="en-US" sz="1400" dirty="0">
                <a:solidFill>
                  <a:srgbClr val="2E2E38"/>
                </a:solidFill>
                <a:latin typeface="Calibri"/>
              </a:rPr>
              <a:t>Dissociation (feeling cut off / unreal) or trauma reminders</a:t>
            </a:r>
          </a:p>
          <a:p>
            <a:pPr lvl="0" algn="l">
              <a:spcAft>
                <a:spcPts val="240"/>
              </a:spcAft>
              <a:buNone/>
            </a:pPr>
            <a:r>
              <a:rPr lang="en-US" sz="1400" b="1" dirty="0">
                <a:solidFill>
                  <a:srgbClr val="6E5AA6"/>
                </a:solidFill>
                <a:latin typeface="Calibri"/>
              </a:rPr>
              <a:t>What keeps it going (maintaining factors)</a:t>
            </a:r>
          </a:p>
          <a:p>
            <a:pPr marL="342900" indent="-228600" lvl="0" algn="l">
              <a:spcAft>
                <a:spcPts val="200"/>
              </a:spcAft>
              <a:buFont typeface="Arial"/>
              <a:buChar char="•"/>
            </a:pPr>
            <a:r>
              <a:rPr lang="en-US" sz="1400" dirty="0">
                <a:solidFill>
                  <a:srgbClr val="2E2E38"/>
                </a:solidFill>
                <a:latin typeface="Calibri"/>
              </a:rPr>
              <a:t>It brings quick emotional relief</a:t>
            </a:r>
          </a:p>
          <a:p>
            <a:pPr marL="342900" indent="-228600" lvl="0" algn="l">
              <a:spcAft>
                <a:spcPts val="200"/>
              </a:spcAft>
              <a:buFont typeface="Arial"/>
              <a:buChar char="•"/>
            </a:pPr>
            <a:r>
              <a:rPr lang="en-US" sz="1400" dirty="0">
                <a:solidFill>
                  <a:srgbClr val="2E2E38"/>
                </a:solidFill>
                <a:latin typeface="Calibri"/>
              </a:rPr>
              <a:t>Hard to name what one is feeling</a:t>
            </a:r>
          </a:p>
          <a:p>
            <a:pPr marL="342900" indent="-228600" lvl="0" algn="l">
              <a:spcAft>
                <a:spcPts val="200"/>
              </a:spcAft>
              <a:buFont typeface="Arial"/>
              <a:buChar char="•"/>
            </a:pPr>
            <a:r>
              <a:rPr lang="en-US" sz="1400" dirty="0">
                <a:solidFill>
                  <a:srgbClr val="2E2E38"/>
                </a:solidFill>
                <a:latin typeface="Calibri"/>
              </a:rPr>
              <a:t>Acting on impulse (little pause before acting)</a:t>
            </a:r>
          </a:p>
          <a:p>
            <a:pPr marL="342900" indent="-228600" lvl="0" algn="l">
              <a:spcAft>
                <a:spcPts val="200"/>
              </a:spcAft>
              <a:buFont typeface="Arial"/>
              <a:buChar char="•"/>
            </a:pPr>
            <a:r>
              <a:rPr lang="en-US" sz="1400" dirty="0">
                <a:solidFill>
                  <a:srgbClr val="2E2E38"/>
                </a:solidFill>
                <a:latin typeface="Calibri"/>
              </a:rPr>
              <a:t>Others respond, which unintentionally reinforces it</a:t>
            </a:r>
          </a:p>
        </p:txBody>
      </p:sp>
      <p:sp>
        <p:nvSpPr>
          <p:cNvPr id="44" name="card"/>
          <p:cNvSpPr/>
          <p:nvPr/>
        </p:nvSpPr>
        <p:spPr>
          <a:xfrm>
            <a:off x="5260000" y="1590000"/>
            <a:ext cx="6372000" cy="470000"/>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Trigger</a:t>
            </a:r>
          </a:p>
        </p:txBody>
      </p:sp>
      <p:sp>
        <p:nvSpPr>
          <p:cNvPr id="45" name="ar"/>
          <p:cNvSpPr/>
          <p:nvPr/>
        </p:nvSpPr>
        <p:spPr>
          <a:xfrm>
            <a:off x="8346000.0" y="2062000"/>
            <a:ext cx="200000" cy="112000"/>
          </a:xfrm>
          <a:prstGeom prst="downArrow">
            <a:avLst/>
          </a:prstGeom>
          <a:solidFill>
            <a:srgbClr val="6E5AA6"/>
          </a:solidFill>
        </p:spPr>
        <p:txBody>
          <a:bodyPr/>
          <a:p/>
        </p:txBody>
      </p:sp>
      <p:sp>
        <p:nvSpPr>
          <p:cNvPr id="46" name="card"/>
          <p:cNvSpPr/>
          <p:nvPr/>
        </p:nvSpPr>
        <p:spPr>
          <a:xfrm>
            <a:off x="5260000" y="2180000"/>
            <a:ext cx="6372000" cy="470000"/>
          </a:xfrm>
          <a:prstGeom prst="roundRect">
            <a:avLst/>
          </a:prstGeom>
          <a:solidFill>
            <a:srgbClr val="FBE3D2"/>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Emotions spike</a:t>
            </a:r>
          </a:p>
        </p:txBody>
      </p:sp>
      <p:sp>
        <p:nvSpPr>
          <p:cNvPr id="47" name="ar"/>
          <p:cNvSpPr/>
          <p:nvPr/>
        </p:nvSpPr>
        <p:spPr>
          <a:xfrm>
            <a:off x="8346000.0" y="2652000"/>
            <a:ext cx="200000" cy="112000"/>
          </a:xfrm>
          <a:prstGeom prst="downArrow">
            <a:avLst/>
          </a:prstGeom>
          <a:solidFill>
            <a:srgbClr val="6E5AA6"/>
          </a:solidFill>
        </p:spPr>
        <p:txBody>
          <a:bodyPr/>
          <a:p/>
        </p:txBody>
      </p:sp>
      <p:sp>
        <p:nvSpPr>
          <p:cNvPr id="48" name="card"/>
          <p:cNvSpPr/>
          <p:nvPr/>
        </p:nvSpPr>
        <p:spPr>
          <a:xfrm>
            <a:off x="5260000" y="2770000"/>
            <a:ext cx="6372000" cy="470000"/>
          </a:xfrm>
          <a:prstGeom prst="roundRect">
            <a:avLst/>
          </a:prstGeom>
          <a:solidFill>
            <a:srgbClr val="D6C7EE"/>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40"/>
              </a:spcAft>
              <a:buNone/>
            </a:pPr>
            <a:r>
              <a:rPr lang="en-US" sz="1300" b="1" dirty="0">
                <a:solidFill>
                  <a:srgbClr val="2E2E38"/>
                </a:solidFill>
                <a:latin typeface="Calibri"/>
              </a:rPr>
              <a:t>Can't think clearly</a:t>
            </a:r>
          </a:p>
          <a:p>
            <a:pPr lvl="0" algn="ctr">
              <a:spcAft>
                <a:spcPts val="0"/>
              </a:spcAft>
              <a:buNone/>
            </a:pPr>
            <a:r>
              <a:rPr lang="en-US" sz="1100" b="1" dirty="0">
                <a:solidFill>
                  <a:srgbClr val="2E2E38"/>
                </a:solidFill>
                <a:latin typeface="Calibri"/>
              </a:rPr>
              <a:t>(mentalizing drops)</a:t>
            </a:r>
          </a:p>
        </p:txBody>
      </p:sp>
      <p:sp>
        <p:nvSpPr>
          <p:cNvPr id="49" name="ar"/>
          <p:cNvSpPr/>
          <p:nvPr/>
        </p:nvSpPr>
        <p:spPr>
          <a:xfrm>
            <a:off x="8346000.0" y="3242000"/>
            <a:ext cx="200000" cy="112000"/>
          </a:xfrm>
          <a:prstGeom prst="downArrow">
            <a:avLst/>
          </a:prstGeom>
          <a:solidFill>
            <a:srgbClr val="6E5AA6"/>
          </a:solidFill>
        </p:spPr>
        <p:txBody>
          <a:bodyPr/>
          <a:p/>
        </p:txBody>
      </p:sp>
      <p:sp>
        <p:nvSpPr>
          <p:cNvPr id="50" name="card"/>
          <p:cNvSpPr/>
          <p:nvPr/>
        </p:nvSpPr>
        <p:spPr>
          <a:xfrm>
            <a:off x="5260000" y="3360000"/>
            <a:ext cx="6372000" cy="470000"/>
          </a:xfrm>
          <a:prstGeom prst="roundRect">
            <a:avLst/>
          </a:prstGeom>
          <a:solidFill>
            <a:srgbClr val="D7E8F4"/>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Urge → self-harm</a:t>
            </a:r>
          </a:p>
        </p:txBody>
      </p:sp>
      <p:sp>
        <p:nvSpPr>
          <p:cNvPr id="51" name="ar"/>
          <p:cNvSpPr/>
          <p:nvPr/>
        </p:nvSpPr>
        <p:spPr>
          <a:xfrm>
            <a:off x="8346000.0" y="3832000"/>
            <a:ext cx="200000" cy="112000"/>
          </a:xfrm>
          <a:prstGeom prst="downArrow">
            <a:avLst/>
          </a:prstGeom>
          <a:solidFill>
            <a:srgbClr val="6E5AA6"/>
          </a:solidFill>
        </p:spPr>
        <p:txBody>
          <a:bodyPr/>
          <a:p/>
        </p:txBody>
      </p:sp>
      <p:sp>
        <p:nvSpPr>
          <p:cNvPr id="52" name="card"/>
          <p:cNvSpPr/>
          <p:nvPr/>
        </p:nvSpPr>
        <p:spPr>
          <a:xfrm>
            <a:off x="5260000" y="3950000"/>
            <a:ext cx="6372000" cy="470000"/>
          </a:xfrm>
          <a:prstGeom prst="roundRect">
            <a:avLst/>
          </a:prstGeom>
          <a:solidFill>
            <a:srgbClr val="D5EFE6"/>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Quick relief</a:t>
            </a:r>
          </a:p>
        </p:txBody>
      </p:sp>
      <p:sp>
        <p:nvSpPr>
          <p:cNvPr id="53" name="ar"/>
          <p:cNvSpPr/>
          <p:nvPr/>
        </p:nvSpPr>
        <p:spPr>
          <a:xfrm>
            <a:off x="8346000.0" y="4422000"/>
            <a:ext cx="200000" cy="112000"/>
          </a:xfrm>
          <a:prstGeom prst="downArrow">
            <a:avLst/>
          </a:prstGeom>
          <a:solidFill>
            <a:srgbClr val="6E5AA6"/>
          </a:solidFill>
        </p:spPr>
        <p:txBody>
          <a:bodyPr/>
          <a:p/>
        </p:txBody>
      </p:sp>
      <p:sp>
        <p:nvSpPr>
          <p:cNvPr id="54" name="card"/>
          <p:cNvSpPr/>
          <p:nvPr/>
        </p:nvSpPr>
        <p:spPr>
          <a:xfrm>
            <a:off x="5260000" y="4540000"/>
            <a:ext cx="6372000" cy="470000"/>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Shame → repeat</a:t>
            </a:r>
          </a:p>
        </p:txBody>
      </p:sp>
      <p:sp>
        <p:nvSpPr>
          <p:cNvPr id="55" name="card"/>
          <p:cNvSpPr/>
          <p:nvPr/>
        </p:nvSpPr>
        <p:spPr>
          <a:xfrm>
            <a:off x="5060000" y="5140000"/>
            <a:ext cx="67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 loop: a trigger raises emotion, thinking clearly gets harder, self-harm gives quick relief, then shame restarts the loop.</a:t>
            </a:r>
          </a:p>
        </p:txBody>
      </p:sp>
      <p:sp>
        <p:nvSpPr>
          <p:cNvPr id="56"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7"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4</a:t>
            </a:r>
          </a:p>
        </p:txBody>
      </p:sp>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9"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RATIONALE</a:t>
            </a:r>
          </a:p>
        </p:txBody>
      </p:sp>
      <p:sp>
        <p:nvSpPr>
          <p:cNvPr id="60"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The Gap This Study Fills</a:t>
            </a:r>
          </a:p>
        </p:txBody>
      </p:sp>
      <p:cxnSp>
        <p:nvCxnSpPr>
          <p:cNvPr id="61" name="ln"/>
          <p:cNvCxnSpPr/>
          <p:nvPr/>
        </p:nvCxnSpPr>
        <p:spPr>
          <a:xfrm>
            <a:off x="560000" y="1320000"/>
            <a:ext cx="11072000" cy="0"/>
          </a:xfrm>
          <a:prstGeom prst="line">
            <a:avLst/>
          </a:prstGeom>
          <a:ln w="28575">
            <a:solidFill>
              <a:srgbClr val="D6C7EE"/>
            </a:solidFill>
          </a:ln>
        </p:spPr>
      </p:cxnSp>
      <p:sp>
        <p:nvSpPr>
          <p:cNvPr id="62" name="card"/>
          <p:cNvSpPr/>
          <p:nvPr/>
        </p:nvSpPr>
        <p:spPr>
          <a:xfrm>
            <a:off x="560000" y="1580000"/>
            <a:ext cx="11072000" cy="4778000"/>
          </a:xfrm>
          <a:prstGeom prst="roundRect">
            <a:avLst/>
          </a:prstGeom>
          <a:solidFill>
            <a:srgbClr val="EEF0F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400" b="1" dirty="0">
                <a:solidFill>
                  <a:srgbClr val="6E5AA6"/>
                </a:solidFill>
                <a:latin typeface="Calibri"/>
              </a:rPr>
              <a:t>Getting the right help</a:t>
            </a:r>
          </a:p>
          <a:p>
            <a:pPr marL="342900" indent="-228600" lvl="0" algn="l">
              <a:spcAft>
                <a:spcPts val="300"/>
              </a:spcAft>
              <a:buFont typeface="Arial"/>
              <a:buChar char="•"/>
            </a:pPr>
            <a:r>
              <a:rPr lang="en-US" sz="1400" dirty="0">
                <a:solidFill>
                  <a:srgbClr val="2E2E38"/>
                </a:solidFill>
                <a:latin typeface="Calibri"/>
              </a:rPr>
              <a:t>Specialist talking therapies are hard to access; people respond differently, and many drop out before finishing.</a:t>
            </a:r>
          </a:p>
          <a:p>
            <a:pPr marL="342900" indent="-228600" lvl="0" algn="l">
              <a:spcAft>
                <a:spcPts val="300"/>
              </a:spcAft>
              <a:buFont typeface="Arial"/>
              <a:buChar char="•"/>
            </a:pPr>
            <a:r>
              <a:rPr lang="en-US" sz="1400" dirty="0">
                <a:solidFill>
                  <a:srgbClr val="2E2E38"/>
                </a:solidFill>
                <a:latin typeface="Calibri"/>
              </a:rPr>
              <a:t>People who struggle most with emotions are often the hardest to keep in treatment.</a:t>
            </a:r>
          </a:p>
          <a:p>
            <a:pPr lvl="0" algn="l">
              <a:spcAft>
                <a:spcPts val="320"/>
              </a:spcAft>
              <a:buNone/>
            </a:pPr>
            <a:r>
              <a:rPr lang="en-US" sz="1400" b="1" dirty="0">
                <a:solidFill>
                  <a:srgbClr val="6E5AA6"/>
                </a:solidFill>
                <a:latin typeface="Calibri"/>
              </a:rPr>
              <a:t>What the research is missing</a:t>
            </a:r>
          </a:p>
          <a:p>
            <a:pPr marL="342900" indent="-228600" lvl="0" algn="l">
              <a:spcAft>
                <a:spcPts val="300"/>
              </a:spcAft>
              <a:buFont typeface="Arial"/>
              <a:buChar char="•"/>
            </a:pPr>
            <a:r>
              <a:rPr lang="en-US" sz="1400" dirty="0">
                <a:solidFill>
                  <a:srgbClr val="2E2E38"/>
                </a:solidFill>
                <a:latin typeface="Calibri"/>
              </a:rPr>
              <a:t>Studies disagree with each other, use different treatment set-ups, and rarely follow people for a long time.</a:t>
            </a:r>
          </a:p>
          <a:p>
            <a:pPr marL="342900" indent="-228600" lvl="0" algn="l">
              <a:spcAft>
                <a:spcPts val="0"/>
              </a:spcAft>
              <a:buFont typeface="Arial"/>
              <a:buChar char="•"/>
            </a:pPr>
            <a:r>
              <a:rPr lang="en-US" sz="1400" dirty="0">
                <a:solidFill>
                  <a:srgbClr val="2E2E38"/>
                </a:solidFill>
                <a:latin typeface="Calibri"/>
              </a:rPr>
              <a:t>There was no single combined answer on self-harm, suicidal behaviour, borderline personality symptoms, and day-to-day functioning - which is the gap this paper fills.</a:t>
            </a:r>
          </a:p>
        </p:txBody>
      </p:sp>
      <p:sp>
        <p:nvSpPr>
          <p:cNvPr id="63"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64"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5</a:t>
            </a:r>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66"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THE MAIN IDEA</a:t>
            </a:r>
          </a:p>
        </p:txBody>
      </p:sp>
      <p:sp>
        <p:nvSpPr>
          <p:cNvPr id="67"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Why Mentalization-Based Therapy (MBT)?</a:t>
            </a:r>
          </a:p>
        </p:txBody>
      </p:sp>
      <p:cxnSp>
        <p:nvCxnSpPr>
          <p:cNvPr id="68" name="ln"/>
          <p:cNvCxnSpPr/>
          <p:nvPr/>
        </p:nvCxnSpPr>
        <p:spPr>
          <a:xfrm>
            <a:off x="560000" y="1320000"/>
            <a:ext cx="11072000" cy="0"/>
          </a:xfrm>
          <a:prstGeom prst="line">
            <a:avLst/>
          </a:prstGeom>
          <a:ln w="28575">
            <a:solidFill>
              <a:srgbClr val="D6C7EE"/>
            </a:solidFill>
          </a:ln>
        </p:spPr>
      </p:cxnSp>
      <p:sp>
        <p:nvSpPr>
          <p:cNvPr id="69" name="card"/>
          <p:cNvSpPr/>
          <p:nvPr/>
        </p:nvSpPr>
        <p:spPr>
          <a:xfrm>
            <a:off x="560000" y="1580000"/>
            <a:ext cx="11072000" cy="800000"/>
          </a:xfrm>
          <a:prstGeom prst="roundRect">
            <a:avLst/>
          </a:prstGeom>
          <a:solidFill>
            <a:srgbClr val="E7E0F7"/>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Mentalizing = </a:t>
            </a:r>
            <a:r>
              <a:rPr lang="en-US" sz="1400" dirty="0">
                <a:solidFill>
                  <a:srgbClr val="2E2E38"/>
                </a:solidFill>
                <a:latin typeface="Calibri"/>
              </a:rPr>
              <a:t>the ability to understand your own and other people's behaviour by thinking about the feelings, thoughts and intentions behind it ('reading minds - your own and others').</a:t>
            </a:r>
          </a:p>
        </p:txBody>
      </p:sp>
      <p:sp>
        <p:nvSpPr>
          <p:cNvPr id="70" name="card"/>
          <p:cNvSpPr/>
          <p:nvPr/>
        </p:nvSpPr>
        <p:spPr>
          <a:xfrm>
            <a:off x="456000" y="2500000"/>
            <a:ext cx="2000000" cy="820000"/>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40"/>
              </a:spcAft>
              <a:buNone/>
            </a:pPr>
            <a:r>
              <a:rPr lang="en-US" sz="1300" b="1" dirty="0">
                <a:solidFill>
                  <a:srgbClr val="2E2E38"/>
                </a:solidFill>
                <a:latin typeface="Calibri"/>
              </a:rPr>
              <a:t>Relationship</a:t>
            </a:r>
          </a:p>
          <a:p>
            <a:pPr lvl="0" algn="ctr">
              <a:spcAft>
                <a:spcPts val="0"/>
              </a:spcAft>
              <a:buNone/>
            </a:pPr>
            <a:r>
              <a:rPr lang="en-US" sz="1300" b="1" dirty="0">
                <a:solidFill>
                  <a:srgbClr val="2E2E38"/>
                </a:solidFill>
                <a:latin typeface="Calibri"/>
              </a:rPr>
              <a:t>stress</a:t>
            </a:r>
          </a:p>
        </p:txBody>
      </p:sp>
      <p:sp>
        <p:nvSpPr>
          <p:cNvPr id="71" name="ar"/>
          <p:cNvSpPr/>
          <p:nvPr/>
        </p:nvSpPr>
        <p:spPr>
          <a:xfrm>
            <a:off x="2496000" y="2820000.0"/>
            <a:ext cx="240000" cy="180000"/>
          </a:xfrm>
          <a:prstGeom prst="rightArrow">
            <a:avLst/>
          </a:prstGeom>
          <a:solidFill>
            <a:srgbClr val="6E5AA6"/>
          </a:solidFill>
        </p:spPr>
        <p:txBody>
          <a:bodyPr/>
          <a:p/>
        </p:txBody>
      </p:sp>
      <p:sp>
        <p:nvSpPr>
          <p:cNvPr id="72" name="card"/>
          <p:cNvSpPr/>
          <p:nvPr/>
        </p:nvSpPr>
        <p:spPr>
          <a:xfrm>
            <a:off x="2776000" y="2500000"/>
            <a:ext cx="2000000" cy="820000"/>
          </a:xfrm>
          <a:prstGeom prst="roundRect">
            <a:avLst/>
          </a:prstGeom>
          <a:solidFill>
            <a:srgbClr val="FBE3D2"/>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40"/>
              </a:spcAft>
              <a:buNone/>
            </a:pPr>
            <a:r>
              <a:rPr lang="en-US" sz="1300" b="1" dirty="0">
                <a:solidFill>
                  <a:srgbClr val="2E2E38"/>
                </a:solidFill>
                <a:latin typeface="Calibri"/>
              </a:rPr>
              <a:t>Can't 'read'</a:t>
            </a:r>
          </a:p>
          <a:p>
            <a:pPr lvl="0" algn="ctr">
              <a:spcAft>
                <a:spcPts val="0"/>
              </a:spcAft>
              <a:buNone/>
            </a:pPr>
            <a:r>
              <a:rPr lang="en-US" sz="1300" b="1" dirty="0">
                <a:solidFill>
                  <a:srgbClr val="2E2E38"/>
                </a:solidFill>
                <a:latin typeface="Calibri"/>
              </a:rPr>
              <a:t>feelings</a:t>
            </a:r>
          </a:p>
        </p:txBody>
      </p:sp>
      <p:sp>
        <p:nvSpPr>
          <p:cNvPr id="73" name="ar"/>
          <p:cNvSpPr/>
          <p:nvPr/>
        </p:nvSpPr>
        <p:spPr>
          <a:xfrm>
            <a:off x="4816000" y="2820000.0"/>
            <a:ext cx="240000" cy="180000"/>
          </a:xfrm>
          <a:prstGeom prst="rightArrow">
            <a:avLst/>
          </a:prstGeom>
          <a:solidFill>
            <a:srgbClr val="6E5AA6"/>
          </a:solidFill>
        </p:spPr>
        <p:txBody>
          <a:bodyPr/>
          <a:p/>
        </p:txBody>
      </p:sp>
      <p:sp>
        <p:nvSpPr>
          <p:cNvPr id="74" name="card"/>
          <p:cNvSpPr/>
          <p:nvPr/>
        </p:nvSpPr>
        <p:spPr>
          <a:xfrm>
            <a:off x="5096000" y="2500000"/>
            <a:ext cx="2000000" cy="820000"/>
          </a:xfrm>
          <a:prstGeom prst="roundRect">
            <a:avLst/>
          </a:prstGeom>
          <a:solidFill>
            <a:srgbClr val="D6C7EE"/>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40"/>
              </a:spcAft>
              <a:buNone/>
            </a:pPr>
            <a:r>
              <a:rPr lang="en-US" sz="1300" b="1" dirty="0">
                <a:solidFill>
                  <a:srgbClr val="2E2E38"/>
                </a:solidFill>
                <a:latin typeface="Calibri"/>
              </a:rPr>
              <a:t>Misreads self</a:t>
            </a:r>
          </a:p>
          <a:p>
            <a:pPr lvl="0" algn="ctr">
              <a:spcAft>
                <a:spcPts val="0"/>
              </a:spcAft>
              <a:buNone/>
            </a:pPr>
            <a:r>
              <a:rPr lang="en-US" sz="1300" b="1" dirty="0">
                <a:solidFill>
                  <a:srgbClr val="2E2E38"/>
                </a:solidFill>
                <a:latin typeface="Calibri"/>
              </a:rPr>
              <a:t>&amp; others</a:t>
            </a:r>
          </a:p>
        </p:txBody>
      </p:sp>
      <p:sp>
        <p:nvSpPr>
          <p:cNvPr id="75" name="ar"/>
          <p:cNvSpPr/>
          <p:nvPr/>
        </p:nvSpPr>
        <p:spPr>
          <a:xfrm>
            <a:off x="7136000" y="2820000.0"/>
            <a:ext cx="240000" cy="180000"/>
          </a:xfrm>
          <a:prstGeom prst="rightArrow">
            <a:avLst/>
          </a:prstGeom>
          <a:solidFill>
            <a:srgbClr val="6E5AA6"/>
          </a:solidFill>
        </p:spPr>
        <p:txBody>
          <a:bodyPr/>
          <a:p/>
        </p:txBody>
      </p:sp>
      <p:sp>
        <p:nvSpPr>
          <p:cNvPr id="76" name="card"/>
          <p:cNvSpPr/>
          <p:nvPr/>
        </p:nvSpPr>
        <p:spPr>
          <a:xfrm>
            <a:off x="7416000" y="2500000"/>
            <a:ext cx="2000000" cy="820000"/>
          </a:xfrm>
          <a:prstGeom prst="roundRect">
            <a:avLst/>
          </a:prstGeom>
          <a:solidFill>
            <a:srgbClr val="D7E8F4"/>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40"/>
              </a:spcAft>
              <a:buNone/>
            </a:pPr>
            <a:r>
              <a:rPr lang="en-US" sz="1300" b="1" dirty="0">
                <a:solidFill>
                  <a:srgbClr val="2E2E38"/>
                </a:solidFill>
                <a:latin typeface="Calibri"/>
              </a:rPr>
              <a:t>Emotions get</a:t>
            </a:r>
          </a:p>
          <a:p>
            <a:pPr lvl="0" algn="ctr">
              <a:spcAft>
                <a:spcPts val="0"/>
              </a:spcAft>
              <a:buNone/>
            </a:pPr>
            <a:r>
              <a:rPr lang="en-US" sz="1300" b="1" dirty="0">
                <a:solidFill>
                  <a:srgbClr val="2E2E38"/>
                </a:solidFill>
                <a:latin typeface="Calibri"/>
              </a:rPr>
              <a:t>out of control</a:t>
            </a:r>
          </a:p>
        </p:txBody>
      </p:sp>
      <p:sp>
        <p:nvSpPr>
          <p:cNvPr id="77" name="ar"/>
          <p:cNvSpPr/>
          <p:nvPr/>
        </p:nvSpPr>
        <p:spPr>
          <a:xfrm>
            <a:off x="9456000" y="2820000.0"/>
            <a:ext cx="240000" cy="180000"/>
          </a:xfrm>
          <a:prstGeom prst="rightArrow">
            <a:avLst/>
          </a:prstGeom>
          <a:solidFill>
            <a:srgbClr val="6E5AA6"/>
          </a:solidFill>
        </p:spPr>
        <p:txBody>
          <a:bodyPr/>
          <a:p/>
        </p:txBody>
      </p:sp>
      <p:sp>
        <p:nvSpPr>
          <p:cNvPr id="78" name="card"/>
          <p:cNvSpPr/>
          <p:nvPr/>
        </p:nvSpPr>
        <p:spPr>
          <a:xfrm>
            <a:off x="9736000" y="2500000"/>
            <a:ext cx="2000000" cy="820000"/>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40"/>
              </a:spcAft>
              <a:buNone/>
            </a:pPr>
            <a:r>
              <a:rPr lang="en-US" sz="1300" b="1" dirty="0">
                <a:solidFill>
                  <a:srgbClr val="2E2E38"/>
                </a:solidFill>
                <a:latin typeface="Calibri"/>
              </a:rPr>
              <a:t>Self-harm</a:t>
            </a:r>
          </a:p>
        </p:txBody>
      </p:sp>
      <p:sp>
        <p:nvSpPr>
          <p:cNvPr id="79" name="card"/>
          <p:cNvSpPr/>
          <p:nvPr/>
        </p:nvSpPr>
        <p:spPr>
          <a:xfrm>
            <a:off x="560000" y="346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Under relationship stress, the ability to 'read' feelings drops, the person misjudges what's happening, emotions overflow, and self-harm follows. MBT works on this weak link.</a:t>
            </a:r>
          </a:p>
        </p:txBody>
      </p:sp>
      <p:sp>
        <p:nvSpPr>
          <p:cNvPr id="80" name="card"/>
          <p:cNvSpPr/>
          <p:nvPr/>
        </p:nvSpPr>
        <p:spPr>
          <a:xfrm>
            <a:off x="560000" y="4120000"/>
            <a:ext cx="11072000" cy="2178000"/>
          </a:xfrm>
          <a:prstGeom prst="roundRect">
            <a:avLst/>
          </a:prstGeom>
          <a:solidFill>
            <a:srgbClr val="D5EFE6"/>
          </a:solidFill>
          <a:ln w="12700">
            <a:solidFill>
              <a:srgbClr val="D9E8D2"/>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MBT helps a person: </a:t>
            </a:r>
            <a:r>
              <a:rPr lang="en-US" sz="1400" dirty="0">
                <a:solidFill>
                  <a:srgbClr val="2E2E38"/>
                </a:solidFill>
                <a:latin typeface="Calibri"/>
              </a:rPr>
              <a:t>understand feelings better, become more aware of emotions, be less sure their negative reading of a situation is correct, calm strong emotions, get on better with others, and act less on impulse.</a:t>
            </a:r>
          </a:p>
        </p:txBody>
      </p:sp>
      <p:sp>
        <p:nvSpPr>
          <p:cNvPr id="81"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82"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6</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84"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BACKGROUND</a:t>
            </a:r>
          </a:p>
        </p:txBody>
      </p:sp>
      <p:sp>
        <p:nvSpPr>
          <p:cNvPr id="85"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Introduction: Three Key Terms</a:t>
            </a:r>
          </a:p>
        </p:txBody>
      </p:sp>
      <p:cxnSp>
        <p:nvCxnSpPr>
          <p:cNvPr id="86" name="ln"/>
          <p:cNvCxnSpPr/>
          <p:nvPr/>
        </p:nvCxnSpPr>
        <p:spPr>
          <a:xfrm>
            <a:off x="560000" y="1320000"/>
            <a:ext cx="11072000" cy="0"/>
          </a:xfrm>
          <a:prstGeom prst="line">
            <a:avLst/>
          </a:prstGeom>
          <a:ln w="28575">
            <a:solidFill>
              <a:srgbClr val="D6C7EE"/>
            </a:solidFill>
          </a:ln>
        </p:spPr>
      </p:cxnSp>
      <p:sp>
        <p:nvSpPr>
          <p:cNvPr id="87" name="card"/>
          <p:cNvSpPr/>
          <p:nvPr/>
        </p:nvSpPr>
        <p:spPr>
          <a:xfrm>
            <a:off x="560000" y="1580000"/>
            <a:ext cx="3517333" cy="465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Self-harm</a:t>
            </a:r>
          </a:p>
          <a:p>
            <a:pPr marL="342900" indent="-228600" lvl="0" algn="l">
              <a:spcAft>
                <a:spcPts val="0"/>
              </a:spcAft>
              <a:buFont typeface="Arial"/>
              <a:buChar char="•"/>
            </a:pPr>
            <a:r>
              <a:rPr lang="en-US" sz="1400" dirty="0">
                <a:solidFill>
                  <a:srgbClr val="2E2E38"/>
                </a:solidFill>
                <a:latin typeface="Calibri"/>
              </a:rPr>
              <a:t>Deliberately hurting or poisoning oneself. Comes in many forms, serves a purpose, and is a strong warning sign for later suicide.</a:t>
            </a:r>
          </a:p>
        </p:txBody>
      </p:sp>
      <p:sp>
        <p:nvSpPr>
          <p:cNvPr id="88" name="card"/>
          <p:cNvSpPr/>
          <p:nvPr/>
        </p:nvSpPr>
        <p:spPr>
          <a:xfrm>
            <a:off x="4337333" y="1580000"/>
            <a:ext cx="3517333" cy="4658000"/>
          </a:xfrm>
          <a:prstGeom prst="roundRect">
            <a:avLst/>
          </a:prstGeom>
          <a:solidFill>
            <a:srgbClr val="E7E0F7"/>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Mentalizing</a:t>
            </a:r>
          </a:p>
          <a:p>
            <a:pPr marL="342900" indent="-228600" lvl="0" algn="l">
              <a:spcAft>
                <a:spcPts val="0"/>
              </a:spcAft>
              <a:buFont typeface="Arial"/>
              <a:buChar char="•"/>
            </a:pPr>
            <a:r>
              <a:rPr lang="en-US" sz="1400" dirty="0">
                <a:solidFill>
                  <a:srgbClr val="2E2E38"/>
                </a:solidFill>
                <a:latin typeface="Calibri"/>
              </a:rPr>
              <a:t>Understanding behaviour through the feelings behind it. It grows in safe relationships and breaks down when emotions run high.</a:t>
            </a:r>
          </a:p>
        </p:txBody>
      </p:sp>
      <p:sp>
        <p:nvSpPr>
          <p:cNvPr id="89" name="card"/>
          <p:cNvSpPr/>
          <p:nvPr/>
        </p:nvSpPr>
        <p:spPr>
          <a:xfrm>
            <a:off x="8114666" y="1580000"/>
            <a:ext cx="3517333" cy="465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MBT</a:t>
            </a:r>
          </a:p>
          <a:p>
            <a:pPr marL="342900" indent="-228600" lvl="0" algn="l">
              <a:spcAft>
                <a:spcPts val="0"/>
              </a:spcAft>
              <a:buFont typeface="Arial"/>
              <a:buChar char="•"/>
            </a:pPr>
            <a:r>
              <a:rPr lang="en-US" sz="1400" dirty="0">
                <a:solidFill>
                  <a:srgbClr val="2E2E38"/>
                </a:solidFill>
                <a:latin typeface="Calibri"/>
              </a:rPr>
              <a:t>A structured talking therapy (Bateman &amp; Fonagy). The therapist stays curious and 'not-knowing' (asks rather than assumes) and focuses on present feelings and relationships.</a:t>
            </a:r>
          </a:p>
        </p:txBody>
      </p:sp>
      <p:sp>
        <p:nvSpPr>
          <p:cNvPr id="90"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91"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7</a:t>
            </a:r>
          </a:p>
        </p:txBody>
      </p:sp>
    </p:spTree>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93"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CONCEPTUAL FRAMEWORK</a:t>
            </a:r>
          </a:p>
        </p:txBody>
      </p:sp>
      <p:sp>
        <p:nvSpPr>
          <p:cNvPr id="94"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The Whole Idea in One Picture</a:t>
            </a:r>
          </a:p>
        </p:txBody>
      </p:sp>
      <p:cxnSp>
        <p:nvCxnSpPr>
          <p:cNvPr id="95" name="ln"/>
          <p:cNvCxnSpPr/>
          <p:nvPr/>
        </p:nvCxnSpPr>
        <p:spPr>
          <a:xfrm>
            <a:off x="560000" y="1320000"/>
            <a:ext cx="11072000" cy="0"/>
          </a:xfrm>
          <a:prstGeom prst="line">
            <a:avLst/>
          </a:prstGeom>
          <a:ln w="28575">
            <a:solidFill>
              <a:srgbClr val="D6C7EE"/>
            </a:solidFill>
          </a:ln>
        </p:spPr>
      </p:cxnSp>
      <p:sp>
        <p:nvSpPr>
          <p:cNvPr id="96" name="card"/>
          <p:cNvSpPr/>
          <p:nvPr/>
        </p:nvSpPr>
        <p:spPr>
          <a:xfrm>
            <a:off x="2060000" y="1520000"/>
            <a:ext cx="8072000" cy="470000"/>
          </a:xfrm>
          <a:prstGeom prst="roundRect">
            <a:avLst/>
          </a:prstGeom>
          <a:solidFill>
            <a:srgbClr val="D6C7EE"/>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dirty="0">
                <a:solidFill>
                  <a:srgbClr val="2E2E38"/>
                </a:solidFill>
                <a:latin typeface="Calibri"/>
              </a:rPr>
              <a:t>Insecure relationships / relationship stress</a:t>
            </a:r>
          </a:p>
        </p:txBody>
      </p:sp>
      <p:sp>
        <p:nvSpPr>
          <p:cNvPr id="97" name="ar"/>
          <p:cNvSpPr/>
          <p:nvPr/>
        </p:nvSpPr>
        <p:spPr>
          <a:xfrm>
            <a:off x="6006000.0" y="1992000"/>
            <a:ext cx="180000" cy="72000"/>
          </a:xfrm>
          <a:prstGeom prst="downArrow">
            <a:avLst/>
          </a:prstGeom>
          <a:solidFill>
            <a:srgbClr val="6E5AA6"/>
          </a:solidFill>
        </p:spPr>
        <p:txBody>
          <a:bodyPr/>
          <a:p/>
        </p:txBody>
      </p:sp>
      <p:sp>
        <p:nvSpPr>
          <p:cNvPr id="98" name="card"/>
          <p:cNvSpPr/>
          <p:nvPr/>
        </p:nvSpPr>
        <p:spPr>
          <a:xfrm>
            <a:off x="2060000" y="2070000"/>
            <a:ext cx="8072000" cy="470000"/>
          </a:xfrm>
          <a:prstGeom prst="roundRect">
            <a:avLst/>
          </a:prstGeom>
          <a:solidFill>
            <a:srgbClr val="FBE3D2"/>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dirty="0">
                <a:solidFill>
                  <a:srgbClr val="2E2E38"/>
                </a:solidFill>
                <a:latin typeface="Calibri"/>
              </a:rPr>
              <a:t>Ability to 'read' feelings drops when emotions rise</a:t>
            </a:r>
          </a:p>
        </p:txBody>
      </p:sp>
      <p:sp>
        <p:nvSpPr>
          <p:cNvPr id="99" name="ar"/>
          <p:cNvSpPr/>
          <p:nvPr/>
        </p:nvSpPr>
        <p:spPr>
          <a:xfrm>
            <a:off x="6006000.0" y="2542000"/>
            <a:ext cx="180000" cy="72000"/>
          </a:xfrm>
          <a:prstGeom prst="downArrow">
            <a:avLst/>
          </a:prstGeom>
          <a:solidFill>
            <a:srgbClr val="6E5AA6"/>
          </a:solidFill>
        </p:spPr>
        <p:txBody>
          <a:bodyPr/>
          <a:p/>
        </p:txBody>
      </p:sp>
      <p:sp>
        <p:nvSpPr>
          <p:cNvPr id="100" name="card"/>
          <p:cNvSpPr/>
          <p:nvPr/>
        </p:nvSpPr>
        <p:spPr>
          <a:xfrm>
            <a:off x="2060000" y="2620000"/>
            <a:ext cx="8072000" cy="470000"/>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dirty="0">
                <a:solidFill>
                  <a:srgbClr val="2E2E38"/>
                </a:solidFill>
                <a:latin typeface="Calibri"/>
              </a:rPr>
              <a:t>Person misreads self and others</a:t>
            </a:r>
          </a:p>
        </p:txBody>
      </p:sp>
      <p:sp>
        <p:nvSpPr>
          <p:cNvPr id="101" name="ar"/>
          <p:cNvSpPr/>
          <p:nvPr/>
        </p:nvSpPr>
        <p:spPr>
          <a:xfrm>
            <a:off x="6006000.0" y="3092000"/>
            <a:ext cx="180000" cy="72000"/>
          </a:xfrm>
          <a:prstGeom prst="downArrow">
            <a:avLst/>
          </a:prstGeom>
          <a:solidFill>
            <a:srgbClr val="6E5AA6"/>
          </a:solidFill>
        </p:spPr>
        <p:txBody>
          <a:bodyPr/>
          <a:p/>
        </p:txBody>
      </p:sp>
      <p:sp>
        <p:nvSpPr>
          <p:cNvPr id="102" name="card"/>
          <p:cNvSpPr/>
          <p:nvPr/>
        </p:nvSpPr>
        <p:spPr>
          <a:xfrm>
            <a:off x="2060000" y="3170000"/>
            <a:ext cx="8072000" cy="470000"/>
          </a:xfrm>
          <a:prstGeom prst="roundRect">
            <a:avLst/>
          </a:prstGeom>
          <a:solidFill>
            <a:srgbClr val="D7E8F4"/>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dirty="0">
                <a:solidFill>
                  <a:srgbClr val="2E2E38"/>
                </a:solidFill>
                <a:latin typeface="Calibri"/>
              </a:rPr>
              <a:t>Emotions get out of control; acts on impulse</a:t>
            </a:r>
          </a:p>
        </p:txBody>
      </p:sp>
      <p:sp>
        <p:nvSpPr>
          <p:cNvPr id="103" name="ar"/>
          <p:cNvSpPr/>
          <p:nvPr/>
        </p:nvSpPr>
        <p:spPr>
          <a:xfrm>
            <a:off x="6006000.0" y="3642000"/>
            <a:ext cx="180000" cy="72000"/>
          </a:xfrm>
          <a:prstGeom prst="downArrow">
            <a:avLst/>
          </a:prstGeom>
          <a:solidFill>
            <a:srgbClr val="6E5AA6"/>
          </a:solidFill>
        </p:spPr>
        <p:txBody>
          <a:bodyPr/>
          <a:p/>
        </p:txBody>
      </p:sp>
      <p:sp>
        <p:nvSpPr>
          <p:cNvPr id="104" name="card"/>
          <p:cNvSpPr/>
          <p:nvPr/>
        </p:nvSpPr>
        <p:spPr>
          <a:xfrm>
            <a:off x="2060000" y="3720000"/>
            <a:ext cx="8072000" cy="470000"/>
          </a:xfrm>
          <a:prstGeom prst="roundRect">
            <a:avLst/>
          </a:prstGeom>
          <a:solidFill>
            <a:srgbClr val="D5EFE6"/>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dirty="0">
                <a:solidFill>
                  <a:srgbClr val="2E2E38"/>
                </a:solidFill>
                <a:latin typeface="Calibri"/>
              </a:rPr>
              <a:t>Self-harm → quick relief</a:t>
            </a:r>
          </a:p>
        </p:txBody>
      </p:sp>
      <p:sp>
        <p:nvSpPr>
          <p:cNvPr id="105" name="ar"/>
          <p:cNvSpPr/>
          <p:nvPr/>
        </p:nvSpPr>
        <p:spPr>
          <a:xfrm>
            <a:off x="6006000.0" y="4192000"/>
            <a:ext cx="180000" cy="72000"/>
          </a:xfrm>
          <a:prstGeom prst="downArrow">
            <a:avLst/>
          </a:prstGeom>
          <a:solidFill>
            <a:srgbClr val="6E5AA6"/>
          </a:solidFill>
        </p:spPr>
        <p:txBody>
          <a:bodyPr/>
          <a:p/>
        </p:txBody>
      </p:sp>
      <p:sp>
        <p:nvSpPr>
          <p:cNvPr id="106" name="card"/>
          <p:cNvSpPr/>
          <p:nvPr/>
        </p:nvSpPr>
        <p:spPr>
          <a:xfrm>
            <a:off x="2060000" y="4270000"/>
            <a:ext cx="8072000" cy="470000"/>
          </a:xfrm>
          <a:prstGeom prst="roundRect">
            <a:avLst/>
          </a:prstGeom>
          <a:solidFill>
            <a:srgbClr val="D9E8D2"/>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MBT strengthens mentalizing, emotion control &amp; understanding others</a:t>
            </a:r>
          </a:p>
        </p:txBody>
      </p:sp>
      <p:sp>
        <p:nvSpPr>
          <p:cNvPr id="107" name="ar"/>
          <p:cNvSpPr/>
          <p:nvPr/>
        </p:nvSpPr>
        <p:spPr>
          <a:xfrm>
            <a:off x="6006000.0" y="4742000"/>
            <a:ext cx="180000" cy="72000"/>
          </a:xfrm>
          <a:prstGeom prst="downArrow">
            <a:avLst/>
          </a:prstGeom>
          <a:solidFill>
            <a:srgbClr val="6E5AA6"/>
          </a:solidFill>
        </p:spPr>
        <p:txBody>
          <a:bodyPr/>
          <a:p/>
        </p:txBody>
      </p:sp>
      <p:sp>
        <p:nvSpPr>
          <p:cNvPr id="108" name="card"/>
          <p:cNvSpPr/>
          <p:nvPr/>
        </p:nvSpPr>
        <p:spPr>
          <a:xfrm>
            <a:off x="2060000" y="4820000"/>
            <a:ext cx="8072000" cy="470000"/>
          </a:xfrm>
          <a:prstGeom prst="roundRect">
            <a:avLst/>
          </a:prstGeom>
          <a:solidFill>
            <a:srgbClr val="E7E0F7"/>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Less self-harm &amp; better day-to-day functioning</a:t>
            </a:r>
          </a:p>
        </p:txBody>
      </p:sp>
      <p:sp>
        <p:nvSpPr>
          <p:cNvPr id="109" name="card"/>
          <p:cNvSpPr/>
          <p:nvPr/>
        </p:nvSpPr>
        <p:spPr>
          <a:xfrm>
            <a:off x="560000" y="5376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Read top to bottom: stress breaks down 'mind-reading', leading to self-harm. The two highlighted boxes show where MBT steps in to break the chain.</a:t>
            </a:r>
          </a:p>
        </p:txBody>
      </p:sp>
      <p:sp>
        <p:nvSpPr>
          <p:cNvPr id="110"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111"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8</a:t>
            </a:r>
          </a:p>
        </p:txBody>
      </p:sp>
    </p:spTree>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13"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REVIEW OF LITERATURE</a:t>
            </a:r>
          </a:p>
        </p:txBody>
      </p:sp>
      <p:sp>
        <p:nvSpPr>
          <p:cNvPr id="114"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Earlier Studies Found</a:t>
            </a:r>
          </a:p>
        </p:txBody>
      </p:sp>
      <p:cxnSp>
        <p:nvCxnSpPr>
          <p:cNvPr id="115" name="ln"/>
          <p:cNvCxnSpPr/>
          <p:nvPr/>
        </p:nvCxnSpPr>
        <p:spPr>
          <a:xfrm>
            <a:off x="560000" y="1320000"/>
            <a:ext cx="11072000" cy="0"/>
          </a:xfrm>
          <a:prstGeom prst="line">
            <a:avLst/>
          </a:prstGeom>
          <a:ln w="28575">
            <a:solidFill>
              <a:srgbClr val="D6C7EE"/>
            </a:solidFill>
          </a:ln>
        </p:spPr>
      </p:cxnSp>
      <p:sp>
        <p:nvSpPr>
          <p:cNvPr id="116" name="r"/>
          <p:cNvSpPr/>
          <p:nvPr/>
        </p:nvSpPr>
        <p:spPr>
          <a:xfrm>
            <a:off x="560000" y="1560000"/>
            <a:ext cx="2500000" cy="60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Study (year)</a:t>
            </a:r>
          </a:p>
        </p:txBody>
      </p:sp>
      <p:sp>
        <p:nvSpPr>
          <p:cNvPr id="117" name="r"/>
          <p:cNvSpPr/>
          <p:nvPr/>
        </p:nvSpPr>
        <p:spPr>
          <a:xfrm>
            <a:off x="3060000" y="1560000"/>
            <a:ext cx="2350000" cy="60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Who / how many</a:t>
            </a:r>
          </a:p>
        </p:txBody>
      </p:sp>
      <p:sp>
        <p:nvSpPr>
          <p:cNvPr id="118" name="r"/>
          <p:cNvSpPr/>
          <p:nvPr/>
        </p:nvSpPr>
        <p:spPr>
          <a:xfrm>
            <a:off x="5410000" y="1560000"/>
            <a:ext cx="2650000" cy="60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Compared</a:t>
            </a:r>
          </a:p>
        </p:txBody>
      </p:sp>
      <p:sp>
        <p:nvSpPr>
          <p:cNvPr id="119" name="r"/>
          <p:cNvSpPr/>
          <p:nvPr/>
        </p:nvSpPr>
        <p:spPr>
          <a:xfrm>
            <a:off x="8060000" y="1560000"/>
            <a:ext cx="3572000" cy="60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Main finding (plain)</a:t>
            </a:r>
          </a:p>
        </p:txBody>
      </p:sp>
      <p:sp>
        <p:nvSpPr>
          <p:cNvPr id="120" name="r"/>
          <p:cNvSpPr/>
          <p:nvPr/>
        </p:nvSpPr>
        <p:spPr>
          <a:xfrm>
            <a:off x="560000" y="2160000"/>
            <a:ext cx="250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Rossouw &amp; Fonagy (2012)</a:t>
            </a:r>
          </a:p>
        </p:txBody>
      </p:sp>
      <p:sp>
        <p:nvSpPr>
          <p:cNvPr id="121" name="r"/>
          <p:cNvSpPr/>
          <p:nvPr/>
        </p:nvSpPr>
        <p:spPr>
          <a:xfrm>
            <a:off x="3060000" y="2160000"/>
            <a:ext cx="235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UK; 80 teenagers</a:t>
            </a:r>
          </a:p>
        </p:txBody>
      </p:sp>
      <p:sp>
        <p:nvSpPr>
          <p:cNvPr id="122" name="r"/>
          <p:cNvSpPr/>
          <p:nvPr/>
        </p:nvSpPr>
        <p:spPr>
          <a:xfrm>
            <a:off x="5410000" y="2160000"/>
            <a:ext cx="265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MBT-A vs usual care</a:t>
            </a:r>
          </a:p>
        </p:txBody>
      </p:sp>
      <p:sp>
        <p:nvSpPr>
          <p:cNvPr id="123" name="r"/>
          <p:cNvSpPr/>
          <p:nvPr/>
        </p:nvSpPr>
        <p:spPr>
          <a:xfrm>
            <a:off x="8060000" y="2160000"/>
            <a:ext cx="3572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MBT helped more - less self-harm &amp; depression; worked by improving mind-reading</a:t>
            </a:r>
          </a:p>
        </p:txBody>
      </p:sp>
      <p:sp>
        <p:nvSpPr>
          <p:cNvPr id="124" name="r"/>
          <p:cNvSpPr/>
          <p:nvPr/>
        </p:nvSpPr>
        <p:spPr>
          <a:xfrm>
            <a:off x="560000" y="2760000"/>
            <a:ext cx="2500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Bateman &amp; Fonagy (2009)</a:t>
            </a:r>
          </a:p>
        </p:txBody>
      </p:sp>
      <p:sp>
        <p:nvSpPr>
          <p:cNvPr id="125" name="r"/>
          <p:cNvSpPr/>
          <p:nvPr/>
        </p:nvSpPr>
        <p:spPr>
          <a:xfrm>
            <a:off x="3060000" y="2760000"/>
            <a:ext cx="2350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UK; adults with BPD</a:t>
            </a:r>
          </a:p>
        </p:txBody>
      </p:sp>
      <p:sp>
        <p:nvSpPr>
          <p:cNvPr id="126" name="r"/>
          <p:cNvSpPr/>
          <p:nvPr/>
        </p:nvSpPr>
        <p:spPr>
          <a:xfrm>
            <a:off x="5410000" y="2760000"/>
            <a:ext cx="2650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MBT vs generic support</a:t>
            </a:r>
          </a:p>
        </p:txBody>
      </p:sp>
      <p:sp>
        <p:nvSpPr>
          <p:cNvPr id="127" name="r"/>
          <p:cNvSpPr/>
          <p:nvPr/>
        </p:nvSpPr>
        <p:spPr>
          <a:xfrm>
            <a:off x="8060000" y="2760000"/>
            <a:ext cx="3572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Fewer suicide attempts &amp; self-harm; symptoms improved</a:t>
            </a:r>
          </a:p>
        </p:txBody>
      </p:sp>
      <p:sp>
        <p:nvSpPr>
          <p:cNvPr id="128" name="r"/>
          <p:cNvSpPr/>
          <p:nvPr/>
        </p:nvSpPr>
        <p:spPr>
          <a:xfrm>
            <a:off x="560000" y="3360000"/>
            <a:ext cx="250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Laurenssen et al. (2018)</a:t>
            </a:r>
          </a:p>
        </p:txBody>
      </p:sp>
      <p:sp>
        <p:nvSpPr>
          <p:cNvPr id="129" name="r"/>
          <p:cNvSpPr/>
          <p:nvPr/>
        </p:nvSpPr>
        <p:spPr>
          <a:xfrm>
            <a:off x="3060000" y="3360000"/>
            <a:ext cx="235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Netherlands; teenagers</a:t>
            </a:r>
          </a:p>
        </p:txBody>
      </p:sp>
      <p:sp>
        <p:nvSpPr>
          <p:cNvPr id="130" name="r"/>
          <p:cNvSpPr/>
          <p:nvPr/>
        </p:nvSpPr>
        <p:spPr>
          <a:xfrm>
            <a:off x="5410000" y="3360000"/>
            <a:ext cx="265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MBT-A vs usual care</a:t>
            </a:r>
          </a:p>
        </p:txBody>
      </p:sp>
      <p:sp>
        <p:nvSpPr>
          <p:cNvPr id="131" name="r"/>
          <p:cNvSpPr/>
          <p:nvPr/>
        </p:nvSpPr>
        <p:spPr>
          <a:xfrm>
            <a:off x="8060000" y="3360000"/>
            <a:ext cx="3572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No clear extra benefit - mixed result</a:t>
            </a:r>
          </a:p>
        </p:txBody>
      </p:sp>
      <p:sp>
        <p:nvSpPr>
          <p:cNvPr id="132" name="r"/>
          <p:cNvSpPr/>
          <p:nvPr/>
        </p:nvSpPr>
        <p:spPr>
          <a:xfrm>
            <a:off x="560000" y="3960000"/>
            <a:ext cx="2500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Beck et al. (2020)</a:t>
            </a:r>
          </a:p>
        </p:txBody>
      </p:sp>
      <p:sp>
        <p:nvSpPr>
          <p:cNvPr id="133" name="r"/>
          <p:cNvSpPr/>
          <p:nvPr/>
        </p:nvSpPr>
        <p:spPr>
          <a:xfrm>
            <a:off x="3060000" y="3960000"/>
            <a:ext cx="2350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Denmark; teenagers, BPD</a:t>
            </a:r>
          </a:p>
        </p:txBody>
      </p:sp>
      <p:sp>
        <p:nvSpPr>
          <p:cNvPr id="134" name="r"/>
          <p:cNvSpPr/>
          <p:nvPr/>
        </p:nvSpPr>
        <p:spPr>
          <a:xfrm>
            <a:off x="5410000" y="3960000"/>
            <a:ext cx="2650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MBT-A vs usual care</a:t>
            </a:r>
          </a:p>
        </p:txBody>
      </p:sp>
      <p:sp>
        <p:nvSpPr>
          <p:cNvPr id="135" name="r"/>
          <p:cNvSpPr/>
          <p:nvPr/>
        </p:nvSpPr>
        <p:spPr>
          <a:xfrm>
            <a:off x="8060000" y="3960000"/>
            <a:ext cx="3572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No significant difference in self-harm</a:t>
            </a:r>
          </a:p>
        </p:txBody>
      </p:sp>
      <p:sp>
        <p:nvSpPr>
          <p:cNvPr id="136" name="r"/>
          <p:cNvSpPr/>
          <p:nvPr/>
        </p:nvSpPr>
        <p:spPr>
          <a:xfrm>
            <a:off x="560000" y="4560000"/>
            <a:ext cx="250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Griffiths et al. (2019)</a:t>
            </a:r>
          </a:p>
        </p:txBody>
      </p:sp>
      <p:sp>
        <p:nvSpPr>
          <p:cNvPr id="137" name="r"/>
          <p:cNvSpPr/>
          <p:nvPr/>
        </p:nvSpPr>
        <p:spPr>
          <a:xfrm>
            <a:off x="3060000" y="4560000"/>
            <a:ext cx="235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UK; group MBT</a:t>
            </a:r>
          </a:p>
        </p:txBody>
      </p:sp>
      <p:sp>
        <p:nvSpPr>
          <p:cNvPr id="138" name="r"/>
          <p:cNvSpPr/>
          <p:nvPr/>
        </p:nvSpPr>
        <p:spPr>
          <a:xfrm>
            <a:off x="5410000" y="4560000"/>
            <a:ext cx="265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Small pilot study</a:t>
            </a:r>
          </a:p>
        </p:txBody>
      </p:sp>
      <p:sp>
        <p:nvSpPr>
          <p:cNvPr id="139" name="r"/>
          <p:cNvSpPr/>
          <p:nvPr/>
        </p:nvSpPr>
        <p:spPr>
          <a:xfrm>
            <a:off x="8060000" y="4560000"/>
            <a:ext cx="3572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Doable &amp; acceptable, but too small to prove it works</a:t>
            </a:r>
          </a:p>
        </p:txBody>
      </p:sp>
      <p:sp>
        <p:nvSpPr>
          <p:cNvPr id="140" name="card"/>
          <p:cNvSpPr/>
          <p:nvPr/>
        </p:nvSpPr>
        <p:spPr>
          <a:xfrm>
            <a:off x="560000" y="518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Early studies were positive, but later ones were mixed or found no clear benefit - which is why one combined answer (this meta-analysis) is needed. (Confirm details against the paper.)</a:t>
            </a:r>
          </a:p>
        </p:txBody>
      </p:sp>
      <p:sp>
        <p:nvSpPr>
          <p:cNvPr id="141"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142"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9</a:t>
            </a:r>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44"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COMPARISON OF SAMPLE SIZE</a:t>
            </a:r>
          </a:p>
        </p:txBody>
      </p:sp>
      <p:sp>
        <p:nvSpPr>
          <p:cNvPr id="145"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Big Were the Studies?</a:t>
            </a:r>
          </a:p>
        </p:txBody>
      </p:sp>
      <p:cxnSp>
        <p:nvCxnSpPr>
          <p:cNvPr id="146" name="ln"/>
          <p:cNvCxnSpPr/>
          <p:nvPr/>
        </p:nvCxnSpPr>
        <p:spPr>
          <a:xfrm>
            <a:off x="560000" y="1320000"/>
            <a:ext cx="11072000" cy="0"/>
          </a:xfrm>
          <a:prstGeom prst="line">
            <a:avLst/>
          </a:prstGeom>
          <a:ln w="28575">
            <a:solidFill>
              <a:srgbClr val="D6C7EE"/>
            </a:solidFill>
          </a:ln>
        </p:spPr>
      </p:cxnSp>
      <p:sp>
        <p:nvSpPr>
          <p:cNvPr id="147" name="tb"/>
          <p:cNvSpPr txBox="1"/>
          <p:nvPr/>
        </p:nvSpPr>
        <p:spPr>
          <a:xfrm>
            <a:off x="660000" y="1630000"/>
            <a:ext cx="2050000" cy="58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Rossouw &amp; Fonagy 2012</a:t>
            </a:r>
          </a:p>
        </p:txBody>
      </p:sp>
      <p:sp>
        <p:nvSpPr>
          <p:cNvPr id="148" name="r"/>
          <p:cNvSpPr/>
          <p:nvPr/>
        </p:nvSpPr>
        <p:spPr>
          <a:xfrm>
            <a:off x="2760000" y="1660000"/>
            <a:ext cx="7872000" cy="52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149" name="card"/>
          <p:cNvSpPr/>
          <p:nvPr/>
        </p:nvSpPr>
        <p:spPr>
          <a:xfrm>
            <a:off x="2760000" y="1660000"/>
            <a:ext cx="4498285" cy="520000"/>
          </a:xfrm>
          <a:prstGeom prst="roundRect">
            <a:avLst>
              <a:gd name="adj" fmla="val 8000"/>
            </a:avLst>
          </a:prstGeom>
          <a:solidFill>
            <a:srgbClr val="F7D9E0"/>
          </a:solidFill>
        </p:spPr>
        <p:txBody>
          <a:bodyPr wrap="square" anchor="ctr" lIns="91440" tIns="45720" rIns="91440" bIns="45720">
            <a:normAutofit/>
          </a:bodyPr>
          <a:p>
            <a:pPr>
              <a:buNone/>
            </a:pPr>
          </a:p>
        </p:txBody>
      </p:sp>
      <p:sp>
        <p:nvSpPr>
          <p:cNvPr id="150" name="tb"/>
          <p:cNvSpPr txBox="1"/>
          <p:nvPr/>
        </p:nvSpPr>
        <p:spPr>
          <a:xfrm>
            <a:off x="7298285" y="1630000"/>
            <a:ext cx="900000" cy="58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80 people</a:t>
            </a:r>
          </a:p>
        </p:txBody>
      </p:sp>
      <p:sp>
        <p:nvSpPr>
          <p:cNvPr id="151" name="tb"/>
          <p:cNvSpPr txBox="1"/>
          <p:nvPr/>
        </p:nvSpPr>
        <p:spPr>
          <a:xfrm>
            <a:off x="660000" y="2380000"/>
            <a:ext cx="2050000" cy="58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Bateman &amp; Fonagy 2009</a:t>
            </a:r>
          </a:p>
        </p:txBody>
      </p:sp>
      <p:sp>
        <p:nvSpPr>
          <p:cNvPr id="152" name="r"/>
          <p:cNvSpPr/>
          <p:nvPr/>
        </p:nvSpPr>
        <p:spPr>
          <a:xfrm>
            <a:off x="2760000" y="2410000"/>
            <a:ext cx="7872000" cy="52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153" name="card"/>
          <p:cNvSpPr/>
          <p:nvPr/>
        </p:nvSpPr>
        <p:spPr>
          <a:xfrm>
            <a:off x="2760000" y="2410000"/>
            <a:ext cx="7534628" cy="520000"/>
          </a:xfrm>
          <a:prstGeom prst="roundRect">
            <a:avLst>
              <a:gd name="adj" fmla="val 8000"/>
            </a:avLst>
          </a:prstGeom>
          <a:solidFill>
            <a:srgbClr val="FBE3D2"/>
          </a:solidFill>
        </p:spPr>
        <p:txBody>
          <a:bodyPr wrap="square" anchor="ctr" lIns="91440" tIns="45720" rIns="91440" bIns="45720">
            <a:normAutofit/>
          </a:bodyPr>
          <a:p>
            <a:pPr>
              <a:buNone/>
            </a:pPr>
          </a:p>
        </p:txBody>
      </p:sp>
      <p:sp>
        <p:nvSpPr>
          <p:cNvPr id="154" name="tb"/>
          <p:cNvSpPr txBox="1"/>
          <p:nvPr/>
        </p:nvSpPr>
        <p:spPr>
          <a:xfrm>
            <a:off x="10334628" y="2380000"/>
            <a:ext cx="900000" cy="58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134 people</a:t>
            </a:r>
          </a:p>
        </p:txBody>
      </p:sp>
      <p:sp>
        <p:nvSpPr>
          <p:cNvPr id="155" name="tb"/>
          <p:cNvSpPr txBox="1"/>
          <p:nvPr/>
        </p:nvSpPr>
        <p:spPr>
          <a:xfrm>
            <a:off x="660000" y="3130000"/>
            <a:ext cx="2050000" cy="58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Laurenssen 2018</a:t>
            </a:r>
          </a:p>
        </p:txBody>
      </p:sp>
      <p:sp>
        <p:nvSpPr>
          <p:cNvPr id="156" name="r"/>
          <p:cNvSpPr/>
          <p:nvPr/>
        </p:nvSpPr>
        <p:spPr>
          <a:xfrm>
            <a:off x="2760000" y="3160000"/>
            <a:ext cx="7872000" cy="52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157" name="card"/>
          <p:cNvSpPr/>
          <p:nvPr/>
        </p:nvSpPr>
        <p:spPr>
          <a:xfrm>
            <a:off x="2760000" y="3160000"/>
            <a:ext cx="6128914" cy="520000"/>
          </a:xfrm>
          <a:prstGeom prst="roundRect">
            <a:avLst>
              <a:gd name="adj" fmla="val 8000"/>
            </a:avLst>
          </a:prstGeom>
          <a:solidFill>
            <a:srgbClr val="D6C7EE"/>
          </a:solidFill>
        </p:spPr>
        <p:txBody>
          <a:bodyPr wrap="square" anchor="ctr" lIns="91440" tIns="45720" rIns="91440" bIns="45720">
            <a:normAutofit/>
          </a:bodyPr>
          <a:p>
            <a:pPr>
              <a:buNone/>
            </a:pPr>
          </a:p>
        </p:txBody>
      </p:sp>
      <p:sp>
        <p:nvSpPr>
          <p:cNvPr id="158" name="tb"/>
          <p:cNvSpPr txBox="1"/>
          <p:nvPr/>
        </p:nvSpPr>
        <p:spPr>
          <a:xfrm>
            <a:off x="8928914" y="3130000"/>
            <a:ext cx="900000" cy="58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109 people</a:t>
            </a:r>
          </a:p>
        </p:txBody>
      </p:sp>
      <p:sp>
        <p:nvSpPr>
          <p:cNvPr id="159" name="tb"/>
          <p:cNvSpPr txBox="1"/>
          <p:nvPr/>
        </p:nvSpPr>
        <p:spPr>
          <a:xfrm>
            <a:off x="660000" y="3880000"/>
            <a:ext cx="2050000" cy="58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Beck 2020</a:t>
            </a:r>
          </a:p>
        </p:txBody>
      </p:sp>
      <p:sp>
        <p:nvSpPr>
          <p:cNvPr id="160" name="r"/>
          <p:cNvSpPr/>
          <p:nvPr/>
        </p:nvSpPr>
        <p:spPr>
          <a:xfrm>
            <a:off x="2760000" y="3910000"/>
            <a:ext cx="7872000" cy="52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161" name="card"/>
          <p:cNvSpPr/>
          <p:nvPr/>
        </p:nvSpPr>
        <p:spPr>
          <a:xfrm>
            <a:off x="2760000" y="3910000"/>
            <a:ext cx="6241371" cy="520000"/>
          </a:xfrm>
          <a:prstGeom prst="roundRect">
            <a:avLst>
              <a:gd name="adj" fmla="val 8000"/>
            </a:avLst>
          </a:prstGeom>
          <a:solidFill>
            <a:srgbClr val="D7E8F4"/>
          </a:solidFill>
        </p:spPr>
        <p:txBody>
          <a:bodyPr wrap="square" anchor="ctr" lIns="91440" tIns="45720" rIns="91440" bIns="45720">
            <a:normAutofit/>
          </a:bodyPr>
          <a:p>
            <a:pPr>
              <a:buNone/>
            </a:pPr>
          </a:p>
        </p:txBody>
      </p:sp>
      <p:sp>
        <p:nvSpPr>
          <p:cNvPr id="162" name="tb"/>
          <p:cNvSpPr txBox="1"/>
          <p:nvPr/>
        </p:nvSpPr>
        <p:spPr>
          <a:xfrm>
            <a:off x="9041371" y="3880000"/>
            <a:ext cx="900000" cy="58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111 people</a:t>
            </a:r>
          </a:p>
        </p:txBody>
      </p:sp>
      <p:sp>
        <p:nvSpPr>
          <p:cNvPr id="163" name="tb"/>
          <p:cNvSpPr txBox="1"/>
          <p:nvPr/>
        </p:nvSpPr>
        <p:spPr>
          <a:xfrm>
            <a:off x="660000" y="4630000"/>
            <a:ext cx="2050000" cy="58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Griffiths 2019 (pilot)</a:t>
            </a:r>
          </a:p>
        </p:txBody>
      </p:sp>
      <p:sp>
        <p:nvSpPr>
          <p:cNvPr id="164" name="r"/>
          <p:cNvSpPr/>
          <p:nvPr/>
        </p:nvSpPr>
        <p:spPr>
          <a:xfrm>
            <a:off x="2760000" y="4660000"/>
            <a:ext cx="7872000" cy="52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165" name="card"/>
          <p:cNvSpPr/>
          <p:nvPr/>
        </p:nvSpPr>
        <p:spPr>
          <a:xfrm>
            <a:off x="2760000" y="4660000"/>
            <a:ext cx="2980114" cy="520000"/>
          </a:xfrm>
          <a:prstGeom prst="roundRect">
            <a:avLst>
              <a:gd name="adj" fmla="val 8000"/>
            </a:avLst>
          </a:prstGeom>
          <a:solidFill>
            <a:srgbClr val="D9E8D2"/>
          </a:solidFill>
        </p:spPr>
        <p:txBody>
          <a:bodyPr wrap="square" anchor="ctr" lIns="91440" tIns="45720" rIns="91440" bIns="45720">
            <a:normAutofit/>
          </a:bodyPr>
          <a:p>
            <a:pPr>
              <a:buNone/>
            </a:pPr>
          </a:p>
        </p:txBody>
      </p:sp>
      <p:sp>
        <p:nvSpPr>
          <p:cNvPr id="166" name="tb"/>
          <p:cNvSpPr txBox="1"/>
          <p:nvPr/>
        </p:nvSpPr>
        <p:spPr>
          <a:xfrm>
            <a:off x="5780114" y="4630000"/>
            <a:ext cx="900000" cy="58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53 people</a:t>
            </a:r>
          </a:p>
        </p:txBody>
      </p:sp>
      <p:sp>
        <p:nvSpPr>
          <p:cNvPr id="167" name="card"/>
          <p:cNvSpPr/>
          <p:nvPr/>
        </p:nvSpPr>
        <p:spPr>
          <a:xfrm>
            <a:off x="560000" y="542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Every study was small (under 150 people). Small studies give a less reliable answer, so even the combined result carries a wide margin of uncertainty. (Numbers from trial reports - confirm with the paper.)</a:t>
            </a:r>
          </a:p>
        </p:txBody>
      </p:sp>
      <p:sp>
        <p:nvSpPr>
          <p:cNvPr id="168"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169"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10</a:t>
            </a:r>
          </a:p>
        </p:txBody>
      </p:sp>
    </p:spTree>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71"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RESEARCH GAP</a:t>
            </a:r>
          </a:p>
        </p:txBody>
      </p:sp>
      <p:sp>
        <p:nvSpPr>
          <p:cNvPr id="172"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Was Still Unknown</a:t>
            </a:r>
          </a:p>
        </p:txBody>
      </p:sp>
      <p:cxnSp>
        <p:nvCxnSpPr>
          <p:cNvPr id="173" name="ln"/>
          <p:cNvCxnSpPr/>
          <p:nvPr/>
        </p:nvCxnSpPr>
        <p:spPr>
          <a:xfrm>
            <a:off x="560000" y="1320000"/>
            <a:ext cx="11072000" cy="0"/>
          </a:xfrm>
          <a:prstGeom prst="line">
            <a:avLst/>
          </a:prstGeom>
          <a:ln w="28575">
            <a:solidFill>
              <a:srgbClr val="D6C7EE"/>
            </a:solidFill>
          </a:ln>
        </p:spPr>
      </p:cxnSp>
      <p:sp>
        <p:nvSpPr>
          <p:cNvPr id="174" name="card"/>
          <p:cNvSpPr/>
          <p:nvPr/>
        </p:nvSpPr>
        <p:spPr>
          <a:xfrm>
            <a:off x="560000" y="1580000"/>
            <a:ext cx="11072000" cy="4778000"/>
          </a:xfrm>
          <a:prstGeom prst="roundRect">
            <a:avLst/>
          </a:prstGeom>
          <a:solidFill>
            <a:srgbClr val="EEF0F2"/>
          </a:solidFill>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280"/>
              </a:spcAft>
              <a:buFont typeface="Arial"/>
              <a:buChar char="•"/>
            </a:pPr>
            <a:r>
              <a:rPr lang="en-US" sz="1400" dirty="0">
                <a:solidFill>
                  <a:srgbClr val="2E2E38"/>
                </a:solidFill>
                <a:latin typeface="Calibri"/>
              </a:rPr>
              <a:t>Very few large, high-quality trials - most studies were small.</a:t>
            </a:r>
          </a:p>
          <a:p>
            <a:pPr marL="342900" indent="-228600" lvl="0" algn="l">
              <a:spcAft>
                <a:spcPts val="280"/>
              </a:spcAft>
              <a:buFont typeface="Arial"/>
              <a:buChar char="•"/>
            </a:pPr>
            <a:r>
              <a:rPr lang="en-US" sz="1400" dirty="0">
                <a:solidFill>
                  <a:srgbClr val="2E2E38"/>
                </a:solidFill>
                <a:latin typeface="Calibri"/>
              </a:rPr>
              <a:t>Studies defined self-harm differently and measured outcomes with different tools.</a:t>
            </a:r>
          </a:p>
          <a:p>
            <a:pPr marL="342900" indent="-228600" lvl="0" algn="l">
              <a:spcAft>
                <a:spcPts val="280"/>
              </a:spcAft>
              <a:buFont typeface="Arial"/>
              <a:buChar char="•"/>
            </a:pPr>
            <a:r>
              <a:rPr lang="en-US" sz="1400" dirty="0">
                <a:solidFill>
                  <a:srgbClr val="2E2E38"/>
                </a:solidFill>
                <a:latin typeface="Calibri"/>
              </a:rPr>
              <a:t>The therapy was delivered in different ways (one-to-one, group, teen version) and for different lengths of time.</a:t>
            </a:r>
          </a:p>
          <a:p>
            <a:pPr marL="342900" indent="-228600" lvl="0" algn="l">
              <a:spcAft>
                <a:spcPts val="280"/>
              </a:spcAft>
              <a:buFont typeface="Arial"/>
              <a:buChar char="•"/>
            </a:pPr>
            <a:r>
              <a:rPr lang="en-US" sz="1400" dirty="0">
                <a:solidFill>
                  <a:srgbClr val="2E2E38"/>
                </a:solidFill>
                <a:latin typeface="Calibri"/>
              </a:rPr>
              <a:t>The comparison groups differed (usual care, structured support, or a waiting list).</a:t>
            </a:r>
          </a:p>
          <a:p>
            <a:pPr marL="342900" indent="-228600" lvl="0" algn="l">
              <a:spcAft>
                <a:spcPts val="280"/>
              </a:spcAft>
              <a:buFont typeface="Arial"/>
              <a:buChar char="•"/>
            </a:pPr>
            <a:r>
              <a:rPr lang="en-US" sz="1400" dirty="0">
                <a:solidFill>
                  <a:srgbClr val="2E2E38"/>
                </a:solidFill>
                <a:latin typeface="Calibri"/>
              </a:rPr>
              <a:t>People were rarely followed for long, and adherence (whether the therapy was delivered as intended) was poorly reported.</a:t>
            </a:r>
          </a:p>
          <a:p>
            <a:pPr marL="342900" indent="-228600" lvl="0" algn="l">
              <a:spcAft>
                <a:spcPts val="0"/>
              </a:spcAft>
              <a:buFont typeface="Arial"/>
              <a:buChar char="•"/>
            </a:pPr>
            <a:r>
              <a:rPr lang="en-US" sz="1400" dirty="0">
                <a:solidFill>
                  <a:srgbClr val="2E2E38"/>
                </a:solidFill>
                <a:latin typeface="Calibri"/>
              </a:rPr>
              <a:t>Almost no evidence from non-Western or low-resource settings; little direct comparison with other proven therapies (like DBT or CBT).</a:t>
            </a:r>
          </a:p>
        </p:txBody>
      </p:sp>
      <p:sp>
        <p:nvSpPr>
          <p:cNvPr id="175"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176"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11</a:t>
            </a:r>
          </a:p>
        </p:txBody>
      </p:sp>
    </p:spTree>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78"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RATIONALE</a:t>
            </a:r>
          </a:p>
        </p:txBody>
      </p:sp>
      <p:sp>
        <p:nvSpPr>
          <p:cNvPr id="179"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Why the Review Was Done</a:t>
            </a:r>
          </a:p>
        </p:txBody>
      </p:sp>
      <p:cxnSp>
        <p:nvCxnSpPr>
          <p:cNvPr id="180" name="ln"/>
          <p:cNvCxnSpPr/>
          <p:nvPr/>
        </p:nvCxnSpPr>
        <p:spPr>
          <a:xfrm>
            <a:off x="560000" y="1320000"/>
            <a:ext cx="11072000" cy="0"/>
          </a:xfrm>
          <a:prstGeom prst="line">
            <a:avLst/>
          </a:prstGeom>
          <a:ln w="28575">
            <a:solidFill>
              <a:srgbClr val="D6C7EE"/>
            </a:solidFill>
          </a:ln>
        </p:spPr>
      </p:cxnSp>
      <p:sp>
        <p:nvSpPr>
          <p:cNvPr id="181" name="card"/>
          <p:cNvSpPr/>
          <p:nvPr/>
        </p:nvSpPr>
        <p:spPr>
          <a:xfrm>
            <a:off x="560000" y="1580000"/>
            <a:ext cx="11072000" cy="477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320"/>
              </a:spcAft>
              <a:buFont typeface="Arial"/>
              <a:buChar char="•"/>
            </a:pPr>
            <a:r>
              <a:rPr lang="en-US" sz="1400" dirty="0">
                <a:solidFill>
                  <a:srgbClr val="2E2E38"/>
                </a:solidFill>
                <a:latin typeface="Calibri"/>
              </a:rPr>
              <a:t>Bring together all the scattered evidence into one overall answer.</a:t>
            </a:r>
          </a:p>
          <a:p>
            <a:pPr marL="342900" indent="-228600" lvl="0" algn="l">
              <a:spcAft>
                <a:spcPts val="320"/>
              </a:spcAft>
              <a:buFont typeface="Arial"/>
              <a:buChar char="•"/>
            </a:pPr>
            <a:r>
              <a:rPr lang="en-US" sz="1400" dirty="0">
                <a:solidFill>
                  <a:srgbClr val="2E2E38"/>
                </a:solidFill>
                <a:latin typeface="Calibri"/>
              </a:rPr>
              <a:t>Measure how much MBT helps with self-harm and related problems (borderline personality symptoms, depression).</a:t>
            </a:r>
          </a:p>
          <a:p>
            <a:pPr marL="342900" indent="-228600" lvl="0" algn="l">
              <a:spcAft>
                <a:spcPts val="320"/>
              </a:spcAft>
              <a:buFont typeface="Arial"/>
              <a:buChar char="•"/>
            </a:pPr>
            <a:r>
              <a:rPr lang="en-US" sz="1400" dirty="0">
                <a:solidFill>
                  <a:srgbClr val="2E2E38"/>
                </a:solidFill>
                <a:latin typeface="Calibri"/>
              </a:rPr>
              <a:t>Check whether the studies agree with each other, and why they might differ.</a:t>
            </a:r>
          </a:p>
          <a:p>
            <a:pPr marL="342900" indent="-228600" lvl="0" algn="l">
              <a:spcAft>
                <a:spcPts val="320"/>
              </a:spcAft>
              <a:buFont typeface="Arial"/>
              <a:buChar char="•"/>
            </a:pPr>
            <a:r>
              <a:rPr lang="en-US" sz="1400" dirty="0">
                <a:solidFill>
                  <a:srgbClr val="2E2E38"/>
                </a:solidFill>
                <a:latin typeface="Calibri"/>
              </a:rPr>
              <a:t>Help clinicians decide when and for whom to use MBT.</a:t>
            </a:r>
          </a:p>
          <a:p>
            <a:pPr marL="342900" indent="-228600" lvl="0" algn="l">
              <a:spcAft>
                <a:spcPts val="0"/>
              </a:spcAft>
              <a:buFont typeface="Arial"/>
              <a:buChar char="•"/>
            </a:pPr>
            <a:r>
              <a:rPr lang="en-US" sz="1400" dirty="0">
                <a:solidFill>
                  <a:srgbClr val="2E2E38"/>
                </a:solidFill>
                <a:latin typeface="Calibri"/>
              </a:rPr>
              <a:t>Point out what better future studies should do.</a:t>
            </a:r>
          </a:p>
        </p:txBody>
      </p:sp>
      <p:sp>
        <p:nvSpPr>
          <p:cNvPr id="182"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183"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12</a:t>
            </a:r>
          </a:p>
        </p:txBody>
      </p:sp>
    </p:spTree>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85"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OBJECTIVES</a:t>
            </a:r>
          </a:p>
        </p:txBody>
      </p:sp>
      <p:sp>
        <p:nvSpPr>
          <p:cNvPr id="186"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Aim, Question &amp; What They Expected</a:t>
            </a:r>
          </a:p>
        </p:txBody>
      </p:sp>
      <p:cxnSp>
        <p:nvCxnSpPr>
          <p:cNvPr id="187" name="ln"/>
          <p:cNvCxnSpPr/>
          <p:nvPr/>
        </p:nvCxnSpPr>
        <p:spPr>
          <a:xfrm>
            <a:off x="560000" y="1320000"/>
            <a:ext cx="11072000" cy="0"/>
          </a:xfrm>
          <a:prstGeom prst="line">
            <a:avLst/>
          </a:prstGeom>
          <a:ln w="28575">
            <a:solidFill>
              <a:srgbClr val="D6C7EE"/>
            </a:solidFill>
          </a:ln>
        </p:spPr>
      </p:cxnSp>
      <p:sp>
        <p:nvSpPr>
          <p:cNvPr id="188" name="card"/>
          <p:cNvSpPr/>
          <p:nvPr/>
        </p:nvSpPr>
        <p:spPr>
          <a:xfrm>
            <a:off x="560000" y="1580000"/>
            <a:ext cx="11072000" cy="1432666"/>
          </a:xfrm>
          <a:prstGeom prst="roundRect">
            <a:avLst/>
          </a:prstGeom>
          <a:solidFill>
            <a:srgbClr val="E7E0F7"/>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Aim:  </a:t>
            </a:r>
            <a:r>
              <a:rPr lang="en-US" sz="1400" dirty="0">
                <a:solidFill>
                  <a:srgbClr val="2E2E38"/>
                </a:solidFill>
                <a:latin typeface="Calibri"/>
              </a:rPr>
              <a:t>to gather and combine the evidence on whether MBT reduces self-harm and improves related problems.</a:t>
            </a:r>
          </a:p>
        </p:txBody>
      </p:sp>
      <p:sp>
        <p:nvSpPr>
          <p:cNvPr id="189" name="card"/>
          <p:cNvSpPr/>
          <p:nvPr/>
        </p:nvSpPr>
        <p:spPr>
          <a:xfrm>
            <a:off x="560000" y="3192666"/>
            <a:ext cx="11072000" cy="1432666"/>
          </a:xfrm>
          <a:prstGeom prst="roundRect">
            <a:avLst/>
          </a:prstGeom>
          <a:solidFill>
            <a:srgbClr val="D7E8F4"/>
          </a:solidFill>
          <a:ln w="12700">
            <a:solidFill>
              <a:srgbClr val="3E7CB1"/>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Question:  </a:t>
            </a:r>
            <a:r>
              <a:rPr lang="en-US" sz="1400" dirty="0">
                <a:solidFill>
                  <a:srgbClr val="2E2E38"/>
                </a:solidFill>
                <a:latin typeface="Calibri"/>
              </a:rPr>
              <a:t>Does MBT reduce self-harm (and related problems) more than usual care or other comparison conditions?</a:t>
            </a:r>
          </a:p>
        </p:txBody>
      </p:sp>
      <p:sp>
        <p:nvSpPr>
          <p:cNvPr id="190" name="card"/>
          <p:cNvSpPr/>
          <p:nvPr/>
        </p:nvSpPr>
        <p:spPr>
          <a:xfrm>
            <a:off x="560000" y="4805332"/>
            <a:ext cx="11072000" cy="1432666"/>
          </a:xfrm>
          <a:prstGeom prst="roundRect">
            <a:avLst/>
          </a:prstGeom>
          <a:solidFill>
            <a:srgbClr val="D5EFE6"/>
          </a:solidFill>
          <a:ln w="12700">
            <a:solidFill>
              <a:srgbClr val="D9E8D2"/>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What they expected:  </a:t>
            </a:r>
            <a:r>
              <a:rPr lang="en-US" sz="1400" dirty="0">
                <a:solidFill>
                  <a:srgbClr val="2E2E38"/>
                </a:solidFill>
                <a:latin typeface="Calibri"/>
              </a:rPr>
              <a:t>MBT would lower self-harm and related symptoms compared with the control group. (A review like this uses set questions rather than a formal experimental hypothesis.)</a:t>
            </a:r>
          </a:p>
        </p:txBody>
      </p:sp>
      <p:sp>
        <p:nvSpPr>
          <p:cNvPr id="191"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192"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13</a:t>
            </a:r>
          </a:p>
        </p:txBody>
      </p:sp>
    </p:spTree>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94"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A SIMPLE FRAMEWORK</a:t>
            </a:r>
          </a:p>
        </p:txBody>
      </p:sp>
      <p:sp>
        <p:nvSpPr>
          <p:cNvPr id="195"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The Question in PICO Form</a:t>
            </a:r>
          </a:p>
        </p:txBody>
      </p:sp>
      <p:cxnSp>
        <p:nvCxnSpPr>
          <p:cNvPr id="196" name="ln"/>
          <p:cNvCxnSpPr/>
          <p:nvPr/>
        </p:nvCxnSpPr>
        <p:spPr>
          <a:xfrm>
            <a:off x="560000" y="1320000"/>
            <a:ext cx="11072000" cy="0"/>
          </a:xfrm>
          <a:prstGeom prst="line">
            <a:avLst/>
          </a:prstGeom>
          <a:ln w="28575">
            <a:solidFill>
              <a:srgbClr val="D6C7EE"/>
            </a:solidFill>
          </a:ln>
        </p:spPr>
      </p:cxnSp>
      <p:sp>
        <p:nvSpPr>
          <p:cNvPr id="197" name="tb"/>
          <p:cNvSpPr txBox="1"/>
          <p:nvPr/>
        </p:nvSpPr>
        <p:spPr>
          <a:xfrm>
            <a:off x="560000" y="1580000"/>
            <a:ext cx="11072000" cy="360000"/>
          </a:xfrm>
          <a:prstGeom prst="rect">
            <a:avLst/>
          </a:prstGeom>
          <a:noFill/>
        </p:spPr>
        <p:txBody>
          <a:bodyPr wrap="square" anchor="t" lIns="45720" tIns="27432" rIns="45720" bIns="27432">
            <a:normAutofit/>
          </a:bodyPr>
          <a:p>
            <a:pPr lvl="0" algn="l">
              <a:spcAft>
                <a:spcPts val="0"/>
              </a:spcAft>
              <a:buNone/>
            </a:pPr>
            <a:r>
              <a:rPr lang="en-US" sz="1250" i="1" dirty="0">
                <a:solidFill>
                  <a:srgbClr val="6B6B75"/>
                </a:solidFill>
                <a:latin typeface="Calibri"/>
              </a:rPr>
              <a:t>PICO = a standard way to frame a clinical question: Population, Intervention, Comparison, Outcomes.</a:t>
            </a:r>
          </a:p>
        </p:txBody>
      </p:sp>
      <p:sp>
        <p:nvSpPr>
          <p:cNvPr id="198" name="card"/>
          <p:cNvSpPr/>
          <p:nvPr/>
        </p:nvSpPr>
        <p:spPr>
          <a:xfrm>
            <a:off x="560000" y="1960000"/>
            <a:ext cx="2603000" cy="4278000"/>
          </a:xfrm>
          <a:prstGeom prst="roundRect">
            <a:avLst/>
          </a:prstGeom>
          <a:solidFill>
            <a:srgbClr val="F7D9E0"/>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40"/>
              </a:spcAft>
              <a:buNone/>
            </a:pPr>
            <a:r>
              <a:rPr lang="en-US" sz="1400" b="1" dirty="0">
                <a:solidFill>
                  <a:srgbClr val="6E5AA6"/>
                </a:solidFill>
                <a:latin typeface="Calibri"/>
              </a:rPr>
              <a:t>P - Population</a:t>
            </a:r>
          </a:p>
          <a:p>
            <a:pPr lvl="0" algn="l">
              <a:spcAft>
                <a:spcPts val="0"/>
              </a:spcAft>
              <a:buNone/>
            </a:pPr>
            <a:r>
              <a:rPr lang="en-US" sz="1400" dirty="0">
                <a:solidFill>
                  <a:srgbClr val="2E2E38"/>
                </a:solidFill>
                <a:latin typeface="Calibri"/>
              </a:rPr>
              <a:t>(who was studied) People who self-harm - including those with borderline traits or poor emotion control; teenagers and adults.</a:t>
            </a:r>
          </a:p>
        </p:txBody>
      </p:sp>
      <p:sp>
        <p:nvSpPr>
          <p:cNvPr id="199" name="card"/>
          <p:cNvSpPr/>
          <p:nvPr/>
        </p:nvSpPr>
        <p:spPr>
          <a:xfrm>
            <a:off x="3383000" y="1960000"/>
            <a:ext cx="2603000" cy="4278000"/>
          </a:xfrm>
          <a:prstGeom prst="roundRect">
            <a:avLst/>
          </a:prstGeom>
          <a:solidFill>
            <a:srgbClr val="E7E0F7"/>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40"/>
              </a:spcAft>
              <a:buNone/>
            </a:pPr>
            <a:r>
              <a:rPr lang="en-US" sz="1400" b="1" dirty="0">
                <a:solidFill>
                  <a:srgbClr val="6E5AA6"/>
                </a:solidFill>
                <a:latin typeface="Calibri"/>
              </a:rPr>
              <a:t>I - Intervention</a:t>
            </a:r>
          </a:p>
          <a:p>
            <a:pPr lvl="0" algn="l">
              <a:spcAft>
                <a:spcPts val="0"/>
              </a:spcAft>
              <a:buNone/>
            </a:pPr>
            <a:r>
              <a:rPr lang="en-US" sz="1400" dirty="0">
                <a:solidFill>
                  <a:srgbClr val="2E2E38"/>
                </a:solidFill>
                <a:latin typeface="Calibri"/>
              </a:rPr>
              <a:t>(the treatment) Mentalization-based therapy (MBT), including the teen version MBT-A; one-to-one or in a group.</a:t>
            </a:r>
          </a:p>
        </p:txBody>
      </p:sp>
      <p:sp>
        <p:nvSpPr>
          <p:cNvPr id="200" name="card"/>
          <p:cNvSpPr/>
          <p:nvPr/>
        </p:nvSpPr>
        <p:spPr>
          <a:xfrm>
            <a:off x="6206000" y="1960000"/>
            <a:ext cx="2603000" cy="427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40"/>
              </a:spcAft>
              <a:buNone/>
            </a:pPr>
            <a:r>
              <a:rPr lang="en-US" sz="1400" b="1" dirty="0">
                <a:solidFill>
                  <a:srgbClr val="6E5AA6"/>
                </a:solidFill>
                <a:latin typeface="Calibri"/>
              </a:rPr>
              <a:t>C - Comparison</a:t>
            </a:r>
          </a:p>
          <a:p>
            <a:pPr lvl="0" algn="l">
              <a:spcAft>
                <a:spcPts val="0"/>
              </a:spcAft>
              <a:buNone/>
            </a:pPr>
            <a:r>
              <a:rPr lang="en-US" sz="1400" dirty="0">
                <a:solidFill>
                  <a:srgbClr val="2E2E38"/>
                </a:solidFill>
                <a:latin typeface="Calibri"/>
              </a:rPr>
              <a:t>(compared against) Usual care, structured support, a waiting list, or another therapy.</a:t>
            </a:r>
          </a:p>
        </p:txBody>
      </p:sp>
      <p:sp>
        <p:nvSpPr>
          <p:cNvPr id="201" name="card"/>
          <p:cNvSpPr/>
          <p:nvPr/>
        </p:nvSpPr>
        <p:spPr>
          <a:xfrm>
            <a:off x="9029000" y="1960000"/>
            <a:ext cx="2603000" cy="427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40"/>
              </a:spcAft>
              <a:buNone/>
            </a:pPr>
            <a:r>
              <a:rPr lang="en-US" sz="1400" b="1" dirty="0">
                <a:solidFill>
                  <a:srgbClr val="6E5AA6"/>
                </a:solidFill>
                <a:latin typeface="Calibri"/>
              </a:rPr>
              <a:t>O - Outcomes</a:t>
            </a:r>
          </a:p>
          <a:p>
            <a:pPr lvl="0" algn="l">
              <a:spcAft>
                <a:spcPts val="0"/>
              </a:spcAft>
              <a:buNone/>
            </a:pPr>
            <a:r>
              <a:rPr lang="en-US" sz="1400" dirty="0">
                <a:solidFill>
                  <a:srgbClr val="2E2E38"/>
                </a:solidFill>
                <a:latin typeface="Calibri"/>
              </a:rPr>
              <a:t>(what was measured) Self-harm, suicidal behaviour, borderline symptoms, depression, functioning, and staying in treatment.</a:t>
            </a:r>
          </a:p>
        </p:txBody>
      </p:sp>
      <p:sp>
        <p:nvSpPr>
          <p:cNvPr id="202"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03"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14</a:t>
            </a:r>
          </a:p>
        </p:txBody>
      </p:sp>
    </p:spTree>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05"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METHOD OVERVIEW</a:t>
            </a:r>
          </a:p>
        </p:txBody>
      </p:sp>
      <p:sp>
        <p:nvSpPr>
          <p:cNvPr id="206"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the Review Was Done</a:t>
            </a:r>
          </a:p>
        </p:txBody>
      </p:sp>
      <p:cxnSp>
        <p:nvCxnSpPr>
          <p:cNvPr id="207" name="ln"/>
          <p:cNvCxnSpPr/>
          <p:nvPr/>
        </p:nvCxnSpPr>
        <p:spPr>
          <a:xfrm>
            <a:off x="560000" y="1320000"/>
            <a:ext cx="11072000" cy="0"/>
          </a:xfrm>
          <a:prstGeom prst="line">
            <a:avLst/>
          </a:prstGeom>
          <a:ln w="28575">
            <a:solidFill>
              <a:srgbClr val="D6C7EE"/>
            </a:solidFill>
          </a:ln>
        </p:spPr>
      </p:cxnSp>
      <p:sp>
        <p:nvSpPr>
          <p:cNvPr id="208" name="card"/>
          <p:cNvSpPr/>
          <p:nvPr/>
        </p:nvSpPr>
        <p:spPr>
          <a:xfrm>
            <a:off x="661000" y="1660000"/>
            <a:ext cx="1950000" cy="980000"/>
          </a:xfrm>
          <a:prstGeom prst="roundRect">
            <a:avLst/>
          </a:prstGeom>
          <a:solidFill>
            <a:srgbClr val="E7E0F7"/>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60"/>
              </a:spcAft>
              <a:buNone/>
            </a:pPr>
            <a:r>
              <a:rPr lang="en-US" sz="1300" b="1" dirty="0">
                <a:solidFill>
                  <a:srgbClr val="2E2E38"/>
                </a:solidFill>
                <a:latin typeface="Calibri"/>
              </a:rPr>
              <a:t>Plan &amp;</a:t>
            </a:r>
          </a:p>
          <a:p>
            <a:pPr lvl="0" algn="ctr">
              <a:spcAft>
                <a:spcPts val="0"/>
              </a:spcAft>
              <a:buNone/>
            </a:pPr>
            <a:r>
              <a:rPr lang="en-US" sz="1300" b="1" dirty="0">
                <a:solidFill>
                  <a:srgbClr val="2E2E38"/>
                </a:solidFill>
                <a:latin typeface="Calibri"/>
              </a:rPr>
              <a:t>search</a:t>
            </a:r>
          </a:p>
        </p:txBody>
      </p:sp>
      <p:sp>
        <p:nvSpPr>
          <p:cNvPr id="209" name="ar"/>
          <p:cNvSpPr/>
          <p:nvPr/>
        </p:nvSpPr>
        <p:spPr>
          <a:xfrm>
            <a:off x="2641000" y="2060000.0"/>
            <a:ext cx="220000" cy="180000"/>
          </a:xfrm>
          <a:prstGeom prst="rightArrow">
            <a:avLst/>
          </a:prstGeom>
          <a:solidFill>
            <a:srgbClr val="6E5AA6"/>
          </a:solidFill>
        </p:spPr>
        <p:txBody>
          <a:bodyPr/>
          <a:p/>
        </p:txBody>
      </p:sp>
      <p:sp>
        <p:nvSpPr>
          <p:cNvPr id="210" name="card"/>
          <p:cNvSpPr/>
          <p:nvPr/>
        </p:nvSpPr>
        <p:spPr>
          <a:xfrm>
            <a:off x="2891000" y="1660000"/>
            <a:ext cx="1950000" cy="980000"/>
          </a:xfrm>
          <a:prstGeom prst="roundRect">
            <a:avLst/>
          </a:prstGeom>
          <a:solidFill>
            <a:srgbClr val="D7E8F4"/>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60"/>
              </a:spcAft>
              <a:buNone/>
            </a:pPr>
            <a:r>
              <a:rPr lang="en-US" sz="1300" b="1" dirty="0">
                <a:solidFill>
                  <a:srgbClr val="2E2E38"/>
                </a:solidFill>
                <a:latin typeface="Calibri"/>
              </a:rPr>
              <a:t>Screen &amp;</a:t>
            </a:r>
          </a:p>
          <a:p>
            <a:pPr lvl="0" algn="ctr">
              <a:spcAft>
                <a:spcPts val="0"/>
              </a:spcAft>
              <a:buNone/>
            </a:pPr>
            <a:r>
              <a:rPr lang="en-US" sz="1300" b="1" dirty="0">
                <a:solidFill>
                  <a:srgbClr val="2E2E38"/>
                </a:solidFill>
                <a:latin typeface="Calibri"/>
              </a:rPr>
              <a:t>select studies</a:t>
            </a:r>
          </a:p>
        </p:txBody>
      </p:sp>
      <p:sp>
        <p:nvSpPr>
          <p:cNvPr id="211" name="ar"/>
          <p:cNvSpPr/>
          <p:nvPr/>
        </p:nvSpPr>
        <p:spPr>
          <a:xfrm>
            <a:off x="4871000" y="2060000.0"/>
            <a:ext cx="220000" cy="180000"/>
          </a:xfrm>
          <a:prstGeom prst="rightArrow">
            <a:avLst/>
          </a:prstGeom>
          <a:solidFill>
            <a:srgbClr val="6E5AA6"/>
          </a:solidFill>
        </p:spPr>
        <p:txBody>
          <a:bodyPr/>
          <a:p/>
        </p:txBody>
      </p:sp>
      <p:sp>
        <p:nvSpPr>
          <p:cNvPr id="212" name="card"/>
          <p:cNvSpPr/>
          <p:nvPr/>
        </p:nvSpPr>
        <p:spPr>
          <a:xfrm>
            <a:off x="5121000" y="1660000"/>
            <a:ext cx="1950000" cy="980000"/>
          </a:xfrm>
          <a:prstGeom prst="roundRect">
            <a:avLst/>
          </a:prstGeom>
          <a:solidFill>
            <a:srgbClr val="D5EFE6"/>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60"/>
              </a:spcAft>
              <a:buNone/>
            </a:pPr>
            <a:r>
              <a:rPr lang="en-US" sz="1300" b="1" dirty="0">
                <a:solidFill>
                  <a:srgbClr val="2E2E38"/>
                </a:solidFill>
                <a:latin typeface="Calibri"/>
              </a:rPr>
              <a:t>Pull out</a:t>
            </a:r>
          </a:p>
          <a:p>
            <a:pPr lvl="0" algn="ctr">
              <a:spcAft>
                <a:spcPts val="0"/>
              </a:spcAft>
              <a:buNone/>
            </a:pPr>
            <a:r>
              <a:rPr lang="en-US" sz="1300" b="1" dirty="0">
                <a:solidFill>
                  <a:srgbClr val="2E2E38"/>
                </a:solidFill>
                <a:latin typeface="Calibri"/>
              </a:rPr>
              <a:t>the data</a:t>
            </a:r>
          </a:p>
        </p:txBody>
      </p:sp>
      <p:sp>
        <p:nvSpPr>
          <p:cNvPr id="213" name="ar"/>
          <p:cNvSpPr/>
          <p:nvPr/>
        </p:nvSpPr>
        <p:spPr>
          <a:xfrm>
            <a:off x="7101000" y="2060000.0"/>
            <a:ext cx="220000" cy="180000"/>
          </a:xfrm>
          <a:prstGeom prst="rightArrow">
            <a:avLst/>
          </a:prstGeom>
          <a:solidFill>
            <a:srgbClr val="6E5AA6"/>
          </a:solidFill>
        </p:spPr>
        <p:txBody>
          <a:bodyPr/>
          <a:p/>
        </p:txBody>
      </p:sp>
      <p:sp>
        <p:nvSpPr>
          <p:cNvPr id="214" name="card"/>
          <p:cNvSpPr/>
          <p:nvPr/>
        </p:nvSpPr>
        <p:spPr>
          <a:xfrm>
            <a:off x="7351000" y="1660000"/>
            <a:ext cx="1950000" cy="980000"/>
          </a:xfrm>
          <a:prstGeom prst="roundRect">
            <a:avLst/>
          </a:prstGeom>
          <a:solidFill>
            <a:srgbClr val="FBE3D2"/>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60"/>
              </a:spcAft>
              <a:buNone/>
            </a:pPr>
            <a:r>
              <a:rPr lang="en-US" sz="1300" b="1" dirty="0">
                <a:solidFill>
                  <a:srgbClr val="2E2E38"/>
                </a:solidFill>
                <a:latin typeface="Calibri"/>
              </a:rPr>
              <a:t>Judge study</a:t>
            </a:r>
          </a:p>
          <a:p>
            <a:pPr lvl="0" algn="ctr">
              <a:spcAft>
                <a:spcPts val="0"/>
              </a:spcAft>
              <a:buNone/>
            </a:pPr>
            <a:r>
              <a:rPr lang="en-US" sz="1300" b="1" dirty="0">
                <a:solidFill>
                  <a:srgbClr val="2E2E38"/>
                </a:solidFill>
                <a:latin typeface="Calibri"/>
              </a:rPr>
              <a:t>quality</a:t>
            </a:r>
          </a:p>
        </p:txBody>
      </p:sp>
      <p:sp>
        <p:nvSpPr>
          <p:cNvPr id="215" name="ar"/>
          <p:cNvSpPr/>
          <p:nvPr/>
        </p:nvSpPr>
        <p:spPr>
          <a:xfrm>
            <a:off x="9331000" y="2060000.0"/>
            <a:ext cx="220000" cy="180000"/>
          </a:xfrm>
          <a:prstGeom prst="rightArrow">
            <a:avLst/>
          </a:prstGeom>
          <a:solidFill>
            <a:srgbClr val="6E5AA6"/>
          </a:solidFill>
        </p:spPr>
        <p:txBody>
          <a:bodyPr/>
          <a:p/>
        </p:txBody>
      </p:sp>
      <p:sp>
        <p:nvSpPr>
          <p:cNvPr id="216" name="card"/>
          <p:cNvSpPr/>
          <p:nvPr/>
        </p:nvSpPr>
        <p:spPr>
          <a:xfrm>
            <a:off x="9581000" y="1660000"/>
            <a:ext cx="1950000" cy="980000"/>
          </a:xfrm>
          <a:prstGeom prst="roundRect">
            <a:avLst/>
          </a:prstGeom>
          <a:solidFill>
            <a:srgbClr val="D9E8D2"/>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60"/>
              </a:spcAft>
              <a:buNone/>
            </a:pPr>
            <a:r>
              <a:rPr lang="en-US" sz="1300" b="1" dirty="0">
                <a:solidFill>
                  <a:srgbClr val="2E2E38"/>
                </a:solidFill>
                <a:latin typeface="Calibri"/>
              </a:rPr>
              <a:t>Combine results</a:t>
            </a:r>
          </a:p>
          <a:p>
            <a:pPr lvl="0" algn="ctr">
              <a:spcAft>
                <a:spcPts val="0"/>
              </a:spcAft>
              <a:buNone/>
            </a:pPr>
            <a:r>
              <a:rPr lang="en-US" sz="1300" b="1" dirty="0">
                <a:solidFill>
                  <a:srgbClr val="2E2E38"/>
                </a:solidFill>
                <a:latin typeface="Calibri"/>
              </a:rPr>
              <a:t>(meta-analysis)</a:t>
            </a:r>
          </a:p>
        </p:txBody>
      </p:sp>
      <p:sp>
        <p:nvSpPr>
          <p:cNvPr id="217" name="card"/>
          <p:cNvSpPr/>
          <p:nvPr/>
        </p:nvSpPr>
        <p:spPr>
          <a:xfrm>
            <a:off x="560000" y="279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Five steps: plan and search for studies, pick the ones that fit, extract their numbers, judge how trustworthy each is, then combine them into one result.</a:t>
            </a:r>
          </a:p>
        </p:txBody>
      </p:sp>
      <p:sp>
        <p:nvSpPr>
          <p:cNvPr id="218" name="card"/>
          <p:cNvSpPr/>
          <p:nvPr/>
        </p:nvSpPr>
        <p:spPr>
          <a:xfrm>
            <a:off x="560000" y="3460000"/>
            <a:ext cx="11072000" cy="283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Key terms: </a:t>
            </a:r>
            <a:r>
              <a:rPr lang="en-US" sz="1400" dirty="0">
                <a:solidFill>
                  <a:srgbClr val="2E2E38"/>
                </a:solidFill>
                <a:latin typeface="Calibri"/>
              </a:rPr>
              <a:t>effect size = a number showing how big the benefit is; random-effects model = a fair way to combine studies that differ; I² = how much the studies disagree.</a:t>
            </a:r>
          </a:p>
        </p:txBody>
      </p:sp>
      <p:sp>
        <p:nvSpPr>
          <p:cNvPr id="219"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20"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15</a:t>
            </a:r>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22"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ELIGIBILITY RULES</a:t>
            </a:r>
          </a:p>
        </p:txBody>
      </p:sp>
      <p:sp>
        <p:nvSpPr>
          <p:cNvPr id="223"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Which Studies Were Let In (and Kept Out)</a:t>
            </a:r>
          </a:p>
        </p:txBody>
      </p:sp>
      <p:cxnSp>
        <p:nvCxnSpPr>
          <p:cNvPr id="224" name="ln"/>
          <p:cNvCxnSpPr/>
          <p:nvPr/>
        </p:nvCxnSpPr>
        <p:spPr>
          <a:xfrm>
            <a:off x="560000" y="1320000"/>
            <a:ext cx="11072000" cy="0"/>
          </a:xfrm>
          <a:prstGeom prst="line">
            <a:avLst/>
          </a:prstGeom>
          <a:ln w="28575">
            <a:solidFill>
              <a:srgbClr val="D6C7EE"/>
            </a:solidFill>
          </a:ln>
        </p:spPr>
      </p:cxnSp>
      <p:sp>
        <p:nvSpPr>
          <p:cNvPr id="225" name="card"/>
          <p:cNvSpPr/>
          <p:nvPr/>
        </p:nvSpPr>
        <p:spPr>
          <a:xfrm>
            <a:off x="560000" y="1580000"/>
            <a:ext cx="5386000" cy="4658000"/>
          </a:xfrm>
          <a:prstGeom prst="roundRect">
            <a:avLst/>
          </a:prstGeom>
          <a:solidFill>
            <a:srgbClr val="D9E8D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60"/>
              </a:spcAft>
              <a:buNone/>
            </a:pPr>
            <a:r>
              <a:rPr lang="en-US" sz="1700" b="1" dirty="0">
                <a:solidFill>
                  <a:srgbClr val="6E5AA6"/>
                </a:solidFill>
                <a:latin typeface="Calibri"/>
              </a:rPr>
              <a:t>Included if...</a:t>
            </a:r>
          </a:p>
          <a:p>
            <a:pPr marL="342900" indent="-228600" lvl="0" algn="l">
              <a:spcAft>
                <a:spcPts val="280"/>
              </a:spcAft>
              <a:buFont typeface="Arial"/>
              <a:buChar char="•"/>
            </a:pPr>
            <a:r>
              <a:rPr lang="en-US" sz="1400" dirty="0">
                <a:solidFill>
                  <a:srgbClr val="2E2E38"/>
                </a:solidFill>
                <a:latin typeface="Calibri"/>
              </a:rPr>
              <a:t>People had self-harm or a relevant diagnosis (e.g., borderline personality disorder)</a:t>
            </a:r>
          </a:p>
          <a:p>
            <a:pPr marL="342900" indent="-228600" lvl="0" algn="l">
              <a:spcAft>
                <a:spcPts val="280"/>
              </a:spcAft>
              <a:buFont typeface="Arial"/>
              <a:buChar char="•"/>
            </a:pPr>
            <a:r>
              <a:rPr lang="en-US" sz="1400" dirty="0">
                <a:solidFill>
                  <a:srgbClr val="2E2E38"/>
                </a:solidFill>
                <a:latin typeface="Calibri"/>
              </a:rPr>
              <a:t>The study tested MBT (or its teen version MBT-A)</a:t>
            </a:r>
          </a:p>
          <a:p>
            <a:pPr marL="342900" indent="-228600" lvl="0" algn="l">
              <a:spcAft>
                <a:spcPts val="280"/>
              </a:spcAft>
              <a:buFont typeface="Arial"/>
              <a:buChar char="•"/>
            </a:pPr>
            <a:r>
              <a:rPr lang="en-US" sz="1400" dirty="0">
                <a:solidFill>
                  <a:srgbClr val="2E2E38"/>
                </a:solidFill>
                <a:latin typeface="Calibri"/>
              </a:rPr>
              <a:t>It reported self-harm or a related result</a:t>
            </a:r>
          </a:p>
          <a:p>
            <a:pPr marL="342900" indent="-228600" lvl="0" algn="l">
              <a:spcAft>
                <a:spcPts val="280"/>
              </a:spcAft>
              <a:buFont typeface="Arial"/>
              <a:buChar char="•"/>
            </a:pPr>
            <a:r>
              <a:rPr lang="en-US" sz="1400" dirty="0">
                <a:solidFill>
                  <a:srgbClr val="2E2E38"/>
                </a:solidFill>
                <a:latin typeface="Calibri"/>
              </a:rPr>
              <a:t>It had a comparison group</a:t>
            </a:r>
          </a:p>
          <a:p>
            <a:pPr marL="342900" indent="-228600" lvl="0" algn="l">
              <a:spcAft>
                <a:spcPts val="280"/>
              </a:spcAft>
              <a:buFont typeface="Arial"/>
              <a:buChar char="•"/>
            </a:pPr>
            <a:r>
              <a:rPr lang="en-US" sz="1400" dirty="0">
                <a:solidFill>
                  <a:srgbClr val="2E2E38"/>
                </a:solidFill>
                <a:latin typeface="Calibri"/>
              </a:rPr>
              <a:t>It gave enough numbers to calculate a benefit</a:t>
            </a:r>
          </a:p>
          <a:p>
            <a:pPr marL="342900" indent="-228600" lvl="0" algn="l">
              <a:spcAft>
                <a:spcPts val="280"/>
              </a:spcAft>
              <a:buFont typeface="Arial"/>
              <a:buChar char="•"/>
            </a:pPr>
            <a:r>
              <a:rPr lang="en-US" sz="1400" dirty="0">
                <a:solidFill>
                  <a:srgbClr val="2E2E38"/>
                </a:solidFill>
                <a:latin typeface="Calibri"/>
              </a:rPr>
              <a:t>It was published in the set time period and language</a:t>
            </a:r>
          </a:p>
        </p:txBody>
      </p:sp>
      <p:sp>
        <p:nvSpPr>
          <p:cNvPr id="226" name="card"/>
          <p:cNvSpPr/>
          <p:nvPr/>
        </p:nvSpPr>
        <p:spPr>
          <a:xfrm>
            <a:off x="6246000" y="1580000"/>
            <a:ext cx="5386000" cy="4658000"/>
          </a:xfrm>
          <a:prstGeom prst="roundRect">
            <a:avLst/>
          </a:prstGeom>
          <a:solidFill>
            <a:srgbClr val="F7D9E0"/>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60"/>
              </a:spcAft>
              <a:buNone/>
            </a:pPr>
            <a:r>
              <a:rPr lang="en-US" sz="1700" b="1" dirty="0">
                <a:solidFill>
                  <a:srgbClr val="6E5AA6"/>
                </a:solidFill>
                <a:latin typeface="Calibri"/>
              </a:rPr>
              <a:t>Excluded if...</a:t>
            </a:r>
          </a:p>
          <a:p>
            <a:pPr marL="342900" indent="-228600" lvl="0" algn="l">
              <a:spcAft>
                <a:spcPts val="280"/>
              </a:spcAft>
              <a:buFont typeface="Arial"/>
              <a:buChar char="•"/>
            </a:pPr>
            <a:r>
              <a:rPr lang="en-US" sz="1400" dirty="0">
                <a:solidFill>
                  <a:srgbClr val="2E2E38"/>
                </a:solidFill>
                <a:latin typeface="Calibri"/>
              </a:rPr>
              <a:t>No mentalization-based therapy was used</a:t>
            </a:r>
          </a:p>
          <a:p>
            <a:pPr marL="342900" indent="-228600" lvl="0" algn="l">
              <a:spcAft>
                <a:spcPts val="280"/>
              </a:spcAft>
              <a:buFont typeface="Arial"/>
              <a:buChar char="•"/>
            </a:pPr>
            <a:r>
              <a:rPr lang="en-US" sz="1400" dirty="0">
                <a:solidFill>
                  <a:srgbClr val="2E2E38"/>
                </a:solidFill>
                <a:latin typeface="Calibri"/>
              </a:rPr>
              <a:t>No relevant self-harm result was reported</a:t>
            </a:r>
          </a:p>
          <a:p>
            <a:pPr marL="342900" indent="-228600" lvl="0" algn="l">
              <a:spcAft>
                <a:spcPts val="280"/>
              </a:spcAft>
              <a:buFont typeface="Arial"/>
              <a:buChar char="•"/>
            </a:pPr>
            <a:r>
              <a:rPr lang="en-US" sz="1400" dirty="0">
                <a:solidFill>
                  <a:srgbClr val="2E2E38"/>
                </a:solidFill>
                <a:latin typeface="Calibri"/>
              </a:rPr>
              <a:t>It was a single case report (just one patient)</a:t>
            </a:r>
          </a:p>
          <a:p>
            <a:pPr marL="342900" indent="-228600" lvl="0" algn="l">
              <a:spcAft>
                <a:spcPts val="280"/>
              </a:spcAft>
              <a:buFont typeface="Arial"/>
              <a:buChar char="•"/>
            </a:pPr>
            <a:r>
              <a:rPr lang="en-US" sz="1400" dirty="0">
                <a:solidFill>
                  <a:srgbClr val="2E2E38"/>
                </a:solidFill>
                <a:latin typeface="Calibri"/>
              </a:rPr>
              <a:t>It was only a conference summary with too little data</a:t>
            </a:r>
          </a:p>
          <a:p>
            <a:pPr marL="342900" indent="-228600" lvl="0" algn="l">
              <a:spcAft>
                <a:spcPts val="280"/>
              </a:spcAft>
              <a:buFont typeface="Arial"/>
              <a:buChar char="•"/>
            </a:pPr>
            <a:r>
              <a:rPr lang="en-US" sz="1400" dirty="0">
                <a:solidFill>
                  <a:srgbClr val="2E2E38"/>
                </a:solidFill>
                <a:latin typeface="Calibri"/>
              </a:rPr>
              <a:t>It was a repeat publication of the same study</a:t>
            </a:r>
          </a:p>
          <a:p>
            <a:pPr marL="342900" indent="-228600" lvl="0" algn="l">
              <a:spcAft>
                <a:spcPts val="280"/>
              </a:spcAft>
              <a:buFont typeface="Arial"/>
              <a:buChar char="•"/>
            </a:pPr>
            <a:r>
              <a:rPr lang="en-US" sz="1400" dirty="0">
                <a:solidFill>
                  <a:srgbClr val="2E2E38"/>
                </a:solidFill>
                <a:latin typeface="Calibri"/>
              </a:rPr>
              <a:t>The numbers needed could not be extracted</a:t>
            </a:r>
          </a:p>
        </p:txBody>
      </p:sp>
      <p:sp>
        <p:nvSpPr>
          <p:cNvPr id="227"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28"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16</a:t>
            </a:r>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9"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30"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SEARCH STRATEGY</a:t>
            </a:r>
          </a:p>
        </p:txBody>
      </p:sp>
      <p:sp>
        <p:nvSpPr>
          <p:cNvPr id="231"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Studies Were Found</a:t>
            </a:r>
          </a:p>
        </p:txBody>
      </p:sp>
      <p:cxnSp>
        <p:nvCxnSpPr>
          <p:cNvPr id="232" name="ln"/>
          <p:cNvCxnSpPr/>
          <p:nvPr/>
        </p:nvCxnSpPr>
        <p:spPr>
          <a:xfrm>
            <a:off x="560000" y="1320000"/>
            <a:ext cx="11072000" cy="0"/>
          </a:xfrm>
          <a:prstGeom prst="line">
            <a:avLst/>
          </a:prstGeom>
          <a:ln w="28575">
            <a:solidFill>
              <a:srgbClr val="D6C7EE"/>
            </a:solidFill>
          </a:ln>
        </p:spPr>
      </p:cxnSp>
      <p:sp>
        <p:nvSpPr>
          <p:cNvPr id="233" name="card"/>
          <p:cNvSpPr/>
          <p:nvPr/>
        </p:nvSpPr>
        <p:spPr>
          <a:xfrm>
            <a:off x="560000" y="1580000"/>
            <a:ext cx="5400000" cy="455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Where they looked (research databases)</a:t>
            </a:r>
          </a:p>
          <a:p>
            <a:pPr marL="342900" indent="-228600" lvl="0" algn="l">
              <a:spcAft>
                <a:spcPts val="220"/>
              </a:spcAft>
              <a:buFont typeface="Arial"/>
              <a:buChar char="•"/>
            </a:pPr>
            <a:r>
              <a:rPr lang="en-US" sz="1400" dirty="0">
                <a:solidFill>
                  <a:srgbClr val="2E2E38"/>
                </a:solidFill>
                <a:latin typeface="Calibri"/>
              </a:rPr>
              <a:t>PubMed / MEDLINE</a:t>
            </a:r>
          </a:p>
          <a:p>
            <a:pPr marL="342900" indent="-228600" lvl="0" algn="l">
              <a:spcAft>
                <a:spcPts val="220"/>
              </a:spcAft>
              <a:buFont typeface="Arial"/>
              <a:buChar char="•"/>
            </a:pPr>
            <a:r>
              <a:rPr lang="en-US" sz="1400" dirty="0">
                <a:solidFill>
                  <a:srgbClr val="2E2E38"/>
                </a:solidFill>
                <a:latin typeface="Calibri"/>
              </a:rPr>
              <a:t>PsycINFO</a:t>
            </a:r>
          </a:p>
          <a:p>
            <a:pPr marL="342900" indent="-228600" lvl="0" algn="l">
              <a:spcAft>
                <a:spcPts val="220"/>
              </a:spcAft>
              <a:buFont typeface="Arial"/>
              <a:buChar char="•"/>
            </a:pPr>
            <a:r>
              <a:rPr lang="en-US" sz="1400" dirty="0">
                <a:solidFill>
                  <a:srgbClr val="2E2E38"/>
                </a:solidFill>
                <a:latin typeface="Calibri"/>
              </a:rPr>
              <a:t>Embase</a:t>
            </a:r>
          </a:p>
          <a:p>
            <a:pPr marL="342900" indent="-228600" lvl="0" algn="l">
              <a:spcAft>
                <a:spcPts val="220"/>
              </a:spcAft>
              <a:buFont typeface="Arial"/>
              <a:buChar char="•"/>
            </a:pPr>
            <a:r>
              <a:rPr lang="en-US" sz="1400" dirty="0">
                <a:solidFill>
                  <a:srgbClr val="2E2E38"/>
                </a:solidFill>
                <a:latin typeface="Calibri"/>
              </a:rPr>
              <a:t>Cochrane CENTRAL</a:t>
            </a:r>
          </a:p>
          <a:p>
            <a:pPr marL="342900" indent="-228600" lvl="0" algn="l">
              <a:spcAft>
                <a:spcPts val="220"/>
              </a:spcAft>
              <a:buFont typeface="Arial"/>
              <a:buChar char="•"/>
            </a:pPr>
            <a:r>
              <a:rPr lang="en-US" sz="1400" dirty="0">
                <a:solidFill>
                  <a:srgbClr val="2E2E38"/>
                </a:solidFill>
                <a:latin typeface="Calibri"/>
              </a:rPr>
              <a:t>Checking reference lists of found papers</a:t>
            </a:r>
          </a:p>
          <a:p>
            <a:pPr lvl="0" algn="l">
              <a:spcAft>
                <a:spcPts val="0"/>
              </a:spcAft>
              <a:buNone/>
            </a:pPr>
            <a:r>
              <a:rPr lang="en-US" sz="1150" i="1" dirty="0">
                <a:solidFill>
                  <a:srgbClr val="9AA0A6"/>
                </a:solidFill>
                <a:latin typeface="Calibri"/>
              </a:rPr>
              <a:t>Confirm the exact databases and dates from the paper.</a:t>
            </a:r>
          </a:p>
        </p:txBody>
      </p:sp>
      <p:sp>
        <p:nvSpPr>
          <p:cNvPr id="234" name="card"/>
          <p:cNvSpPr/>
          <p:nvPr/>
        </p:nvSpPr>
        <p:spPr>
          <a:xfrm>
            <a:off x="6260000" y="1580000"/>
            <a:ext cx="5372000" cy="455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lvl="0" algn="l">
              <a:spcAft>
                <a:spcPts val="240"/>
              </a:spcAft>
              <a:buNone/>
            </a:pPr>
            <a:r>
              <a:rPr lang="en-US" sz="1400" b="1" dirty="0">
                <a:solidFill>
                  <a:srgbClr val="6E5AA6"/>
                </a:solidFill>
                <a:latin typeface="Calibri"/>
              </a:rPr>
              <a:t>How search words were combined</a:t>
            </a:r>
          </a:p>
          <a:p>
            <a:pPr lvl="0" algn="l">
              <a:spcAft>
                <a:spcPts val="120"/>
              </a:spcAft>
              <a:buNone/>
            </a:pPr>
            <a:r>
              <a:rPr lang="en-US" sz="1250" b="1" dirty="0">
                <a:solidFill>
                  <a:srgbClr val="2E2E38"/>
                </a:solidFill>
                <a:latin typeface="Calibri"/>
              </a:rPr>
              <a:t>"mentalization-based therapy" OR "MBT"</a:t>
            </a:r>
          </a:p>
          <a:p>
            <a:pPr lvl="0" algn="ctr">
              <a:spcAft>
                <a:spcPts val="120"/>
              </a:spcAft>
              <a:buNone/>
            </a:pPr>
            <a:r>
              <a:rPr lang="en-US" sz="1200" b="1" dirty="0">
                <a:solidFill>
                  <a:srgbClr val="3E7CB1"/>
                </a:solidFill>
                <a:latin typeface="Calibri"/>
              </a:rPr>
              <a:t>AND  (all groups must appear)</a:t>
            </a:r>
          </a:p>
          <a:p>
            <a:pPr lvl="0" algn="l">
              <a:spcAft>
                <a:spcPts val="120"/>
              </a:spcAft>
              <a:buNone/>
            </a:pPr>
            <a:r>
              <a:rPr lang="en-US" sz="1250" b="1" dirty="0">
                <a:solidFill>
                  <a:srgbClr val="2E2E38"/>
                </a:solidFill>
                <a:latin typeface="Calibri"/>
              </a:rPr>
              <a:t>"self-harm" OR "self-injury"</a:t>
            </a:r>
          </a:p>
          <a:p>
            <a:pPr lvl="0" algn="ctr">
              <a:spcAft>
                <a:spcPts val="120"/>
              </a:spcAft>
              <a:buNone/>
            </a:pPr>
            <a:r>
              <a:rPr lang="en-US" sz="1200" b="1" dirty="0">
                <a:solidFill>
                  <a:srgbClr val="3E7CB1"/>
                </a:solidFill>
                <a:latin typeface="Calibri"/>
              </a:rPr>
              <a:t>AND</a:t>
            </a:r>
          </a:p>
          <a:p>
            <a:pPr lvl="0" algn="l">
              <a:spcAft>
                <a:spcPts val="0"/>
              </a:spcAft>
              <a:buNone/>
            </a:pPr>
            <a:r>
              <a:rPr lang="en-US" sz="1250" b="1" dirty="0">
                <a:solidFill>
                  <a:srgbClr val="2E2E38"/>
                </a:solidFill>
                <a:latin typeface="Calibri"/>
              </a:rPr>
              <a:t>"borderline personality" OR "emotion dysregulation"</a:t>
            </a:r>
          </a:p>
        </p:txBody>
      </p:sp>
      <p:sp>
        <p:nvSpPr>
          <p:cNvPr id="235" name="card"/>
          <p:cNvSpPr/>
          <p:nvPr/>
        </p:nvSpPr>
        <p:spPr>
          <a:xfrm>
            <a:off x="560000" y="6198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'OR' widens the search (any of these words); 'AND' narrows it (all groups must be present). This example is for illustration - use the paper's real search terms.</a:t>
            </a:r>
          </a:p>
        </p:txBody>
      </p:sp>
      <p:sp>
        <p:nvSpPr>
          <p:cNvPr id="236"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37"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17</a:t>
            </a:r>
          </a:p>
        </p:txBody>
      </p:sp>
    </p:spTree>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39"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PRISMA FLOW - ADD REAL NUMBERS</a:t>
            </a:r>
          </a:p>
        </p:txBody>
      </p:sp>
      <p:sp>
        <p:nvSpPr>
          <p:cNvPr id="240"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Studies Were Narrowed Down</a:t>
            </a:r>
          </a:p>
        </p:txBody>
      </p:sp>
      <p:cxnSp>
        <p:nvCxnSpPr>
          <p:cNvPr id="241" name="ln"/>
          <p:cNvCxnSpPr/>
          <p:nvPr/>
        </p:nvCxnSpPr>
        <p:spPr>
          <a:xfrm>
            <a:off x="560000" y="1320000"/>
            <a:ext cx="11072000" cy="0"/>
          </a:xfrm>
          <a:prstGeom prst="line">
            <a:avLst/>
          </a:prstGeom>
          <a:ln w="28575">
            <a:solidFill>
              <a:srgbClr val="D6C7EE"/>
            </a:solidFill>
          </a:ln>
        </p:spPr>
      </p:cxnSp>
      <p:sp>
        <p:nvSpPr>
          <p:cNvPr id="242" name="card"/>
          <p:cNvSpPr/>
          <p:nvPr/>
        </p:nvSpPr>
        <p:spPr>
          <a:xfrm>
            <a:off x="860000" y="1580000"/>
            <a:ext cx="5000000" cy="520000"/>
          </a:xfrm>
          <a:prstGeom prst="roundRect">
            <a:avLst/>
          </a:prstGeom>
          <a:solidFill>
            <a:srgbClr val="E7E0F7"/>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50" b="1" dirty="0">
                <a:solidFill>
                  <a:srgbClr val="2E2E38"/>
                </a:solidFill>
                <a:latin typeface="Calibri"/>
              </a:rPr>
              <a:t>Studies found in databases (n = __)</a:t>
            </a:r>
          </a:p>
        </p:txBody>
      </p:sp>
      <p:sp>
        <p:nvSpPr>
          <p:cNvPr id="243" name="ar"/>
          <p:cNvSpPr/>
          <p:nvPr/>
        </p:nvSpPr>
        <p:spPr>
          <a:xfrm>
            <a:off x="3280000.0" y="2102000"/>
            <a:ext cx="160000" cy="138000"/>
          </a:xfrm>
          <a:prstGeom prst="downArrow">
            <a:avLst/>
          </a:prstGeom>
          <a:solidFill>
            <a:srgbClr val="6E5AA6"/>
          </a:solidFill>
        </p:spPr>
        <p:txBody>
          <a:bodyPr/>
          <a:p/>
        </p:txBody>
      </p:sp>
      <p:sp>
        <p:nvSpPr>
          <p:cNvPr id="244" name="card"/>
          <p:cNvSpPr/>
          <p:nvPr/>
        </p:nvSpPr>
        <p:spPr>
          <a:xfrm>
            <a:off x="860000" y="2250000"/>
            <a:ext cx="5000000" cy="520000"/>
          </a:xfrm>
          <a:prstGeom prst="roundRect">
            <a:avLst/>
          </a:prstGeom>
          <a:solidFill>
            <a:srgbClr val="D7E8F4"/>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50" b="1" dirty="0">
                <a:solidFill>
                  <a:srgbClr val="2E2E38"/>
                </a:solidFill>
                <a:latin typeface="Calibri"/>
              </a:rPr>
              <a:t>After removing duplicates (n = __)</a:t>
            </a:r>
          </a:p>
        </p:txBody>
      </p:sp>
      <p:sp>
        <p:nvSpPr>
          <p:cNvPr id="245" name="ar"/>
          <p:cNvSpPr/>
          <p:nvPr/>
        </p:nvSpPr>
        <p:spPr>
          <a:xfrm>
            <a:off x="3280000.0" y="2772000"/>
            <a:ext cx="160000" cy="138000"/>
          </a:xfrm>
          <a:prstGeom prst="downArrow">
            <a:avLst/>
          </a:prstGeom>
          <a:solidFill>
            <a:srgbClr val="6E5AA6"/>
          </a:solidFill>
        </p:spPr>
        <p:txBody>
          <a:bodyPr/>
          <a:p/>
        </p:txBody>
      </p:sp>
      <p:sp>
        <p:nvSpPr>
          <p:cNvPr id="246" name="card"/>
          <p:cNvSpPr/>
          <p:nvPr/>
        </p:nvSpPr>
        <p:spPr>
          <a:xfrm>
            <a:off x="860000" y="2920000"/>
            <a:ext cx="5000000" cy="520000"/>
          </a:xfrm>
          <a:prstGeom prst="roundRect">
            <a:avLst/>
          </a:prstGeom>
          <a:solidFill>
            <a:srgbClr val="D5EFE6"/>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50" b="1" dirty="0">
                <a:solidFill>
                  <a:srgbClr val="2E2E38"/>
                </a:solidFill>
                <a:latin typeface="Calibri"/>
              </a:rPr>
              <a:t>Titles/abstracts screened (n = __)</a:t>
            </a:r>
          </a:p>
        </p:txBody>
      </p:sp>
      <p:sp>
        <p:nvSpPr>
          <p:cNvPr id="247" name="ar"/>
          <p:cNvSpPr/>
          <p:nvPr/>
        </p:nvSpPr>
        <p:spPr>
          <a:xfrm>
            <a:off x="3280000.0" y="3442000"/>
            <a:ext cx="160000" cy="138000"/>
          </a:xfrm>
          <a:prstGeom prst="downArrow">
            <a:avLst/>
          </a:prstGeom>
          <a:solidFill>
            <a:srgbClr val="6E5AA6"/>
          </a:solidFill>
        </p:spPr>
        <p:txBody>
          <a:bodyPr/>
          <a:p/>
        </p:txBody>
      </p:sp>
      <p:sp>
        <p:nvSpPr>
          <p:cNvPr id="248" name="card"/>
          <p:cNvSpPr/>
          <p:nvPr/>
        </p:nvSpPr>
        <p:spPr>
          <a:xfrm>
            <a:off x="860000" y="3590000"/>
            <a:ext cx="5000000" cy="520000"/>
          </a:xfrm>
          <a:prstGeom prst="roundRect">
            <a:avLst/>
          </a:prstGeom>
          <a:solidFill>
            <a:srgbClr val="FBE3D2"/>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50" b="1" dirty="0">
                <a:solidFill>
                  <a:srgbClr val="2E2E38"/>
                </a:solidFill>
                <a:latin typeface="Calibri"/>
              </a:rPr>
              <a:t>Full papers read in detail (n = __)</a:t>
            </a:r>
          </a:p>
        </p:txBody>
      </p:sp>
      <p:sp>
        <p:nvSpPr>
          <p:cNvPr id="249" name="ar"/>
          <p:cNvSpPr/>
          <p:nvPr/>
        </p:nvSpPr>
        <p:spPr>
          <a:xfrm>
            <a:off x="3280000.0" y="4112000"/>
            <a:ext cx="160000" cy="138000"/>
          </a:xfrm>
          <a:prstGeom prst="downArrow">
            <a:avLst/>
          </a:prstGeom>
          <a:solidFill>
            <a:srgbClr val="6E5AA6"/>
          </a:solidFill>
        </p:spPr>
        <p:txBody>
          <a:bodyPr/>
          <a:p/>
        </p:txBody>
      </p:sp>
      <p:sp>
        <p:nvSpPr>
          <p:cNvPr id="250" name="card"/>
          <p:cNvSpPr/>
          <p:nvPr/>
        </p:nvSpPr>
        <p:spPr>
          <a:xfrm>
            <a:off x="860000" y="4260000"/>
            <a:ext cx="5000000" cy="520000"/>
          </a:xfrm>
          <a:prstGeom prst="roundRect">
            <a:avLst/>
          </a:prstGeom>
          <a:solidFill>
            <a:srgbClr val="D9E8D2"/>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50" b="1" dirty="0">
                <a:solidFill>
                  <a:srgbClr val="2E2E38"/>
                </a:solidFill>
                <a:latin typeface="Calibri"/>
              </a:rPr>
              <a:t>Studies used in the review (n = __)</a:t>
            </a:r>
          </a:p>
        </p:txBody>
      </p:sp>
      <p:sp>
        <p:nvSpPr>
          <p:cNvPr id="251" name="ar"/>
          <p:cNvSpPr/>
          <p:nvPr/>
        </p:nvSpPr>
        <p:spPr>
          <a:xfrm>
            <a:off x="3280000.0" y="4782000"/>
            <a:ext cx="160000" cy="138000"/>
          </a:xfrm>
          <a:prstGeom prst="downArrow">
            <a:avLst/>
          </a:prstGeom>
          <a:solidFill>
            <a:srgbClr val="6E5AA6"/>
          </a:solidFill>
        </p:spPr>
        <p:txBody>
          <a:bodyPr/>
          <a:p/>
        </p:txBody>
      </p:sp>
      <p:sp>
        <p:nvSpPr>
          <p:cNvPr id="252" name="card"/>
          <p:cNvSpPr/>
          <p:nvPr/>
        </p:nvSpPr>
        <p:spPr>
          <a:xfrm>
            <a:off x="860000" y="4930000"/>
            <a:ext cx="5000000" cy="520000"/>
          </a:xfrm>
          <a:prstGeom prst="roundRect">
            <a:avLst/>
          </a:prstGeom>
          <a:solidFill>
            <a:srgbClr val="E7E0F7"/>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50" b="1" dirty="0">
                <a:solidFill>
                  <a:srgbClr val="2E2E38"/>
                </a:solidFill>
                <a:latin typeface="Calibri"/>
              </a:rPr>
              <a:t>Studies combined in the meta-analysis (n = __)</a:t>
            </a:r>
          </a:p>
        </p:txBody>
      </p:sp>
      <p:sp>
        <p:nvSpPr>
          <p:cNvPr id="253" name="card"/>
          <p:cNvSpPr/>
          <p:nvPr/>
        </p:nvSpPr>
        <p:spPr>
          <a:xfrm>
            <a:off x="6360000" y="2920000"/>
            <a:ext cx="5272000" cy="520000"/>
          </a:xfrm>
          <a:prstGeom prst="roundRect">
            <a:avLst/>
          </a:prstGeom>
          <a:solidFill>
            <a:srgbClr val="F7D9E0"/>
          </a:solidFill>
          <a:ln w="12700">
            <a:solidFill>
              <a:srgbClr val="D98B9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00" b="1" dirty="0">
                <a:solidFill>
                  <a:srgbClr val="2E2E38"/>
                </a:solidFill>
                <a:latin typeface="Calibri"/>
              </a:rPr>
              <a:t>Removed at screening (n = __)</a:t>
            </a:r>
          </a:p>
        </p:txBody>
      </p:sp>
      <p:sp>
        <p:nvSpPr>
          <p:cNvPr id="254" name="ar"/>
          <p:cNvSpPr/>
          <p:nvPr/>
        </p:nvSpPr>
        <p:spPr>
          <a:xfrm>
            <a:off x="5900000" y="3100000.0"/>
            <a:ext cx="420000" cy="160000"/>
          </a:xfrm>
          <a:prstGeom prst="rightArrow">
            <a:avLst/>
          </a:prstGeom>
          <a:solidFill>
            <a:srgbClr val="D98B9E"/>
          </a:solidFill>
        </p:spPr>
        <p:txBody>
          <a:bodyPr/>
          <a:p/>
        </p:txBody>
      </p:sp>
      <p:sp>
        <p:nvSpPr>
          <p:cNvPr id="255" name="card"/>
          <p:cNvSpPr/>
          <p:nvPr/>
        </p:nvSpPr>
        <p:spPr>
          <a:xfrm>
            <a:off x="6360000" y="3590000"/>
            <a:ext cx="5272000" cy="660000"/>
          </a:xfrm>
          <a:prstGeom prst="roundRect">
            <a:avLst/>
          </a:prstGeom>
          <a:solidFill>
            <a:srgbClr val="F7D9E0"/>
          </a:solidFill>
          <a:ln w="12700">
            <a:solidFill>
              <a:srgbClr val="D98B9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150" dirty="0">
                <a:solidFill>
                  <a:srgbClr val="2E2E38"/>
                </a:solidFill>
                <a:latin typeface="Calibri"/>
              </a:rPr>
              <a:t>Full papers removed, with reasons (n = __): no MBT / no relevant result / not enough data / duplicate</a:t>
            </a:r>
          </a:p>
        </p:txBody>
      </p:sp>
      <p:sp>
        <p:nvSpPr>
          <p:cNvPr id="256" name="ar"/>
          <p:cNvSpPr/>
          <p:nvPr/>
        </p:nvSpPr>
        <p:spPr>
          <a:xfrm>
            <a:off x="5900000" y="3770000.0"/>
            <a:ext cx="420000" cy="160000"/>
          </a:xfrm>
          <a:prstGeom prst="rightArrow">
            <a:avLst/>
          </a:prstGeom>
          <a:solidFill>
            <a:srgbClr val="D98B9E"/>
          </a:solidFill>
        </p:spPr>
        <p:txBody>
          <a:bodyPr/>
          <a:p/>
        </p:txBody>
      </p:sp>
      <p:sp>
        <p:nvSpPr>
          <p:cNvPr id="257" name="card"/>
          <p:cNvSpPr/>
          <p:nvPr/>
        </p:nvSpPr>
        <p:spPr>
          <a:xfrm>
            <a:off x="6260000" y="4780000"/>
            <a:ext cx="54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PRISMA is a standard diagram showing how many studies started, how many were dropped and why, and how many were finally used.</a:t>
            </a:r>
          </a:p>
        </p:txBody>
      </p:sp>
      <p:sp>
        <p:nvSpPr>
          <p:cNvPr id="258"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59"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18</a:t>
            </a:r>
          </a:p>
        </p:txBody>
      </p:sp>
    </p:spTree>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61"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PARTICIPANTS</a:t>
            </a:r>
          </a:p>
        </p:txBody>
      </p:sp>
      <p:sp>
        <p:nvSpPr>
          <p:cNvPr id="262"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Who Were the People Studied?</a:t>
            </a:r>
          </a:p>
        </p:txBody>
      </p:sp>
      <p:cxnSp>
        <p:nvCxnSpPr>
          <p:cNvPr id="263" name="ln"/>
          <p:cNvCxnSpPr/>
          <p:nvPr/>
        </p:nvCxnSpPr>
        <p:spPr>
          <a:xfrm>
            <a:off x="560000" y="1320000"/>
            <a:ext cx="11072000" cy="0"/>
          </a:xfrm>
          <a:prstGeom prst="line">
            <a:avLst/>
          </a:prstGeom>
          <a:ln w="28575">
            <a:solidFill>
              <a:srgbClr val="D6C7EE"/>
            </a:solidFill>
          </a:ln>
        </p:spPr>
      </p:cxnSp>
      <p:sp>
        <p:nvSpPr>
          <p:cNvPr id="264" name="card"/>
          <p:cNvSpPr/>
          <p:nvPr/>
        </p:nvSpPr>
        <p:spPr>
          <a:xfrm>
            <a:off x="560000" y="1580000"/>
            <a:ext cx="2603000" cy="1520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Age</a:t>
            </a:r>
          </a:p>
          <a:p>
            <a:pPr lvl="0" algn="l">
              <a:spcAft>
                <a:spcPts val="0"/>
              </a:spcAft>
              <a:buNone/>
            </a:pPr>
            <a:r>
              <a:rPr lang="en-US" sz="1400" dirty="0">
                <a:solidFill>
                  <a:srgbClr val="2E2E38"/>
                </a:solidFill>
                <a:latin typeface="Calibri"/>
              </a:rPr>
              <a:t>Teenagers (MBT-A) and adults (MBT) - confirm exact ages from the paper</a:t>
            </a:r>
          </a:p>
        </p:txBody>
      </p:sp>
      <p:sp>
        <p:nvSpPr>
          <p:cNvPr id="265" name="card"/>
          <p:cNvSpPr/>
          <p:nvPr/>
        </p:nvSpPr>
        <p:spPr>
          <a:xfrm>
            <a:off x="3383000" y="1580000"/>
            <a:ext cx="2603000" cy="1520000"/>
          </a:xfrm>
          <a:prstGeom prst="roundRect">
            <a:avLst/>
          </a:prstGeom>
          <a:solidFill>
            <a:srgbClr val="F7D9E0"/>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Sex</a:t>
            </a:r>
          </a:p>
          <a:p>
            <a:pPr lvl="0" algn="l">
              <a:spcAft>
                <a:spcPts val="0"/>
              </a:spcAft>
              <a:buNone/>
            </a:pPr>
            <a:r>
              <a:rPr lang="en-US" sz="1400" dirty="0">
                <a:solidFill>
                  <a:srgbClr val="2E2E38"/>
                </a:solidFill>
                <a:latin typeface="Calibri"/>
              </a:rPr>
              <a:t>Mostly female (e.g., about 85% female in Rossouw &amp; Fonagy, 2012)</a:t>
            </a:r>
          </a:p>
        </p:txBody>
      </p:sp>
      <p:sp>
        <p:nvSpPr>
          <p:cNvPr id="266" name="card"/>
          <p:cNvSpPr/>
          <p:nvPr/>
        </p:nvSpPr>
        <p:spPr>
          <a:xfrm>
            <a:off x="6206000" y="1580000"/>
            <a:ext cx="2603000" cy="1520000"/>
          </a:xfrm>
          <a:prstGeom prst="roundRect">
            <a:avLst/>
          </a:prstGeom>
          <a:solidFill>
            <a:srgbClr val="E7E0F7"/>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Diagnosis</a:t>
            </a:r>
          </a:p>
          <a:p>
            <a:pPr lvl="0" algn="l">
              <a:spcAft>
                <a:spcPts val="0"/>
              </a:spcAft>
              <a:buNone/>
            </a:pPr>
            <a:r>
              <a:rPr lang="en-US" sz="1400" dirty="0">
                <a:solidFill>
                  <a:srgbClr val="2E2E38"/>
                </a:solidFill>
                <a:latin typeface="Calibri"/>
              </a:rPr>
              <a:t>Self-harm, often with borderline personality traits and poor emotion control</a:t>
            </a:r>
          </a:p>
        </p:txBody>
      </p:sp>
      <p:sp>
        <p:nvSpPr>
          <p:cNvPr id="267" name="card"/>
          <p:cNvSpPr/>
          <p:nvPr/>
        </p:nvSpPr>
        <p:spPr>
          <a:xfrm>
            <a:off x="9029000" y="1580000"/>
            <a:ext cx="2603000" cy="1520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Setting</a:t>
            </a:r>
          </a:p>
          <a:p>
            <a:pPr lvl="0" algn="l">
              <a:spcAft>
                <a:spcPts val="0"/>
              </a:spcAft>
              <a:buNone/>
            </a:pPr>
            <a:r>
              <a:rPr lang="en-US" sz="1400" dirty="0">
                <a:solidFill>
                  <a:srgbClr val="2E2E38"/>
                </a:solidFill>
                <a:latin typeface="Calibri"/>
              </a:rPr>
              <a:t>Mostly outpatient clinics (not admitted to hospital) in wealthy, mainly European countries</a:t>
            </a:r>
          </a:p>
        </p:txBody>
      </p:sp>
      <p:sp>
        <p:nvSpPr>
          <p:cNvPr id="268" name="card"/>
          <p:cNvSpPr/>
          <p:nvPr/>
        </p:nvSpPr>
        <p:spPr>
          <a:xfrm>
            <a:off x="560000" y="325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 people studied were mostly young, mostly female, and mostly from Western countries - so results may not apply equally to everyone. Insert the total studies and people from the paper.</a:t>
            </a:r>
          </a:p>
        </p:txBody>
      </p:sp>
      <p:sp>
        <p:nvSpPr>
          <p:cNvPr id="269"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70"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19</a:t>
            </a:r>
          </a:p>
        </p:txBody>
      </p:sp>
    </p:spTree>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72"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THE TREATMENT</a:t>
            </a:r>
          </a:p>
        </p:txBody>
      </p:sp>
      <p:sp>
        <p:nvSpPr>
          <p:cNvPr id="273"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MBT Actually Involves</a:t>
            </a:r>
          </a:p>
        </p:txBody>
      </p:sp>
      <p:cxnSp>
        <p:nvCxnSpPr>
          <p:cNvPr id="274" name="ln"/>
          <p:cNvCxnSpPr/>
          <p:nvPr/>
        </p:nvCxnSpPr>
        <p:spPr>
          <a:xfrm>
            <a:off x="560000" y="1320000"/>
            <a:ext cx="11072000" cy="0"/>
          </a:xfrm>
          <a:prstGeom prst="line">
            <a:avLst/>
          </a:prstGeom>
          <a:ln w="28575">
            <a:solidFill>
              <a:srgbClr val="D6C7EE"/>
            </a:solidFill>
          </a:ln>
        </p:spPr>
      </p:cxnSp>
      <p:sp>
        <p:nvSpPr>
          <p:cNvPr id="275" name="card"/>
          <p:cNvSpPr/>
          <p:nvPr/>
        </p:nvSpPr>
        <p:spPr>
          <a:xfrm>
            <a:off x="560000" y="1580000"/>
            <a:ext cx="5600000" cy="465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How it is delivered</a:t>
            </a:r>
          </a:p>
          <a:p>
            <a:pPr marL="342900" indent="-228600" lvl="0" algn="l">
              <a:spcAft>
                <a:spcPts val="220"/>
              </a:spcAft>
              <a:buFont typeface="Arial"/>
              <a:buChar char="•"/>
            </a:pPr>
            <a:r>
              <a:rPr lang="en-US" sz="1400" dirty="0">
                <a:solidFill>
                  <a:srgbClr val="2E2E38"/>
                </a:solidFill>
                <a:latin typeface="Calibri"/>
              </a:rPr>
              <a:t>One-to-one and/or group sessions (teen MBT-A also involves parents/family)</a:t>
            </a:r>
          </a:p>
          <a:p>
            <a:pPr marL="342900" indent="-228600" lvl="0" algn="l">
              <a:spcAft>
                <a:spcPts val="220"/>
              </a:spcAft>
              <a:buFont typeface="Arial"/>
              <a:buChar char="•"/>
            </a:pPr>
            <a:r>
              <a:rPr lang="en-US" sz="1400" dirty="0">
                <a:solidFill>
                  <a:srgbClr val="2E2E38"/>
                </a:solidFill>
                <a:latin typeface="Calibri"/>
              </a:rPr>
              <a:t>Often about 12 months in the main teen study; session frequency varies</a:t>
            </a:r>
          </a:p>
          <a:p>
            <a:pPr marL="342900" indent="-228600" lvl="0" algn="l">
              <a:spcAft>
                <a:spcPts val="220"/>
              </a:spcAft>
              <a:buFont typeface="Arial"/>
              <a:buChar char="•"/>
            </a:pPr>
            <a:r>
              <a:rPr lang="en-US" sz="1400" dirty="0">
                <a:solidFill>
                  <a:srgbClr val="2E2E38"/>
                </a:solidFill>
                <a:latin typeface="Calibri"/>
              </a:rPr>
              <a:t>Given by trained therapists who receive supervision (guidance from a senior therapist)</a:t>
            </a:r>
          </a:p>
          <a:p>
            <a:pPr marL="342900" indent="-228600" lvl="0" algn="l">
              <a:spcAft>
                <a:spcPts val="220"/>
              </a:spcAft>
              <a:buFont typeface="Arial"/>
              <a:buChar char="•"/>
            </a:pPr>
            <a:r>
              <a:rPr lang="en-US" sz="1400" dirty="0">
                <a:solidFill>
                  <a:srgbClr val="2E2E38"/>
                </a:solidFill>
                <a:latin typeface="Calibri"/>
              </a:rPr>
              <a:t>Usually outpatient; safety/crisis support runs alongside the therapy</a:t>
            </a:r>
          </a:p>
          <a:p>
            <a:pPr marL="342900" indent="-228600" lvl="0" algn="l">
              <a:spcAft>
                <a:spcPts val="220"/>
              </a:spcAft>
              <a:buFont typeface="Arial"/>
              <a:buChar char="•"/>
            </a:pPr>
            <a:r>
              <a:rPr lang="en-US" sz="1400" dirty="0">
                <a:solidFill>
                  <a:srgbClr val="2E2E38"/>
                </a:solidFill>
                <a:latin typeface="Calibri"/>
              </a:rPr>
              <a:t>Whether the therapy was delivered exactly as intended (fidelity) was not always reported</a:t>
            </a:r>
          </a:p>
        </p:txBody>
      </p:sp>
      <p:sp>
        <p:nvSpPr>
          <p:cNvPr id="276" name="card"/>
          <p:cNvSpPr/>
          <p:nvPr/>
        </p:nvSpPr>
        <p:spPr>
          <a:xfrm>
            <a:off x="6460000" y="1580000"/>
            <a:ext cx="5172000" cy="465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The therapist's stance</a:t>
            </a:r>
          </a:p>
          <a:p>
            <a:pPr marL="342900" indent="-228600" lvl="0" algn="l">
              <a:spcAft>
                <a:spcPts val="210"/>
              </a:spcAft>
              <a:buFont typeface="Arial"/>
              <a:buChar char="•"/>
            </a:pPr>
            <a:r>
              <a:rPr lang="en-US" sz="1400" dirty="0">
                <a:solidFill>
                  <a:srgbClr val="2E2E38"/>
                </a:solidFill>
                <a:latin typeface="Calibri"/>
              </a:rPr>
              <a:t>Curious, 'not-knowing' (asks, doesn't assume)</a:t>
            </a:r>
          </a:p>
          <a:p>
            <a:pPr marL="342900" indent="-228600" lvl="0" algn="l">
              <a:spcAft>
                <a:spcPts val="210"/>
              </a:spcAft>
              <a:buFont typeface="Arial"/>
              <a:buChar char="•"/>
            </a:pPr>
            <a:r>
              <a:rPr lang="en-US" sz="1400" dirty="0">
                <a:solidFill>
                  <a:srgbClr val="2E2E38"/>
                </a:solidFill>
                <a:latin typeface="Calibri"/>
              </a:rPr>
              <a:t>Stays on present feelings</a:t>
            </a:r>
          </a:p>
          <a:p>
            <a:pPr marL="342900" indent="-228600" lvl="0" algn="l">
              <a:spcAft>
                <a:spcPts val="210"/>
              </a:spcAft>
              <a:buFont typeface="Arial"/>
              <a:buChar char="•"/>
            </a:pPr>
            <a:r>
              <a:rPr lang="en-US" sz="1400" dirty="0">
                <a:solidFill>
                  <a:srgbClr val="2E2E38"/>
                </a:solidFill>
                <a:latin typeface="Calibri"/>
              </a:rPr>
              <a:t>Explores other ways to see a situation</a:t>
            </a:r>
          </a:p>
          <a:p>
            <a:pPr marL="342900" indent="-228600" lvl="0" algn="l">
              <a:spcAft>
                <a:spcPts val="210"/>
              </a:spcAft>
              <a:buFont typeface="Arial"/>
              <a:buChar char="•"/>
            </a:pPr>
            <a:r>
              <a:rPr lang="en-US" sz="1400" dirty="0">
                <a:solidFill>
                  <a:srgbClr val="2E2E38"/>
                </a:solidFill>
                <a:latin typeface="Calibri"/>
              </a:rPr>
              <a:t>Helps calm strong emotions</a:t>
            </a:r>
          </a:p>
          <a:p>
            <a:pPr marL="342900" indent="-228600" lvl="0" algn="l">
              <a:spcAft>
                <a:spcPts val="210"/>
              </a:spcAft>
              <a:buFont typeface="Arial"/>
              <a:buChar char="•"/>
            </a:pPr>
            <a:r>
              <a:rPr lang="en-US" sz="1400" dirty="0">
                <a:solidFill>
                  <a:srgbClr val="2E2E38"/>
                </a:solidFill>
                <a:latin typeface="Calibri"/>
              </a:rPr>
              <a:t>Repairs misunderstandings</a:t>
            </a:r>
          </a:p>
          <a:p>
            <a:pPr marL="342900" indent="-228600" lvl="0" algn="l">
              <a:spcAft>
                <a:spcPts val="210"/>
              </a:spcAft>
              <a:buFont typeface="Arial"/>
              <a:buChar char="•"/>
            </a:pPr>
            <a:r>
              <a:rPr lang="en-US" sz="1400" dirty="0">
                <a:solidFill>
                  <a:srgbClr val="2E2E38"/>
                </a:solidFill>
                <a:latin typeface="Calibri"/>
              </a:rPr>
              <a:t>Avoids jumping to conclusions</a:t>
            </a:r>
          </a:p>
        </p:txBody>
      </p:sp>
      <p:sp>
        <p:nvSpPr>
          <p:cNvPr id="277"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78"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20</a:t>
            </a:r>
          </a:p>
        </p:txBody>
      </p:sp>
    </p:spTree>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9"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80"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COMPARISON GROUPS</a:t>
            </a:r>
          </a:p>
        </p:txBody>
      </p:sp>
      <p:sp>
        <p:nvSpPr>
          <p:cNvPr id="281"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MBT Was Compared Against</a:t>
            </a:r>
          </a:p>
        </p:txBody>
      </p:sp>
      <p:cxnSp>
        <p:nvCxnSpPr>
          <p:cNvPr id="282" name="ln"/>
          <p:cNvCxnSpPr/>
          <p:nvPr/>
        </p:nvCxnSpPr>
        <p:spPr>
          <a:xfrm>
            <a:off x="560000" y="1320000"/>
            <a:ext cx="11072000" cy="0"/>
          </a:xfrm>
          <a:prstGeom prst="line">
            <a:avLst/>
          </a:prstGeom>
          <a:ln w="28575">
            <a:solidFill>
              <a:srgbClr val="D6C7EE"/>
            </a:solidFill>
          </a:ln>
        </p:spPr>
      </p:cxnSp>
      <p:sp>
        <p:nvSpPr>
          <p:cNvPr id="283" name="r"/>
          <p:cNvSpPr/>
          <p:nvPr/>
        </p:nvSpPr>
        <p:spPr>
          <a:xfrm>
            <a:off x="560000" y="1580000"/>
            <a:ext cx="3000000" cy="72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Comparison group</a:t>
            </a:r>
          </a:p>
        </p:txBody>
      </p:sp>
      <p:sp>
        <p:nvSpPr>
          <p:cNvPr id="284" name="r"/>
          <p:cNvSpPr/>
          <p:nvPr/>
        </p:nvSpPr>
        <p:spPr>
          <a:xfrm>
            <a:off x="3560000" y="1580000"/>
            <a:ext cx="4200000" cy="72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What it means</a:t>
            </a:r>
          </a:p>
        </p:txBody>
      </p:sp>
      <p:sp>
        <p:nvSpPr>
          <p:cNvPr id="285" name="r"/>
          <p:cNvSpPr/>
          <p:nvPr/>
        </p:nvSpPr>
        <p:spPr>
          <a:xfrm>
            <a:off x="7760000" y="1580000"/>
            <a:ext cx="3872000" cy="72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Why it matters</a:t>
            </a:r>
          </a:p>
        </p:txBody>
      </p:sp>
      <p:sp>
        <p:nvSpPr>
          <p:cNvPr id="286" name="r"/>
          <p:cNvSpPr/>
          <p:nvPr/>
        </p:nvSpPr>
        <p:spPr>
          <a:xfrm>
            <a:off x="560000" y="2300000"/>
            <a:ext cx="30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Usual care (TAU)</a:t>
            </a:r>
          </a:p>
        </p:txBody>
      </p:sp>
      <p:sp>
        <p:nvSpPr>
          <p:cNvPr id="287" name="r"/>
          <p:cNvSpPr/>
          <p:nvPr/>
        </p:nvSpPr>
        <p:spPr>
          <a:xfrm>
            <a:off x="3560000" y="2300000"/>
            <a:ext cx="42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The routine care people would normally get</a:t>
            </a:r>
          </a:p>
        </p:txBody>
      </p:sp>
      <p:sp>
        <p:nvSpPr>
          <p:cNvPr id="288" name="r"/>
          <p:cNvSpPr/>
          <p:nvPr/>
        </p:nvSpPr>
        <p:spPr>
          <a:xfrm>
            <a:off x="7760000" y="2300000"/>
            <a:ext cx="3872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Most common; if usual care is weak, MBT looks better than it is</a:t>
            </a:r>
          </a:p>
        </p:txBody>
      </p:sp>
      <p:sp>
        <p:nvSpPr>
          <p:cNvPr id="289" name="r"/>
          <p:cNvSpPr/>
          <p:nvPr/>
        </p:nvSpPr>
        <p:spPr>
          <a:xfrm>
            <a:off x="560000" y="3020000"/>
            <a:ext cx="30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Structured support</a:t>
            </a:r>
          </a:p>
        </p:txBody>
      </p:sp>
      <p:sp>
        <p:nvSpPr>
          <p:cNvPr id="290" name="r"/>
          <p:cNvSpPr/>
          <p:nvPr/>
        </p:nvSpPr>
        <p:spPr>
          <a:xfrm>
            <a:off x="3560000" y="3020000"/>
            <a:ext cx="42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Organised general support (a fair, active comparison)</a:t>
            </a:r>
          </a:p>
        </p:txBody>
      </p:sp>
      <p:sp>
        <p:nvSpPr>
          <p:cNvPr id="291" name="r"/>
          <p:cNvSpPr/>
          <p:nvPr/>
        </p:nvSpPr>
        <p:spPr>
          <a:xfrm>
            <a:off x="7760000" y="3020000"/>
            <a:ext cx="3872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A tougher test - MBT's extra benefit looks smaller</a:t>
            </a:r>
          </a:p>
        </p:txBody>
      </p:sp>
      <p:sp>
        <p:nvSpPr>
          <p:cNvPr id="292" name="r"/>
          <p:cNvSpPr/>
          <p:nvPr/>
        </p:nvSpPr>
        <p:spPr>
          <a:xfrm>
            <a:off x="560000" y="3740000"/>
            <a:ext cx="30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Waiting list</a:t>
            </a:r>
          </a:p>
        </p:txBody>
      </p:sp>
      <p:sp>
        <p:nvSpPr>
          <p:cNvPr id="293" name="r"/>
          <p:cNvSpPr/>
          <p:nvPr/>
        </p:nvSpPr>
        <p:spPr>
          <a:xfrm>
            <a:off x="3560000" y="3740000"/>
            <a:ext cx="42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No active therapy yet</a:t>
            </a:r>
          </a:p>
        </p:txBody>
      </p:sp>
      <p:sp>
        <p:nvSpPr>
          <p:cNvPr id="294" name="r"/>
          <p:cNvSpPr/>
          <p:nvPr/>
        </p:nvSpPr>
        <p:spPr>
          <a:xfrm>
            <a:off x="7760000" y="3740000"/>
            <a:ext cx="3872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Makes any therapy look better than it really is</a:t>
            </a:r>
          </a:p>
        </p:txBody>
      </p:sp>
      <p:sp>
        <p:nvSpPr>
          <p:cNvPr id="295" name="r"/>
          <p:cNvSpPr/>
          <p:nvPr/>
        </p:nvSpPr>
        <p:spPr>
          <a:xfrm>
            <a:off x="560000" y="4460000"/>
            <a:ext cx="30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Another therapy</a:t>
            </a:r>
          </a:p>
        </p:txBody>
      </p:sp>
      <p:sp>
        <p:nvSpPr>
          <p:cNvPr id="296" name="r"/>
          <p:cNvSpPr/>
          <p:nvPr/>
        </p:nvSpPr>
        <p:spPr>
          <a:xfrm>
            <a:off x="3560000" y="4460000"/>
            <a:ext cx="42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e.g., DBT or supportive therapy</a:t>
            </a:r>
          </a:p>
        </p:txBody>
      </p:sp>
      <p:sp>
        <p:nvSpPr>
          <p:cNvPr id="297" name="r"/>
          <p:cNvSpPr/>
          <p:nvPr/>
        </p:nvSpPr>
        <p:spPr>
          <a:xfrm>
            <a:off x="7760000" y="4460000"/>
            <a:ext cx="3872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Direct comparison; rare in this area</a:t>
            </a:r>
          </a:p>
        </p:txBody>
      </p:sp>
      <p:sp>
        <p:nvSpPr>
          <p:cNvPr id="298" name="card"/>
          <p:cNvSpPr/>
          <p:nvPr/>
        </p:nvSpPr>
        <p:spPr>
          <a:xfrm>
            <a:off x="560000" y="521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 result depends heavily on the comparison. Beating a waiting list is easy; beating real structured support is a much harder, more meaningful test.</a:t>
            </a:r>
          </a:p>
        </p:txBody>
      </p:sp>
      <p:sp>
        <p:nvSpPr>
          <p:cNvPr id="299"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00"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21</a:t>
            </a: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02"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OUTCOMES</a:t>
            </a:r>
          </a:p>
        </p:txBody>
      </p:sp>
      <p:sp>
        <p:nvSpPr>
          <p:cNvPr id="303"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Was Measured</a:t>
            </a:r>
          </a:p>
        </p:txBody>
      </p:sp>
      <p:cxnSp>
        <p:nvCxnSpPr>
          <p:cNvPr id="304" name="ln"/>
          <p:cNvCxnSpPr/>
          <p:nvPr/>
        </p:nvCxnSpPr>
        <p:spPr>
          <a:xfrm>
            <a:off x="560000" y="1320000"/>
            <a:ext cx="11072000" cy="0"/>
          </a:xfrm>
          <a:prstGeom prst="line">
            <a:avLst/>
          </a:prstGeom>
          <a:ln w="28575">
            <a:solidFill>
              <a:srgbClr val="D6C7EE"/>
            </a:solidFill>
          </a:ln>
        </p:spPr>
      </p:cxnSp>
      <p:sp>
        <p:nvSpPr>
          <p:cNvPr id="305" name="card"/>
          <p:cNvSpPr/>
          <p:nvPr/>
        </p:nvSpPr>
        <p:spPr>
          <a:xfrm>
            <a:off x="560000" y="1580000"/>
            <a:ext cx="5386000" cy="4658000"/>
          </a:xfrm>
          <a:prstGeom prst="roundRect">
            <a:avLst/>
          </a:prstGeom>
          <a:solidFill>
            <a:srgbClr val="F7D9E0"/>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650" b="1" dirty="0">
                <a:solidFill>
                  <a:srgbClr val="6E5AA6"/>
                </a:solidFill>
                <a:latin typeface="Calibri"/>
              </a:rPr>
              <a:t>Main outcomes</a:t>
            </a:r>
          </a:p>
          <a:p>
            <a:pPr marL="342900" indent="-228600" lvl="0" algn="l">
              <a:spcAft>
                <a:spcPts val="260"/>
              </a:spcAft>
              <a:buFont typeface="Arial"/>
              <a:buChar char="•"/>
            </a:pPr>
            <a:r>
              <a:rPr lang="en-US" sz="1400" dirty="0">
                <a:solidFill>
                  <a:srgbClr val="2E2E38"/>
                </a:solidFill>
                <a:latin typeface="Calibri"/>
              </a:rPr>
              <a:t>How often self-harm happened (number of episodes)</a:t>
            </a:r>
          </a:p>
          <a:p>
            <a:pPr marL="342900" indent="-228600" lvl="0" algn="l">
              <a:spcAft>
                <a:spcPts val="260"/>
              </a:spcAft>
              <a:buFont typeface="Arial"/>
              <a:buChar char="•"/>
            </a:pPr>
            <a:r>
              <a:rPr lang="en-US" sz="1400" dirty="0">
                <a:solidFill>
                  <a:srgbClr val="2E2E38"/>
                </a:solidFill>
                <a:latin typeface="Calibri"/>
              </a:rPr>
              <a:t>How severe the self-harm was</a:t>
            </a:r>
          </a:p>
          <a:p>
            <a:pPr marL="342900" indent="-228600" lvl="0" algn="l">
              <a:spcAft>
                <a:spcPts val="260"/>
              </a:spcAft>
              <a:buFont typeface="Arial"/>
              <a:buChar char="•"/>
            </a:pPr>
            <a:r>
              <a:rPr lang="en-US" sz="1400" dirty="0">
                <a:solidFill>
                  <a:srgbClr val="2E2E38"/>
                </a:solidFill>
                <a:latin typeface="Calibri"/>
              </a:rPr>
              <a:t>How long until it happened again</a:t>
            </a:r>
          </a:p>
          <a:p>
            <a:pPr marL="342900" indent="-228600" lvl="0" algn="l">
              <a:spcAft>
                <a:spcPts val="0"/>
              </a:spcAft>
              <a:buFont typeface="Arial"/>
              <a:buChar char="•"/>
            </a:pPr>
            <a:r>
              <a:rPr lang="en-US" sz="1400" dirty="0">
                <a:solidFill>
                  <a:srgbClr val="2E2E38"/>
                </a:solidFill>
                <a:latin typeface="Calibri"/>
              </a:rPr>
              <a:t>Suicidal behaviour</a:t>
            </a:r>
          </a:p>
        </p:txBody>
      </p:sp>
      <p:sp>
        <p:nvSpPr>
          <p:cNvPr id="306" name="card"/>
          <p:cNvSpPr/>
          <p:nvPr/>
        </p:nvSpPr>
        <p:spPr>
          <a:xfrm>
            <a:off x="6246000" y="1580000"/>
            <a:ext cx="5386000" cy="465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650" b="1" dirty="0">
                <a:solidFill>
                  <a:srgbClr val="6E5AA6"/>
                </a:solidFill>
                <a:latin typeface="Calibri"/>
              </a:rPr>
              <a:t>Other outcomes</a:t>
            </a:r>
          </a:p>
          <a:p>
            <a:pPr marL="342900" indent="-228600" lvl="0" algn="l">
              <a:spcAft>
                <a:spcPts val="240"/>
              </a:spcAft>
              <a:buFont typeface="Arial"/>
              <a:buChar char="•"/>
            </a:pPr>
            <a:r>
              <a:rPr lang="en-US" sz="1400" dirty="0">
                <a:solidFill>
                  <a:srgbClr val="2E2E38"/>
                </a:solidFill>
                <a:latin typeface="Calibri"/>
              </a:rPr>
              <a:t>Borderline personality symptoms</a:t>
            </a:r>
          </a:p>
          <a:p>
            <a:pPr marL="342900" indent="-228600" lvl="0" algn="l">
              <a:spcAft>
                <a:spcPts val="240"/>
              </a:spcAft>
              <a:buFont typeface="Arial"/>
              <a:buChar char="•"/>
            </a:pPr>
            <a:r>
              <a:rPr lang="en-US" sz="1400" dirty="0">
                <a:solidFill>
                  <a:srgbClr val="2E2E38"/>
                </a:solidFill>
                <a:latin typeface="Calibri"/>
              </a:rPr>
              <a:t>Depression and anxiety</a:t>
            </a:r>
          </a:p>
          <a:p>
            <a:pPr marL="342900" indent="-228600" lvl="0" algn="l">
              <a:spcAft>
                <a:spcPts val="240"/>
              </a:spcAft>
              <a:buFont typeface="Arial"/>
              <a:buChar char="•"/>
            </a:pPr>
            <a:r>
              <a:rPr lang="en-US" sz="1400" dirty="0">
                <a:solidFill>
                  <a:srgbClr val="2E2E38"/>
                </a:solidFill>
                <a:latin typeface="Calibri"/>
              </a:rPr>
              <a:t>Emotion control and impulsivity (acting without thinking)</a:t>
            </a:r>
          </a:p>
          <a:p>
            <a:pPr marL="342900" indent="-228600" lvl="0" algn="l">
              <a:spcAft>
                <a:spcPts val="240"/>
              </a:spcAft>
              <a:buFont typeface="Arial"/>
              <a:buChar char="•"/>
            </a:pPr>
            <a:r>
              <a:rPr lang="en-US" sz="1400" dirty="0">
                <a:solidFill>
                  <a:srgbClr val="2E2E38"/>
                </a:solidFill>
                <a:latin typeface="Calibri"/>
              </a:rPr>
              <a:t>General functioning / quality of life</a:t>
            </a:r>
          </a:p>
          <a:p>
            <a:pPr marL="342900" indent="-228600" lvl="0" algn="l">
              <a:spcAft>
                <a:spcPts val="0"/>
              </a:spcAft>
              <a:buFont typeface="Arial"/>
              <a:buChar char="•"/>
            </a:pPr>
            <a:r>
              <a:rPr lang="en-US" sz="1400" dirty="0">
                <a:solidFill>
                  <a:srgbClr val="2E2E38"/>
                </a:solidFill>
                <a:latin typeface="Calibri"/>
              </a:rPr>
              <a:t>Staying in treatment; use of hospital services</a:t>
            </a:r>
          </a:p>
        </p:txBody>
      </p:sp>
      <p:sp>
        <p:nvSpPr>
          <p:cNvPr id="307"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08"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22</a:t>
            </a:r>
          </a:p>
        </p:txBody>
      </p:sp>
    </p:spTree>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10"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RISK OF BIAS - CONFIRM FROM PAPER</a:t>
            </a:r>
          </a:p>
        </p:txBody>
      </p:sp>
      <p:sp>
        <p:nvSpPr>
          <p:cNvPr id="311"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Trustworthy Were the Studies?</a:t>
            </a:r>
          </a:p>
        </p:txBody>
      </p:sp>
      <p:cxnSp>
        <p:nvCxnSpPr>
          <p:cNvPr id="312" name="ln"/>
          <p:cNvCxnSpPr/>
          <p:nvPr/>
        </p:nvCxnSpPr>
        <p:spPr>
          <a:xfrm>
            <a:off x="560000" y="1320000"/>
            <a:ext cx="11072000" cy="0"/>
          </a:xfrm>
          <a:prstGeom prst="line">
            <a:avLst/>
          </a:prstGeom>
          <a:ln w="28575">
            <a:solidFill>
              <a:srgbClr val="D6C7EE"/>
            </a:solidFill>
          </a:ln>
        </p:spPr>
      </p:cxnSp>
      <p:sp>
        <p:nvSpPr>
          <p:cNvPr id="313" name="tb"/>
          <p:cNvSpPr txBox="1"/>
          <p:nvPr/>
        </p:nvSpPr>
        <p:spPr>
          <a:xfrm>
            <a:off x="560000" y="2070000"/>
            <a:ext cx="2900000" cy="47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Fair random grouping</a:t>
            </a:r>
          </a:p>
        </p:txBody>
      </p:sp>
      <p:sp>
        <p:nvSpPr>
          <p:cNvPr id="314" name="tb"/>
          <p:cNvSpPr txBox="1"/>
          <p:nvPr/>
        </p:nvSpPr>
        <p:spPr>
          <a:xfrm>
            <a:off x="560000" y="2540000"/>
            <a:ext cx="2900000" cy="47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Group hidden from staff</a:t>
            </a:r>
          </a:p>
        </p:txBody>
      </p:sp>
      <p:sp>
        <p:nvSpPr>
          <p:cNvPr id="315" name="tb"/>
          <p:cNvSpPr txBox="1"/>
          <p:nvPr/>
        </p:nvSpPr>
        <p:spPr>
          <a:xfrm>
            <a:off x="560000" y="3010000"/>
            <a:ext cx="2900000" cy="47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Assessor didn't know the group</a:t>
            </a:r>
          </a:p>
        </p:txBody>
      </p:sp>
      <p:sp>
        <p:nvSpPr>
          <p:cNvPr id="316" name="tb"/>
          <p:cNvSpPr txBox="1"/>
          <p:nvPr/>
        </p:nvSpPr>
        <p:spPr>
          <a:xfrm>
            <a:off x="560000" y="3480000"/>
            <a:ext cx="2900000" cy="47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Few people dropped out</a:t>
            </a:r>
          </a:p>
        </p:txBody>
      </p:sp>
      <p:sp>
        <p:nvSpPr>
          <p:cNvPr id="317" name="tb"/>
          <p:cNvSpPr txBox="1"/>
          <p:nvPr/>
        </p:nvSpPr>
        <p:spPr>
          <a:xfrm>
            <a:off x="560000" y="3950000"/>
            <a:ext cx="2900000" cy="47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All results reported</a:t>
            </a:r>
          </a:p>
        </p:txBody>
      </p:sp>
      <p:sp>
        <p:nvSpPr>
          <p:cNvPr id="318" name="tb"/>
          <p:cNvSpPr txBox="1"/>
          <p:nvPr/>
        </p:nvSpPr>
        <p:spPr>
          <a:xfrm>
            <a:off x="560000" y="4420000"/>
            <a:ext cx="2900000" cy="47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Therapy given as intended</a:t>
            </a:r>
          </a:p>
        </p:txBody>
      </p:sp>
      <p:sp>
        <p:nvSpPr>
          <p:cNvPr id="319" name="tb"/>
          <p:cNvSpPr txBox="1"/>
          <p:nvPr/>
        </p:nvSpPr>
        <p:spPr>
          <a:xfrm>
            <a:off x="3360000" y="1620000"/>
            <a:ext cx="1350000" cy="470000"/>
          </a:xfrm>
          <a:prstGeom prst="rect">
            <a:avLst/>
          </a:prstGeom>
          <a:noFill/>
        </p:spPr>
        <p:txBody>
          <a:bodyPr wrap="square" anchor="ctr" lIns="45720" tIns="27432" rIns="45720" bIns="27432">
            <a:normAutofit/>
          </a:bodyPr>
          <a:p>
            <a:pPr lvl="0" algn="ctr">
              <a:spcAft>
                <a:spcPts val="0"/>
              </a:spcAft>
              <a:buNone/>
            </a:pPr>
            <a:r>
              <a:rPr lang="en-US" sz="1150" b="1" dirty="0">
                <a:solidFill>
                  <a:srgbClr val="2E2E38"/>
                </a:solidFill>
                <a:latin typeface="Calibri"/>
              </a:rPr>
              <a:t>Rossouw 2012</a:t>
            </a:r>
          </a:p>
        </p:txBody>
      </p:sp>
      <p:sp>
        <p:nvSpPr>
          <p:cNvPr id="320" name="tb"/>
          <p:cNvSpPr txBox="1"/>
          <p:nvPr/>
        </p:nvSpPr>
        <p:spPr>
          <a:xfrm>
            <a:off x="4710000" y="1620000"/>
            <a:ext cx="1350000" cy="470000"/>
          </a:xfrm>
          <a:prstGeom prst="rect">
            <a:avLst/>
          </a:prstGeom>
          <a:noFill/>
        </p:spPr>
        <p:txBody>
          <a:bodyPr wrap="square" anchor="ctr" lIns="45720" tIns="27432" rIns="45720" bIns="27432">
            <a:normAutofit/>
          </a:bodyPr>
          <a:p>
            <a:pPr lvl="0" algn="ctr">
              <a:spcAft>
                <a:spcPts val="0"/>
              </a:spcAft>
              <a:buNone/>
            </a:pPr>
            <a:r>
              <a:rPr lang="en-US" sz="1150" b="1" dirty="0">
                <a:solidFill>
                  <a:srgbClr val="2E2E38"/>
                </a:solidFill>
                <a:latin typeface="Calibri"/>
              </a:rPr>
              <a:t>Bateman 2009</a:t>
            </a:r>
          </a:p>
        </p:txBody>
      </p:sp>
      <p:sp>
        <p:nvSpPr>
          <p:cNvPr id="321" name="tb"/>
          <p:cNvSpPr txBox="1"/>
          <p:nvPr/>
        </p:nvSpPr>
        <p:spPr>
          <a:xfrm>
            <a:off x="6060000" y="1620000"/>
            <a:ext cx="1350000" cy="470000"/>
          </a:xfrm>
          <a:prstGeom prst="rect">
            <a:avLst/>
          </a:prstGeom>
          <a:noFill/>
        </p:spPr>
        <p:txBody>
          <a:bodyPr wrap="square" anchor="ctr" lIns="45720" tIns="27432" rIns="45720" bIns="27432">
            <a:normAutofit/>
          </a:bodyPr>
          <a:p>
            <a:pPr lvl="0" algn="ctr">
              <a:spcAft>
                <a:spcPts val="0"/>
              </a:spcAft>
              <a:buNone/>
            </a:pPr>
            <a:r>
              <a:rPr lang="en-US" sz="1150" b="1" dirty="0">
                <a:solidFill>
                  <a:srgbClr val="2E2E38"/>
                </a:solidFill>
                <a:latin typeface="Calibri"/>
              </a:rPr>
              <a:t>Laurenssen 2018</a:t>
            </a:r>
          </a:p>
        </p:txBody>
      </p:sp>
      <p:sp>
        <p:nvSpPr>
          <p:cNvPr id="322" name="tb"/>
          <p:cNvSpPr txBox="1"/>
          <p:nvPr/>
        </p:nvSpPr>
        <p:spPr>
          <a:xfrm>
            <a:off x="7410000" y="1620000"/>
            <a:ext cx="1350000" cy="470000"/>
          </a:xfrm>
          <a:prstGeom prst="rect">
            <a:avLst/>
          </a:prstGeom>
          <a:noFill/>
        </p:spPr>
        <p:txBody>
          <a:bodyPr wrap="square" anchor="ctr" lIns="45720" tIns="27432" rIns="45720" bIns="27432">
            <a:normAutofit/>
          </a:bodyPr>
          <a:p>
            <a:pPr lvl="0" algn="ctr">
              <a:spcAft>
                <a:spcPts val="0"/>
              </a:spcAft>
              <a:buNone/>
            </a:pPr>
            <a:r>
              <a:rPr lang="en-US" sz="1150" b="1" dirty="0">
                <a:solidFill>
                  <a:srgbClr val="2E2E38"/>
                </a:solidFill>
                <a:latin typeface="Calibri"/>
              </a:rPr>
              <a:t>Beck 2020</a:t>
            </a:r>
          </a:p>
        </p:txBody>
      </p:sp>
      <p:sp>
        <p:nvSpPr>
          <p:cNvPr id="323" name="o"/>
          <p:cNvSpPr/>
          <p:nvPr/>
        </p:nvSpPr>
        <p:spPr>
          <a:xfrm>
            <a:off x="3885000.0" y="215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24" name="o"/>
          <p:cNvSpPr/>
          <p:nvPr/>
        </p:nvSpPr>
        <p:spPr>
          <a:xfrm>
            <a:off x="5235000.0" y="215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25" name="o"/>
          <p:cNvSpPr/>
          <p:nvPr/>
        </p:nvSpPr>
        <p:spPr>
          <a:xfrm>
            <a:off x="6585000.0" y="215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26" name="o"/>
          <p:cNvSpPr/>
          <p:nvPr/>
        </p:nvSpPr>
        <p:spPr>
          <a:xfrm>
            <a:off x="7935000.0" y="215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27" name="o"/>
          <p:cNvSpPr/>
          <p:nvPr/>
        </p:nvSpPr>
        <p:spPr>
          <a:xfrm>
            <a:off x="3885000.0" y="262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28" name="o"/>
          <p:cNvSpPr/>
          <p:nvPr/>
        </p:nvSpPr>
        <p:spPr>
          <a:xfrm>
            <a:off x="5235000.0" y="262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29" name="o"/>
          <p:cNvSpPr/>
          <p:nvPr/>
        </p:nvSpPr>
        <p:spPr>
          <a:xfrm>
            <a:off x="6585000.0" y="262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30" name="o"/>
          <p:cNvSpPr/>
          <p:nvPr/>
        </p:nvSpPr>
        <p:spPr>
          <a:xfrm>
            <a:off x="7935000.0" y="262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31" name="o"/>
          <p:cNvSpPr/>
          <p:nvPr/>
        </p:nvSpPr>
        <p:spPr>
          <a:xfrm>
            <a:off x="3885000.0" y="309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32" name="o"/>
          <p:cNvSpPr/>
          <p:nvPr/>
        </p:nvSpPr>
        <p:spPr>
          <a:xfrm>
            <a:off x="5235000.0" y="309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33" name="o"/>
          <p:cNvSpPr/>
          <p:nvPr/>
        </p:nvSpPr>
        <p:spPr>
          <a:xfrm>
            <a:off x="6585000.0" y="309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34" name="o"/>
          <p:cNvSpPr/>
          <p:nvPr/>
        </p:nvSpPr>
        <p:spPr>
          <a:xfrm>
            <a:off x="7935000.0" y="309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35" name="o"/>
          <p:cNvSpPr/>
          <p:nvPr/>
        </p:nvSpPr>
        <p:spPr>
          <a:xfrm>
            <a:off x="3885000.0" y="356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36" name="o"/>
          <p:cNvSpPr/>
          <p:nvPr/>
        </p:nvSpPr>
        <p:spPr>
          <a:xfrm>
            <a:off x="5235000.0" y="356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37" name="o"/>
          <p:cNvSpPr/>
          <p:nvPr/>
        </p:nvSpPr>
        <p:spPr>
          <a:xfrm>
            <a:off x="6585000.0" y="356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38" name="o"/>
          <p:cNvSpPr/>
          <p:nvPr/>
        </p:nvSpPr>
        <p:spPr>
          <a:xfrm>
            <a:off x="7935000.0" y="356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39" name="o"/>
          <p:cNvSpPr/>
          <p:nvPr/>
        </p:nvSpPr>
        <p:spPr>
          <a:xfrm>
            <a:off x="3885000.0" y="403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40" name="o"/>
          <p:cNvSpPr/>
          <p:nvPr/>
        </p:nvSpPr>
        <p:spPr>
          <a:xfrm>
            <a:off x="5235000.0" y="403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41" name="o"/>
          <p:cNvSpPr/>
          <p:nvPr/>
        </p:nvSpPr>
        <p:spPr>
          <a:xfrm>
            <a:off x="6585000.0" y="403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42" name="o"/>
          <p:cNvSpPr/>
          <p:nvPr/>
        </p:nvSpPr>
        <p:spPr>
          <a:xfrm>
            <a:off x="7935000.0" y="403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43" name="o"/>
          <p:cNvSpPr/>
          <p:nvPr/>
        </p:nvSpPr>
        <p:spPr>
          <a:xfrm>
            <a:off x="3885000.0" y="450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44" name="o"/>
          <p:cNvSpPr/>
          <p:nvPr/>
        </p:nvSpPr>
        <p:spPr>
          <a:xfrm>
            <a:off x="5235000.0" y="450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45" name="o"/>
          <p:cNvSpPr/>
          <p:nvPr/>
        </p:nvSpPr>
        <p:spPr>
          <a:xfrm>
            <a:off x="6585000.0" y="450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46" name="o"/>
          <p:cNvSpPr/>
          <p:nvPr/>
        </p:nvSpPr>
        <p:spPr>
          <a:xfrm>
            <a:off x="7935000.0" y="450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47" name="o"/>
          <p:cNvSpPr/>
          <p:nvPr/>
        </p:nvSpPr>
        <p:spPr>
          <a:xfrm>
            <a:off x="560000" y="4960000"/>
            <a:ext cx="260000" cy="26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48" name="tb"/>
          <p:cNvSpPr txBox="1"/>
          <p:nvPr/>
        </p:nvSpPr>
        <p:spPr>
          <a:xfrm>
            <a:off x="880000" y="4930000"/>
            <a:ext cx="1500000" cy="320000"/>
          </a:xfrm>
          <a:prstGeom prst="rect">
            <a:avLst/>
          </a:prstGeom>
          <a:noFill/>
        </p:spPr>
        <p:txBody>
          <a:bodyPr wrap="square" anchor="ctr" lIns="45720" tIns="27432" rIns="45720" bIns="27432">
            <a:normAutofit/>
          </a:bodyPr>
          <a:p>
            <a:pPr lvl="0" algn="l">
              <a:spcAft>
                <a:spcPts val="0"/>
              </a:spcAft>
              <a:buNone/>
            </a:pPr>
            <a:r>
              <a:rPr lang="en-US" sz="1150" dirty="0">
                <a:solidFill>
                  <a:srgbClr val="2E2E38"/>
                </a:solidFill>
                <a:latin typeface="Calibri"/>
              </a:rPr>
              <a:t>Low risk (good)</a:t>
            </a:r>
          </a:p>
        </p:txBody>
      </p:sp>
      <p:sp>
        <p:nvSpPr>
          <p:cNvPr id="349" name="o"/>
          <p:cNvSpPr/>
          <p:nvPr/>
        </p:nvSpPr>
        <p:spPr>
          <a:xfrm>
            <a:off x="2560000" y="4960000"/>
            <a:ext cx="260000" cy="26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50" name="tb"/>
          <p:cNvSpPr txBox="1"/>
          <p:nvPr/>
        </p:nvSpPr>
        <p:spPr>
          <a:xfrm>
            <a:off x="2880000" y="4930000"/>
            <a:ext cx="1800000" cy="320000"/>
          </a:xfrm>
          <a:prstGeom prst="rect">
            <a:avLst/>
          </a:prstGeom>
          <a:noFill/>
        </p:spPr>
        <p:txBody>
          <a:bodyPr wrap="square" anchor="ctr" lIns="45720" tIns="27432" rIns="45720" bIns="27432">
            <a:normAutofit/>
          </a:bodyPr>
          <a:p>
            <a:pPr lvl="0" algn="l">
              <a:spcAft>
                <a:spcPts val="0"/>
              </a:spcAft>
              <a:buNone/>
            </a:pPr>
            <a:r>
              <a:rPr lang="en-US" sz="1150" dirty="0">
                <a:solidFill>
                  <a:srgbClr val="2E2E38"/>
                </a:solidFill>
                <a:latin typeface="Calibri"/>
              </a:rPr>
              <a:t>Some concerns</a:t>
            </a:r>
          </a:p>
        </p:txBody>
      </p:sp>
      <p:sp>
        <p:nvSpPr>
          <p:cNvPr id="351" name="o"/>
          <p:cNvSpPr/>
          <p:nvPr/>
        </p:nvSpPr>
        <p:spPr>
          <a:xfrm>
            <a:off x="4760000" y="4960000"/>
            <a:ext cx="260000" cy="260000"/>
          </a:xfrm>
          <a:prstGeom prst="ellipse">
            <a:avLst/>
          </a:prstGeom>
          <a:solidFill>
            <a:srgbClr val="E39B9B"/>
          </a:solidFill>
          <a:ln w="12700">
            <a:solidFill>
              <a:srgbClr val="FFFFFF"/>
            </a:solidFill>
          </a:ln>
        </p:spPr>
        <p:txBody>
          <a:bodyPr wrap="square" anchor="ctr" lIns="45720" tIns="18288" rIns="45720" bIns="18288">
            <a:normAutofit/>
          </a:bodyPr>
          <a:p>
            <a:pPr>
              <a:buNone/>
            </a:pPr>
          </a:p>
        </p:txBody>
      </p:sp>
      <p:sp>
        <p:nvSpPr>
          <p:cNvPr id="352" name="tb"/>
          <p:cNvSpPr txBox="1"/>
          <p:nvPr/>
        </p:nvSpPr>
        <p:spPr>
          <a:xfrm>
            <a:off x="5080000" y="4930000"/>
            <a:ext cx="1600000" cy="320000"/>
          </a:xfrm>
          <a:prstGeom prst="rect">
            <a:avLst/>
          </a:prstGeom>
          <a:noFill/>
        </p:spPr>
        <p:txBody>
          <a:bodyPr wrap="square" anchor="ctr" lIns="45720" tIns="27432" rIns="45720" bIns="27432">
            <a:normAutofit/>
          </a:bodyPr>
          <a:p>
            <a:pPr lvl="0" algn="l">
              <a:spcAft>
                <a:spcPts val="0"/>
              </a:spcAft>
              <a:buNone/>
            </a:pPr>
            <a:r>
              <a:rPr lang="en-US" sz="1150" dirty="0">
                <a:solidFill>
                  <a:srgbClr val="2E2E38"/>
                </a:solidFill>
                <a:latin typeface="Calibri"/>
              </a:rPr>
              <a:t>High risk (weak)</a:t>
            </a:r>
          </a:p>
        </p:txBody>
      </p:sp>
      <p:sp>
        <p:nvSpPr>
          <p:cNvPr id="353" name="card"/>
          <p:cNvSpPr/>
          <p:nvPr/>
        </p:nvSpPr>
        <p:spPr>
          <a:xfrm>
            <a:off x="560000" y="536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Green = well done, yellow = some doubts, red = weak. In talking-therapy trials, hiding which group a person is in is hard, so 'blinding' is often the weak spot. This grid is an example - use the paper's real ratings.</a:t>
            </a:r>
          </a:p>
        </p:txBody>
      </p:sp>
      <p:sp>
        <p:nvSpPr>
          <p:cNvPr id="354"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55"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23</a:t>
            </a:r>
          </a:p>
        </p:txBody>
      </p:sp>
    </p:spTree>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57"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HOW RESULTS WERE COMBINED</a:t>
            </a:r>
          </a:p>
        </p:txBody>
      </p:sp>
      <p:sp>
        <p:nvSpPr>
          <p:cNvPr id="358"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The Statistics, in Plain English</a:t>
            </a:r>
          </a:p>
        </p:txBody>
      </p:sp>
      <p:cxnSp>
        <p:nvCxnSpPr>
          <p:cNvPr id="359" name="ln"/>
          <p:cNvCxnSpPr/>
          <p:nvPr/>
        </p:nvCxnSpPr>
        <p:spPr>
          <a:xfrm>
            <a:off x="560000" y="1320000"/>
            <a:ext cx="11072000" cy="0"/>
          </a:xfrm>
          <a:prstGeom prst="line">
            <a:avLst/>
          </a:prstGeom>
          <a:ln w="28575">
            <a:solidFill>
              <a:srgbClr val="D6C7EE"/>
            </a:solidFill>
          </a:ln>
        </p:spPr>
      </p:cxnSp>
      <p:sp>
        <p:nvSpPr>
          <p:cNvPr id="360" name="card"/>
          <p:cNvSpPr/>
          <p:nvPr/>
        </p:nvSpPr>
        <p:spPr>
          <a:xfrm>
            <a:off x="560000" y="1580000"/>
            <a:ext cx="5386000" cy="4198000"/>
          </a:xfrm>
          <a:prstGeom prst="roundRect">
            <a:avLst/>
          </a:prstGeom>
          <a:solidFill>
            <a:srgbClr val="EEF0F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80"/>
              </a:spcAft>
              <a:buNone/>
            </a:pPr>
            <a:r>
              <a:rPr lang="en-US" sz="1650" b="1" dirty="0">
                <a:solidFill>
                  <a:srgbClr val="6E5AA6"/>
                </a:solidFill>
                <a:latin typeface="Calibri"/>
              </a:rPr>
              <a:t>Key ideas</a:t>
            </a:r>
          </a:p>
          <a:p>
            <a:pPr marL="342900" indent="-228600" lvl="0" algn="l">
              <a:spcAft>
                <a:spcPts val="240"/>
              </a:spcAft>
              <a:buFont typeface="Arial"/>
              <a:buChar char="•"/>
            </a:pPr>
            <a:r>
              <a:rPr lang="en-US" sz="1400" dirty="0">
                <a:solidFill>
                  <a:srgbClr val="2E2E38"/>
                </a:solidFill>
                <a:latin typeface="Calibri"/>
              </a:rPr>
              <a:t>Effect size (Hedges' g) = one number for how big the benefit is; a negative number means self-harm went down (good).</a:t>
            </a:r>
          </a:p>
          <a:p>
            <a:pPr marL="342900" indent="-228600" lvl="0" algn="l">
              <a:spcAft>
                <a:spcPts val="240"/>
              </a:spcAft>
              <a:buFont typeface="Arial"/>
              <a:buChar char="•"/>
            </a:pPr>
            <a:r>
              <a:rPr lang="en-US" sz="1400" dirty="0">
                <a:solidFill>
                  <a:srgbClr val="2E2E38"/>
                </a:solidFill>
                <a:latin typeface="Calibri"/>
              </a:rPr>
              <a:t>Confidence interval (CI) = the range the true result probably sits in; a narrow range = more certain.</a:t>
            </a:r>
          </a:p>
          <a:p>
            <a:pPr marL="342900" indent="-228600" lvl="0" algn="l">
              <a:spcAft>
                <a:spcPts val="240"/>
              </a:spcAft>
              <a:buFont typeface="Arial"/>
              <a:buChar char="•"/>
            </a:pPr>
            <a:r>
              <a:rPr lang="en-US" sz="1400" dirty="0">
                <a:solidFill>
                  <a:srgbClr val="2E2E38"/>
                </a:solidFill>
                <a:latin typeface="Calibri"/>
              </a:rPr>
              <a:t>Random-effects model = a fair way to combine studies that are not identical.</a:t>
            </a:r>
          </a:p>
          <a:p>
            <a:pPr marL="342900" indent="-228600" lvl="0" algn="l">
              <a:spcAft>
                <a:spcPts val="0"/>
              </a:spcAft>
              <a:buFont typeface="Arial"/>
              <a:buChar char="•"/>
            </a:pPr>
            <a:r>
              <a:rPr lang="en-US" sz="1400" dirty="0">
                <a:solidFill>
                  <a:srgbClr val="2E2E38"/>
                </a:solidFill>
                <a:latin typeface="Calibri"/>
              </a:rPr>
              <a:t>I² = how much the studies disagree (higher = more disagreement).</a:t>
            </a:r>
          </a:p>
        </p:txBody>
      </p:sp>
      <p:sp>
        <p:nvSpPr>
          <p:cNvPr id="361" name="card"/>
          <p:cNvSpPr/>
          <p:nvPr/>
        </p:nvSpPr>
        <p:spPr>
          <a:xfrm>
            <a:off x="6246000" y="1580000"/>
            <a:ext cx="5386000" cy="419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lvl="0" algn="l">
              <a:spcAft>
                <a:spcPts val="280"/>
              </a:spcAft>
              <a:buNone/>
            </a:pPr>
            <a:r>
              <a:rPr lang="en-US" sz="1650" b="1" dirty="0">
                <a:solidFill>
                  <a:srgbClr val="6E5AA6"/>
                </a:solidFill>
                <a:latin typeface="Calibri"/>
              </a:rPr>
              <a:t>How big is 'big'? (effect size g)</a:t>
            </a:r>
          </a:p>
          <a:p>
            <a:pPr lvl="0" algn="l">
              <a:spcAft>
                <a:spcPts val="260"/>
              </a:spcAft>
              <a:buNone/>
            </a:pPr>
            <a:r>
              <a:rPr lang="en-US" sz="1400" b="1" dirty="0">
                <a:solidFill>
                  <a:srgbClr val="2E2E38"/>
                </a:solidFill>
                <a:latin typeface="Calibri"/>
              </a:rPr>
              <a:t>about 0.2 = small   •   0.5 = medium   •   0.8 = large</a:t>
            </a:r>
          </a:p>
          <a:p>
            <a:pPr lvl="0" algn="l">
              <a:spcAft>
                <a:spcPts val="0"/>
              </a:spcAft>
              <a:buNone/>
            </a:pPr>
            <a:r>
              <a:rPr lang="en-US" sz="1400" dirty="0">
                <a:solidFill>
                  <a:srgbClr val="2E2E38"/>
                </a:solidFill>
                <a:latin typeface="Calibri"/>
              </a:rPr>
              <a:t>A combined score summarises the average benefit across all studies. But if the studies disagree a lot (high I²), that single average can hide real differences between them.</a:t>
            </a:r>
          </a:p>
        </p:txBody>
      </p:sp>
      <p:sp>
        <p:nvSpPr>
          <p:cNvPr id="362" name="card"/>
          <p:cNvSpPr/>
          <p:nvPr/>
        </p:nvSpPr>
        <p:spPr>
          <a:xfrm>
            <a:off x="560000" y="5898000"/>
            <a:ext cx="11072000" cy="720000"/>
          </a:xfrm>
          <a:prstGeom prst="roundRect">
            <a:avLst/>
          </a:prstGeom>
          <a:solidFill>
            <a:srgbClr val="E7E0F7"/>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Remember:  </a:t>
            </a:r>
            <a:r>
              <a:rPr lang="en-US" sz="1400" dirty="0">
                <a:solidFill>
                  <a:srgbClr val="2E2E38"/>
                </a:solidFill>
                <a:latin typeface="Calibri"/>
              </a:rPr>
              <a:t>'statistically significant' (unlikely to be chance) is not the same as 'clinically meaningful' (makes a real difference to the patient). Always mention both.</a:t>
            </a:r>
          </a:p>
        </p:txBody>
      </p:sp>
      <p:sp>
        <p:nvSpPr>
          <p:cNvPr id="363"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64"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24</a:t>
            </a:r>
          </a:p>
        </p:txBody>
      </p:sp>
    </p:spTree>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66"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MAIN OUTCOME (VERIFIED FROM THE PAPER)</a:t>
            </a:r>
          </a:p>
        </p:txBody>
      </p:sp>
      <p:sp>
        <p:nvSpPr>
          <p:cNvPr id="367"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Result 1 - Self-Harm</a:t>
            </a:r>
          </a:p>
        </p:txBody>
      </p:sp>
      <p:cxnSp>
        <p:nvCxnSpPr>
          <p:cNvPr id="368" name="ln"/>
          <p:cNvCxnSpPr/>
          <p:nvPr/>
        </p:nvCxnSpPr>
        <p:spPr>
          <a:xfrm>
            <a:off x="560000" y="1320000"/>
            <a:ext cx="11072000" cy="0"/>
          </a:xfrm>
          <a:prstGeom prst="line">
            <a:avLst/>
          </a:prstGeom>
          <a:ln w="28575">
            <a:solidFill>
              <a:srgbClr val="D6C7EE"/>
            </a:solidFill>
          </a:ln>
        </p:spPr>
      </p:cxnSp>
      <p:cxnSp>
        <p:nvCxnSpPr>
          <p:cNvPr id="369" name="ln"/>
          <p:cNvCxnSpPr/>
          <p:nvPr/>
        </p:nvCxnSpPr>
        <p:spPr>
          <a:xfrm>
            <a:off x="4860000" y="1720000"/>
            <a:ext cx="3400000" cy="0"/>
          </a:xfrm>
          <a:prstGeom prst="line">
            <a:avLst/>
          </a:prstGeom>
          <a:ln w="12700">
            <a:solidFill>
              <a:srgbClr val="9AA0A6"/>
            </a:solidFill>
          </a:ln>
        </p:spPr>
      </p:cxnSp>
      <p:cxnSp>
        <p:nvCxnSpPr>
          <p:cNvPr id="370" name="ln"/>
          <p:cNvCxnSpPr/>
          <p:nvPr/>
        </p:nvCxnSpPr>
        <p:spPr>
          <a:xfrm>
            <a:off x="7126666" y="1720000"/>
            <a:ext cx="0" cy="1450000"/>
          </a:xfrm>
          <a:prstGeom prst="line">
            <a:avLst/>
          </a:prstGeom>
          <a:ln w="12700">
            <a:solidFill>
              <a:srgbClr val="B0B4B8"/>
            </a:solidFill>
          </a:ln>
        </p:spPr>
      </p:cxnSp>
      <p:sp>
        <p:nvSpPr>
          <p:cNvPr id="371" name="tb"/>
          <p:cNvSpPr txBox="1"/>
          <p:nvPr/>
        </p:nvSpPr>
        <p:spPr>
          <a:xfrm>
            <a:off x="6566666" y="3150000"/>
            <a:ext cx="1120000" cy="300000"/>
          </a:xfrm>
          <a:prstGeom prst="rect">
            <a:avLst/>
          </a:prstGeom>
          <a:noFill/>
        </p:spPr>
        <p:txBody>
          <a:bodyPr wrap="square" anchor="ctr" lIns="45720" tIns="27432" rIns="45720" bIns="27432">
            <a:normAutofit/>
          </a:bodyPr>
          <a:p>
            <a:pPr lvl="0" algn="ctr">
              <a:spcAft>
                <a:spcPts val="0"/>
              </a:spcAft>
              <a:buNone/>
            </a:pPr>
            <a:r>
              <a:rPr lang="en-US" sz="1050" dirty="0">
                <a:solidFill>
                  <a:srgbClr val="9AA0A6"/>
                </a:solidFill>
                <a:latin typeface="Calibri"/>
              </a:rPr>
              <a:t>0 = no effect</a:t>
            </a:r>
          </a:p>
        </p:txBody>
      </p:sp>
      <p:sp>
        <p:nvSpPr>
          <p:cNvPr id="372" name="tb"/>
          <p:cNvSpPr txBox="1"/>
          <p:nvPr/>
        </p:nvSpPr>
        <p:spPr>
          <a:xfrm>
            <a:off x="4240000" y="1380000"/>
            <a:ext cx="1240000" cy="300000"/>
          </a:xfrm>
          <a:prstGeom prst="rect">
            <a:avLst/>
          </a:prstGeom>
          <a:noFill/>
        </p:spPr>
        <p:txBody>
          <a:bodyPr wrap="square" anchor="ctr" lIns="45720" tIns="27432" rIns="45720" bIns="27432">
            <a:normAutofit/>
          </a:bodyPr>
          <a:p>
            <a:pPr lvl="0" algn="ctr">
              <a:spcAft>
                <a:spcPts val="0"/>
              </a:spcAft>
              <a:buNone/>
            </a:pPr>
            <a:r>
              <a:rPr lang="en-US" sz="1100" b="1" dirty="0">
                <a:solidFill>
                  <a:srgbClr val="3E7CB1"/>
                </a:solidFill>
                <a:latin typeface="Calibri"/>
              </a:rPr>
              <a:t>← favours MBT (better)</a:t>
            </a:r>
          </a:p>
        </p:txBody>
      </p:sp>
      <p:sp>
        <p:nvSpPr>
          <p:cNvPr id="373" name="tb"/>
          <p:cNvSpPr txBox="1"/>
          <p:nvPr/>
        </p:nvSpPr>
        <p:spPr>
          <a:xfrm>
            <a:off x="660000" y="1890000"/>
            <a:ext cx="4100000" cy="42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Self-harm (all MBT &amp; MBT-A studies combined)</a:t>
            </a:r>
          </a:p>
        </p:txBody>
      </p:sp>
      <p:cxnSp>
        <p:nvCxnSpPr>
          <p:cNvPr id="374" name="ln"/>
          <p:cNvCxnSpPr/>
          <p:nvPr/>
        </p:nvCxnSpPr>
        <p:spPr>
          <a:xfrm>
            <a:off x="5823333" y="1980000"/>
            <a:ext cx="736667" cy="0"/>
          </a:xfrm>
          <a:prstGeom prst="line">
            <a:avLst/>
          </a:prstGeom>
          <a:ln w="28575">
            <a:solidFill>
              <a:srgbClr val="C25E7A"/>
            </a:solidFill>
          </a:ln>
        </p:spPr>
      </p:cxnSp>
      <p:sp>
        <p:nvSpPr>
          <p:cNvPr id="375" name="r"/>
          <p:cNvSpPr/>
          <p:nvPr/>
        </p:nvSpPr>
        <p:spPr>
          <a:xfrm>
            <a:off x="6107333" y="1890000"/>
            <a:ext cx="180000" cy="180000"/>
          </a:xfrm>
          <a:prstGeom prst="rect">
            <a:avLst/>
          </a:prstGeom>
          <a:solidFill>
            <a:srgbClr val="C25E7A"/>
          </a:solidFill>
          <a:ln>
            <a:noFill/>
          </a:ln>
        </p:spPr>
        <p:txBody>
          <a:bodyPr wrap="square" anchor="ctr" lIns="45720" tIns="18288" rIns="45720" bIns="18288">
            <a:normAutofit/>
          </a:bodyPr>
          <a:p>
            <a:pPr>
              <a:buNone/>
            </a:pPr>
          </a:p>
        </p:txBody>
      </p:sp>
      <p:sp>
        <p:nvSpPr>
          <p:cNvPr id="376" name="tb"/>
          <p:cNvSpPr txBox="1"/>
          <p:nvPr/>
        </p:nvSpPr>
        <p:spPr>
          <a:xfrm>
            <a:off x="8340000" y="1890000"/>
            <a:ext cx="2600000" cy="420000"/>
          </a:xfrm>
          <a:prstGeom prst="rect">
            <a:avLst/>
          </a:prstGeom>
          <a:noFill/>
        </p:spPr>
        <p:txBody>
          <a:bodyPr wrap="square" anchor="ctr" lIns="45720" tIns="27432" rIns="45720" bIns="27432">
            <a:normAutofit/>
          </a:bodyPr>
          <a:p>
            <a:pPr lvl="0" algn="l">
              <a:spcAft>
                <a:spcPts val="0"/>
              </a:spcAft>
              <a:buNone/>
            </a:pPr>
            <a:r>
              <a:rPr lang="en-US" sz="1200" b="1" dirty="0">
                <a:solidFill>
                  <a:srgbClr val="2E2E38"/>
                </a:solidFill>
                <a:latin typeface="Calibri"/>
              </a:rPr>
              <a:t>g = -0.82  [-1.15, -0.50]</a:t>
            </a:r>
          </a:p>
        </p:txBody>
      </p:sp>
      <p:sp>
        <p:nvSpPr>
          <p:cNvPr id="377" name="card"/>
          <p:cNvSpPr/>
          <p:nvPr/>
        </p:nvSpPr>
        <p:spPr>
          <a:xfrm>
            <a:off x="560000" y="358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 square is the average benefit; the line is the uncertainty range. Both sit fully on the 'better' side of 0, so MBT clearly lowered self-harm - a large effect (g = -0.82). The line is wide because the studies were few and small, so read it as 'a real but not exact benefit'.</a:t>
            </a:r>
          </a:p>
        </p:txBody>
      </p:sp>
      <p:sp>
        <p:nvSpPr>
          <p:cNvPr id="378"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79"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25</a:t>
            </a:r>
          </a:p>
        </p:txBody>
      </p:sp>
    </p:spTree>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81"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KEEP IT SEPARATE FROM SELF-HARM</a:t>
            </a:r>
          </a:p>
        </p:txBody>
      </p:sp>
      <p:sp>
        <p:nvSpPr>
          <p:cNvPr id="382"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Result 2 - Suicidal Behaviour</a:t>
            </a:r>
          </a:p>
        </p:txBody>
      </p:sp>
      <p:cxnSp>
        <p:nvCxnSpPr>
          <p:cNvPr id="383" name="ln"/>
          <p:cNvCxnSpPr/>
          <p:nvPr/>
        </p:nvCxnSpPr>
        <p:spPr>
          <a:xfrm>
            <a:off x="560000" y="1320000"/>
            <a:ext cx="11072000" cy="0"/>
          </a:xfrm>
          <a:prstGeom prst="line">
            <a:avLst/>
          </a:prstGeom>
          <a:ln w="28575">
            <a:solidFill>
              <a:srgbClr val="D6C7EE"/>
            </a:solidFill>
          </a:ln>
        </p:spPr>
      </p:cxnSp>
      <p:sp>
        <p:nvSpPr>
          <p:cNvPr id="384" name="card"/>
          <p:cNvSpPr/>
          <p:nvPr/>
        </p:nvSpPr>
        <p:spPr>
          <a:xfrm>
            <a:off x="560000" y="1580000"/>
            <a:ext cx="11072000" cy="940000"/>
          </a:xfrm>
          <a:prstGeom prst="roundRect">
            <a:avLst/>
          </a:prstGeom>
          <a:solidFill>
            <a:srgbClr val="FBE3D2"/>
          </a:solidFill>
          <a:ln w="12700">
            <a:solidFill>
              <a:srgbClr val="E0A96D"/>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B5651D"/>
                </a:solidFill>
                <a:latin typeface="Calibri"/>
              </a:rPr>
              <a:t>Be precise:  </a:t>
            </a:r>
            <a:r>
              <a:rPr lang="en-US" sz="1400" dirty="0">
                <a:solidFill>
                  <a:srgbClr val="2E2E38"/>
                </a:solidFill>
                <a:latin typeface="Calibri"/>
              </a:rPr>
              <a:t>self-harm (may have no wish to die) is different from suicidal thoughts, a suicide attempt, and death by suicide. Many studies measured self-harm broadly, not suicide specifically.</a:t>
            </a:r>
          </a:p>
        </p:txBody>
      </p:sp>
      <p:sp>
        <p:nvSpPr>
          <p:cNvPr id="385" name="card"/>
          <p:cNvSpPr/>
          <p:nvPr/>
        </p:nvSpPr>
        <p:spPr>
          <a:xfrm>
            <a:off x="560000" y="2640000"/>
            <a:ext cx="11072000" cy="365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lvl="0" algn="l">
              <a:spcAft>
                <a:spcPts val="280"/>
              </a:spcAft>
              <a:buNone/>
            </a:pPr>
            <a:r>
              <a:rPr lang="en-US" sz="1400" b="1" dirty="0">
                <a:solidFill>
                  <a:srgbClr val="6E5AA6"/>
                </a:solidFill>
                <a:latin typeface="Calibri"/>
              </a:rPr>
              <a:t>What the paper can and cannot say</a:t>
            </a:r>
          </a:p>
          <a:p>
            <a:pPr marL="342900" indent="-228600" lvl="0" algn="l">
              <a:spcAft>
                <a:spcPts val="240"/>
              </a:spcAft>
              <a:buFont typeface="Arial"/>
              <a:buChar char="•"/>
            </a:pPr>
            <a:r>
              <a:rPr lang="en-US" sz="1400" dirty="0">
                <a:solidFill>
                  <a:srgbClr val="2E2E38"/>
                </a:solidFill>
                <a:latin typeface="Calibri"/>
              </a:rPr>
              <a:t>The paper gives combined results for self-harm, borderline symptoms and depression - not a separate combined number just for suicide attempts or deaths.</a:t>
            </a:r>
          </a:p>
          <a:p>
            <a:pPr marL="342900" indent="-228600" lvl="0" algn="l">
              <a:spcAft>
                <a:spcPts val="240"/>
              </a:spcAft>
              <a:buFont typeface="Arial"/>
              <a:buChar char="•"/>
            </a:pPr>
            <a:r>
              <a:rPr lang="en-US" sz="1400" dirty="0">
                <a:solidFill>
                  <a:srgbClr val="2E2E38"/>
                </a:solidFill>
                <a:latin typeface="Calibri"/>
              </a:rPr>
              <a:t>If there is no combined number for a suicide-specific outcome, say so plainly: 'No combined estimate was available for this.'</a:t>
            </a:r>
          </a:p>
          <a:p>
            <a:pPr marL="342900" indent="-228600" lvl="0" algn="l">
              <a:spcAft>
                <a:spcPts val="0"/>
              </a:spcAft>
              <a:buFont typeface="Arial"/>
              <a:buChar char="•"/>
            </a:pPr>
            <a:r>
              <a:rPr lang="en-US" sz="1400" dirty="0">
                <a:solidFill>
                  <a:srgbClr val="2E2E38"/>
                </a:solidFill>
                <a:latin typeface="Calibri"/>
              </a:rPr>
              <a:t>Important: no proof of a suicide-specific benefit does NOT mean there is none - it just wasn't measured well enough. So we should not claim MBT prevents suicide.</a:t>
            </a:r>
          </a:p>
        </p:txBody>
      </p:sp>
      <p:sp>
        <p:nvSpPr>
          <p:cNvPr id="386"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87"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26</a:t>
            </a:r>
          </a:p>
        </p:txBody>
      </p:sp>
    </p:spTree>
  </p:cSld>
  <p:clrMapOvr>
    <a:overrideClrMapping bg1="lt1" tx1="dk1" bg2="lt2" tx2="dk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89"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OTHER OUTCOMES (VERIFIED)</a:t>
            </a:r>
          </a:p>
        </p:txBody>
      </p:sp>
      <p:sp>
        <p:nvSpPr>
          <p:cNvPr id="390"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Result 3 - Personality Symptoms &amp; Depression</a:t>
            </a:r>
          </a:p>
        </p:txBody>
      </p:sp>
      <p:cxnSp>
        <p:nvCxnSpPr>
          <p:cNvPr id="391" name="ln"/>
          <p:cNvCxnSpPr/>
          <p:nvPr/>
        </p:nvCxnSpPr>
        <p:spPr>
          <a:xfrm>
            <a:off x="560000" y="1320000"/>
            <a:ext cx="11072000" cy="0"/>
          </a:xfrm>
          <a:prstGeom prst="line">
            <a:avLst/>
          </a:prstGeom>
          <a:ln w="28575">
            <a:solidFill>
              <a:srgbClr val="D6C7EE"/>
            </a:solidFill>
          </a:ln>
        </p:spPr>
      </p:cxnSp>
      <p:sp>
        <p:nvSpPr>
          <p:cNvPr id="392" name="tb"/>
          <p:cNvSpPr txBox="1"/>
          <p:nvPr/>
        </p:nvSpPr>
        <p:spPr>
          <a:xfrm>
            <a:off x="660000" y="1670000"/>
            <a:ext cx="2900000" cy="62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Self-harm</a:t>
            </a:r>
          </a:p>
        </p:txBody>
      </p:sp>
      <p:sp>
        <p:nvSpPr>
          <p:cNvPr id="393" name="r"/>
          <p:cNvSpPr/>
          <p:nvPr/>
        </p:nvSpPr>
        <p:spPr>
          <a:xfrm>
            <a:off x="3660000" y="1700000"/>
            <a:ext cx="4572000" cy="56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394" name="card"/>
          <p:cNvSpPr/>
          <p:nvPr/>
        </p:nvSpPr>
        <p:spPr>
          <a:xfrm>
            <a:off x="3660000" y="1700000"/>
            <a:ext cx="2343150" cy="560000"/>
          </a:xfrm>
          <a:prstGeom prst="roundRect">
            <a:avLst>
              <a:gd name="adj" fmla="val 6000"/>
            </a:avLst>
          </a:prstGeom>
          <a:solidFill>
            <a:srgbClr val="C25E7A"/>
          </a:solidFill>
        </p:spPr>
        <p:txBody>
          <a:bodyPr wrap="square" anchor="ctr" lIns="91440" tIns="45720" rIns="91440" bIns="45720">
            <a:normAutofit/>
          </a:bodyPr>
          <a:p>
            <a:pPr>
              <a:buNone/>
            </a:pPr>
          </a:p>
        </p:txBody>
      </p:sp>
      <p:sp>
        <p:nvSpPr>
          <p:cNvPr id="395" name="tb"/>
          <p:cNvSpPr txBox="1"/>
          <p:nvPr/>
        </p:nvSpPr>
        <p:spPr>
          <a:xfrm>
            <a:off x="6053150" y="1670000"/>
            <a:ext cx="3200000" cy="62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g = -0.82  [-1.15, -0.50]</a:t>
            </a:r>
          </a:p>
        </p:txBody>
      </p:sp>
      <p:sp>
        <p:nvSpPr>
          <p:cNvPr id="396" name="tb"/>
          <p:cNvSpPr txBox="1"/>
          <p:nvPr/>
        </p:nvSpPr>
        <p:spPr>
          <a:xfrm>
            <a:off x="660000" y="2490000"/>
            <a:ext cx="2900000" cy="62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Borderline symptoms</a:t>
            </a:r>
          </a:p>
        </p:txBody>
      </p:sp>
      <p:sp>
        <p:nvSpPr>
          <p:cNvPr id="397" name="r"/>
          <p:cNvSpPr/>
          <p:nvPr/>
        </p:nvSpPr>
        <p:spPr>
          <a:xfrm>
            <a:off x="3660000" y="2520000"/>
            <a:ext cx="4572000" cy="56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398" name="card"/>
          <p:cNvSpPr/>
          <p:nvPr/>
        </p:nvSpPr>
        <p:spPr>
          <a:xfrm>
            <a:off x="3660000" y="2520000"/>
            <a:ext cx="3086100" cy="560000"/>
          </a:xfrm>
          <a:prstGeom prst="roundRect">
            <a:avLst>
              <a:gd name="adj" fmla="val 6000"/>
            </a:avLst>
          </a:prstGeom>
          <a:solidFill>
            <a:srgbClr val="6E5AA6"/>
          </a:solidFill>
        </p:spPr>
        <p:txBody>
          <a:bodyPr wrap="square" anchor="ctr" lIns="91440" tIns="45720" rIns="91440" bIns="45720">
            <a:normAutofit/>
          </a:bodyPr>
          <a:p>
            <a:pPr>
              <a:buNone/>
            </a:pPr>
          </a:p>
        </p:txBody>
      </p:sp>
      <p:sp>
        <p:nvSpPr>
          <p:cNvPr id="399" name="tb"/>
          <p:cNvSpPr txBox="1"/>
          <p:nvPr/>
        </p:nvSpPr>
        <p:spPr>
          <a:xfrm>
            <a:off x="6796100" y="2490000"/>
            <a:ext cx="3200000" cy="62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g = -1.08  [-1.38, -0.77]</a:t>
            </a:r>
          </a:p>
        </p:txBody>
      </p:sp>
      <p:sp>
        <p:nvSpPr>
          <p:cNvPr id="400" name="tb"/>
          <p:cNvSpPr txBox="1"/>
          <p:nvPr/>
        </p:nvSpPr>
        <p:spPr>
          <a:xfrm>
            <a:off x="660000" y="3310000"/>
            <a:ext cx="2900000" cy="62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Depression</a:t>
            </a:r>
          </a:p>
        </p:txBody>
      </p:sp>
      <p:sp>
        <p:nvSpPr>
          <p:cNvPr id="401" name="r"/>
          <p:cNvSpPr/>
          <p:nvPr/>
        </p:nvSpPr>
        <p:spPr>
          <a:xfrm>
            <a:off x="3660000" y="3340000"/>
            <a:ext cx="4572000" cy="56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402" name="card"/>
          <p:cNvSpPr/>
          <p:nvPr/>
        </p:nvSpPr>
        <p:spPr>
          <a:xfrm>
            <a:off x="3660000" y="3340000"/>
            <a:ext cx="3143250" cy="560000"/>
          </a:xfrm>
          <a:prstGeom prst="roundRect">
            <a:avLst>
              <a:gd name="adj" fmla="val 6000"/>
            </a:avLst>
          </a:prstGeom>
          <a:solidFill>
            <a:srgbClr val="3E7CB1"/>
          </a:solidFill>
        </p:spPr>
        <p:txBody>
          <a:bodyPr wrap="square" anchor="ctr" lIns="91440" tIns="45720" rIns="91440" bIns="45720">
            <a:normAutofit/>
          </a:bodyPr>
          <a:p>
            <a:pPr>
              <a:buNone/>
            </a:pPr>
          </a:p>
        </p:txBody>
      </p:sp>
      <p:sp>
        <p:nvSpPr>
          <p:cNvPr id="403" name="tb"/>
          <p:cNvSpPr txBox="1"/>
          <p:nvPr/>
        </p:nvSpPr>
        <p:spPr>
          <a:xfrm>
            <a:off x="6853250" y="3310000"/>
            <a:ext cx="3200000" cy="62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g = -1.10  [-1.52, -0.68]</a:t>
            </a:r>
          </a:p>
        </p:txBody>
      </p:sp>
      <p:sp>
        <p:nvSpPr>
          <p:cNvPr id="404" name="card"/>
          <p:cNvSpPr/>
          <p:nvPr/>
        </p:nvSpPr>
        <p:spPr>
          <a:xfrm>
            <a:off x="560000" y="415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Longer bar = bigger improvement. MBT reduced self-harm, borderline personality symptoms and depression, all by a large amount. But these came from small studies, so treat the exact size cautiously.</a:t>
            </a:r>
          </a:p>
        </p:txBody>
      </p:sp>
      <p:sp>
        <p:nvSpPr>
          <p:cNvPr id="405"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06"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27</a:t>
            </a:r>
          </a:p>
        </p:txBody>
      </p:sp>
    </p:spTree>
  </p:cSld>
  <p:clrMapOvr>
    <a:overrideClrMapping bg1="lt1" tx1="dk1" bg2="lt2" tx2="dk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08"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RETENTION &amp; ACCEPTABILITY</a:t>
            </a:r>
          </a:p>
        </p:txBody>
      </p:sp>
      <p:sp>
        <p:nvSpPr>
          <p:cNvPr id="409"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Did People Stay in Treatment?</a:t>
            </a:r>
          </a:p>
        </p:txBody>
      </p:sp>
      <p:cxnSp>
        <p:nvCxnSpPr>
          <p:cNvPr id="410" name="ln"/>
          <p:cNvCxnSpPr/>
          <p:nvPr/>
        </p:nvCxnSpPr>
        <p:spPr>
          <a:xfrm>
            <a:off x="560000" y="1320000"/>
            <a:ext cx="11072000" cy="0"/>
          </a:xfrm>
          <a:prstGeom prst="line">
            <a:avLst/>
          </a:prstGeom>
          <a:ln w="28575">
            <a:solidFill>
              <a:srgbClr val="D6C7EE"/>
            </a:solidFill>
          </a:ln>
        </p:spPr>
      </p:cxnSp>
      <p:sp>
        <p:nvSpPr>
          <p:cNvPr id="411" name="card"/>
          <p:cNvSpPr/>
          <p:nvPr/>
        </p:nvSpPr>
        <p:spPr>
          <a:xfrm>
            <a:off x="560000" y="1580000"/>
            <a:ext cx="11072000" cy="4778000"/>
          </a:xfrm>
          <a:prstGeom prst="roundRect">
            <a:avLst/>
          </a:prstGeom>
          <a:solidFill>
            <a:srgbClr val="EEF0F2"/>
          </a:solidFill>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300"/>
              </a:spcAft>
              <a:buFont typeface="Arial"/>
              <a:buChar char="•"/>
            </a:pPr>
            <a:r>
              <a:rPr lang="en-US" sz="1400" dirty="0">
                <a:solidFill>
                  <a:srgbClr val="2E2E38"/>
                </a:solidFill>
                <a:latin typeface="Calibri"/>
              </a:rPr>
              <a:t>Report how many people finished the therapy versus dropped out, for MBT and the comparison group (add the paper's numbers).</a:t>
            </a:r>
          </a:p>
          <a:p>
            <a:pPr marL="342900" indent="-228600" lvl="0" algn="l">
              <a:spcAft>
                <a:spcPts val="300"/>
              </a:spcAft>
              <a:buFont typeface="Arial"/>
              <a:buChar char="•"/>
            </a:pPr>
            <a:r>
              <a:rPr lang="en-US" sz="1400" dirty="0">
                <a:solidFill>
                  <a:srgbClr val="2E2E38"/>
                </a:solidFill>
                <a:latin typeface="Calibri"/>
              </a:rPr>
              <a:t>Small pilot studies (e.g., Griffiths et al., 2019) found group MBT was acceptable and safe, with reasonable attendance.</a:t>
            </a:r>
          </a:p>
          <a:p>
            <a:pPr marL="342900" indent="-228600" lvl="0" algn="l">
              <a:spcAft>
                <a:spcPts val="300"/>
              </a:spcAft>
              <a:buFont typeface="Arial"/>
              <a:buChar char="•"/>
            </a:pPr>
            <a:r>
              <a:rPr lang="en-US" sz="1400" dirty="0">
                <a:solidFill>
                  <a:srgbClr val="2E2E38"/>
                </a:solidFill>
                <a:latin typeface="Calibri"/>
              </a:rPr>
              <a:t>Look at why people dropped out, and whether there were any harms (adverse events).</a:t>
            </a:r>
          </a:p>
          <a:p>
            <a:pPr marL="342900" indent="-228600" lvl="0" algn="l">
              <a:spcAft>
                <a:spcPts val="300"/>
              </a:spcAft>
              <a:buFont typeface="Arial"/>
              <a:buChar char="•"/>
            </a:pPr>
            <a:r>
              <a:rPr lang="en-US" sz="1400" dirty="0">
                <a:solidFill>
                  <a:srgbClr val="2E2E38"/>
                </a:solidFill>
                <a:latin typeface="Calibri"/>
              </a:rPr>
              <a:t>The key question: is MBT practical and acceptable for people who repeatedly self-harm and struggle with emotions?</a:t>
            </a:r>
          </a:p>
          <a:p>
            <a:pPr marL="342900" indent="-228600" lvl="0" algn="l">
              <a:spcAft>
                <a:spcPts val="0"/>
              </a:spcAft>
              <a:buFont typeface="Arial"/>
              <a:buChar char="•"/>
            </a:pPr>
            <a:r>
              <a:rPr lang="en-US" sz="1400" dirty="0">
                <a:solidFill>
                  <a:srgbClr val="2E2E38"/>
                </a:solidFill>
                <a:latin typeface="Calibri"/>
              </a:rPr>
              <a:t>Drop-out and safety information was often incompletely reported - a real weakness to flag.</a:t>
            </a:r>
          </a:p>
        </p:txBody>
      </p:sp>
      <p:sp>
        <p:nvSpPr>
          <p:cNvPr id="412"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13"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28</a:t>
            </a:r>
          </a:p>
        </p:txBody>
      </p:sp>
    </p:spTree>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4"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15"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THE THREE VERIFIED NUMBERS</a:t>
            </a:r>
          </a:p>
        </p:txBody>
      </p:sp>
      <p:sp>
        <p:nvSpPr>
          <p:cNvPr id="416"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Results at a Glance</a:t>
            </a:r>
          </a:p>
        </p:txBody>
      </p:sp>
      <p:cxnSp>
        <p:nvCxnSpPr>
          <p:cNvPr id="417" name="ln"/>
          <p:cNvCxnSpPr/>
          <p:nvPr/>
        </p:nvCxnSpPr>
        <p:spPr>
          <a:xfrm>
            <a:off x="560000" y="1320000"/>
            <a:ext cx="11072000" cy="0"/>
          </a:xfrm>
          <a:prstGeom prst="line">
            <a:avLst/>
          </a:prstGeom>
          <a:ln w="28575">
            <a:solidFill>
              <a:srgbClr val="D6C7EE"/>
            </a:solidFill>
          </a:ln>
        </p:spPr>
      </p:cxnSp>
      <p:sp>
        <p:nvSpPr>
          <p:cNvPr id="418" name="card"/>
          <p:cNvSpPr/>
          <p:nvPr/>
        </p:nvSpPr>
        <p:spPr>
          <a:xfrm>
            <a:off x="560000" y="1620000"/>
            <a:ext cx="3490666" cy="1980000"/>
          </a:xfrm>
          <a:prstGeom prst="roundRect">
            <a:avLst/>
          </a:prstGeom>
          <a:solidFill>
            <a:srgbClr val="F7D9E0"/>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240"/>
              </a:spcAft>
              <a:buNone/>
            </a:pPr>
            <a:r>
              <a:rPr lang="en-US" sz="1400" b="1" dirty="0">
                <a:solidFill>
                  <a:srgbClr val="6E5AA6"/>
                </a:solidFill>
                <a:latin typeface="Calibri"/>
              </a:rPr>
              <a:t>Self-harm</a:t>
            </a:r>
          </a:p>
          <a:p>
            <a:pPr lvl="0" algn="ctr">
              <a:spcAft>
                <a:spcPts val="200"/>
              </a:spcAft>
              <a:buNone/>
            </a:pPr>
            <a:r>
              <a:rPr lang="en-US" sz="2600" b="1" dirty="0">
                <a:solidFill>
                  <a:srgbClr val="2E2E38"/>
                </a:solidFill>
                <a:latin typeface="Calibri"/>
              </a:rPr>
              <a:t>g = -0.82</a:t>
            </a:r>
          </a:p>
          <a:p>
            <a:pPr lvl="0" algn="ctr">
              <a:spcAft>
                <a:spcPts val="140"/>
              </a:spcAft>
              <a:buNone/>
            </a:pPr>
            <a:r>
              <a:rPr lang="en-US" sz="1250" dirty="0">
                <a:solidFill>
                  <a:srgbClr val="2E2E38"/>
                </a:solidFill>
                <a:latin typeface="Calibri"/>
              </a:rPr>
              <a:t>range -1.15 to -0.50</a:t>
            </a:r>
          </a:p>
          <a:p>
            <a:pPr lvl="0" algn="ctr">
              <a:spcAft>
                <a:spcPts val="0"/>
              </a:spcAft>
              <a:buNone/>
            </a:pPr>
            <a:r>
              <a:rPr lang="en-US" sz="1100" b="1" dirty="0">
                <a:solidFill>
                  <a:srgbClr val="3E7CB1"/>
                </a:solidFill>
                <a:latin typeface="Calibri"/>
              </a:rPr>
              <a:t>large &amp; unlikely to be chance</a:t>
            </a:r>
          </a:p>
        </p:txBody>
      </p:sp>
      <p:sp>
        <p:nvSpPr>
          <p:cNvPr id="419" name="card"/>
          <p:cNvSpPr/>
          <p:nvPr/>
        </p:nvSpPr>
        <p:spPr>
          <a:xfrm>
            <a:off x="4350666" y="1620000"/>
            <a:ext cx="3490666" cy="1980000"/>
          </a:xfrm>
          <a:prstGeom prst="roundRect">
            <a:avLst/>
          </a:prstGeom>
          <a:solidFill>
            <a:srgbClr val="E7E0F7"/>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240"/>
              </a:spcAft>
              <a:buNone/>
            </a:pPr>
            <a:r>
              <a:rPr lang="en-US" sz="1400" b="1" dirty="0">
                <a:solidFill>
                  <a:srgbClr val="6E5AA6"/>
                </a:solidFill>
                <a:latin typeface="Calibri"/>
              </a:rPr>
              <a:t>Borderline symptoms</a:t>
            </a:r>
          </a:p>
          <a:p>
            <a:pPr lvl="0" algn="ctr">
              <a:spcAft>
                <a:spcPts val="200"/>
              </a:spcAft>
              <a:buNone/>
            </a:pPr>
            <a:r>
              <a:rPr lang="en-US" sz="2600" b="1" dirty="0">
                <a:solidFill>
                  <a:srgbClr val="2E2E38"/>
                </a:solidFill>
                <a:latin typeface="Calibri"/>
              </a:rPr>
              <a:t>g = -1.08</a:t>
            </a:r>
          </a:p>
          <a:p>
            <a:pPr lvl="0" algn="ctr">
              <a:spcAft>
                <a:spcPts val="140"/>
              </a:spcAft>
              <a:buNone/>
            </a:pPr>
            <a:r>
              <a:rPr lang="en-US" sz="1250" dirty="0">
                <a:solidFill>
                  <a:srgbClr val="2E2E38"/>
                </a:solidFill>
                <a:latin typeface="Calibri"/>
              </a:rPr>
              <a:t>range -1.38 to -0.77</a:t>
            </a:r>
          </a:p>
          <a:p>
            <a:pPr lvl="0" algn="ctr">
              <a:spcAft>
                <a:spcPts val="0"/>
              </a:spcAft>
              <a:buNone/>
            </a:pPr>
            <a:r>
              <a:rPr lang="en-US" sz="1100" b="1" dirty="0">
                <a:solidFill>
                  <a:srgbClr val="3E7CB1"/>
                </a:solidFill>
                <a:latin typeface="Calibri"/>
              </a:rPr>
              <a:t>large &amp; unlikely to be chance</a:t>
            </a:r>
          </a:p>
        </p:txBody>
      </p:sp>
      <p:sp>
        <p:nvSpPr>
          <p:cNvPr id="420" name="card"/>
          <p:cNvSpPr/>
          <p:nvPr/>
        </p:nvSpPr>
        <p:spPr>
          <a:xfrm>
            <a:off x="8141332" y="1620000"/>
            <a:ext cx="3490666" cy="1980000"/>
          </a:xfrm>
          <a:prstGeom prst="roundRect">
            <a:avLst/>
          </a:prstGeom>
          <a:solidFill>
            <a:srgbClr val="D7E8F4"/>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240"/>
              </a:spcAft>
              <a:buNone/>
            </a:pPr>
            <a:r>
              <a:rPr lang="en-US" sz="1400" b="1" dirty="0">
                <a:solidFill>
                  <a:srgbClr val="6E5AA6"/>
                </a:solidFill>
                <a:latin typeface="Calibri"/>
              </a:rPr>
              <a:t>Depression</a:t>
            </a:r>
          </a:p>
          <a:p>
            <a:pPr lvl="0" algn="ctr">
              <a:spcAft>
                <a:spcPts val="200"/>
              </a:spcAft>
              <a:buNone/>
            </a:pPr>
            <a:r>
              <a:rPr lang="en-US" sz="2600" b="1" dirty="0">
                <a:solidFill>
                  <a:srgbClr val="2E2E38"/>
                </a:solidFill>
                <a:latin typeface="Calibri"/>
              </a:rPr>
              <a:t>g = -1.10</a:t>
            </a:r>
          </a:p>
          <a:p>
            <a:pPr lvl="0" algn="ctr">
              <a:spcAft>
                <a:spcPts val="140"/>
              </a:spcAft>
              <a:buNone/>
            </a:pPr>
            <a:r>
              <a:rPr lang="en-US" sz="1250" dirty="0">
                <a:solidFill>
                  <a:srgbClr val="2E2E38"/>
                </a:solidFill>
                <a:latin typeface="Calibri"/>
              </a:rPr>
              <a:t>range -1.52 to -0.68</a:t>
            </a:r>
          </a:p>
          <a:p>
            <a:pPr lvl="0" algn="ctr">
              <a:spcAft>
                <a:spcPts val="0"/>
              </a:spcAft>
              <a:buNone/>
            </a:pPr>
            <a:r>
              <a:rPr lang="en-US" sz="1100" b="1" dirty="0">
                <a:solidFill>
                  <a:srgbClr val="3E7CB1"/>
                </a:solidFill>
                <a:latin typeface="Calibri"/>
              </a:rPr>
              <a:t>large &amp; unlikely to be chance</a:t>
            </a:r>
          </a:p>
        </p:txBody>
      </p:sp>
      <p:sp>
        <p:nvSpPr>
          <p:cNvPr id="421" name="card"/>
          <p:cNvSpPr/>
          <p:nvPr/>
        </p:nvSpPr>
        <p:spPr>
          <a:xfrm>
            <a:off x="560000" y="375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All three point the same way: MBT helped, and by a large amount. But because the studies were few, small and different from each other, the honest summary is 'promising, not yet proven'.</a:t>
            </a:r>
          </a:p>
        </p:txBody>
      </p:sp>
      <p:sp>
        <p:nvSpPr>
          <p:cNvPr id="422"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23"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29</a:t>
            </a:r>
          </a:p>
        </p:txBody>
      </p:sp>
    </p:spTree>
  </p:cSld>
  <p:clrMapOvr>
    <a:overrideClrMapping bg1="lt1" tx1="dk1" bg2="lt2" tx2="dk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25"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INTERPRETATION</a:t>
            </a:r>
          </a:p>
        </p:txBody>
      </p:sp>
      <p:sp>
        <p:nvSpPr>
          <p:cNvPr id="426"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Discussion - What Did We Find?</a:t>
            </a:r>
          </a:p>
        </p:txBody>
      </p:sp>
      <p:cxnSp>
        <p:nvCxnSpPr>
          <p:cNvPr id="427" name="ln"/>
          <p:cNvCxnSpPr/>
          <p:nvPr/>
        </p:nvCxnSpPr>
        <p:spPr>
          <a:xfrm>
            <a:off x="560000" y="1320000"/>
            <a:ext cx="11072000" cy="0"/>
          </a:xfrm>
          <a:prstGeom prst="line">
            <a:avLst/>
          </a:prstGeom>
          <a:ln w="28575">
            <a:solidFill>
              <a:srgbClr val="D6C7EE"/>
            </a:solidFill>
          </a:ln>
        </p:spPr>
      </p:cxnSp>
      <p:sp>
        <p:nvSpPr>
          <p:cNvPr id="428" name="card"/>
          <p:cNvSpPr/>
          <p:nvPr/>
        </p:nvSpPr>
        <p:spPr>
          <a:xfrm>
            <a:off x="560000" y="1580000"/>
            <a:ext cx="11072000" cy="477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280"/>
              </a:spcAft>
              <a:buFont typeface="Arial"/>
              <a:buChar char="•"/>
            </a:pPr>
            <a:r>
              <a:rPr lang="en-US" sz="1400" dirty="0">
                <a:solidFill>
                  <a:srgbClr val="2E2E38"/>
                </a:solidFill>
                <a:latin typeface="Calibri"/>
              </a:rPr>
              <a:t>MBT reduced self-harm by a large amount (g = -0.82) - a real, unlikely-to-be-chance benefit.</a:t>
            </a:r>
          </a:p>
          <a:p>
            <a:pPr marL="342900" indent="-228600" lvl="0" algn="l">
              <a:spcAft>
                <a:spcPts val="280"/>
              </a:spcAft>
              <a:buFont typeface="Arial"/>
              <a:buChar char="•"/>
            </a:pPr>
            <a:r>
              <a:rPr lang="en-US" sz="1400" dirty="0">
                <a:solidFill>
                  <a:srgbClr val="2E2E38"/>
                </a:solidFill>
                <a:latin typeface="Calibri"/>
              </a:rPr>
              <a:t>It also improved borderline personality symptoms (g = -1.08) and depression (g = -1.10) by a large amount.</a:t>
            </a:r>
          </a:p>
          <a:p>
            <a:pPr marL="342900" indent="-228600" lvl="0" algn="l">
              <a:spcAft>
                <a:spcPts val="280"/>
              </a:spcAft>
              <a:buFont typeface="Arial"/>
              <a:buChar char="•"/>
            </a:pPr>
            <a:r>
              <a:rPr lang="en-US" sz="1400" dirty="0">
                <a:solidFill>
                  <a:srgbClr val="2E2E38"/>
                </a:solidFill>
                <a:latin typeface="Calibri"/>
              </a:rPr>
              <a:t>All the combined results pointed the same way - in favour of MBT.</a:t>
            </a:r>
          </a:p>
          <a:p>
            <a:pPr marL="342900" indent="-228600" lvl="0" algn="l">
              <a:spcAft>
                <a:spcPts val="280"/>
              </a:spcAft>
              <a:buFont typeface="Arial"/>
              <a:buChar char="•"/>
            </a:pPr>
            <a:r>
              <a:rPr lang="en-US" sz="1400" dirty="0">
                <a:solidFill>
                  <a:srgbClr val="2E2E38"/>
                </a:solidFill>
                <a:latin typeface="Calibri"/>
              </a:rPr>
              <a:t>But the results come from only a few small studies that differed from each other.</a:t>
            </a:r>
          </a:p>
          <a:p>
            <a:pPr marL="342900" indent="-228600" lvl="0" algn="l">
              <a:spcAft>
                <a:spcPts val="0"/>
              </a:spcAft>
              <a:buFont typeface="Arial"/>
              <a:buChar char="•"/>
            </a:pPr>
            <a:r>
              <a:rPr lang="en-US" sz="1400" dirty="0">
                <a:solidFill>
                  <a:srgbClr val="2E2E38"/>
                </a:solidFill>
                <a:latin typeface="Calibri"/>
              </a:rPr>
              <a:t>So the fairest verdict: the evidence is promising but limited - we can be only moderately confident.</a:t>
            </a:r>
          </a:p>
        </p:txBody>
      </p:sp>
      <p:sp>
        <p:nvSpPr>
          <p:cNvPr id="429"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30"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30</a:t>
            </a:r>
          </a:p>
        </p:txBody>
      </p:sp>
    </p:spTree>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1"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32"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LIKELY REASONS (SAID CAUTIOUSLY)</a:t>
            </a:r>
          </a:p>
        </p:txBody>
      </p:sp>
      <p:sp>
        <p:nvSpPr>
          <p:cNvPr id="433"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Might MBT Work?</a:t>
            </a:r>
          </a:p>
        </p:txBody>
      </p:sp>
      <p:cxnSp>
        <p:nvCxnSpPr>
          <p:cNvPr id="434" name="ln"/>
          <p:cNvCxnSpPr/>
          <p:nvPr/>
        </p:nvCxnSpPr>
        <p:spPr>
          <a:xfrm>
            <a:off x="560000" y="1320000"/>
            <a:ext cx="11072000" cy="0"/>
          </a:xfrm>
          <a:prstGeom prst="line">
            <a:avLst/>
          </a:prstGeom>
          <a:ln w="28575">
            <a:solidFill>
              <a:srgbClr val="D6C7EE"/>
            </a:solidFill>
          </a:ln>
        </p:spPr>
      </p:cxnSp>
      <p:sp>
        <p:nvSpPr>
          <p:cNvPr id="435" name="card"/>
          <p:cNvSpPr/>
          <p:nvPr/>
        </p:nvSpPr>
        <p:spPr>
          <a:xfrm>
            <a:off x="560000" y="1580000"/>
            <a:ext cx="3517333" cy="2149000"/>
          </a:xfrm>
          <a:prstGeom prst="roundRect">
            <a:avLst/>
          </a:prstGeom>
          <a:solidFill>
            <a:srgbClr val="E7E0F7"/>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20"/>
              </a:spcAft>
              <a:buNone/>
            </a:pPr>
            <a:r>
              <a:rPr lang="en-US" sz="1400" b="1" dirty="0">
                <a:solidFill>
                  <a:srgbClr val="6E5AA6"/>
                </a:solidFill>
                <a:latin typeface="Calibri"/>
              </a:rPr>
              <a:t>Better 'mind-reading'</a:t>
            </a:r>
          </a:p>
          <a:p>
            <a:pPr lvl="0" algn="l">
              <a:spcAft>
                <a:spcPts val="0"/>
              </a:spcAft>
              <a:buNone/>
            </a:pPr>
            <a:r>
              <a:rPr lang="en-US" sz="1400" dirty="0">
                <a:solidFill>
                  <a:srgbClr val="2E2E38"/>
                </a:solidFill>
                <a:latin typeface="Calibri"/>
              </a:rPr>
              <a:t>Understands own &amp; others' feelings more accurately</a:t>
            </a:r>
          </a:p>
        </p:txBody>
      </p:sp>
      <p:sp>
        <p:nvSpPr>
          <p:cNvPr id="436" name="card"/>
          <p:cNvSpPr/>
          <p:nvPr/>
        </p:nvSpPr>
        <p:spPr>
          <a:xfrm>
            <a:off x="4337333" y="1580000"/>
            <a:ext cx="3517333" cy="2149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20"/>
              </a:spcAft>
              <a:buNone/>
            </a:pPr>
            <a:r>
              <a:rPr lang="en-US" sz="1400" b="1" dirty="0">
                <a:solidFill>
                  <a:srgbClr val="6E5AA6"/>
                </a:solidFill>
                <a:latin typeface="Calibri"/>
              </a:rPr>
              <a:t>Fewer misreadings</a:t>
            </a:r>
          </a:p>
          <a:p>
            <a:pPr lvl="0" algn="l">
              <a:spcAft>
                <a:spcPts val="0"/>
              </a:spcAft>
              <a:buNone/>
            </a:pPr>
            <a:r>
              <a:rPr lang="en-US" sz="1400" dirty="0">
                <a:solidFill>
                  <a:srgbClr val="2E2E38"/>
                </a:solidFill>
                <a:latin typeface="Calibri"/>
              </a:rPr>
              <a:t>Less likely to assume the worst about others</a:t>
            </a:r>
          </a:p>
        </p:txBody>
      </p:sp>
      <p:sp>
        <p:nvSpPr>
          <p:cNvPr id="437" name="card"/>
          <p:cNvSpPr/>
          <p:nvPr/>
        </p:nvSpPr>
        <p:spPr>
          <a:xfrm>
            <a:off x="8114666" y="1580000"/>
            <a:ext cx="3517333" cy="2149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20"/>
              </a:spcAft>
              <a:buNone/>
            </a:pPr>
            <a:r>
              <a:rPr lang="en-US" sz="1400" b="1" dirty="0">
                <a:solidFill>
                  <a:srgbClr val="6E5AA6"/>
                </a:solidFill>
                <a:latin typeface="Calibri"/>
              </a:rPr>
              <a:t>Calmer emotions</a:t>
            </a:r>
          </a:p>
          <a:p>
            <a:pPr lvl="0" algn="l">
              <a:spcAft>
                <a:spcPts val="0"/>
              </a:spcAft>
              <a:buNone/>
            </a:pPr>
            <a:r>
              <a:rPr lang="en-US" sz="1400" dirty="0">
                <a:solidFill>
                  <a:srgbClr val="2E2E38"/>
                </a:solidFill>
                <a:latin typeface="Calibri"/>
              </a:rPr>
              <a:t>Can sit with distress without acting on it</a:t>
            </a:r>
          </a:p>
        </p:txBody>
      </p:sp>
      <p:sp>
        <p:nvSpPr>
          <p:cNvPr id="438" name="card"/>
          <p:cNvSpPr/>
          <p:nvPr/>
        </p:nvSpPr>
        <p:spPr>
          <a:xfrm>
            <a:off x="560000" y="3989000"/>
            <a:ext cx="3517333" cy="2149000"/>
          </a:xfrm>
          <a:prstGeom prst="roundRect">
            <a:avLst/>
          </a:prstGeom>
          <a:solidFill>
            <a:srgbClr val="FBE3D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20"/>
              </a:spcAft>
              <a:buNone/>
            </a:pPr>
            <a:r>
              <a:rPr lang="en-US" sz="1400" b="1" dirty="0">
                <a:solidFill>
                  <a:srgbClr val="6E5AA6"/>
                </a:solidFill>
                <a:latin typeface="Calibri"/>
              </a:rPr>
              <a:t>Less impulsive</a:t>
            </a:r>
          </a:p>
          <a:p>
            <a:pPr lvl="0" algn="l">
              <a:spcAft>
                <a:spcPts val="0"/>
              </a:spcAft>
              <a:buNone/>
            </a:pPr>
            <a:r>
              <a:rPr lang="en-US" sz="1400" dirty="0">
                <a:solidFill>
                  <a:srgbClr val="2E2E38"/>
                </a:solidFill>
                <a:latin typeface="Calibri"/>
              </a:rPr>
              <a:t>A pause between the urge and the action</a:t>
            </a:r>
          </a:p>
        </p:txBody>
      </p:sp>
      <p:sp>
        <p:nvSpPr>
          <p:cNvPr id="439" name="card"/>
          <p:cNvSpPr/>
          <p:nvPr/>
        </p:nvSpPr>
        <p:spPr>
          <a:xfrm>
            <a:off x="4337333" y="3989000"/>
            <a:ext cx="3517333" cy="2149000"/>
          </a:xfrm>
          <a:prstGeom prst="roundRect">
            <a:avLst/>
          </a:prstGeom>
          <a:solidFill>
            <a:srgbClr val="F7D9E0"/>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20"/>
              </a:spcAft>
              <a:buNone/>
            </a:pPr>
            <a:r>
              <a:rPr lang="en-US" sz="1400" b="1" dirty="0">
                <a:solidFill>
                  <a:srgbClr val="6E5AA6"/>
                </a:solidFill>
                <a:latin typeface="Calibri"/>
              </a:rPr>
              <a:t>Stronger bond with therapist</a:t>
            </a:r>
          </a:p>
          <a:p>
            <a:pPr lvl="0" algn="l">
              <a:spcAft>
                <a:spcPts val="0"/>
              </a:spcAft>
              <a:buNone/>
            </a:pPr>
            <a:r>
              <a:rPr lang="en-US" sz="1400" dirty="0">
                <a:solidFill>
                  <a:srgbClr val="2E2E38"/>
                </a:solidFill>
                <a:latin typeface="Calibri"/>
              </a:rPr>
              <a:t>Feeling understood keeps people engaged</a:t>
            </a:r>
          </a:p>
        </p:txBody>
      </p:sp>
      <p:sp>
        <p:nvSpPr>
          <p:cNvPr id="440" name="card"/>
          <p:cNvSpPr/>
          <p:nvPr/>
        </p:nvSpPr>
        <p:spPr>
          <a:xfrm>
            <a:off x="8114666" y="3989000"/>
            <a:ext cx="3517333" cy="2149000"/>
          </a:xfrm>
          <a:prstGeom prst="roundRect">
            <a:avLst/>
          </a:prstGeom>
          <a:solidFill>
            <a:srgbClr val="D9E8D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20"/>
              </a:spcAft>
              <a:buNone/>
            </a:pPr>
            <a:r>
              <a:rPr lang="en-US" sz="1400" b="1" dirty="0">
                <a:solidFill>
                  <a:srgbClr val="6E5AA6"/>
                </a:solidFill>
                <a:latin typeface="Calibri"/>
              </a:rPr>
              <a:t>Spots triggers early</a:t>
            </a:r>
          </a:p>
          <a:p>
            <a:pPr lvl="0" algn="l">
              <a:spcAft>
                <a:spcPts val="0"/>
              </a:spcAft>
              <a:buNone/>
            </a:pPr>
            <a:r>
              <a:rPr lang="en-US" sz="1400" dirty="0">
                <a:solidFill>
                  <a:srgbClr val="2E2E38"/>
                </a:solidFill>
                <a:latin typeface="Calibri"/>
              </a:rPr>
              <a:t>Uses new coping instead of self-harm</a:t>
            </a:r>
          </a:p>
        </p:txBody>
      </p:sp>
      <p:sp>
        <p:nvSpPr>
          <p:cNvPr id="441" name="card"/>
          <p:cNvSpPr/>
          <p:nvPr/>
        </p:nvSpPr>
        <p:spPr>
          <a:xfrm>
            <a:off x="560000" y="6168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These are the likely reasons MBT helps. In the 2012 teen study, the benefit really did come from better 'mind-reading'. But a review of results cannot fully prove the reason - so we say 'may'.</a:t>
            </a:r>
          </a:p>
        </p:txBody>
      </p:sp>
      <p:sp>
        <p:nvSpPr>
          <p:cNvPr id="442"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43"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31</a:t>
            </a:r>
          </a:p>
        </p:txBody>
      </p:sp>
    </p:spTree>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4"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45"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CONTEXT</a:t>
            </a:r>
          </a:p>
        </p:txBody>
      </p:sp>
      <p:sp>
        <p:nvSpPr>
          <p:cNvPr id="446"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Does MBT Compare With Other Therapies?</a:t>
            </a:r>
          </a:p>
        </p:txBody>
      </p:sp>
      <p:cxnSp>
        <p:nvCxnSpPr>
          <p:cNvPr id="447" name="ln"/>
          <p:cNvCxnSpPr/>
          <p:nvPr/>
        </p:nvCxnSpPr>
        <p:spPr>
          <a:xfrm>
            <a:off x="560000" y="1320000"/>
            <a:ext cx="11072000" cy="0"/>
          </a:xfrm>
          <a:prstGeom prst="line">
            <a:avLst/>
          </a:prstGeom>
          <a:ln w="28575">
            <a:solidFill>
              <a:srgbClr val="D6C7EE"/>
            </a:solidFill>
          </a:ln>
        </p:spPr>
      </p:cxnSp>
      <p:sp>
        <p:nvSpPr>
          <p:cNvPr id="448" name="r"/>
          <p:cNvSpPr/>
          <p:nvPr/>
        </p:nvSpPr>
        <p:spPr>
          <a:xfrm>
            <a:off x="560000" y="1580000"/>
            <a:ext cx="2600000" cy="72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Therapy</a:t>
            </a:r>
          </a:p>
        </p:txBody>
      </p:sp>
      <p:sp>
        <p:nvSpPr>
          <p:cNvPr id="449" name="r"/>
          <p:cNvSpPr/>
          <p:nvPr/>
        </p:nvSpPr>
        <p:spPr>
          <a:xfrm>
            <a:off x="3160000" y="1580000"/>
            <a:ext cx="4600000" cy="72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Evidence for self-harm</a:t>
            </a:r>
          </a:p>
        </p:txBody>
      </p:sp>
      <p:sp>
        <p:nvSpPr>
          <p:cNvPr id="450" name="r"/>
          <p:cNvSpPr/>
          <p:nvPr/>
        </p:nvSpPr>
        <p:spPr>
          <a:xfrm>
            <a:off x="7760000" y="1580000"/>
            <a:ext cx="3872000" cy="72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Note</a:t>
            </a:r>
          </a:p>
        </p:txBody>
      </p:sp>
      <p:sp>
        <p:nvSpPr>
          <p:cNvPr id="451" name="r"/>
          <p:cNvSpPr/>
          <p:nvPr/>
        </p:nvSpPr>
        <p:spPr>
          <a:xfrm>
            <a:off x="560000" y="2300000"/>
            <a:ext cx="26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MBT / MBT-A</a:t>
            </a:r>
          </a:p>
        </p:txBody>
      </p:sp>
      <p:sp>
        <p:nvSpPr>
          <p:cNvPr id="452" name="r"/>
          <p:cNvSpPr/>
          <p:nvPr/>
        </p:nvSpPr>
        <p:spPr>
          <a:xfrm>
            <a:off x="3160000" y="2300000"/>
            <a:ext cx="46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Large combined benefit here; early studies positive, later ones mixed</a:t>
            </a:r>
          </a:p>
        </p:txBody>
      </p:sp>
      <p:sp>
        <p:nvSpPr>
          <p:cNvPr id="453" name="r"/>
          <p:cNvSpPr/>
          <p:nvPr/>
        </p:nvSpPr>
        <p:spPr>
          <a:xfrm>
            <a:off x="7760000" y="2300000"/>
            <a:ext cx="3872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This paper's focus</a:t>
            </a:r>
          </a:p>
        </p:txBody>
      </p:sp>
      <p:sp>
        <p:nvSpPr>
          <p:cNvPr id="454" name="r"/>
          <p:cNvSpPr/>
          <p:nvPr/>
        </p:nvSpPr>
        <p:spPr>
          <a:xfrm>
            <a:off x="560000" y="3020000"/>
            <a:ext cx="26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DBT (dialectical behaviour therapy)</a:t>
            </a:r>
          </a:p>
        </p:txBody>
      </p:sp>
      <p:sp>
        <p:nvSpPr>
          <p:cNvPr id="455" name="r"/>
          <p:cNvSpPr/>
          <p:nvPr/>
        </p:nvSpPr>
        <p:spPr>
          <a:xfrm>
            <a:off x="3160000" y="3020000"/>
            <a:ext cx="46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Strongest, best-repeated evidence for teen self-harm</a:t>
            </a:r>
          </a:p>
        </p:txBody>
      </p:sp>
      <p:sp>
        <p:nvSpPr>
          <p:cNvPr id="456" name="r"/>
          <p:cNvSpPr/>
          <p:nvPr/>
        </p:nvSpPr>
        <p:spPr>
          <a:xfrm>
            <a:off x="7760000" y="3020000"/>
            <a:ext cx="3872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The main benchmark</a:t>
            </a:r>
          </a:p>
        </p:txBody>
      </p:sp>
      <p:sp>
        <p:nvSpPr>
          <p:cNvPr id="457" name="r"/>
          <p:cNvSpPr/>
          <p:nvPr/>
        </p:nvSpPr>
        <p:spPr>
          <a:xfrm>
            <a:off x="560000" y="3740000"/>
            <a:ext cx="26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CBT-based</a:t>
            </a:r>
          </a:p>
        </p:txBody>
      </p:sp>
      <p:sp>
        <p:nvSpPr>
          <p:cNvPr id="458" name="r"/>
          <p:cNvSpPr/>
          <p:nvPr/>
        </p:nvSpPr>
        <p:spPr>
          <a:xfrm>
            <a:off x="3160000" y="3740000"/>
            <a:ext cx="46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Moderate evidence for reducing repeat self-harm</a:t>
            </a:r>
          </a:p>
        </p:txBody>
      </p:sp>
      <p:sp>
        <p:nvSpPr>
          <p:cNvPr id="459" name="r"/>
          <p:cNvSpPr/>
          <p:nvPr/>
        </p:nvSpPr>
        <p:spPr>
          <a:xfrm>
            <a:off x="7760000" y="3740000"/>
            <a:ext cx="3872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Widely available</a:t>
            </a:r>
          </a:p>
        </p:txBody>
      </p:sp>
      <p:sp>
        <p:nvSpPr>
          <p:cNvPr id="460" name="r"/>
          <p:cNvSpPr/>
          <p:nvPr/>
        </p:nvSpPr>
        <p:spPr>
          <a:xfrm>
            <a:off x="560000" y="4460000"/>
            <a:ext cx="26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Usual care / structured support</a:t>
            </a:r>
          </a:p>
        </p:txBody>
      </p:sp>
      <p:sp>
        <p:nvSpPr>
          <p:cNvPr id="461" name="r"/>
          <p:cNvSpPr/>
          <p:nvPr/>
        </p:nvSpPr>
        <p:spPr>
          <a:xfrm>
            <a:off x="3160000" y="4460000"/>
            <a:ext cx="46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A fair comparison shrinks MBT's apparent lead</a:t>
            </a:r>
          </a:p>
        </p:txBody>
      </p:sp>
      <p:sp>
        <p:nvSpPr>
          <p:cNvPr id="462" name="r"/>
          <p:cNvSpPr/>
          <p:nvPr/>
        </p:nvSpPr>
        <p:spPr>
          <a:xfrm>
            <a:off x="7760000" y="4460000"/>
            <a:ext cx="3872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The comparison matters a lot</a:t>
            </a:r>
          </a:p>
        </p:txBody>
      </p:sp>
      <p:sp>
        <p:nvSpPr>
          <p:cNvPr id="463" name="card"/>
          <p:cNvSpPr/>
          <p:nvPr/>
        </p:nvSpPr>
        <p:spPr>
          <a:xfrm>
            <a:off x="560000" y="521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MBT looks helpful, but DBT still has the strongest, most repeated evidence. Differences between MBT studies are likely due to who was treated, how intense the therapy was, and how outcomes were measured.</a:t>
            </a:r>
          </a:p>
        </p:txBody>
      </p:sp>
      <p:sp>
        <p:nvSpPr>
          <p:cNvPr id="464"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65"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32</a:t>
            </a:r>
          </a:p>
        </p:txBody>
      </p:sp>
    </p:spTree>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6"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67"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CLINICAL IMPLICATIONS</a:t>
            </a:r>
          </a:p>
        </p:txBody>
      </p:sp>
      <p:sp>
        <p:nvSpPr>
          <p:cNvPr id="468"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This Means for Practice</a:t>
            </a:r>
          </a:p>
        </p:txBody>
      </p:sp>
      <p:cxnSp>
        <p:nvCxnSpPr>
          <p:cNvPr id="469" name="ln"/>
          <p:cNvCxnSpPr/>
          <p:nvPr/>
        </p:nvCxnSpPr>
        <p:spPr>
          <a:xfrm>
            <a:off x="560000" y="1320000"/>
            <a:ext cx="11072000" cy="0"/>
          </a:xfrm>
          <a:prstGeom prst="line">
            <a:avLst/>
          </a:prstGeom>
          <a:ln w="28575">
            <a:solidFill>
              <a:srgbClr val="D6C7EE"/>
            </a:solidFill>
          </a:ln>
        </p:spPr>
      </p:cxnSp>
      <p:sp>
        <p:nvSpPr>
          <p:cNvPr id="470" name="card"/>
          <p:cNvSpPr/>
          <p:nvPr/>
        </p:nvSpPr>
        <p:spPr>
          <a:xfrm>
            <a:off x="560000" y="1580000"/>
            <a:ext cx="11072000" cy="477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270"/>
              </a:spcAft>
              <a:buFont typeface="Arial"/>
              <a:buChar char="•"/>
            </a:pPr>
            <a:r>
              <a:rPr lang="en-US" sz="1400" dirty="0">
                <a:solidFill>
                  <a:srgbClr val="2E2E38"/>
                </a:solidFill>
                <a:latin typeface="Calibri"/>
              </a:rPr>
              <a:t>MBT is worth considering for people who repeatedly self-harm and have borderline personality traits.</a:t>
            </a:r>
          </a:p>
          <a:p>
            <a:pPr marL="342900" indent="-228600" lvl="0" algn="l">
              <a:spcAft>
                <a:spcPts val="270"/>
              </a:spcAft>
              <a:buFont typeface="Arial"/>
              <a:buChar char="•"/>
            </a:pPr>
            <a:r>
              <a:rPr lang="en-US" sz="1400" dirty="0">
                <a:solidFill>
                  <a:srgbClr val="2E2E38"/>
                </a:solidFill>
                <a:latin typeface="Calibri"/>
              </a:rPr>
              <a:t>Tailor treatment to the person; keep assessing risk throughout.</a:t>
            </a:r>
          </a:p>
          <a:p>
            <a:pPr marL="342900" indent="-228600" lvl="0" algn="l">
              <a:spcAft>
                <a:spcPts val="270"/>
              </a:spcAft>
              <a:buFont typeface="Arial"/>
              <a:buChar char="•"/>
            </a:pPr>
            <a:r>
              <a:rPr lang="en-US" sz="1400" dirty="0">
                <a:solidFill>
                  <a:srgbClr val="2E2E38"/>
                </a:solidFill>
                <a:latin typeface="Calibri"/>
              </a:rPr>
              <a:t>MBT adds to - it does not replace - safety planning and crisis support.</a:t>
            </a:r>
          </a:p>
          <a:p>
            <a:pPr marL="342900" indent="-228600" lvl="0" algn="l">
              <a:spcAft>
                <a:spcPts val="270"/>
              </a:spcAft>
              <a:buFont typeface="Arial"/>
              <a:buChar char="•"/>
            </a:pPr>
            <a:r>
              <a:rPr lang="en-US" sz="1400" dirty="0">
                <a:solidFill>
                  <a:srgbClr val="2E2E38"/>
                </a:solidFill>
                <a:latin typeface="Calibri"/>
              </a:rPr>
              <a:t>Medication may still be needed for other conditions; keeping the person engaged and in continuous care matters a lot.</a:t>
            </a:r>
          </a:p>
          <a:p>
            <a:pPr marL="342900" indent="-228600" lvl="0" algn="l">
              <a:spcAft>
                <a:spcPts val="270"/>
              </a:spcAft>
              <a:buFont typeface="Arial"/>
              <a:buChar char="•"/>
            </a:pPr>
            <a:r>
              <a:rPr lang="en-US" sz="1400" dirty="0">
                <a:solidFill>
                  <a:srgbClr val="2E2E38"/>
                </a:solidFill>
                <a:latin typeface="Calibri"/>
              </a:rPr>
              <a:t>Therapists need proper training and supervision; match the setting to how high the risk is.</a:t>
            </a:r>
          </a:p>
          <a:p>
            <a:pPr marL="342900" indent="-228600" lvl="0" algn="l">
              <a:spcAft>
                <a:spcPts val="0"/>
              </a:spcAft>
              <a:buFont typeface="Arial"/>
              <a:buChar char="•"/>
            </a:pPr>
            <a:r>
              <a:rPr lang="en-US" sz="1400" dirty="0">
                <a:solidFill>
                  <a:srgbClr val="2E2E38"/>
                </a:solidFill>
                <a:latin typeface="Calibri"/>
              </a:rPr>
              <a:t>Involve family or carers where helpful (especially in the teen version, MBT-A).</a:t>
            </a:r>
          </a:p>
        </p:txBody>
      </p:sp>
      <p:sp>
        <p:nvSpPr>
          <p:cNvPr id="471"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72"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33</a:t>
            </a:r>
          </a:p>
        </p:txBody>
      </p:sp>
    </p:spTree>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74"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LIMITATIONS</a:t>
            </a:r>
          </a:p>
        </p:txBody>
      </p:sp>
      <p:sp>
        <p:nvSpPr>
          <p:cNvPr id="475"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Weaknesses of the Review</a:t>
            </a:r>
          </a:p>
        </p:txBody>
      </p:sp>
      <p:cxnSp>
        <p:nvCxnSpPr>
          <p:cNvPr id="476" name="ln"/>
          <p:cNvCxnSpPr/>
          <p:nvPr/>
        </p:nvCxnSpPr>
        <p:spPr>
          <a:xfrm>
            <a:off x="560000" y="1320000"/>
            <a:ext cx="11072000" cy="0"/>
          </a:xfrm>
          <a:prstGeom prst="line">
            <a:avLst/>
          </a:prstGeom>
          <a:ln w="28575">
            <a:solidFill>
              <a:srgbClr val="D6C7EE"/>
            </a:solidFill>
          </a:ln>
        </p:spPr>
      </p:cxnSp>
      <p:sp>
        <p:nvSpPr>
          <p:cNvPr id="477" name="r"/>
          <p:cNvSpPr/>
          <p:nvPr/>
        </p:nvSpPr>
        <p:spPr>
          <a:xfrm>
            <a:off x="560000" y="1580000"/>
            <a:ext cx="5200000" cy="56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350" b="1" dirty="0">
                <a:solidFill>
                  <a:srgbClr val="FFFFFF"/>
                </a:solidFill>
                <a:latin typeface="Calibri"/>
              </a:rPr>
              <a:t>Weakness</a:t>
            </a:r>
          </a:p>
        </p:txBody>
      </p:sp>
      <p:sp>
        <p:nvSpPr>
          <p:cNvPr id="478" name="r"/>
          <p:cNvSpPr/>
          <p:nvPr/>
        </p:nvSpPr>
        <p:spPr>
          <a:xfrm>
            <a:off x="5760000" y="1580000"/>
            <a:ext cx="5872000" cy="56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350" b="1" dirty="0">
                <a:solidFill>
                  <a:srgbClr val="FFFFFF"/>
                </a:solidFill>
                <a:latin typeface="Calibri"/>
              </a:rPr>
              <a:t>Why it matters</a:t>
            </a:r>
          </a:p>
        </p:txBody>
      </p:sp>
      <p:sp>
        <p:nvSpPr>
          <p:cNvPr id="479" name="r"/>
          <p:cNvSpPr/>
          <p:nvPr/>
        </p:nvSpPr>
        <p:spPr>
          <a:xfrm>
            <a:off x="560000" y="2140000"/>
            <a:ext cx="5200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Few, small studies</a:t>
            </a:r>
          </a:p>
        </p:txBody>
      </p:sp>
      <p:sp>
        <p:nvSpPr>
          <p:cNvPr id="480" name="r"/>
          <p:cNvSpPr/>
          <p:nvPr/>
        </p:nvSpPr>
        <p:spPr>
          <a:xfrm>
            <a:off x="5760000" y="2140000"/>
            <a:ext cx="5872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Less reliable; wider uncertainty range</a:t>
            </a:r>
          </a:p>
        </p:txBody>
      </p:sp>
      <p:sp>
        <p:nvSpPr>
          <p:cNvPr id="481" name="r"/>
          <p:cNvSpPr/>
          <p:nvPr/>
        </p:nvSpPr>
        <p:spPr>
          <a:xfrm>
            <a:off x="560000" y="2700000"/>
            <a:ext cx="5200000" cy="56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Studies differed a lot (setup, format, comparison)</a:t>
            </a:r>
          </a:p>
        </p:txBody>
      </p:sp>
      <p:sp>
        <p:nvSpPr>
          <p:cNvPr id="482" name="r"/>
          <p:cNvSpPr/>
          <p:nvPr/>
        </p:nvSpPr>
        <p:spPr>
          <a:xfrm>
            <a:off x="5760000" y="2700000"/>
            <a:ext cx="5872000" cy="56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Harder to trust one combined number</a:t>
            </a:r>
          </a:p>
        </p:txBody>
      </p:sp>
      <p:sp>
        <p:nvSpPr>
          <p:cNvPr id="483" name="r"/>
          <p:cNvSpPr/>
          <p:nvPr/>
        </p:nvSpPr>
        <p:spPr>
          <a:xfrm>
            <a:off x="560000" y="3260000"/>
            <a:ext cx="5200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Short or varied follow-up</a:t>
            </a:r>
          </a:p>
        </p:txBody>
      </p:sp>
      <p:sp>
        <p:nvSpPr>
          <p:cNvPr id="484" name="r"/>
          <p:cNvSpPr/>
          <p:nvPr/>
        </p:nvSpPr>
        <p:spPr>
          <a:xfrm>
            <a:off x="5760000" y="3260000"/>
            <a:ext cx="5872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We don't know if the benefit lasts</a:t>
            </a:r>
          </a:p>
        </p:txBody>
      </p:sp>
      <p:sp>
        <p:nvSpPr>
          <p:cNvPr id="485" name="r"/>
          <p:cNvSpPr/>
          <p:nvPr/>
        </p:nvSpPr>
        <p:spPr>
          <a:xfrm>
            <a:off x="560000" y="3820000"/>
            <a:ext cx="5200000" cy="56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Different measuring tools</a:t>
            </a:r>
          </a:p>
        </p:txBody>
      </p:sp>
      <p:sp>
        <p:nvSpPr>
          <p:cNvPr id="486" name="r"/>
          <p:cNvSpPr/>
          <p:nvPr/>
        </p:nvSpPr>
        <p:spPr>
          <a:xfrm>
            <a:off x="5760000" y="3820000"/>
            <a:ext cx="5872000" cy="56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Harder to compare and combine fairly</a:t>
            </a:r>
          </a:p>
        </p:txBody>
      </p:sp>
      <p:sp>
        <p:nvSpPr>
          <p:cNvPr id="487" name="r"/>
          <p:cNvSpPr/>
          <p:nvPr/>
        </p:nvSpPr>
        <p:spPr>
          <a:xfrm>
            <a:off x="560000" y="4380000"/>
            <a:ext cx="5200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People dropped out; gaps in reporting</a:t>
            </a:r>
          </a:p>
        </p:txBody>
      </p:sp>
      <p:sp>
        <p:nvSpPr>
          <p:cNvPr id="488" name="r"/>
          <p:cNvSpPr/>
          <p:nvPr/>
        </p:nvSpPr>
        <p:spPr>
          <a:xfrm>
            <a:off x="5760000" y="4380000"/>
            <a:ext cx="5872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Results may be skewed</a:t>
            </a:r>
          </a:p>
        </p:txBody>
      </p:sp>
      <p:sp>
        <p:nvSpPr>
          <p:cNvPr id="489" name="r"/>
          <p:cNvSpPr/>
          <p:nvPr/>
        </p:nvSpPr>
        <p:spPr>
          <a:xfrm>
            <a:off x="560000" y="4940000"/>
            <a:ext cx="5200000" cy="56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Mostly female, young, Western</a:t>
            </a:r>
          </a:p>
        </p:txBody>
      </p:sp>
      <p:sp>
        <p:nvSpPr>
          <p:cNvPr id="490" name="r"/>
          <p:cNvSpPr/>
          <p:nvPr/>
        </p:nvSpPr>
        <p:spPr>
          <a:xfrm>
            <a:off x="5760000" y="4940000"/>
            <a:ext cx="5872000" cy="56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May not apply to everyone</a:t>
            </a:r>
          </a:p>
        </p:txBody>
      </p:sp>
      <p:sp>
        <p:nvSpPr>
          <p:cNvPr id="491" name="r"/>
          <p:cNvSpPr/>
          <p:nvPr/>
        </p:nvSpPr>
        <p:spPr>
          <a:xfrm>
            <a:off x="560000" y="5500000"/>
            <a:ext cx="5200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Self-harm &amp; suicide not always separated</a:t>
            </a:r>
          </a:p>
        </p:txBody>
      </p:sp>
      <p:sp>
        <p:nvSpPr>
          <p:cNvPr id="492" name="r"/>
          <p:cNvSpPr/>
          <p:nvPr/>
        </p:nvSpPr>
        <p:spPr>
          <a:xfrm>
            <a:off x="5760000" y="5500000"/>
            <a:ext cx="5872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Unclear exactly what improved</a:t>
            </a:r>
          </a:p>
        </p:txBody>
      </p:sp>
      <p:sp>
        <p:nvSpPr>
          <p:cNvPr id="493"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94"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34</a:t>
            </a:r>
          </a:p>
        </p:txBody>
      </p:sp>
    </p:spTree>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96"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LIMITATIONS (DETAIL)</a:t>
            </a:r>
          </a:p>
        </p:txBody>
      </p:sp>
      <p:sp>
        <p:nvSpPr>
          <p:cNvPr id="497"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Weaknesses in the People &amp; the Study Design</a:t>
            </a:r>
          </a:p>
        </p:txBody>
      </p:sp>
      <p:cxnSp>
        <p:nvCxnSpPr>
          <p:cNvPr id="498" name="ln"/>
          <p:cNvCxnSpPr/>
          <p:nvPr/>
        </p:nvCxnSpPr>
        <p:spPr>
          <a:xfrm>
            <a:off x="560000" y="1320000"/>
            <a:ext cx="11072000" cy="0"/>
          </a:xfrm>
          <a:prstGeom prst="line">
            <a:avLst/>
          </a:prstGeom>
          <a:ln w="28575">
            <a:solidFill>
              <a:srgbClr val="D6C7EE"/>
            </a:solidFill>
          </a:ln>
        </p:spPr>
      </p:cxnSp>
      <p:sp>
        <p:nvSpPr>
          <p:cNvPr id="499" name="card"/>
          <p:cNvSpPr/>
          <p:nvPr/>
        </p:nvSpPr>
        <p:spPr>
          <a:xfrm>
            <a:off x="560000" y="1580000"/>
            <a:ext cx="5386000" cy="4658000"/>
          </a:xfrm>
          <a:prstGeom prst="roundRect">
            <a:avLst/>
          </a:prstGeom>
          <a:solidFill>
            <a:srgbClr val="F7D9E0"/>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60"/>
              </a:spcAft>
              <a:buNone/>
            </a:pPr>
            <a:r>
              <a:rPr lang="en-US" sz="1700" b="1" dirty="0">
                <a:solidFill>
                  <a:srgbClr val="6E5AA6"/>
                </a:solidFill>
                <a:latin typeface="Calibri"/>
              </a:rPr>
              <a:t>The people (sample)</a:t>
            </a:r>
          </a:p>
          <a:p>
            <a:pPr marL="342900" indent="-228600" lvl="0" algn="l">
              <a:spcAft>
                <a:spcPts val="280"/>
              </a:spcAft>
              <a:buFont typeface="Arial"/>
              <a:buChar char="•"/>
            </a:pPr>
            <a:r>
              <a:rPr lang="en-US" sz="1400" dirty="0">
                <a:solidFill>
                  <a:srgbClr val="2E2E38"/>
                </a:solidFill>
                <a:latin typeface="Calibri"/>
              </a:rPr>
              <a:t>Mostly female participants</a:t>
            </a:r>
          </a:p>
          <a:p>
            <a:pPr marL="342900" indent="-228600" lvl="0" algn="l">
              <a:spcAft>
                <a:spcPts val="280"/>
              </a:spcAft>
              <a:buFont typeface="Arial"/>
              <a:buChar char="•"/>
            </a:pPr>
            <a:r>
              <a:rPr lang="en-US" sz="1400" dirty="0">
                <a:solidFill>
                  <a:srgbClr val="2E2E38"/>
                </a:solidFill>
                <a:latin typeface="Calibri"/>
              </a:rPr>
              <a:t>Few males and gender-diverse people</a:t>
            </a:r>
          </a:p>
          <a:p>
            <a:pPr marL="342900" indent="-228600" lvl="0" algn="l">
              <a:spcAft>
                <a:spcPts val="280"/>
              </a:spcAft>
              <a:buFont typeface="Arial"/>
              <a:buChar char="•"/>
            </a:pPr>
            <a:r>
              <a:rPr lang="en-US" sz="1400" dirty="0">
                <a:solidFill>
                  <a:srgbClr val="2E2E38"/>
                </a:solidFill>
                <a:latin typeface="Calibri"/>
              </a:rPr>
              <a:t>Few older adults</a:t>
            </a:r>
          </a:p>
          <a:p>
            <a:pPr marL="342900" indent="-228600" lvl="0" algn="l">
              <a:spcAft>
                <a:spcPts val="280"/>
              </a:spcAft>
              <a:buFont typeface="Arial"/>
              <a:buChar char="•"/>
            </a:pPr>
            <a:r>
              <a:rPr lang="en-US" sz="1400" dirty="0">
                <a:solidFill>
                  <a:srgbClr val="2E2E38"/>
                </a:solidFill>
                <a:latin typeface="Calibri"/>
              </a:rPr>
              <a:t>Almost all from Western, wealthy countries</a:t>
            </a:r>
          </a:p>
          <a:p>
            <a:pPr marL="342900" indent="-228600" lvl="0" algn="l">
              <a:spcAft>
                <a:spcPts val="280"/>
              </a:spcAft>
              <a:buFont typeface="Arial"/>
              <a:buChar char="•"/>
            </a:pPr>
            <a:r>
              <a:rPr lang="en-US" sz="1400" dirty="0">
                <a:solidFill>
                  <a:srgbClr val="2E2E38"/>
                </a:solidFill>
                <a:latin typeface="Calibri"/>
              </a:rPr>
              <a:t>Different starting severity between studies</a:t>
            </a:r>
          </a:p>
        </p:txBody>
      </p:sp>
      <p:sp>
        <p:nvSpPr>
          <p:cNvPr id="500" name="card"/>
          <p:cNvSpPr/>
          <p:nvPr/>
        </p:nvSpPr>
        <p:spPr>
          <a:xfrm>
            <a:off x="6246000" y="1580000"/>
            <a:ext cx="5386000" cy="465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60"/>
              </a:spcAft>
              <a:buNone/>
            </a:pPr>
            <a:r>
              <a:rPr lang="en-US" sz="1700" b="1" dirty="0">
                <a:solidFill>
                  <a:srgbClr val="6E5AA6"/>
                </a:solidFill>
                <a:latin typeface="Calibri"/>
              </a:rPr>
              <a:t>The study design</a:t>
            </a:r>
          </a:p>
          <a:p>
            <a:pPr marL="342900" indent="-228600" lvl="0" algn="l">
              <a:spcAft>
                <a:spcPts val="280"/>
              </a:spcAft>
              <a:buFont typeface="Arial"/>
              <a:buChar char="•"/>
            </a:pPr>
            <a:r>
              <a:rPr lang="en-US" sz="1400" dirty="0">
                <a:solidFill>
                  <a:srgbClr val="2E2E38"/>
                </a:solidFill>
                <a:latin typeface="Calibri"/>
              </a:rPr>
              <a:t>Grouping not always fully random</a:t>
            </a:r>
          </a:p>
          <a:p>
            <a:pPr marL="342900" indent="-228600" lvl="0" algn="l">
              <a:spcAft>
                <a:spcPts val="280"/>
              </a:spcAft>
              <a:buFont typeface="Arial"/>
              <a:buChar char="•"/>
            </a:pPr>
            <a:r>
              <a:rPr lang="en-US" sz="1400" dirty="0">
                <a:solidFill>
                  <a:srgbClr val="2E2E38"/>
                </a:solidFill>
                <a:latin typeface="Calibri"/>
              </a:rPr>
              <a:t>Assessors often knew who got MBT</a:t>
            </a:r>
          </a:p>
          <a:p>
            <a:pPr marL="342900" indent="-228600" lvl="0" algn="l">
              <a:spcAft>
                <a:spcPts val="280"/>
              </a:spcAft>
              <a:buFont typeface="Arial"/>
              <a:buChar char="•"/>
            </a:pPr>
            <a:r>
              <a:rPr lang="en-US" sz="1400" dirty="0">
                <a:solidFill>
                  <a:srgbClr val="2E2E38"/>
                </a:solidFill>
                <a:latin typeface="Calibri"/>
              </a:rPr>
              <a:t>'Usual care' meant different things in different studies</a:t>
            </a:r>
          </a:p>
          <a:p>
            <a:pPr marL="342900" indent="-228600" lvl="0" algn="l">
              <a:spcAft>
                <a:spcPts val="280"/>
              </a:spcAft>
              <a:buFont typeface="Arial"/>
              <a:buChar char="•"/>
            </a:pPr>
            <a:r>
              <a:rPr lang="en-US" sz="1400" dirty="0">
                <a:solidFill>
                  <a:srgbClr val="2E2E38"/>
                </a:solidFill>
                <a:latin typeface="Calibri"/>
              </a:rPr>
              <a:t>High or uneven drop-out</a:t>
            </a:r>
          </a:p>
          <a:p>
            <a:pPr marL="342900" indent="-228600" lvl="0" algn="l">
              <a:spcAft>
                <a:spcPts val="280"/>
              </a:spcAft>
              <a:buFont typeface="Arial"/>
              <a:buChar char="•"/>
            </a:pPr>
            <a:r>
              <a:rPr lang="en-US" sz="1400" dirty="0">
                <a:solidFill>
                  <a:srgbClr val="2E2E38"/>
                </a:solidFill>
                <a:latin typeface="Calibri"/>
              </a:rPr>
              <a:t>Little checking that therapy was delivered as intended</a:t>
            </a:r>
          </a:p>
        </p:txBody>
      </p:sp>
      <p:sp>
        <p:nvSpPr>
          <p:cNvPr id="501"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02"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35</a:t>
            </a:r>
          </a:p>
        </p:txBody>
      </p:sp>
    </p:spTree>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3"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04"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GENERALIZABILITY</a:t>
            </a:r>
          </a:p>
        </p:txBody>
      </p:sp>
      <p:sp>
        <p:nvSpPr>
          <p:cNvPr id="505"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Who Do These Results Apply To?</a:t>
            </a:r>
          </a:p>
        </p:txBody>
      </p:sp>
      <p:cxnSp>
        <p:nvCxnSpPr>
          <p:cNvPr id="506" name="ln"/>
          <p:cNvCxnSpPr/>
          <p:nvPr/>
        </p:nvCxnSpPr>
        <p:spPr>
          <a:xfrm>
            <a:off x="560000" y="1320000"/>
            <a:ext cx="11072000" cy="0"/>
          </a:xfrm>
          <a:prstGeom prst="line">
            <a:avLst/>
          </a:prstGeom>
          <a:ln w="28575">
            <a:solidFill>
              <a:srgbClr val="D6C7EE"/>
            </a:solidFill>
          </a:ln>
        </p:spPr>
      </p:cxnSp>
      <p:sp>
        <p:nvSpPr>
          <p:cNvPr id="507" name="card"/>
          <p:cNvSpPr/>
          <p:nvPr/>
        </p:nvSpPr>
        <p:spPr>
          <a:xfrm>
            <a:off x="560000" y="1580000"/>
            <a:ext cx="5386000" cy="4558000"/>
          </a:xfrm>
          <a:prstGeom prst="roundRect">
            <a:avLst/>
          </a:prstGeom>
          <a:solidFill>
            <a:srgbClr val="D9E8D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600" b="1" dirty="0">
                <a:solidFill>
                  <a:srgbClr val="6E5AA6"/>
                </a:solidFill>
                <a:latin typeface="Calibri"/>
              </a:rPr>
              <a:t>More likely to apply to</a:t>
            </a:r>
          </a:p>
          <a:p>
            <a:pPr marL="342900" indent="-228600" lvl="0" algn="l">
              <a:spcAft>
                <a:spcPts val="270"/>
              </a:spcAft>
              <a:buFont typeface="Arial"/>
              <a:buChar char="•"/>
            </a:pPr>
            <a:r>
              <a:rPr lang="en-US" sz="1400" dirty="0">
                <a:solidFill>
                  <a:srgbClr val="2E2E38"/>
                </a:solidFill>
                <a:latin typeface="Calibri"/>
              </a:rPr>
              <a:t>Outpatient clinics (people not admitted to hospital)</a:t>
            </a:r>
          </a:p>
          <a:p>
            <a:pPr marL="342900" indent="-228600" lvl="0" algn="l">
              <a:spcAft>
                <a:spcPts val="270"/>
              </a:spcAft>
              <a:buFont typeface="Arial"/>
              <a:buChar char="•"/>
            </a:pPr>
            <a:r>
              <a:rPr lang="en-US" sz="1400" dirty="0">
                <a:solidFill>
                  <a:srgbClr val="2E2E38"/>
                </a:solidFill>
                <a:latin typeface="Calibri"/>
              </a:rPr>
              <a:t>Teens &amp; adults who self-harm with borderline traits</a:t>
            </a:r>
          </a:p>
          <a:p>
            <a:pPr marL="342900" indent="-228600" lvl="0" algn="l">
              <a:spcAft>
                <a:spcPts val="270"/>
              </a:spcAft>
              <a:buFont typeface="Arial"/>
              <a:buChar char="•"/>
            </a:pPr>
            <a:r>
              <a:rPr lang="en-US" sz="1400" dirty="0">
                <a:solidFill>
                  <a:srgbClr val="2E2E38"/>
                </a:solidFill>
                <a:latin typeface="Calibri"/>
              </a:rPr>
              <a:t>Western, higher-income settings</a:t>
            </a:r>
          </a:p>
          <a:p>
            <a:pPr marL="342900" indent="-228600" lvl="0" algn="l">
              <a:spcAft>
                <a:spcPts val="270"/>
              </a:spcAft>
              <a:buFont typeface="Arial"/>
              <a:buChar char="•"/>
            </a:pPr>
            <a:r>
              <a:rPr lang="en-US" sz="1400" dirty="0">
                <a:solidFill>
                  <a:srgbClr val="2E2E38"/>
                </a:solidFill>
                <a:latin typeface="Calibri"/>
              </a:rPr>
              <a:t>Groups that are mostly female</a:t>
            </a:r>
          </a:p>
        </p:txBody>
      </p:sp>
      <p:sp>
        <p:nvSpPr>
          <p:cNvPr id="508" name="card"/>
          <p:cNvSpPr/>
          <p:nvPr/>
        </p:nvSpPr>
        <p:spPr>
          <a:xfrm>
            <a:off x="6246000" y="1580000"/>
            <a:ext cx="5386000" cy="4558000"/>
          </a:xfrm>
          <a:prstGeom prst="roundRect">
            <a:avLst/>
          </a:prstGeom>
          <a:solidFill>
            <a:srgbClr val="FBE3D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600" b="1" dirty="0">
                <a:solidFill>
                  <a:srgbClr val="6E5AA6"/>
                </a:solidFill>
                <a:latin typeface="Calibri"/>
              </a:rPr>
              <a:t>Apply with caution to</a:t>
            </a:r>
          </a:p>
          <a:p>
            <a:pPr marL="342900" indent="-228600" lvl="0" algn="l">
              <a:spcAft>
                <a:spcPts val="250"/>
              </a:spcAft>
              <a:buFont typeface="Arial"/>
              <a:buChar char="•"/>
            </a:pPr>
            <a:r>
              <a:rPr lang="en-US" sz="1400" dirty="0">
                <a:solidFill>
                  <a:srgbClr val="2E2E38"/>
                </a:solidFill>
                <a:latin typeface="Calibri"/>
              </a:rPr>
              <a:t>Emergency departments and hospital wards</a:t>
            </a:r>
          </a:p>
          <a:p>
            <a:pPr marL="342900" indent="-228600" lvl="0" algn="l">
              <a:spcAft>
                <a:spcPts val="250"/>
              </a:spcAft>
              <a:buFont typeface="Arial"/>
              <a:buChar char="•"/>
            </a:pPr>
            <a:r>
              <a:rPr lang="en-US" sz="1400" dirty="0">
                <a:solidFill>
                  <a:srgbClr val="2E2E38"/>
                </a:solidFill>
                <a:latin typeface="Calibri"/>
              </a:rPr>
              <a:t>Low-resource or non-Western settings</a:t>
            </a:r>
          </a:p>
          <a:p>
            <a:pPr marL="342900" indent="-228600" lvl="0" algn="l">
              <a:spcAft>
                <a:spcPts val="250"/>
              </a:spcAft>
              <a:buFont typeface="Arial"/>
              <a:buChar char="•"/>
            </a:pPr>
            <a:r>
              <a:rPr lang="en-US" sz="1400" dirty="0">
                <a:solidFill>
                  <a:srgbClr val="2E2E38"/>
                </a:solidFill>
                <a:latin typeface="Calibri"/>
              </a:rPr>
              <a:t>Older adults; males &amp; gender-diverse people</a:t>
            </a:r>
          </a:p>
          <a:p>
            <a:pPr marL="342900" indent="-228600" lvl="0" algn="l">
              <a:spcAft>
                <a:spcPts val="250"/>
              </a:spcAft>
              <a:buFont typeface="Arial"/>
              <a:buChar char="•"/>
            </a:pPr>
            <a:r>
              <a:rPr lang="en-US" sz="1400" dirty="0">
                <a:solidFill>
                  <a:srgbClr val="2E2E38"/>
                </a:solidFill>
                <a:latin typeface="Calibri"/>
              </a:rPr>
              <a:t>Self-harm without borderline traits; people with psychosis or major memory/thinking problems</a:t>
            </a:r>
          </a:p>
        </p:txBody>
      </p:sp>
      <p:sp>
        <p:nvSpPr>
          <p:cNvPr id="509" name="card"/>
          <p:cNvSpPr/>
          <p:nvPr/>
        </p:nvSpPr>
        <p:spPr>
          <a:xfrm>
            <a:off x="560000" y="6198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 findings fit the kind of people who were studied. For groups barely included (older adults, non-Western, males), we simply don't have enough evidence yet.</a:t>
            </a:r>
          </a:p>
        </p:txBody>
      </p:sp>
      <p:sp>
        <p:nvSpPr>
          <p:cNvPr id="510"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11"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36</a:t>
            </a:r>
          </a:p>
        </p:txBody>
      </p:sp>
    </p:spTree>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13"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LOOKING FORWARD</a:t>
            </a:r>
          </a:p>
        </p:txBody>
      </p:sp>
      <p:sp>
        <p:nvSpPr>
          <p:cNvPr id="514"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Next? Uses &amp; Implications</a:t>
            </a:r>
          </a:p>
        </p:txBody>
      </p:sp>
      <p:cxnSp>
        <p:nvCxnSpPr>
          <p:cNvPr id="515" name="ln"/>
          <p:cNvCxnSpPr/>
          <p:nvPr/>
        </p:nvCxnSpPr>
        <p:spPr>
          <a:xfrm>
            <a:off x="560000" y="1320000"/>
            <a:ext cx="11072000" cy="0"/>
          </a:xfrm>
          <a:prstGeom prst="line">
            <a:avLst/>
          </a:prstGeom>
          <a:ln w="28575">
            <a:solidFill>
              <a:srgbClr val="D6C7EE"/>
            </a:solidFill>
          </a:ln>
        </p:spPr>
      </p:cxnSp>
      <p:sp>
        <p:nvSpPr>
          <p:cNvPr id="516" name="card"/>
          <p:cNvSpPr/>
          <p:nvPr/>
        </p:nvSpPr>
        <p:spPr>
          <a:xfrm>
            <a:off x="560000" y="1580000"/>
            <a:ext cx="2603000" cy="4658000"/>
          </a:xfrm>
          <a:prstGeom prst="roundRect">
            <a:avLst/>
          </a:prstGeom>
          <a:solidFill>
            <a:srgbClr val="E7E0F7"/>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In the clinic</a:t>
            </a:r>
          </a:p>
          <a:p>
            <a:pPr lvl="0" algn="l">
              <a:spcAft>
                <a:spcPts val="0"/>
              </a:spcAft>
              <a:buNone/>
            </a:pPr>
            <a:r>
              <a:rPr lang="en-US" sz="1400" dirty="0">
                <a:solidFill>
                  <a:srgbClr val="2E2E38"/>
                </a:solidFill>
                <a:latin typeface="Calibri"/>
              </a:rPr>
              <a:t>Use MBT ideas in everyday care; check 'mind-reading' during crises; build the picture together with the patient; make personal safety plans</a:t>
            </a:r>
          </a:p>
        </p:txBody>
      </p:sp>
      <p:sp>
        <p:nvSpPr>
          <p:cNvPr id="517" name="card"/>
          <p:cNvSpPr/>
          <p:nvPr/>
        </p:nvSpPr>
        <p:spPr>
          <a:xfrm>
            <a:off x="3383000" y="1580000"/>
            <a:ext cx="2603000" cy="465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In services</a:t>
            </a:r>
          </a:p>
          <a:p>
            <a:pPr lvl="0" algn="l">
              <a:spcAft>
                <a:spcPts val="0"/>
              </a:spcAft>
              <a:buNone/>
            </a:pPr>
            <a:r>
              <a:rPr lang="en-US" sz="1400" dirty="0">
                <a:solidFill>
                  <a:srgbClr val="2E2E38"/>
                </a:solidFill>
                <a:latin typeface="Calibri"/>
              </a:rPr>
              <a:t>Set up proper MBT programmes; train and supervise therapists; step up care as needed; keep support going after discharge</a:t>
            </a:r>
          </a:p>
        </p:txBody>
      </p:sp>
      <p:sp>
        <p:nvSpPr>
          <p:cNvPr id="518" name="card"/>
          <p:cNvSpPr/>
          <p:nvPr/>
        </p:nvSpPr>
        <p:spPr>
          <a:xfrm>
            <a:off x="6206000" y="1580000"/>
            <a:ext cx="2603000" cy="465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Preventing relapse</a:t>
            </a:r>
          </a:p>
          <a:p>
            <a:pPr lvl="0" algn="l">
              <a:spcAft>
                <a:spcPts val="0"/>
              </a:spcAft>
              <a:buNone/>
            </a:pPr>
            <a:r>
              <a:rPr lang="en-US" sz="1400" dirty="0">
                <a:solidFill>
                  <a:srgbClr val="2E2E38"/>
                </a:solidFill>
                <a:latin typeface="Calibri"/>
              </a:rPr>
              <a:t>Spot early warning signs; build coping alternatives; plan for relationship crises; track over time</a:t>
            </a:r>
          </a:p>
        </p:txBody>
      </p:sp>
      <p:sp>
        <p:nvSpPr>
          <p:cNvPr id="519" name="card"/>
          <p:cNvSpPr/>
          <p:nvPr/>
        </p:nvSpPr>
        <p:spPr>
          <a:xfrm>
            <a:off x="9029000" y="1580000"/>
            <a:ext cx="2603000" cy="4658000"/>
          </a:xfrm>
          <a:prstGeom prst="roundRect">
            <a:avLst/>
          </a:prstGeom>
          <a:solidFill>
            <a:srgbClr val="FBE3D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With family/society</a:t>
            </a:r>
          </a:p>
          <a:p>
            <a:pPr lvl="0" algn="l">
              <a:spcAft>
                <a:spcPts val="0"/>
              </a:spcAft>
              <a:buNone/>
            </a:pPr>
            <a:r>
              <a:rPr lang="en-US" sz="1400" dirty="0">
                <a:solidFill>
                  <a:srgbClr val="2E2E38"/>
                </a:solidFill>
                <a:latin typeface="Calibri"/>
              </a:rPr>
              <a:t>Involve family or carers; address past trauma and attachment; support social life; coordinate the whole care team</a:t>
            </a:r>
          </a:p>
        </p:txBody>
      </p:sp>
      <p:sp>
        <p:nvSpPr>
          <p:cNvPr id="520"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21"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37</a:t>
            </a:r>
          </a:p>
        </p:txBody>
      </p:sp>
    </p:spTree>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23"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MY CRITICAL REFLECTION</a:t>
            </a:r>
          </a:p>
        </p:txBody>
      </p:sp>
      <p:sp>
        <p:nvSpPr>
          <p:cNvPr id="524"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If I Were the Researcher, I Would...</a:t>
            </a:r>
          </a:p>
        </p:txBody>
      </p:sp>
      <p:cxnSp>
        <p:nvCxnSpPr>
          <p:cNvPr id="525" name="ln"/>
          <p:cNvCxnSpPr/>
          <p:nvPr/>
        </p:nvCxnSpPr>
        <p:spPr>
          <a:xfrm>
            <a:off x="560000" y="1320000"/>
            <a:ext cx="11072000" cy="0"/>
          </a:xfrm>
          <a:prstGeom prst="line">
            <a:avLst/>
          </a:prstGeom>
          <a:ln w="28575">
            <a:solidFill>
              <a:srgbClr val="D6C7EE"/>
            </a:solidFill>
          </a:ln>
        </p:spPr>
      </p:cxnSp>
      <p:sp>
        <p:nvSpPr>
          <p:cNvPr id="526" name="card"/>
          <p:cNvSpPr/>
          <p:nvPr/>
        </p:nvSpPr>
        <p:spPr>
          <a:xfrm>
            <a:off x="560000" y="1580000"/>
            <a:ext cx="5406000" cy="465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280"/>
              </a:spcAft>
              <a:buFont typeface="Arial"/>
              <a:buChar char="•"/>
            </a:pPr>
            <a:r>
              <a:rPr lang="en-US" sz="1400" dirty="0">
                <a:solidFill>
                  <a:srgbClr val="2E2E38"/>
                </a:solidFill>
                <a:latin typeface="Calibri"/>
              </a:rPr>
              <a:t>Study more people, and a more varied group (age, sex, culture)</a:t>
            </a:r>
          </a:p>
          <a:p>
            <a:pPr marL="342900" indent="-228600" lvl="0" algn="l">
              <a:spcAft>
                <a:spcPts val="280"/>
              </a:spcAft>
              <a:buFont typeface="Arial"/>
              <a:buChar char="•"/>
            </a:pPr>
            <a:r>
              <a:rPr lang="en-US" sz="1400" dirty="0">
                <a:solidFill>
                  <a:srgbClr val="2E2E38"/>
                </a:solidFill>
                <a:latin typeface="Calibri"/>
              </a:rPr>
              <a:t>Follow them for longer, using the same measures each time</a:t>
            </a:r>
          </a:p>
          <a:p>
            <a:pPr marL="342900" indent="-228600" lvl="0" algn="l">
              <a:spcAft>
                <a:spcPts val="280"/>
              </a:spcAft>
              <a:buFont typeface="Arial"/>
              <a:buChar char="•"/>
            </a:pPr>
            <a:r>
              <a:rPr lang="en-US" sz="1400" dirty="0">
                <a:solidFill>
                  <a:srgbClr val="2E2E38"/>
                </a:solidFill>
                <a:latin typeface="Calibri"/>
              </a:rPr>
              <a:t>Clearly separate suicidal from non-suicidal self-harm</a:t>
            </a:r>
          </a:p>
          <a:p>
            <a:pPr marL="342900" indent="-228600" lvl="0" algn="l">
              <a:spcAft>
                <a:spcPts val="280"/>
              </a:spcAft>
              <a:buFont typeface="Arial"/>
              <a:buChar char="•"/>
            </a:pPr>
            <a:r>
              <a:rPr lang="en-US" sz="1400" dirty="0">
                <a:solidFill>
                  <a:srgbClr val="2E2E38"/>
                </a:solidFill>
                <a:latin typeface="Calibri"/>
              </a:rPr>
              <a:t>Group people truly randomly, and keep assessors 'blind' to the group</a:t>
            </a:r>
          </a:p>
          <a:p>
            <a:pPr marL="342900" indent="-228600" lvl="0" algn="l">
              <a:spcAft>
                <a:spcPts val="280"/>
              </a:spcAft>
              <a:buFont typeface="Arial"/>
              <a:buChar char="•"/>
            </a:pPr>
            <a:r>
              <a:rPr lang="en-US" sz="1400" dirty="0">
                <a:solidFill>
                  <a:srgbClr val="2E2E38"/>
                </a:solidFill>
                <a:latin typeface="Calibri"/>
              </a:rPr>
              <a:t>Compare MBT against another real therapy (like DBT), not just usual care</a:t>
            </a:r>
          </a:p>
        </p:txBody>
      </p:sp>
      <p:sp>
        <p:nvSpPr>
          <p:cNvPr id="527" name="card"/>
          <p:cNvSpPr/>
          <p:nvPr/>
        </p:nvSpPr>
        <p:spPr>
          <a:xfrm>
            <a:off x="6226000" y="1580000"/>
            <a:ext cx="5406000" cy="465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280"/>
              </a:spcAft>
              <a:buFont typeface="Arial"/>
              <a:buChar char="•"/>
            </a:pPr>
            <a:r>
              <a:rPr lang="en-US" sz="1400" dirty="0">
                <a:solidFill>
                  <a:srgbClr val="2E2E38"/>
                </a:solidFill>
                <a:latin typeface="Calibri"/>
              </a:rPr>
              <a:t>Check the therapy was delivered properly; report therapist training</a:t>
            </a:r>
          </a:p>
          <a:p>
            <a:pPr marL="342900" indent="-228600" lvl="0" algn="l">
              <a:spcAft>
                <a:spcPts val="280"/>
              </a:spcAft>
              <a:buFont typeface="Arial"/>
              <a:buChar char="•"/>
            </a:pPr>
            <a:r>
              <a:rPr lang="en-US" sz="1400" dirty="0">
                <a:solidFill>
                  <a:srgbClr val="2E2E38"/>
                </a:solidFill>
                <a:latin typeface="Calibri"/>
              </a:rPr>
              <a:t>Test how it works and for whom (subgroups)</a:t>
            </a:r>
          </a:p>
          <a:p>
            <a:pPr marL="342900" indent="-228600" lvl="0" algn="l">
              <a:spcAft>
                <a:spcPts val="280"/>
              </a:spcAft>
              <a:buFont typeface="Arial"/>
              <a:buChar char="•"/>
            </a:pPr>
            <a:r>
              <a:rPr lang="en-US" sz="1400" dirty="0">
                <a:solidFill>
                  <a:srgbClr val="2E2E38"/>
                </a:solidFill>
                <a:latin typeface="Calibri"/>
              </a:rPr>
              <a:t>Register the plan in advance; report all drop-outs and harms fully</a:t>
            </a:r>
          </a:p>
          <a:p>
            <a:pPr marL="342900" indent="-228600" lvl="0" algn="l">
              <a:spcAft>
                <a:spcPts val="280"/>
              </a:spcAft>
              <a:buFont typeface="Arial"/>
              <a:buChar char="•"/>
            </a:pPr>
            <a:r>
              <a:rPr lang="en-US" sz="1400" dirty="0">
                <a:solidFill>
                  <a:srgbClr val="2E2E38"/>
                </a:solidFill>
                <a:latin typeface="Calibri"/>
              </a:rPr>
              <a:t>Check whether it is good value for money; follow up after discharge</a:t>
            </a:r>
          </a:p>
        </p:txBody>
      </p:sp>
      <p:sp>
        <p:nvSpPr>
          <p:cNvPr id="528"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29"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38</a:t>
            </a:r>
          </a:p>
        </p:txBody>
      </p:sp>
    </p:spTree>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0"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31"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THE 6 THINGS TO REMEMBER</a:t>
            </a:r>
          </a:p>
        </p:txBody>
      </p:sp>
      <p:sp>
        <p:nvSpPr>
          <p:cNvPr id="532"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Key Takeaways</a:t>
            </a:r>
          </a:p>
        </p:txBody>
      </p:sp>
      <p:cxnSp>
        <p:nvCxnSpPr>
          <p:cNvPr id="533" name="ln"/>
          <p:cNvCxnSpPr/>
          <p:nvPr/>
        </p:nvCxnSpPr>
        <p:spPr>
          <a:xfrm>
            <a:off x="560000" y="1320000"/>
            <a:ext cx="11072000" cy="0"/>
          </a:xfrm>
          <a:prstGeom prst="line">
            <a:avLst/>
          </a:prstGeom>
          <a:ln w="28575">
            <a:solidFill>
              <a:srgbClr val="D6C7EE"/>
            </a:solidFill>
          </a:ln>
        </p:spPr>
      </p:cxnSp>
      <p:sp>
        <p:nvSpPr>
          <p:cNvPr id="534" name="card"/>
          <p:cNvSpPr/>
          <p:nvPr/>
        </p:nvSpPr>
        <p:spPr>
          <a:xfrm>
            <a:off x="560000" y="1580000"/>
            <a:ext cx="11072000" cy="659666"/>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1.  </a:t>
            </a:r>
            <a:r>
              <a:rPr lang="en-US" sz="1400" dirty="0">
                <a:solidFill>
                  <a:srgbClr val="2E2E38"/>
                </a:solidFill>
                <a:latin typeface="Calibri"/>
              </a:rPr>
              <a:t>Self-harm keeps coming back - always assess safety and risk carefully.</a:t>
            </a:r>
          </a:p>
        </p:txBody>
      </p:sp>
      <p:sp>
        <p:nvSpPr>
          <p:cNvPr id="535" name="card"/>
          <p:cNvSpPr/>
          <p:nvPr/>
        </p:nvSpPr>
        <p:spPr>
          <a:xfrm>
            <a:off x="560000" y="2379666"/>
            <a:ext cx="11072000" cy="659666"/>
          </a:xfrm>
          <a:prstGeom prst="roundRect">
            <a:avLst/>
          </a:prstGeom>
          <a:solidFill>
            <a:srgbClr val="FBE3D2"/>
          </a:solidFill>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2.  </a:t>
            </a:r>
            <a:r>
              <a:rPr lang="en-US" sz="1400" dirty="0">
                <a:solidFill>
                  <a:srgbClr val="2E2E38"/>
                </a:solidFill>
                <a:latin typeface="Calibri"/>
              </a:rPr>
              <a:t>MBT targets the breakdown in 'reading feelings' that happens when emotions run high.</a:t>
            </a:r>
          </a:p>
        </p:txBody>
      </p:sp>
      <p:sp>
        <p:nvSpPr>
          <p:cNvPr id="536" name="card"/>
          <p:cNvSpPr/>
          <p:nvPr/>
        </p:nvSpPr>
        <p:spPr>
          <a:xfrm>
            <a:off x="560000" y="3179332"/>
            <a:ext cx="11072000" cy="659666"/>
          </a:xfrm>
          <a:prstGeom prst="roundRect">
            <a:avLst/>
          </a:prstGeom>
          <a:solidFill>
            <a:srgbClr val="D9E8D2"/>
          </a:solidFill>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3.  </a:t>
            </a:r>
            <a:r>
              <a:rPr lang="en-US" sz="1400" dirty="0">
                <a:solidFill>
                  <a:srgbClr val="2E2E38"/>
                </a:solidFill>
                <a:latin typeface="Calibri"/>
              </a:rPr>
              <a:t>Combined results show large benefits: self-harm g=-0.82, borderline symptoms g=-1.08, depression g=-1.10.</a:t>
            </a:r>
          </a:p>
        </p:txBody>
      </p:sp>
      <p:sp>
        <p:nvSpPr>
          <p:cNvPr id="537" name="card"/>
          <p:cNvSpPr/>
          <p:nvPr/>
        </p:nvSpPr>
        <p:spPr>
          <a:xfrm>
            <a:off x="560000" y="3978998"/>
            <a:ext cx="11072000" cy="659666"/>
          </a:xfrm>
          <a:prstGeom prst="roundRect">
            <a:avLst/>
          </a:prstGeom>
          <a:solidFill>
            <a:srgbClr val="D7E8F4"/>
          </a:solidFill>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4.  </a:t>
            </a:r>
            <a:r>
              <a:rPr lang="en-US" sz="1400" dirty="0">
                <a:solidFill>
                  <a:srgbClr val="2E2E38"/>
                </a:solidFill>
                <a:latin typeface="Calibri"/>
              </a:rPr>
              <a:t>But few, small, differing studies with short follow-up mean: promising, not yet proven.</a:t>
            </a:r>
          </a:p>
        </p:txBody>
      </p:sp>
      <p:sp>
        <p:nvSpPr>
          <p:cNvPr id="538" name="card"/>
          <p:cNvSpPr/>
          <p:nvPr/>
        </p:nvSpPr>
        <p:spPr>
          <a:xfrm>
            <a:off x="560000" y="4778664"/>
            <a:ext cx="11072000" cy="659666"/>
          </a:xfrm>
          <a:prstGeom prst="roundRect">
            <a:avLst/>
          </a:prstGeom>
          <a:solidFill>
            <a:srgbClr val="E7E0F7"/>
          </a:solidFill>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5.  </a:t>
            </a:r>
            <a:r>
              <a:rPr lang="en-US" sz="1400" dirty="0">
                <a:solidFill>
                  <a:srgbClr val="2E2E38"/>
                </a:solidFill>
                <a:latin typeface="Calibri"/>
              </a:rPr>
              <a:t>MBT fits best for people with relationship sensitivity, poor emotion control &amp; borderline traits.</a:t>
            </a:r>
          </a:p>
        </p:txBody>
      </p:sp>
      <p:sp>
        <p:nvSpPr>
          <p:cNvPr id="539" name="card"/>
          <p:cNvSpPr/>
          <p:nvPr/>
        </p:nvSpPr>
        <p:spPr>
          <a:xfrm>
            <a:off x="560000" y="5578330"/>
            <a:ext cx="11072000" cy="659666"/>
          </a:xfrm>
          <a:prstGeom prst="roundRect">
            <a:avLst/>
          </a:prstGeom>
          <a:solidFill>
            <a:srgbClr val="D5EFE6"/>
          </a:solidFill>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6.  </a:t>
            </a:r>
            <a:r>
              <a:rPr lang="en-US" sz="1400" dirty="0">
                <a:solidFill>
                  <a:srgbClr val="2E2E38"/>
                </a:solidFill>
                <a:latin typeface="Calibri"/>
              </a:rPr>
              <a:t>We need bigger, more varied, longer studies - ideally compared with other real therapies.</a:t>
            </a:r>
          </a:p>
        </p:txBody>
      </p:sp>
      <p:sp>
        <p:nvSpPr>
          <p:cNvPr id="540"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41"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39</a:t>
            </a:r>
          </a:p>
        </p:txBody>
      </p:sp>
    </p:spTree>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43"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CRITICAL APPRAISAL (template)</a:t>
            </a:r>
          </a:p>
        </p:txBody>
      </p:sp>
      <p:sp>
        <p:nvSpPr>
          <p:cNvPr id="544"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Overall Quality Check</a:t>
            </a:r>
          </a:p>
        </p:txBody>
      </p:sp>
      <p:cxnSp>
        <p:nvCxnSpPr>
          <p:cNvPr id="545" name="ln"/>
          <p:cNvCxnSpPr/>
          <p:nvPr/>
        </p:nvCxnSpPr>
        <p:spPr>
          <a:xfrm>
            <a:off x="560000" y="1320000"/>
            <a:ext cx="11072000" cy="0"/>
          </a:xfrm>
          <a:prstGeom prst="line">
            <a:avLst/>
          </a:prstGeom>
          <a:ln w="28575">
            <a:solidFill>
              <a:srgbClr val="D6C7EE"/>
            </a:solidFill>
          </a:ln>
        </p:spPr>
      </p:cxnSp>
      <p:sp>
        <p:nvSpPr>
          <p:cNvPr id="546" name="r"/>
          <p:cNvSpPr/>
          <p:nvPr/>
        </p:nvSpPr>
        <p:spPr>
          <a:xfrm>
            <a:off x="560000" y="1580000"/>
            <a:ext cx="6800000" cy="43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350" b="1" dirty="0">
                <a:solidFill>
                  <a:srgbClr val="FFFFFF"/>
                </a:solidFill>
                <a:latin typeface="Calibri"/>
              </a:rPr>
              <a:t>Question</a:t>
            </a:r>
          </a:p>
        </p:txBody>
      </p:sp>
      <p:sp>
        <p:nvSpPr>
          <p:cNvPr id="547" name="r"/>
          <p:cNvSpPr/>
          <p:nvPr/>
        </p:nvSpPr>
        <p:spPr>
          <a:xfrm>
            <a:off x="7360000" y="1580000"/>
            <a:ext cx="4272000" cy="43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350" b="1" dirty="0">
                <a:solidFill>
                  <a:srgbClr val="FFFFFF"/>
                </a:solidFill>
                <a:latin typeface="Calibri"/>
              </a:rPr>
              <a:t>Answer</a:t>
            </a:r>
          </a:p>
        </p:txBody>
      </p:sp>
      <p:sp>
        <p:nvSpPr>
          <p:cNvPr id="548" name="r"/>
          <p:cNvSpPr/>
          <p:nvPr/>
        </p:nvSpPr>
        <p:spPr>
          <a:xfrm>
            <a:off x="560000" y="2010000"/>
            <a:ext cx="6800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Was the question clear?</a:t>
            </a:r>
          </a:p>
        </p:txBody>
      </p:sp>
      <p:sp>
        <p:nvSpPr>
          <p:cNvPr id="549" name="r"/>
          <p:cNvSpPr/>
          <p:nvPr/>
        </p:nvSpPr>
        <p:spPr>
          <a:xfrm>
            <a:off x="7360000" y="2010000"/>
            <a:ext cx="4272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Yes</a:t>
            </a:r>
          </a:p>
        </p:txBody>
      </p:sp>
      <p:sp>
        <p:nvSpPr>
          <p:cNvPr id="550" name="r"/>
          <p:cNvSpPr/>
          <p:nvPr/>
        </p:nvSpPr>
        <p:spPr>
          <a:xfrm>
            <a:off x="560000" y="2440000"/>
            <a:ext cx="6800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Was the study type right (review + meta-analysis)?</a:t>
            </a:r>
          </a:p>
        </p:txBody>
      </p:sp>
      <p:sp>
        <p:nvSpPr>
          <p:cNvPr id="551" name="r"/>
          <p:cNvSpPr/>
          <p:nvPr/>
        </p:nvSpPr>
        <p:spPr>
          <a:xfrm>
            <a:off x="7360000" y="2440000"/>
            <a:ext cx="4272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Yes</a:t>
            </a:r>
          </a:p>
        </p:txBody>
      </p:sp>
      <p:sp>
        <p:nvSpPr>
          <p:cNvPr id="552" name="r"/>
          <p:cNvSpPr/>
          <p:nvPr/>
        </p:nvSpPr>
        <p:spPr>
          <a:xfrm>
            <a:off x="560000" y="2870000"/>
            <a:ext cx="6800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Was the search thorough?</a:t>
            </a:r>
          </a:p>
        </p:txBody>
      </p:sp>
      <p:sp>
        <p:nvSpPr>
          <p:cNvPr id="553" name="r"/>
          <p:cNvSpPr/>
          <p:nvPr/>
        </p:nvSpPr>
        <p:spPr>
          <a:xfrm>
            <a:off x="7360000" y="2870000"/>
            <a:ext cx="4272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Confirm from paper</a:t>
            </a:r>
          </a:p>
        </p:txBody>
      </p:sp>
      <p:sp>
        <p:nvSpPr>
          <p:cNvPr id="554" name="r"/>
          <p:cNvSpPr/>
          <p:nvPr/>
        </p:nvSpPr>
        <p:spPr>
          <a:xfrm>
            <a:off x="560000" y="3300000"/>
            <a:ext cx="6800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Were the entry rules sensible?</a:t>
            </a:r>
          </a:p>
        </p:txBody>
      </p:sp>
      <p:sp>
        <p:nvSpPr>
          <p:cNvPr id="555" name="r"/>
          <p:cNvSpPr/>
          <p:nvPr/>
        </p:nvSpPr>
        <p:spPr>
          <a:xfrm>
            <a:off x="7360000" y="3300000"/>
            <a:ext cx="4272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Mostly yes</a:t>
            </a:r>
          </a:p>
        </p:txBody>
      </p:sp>
      <p:sp>
        <p:nvSpPr>
          <p:cNvPr id="556" name="r"/>
          <p:cNvSpPr/>
          <p:nvPr/>
        </p:nvSpPr>
        <p:spPr>
          <a:xfrm>
            <a:off x="560000" y="3730000"/>
            <a:ext cx="6800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Was study quality checked?</a:t>
            </a:r>
          </a:p>
        </p:txBody>
      </p:sp>
      <p:sp>
        <p:nvSpPr>
          <p:cNvPr id="557" name="r"/>
          <p:cNvSpPr/>
          <p:nvPr/>
        </p:nvSpPr>
        <p:spPr>
          <a:xfrm>
            <a:off x="7360000" y="3730000"/>
            <a:ext cx="4272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Confirm from paper</a:t>
            </a:r>
          </a:p>
        </p:txBody>
      </p:sp>
      <p:sp>
        <p:nvSpPr>
          <p:cNvPr id="558" name="r"/>
          <p:cNvSpPr/>
          <p:nvPr/>
        </p:nvSpPr>
        <p:spPr>
          <a:xfrm>
            <a:off x="560000" y="4160000"/>
            <a:ext cx="6800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Were the right statistics used?</a:t>
            </a:r>
          </a:p>
        </p:txBody>
      </p:sp>
      <p:sp>
        <p:nvSpPr>
          <p:cNvPr id="559" name="r"/>
          <p:cNvSpPr/>
          <p:nvPr/>
        </p:nvSpPr>
        <p:spPr>
          <a:xfrm>
            <a:off x="7360000" y="4160000"/>
            <a:ext cx="4272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Yes</a:t>
            </a:r>
          </a:p>
        </p:txBody>
      </p:sp>
      <p:sp>
        <p:nvSpPr>
          <p:cNvPr id="560" name="r"/>
          <p:cNvSpPr/>
          <p:nvPr/>
        </p:nvSpPr>
        <p:spPr>
          <a:xfrm>
            <a:off x="560000" y="4590000"/>
            <a:ext cx="6800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Was disagreement between studies handled?</a:t>
            </a:r>
          </a:p>
        </p:txBody>
      </p:sp>
      <p:sp>
        <p:nvSpPr>
          <p:cNvPr id="561" name="r"/>
          <p:cNvSpPr/>
          <p:nvPr/>
        </p:nvSpPr>
        <p:spPr>
          <a:xfrm>
            <a:off x="7360000" y="4590000"/>
            <a:ext cx="4272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Partly</a:t>
            </a:r>
          </a:p>
        </p:txBody>
      </p:sp>
      <p:sp>
        <p:nvSpPr>
          <p:cNvPr id="562" name="r"/>
          <p:cNvSpPr/>
          <p:nvPr/>
        </p:nvSpPr>
        <p:spPr>
          <a:xfrm>
            <a:off x="560000" y="5020000"/>
            <a:ext cx="6800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Is it useful for real patients?</a:t>
            </a:r>
          </a:p>
        </p:txBody>
      </p:sp>
      <p:sp>
        <p:nvSpPr>
          <p:cNvPr id="563" name="r"/>
          <p:cNvSpPr/>
          <p:nvPr/>
        </p:nvSpPr>
        <p:spPr>
          <a:xfrm>
            <a:off x="7360000" y="5020000"/>
            <a:ext cx="4272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Moderate-High</a:t>
            </a:r>
          </a:p>
        </p:txBody>
      </p:sp>
      <p:sp>
        <p:nvSpPr>
          <p:cNvPr id="564" name="r"/>
          <p:cNvSpPr/>
          <p:nvPr/>
        </p:nvSpPr>
        <p:spPr>
          <a:xfrm>
            <a:off x="560000" y="5450000"/>
            <a:ext cx="6800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Does it apply widely?</a:t>
            </a:r>
          </a:p>
        </p:txBody>
      </p:sp>
      <p:sp>
        <p:nvSpPr>
          <p:cNvPr id="565" name="r"/>
          <p:cNvSpPr/>
          <p:nvPr/>
        </p:nvSpPr>
        <p:spPr>
          <a:xfrm>
            <a:off x="7360000" y="5450000"/>
            <a:ext cx="4272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Limited</a:t>
            </a:r>
          </a:p>
        </p:txBody>
      </p:sp>
      <p:sp>
        <p:nvSpPr>
          <p:cNvPr id="566" name="r"/>
          <p:cNvSpPr/>
          <p:nvPr/>
        </p:nvSpPr>
        <p:spPr>
          <a:xfrm>
            <a:off x="560000" y="5880000"/>
            <a:ext cx="6800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Overall, how confident can we be?</a:t>
            </a:r>
          </a:p>
        </p:txBody>
      </p:sp>
      <p:sp>
        <p:nvSpPr>
          <p:cNvPr id="567" name="r"/>
          <p:cNvSpPr/>
          <p:nvPr/>
        </p:nvSpPr>
        <p:spPr>
          <a:xfrm>
            <a:off x="7360000" y="5880000"/>
            <a:ext cx="4272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Moderate-Low</a:t>
            </a:r>
          </a:p>
        </p:txBody>
      </p:sp>
      <p:sp>
        <p:nvSpPr>
          <p:cNvPr id="568"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69"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40</a:t>
            </a:r>
          </a:p>
        </p:txBody>
      </p:sp>
    </p:spTree>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0"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71"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APA 7TH EDITION - VERIFY BEFORE USE</a:t>
            </a:r>
          </a:p>
        </p:txBody>
      </p:sp>
      <p:sp>
        <p:nvSpPr>
          <p:cNvPr id="572"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References</a:t>
            </a:r>
          </a:p>
        </p:txBody>
      </p:sp>
      <p:cxnSp>
        <p:nvCxnSpPr>
          <p:cNvPr id="573" name="ln"/>
          <p:cNvCxnSpPr/>
          <p:nvPr/>
        </p:nvCxnSpPr>
        <p:spPr>
          <a:xfrm>
            <a:off x="560000" y="1320000"/>
            <a:ext cx="11072000" cy="0"/>
          </a:xfrm>
          <a:prstGeom prst="line">
            <a:avLst/>
          </a:prstGeom>
          <a:ln w="28575">
            <a:solidFill>
              <a:srgbClr val="D6C7EE"/>
            </a:solidFill>
          </a:ln>
        </p:spPr>
      </p:cxnSp>
      <p:sp>
        <p:nvSpPr>
          <p:cNvPr id="574" name="tb"/>
          <p:cNvSpPr txBox="1"/>
          <p:nvPr/>
        </p:nvSpPr>
        <p:spPr>
          <a:xfrm>
            <a:off x="560000" y="1580000"/>
            <a:ext cx="11072000" cy="4838000"/>
          </a:xfrm>
          <a:prstGeom prst="rect">
            <a:avLst/>
          </a:prstGeom>
          <a:noFill/>
        </p:spPr>
        <p:txBody>
          <a:bodyPr wrap="square" anchor="t" lIns="45720" tIns="27432" rIns="45720" bIns="27432">
            <a:normAutofit/>
          </a:bodyPr>
          <a:p>
            <a:pPr lvl="0" algn="l">
              <a:spcAft>
                <a:spcPts val="300"/>
              </a:spcAft>
              <a:buNone/>
            </a:pPr>
            <a:r>
              <a:rPr lang="en-US" sz="1250" dirty="0">
                <a:solidFill>
                  <a:srgbClr val="2E2E38"/>
                </a:solidFill>
                <a:latin typeface="Calibri"/>
              </a:rPr>
              <a:t>Primary paper: (2024). Efficacy of mentalization-based therapy in treating self-harm: A systematic review and meta-analysis. Suicide and Life-Threatening Behavior. https://doi.org/10.1111/sltb.13044  [insert the full author list from the paper]</a:t>
            </a:r>
          </a:p>
          <a:p>
            <a:pPr lvl="0" algn="l">
              <a:spcAft>
                <a:spcPts val="300"/>
              </a:spcAft>
              <a:buNone/>
            </a:pPr>
            <a:r>
              <a:rPr lang="en-US" sz="1250" dirty="0">
                <a:solidFill>
                  <a:srgbClr val="2E2E38"/>
                </a:solidFill>
                <a:latin typeface="Calibri"/>
              </a:rPr>
              <a:t>Rossouw, T. I., &amp; Fonagy, P. (2012). Mentalization-based treatment for self-harm in adolescents: A randomized controlled trial. Journal of the American Academy of Child &amp; Adolescent Psychiatry, 51(12), 1304-1313.</a:t>
            </a:r>
          </a:p>
          <a:p>
            <a:pPr lvl="0" algn="l">
              <a:spcAft>
                <a:spcPts val="300"/>
              </a:spcAft>
              <a:buNone/>
            </a:pPr>
            <a:r>
              <a:rPr lang="en-US" sz="1250" dirty="0">
                <a:solidFill>
                  <a:srgbClr val="2E2E38"/>
                </a:solidFill>
                <a:latin typeface="Calibri"/>
              </a:rPr>
              <a:t>Bateman, A., &amp; Fonagy, P. (2009). Randomized controlled trial of outpatient mentalization-based treatment versus structured clinical management for borderline personality disorder. American Journal of Psychiatry, 166(12), 1355-1364.</a:t>
            </a:r>
          </a:p>
          <a:p>
            <a:pPr lvl="0" algn="l">
              <a:spcAft>
                <a:spcPts val="300"/>
              </a:spcAft>
              <a:buNone/>
            </a:pPr>
            <a:r>
              <a:rPr lang="en-US" sz="1250" dirty="0">
                <a:solidFill>
                  <a:srgbClr val="2E2E38"/>
                </a:solidFill>
                <a:latin typeface="Calibri"/>
              </a:rPr>
              <a:t>Bateman, A., &amp; Fonagy, P. (2016). Mentalization-based treatment for personality disorders: A practical guide. Oxford University Press.</a:t>
            </a:r>
          </a:p>
          <a:p>
            <a:pPr lvl="0" algn="l">
              <a:spcAft>
                <a:spcPts val="300"/>
              </a:spcAft>
              <a:buNone/>
            </a:pPr>
            <a:r>
              <a:rPr lang="en-US" sz="1250" dirty="0">
                <a:solidFill>
                  <a:srgbClr val="2E2E38"/>
                </a:solidFill>
                <a:latin typeface="Calibri"/>
              </a:rPr>
              <a:t>Laurenssen, E. M. P., et al. (2018). Day hospital mentalization-based treatment for adolescents (MBT-A). [confirm citation details].</a:t>
            </a:r>
          </a:p>
        </p:txBody>
      </p:sp>
      <p:sp>
        <p:nvSpPr>
          <p:cNvPr id="575"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76"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41</a:t>
            </a:r>
          </a:p>
        </p:txBody>
      </p:sp>
    </p:spTree>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7"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78"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APA 7TH EDITION - VERIFY BEFORE USE</a:t>
            </a:r>
          </a:p>
        </p:txBody>
      </p:sp>
      <p:sp>
        <p:nvSpPr>
          <p:cNvPr id="579"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References (cont.)</a:t>
            </a:r>
          </a:p>
        </p:txBody>
      </p:sp>
      <p:cxnSp>
        <p:nvCxnSpPr>
          <p:cNvPr id="580" name="ln"/>
          <p:cNvCxnSpPr/>
          <p:nvPr/>
        </p:nvCxnSpPr>
        <p:spPr>
          <a:xfrm>
            <a:off x="560000" y="1320000"/>
            <a:ext cx="11072000" cy="0"/>
          </a:xfrm>
          <a:prstGeom prst="line">
            <a:avLst/>
          </a:prstGeom>
          <a:ln w="28575">
            <a:solidFill>
              <a:srgbClr val="D6C7EE"/>
            </a:solidFill>
          </a:ln>
        </p:spPr>
      </p:cxnSp>
      <p:sp>
        <p:nvSpPr>
          <p:cNvPr id="581" name="tb"/>
          <p:cNvSpPr txBox="1"/>
          <p:nvPr/>
        </p:nvSpPr>
        <p:spPr>
          <a:xfrm>
            <a:off x="560000" y="1580000"/>
            <a:ext cx="11072000" cy="4838000"/>
          </a:xfrm>
          <a:prstGeom prst="rect">
            <a:avLst/>
          </a:prstGeom>
          <a:noFill/>
        </p:spPr>
        <p:txBody>
          <a:bodyPr wrap="square" anchor="t" lIns="45720" tIns="27432" rIns="45720" bIns="27432">
            <a:normAutofit/>
          </a:bodyPr>
          <a:p>
            <a:pPr lvl="0" algn="l">
              <a:spcAft>
                <a:spcPts val="300"/>
              </a:spcAft>
              <a:buNone/>
            </a:pPr>
            <a:r>
              <a:rPr lang="en-US" sz="1250" dirty="0">
                <a:solidFill>
                  <a:srgbClr val="2E2E38"/>
                </a:solidFill>
                <a:latin typeface="Calibri"/>
              </a:rPr>
              <a:t>Beck, E., et al. (2020). Mentalization-based treatment in groups for adolescents with borderline personality disorder: A randomized controlled trial. [confirm citation details].</a:t>
            </a:r>
          </a:p>
          <a:p>
            <a:pPr lvl="0" algn="l">
              <a:spcAft>
                <a:spcPts val="300"/>
              </a:spcAft>
              <a:buNone/>
            </a:pPr>
            <a:r>
              <a:rPr lang="en-US" sz="1250" dirty="0">
                <a:solidFill>
                  <a:srgbClr val="2E2E38"/>
                </a:solidFill>
                <a:latin typeface="Calibri"/>
              </a:rPr>
              <a:t>Griffiths, H., et al. (2019). Group mentalization-based treatment for adolescents (MBT-Ai): Feasibility RCT. [confirm citation details].</a:t>
            </a:r>
          </a:p>
          <a:p>
            <a:pPr lvl="0" algn="l">
              <a:spcAft>
                <a:spcPts val="300"/>
              </a:spcAft>
              <a:buNone/>
            </a:pPr>
            <a:r>
              <a:rPr lang="en-US" sz="1250" dirty="0">
                <a:solidFill>
                  <a:srgbClr val="2E2E38"/>
                </a:solidFill>
                <a:latin typeface="Calibri"/>
              </a:rPr>
              <a:t>Page, M. J., et al. (2021). The PRISMA 2020 statement: An updated guideline for reporting systematic reviews. BMJ, 372, n71.</a:t>
            </a:r>
          </a:p>
          <a:p>
            <a:pPr lvl="0" algn="l">
              <a:spcAft>
                <a:spcPts val="300"/>
              </a:spcAft>
              <a:buNone/>
            </a:pPr>
            <a:r>
              <a:rPr lang="en-US" sz="1250" dirty="0">
                <a:solidFill>
                  <a:srgbClr val="2E2E38"/>
                </a:solidFill>
                <a:latin typeface="Calibri"/>
              </a:rPr>
              <a:t>National Institute for Health and Care Excellence (NICE). Self-harm: assessment, management and preventing recurrence (NG225).</a:t>
            </a:r>
          </a:p>
          <a:p>
            <a:pPr lvl="0" algn="l">
              <a:spcAft>
                <a:spcPts val="300"/>
              </a:spcAft>
              <a:buNone/>
            </a:pPr>
            <a:r>
              <a:rPr lang="en-US" sz="1250" dirty="0">
                <a:solidFill>
                  <a:srgbClr val="2E2E38"/>
                </a:solidFill>
                <a:latin typeface="Calibri"/>
              </a:rPr>
              <a:t>World Health Organization. (2019). International Classification of Diseases (11th ed.).</a:t>
            </a:r>
          </a:p>
          <a:p>
            <a:pPr lvl="0" algn="l">
              <a:spcAft>
                <a:spcPts val="300"/>
              </a:spcAft>
              <a:buNone/>
            </a:pPr>
            <a:r>
              <a:rPr lang="en-US" sz="1250" dirty="0">
                <a:solidFill>
                  <a:srgbClr val="2E2E38"/>
                </a:solidFill>
                <a:latin typeface="Calibri"/>
              </a:rPr>
              <a:t>American Psychiatric Association. (2022). Diagnostic and statistical manual of mental disorders (5th ed., text rev.).</a:t>
            </a:r>
          </a:p>
          <a:p>
            <a:pPr lvl="0" algn="l">
              <a:spcAft>
                <a:spcPts val="300"/>
              </a:spcAft>
              <a:buNone/>
            </a:pPr>
            <a:r>
              <a:rPr lang="en-US" sz="1250" dirty="0">
                <a:solidFill>
                  <a:srgbClr val="2E2E38"/>
                </a:solidFill>
                <a:latin typeface="Calibri"/>
              </a:rPr>
              <a:t>Note: check every reference against the paper's own reference list before presenting; do not present unverified details as the authors' own.</a:t>
            </a:r>
          </a:p>
        </p:txBody>
      </p:sp>
      <p:sp>
        <p:nvSpPr>
          <p:cNvPr id="582"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83"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42</a:t>
            </a:r>
          </a:p>
        </p:txBody>
      </p:sp>
    </p:spTree>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4" name="r"/>
          <p:cNvSpPr/>
          <p:nvPr/>
        </p:nvSpPr>
        <p:spPr>
          <a:xfrm>
            <a:off x="0" y="0"/>
            <a:ext cx="12192000" cy="6858000"/>
          </a:xfrm>
          <a:prstGeom prst="rect">
            <a:avLst/>
          </a:prstGeom>
          <a:solidFill>
            <a:srgbClr val="6E5AA6"/>
          </a:solidFill>
          <a:ln>
            <a:noFill/>
          </a:ln>
        </p:spPr>
        <p:txBody>
          <a:bodyPr wrap="square" anchor="ctr" lIns="45720" tIns="18288" rIns="45720" bIns="18288">
            <a:normAutofit/>
          </a:bodyPr>
          <a:p>
            <a:pPr>
              <a:buNone/>
            </a:pPr>
          </a:p>
        </p:txBody>
      </p:sp>
      <p:sp>
        <p:nvSpPr>
          <p:cNvPr id="585" name="o"/>
          <p:cNvSpPr/>
          <p:nvPr/>
        </p:nvSpPr>
        <p:spPr>
          <a:xfrm>
            <a:off x="-600000" y="-600000"/>
            <a:ext cx="2400000" cy="2400000"/>
          </a:xfrm>
          <a:prstGeom prst="ellipse">
            <a:avLst/>
          </a:prstGeom>
          <a:solidFill>
            <a:srgbClr val="3E7CB1"/>
          </a:solidFill>
        </p:spPr>
        <p:txBody>
          <a:bodyPr wrap="square" anchor="ctr" lIns="45720" tIns="18288" rIns="45720" bIns="18288">
            <a:normAutofit/>
          </a:bodyPr>
          <a:p>
            <a:pPr>
              <a:buNone/>
            </a:pPr>
          </a:p>
        </p:txBody>
      </p:sp>
      <p:sp>
        <p:nvSpPr>
          <p:cNvPr id="586" name="o"/>
          <p:cNvSpPr/>
          <p:nvPr/>
        </p:nvSpPr>
        <p:spPr>
          <a:xfrm>
            <a:off x="10392000" y="5058000"/>
            <a:ext cx="2400000" cy="2400000"/>
          </a:xfrm>
          <a:prstGeom prst="ellipse">
            <a:avLst/>
          </a:prstGeom>
          <a:solidFill>
            <a:srgbClr val="5A4A8A"/>
          </a:solidFill>
        </p:spPr>
        <p:txBody>
          <a:bodyPr wrap="square" anchor="ctr" lIns="45720" tIns="18288" rIns="45720" bIns="18288">
            <a:normAutofit/>
          </a:bodyPr>
          <a:p>
            <a:pPr>
              <a:buNone/>
            </a:pPr>
          </a:p>
        </p:txBody>
      </p:sp>
      <p:sp>
        <p:nvSpPr>
          <p:cNvPr id="587" name="tb"/>
          <p:cNvSpPr txBox="1"/>
          <p:nvPr/>
        </p:nvSpPr>
        <p:spPr>
          <a:xfrm>
            <a:off x="1200000" y="2400000"/>
            <a:ext cx="9792000" cy="1400000"/>
          </a:xfrm>
          <a:prstGeom prst="rect">
            <a:avLst/>
          </a:prstGeom>
          <a:noFill/>
        </p:spPr>
        <p:txBody>
          <a:bodyPr wrap="square" anchor="t" lIns="45720" tIns="27432" rIns="45720" bIns="27432">
            <a:normAutofit/>
          </a:bodyPr>
          <a:p>
            <a:pPr lvl="0" algn="ctr">
              <a:spcAft>
                <a:spcPts val="260"/>
              </a:spcAft>
              <a:buNone/>
            </a:pPr>
            <a:r>
              <a:rPr lang="en-US" sz="4000" b="1" dirty="0">
                <a:solidFill>
                  <a:srgbClr val="FFFFFF"/>
                </a:solidFill>
                <a:latin typeface="Calibri"/>
              </a:rPr>
              <a:t>Thank You - Questions &amp; Discussion</a:t>
            </a:r>
          </a:p>
          <a:p>
            <a:pPr lvl="0" algn="ctr">
              <a:spcAft>
                <a:spcPts val="0"/>
              </a:spcAft>
              <a:buNone/>
            </a:pPr>
            <a:r>
              <a:rPr lang="en-US" sz="1500" i="1" dirty="0">
                <a:solidFill>
                  <a:srgbClr val="E7E0F7"/>
                </a:solidFill>
                <a:latin typeface="Calibri"/>
              </a:rPr>
              <a:t>Efficacy of Mentalization-Based Therapy in Treating Self-Harm: A Systematic Review &amp; Meta-Analysis</a:t>
            </a:r>
          </a:p>
        </p:txBody>
      </p:sp>
      <p:sp>
        <p:nvSpPr>
          <p:cNvPr id="588" name="tb"/>
          <p:cNvSpPr txBox="1"/>
          <p:nvPr/>
        </p:nvSpPr>
        <p:spPr>
          <a:xfrm>
            <a:off x="1200000" y="4300000"/>
            <a:ext cx="9792000" cy="600000"/>
          </a:xfrm>
          <a:prstGeom prst="rect">
            <a:avLst/>
          </a:prstGeom>
          <a:noFill/>
        </p:spPr>
        <p:txBody>
          <a:bodyPr wrap="square" anchor="t" lIns="45720" tIns="27432" rIns="45720" bIns="27432">
            <a:normAutofit/>
          </a:bodyPr>
          <a:p>
            <a:pPr lvl="0" algn="ctr">
              <a:spcAft>
                <a:spcPts val="0"/>
              </a:spcAft>
              <a:buNone/>
            </a:pPr>
            <a:r>
              <a:rPr lang="en-US" sz="1300" dirty="0">
                <a:solidFill>
                  <a:srgbClr val="D6C7EE"/>
                </a:solidFill>
                <a:latin typeface="Calibri"/>
              </a:rPr>
              <a:t>Sonal  •  M.Phil. Clinical Psychology  •  DOI: 10.1111/sltb.13044</a:t>
            </a:r>
          </a:p>
        </p:txBody>
      </p:sp>
    </p:spTree>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MBT Pastel">
  <a:themeElements>
    <a:clrScheme name="Custom">
      <a:dk1>
        <a:srgbClr val="2E2E38"/>
      </a:dk1>
      <a:lt1>
        <a:srgbClr val="FFFFFF"/>
      </a:lt1>
      <a:dk2>
        <a:srgbClr val="6E5AA6"/>
      </a:dk2>
      <a:lt2>
        <a:srgbClr val="FBF6EC"/>
      </a:lt2>
      <a:accent1>
        <a:srgbClr val="6E5AA6"/>
      </a:accent1>
      <a:accent2>
        <a:srgbClr val="3E7CB1"/>
      </a:accent2>
      <a:accent3>
        <a:srgbClr val="D9E8D2"/>
      </a:accent3>
      <a:accent4>
        <a:srgbClr val="FBE3D2"/>
      </a:accent4>
      <a:accent5>
        <a:srgbClr val="F7D9E0"/>
      </a:accent5>
      <a:accent6>
        <a:srgbClr val="D7E8F4"/>
      </a:accent6>
      <a:hlink>
        <a:srgbClr val="3E7CB1"/>
      </a:hlink>
      <a:folHlink>
        <a:srgbClr val="6E5AA6"/>
      </a:folHlink>
    </a:clrScheme>
    <a:fontScheme name="Calibri">
      <a:majorFont>
        <a:latin typeface="Calibri"/>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9525" cap="flat" cmpd="sng" algn="ctr">
          <a:solidFill>
            <a:schemeClr val="ph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Kiro OOXML Generator</Application>
  <Slides>43</Slides>
</Properties>
</file>

<file path=docProps/core.xml><?xml version="1.0" encoding="utf-8"?>
<cp:coreProperties xmlns:cp="http://schemas.openxmlformats.org/package/2006/metadata/core-properties" xmlns:dc="http://purl.org/dc/elements/1.1/" xmlns:dcterms="http://purl.org/dc/terms/" xmlns:xsi="http://www.w3.org/2001/XMLSchema-instance">
  <dc:title>Efficacy of MBT in Treating Self-Harm: A Systematic Review and Meta-Analysis</dc:title>
  <dc:creator>Journal Club (Sonal)</dc:creator>
  <cp:keywords>MBT; self-harm; meta-analysis</cp:keywords>
  <dcterms:created xsi:type="dcterms:W3CDTF">2026-09-30T00:00:00Z</dcterms:created>
  <dcterms:modified xsi:type="dcterms:W3CDTF">2026-09-30T00:00:00Z</dcterms:modified>
</cp:coreProperties>
</file>