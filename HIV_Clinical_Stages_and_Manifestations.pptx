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Override PartName="/ppt/presentation.xml" ContentType="application/vnd.openxmlformats-officedocument.presentationml.presentation.main+xml"/>
  <ct:Override PartName="/ppt/presProps.xml" ContentType="application/vnd.openxmlformats-officedocument.presentationml.presProps+xml"/>
  <ct:Override PartName="/ppt/viewProps.xml" ContentType="application/vnd.openxmlformats-officedocument.presentationml.viewProps+xml"/>
  <ct:Override PartName="/ppt/tableStyles.xml" ContentType="application/vnd.openxmlformats-officedocument.presentationml.tableStyles+xml"/>
  <ct:Override PartName="/ppt/theme/theme1.xml" ContentType="application/vnd.openxmlformats-officedocument.theme+xml"/>
  <ct:Override PartName="/ppt/slideMasters/slideMaster1.xml" ContentType="application/vnd.openxmlformats-officedocument.presentationml.slideMaster+xml"/>
  <ct:Override PartName="/ppt/slideLayouts/slideLayout1.xml" ContentType="application/vnd.openxmlformats-officedocument.presentationml.slideLayout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  <ct:Override PartName="/ppt/slides/slide4.xml" ContentType="application/vnd.openxmlformats-officedocument.presentationml.slide+xml"/>
  <ct:Override PartName="/ppt/slides/slide5.xml" ContentType="application/vnd.openxmlformats-officedocument.presentationml.slide+xml"/>
  <ct:Override PartName="/ppt/slides/slide6.xml" ContentType="application/vnd.openxmlformats-officedocument.presentationml.slide+xml"/>
  <ct:Override PartName="/ppt/slides/slide7.xml" ContentType="application/vnd.openxmlformats-officedocument.presentationml.slide+xml"/>
  <ct:Override PartName="/ppt/slides/slide8.xml" ContentType="application/vnd.openxmlformats-officedocument.presentationml.slide+xml"/>
  <ct:Override PartName="/ppt/slides/slide9.xml" ContentType="application/vnd.openxmlformats-officedocument.presentationml.slide+xml"/>
  <ct:Override PartName="/ppt/slides/slide10.xml" ContentType="application/vnd.openxmlformats-officedocument.presentationml.slide+xml"/>
  <ct:Override PartName="/ppt/slides/slide11.xml" ContentType="application/vnd.openxmlformats-officedocument.presentationml.slide+xml"/>
  <ct:Override PartName="/ppt/slides/slide12.xml" ContentType="application/vnd.openxmlformats-officedocument.presentationml.slide+xml"/>
  <ct:Override PartName="/ppt/slides/slide13.xml" ContentType="application/vnd.openxmlformats-officedocument.presentationml.slide+xml"/>
  <ct:Override PartName="/ppt/slides/slide14.xml" ContentType="application/vnd.openxmlformats-officedocument.presentationml.slide+xml"/>
  <ct:Override PartName="/ppt/slides/slide15.xml" ContentType="application/vnd.openxmlformats-officedocument.presentationml.slide+xml"/>
  <ct:Override PartName="/ppt/slides/slide16.xml" ContentType="application/vnd.openxmlformats-officedocument.presentationml.slide+xml"/>
  <ct:Override PartName="/ppt/slides/slide17.xml" ContentType="application/vnd.openxmlformats-officedocument.presentationml.slide+xml"/>
  <ct:Override PartName="/ppt/slides/slide18.xml" ContentType="application/vnd.openxmlformats-officedocument.presentationml.slide+xml"/>
  <ct:Override PartName="/ppt/slides/slide19.xml" ContentType="application/vnd.openxmlformats-officedocument.presentationml.slide+xml"/>
  <ct:Override PartName="/ppt/slides/slide20.xml" ContentType="application/vnd.openxmlformats-officedocument.presentationml.slide+xml"/>
  <ct:Override PartName="/ppt/slides/slide21.xml" ContentType="application/vnd.openxmlformats-officedocument.presentationml.slide+xml"/>
  <ct:Override PartName="/ppt/slides/slide22.xml" ContentType="application/vnd.openxmlformats-officedocument.presentationml.slide+xml"/>
  <ct:Override PartName="/ppt/slides/slide23.xml" ContentType="application/vnd.openxmlformats-officedocument.presentationml.slide+xml"/>
  <ct:Override PartName="/ppt/slides/slide24.xml" ContentType="application/vnd.openxmlformats-officedocument.presentationml.slide+xml"/>
  <ct:Override PartName="/ppt/slides/slide25.xml" ContentType="application/vnd.openxmlformats-officedocument.presentationml.slide+xml"/>
  <ct:Override PartName="/ppt/slides/slide26.xml" ContentType="application/vnd.openxmlformats-officedocument.presentationml.slide+xml"/>
  <ct:Override PartName="/ppt/slides/slide27.xml" ContentType="application/vnd.openxmlformats-officedocument.presentationml.slide+xml"/>
  <ct:Override PartName="/ppt/slides/slide28.xml" ContentType="application/vnd.openxmlformats-officedocument.presentationml.slide+xml"/>
  <ct:Override PartName="/ppt/slides/slide29.xml" ContentType="application/vnd.openxmlformats-officedocument.presentationml.slide+xml"/>
  <ct:Override PartName="/ppt/slides/slide30.xml" ContentType="application/vnd.openxmlformats-officedocument.presentationml.slide+xml"/>
  <ct:Override PartName="/ppt/slides/slide31.xml" ContentType="application/vnd.openxmlformats-officedocument.presentationml.slide+xml"/>
  <ct:Override PartName="/ppt/slides/slide32.xml" ContentType="application/vnd.openxmlformats-officedocument.presentationml.slide+xml"/>
  <ct:Override PartName="/ppt/slides/slide33.xml" ContentType="application/vnd.openxmlformats-officedocument.presentationml.slide+xml"/>
  <ct:Override PartName="/ppt/slides/slide34.xml" ContentType="application/vnd.openxmlformats-officedocument.presentationml.slide+xml"/>
  <ct:Override PartName="/ppt/slides/slide35.xml" ContentType="application/vnd.openxmlformats-officedocument.presentationml.slide+xml"/>
</ct:Types>
</file>

<file path=_rels/.rels><?xml version="1.0" encoding="UTF-8" standalone="yes"?>
<rel:Relationships xmlns:rel="http://schemas.openxmlformats.org/package/2006/relationships"><rel:Relationship Id="rId1" Type="http://schemas.openxmlformats.org/officeDocument/2006/relationships/officeDocument" Target="ppt/presentation.xml" /></rel:Relationships>
</file>

<file path=ppt/presentation.xml><?xml version="1.0" encoding="utf-8"?>
<presentation xmlns="http://schemas.openxmlformats.org/presentationml/2006/main" xmlns:r="http://schemas.openxmlformats.org/officeDocument/2006/relationships" saveSubsetFonts="1">
  <sldMasterIdLst>
    <sldMasterId id="2147483648" r:id="rId1"/>
  </sldMasterIdLst>
  <sldIdLst>
    <sldId id="256" r:id="rId3"/>
    <sldId id="257" r:id="rId4"/>
    <sldId id="258" r:id="rId5"/>
    <sldId id="259" r:id="rId6"/>
    <sldId id="260" r:id="rId7"/>
    <sldId id="261" r:id="rId8"/>
    <sldId id="262" r:id="rId9"/>
    <sldId id="263" r:id="rId10"/>
    <sldId id="264" r:id="rId11"/>
    <sldId id="265" r:id="rId12"/>
    <sldId id="266" r:id="rId13"/>
    <sldId id="267" r:id="rId14"/>
    <sldId id="268" r:id="rId15"/>
    <sldId id="269" r:id="rId16"/>
    <sldId id="270" r:id="rId17"/>
    <sldId id="271" r:id="rId18"/>
    <sldId id="272" r:id="rId19"/>
    <sldId id="273" r:id="rId20"/>
    <sldId id="274" r:id="rId21"/>
    <sldId id="275" r:id="rId22"/>
    <sldId id="276" r:id="rId23"/>
    <sldId id="277" r:id="rId24"/>
    <sldId id="278" r:id="rId25"/>
    <sldId id="279" r:id="rId26"/>
    <sldId id="280" r:id="rId27"/>
    <sldId id="281" r:id="rId28"/>
    <sldId id="282" r:id="rId29"/>
    <sldId id="283" r:id="rId30"/>
    <sldId id="284" r:id="rId31"/>
    <sldId id="285" r:id="rId32"/>
    <sldId id="286" r:id="rId33"/>
    <sldId id="287" r:id="rId34"/>
    <sldId id="288" r:id="rId35"/>
    <sldId id="289" r:id="rId36"/>
    <sldId id="290" r:id="rId37"/>
  </sldIdLst>
  <sldSz cx="9144000" cy="6858000" type="screen4x3"/>
  <notesSz cx="6858000" cy="9144000"/>
</presentation>
</file>

<file path=ppt/presProps.xml><?xml version="1.0" encoding="utf-8"?>
<presentationPr xmlns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viewPr xmlns="http://schemas.openxmlformats.org/presentationml/2006/main"/>
</file>

<file path=ppt/_rels/presentation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slideMasters/slideMaster1.xml" /><rel:Relationship Id="rId2" Type="http://schemas.openxmlformats.org/officeDocument/2006/relationships/theme" Target="theme/theme1.xml" /><rel:Relationship Id="rId3" Type="http://schemas.openxmlformats.org/officeDocument/2006/relationships/slide" Target="slides/slide1.xml" /><rel:Relationship Id="rId4" Type="http://schemas.openxmlformats.org/officeDocument/2006/relationships/slide" Target="slides/slide2.xml" /><rel:Relationship Id="rId5" Type="http://schemas.openxmlformats.org/officeDocument/2006/relationships/slide" Target="slides/slide3.xml" /><rel:Relationship Id="rId6" Type="http://schemas.openxmlformats.org/officeDocument/2006/relationships/slide" Target="slides/slide4.xml" /><rel:Relationship Id="rId7" Type="http://schemas.openxmlformats.org/officeDocument/2006/relationships/slide" Target="slides/slide5.xml" /><rel:Relationship Id="rId8" Type="http://schemas.openxmlformats.org/officeDocument/2006/relationships/slide" Target="slides/slide6.xml" /><rel:Relationship Id="rId9" Type="http://schemas.openxmlformats.org/officeDocument/2006/relationships/slide" Target="slides/slide7.xml" /><rel:Relationship Id="rId10" Type="http://schemas.openxmlformats.org/officeDocument/2006/relationships/slide" Target="slides/slide8.xml" /><rel:Relationship Id="rId11" Type="http://schemas.openxmlformats.org/officeDocument/2006/relationships/slide" Target="slides/slide9.xml" /><rel:Relationship Id="rId12" Type="http://schemas.openxmlformats.org/officeDocument/2006/relationships/slide" Target="slides/slide10.xml" /><rel:Relationship Id="rId13" Type="http://schemas.openxmlformats.org/officeDocument/2006/relationships/slide" Target="slides/slide11.xml" /><rel:Relationship Id="rId14" Type="http://schemas.openxmlformats.org/officeDocument/2006/relationships/slide" Target="slides/slide12.xml" /><rel:Relationship Id="rId15" Type="http://schemas.openxmlformats.org/officeDocument/2006/relationships/slide" Target="slides/slide13.xml" /><rel:Relationship Id="rId16" Type="http://schemas.openxmlformats.org/officeDocument/2006/relationships/slide" Target="slides/slide14.xml" /><rel:Relationship Id="rId17" Type="http://schemas.openxmlformats.org/officeDocument/2006/relationships/slide" Target="slides/slide15.xml" /><rel:Relationship Id="rId18" Type="http://schemas.openxmlformats.org/officeDocument/2006/relationships/slide" Target="slides/slide16.xml" /><rel:Relationship Id="rId19" Type="http://schemas.openxmlformats.org/officeDocument/2006/relationships/slide" Target="slides/slide17.xml" /><rel:Relationship Id="rId20" Type="http://schemas.openxmlformats.org/officeDocument/2006/relationships/slide" Target="slides/slide18.xml" /><rel:Relationship Id="rId21" Type="http://schemas.openxmlformats.org/officeDocument/2006/relationships/slide" Target="slides/slide19.xml" /><rel:Relationship Id="rId22" Type="http://schemas.openxmlformats.org/officeDocument/2006/relationships/slide" Target="slides/slide20.xml" /><rel:Relationship Id="rId23" Type="http://schemas.openxmlformats.org/officeDocument/2006/relationships/slide" Target="slides/slide21.xml" /><rel:Relationship Id="rId24" Type="http://schemas.openxmlformats.org/officeDocument/2006/relationships/slide" Target="slides/slide22.xml" /><rel:Relationship Id="rId25" Type="http://schemas.openxmlformats.org/officeDocument/2006/relationships/slide" Target="slides/slide23.xml" /><rel:Relationship Id="rId26" Type="http://schemas.openxmlformats.org/officeDocument/2006/relationships/slide" Target="slides/slide24.xml" /><rel:Relationship Id="rId27" Type="http://schemas.openxmlformats.org/officeDocument/2006/relationships/slide" Target="slides/slide25.xml" /><rel:Relationship Id="rId28" Type="http://schemas.openxmlformats.org/officeDocument/2006/relationships/slide" Target="slides/slide26.xml" /><rel:Relationship Id="rId29" Type="http://schemas.openxmlformats.org/officeDocument/2006/relationships/slide" Target="slides/slide27.xml" /><rel:Relationship Id="rId30" Type="http://schemas.openxmlformats.org/officeDocument/2006/relationships/slide" Target="slides/slide28.xml" /><rel:Relationship Id="rId31" Type="http://schemas.openxmlformats.org/officeDocument/2006/relationships/slide" Target="slides/slide29.xml" /><rel:Relationship Id="rId32" Type="http://schemas.openxmlformats.org/officeDocument/2006/relationships/slide" Target="slides/slide30.xml" /><rel:Relationship Id="rId33" Type="http://schemas.openxmlformats.org/officeDocument/2006/relationships/slide" Target="slides/slide31.xml" /><rel:Relationship Id="rId34" Type="http://schemas.openxmlformats.org/officeDocument/2006/relationships/slide" Target="slides/slide32.xml" /><rel:Relationship Id="rId35" Type="http://schemas.openxmlformats.org/officeDocument/2006/relationships/slide" Target="slides/slide33.xml" /><rel:Relationship Id="rId36" Type="http://schemas.openxmlformats.org/officeDocument/2006/relationships/slide" Target="slides/slide34.xml" /><rel:Relationship Id="rId37" Type="http://schemas.openxmlformats.org/officeDocument/2006/relationships/slide" Target="slides/slide35.xml" /><rel:Relationship Id="rId38" Type="http://schemas.openxmlformats.org/officeDocument/2006/relationships/presProps" Target="presProps.xml" /><rel:Relationship Id="rId39" Type="http://schemas.openxmlformats.org/officeDocument/2006/relationships/viewProps" Target="viewProps.xml" /><rel:Relationship Id="rId40" Type="http://schemas.openxmlformats.org/officeDocument/2006/relationships/tableStyles" Target="tableStyles.xml" /></rel:Relationships>
</file>

<file path=ppt/slideLayouts/_rels/slideLayout1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sldLayout xmlns="http://schemas.openxmlformats.org/presentationml/2006/main" xmlns:a="http://schemas.openxmlformats.org/drawingml/2006/main" type="blank" preserve="1">
  <cSld name="Blank"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</spTree>
  </cSld>
</sldLayout>
</file>

<file path=ppt/slideMasters/_rels/slideMaster1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rel:Relationship Id="rId2" Type="http://schemas.openxmlformats.org/officeDocument/2006/relationships/theme" Target="../theme/theme1.xml" /></rel:Relationships>
</file>

<file path=ppt/slideMasters/slideMaster1.xml><?xml version="1.0" encoding="utf-8"?>
<sldMaster xmlns="http://schemas.openxmlformats.org/presentationml/2006/main" xmlns:a="http://schemas.openxmlformats.org/drawingml/2006/main" xmlns:r="http://schemas.openxmlformats.org/officeDocument/2006/relationships">
  <cSld>
    <bg>
      <bgRef idx="1001">
        <a:schemeClr val="bg1"/>
      </bgRef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</spTree>
  </cSld>
  <sldLayoutIdLst>
    <sldLayoutId id="2147483649" r:id="rId1"/>
  </sldLayoutIdLst>
</sldMaster>
</file>

<file path=ppt/slides/_rels/slide1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4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5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6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7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8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9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10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11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12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13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14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15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16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17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18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19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0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1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2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3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4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5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6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7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8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9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0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1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2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3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4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5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slide1.xml><?xml version="1.0" encoding="utf-8"?>
<sld xmlns="http://schemas.openxmlformats.org/presentationml/2006/main" xmlns:a="http://schemas.openxmlformats.org/drawingml/2006/main">
  <cSld>
    <bg>
      <bgPr>
        <a:solidFill>
          <a:srgbClr val="1B2A4A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AccentBar"/>
          <cNvSpPr/>
          <nvPr/>
        </nvSpPr>
        <spPr>
          <a:xfrm>
            <a:off x="457200" y="2103120"/>
            <a:ext cx="914400" cy="45720"/>
          </a:xfrm>
          <a:prstGeom prst="rect"/>
          <a:solidFill>
            <a:srgbClr val="E8573A"/>
          </a:solidFill>
        </spPr>
      </sp>
      <sp>
        <nvSpPr>
          <cNvPr id="3" name="Title"/>
          <cNvSpPr txBox="1"/>
          <nvPr/>
        </nvSpPr>
        <spPr>
          <a:xfrm>
            <a:off x="457200" y="2286000"/>
            <a:ext cx="8229600" cy="1828800"/>
          </a:xfrm>
          <a:prstGeom prst="rect"/>
          <a:noFill/>
        </spPr>
        <txBody>
          <a:bodyPr wrap="square" anchor="t"/>
          <a:lstStyle/>
          <a:p>
            <a:pPr lvl="0" algn="l"/>
            <a:r>
              <a:rPr lang="en-US" sz="4000" b="1" dirty="0">
                <a:solidFill>
                  <a:srgbClr val="FFFFFF"/>
                </a:solidFill>
                <a:latin typeface="Times New Roman"/>
                <a:cs typeface="Times New Roman"/>
              </a:rPr>
              <a:t>HIV Clinical Stages</a:t>
            </a:r>
          </a:p>
          <a:p>
            <a:pPr lvl="0" algn="l"/>
            <a:r>
              <a:rPr lang="en-US" sz="4000" b="1" dirty="0">
                <a:solidFill>
                  <a:srgbClr val="FFFFFF"/>
                </a:solidFill>
                <a:latin typeface="Times New Roman"/>
                <a:cs typeface="Times New Roman"/>
              </a:rPr>
              <a:t>and Manifestations</a:t>
            </a:r>
          </a:p>
        </txBody>
      </sp>
      <sp>
        <nvSpPr>
          <cNvPr id="4" name="Subtitle"/>
          <cNvSpPr txBox="1"/>
          <nvPr/>
        </nvSpPr>
        <spPr>
          <a:xfrm>
            <a:off x="457200" y="4389120"/>
            <a:ext cx="8229600" cy="1371600"/>
          </a:xfrm>
          <a:prstGeom prst="rect"/>
          <a:noFill/>
        </spPr>
        <txBody>
          <a:bodyPr wrap="square" anchor="t"/>
          <a:lstStyle/>
          <a:p>
            <a:pPr lvl="0" algn="l"/>
            <a:r>
              <a:rPr lang="en-US" sz="1800" b="0" dirty="0">
                <a:solidFill>
                  <a:srgbClr val="B0BEC5"/>
                </a:solidFill>
                <a:latin typeface="Times New Roman"/>
                <a:cs typeface="Times New Roman"/>
              </a:rPr>
              <a:t>A Respiratory Medicine Perspective</a:t>
            </a:r>
          </a:p>
          <a:p>
            <a:pPr lvl="0" algn="l"/>
            <a:endParaRPr lang="en-US" sz="1800"/>
          </a:p>
          <a:p>
            <a:pPr lvl="0" algn="l"/>
            <a:r>
              <a:rPr lang="en-US" sz="1800" b="0" dirty="0">
                <a:solidFill>
                  <a:srgbClr val="B0BEC5"/>
                </a:solidFill>
                <a:latin typeface="Times New Roman"/>
                <a:cs typeface="Times New Roman"/>
              </a:rPr>
              <a:t>Department of Respiratory Medicine</a:t>
            </a:r>
          </a:p>
          <a:p>
            <a:pPr lvl="0" algn="l"/>
            <a:r>
              <a:rPr lang="en-US" sz="1800" b="0" dirty="0">
                <a:solidFill>
                  <a:srgbClr val="B0BEC5"/>
                </a:solidFill>
                <a:latin typeface="Times New Roman"/>
                <a:cs typeface="Times New Roman"/>
              </a:rPr>
              <a:t>Postgraduate Academic Presentation</a:t>
            </a:r>
          </a:p>
        </txBody>
      </sp>
    </spTree>
  </cSld>
</sld>
</file>

<file path=ppt/slides/slide2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Learning Objectives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600" b="0" dirty="0">
                <a:solidFill>
                  <a:srgbClr val="333333"/>
                </a:solidFill>
                <a:latin typeface="Times New Roman"/>
                <a:cs typeface="Times New Roman"/>
              </a:rPr>
              <a:t>Review the immunopathogenesis and natural history of HIV infection</a:t>
            </a:r>
          </a:p>
          <a:p>
            <a:pPr lvl="0" algn="l">
              <a:spcBef>
                <a:spcPts val="250"/>
              </a:spcBef>
            </a:pPr>
            <a:r>
              <a:rPr lang="en-US" sz="1600" b="0" dirty="0">
                <a:solidFill>
                  <a:srgbClr val="333333"/>
                </a:solidFill>
                <a:latin typeface="Times New Roman"/>
                <a:cs typeface="Times New Roman"/>
              </a:rPr>
              <a:t>Master the WHO clinical staging and CDC (2014 revised) classification</a:t>
            </a:r>
          </a:p>
          <a:p>
            <a:pPr lvl="0" algn="l">
              <a:spcBef>
                <a:spcPts val="250"/>
              </a:spcBef>
            </a:pPr>
            <a:r>
              <a:rPr lang="en-US" sz="1600" b="0" dirty="0">
                <a:solidFill>
                  <a:srgbClr val="333333"/>
                </a:solidFill>
                <a:latin typeface="Times New Roman"/>
                <a:cs typeface="Times New Roman"/>
              </a:rPr>
              <a:t>Correlate CD4 strata with stage-specific clinical manifestations</a:t>
            </a:r>
          </a:p>
          <a:p>
            <a:pPr lvl="0" algn="l">
              <a:spcBef>
                <a:spcPts val="250"/>
              </a:spcBef>
            </a:pPr>
            <a:r>
              <a:rPr lang="en-US" sz="1600" b="0" dirty="0">
                <a:solidFill>
                  <a:srgbClr val="333333"/>
                </a:solidFill>
                <a:latin typeface="Times New Roman"/>
                <a:cs typeface="Times New Roman"/>
              </a:rPr>
              <a:t>Recognise the full spectrum of HIV-associated pulmonary disease</a:t>
            </a:r>
          </a:p>
          <a:p>
            <a:pPr lvl="0" algn="l">
              <a:spcBef>
                <a:spcPts val="250"/>
              </a:spcBef>
            </a:pPr>
            <a:r>
              <a:rPr lang="en-US" sz="1600" b="0" dirty="0">
                <a:solidFill>
                  <a:srgbClr val="333333"/>
                </a:solidFill>
                <a:latin typeface="Times New Roman"/>
                <a:cs typeface="Times New Roman"/>
              </a:rPr>
              <a:t>Apply structured diagnostic algorithms to respiratory presentations</a:t>
            </a:r>
          </a:p>
          <a:p>
            <a:pPr lvl="0" algn="l">
              <a:spcBef>
                <a:spcPts val="250"/>
              </a:spcBef>
            </a:pPr>
            <a:r>
              <a:rPr lang="en-US" sz="1600" b="0" dirty="0">
                <a:solidFill>
                  <a:srgbClr val="333333"/>
                </a:solidFill>
                <a:latin typeface="Times New Roman"/>
                <a:cs typeface="Times New Roman"/>
              </a:rPr>
              <a:t>Understand OI prophylaxis, ART timing, and IRIS in the lung</a:t>
            </a:r>
          </a:p>
          <a:p>
            <a:pPr lvl="0" algn="l">
              <a:spcBef>
                <a:spcPts val="250"/>
              </a:spcBef>
            </a:pPr>
            <a:r>
              <a:rPr lang="en-US" sz="1600" b="0" dirty="0">
                <a:solidFill>
                  <a:srgbClr val="333333"/>
                </a:solidFill>
                <a:latin typeface="Times New Roman"/>
                <a:cs typeface="Times New Roman"/>
              </a:rPr>
              <a:t>Appraise the latest evidence (2024-2026) shaping HIV lung care</a:t>
            </a:r>
          </a:p>
        </txBody>
      </sp>
    </spTree>
  </cSld>
</sld>
</file>

<file path=ppt/slides/slide3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Global &amp; Indian Epidemiology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Global burden: 39.9 million PLHIV; 1.3 million new infections (UNAIDS 2024)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AIDS-related deaths: ~630,000/year — lowest since peak of late 1990s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India: ~2.5 million PLHIV; adult prevalence ~0.2% (NACO 2023-24)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— High-prevalence states: Mizoram, Nagaland, Manipur, Andhra Pradesh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Tuberculosis remains the leading OI and cause of death in Indian PLHIV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CDC 2024: 22% of new US diagnoses were already at Stage 3 (AIDS) — late presentation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ART scale-up has shifted mortality from OIs toward chronic non-AIDS conditions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Lung disease (infective + chronic) is a persistent driver of morbidity &amp; mortality</a:t>
            </a:r>
          </a:p>
        </txBody>
      </sp>
    </spTree>
  </cSld>
</sld>
</file>

<file path=ppt/slides/slide4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HIV Virology — Essentials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Family Retroviridae, genus Lentivirus; enveloped, diploid (+)ssRNA genome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HIV-1 (M group → global pandemic) and HIV-2 (West Africa, slower progression)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Key enzymes: reverse transcriptase, integrase, protease (all drug targets)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Entry: gp120 binds CD4 receptor + co-receptor (CCR5 or CXCR4)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— R5 (CCR5)-tropic: early/transmitted; X4 (CXCR4)-tropic: late, faster CD4 loss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Reverse transcription → integration as provirus → lifelong infection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High mutation rate (no proofreading) → drug resistance, immune escape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Latent reservoir in resting memory CD4+ T cells → principal barrier to cure</a:t>
            </a:r>
          </a:p>
        </txBody>
      </sp>
    </spTree>
  </cSld>
</sld>
</file>

<file path=ppt/slides/slide5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Natural History of HIV Infection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ACUTE (Fiebig I-VI, 2-4 wks): high viraemia, transient CD4 dip, seroconversion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— Acute retroviral syndrome: fever, pharyngitis, rash, lymphadenopathy (~40-90%)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CLINICAL LATENCY (chronic HIV): often asymptomatic or PGL; ongoing replication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— Untreated CD4 decline ~50-100 cells/uL/year; median 8-10 yrs to AIDS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ADVANCED HIV DISEASE (AHD): CD4 &lt;200 cells/uL OR WHO Stage 3/4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AIDS: CD4 &lt;200 cells/uL OR an AIDS-defining illness (any CD4)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Untreated post-AIDS median survival ~12-18 months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On effective ART: near-normal life expectancy; U=U (undetectable = untransmittable)</a:t>
            </a:r>
          </a:p>
        </txBody>
      </sp>
    </spTree>
  </cSld>
</sld>
</file>

<file path=ppt/slides/slide6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Immunopathogenesis — Impact on the Lung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Progressive CD4+ T-cell depletion → loss of cell-mediated immunity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Early, selective depletion of lung interstitial &amp; mucosal CD4+ T cells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Alveolar macrophage dysfunction → impaired phagocytosis &amp; pathogen killing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Impaired granuloma formation → atypical, disseminated mycobacterial disease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Depletion of bronchus-associated lymphoid tissue (BALT) → mucosal vulnerability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Chronic immune activation + microbial translocation → persistent inflammation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— Drives accelerated emphysema, fibrosis and "inflammaging" of the lung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Residual inflammation persists on ART → chronic lung disease despite viral control</a:t>
            </a:r>
          </a:p>
        </txBody>
      </sp>
    </spTree>
  </cSld>
</sld>
</file>

<file path=ppt/slides/slide7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WHO Clinical Staging — Overview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Purpose: guide management where CD4/viral load testing is limited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Four progressive clinical stages based on defined clinical events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Stage 1: Asymptomatic / persistent generalised lymphadenopathy (PGL)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Stage 2: Mild — minor mucocutaneous, recurrent upper respiratory infections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Stage 3: Advanced — chronic diarrhoea, oral thrush, pulmonary TB, severe bacterial infection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Stage 4: Severe (AIDS-defining) — PCP, oesophageal candidiasis, KS, CNS OIs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Advanced HIV Disease = Stage 3/4 OR CD4 &lt;200 cells/uL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Note: all children &lt;5 yrs with HIV are considered to have AHD (WHO)</a:t>
            </a:r>
          </a:p>
        </txBody>
      </sp>
    </spTree>
  </cSld>
</sld>
</file>

<file path=ppt/slides/slide8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WHO Clinical Stage 1 &amp; 2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STAGE 1 (CD4 usually &gt;500):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Asymptomatic infection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Persistent generalised lymphadenopathy (&gt;=2 extrainguinal sites, &gt;3 months)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STAGE 2 (CD4 usually 350-499):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Moderate unexplained weight loss (&lt;10% body weight)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Recurrent respiratory tract infections (sinusitis, tonsillitis, otitis, pharyngitis)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Herpes zoster (within last 5 years)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Angular cheilitis; recurrent oral ulceration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Seborrhoeic dermatitis; papular pruritic eruption; fungal nail infections</a:t>
            </a:r>
          </a:p>
        </txBody>
      </sp>
    </spTree>
  </cSld>
</sld>
</file>

<file path=ppt/slides/slide9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WHO Clinical Stage 3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CD4 usually 200-349 cells/uL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• Severe unexplained weight loss (&gt;10% body weight)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• Unexplained chronic diarrhoea &gt;1 month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• Unexplained persistent fever (intermittent/constant) &gt;1 month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• Persistent oral candidiasis (thrush); oral hairy leukoplakia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• PULMONARY TUBERCULOSIS (current)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• Severe bacterial infections (pneumonia, empyema, pyomyositis, meningitis, bacteraemia)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• Acute necrotising ulcerative stomatitis/gingivitis/periodontitis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• Unexplained anaemia (&lt;8 g/dL), neutropenia (&lt;0.5x10^9/L), thrombocytopenia (&lt;50x10^9/L)</a:t>
            </a:r>
          </a:p>
        </txBody>
      </sp>
    </spTree>
  </cSld>
</sld>
</file>

<file path=ppt/slides/slide10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WHO Clinical Stage 4 (AIDS-Defining)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CD4 usually &lt;200 cells/uL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• HIV wasting syndrome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• Pneumocystis jirovecii pneumonia (PCP); recurrent severe bacterial pneumonia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• Extrapulmonary / disseminated / miliary tuberculosis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• Oesophageal candidiasis (or trachea/bronchi/lungs)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• Kaposi sarcoma; cervical carcinoma (invasive); non-Hodgkin / CNS lymphoma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• CNS toxoplasmosis; cryptococcal meningitis (extrapulmonary cryptococcosis)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• CMV retinitis / disease; chronic HSV; PML; HIV encephalopathy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• Disseminated NTM (MAC); disseminated mycosis (histoplasmosis, coccidioidomycosis)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• Chronic isosporiasis; recurrent Salmonella bacteraemia; symptomatic HIV nephropathy/cardiomyopathy</a:t>
            </a:r>
          </a:p>
        </txBody>
      </sp>
    </spTree>
  </cSld>
</sld>
</file>

<file path=ppt/slides/slide11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CDC Classification System (2014 Revised)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600" b="0" dirty="0">
                <a:solidFill>
                  <a:srgbClr val="333333"/>
                </a:solidFill>
                <a:latin typeface="Times New Roman"/>
                <a:cs typeface="Times New Roman"/>
              </a:rPr>
              <a:t>Staging by CD4 count (or %) — used for surveillance &amp; diagnosis in the US</a:t>
            </a:r>
          </a:p>
          <a:p>
            <a:pPr lvl="0" algn="l">
              <a:spcBef>
                <a:spcPts val="250"/>
              </a:spcBef>
            </a:pPr>
            <a:r>
              <a:rPr lang="en-US" sz="1600" b="0" dirty="0">
                <a:solidFill>
                  <a:srgbClr val="333333"/>
                </a:solidFill>
                <a:latin typeface="Times New Roman"/>
                <a:cs typeface="Times New Roman"/>
              </a:rPr>
              <a:t>Stage 0: early/recent infection (negative test within 180 days of positive)</a:t>
            </a:r>
          </a:p>
          <a:p>
            <a:pPr lvl="0" algn="l">
              <a:spcBef>
                <a:spcPts val="250"/>
              </a:spcBef>
            </a:pPr>
            <a:r>
              <a:rPr lang="en-US" sz="1600" b="0" dirty="0">
                <a:solidFill>
                  <a:srgbClr val="333333"/>
                </a:solidFill>
                <a:latin typeface="Times New Roman"/>
                <a:cs typeface="Times New Roman"/>
              </a:rPr>
              <a:t>Stage 1: CD4 &gt;=500 cells/uL (or &gt;=29%)</a:t>
            </a:r>
          </a:p>
          <a:p>
            <a:pPr lvl="0" algn="l">
              <a:spcBef>
                <a:spcPts val="250"/>
              </a:spcBef>
            </a:pPr>
            <a:r>
              <a:rPr lang="en-US" sz="1600" b="0" dirty="0">
                <a:solidFill>
                  <a:srgbClr val="333333"/>
                </a:solidFill>
                <a:latin typeface="Times New Roman"/>
                <a:cs typeface="Times New Roman"/>
              </a:rPr>
              <a:t>Stage 2: CD4 200-499 cells/uL (or 14-28%)</a:t>
            </a:r>
          </a:p>
          <a:p>
            <a:pPr lvl="0" algn="l">
              <a:spcBef>
                <a:spcPts val="250"/>
              </a:spcBef>
            </a:pPr>
            <a:r>
              <a:rPr lang="en-US" sz="1600" b="0" dirty="0">
                <a:solidFill>
                  <a:srgbClr val="333333"/>
                </a:solidFill>
                <a:latin typeface="Times New Roman"/>
                <a:cs typeface="Times New Roman"/>
              </a:rPr>
              <a:t>Stage 3 (AIDS): CD4 &lt;200 cells/uL (or &lt;14%) OR an AIDS-defining condition</a:t>
            </a:r>
          </a:p>
          <a:p>
            <a:pPr lvl="0" algn="l">
              <a:spcBef>
                <a:spcPts val="250"/>
              </a:spcBef>
            </a:pPr>
            <a:r>
              <a:rPr lang="en-US" sz="1600" b="0" dirty="0">
                <a:solidFill>
                  <a:srgbClr val="333333"/>
                </a:solidFill>
                <a:latin typeface="Times New Roman"/>
                <a:cs typeface="Times New Roman"/>
              </a:rPr>
              <a:t>Stage Unknown: insufficient information</a:t>
            </a:r>
          </a:p>
          <a:p>
            <a:pPr lvl="0" algn="l">
              <a:spcBef>
                <a:spcPts val="250"/>
              </a:spcBef>
            </a:pPr>
            <a:r>
              <a:rPr lang="en-US" sz="1600" b="0" dirty="0">
                <a:solidFill>
                  <a:srgbClr val="333333"/>
                </a:solidFill>
                <a:latin typeface="Times New Roman"/>
                <a:cs typeface="Times New Roman"/>
              </a:rPr>
              <a:t>Older 1993 system: clinical categories A/B/C x CD4 categories 1/2/3</a:t>
            </a:r>
          </a:p>
          <a:p>
            <a:pPr lvl="0" algn="l">
              <a:spcBef>
                <a:spcPts val="250"/>
              </a:spcBef>
            </a:pPr>
            <a:r>
              <a:rPr lang="en-US" sz="1600" b="1" dirty="0">
                <a:solidFill>
                  <a:srgbClr val="1B2A4A"/>
                </a:solidFill>
                <a:latin typeface="Times New Roman"/>
                <a:cs typeface="Times New Roman"/>
              </a:rPr>
              <a:t>KEY: AIDS classification is permanent — it is not reversed by CD4 recovery on ART</a:t>
            </a:r>
          </a:p>
        </txBody>
      </sp>
    </spTree>
  </cSld>
</sld>
</file>

<file path=ppt/slides/slide12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CD4 Count — Respiratory Disease Correlation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ANY CD4: bacterial pneumonia, tuberculosis, influenza/viral, lung cancer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CD4 &gt;500: near-normal patterns; typical reactivation TB, S. pneumoniae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CD4 200-500: recurrent bacterial pneumonia; TB with increasingly atypical CXR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CD4 100-200: Pneumocystis pneumonia; pulmonary Kaposi sarcoma; cryptococcosis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CD4 50-100: disseminated histoplasmosis; endemic mycoses; extrapulmonary TB rises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CD4 &lt;50: CMV pneumonitis; disseminated MAC; invasive aspergillosis; Toxoplasma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CLINICAL PEARL: CD4 is the single best predictor of the likely pathogen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TB is the great exception — it occurs across the entire CD4 spectrum</a:t>
            </a:r>
          </a:p>
        </txBody>
      </sp>
    </spTree>
  </cSld>
</sld>
</file>

<file path=ppt/slides/slide13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Pulmonary Complications of HIV — Map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INFECTIOUS: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Bacterial: S. pneumoniae, H. influenzae, S. aureus, P. aeruginosa, Rhodococcus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Mycobacterial: M. tuberculosis (commonest OI in India), MAC, other NTM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Fungal: Pneumocystis jirovecii, Cryptococcus, Histoplasma, Aspergillus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Viral: CMV, influenza, SARS-CoV-2; Parasitic: Toxoplasma, Strongyloides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NON-INFECTIOUS: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Malignancy: Kaposi sarcoma, non-Hodgkin lymphoma, bronchogenic carcinoma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Airway/parenchymal: COPD/emphysema, bronchiectasis, LIP, NSIP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Vascular: HIV-associated pulmonary arterial hypertension (PAH)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Immune reconstitution inflammatory syndrome (IRIS)</a:t>
            </a:r>
          </a:p>
        </txBody>
      </sp>
    </spTree>
  </cSld>
</sld>
</file>

<file path=ppt/slides/slide14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HIV-TB Coinfection — The Lethal Synergy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TB is the leading cause of death among PLHIV worldwide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HIV increases risk of active TB 15-22 fold (reactivation + rapid progression)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TB drives HIV progression: increased viral replication, faster CD4 decline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Impaired granuloma integrity → higher dissemination &amp; extrapulmonary disease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Occurs at ANY CD4 count — unlike most opportunistic infections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Sputum smear-negative &amp; extrapulmonary disease increase as CD4 falls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Bidirectional testing is mandatory: test all TB patients for HIV, and vice versa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Drug-resistant TB (MDR/XDR) worsens outcomes markedly in coinfection</a:t>
            </a:r>
          </a:p>
        </txBody>
      </sp>
    </spTree>
  </cSld>
</sld>
</file>

<file path=ppt/slides/slide15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HIV-TB: Radiology by CD4 Stratum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CD4 &gt;350 — "typical" reactivation pattern: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Upper-lobe / apical-posterior infiltrates, cavitation, fibrosis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Higher sputum smear positivity; pleural effusion common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CD4 200-350 — transitional: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Less cavitation, increasing lower-zone disease and adenopathy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CD4 &lt;200 — "atypical" / primary-like pattern: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Miliary or diffuse infiltrates; hilar/mediastinal lymphadenopathy (rim-enhancing on CT)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Middle/lower-lobe disease, minimal or NO cavitation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Pleural &amp; pericardial effusions; NORMAL CXR in 10-20% despite active disease</a:t>
            </a:r>
          </a:p>
        </txBody>
      </sp>
    </spTree>
  </cSld>
</sld>
</file>

<file path=ppt/slides/slide16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HIV-TB — Diagnostic Workup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Xpert MTB/RIF Ultra: recommended INITIAL test (rapid, detects rifampicin resistance)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Sensitivity ~88% smear-positive, ~67% smear-negative in PLHIV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Sputum smear microscopy: sensitivity reduced (paucibacillary, less cavitation)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Liquid culture (MGIT) + phenotypic DST: gold standard; essential for resistance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Urine LF-LAM: point-of-care; recommended when CD4 &lt;=200 or seriously ill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CT chest: necrotic lymph nodes with rim enhancement; miliary nodules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Consider extrapulmonary sampling: lymph node aspirate, pleural/pericardial fluid, CSF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TST/IGRA unreliable for active disease and often falsely negative at low CD4 (anergy)</a:t>
            </a:r>
          </a:p>
        </txBody>
      </sp>
    </spTree>
  </cSld>
</sld>
</file>

<file path=ppt/slides/slide17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HIV-TB — Treatment &amp; ART Timing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Standard regimen: 2 months HRZE + 4 months HR (rifampicin-based preferred)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ART TIMING relative to ATT (WHO / DHHS):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CD4 &lt;50: start ART within 2 weeks of ATT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CD4 &gt;=50: start ART within 8 weeks of ATT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TB MENINGITIS: delay ART ~4-8 weeks (high risk of fatal CNS-IRIS)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Preferred ART with rifampicin: TDF/3TC + dolutegravir 50 mg TWICE daily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Alternative: efavirenz-based; rifabutin if boosted PI required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Co-trimoxazole preventive therapy for all HIV-TB patients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IRIS occurs in ~8-40%; treat symptomatically, continue ATT + ART</a:t>
            </a:r>
          </a:p>
        </txBody>
      </sp>
    </spTree>
  </cSld>
</sld>
</file>

<file path=ppt/slides/slide18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Pneumocystis Pneumonia (PCP) — Clinical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Pneumocystis jirovecii (ubiquitous fungus); AIDS-defining, CD4 usually &lt;200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Onset typically SUBACUTE (days-weeks) — a key discriminator from bacterial pneumonia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Classic triad: progressive exertional dyspnoea, non-productive cough, low-grade fever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Examination often strikingly normal; fine bibasal crackles at most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HALLMARK: hypoxaemia and desaturation on exertion, out of proportion to CXR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Supportive labs: LDH &gt;500 IU/L (sensitive, non-specific); raised (1-3)-beta-D-glucan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Pneumothorax is a recognised and dangerous complication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Extrapulmonary Pneumocystis is rare and suggests very advanced disease</a:t>
            </a:r>
          </a:p>
        </txBody>
      </sp>
    </spTree>
  </cSld>
</sld>
</file>

<file path=ppt/slides/slide19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PCP — Imaging &amp; Diagnosis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CXR: bilateral, symmetric perihilar ground-glass opacities ("bat-wing")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May be normal early (up to 10-20%); pneumatoceles/cysts; upper-zone if on aerosol prophylaxis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HRCT: diffuse ground-glass +/- "crazy-paving"; thin-walled cysts; pneumothorax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DEFINITIVE DIAGNOSIS (organism demonstration — cannot be cultured):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Induced sputum: immunofluorescence (variable sensitivity 50-90%)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Bronchoalveolar lavage: highest yield (&gt;95%) — investigation of choice if sputum negative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Stains: immunofluorescent Ab, Gomori methenamine silver, toluidine blue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PCR (sputum/BAL): very sensitive; interpret with clinical context (colonisation)</a:t>
            </a:r>
          </a:p>
        </txBody>
      </sp>
    </spTree>
  </cSld>
</sld>
</file>

<file path=ppt/slides/slide20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PCP — Treatment &amp; Prophylaxis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SEVERITY: mild-mod = PaO2 &gt;70 mmHg / A-a gradient &lt;35; severe = PaO2 &lt;=70 / A-a &gt;=35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First-line: TMP-SMX 15-20 mg/kg/day (TMP component) IV/PO in divided doses x 21 days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ADJUNCTIVE STEROIDS if PaO2 &lt;70 or A-a &gt;=35 (start within 72 h):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Prednisone 40 mg BD x5d, then 40 mg OD x5d, then 20 mg OD x11d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Alternatives: clindamycin + primaquine; IV pentamidine; atovaquone; dapsone-TMP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PROPHYLAXIS — indications: CD4 &lt;200, oropharyngeal candidiasis, or WHO stage 3/4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Drug of choice: co-trimoxazole 1 DS daily (also covers toxoplasma)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Stop primary/secondary prophylaxis after CD4 &gt;200 for &gt;=3 months on ART</a:t>
            </a:r>
          </a:p>
        </txBody>
      </sp>
    </spTree>
  </cSld>
</sld>
</file>

<file path=ppt/slides/slide21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Bacterial Pneumonia in HIV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Most frequent pulmonary infection at ANY CD4 count; often first sign of HIV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Incidence 5-25x higher than in HIV-negative individuals; reduced but not abolished by ART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ORGANISMS: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Streptococcus pneumoniae (commonest) and Haemophilus influenzae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Staphylococcus aureus (incl. MRSA); Pseudomonas aeruginosa (CD4 &lt;100/neutropenia)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Rhodococcus equi (cavitary, low CD4); atypicals (Legionella, Mycoplasma)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Presentation: acute onset, productive cough, focal/lobar consolidation, bacteraemia common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&gt;=2 episodes within 12 months = recurrent bacterial pneumonia = AIDS-defining (Stage 4)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Prevention: pneumococcal (PCV20 or PCV15+PPSV23) and annual influenza vaccination</a:t>
            </a:r>
          </a:p>
        </txBody>
      </sp>
    </spTree>
  </cSld>
</sld>
</file>

<file path=ppt/slides/slide22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Fungal Pulmonary Infections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CRYPTOCOCCOSIS (CD4 &lt;100): mainly meningitis; lung in 10-30%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CXR: nodules, infiltrates, adenopathy, effusion. Dx: serum/CSF CrAg, India ink, culture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HISTOPLASMOSIS (CD4 &lt;150; endemic zones): usually disseminated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CXR: diffuse reticulonodular / miliary. Dx: urine &amp; serum Histoplasma antigen, culture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ASPERGILLOSIS (CD4 &lt;50, neutropenia/steroids): invasive pulmonary — often fatal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CT: nodules, halo sign, air-crescent sign. Dx: galactomannan, BAL, biopsy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COCCIDIOIDOMYCOSIS / TALAROMYCOSIS (Penicillium marneffei — SE Asia) in endemic exposure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Empirical antifungals guided by CD4, epidemiology, and imaging pattern</a:t>
            </a:r>
          </a:p>
        </txBody>
      </sp>
    </spTree>
  </cSld>
</sld>
</file>

<file path=ppt/slides/slide23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Pulmonary Kaposi Sarcoma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HHV-8 (KSHV)-associated; commonest HIV-associated malignancy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Thoracic involvement in 20-50% of KS cases; usually with mucocutaneous lesions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CD4 typically &lt;200; incidence markedly reduced in ART era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Symptoms: dyspnoea, cough, haemoptysis, chest pain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CXR: bilateral perihilar "flame-shaped" nodular infiltrates; Kerley B lines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Pleural effusions (often haemorrhagic/exudative); mediastinal adenopathy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CT: peribronchovascular nodules &amp; thickening; ground-glass halo; effusions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Bronchoscopy: raised violaceous/red endobronchial plaques (biopsy risky, often diagnostic visually)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Treatment: optimise ART; systemic chemo (liposomal anthracyclines, paclitaxel) for extensive disease</a:t>
            </a:r>
          </a:p>
        </txBody>
      </sp>
    </spTree>
  </cSld>
</sld>
</file>

<file path=ppt/slides/slide24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Non-Infectious Pulmonary Complications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COPD / EMPHYSEMA: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Up to 50% higher prevalence; HIV is an independent risk factor beyond smoking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Accelerated FEV1 decline; reduced DLCO even in never-smokers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PULMONARY ARTERIAL HYPERTENSION: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~0.5% prevalence (&gt;&gt;general population); HIV proteins Nef/Tat drive vasculopathy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Independent of CD4; ART improves but does not fully reverse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LUNG CANCER: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2-4x increased risk; younger age &amp; more advanced stage at diagnosis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Adenocarcinoma predominates; smoking cessation is critical</a:t>
            </a:r>
          </a:p>
        </txBody>
      </sp>
    </spTree>
  </cSld>
</sld>
</file>

<file path=ppt/slides/slide25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Interstitial Lung Disease — LIP &amp; NSIP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LYMPHOCYTIC INTERSTITIAL PNEUMONITIS (LIP):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Common in children; AIDS-defining in &lt;13 yrs; rare in adults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Diffuse polyclonal CD8+ lymphocytic infiltration of interstitium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HRCT: ground-glass, thin-walled perivascular cysts, centrilobular nodules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Management: ART +/- corticosteroids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NON-SPECIFIC INTERSTITIAL PNEUMONITIS (NSIP):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Most frequent ILD pattern in adults with HIV; often mild, ART-responsive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IMMUNE RECONSTITUTION granulomatous / sarcoid-like disease may occur after ART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Always exclude infection (PCP, TB, fungal) before attributing to non-infectious ILD</a:t>
            </a:r>
          </a:p>
        </txBody>
      </sp>
    </spTree>
  </cSld>
</sld>
</file>

<file path=ppt/slides/slide26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IRIS — Pulmonary Manifestations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Paradoxical clinical worsening after ART-driven immune recovery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Onset: typically 2-12 weeks after starting ART (or unmasking of latent infection)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Risk factors: low baseline CD4 (&lt;50), high viral load, disseminated OI, early ART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PULMONARY FORMS: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TB-IRIS (commonest): new/worsening infiltrates, enlarging nodes, effusions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PCP-IRIS: worsening hypoxaemia despite adequate therapy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Cryptococcal / fungal IRIS: new nodules, cavities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MANAGEMENT: continue ART + treat the underlying OI; corticosteroids for moderate-severe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Stopping ART reserved for life-threatening IRIS only</a:t>
            </a:r>
          </a:p>
        </txBody>
      </sp>
    </spTree>
  </cSld>
</sld>
</file>

<file path=ppt/slides/slide27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Diagnostic Approach: HIV + Respiratory Symptoms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STEP 1 — Establish CD4 count &amp; ART status → shape the differential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STEP 2 — Define the tempo: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Acute (&lt;7 days): bacterial pneumonia, influenza/COVID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Subacute (1-4 weeks): PCP, TB, fungal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Chronic (&gt;4 weeks): TB, MAC, malignancy, ILD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STEP 3 — Imaging: CXR first, HRCT for pattern definition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STEP 4 — Microbiology: sputum AFB/Xpert, Gram stain &amp; culture, blood cultures,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serum CrAg, beta-D-glucan, LDH, urine LAM/Histoplasma antigen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STEP 5 — Bronchoscopy + BAL if sputum non-diagnostic (PCP, fungal, KS)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STEP 6 — Consider non-infectious causes, especially in virally suppressed patients</a:t>
            </a:r>
          </a:p>
        </txBody>
      </sp>
    </spTree>
  </cSld>
</sld>
</file>

<file path=ppt/slides/slide28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Rapid Pattern Recognition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Bilateral ground-glass + exertional hypoxaemia + subacute → PCP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Upper-lobe cavity + chronic productive cough (higher CD4) → reactivation TB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Miliary nodules + lymphadenopathy + low CD4 → disseminated TB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Acute lobar consolidation + rigors → bacterial pneumonia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Peribronchovascular nodules + haemorrhagic effusion + skin KS → pulmonary KS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Diffuse reticulonodular + very low CD4 + endemic area → histoplasmosis / MAC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Nodule with halo/air-crescent + CD4 &lt;50 → invasive aspergillosis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New bilateral hilar adenopathy weeks after ART → sarcoid-like IRIS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Thin-walled cysts + spontaneous pneumothorax + low CD4 → PCP (atypical)</a:t>
            </a:r>
          </a:p>
        </txBody>
      </sp>
    </spTree>
  </cSld>
</sld>
</file>

<file path=ppt/slides/slide29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OI Prophylaxis — Respiratory Focus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PRIMARY PROPHYLAXIS: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PCP: co-trimoxazole 1 DS daily when CD4 &lt;200 or oropharyngeal candidiasis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TB (TPT): after excluding active TB — 6-9 mo INH+B6, or 3 mo weekly INH+rifapentine (3HP)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MAC: routine prophylaxis NO LONGER recommended if effective ART is started promptly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SECONDARY PROPHYLAXIS (post-treatment maintenance):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PCP: continue until CD4 &gt;200 for &gt;=3 months on ART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Cryptococcus: fluconazole until CD4 &gt;100-200 and suppressed &gt;=1 year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VACCINES: pneumococcal, annual influenza, COVID-19, hepatitis B; avoid live vaccines if CD4 &lt;200</a:t>
            </a:r>
          </a:p>
        </txBody>
      </sp>
    </spTree>
  </cSld>
</sld>
</file>

<file path=ppt/slides/slide30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Major Non-Respiratory Manifestations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NEUROLOGICAL: cerebral toxoplasmosis, cryptococcal meningitis, PML, HIV-associated dementia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GASTROINTESTINAL: oesophageal candidiasis, CMV colitis, cryptosporidiosis, chronic diarrhoea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MUCOCUTANEOUS: Kaposi sarcoma, extensive HSV/VZV, molluscum, seborrhoeic dermatitis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HAEMATOLOGICAL: cytopenias; non-Hodgkin &amp; primary CNS lymphoma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OPHTHALMIC: CMV retinitis (CD4 &lt;50) — "pizza-pie" fundus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RENAL: HIV-associated nephropathy (collapsing FSGS); tenofovir tubulopathy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CARDIOVASCULAR: accelerated atherosclerosis, HIV cardiomyopathy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METABOLIC: lipodystrophy, insulin resistance, dyslipidaemia (partly ART-related)</a:t>
            </a:r>
          </a:p>
        </txBody>
      </sp>
    </spTree>
  </cSld>
</sld>
</file>

<file path=ppt/slides/slide31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ART — Principles for the Respirologist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Treat ALL PLHIV regardless of CD4 count (universal "Treat All", WHO)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Preferred first-line: TDF (or TAF) + 3TC/FTC + dolutegravir (DTG)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Rapid initiation (within 7 days, or same-day) — except CNS OIs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Cryptococcal &amp; TB meningitis: delay ART ~4-8 weeks to reduce fatal IRIS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RESPIRATORY RELEVANCE: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ART reduces OI incidence by &gt;80% and improves PAH and KS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Does NOT fully halt COPD/emphysema progression → address smoking, inflammation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Key interactions: rifampicin lowers DTG/PI levels → double DTG dose or use rifabutin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Screen HLA-B*57:01 before abacavir; monitor for early IRIS in first 12 weeks</a:t>
            </a:r>
          </a:p>
        </txBody>
      </sp>
    </spTree>
  </cSld>
</sld>
</file>

<file path=ppt/slides/slide32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Latest Research &amp; Advances (2024-2026)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PREVENTION — Lenacapavir (twice-yearly injectable capsid inhibitor):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FDA-approved for PrEP (Jun 2025); PURPOSE 1 &amp; 2 trials: &gt;=99.9% remained HIV-negative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Science "Breakthrough of the Year 2024"; WHO now recommends LEN-PrEP as an option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TREATMENT — Long-acting injectables reshaping care: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Cabotegravir + rilpivirine (2-monthly IM) as maintenance therapy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Long-acting agents explored for pregnancy &amp; adherence-challenged populations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CURE research: broadly neutralising antibodies (bNAbs) &amp; "shock-and-kill"/reservoir strategies</a:t>
            </a:r>
          </a:p>
          <a:p>
            <a:pPr lvl="0" algn="l">
              <a:spcBef>
                <a:spcPts val="250"/>
              </a:spcBef>
            </a:pPr>
            <a:r>
              <a:rPr lang="en-US" sz="1400" b="1" dirty="0">
                <a:solidFill>
                  <a:srgbClr val="1B2A4A"/>
                </a:solidFill>
                <a:latin typeface="Times New Roman"/>
                <a:cs typeface="Times New Roman"/>
              </a:rPr>
              <a:t>DIAGNOSTICS: Xpert MTB/RIF Ultra &amp; urine LF-LAM improving early TB detection at low CD4</a:t>
            </a:r>
          </a:p>
        </txBody>
      </sp>
    </spTree>
  </cSld>
</sld>
</file>

<file path=ppt/slides/slide33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Latest Research — Lung Disease Focus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HIV as an independent obstructive-lung-disease (OLD) risk factor: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2024-25 systematic review/meta-analysis (Ann Am Thorac Soc): HIV linked to lower</a:t>
            </a:r>
          </a:p>
          <a:p>
            <a:pPr lvl="2" algn="l">
              <a:spcBef>
                <a:spcPts val="100"/>
              </a:spcBef>
            </a:pPr>
            <a:r>
              <a:rPr lang="en-US" sz="1200" b="0" dirty="0">
                <a:solidFill>
                  <a:srgbClr val="555555"/>
                </a:solidFill>
                <a:latin typeface="Times New Roman"/>
                <a:cs typeface="Times New Roman"/>
              </a:rPr>
              <a:t>FEV1/FVC and reduced DLCO, independent of smoking, esp. in LMICs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COPD reframed as a SYSTEMIC syndrome fuelled by chronic HIV-attributable inflammation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Persistent immune activation &amp; microbial translocation drive "inflammaging" of the lung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Growing chronic-lung-disease burden in aging, virally-suppressed PLHIV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Active research areas: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Anti-inflammatory &amp; host-directed therapies to preserve lung function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Lung-cancer screening strategies tailored to PLHIV</a:t>
            </a:r>
          </a:p>
          <a:p>
            <a:pPr lvl="1" algn="l">
              <a:spcBef>
                <a:spcPts val="150"/>
              </a:spcBef>
            </a:pPr>
            <a:r>
              <a:rPr lang="en-US" sz="1300" b="0" dirty="0">
                <a:solidFill>
                  <a:srgbClr val="444444"/>
                </a:solidFill>
                <a:latin typeface="Times New Roman"/>
                <a:cs typeface="Times New Roman"/>
              </a:rPr>
              <a:t>• Optimal management of HIV-associated PAH</a:t>
            </a:r>
          </a:p>
        </txBody>
      </sp>
    </spTree>
  </cSld>
</sld>
</file>

<file path=ppt/slides/slide34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Key Takeaways for the Pulmonologist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1. Consider HIV in any atypical, severe, or recurrent pneumonia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2. CD4 count is the compass — it predicts the likely pathogen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3. TB occurs at ANY CD4; radiology becomes atypical as immunity falls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4. PCP = subacute dyspnoea + hypoxaemia out of proportion to the CXR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5. Xpert MTB/RIF Ultra is the first-line test for pulmonary TB in HIV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6. Time ART carefully in TB/cryptococcal meningitis to limit fatal IRIS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7. ART era: COPD, PAH, lung cancer now dominate chronic lung morbidity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8. Always exclude active TB before starting TB preventive therapy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9. BAL is the key investigation when sputum is non-diagnostic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10. Manage HIV lung disease within a multidisciplinary ID-pulmonology team</a:t>
            </a:r>
          </a:p>
        </txBody>
      </sp>
    </spTree>
  </cSld>
</sld>
</file>

<file path=ppt/slides/slide35.xml><?xml version="1.0" encoding="utf-8"?>
<sld xmlns="http://schemas.openxmlformats.org/presentationml/2006/main" xmlns:a="http://schemas.openxmlformats.org/drawingml/2006/main">
  <cSld>
    <bg>
      <bgPr>
        <a:solidFill>
          <a:srgbClr val="FFFFFF"/>
        </a:solidFill>
      </bgPr>
    </bg>
    <spTree>
      <nvGrpSpPr>
        <cNvPr id="1" name=""/>
        <cNvGrpSpPr/>
        <nvPr/>
      </nvGrpSpPr>
      <grpSpPr>
        <a:xfrm>
          <a:off x="0" y="0"/>
          <a:ext cx="0" cy="0"/>
          <a:chOff x="0" y="0"/>
          <a:chExt cx="0" cy="0"/>
        </a:xfrm>
      </grpSpPr>
      <sp>
        <nvSpPr>
          <cNvPr id="2" name="TopBar"/>
          <cNvSpPr/>
          <nvPr/>
        </nvSpPr>
        <spPr>
          <a:xfrm>
            <a:off x="0" y="0"/>
            <a:ext cx="9144000" cy="73152"/>
          </a:xfrm>
          <a:prstGeom prst="rect"/>
          <a:solidFill>
            <a:srgbClr val="1B2A4A"/>
          </a:solidFill>
        </spPr>
      </sp>
      <sp>
        <nvSpPr>
          <cNvPr id="3" name="SlideTitle"/>
          <cNvSpPr txBox="1"/>
          <nvPr/>
        </nvSpPr>
        <spPr>
          <a:xfrm>
            <a:off x="365760" y="164592"/>
            <a:ext cx="8412480" cy="777240"/>
          </a:xfrm>
          <a:prstGeom prst="rect"/>
          <a:noFill/>
        </spPr>
        <txBody>
          <a:bodyPr wrap="square" anchor="b"/>
          <a:lstStyle/>
          <a:p>
            <a:pPr lvl="0" algn="l"/>
            <a:r>
              <a:rPr lang="en-US" sz="3200" b="1" dirty="0">
                <a:solidFill>
                  <a:srgbClr val="1B2A4A"/>
                </a:solidFill>
                <a:latin typeface="Times New Roman"/>
                <a:cs typeface="Times New Roman"/>
              </a:rPr>
              <a:t>References</a:t>
            </a:r>
          </a:p>
        </txBody>
      </sp>
      <sp>
        <nvSpPr>
          <cNvPr id="4" name="TitleLine"/>
          <cNvSpPr/>
          <nvPr/>
        </nvSpPr>
        <spPr>
          <a:xfrm>
            <a:off x="365760" y="987552"/>
            <a:ext cx="8412480" cy="22860"/>
          </a:xfrm>
          <a:prstGeom prst="rect"/>
          <a:solidFill>
            <a:srgbClr val="E8573A"/>
          </a:solidFill>
        </spPr>
      </sp>
      <sp>
        <nvSpPr>
          <cNvPr id="5" name="Content"/>
          <cNvSpPr txBox="1"/>
          <nvPr/>
        </nvSpPr>
        <spPr>
          <a:xfrm>
            <a:off x="365760" y="1143000"/>
            <a:ext cx="8412480" cy="5577840"/>
          </a:xfrm>
          <a:prstGeom prst="rect"/>
          <a:noFill/>
        </spPr>
        <txBody>
          <a:bodyPr wrap="square" anchor="t" lIns="91440" tIns="45720" rIns="91440" bIns="45720"/>
          <a:lstStyle/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1. Harrison's Principles of Internal Medicine, 21st ed (HIV/AIDS chapter)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2. WHO Consolidated Guidelines on HIV Prevention, Testing, Treatment &amp; Service Delivery, 2024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3. WHO Guidelines on the Management of Advanced HIV Disease, 2025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4. CDC/NIH/IDSA Guidelines for Prevention &amp; Treatment of OIs in Adults &amp; Adolescents with HIV, 2024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5. ATS Workshop Report: HIV-Associated Pulmonary Diseases (Am J Respir Crit Care Med)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6. Effect of HIV on Lung Function and Structure: Systematic Review &amp; Meta-analysis. Ann Am Thorac Soc, 2025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7. HIV-associated lung disease. (Lancet Respir Med / review literature, 2023-2024)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8. Gilead PURPOSE 1 &amp; 2 trials; FDA approval of lenacapavir for PrEP, 2025; WHO PrEP guidance 2025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9. National AIDS Control Organisation (NACO), India — Technical &amp; ART Guidelines</a:t>
            </a:r>
          </a:p>
          <a:p>
            <a:pPr lvl="0" algn="l">
              <a:spcBef>
                <a:spcPts val="250"/>
              </a:spcBef>
            </a:pPr>
            <a:r>
              <a:rPr lang="en-US" sz="1400" b="0" dirty="0">
                <a:solidFill>
                  <a:srgbClr val="333333"/>
                </a:solidFill>
                <a:latin typeface="Times New Roman"/>
                <a:cs typeface="Times New Roman"/>
              </a:rPr>
              <a:t>10. UNAIDS Global AIDS Update, 2024</a:t>
            </a:r>
          </a:p>
        </txBody>
      </sp>
    </spTree>
  </cSld>
</sld>
</file>

<file path=ppt/theme/theme1.xml><?xml version="1.0" encoding="utf-8"?>
<a:theme xmlns:a="http://schemas.openxmlformats.org/drawingml/2006/main" name="HIV Presentation Theme">
  <a:themeElements>
    <a:clrScheme name="Custom">
      <a:dk1>
        <a:srgbClr val="1B2A4A"/>
      </a:dk1>
      <a:lt1>
        <a:srgbClr val="FFFFFF"/>
      </a:lt1>
      <a:dk2>
        <a:srgbClr val="333333"/>
      </a:dk2>
      <a:lt2>
        <a:srgbClr val="F5F5F5"/>
      </a:lt2>
      <a:accent1>
        <a:srgbClr val="1B2A4A"/>
      </a:accent1>
      <a:accent2>
        <a:srgbClr val="E8573A"/>
      </a:accent2>
      <a:accent3>
        <a:srgbClr val="2E86AB"/>
      </a:accent3>
      <a:accent4>
        <a:srgbClr val="4A9E6B"/>
      </a:accent4>
      <a:accent5>
        <a:srgbClr val="F4A261"/>
      </a:accent5>
      <a:accent6>
        <a:srgbClr val="7B68AE"/>
      </a:accent6>
      <a:hlink>
        <a:srgbClr val="2E86AB"/>
      </a:hlink>
      <a:folHlink>
        <a:srgbClr val="7B68AE"/>
      </a:folHlink>
    </a:clrScheme>
    <a:fontScheme name="Custom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Custom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>
          <a:solidFill>
            <a:schemeClr val="phClr"/>
          </a:solidFill>
        </a:ln>
        <a:ln w="9525" cap="flat">
          <a:solidFill>
            <a:schemeClr val="phClr"/>
          </a:solidFill>
        </a:ln>
        <a:ln w="9525" cap="flat">
          <a:solidFill>
            <a:schemeClr val="phClr"/>
          </a:solidFill>
        </a:ln>
      </a:lnStyleLst>
      <a:effectStyleLst>
        <a:effectStyle/>
        <a:effectStyle/>
        <a:effectStyle/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