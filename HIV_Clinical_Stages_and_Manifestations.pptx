
<file path=[Content_Types].xml><?xml version="1.0" encoding="utf-8"?>
<ct:Types xmlns:ct="http://schemas.openxmlformats.org/package/2006/content-types">
  <ct:Default Extension="rels" ContentType="application/vnd.openxmlformats-package.relationships+xml"/>
  <ct:Default Extension="xml" ContentType="application/xml"/>
  <ct:Override PartName="/ppt/presentation.xml" ContentType="application/vnd.openxmlformats-officedocument.presentationml.presentation.main+xml"/>
  <ct:Override PartName="/ppt/presProps.xml" ContentType="application/vnd.openxmlformats-officedocument.presentationml.presProps+xml"/>
  <ct:Override PartName="/ppt/viewProps.xml" ContentType="application/vnd.openxmlformats-officedocument.presentationml.viewProps+xml"/>
  <ct:Override PartName="/ppt/tableStyles.xml" ContentType="application/vnd.openxmlformats-officedocument.presentationml.tableStyles+xml"/>
  <ct:Override PartName="/ppt/theme/theme1.xml" ContentType="application/vnd.openxmlformats-officedocument.theme+xml"/>
  <ct:Override PartName="/ppt/slideMasters/slideMaster1.xml" ContentType="application/vnd.openxmlformats-officedocument.presentationml.slideMaster+xml"/>
  <ct:Override PartName="/ppt/slideLayouts/slideLayout1.xml" ContentType="application/vnd.openxmlformats-officedocument.presentationml.slideLayout+xml"/>
  <ct:Override PartName="/ppt/slides/slide1.xml" ContentType="application/vnd.openxmlformats-officedocument.presentationml.slide+xml"/>
  <ct:Override PartName="/ppt/slides/slide2.xml" ContentType="application/vnd.openxmlformats-officedocument.presentationml.slide+xml"/>
  <ct:Override PartName="/ppt/slides/slide3.xml" ContentType="application/vnd.openxmlformats-officedocument.presentationml.slide+xml"/>
  <ct:Override PartName="/ppt/slides/slide4.xml" ContentType="application/vnd.openxmlformats-officedocument.presentationml.slide+xml"/>
  <ct:Override PartName="/ppt/slides/slide5.xml" ContentType="application/vnd.openxmlformats-officedocument.presentationml.slide+xml"/>
  <ct:Override PartName="/ppt/slides/slide6.xml" ContentType="application/vnd.openxmlformats-officedocument.presentationml.slide+xml"/>
  <ct:Override PartName="/ppt/slides/slide7.xml" ContentType="application/vnd.openxmlformats-officedocument.presentationml.slide+xml"/>
  <ct:Override PartName="/ppt/slides/slide8.xml" ContentType="application/vnd.openxmlformats-officedocument.presentationml.slide+xml"/>
  <ct:Override PartName="/ppt/slides/slide9.xml" ContentType="application/vnd.openxmlformats-officedocument.presentationml.slide+xml"/>
  <ct:Override PartName="/ppt/slides/slide10.xml" ContentType="application/vnd.openxmlformats-officedocument.presentationml.slide+xml"/>
  <ct:Override PartName="/ppt/slides/slide11.xml" ContentType="application/vnd.openxmlformats-officedocument.presentationml.slide+xml"/>
  <ct:Override PartName="/ppt/slides/slide12.xml" ContentType="application/vnd.openxmlformats-officedocument.presentationml.slide+xml"/>
  <ct:Override PartName="/ppt/slides/slide13.xml" ContentType="application/vnd.openxmlformats-officedocument.presentationml.slide+xml"/>
  <ct:Override PartName="/ppt/slides/slide14.xml" ContentType="application/vnd.openxmlformats-officedocument.presentationml.slide+xml"/>
  <ct:Override PartName="/ppt/slides/slide15.xml" ContentType="application/vnd.openxmlformats-officedocument.presentationml.slide+xml"/>
  <ct:Override PartName="/ppt/slides/slide16.xml" ContentType="application/vnd.openxmlformats-officedocument.presentationml.slide+xml"/>
  <ct:Override PartName="/ppt/slides/slide17.xml" ContentType="application/vnd.openxmlformats-officedocument.presentationml.slide+xml"/>
  <ct:Override PartName="/ppt/slides/slide18.xml" ContentType="application/vnd.openxmlformats-officedocument.presentationml.slide+xml"/>
  <ct:Override PartName="/ppt/slides/slide19.xml" ContentType="application/vnd.openxmlformats-officedocument.presentationml.slide+xml"/>
  <ct:Override PartName="/ppt/slides/slide20.xml" ContentType="application/vnd.openxmlformats-officedocument.presentationml.slide+xml"/>
  <ct:Override PartName="/ppt/slides/slide21.xml" ContentType="application/vnd.openxmlformats-officedocument.presentationml.slide+xml"/>
  <ct:Override PartName="/ppt/slides/slide22.xml" ContentType="application/vnd.openxmlformats-officedocument.presentationml.slide+xml"/>
  <ct:Override PartName="/ppt/slides/slide23.xml" ContentType="application/vnd.openxmlformats-officedocument.presentationml.slide+xml"/>
  <ct:Override PartName="/ppt/slides/slide24.xml" ContentType="application/vnd.openxmlformats-officedocument.presentationml.slide+xml"/>
  <ct:Override PartName="/ppt/slides/slide25.xml" ContentType="application/vnd.openxmlformats-officedocument.presentationml.slide+xml"/>
  <ct:Override PartName="/ppt/slides/slide26.xml" ContentType="application/vnd.openxmlformats-officedocument.presentationml.slide+xml"/>
  <ct:Override PartName="/ppt/slides/slide27.xml" ContentType="application/vnd.openxmlformats-officedocument.presentationml.slide+xml"/>
  <ct:Override PartName="/ppt/slides/slide28.xml" ContentType="application/vnd.openxmlformats-officedocument.presentationml.slide+xml"/>
  <ct:Override PartName="/ppt/slides/slide29.xml" ContentType="application/vnd.openxmlformats-officedocument.presentationml.slide+xml"/>
  <ct:Override PartName="/ppt/slides/slide30.xml" ContentType="application/vnd.openxmlformats-officedocument.presentationml.slide+xml"/>
  <ct:Override PartName="/ppt/slides/slide31.xml" ContentType="application/vnd.openxmlformats-officedocument.presentationml.slide+xml"/>
  <ct:Override PartName="/ppt/slides/slide32.xml" ContentType="application/vnd.openxmlformats-officedocument.presentationml.slide+xml"/>
  <ct:Override PartName="/ppt/slides/slide33.xml" ContentType="application/vnd.openxmlformats-officedocument.presentationml.slide+xml"/>
</ct:Types>
</file>

<file path=_rels/.rels><?xml version="1.0" encoding="UTF-8" standalone="yes"?>
<rel:Relationships xmlns:rel="http://schemas.openxmlformats.org/package/2006/relationships"><rel:Relationship Id="rId1" Type="http://schemas.openxmlformats.org/officeDocument/2006/relationships/officeDocument" Target="ppt/presentation.xml" /></rel:Relationships>
</file>

<file path=ppt/presentation.xml><?xml version="1.0" encoding="utf-8"?>
<presentation xmlns="http://schemas.openxmlformats.org/presentationml/2006/main" xmlns:a="http://schemas.openxmlformats.org/drawingml/2006/main" xmlns:r="http://schemas.openxmlformats.org/officeDocument/2006/relationships" xmlns:p="http://schemas.openxmlformats.org/presentationml/2006/main" saveSubsetFonts="1">
  <sldMasterIdLst>
    <sldMasterId id="2147483648" r:id="rId1"/>
  </sldMasterIdLst>
  <sldIdLst>
    <sldId id="256" r:id="rId3"/>
    <sldId id="257" r:id="rId4"/>
    <sldId id="258" r:id="rId5"/>
    <sldId id="259" r:id="rId6"/>
    <sldId id="260" r:id="rId7"/>
    <sldId id="261" r:id="rId8"/>
    <sldId id="262" r:id="rId9"/>
    <sldId id="263" r:id="rId10"/>
    <sldId id="264" r:id="rId11"/>
    <sldId id="265" r:id="rId12"/>
    <sldId id="266" r:id="rId13"/>
    <sldId id="267" r:id="rId14"/>
    <sldId id="268" r:id="rId15"/>
    <sldId id="269" r:id="rId16"/>
    <sldId id="270" r:id="rId17"/>
    <sldId id="271" r:id="rId18"/>
    <sldId id="272" r:id="rId19"/>
    <sldId id="273" r:id="rId20"/>
    <sldId id="274" r:id="rId21"/>
    <sldId id="275" r:id="rId22"/>
    <sldId id="276" r:id="rId23"/>
    <sldId id="277" r:id="rId24"/>
    <sldId id="278" r:id="rId25"/>
    <sldId id="279" r:id="rId26"/>
    <sldId id="280" r:id="rId27"/>
    <sldId id="281" r:id="rId28"/>
    <sldId id="282" r:id="rId29"/>
    <sldId id="283" r:id="rId30"/>
    <sldId id="284" r:id="rId31"/>
    <sldId id="285" r:id="rId32"/>
    <sldId id="286" r:id="rId33"/>
    <sldId id="287" r:id="rId34"/>
    <sldId id="288" r:id="rId35"/>
  </sldIdLst>
  <sldSz cx="9144000" cy="6858000" type="screen4x3"/>
  <notesSz cx="6858000" cy="9144000"/>
</presentation>
</file>

<file path=ppt/presProps.xml><?xml version="1.0" encoding="utf-8"?>
<presentationPr xmlns="http://schemas.openxmlformats.org/presentationml/2006/main" xmlns:p="http://schemas.openxmlformats.org/presentationml/2006/main"/>
</file>

<file path=ppt/tableStyles.xml><?xml version="1.0" encoding="UTF-8" standalone="yes"?>
<a:tblStyleLst xmlns:a="http://schemas.openxmlformats.org/drawingml/2006/main" xmlns:a="http://schemas.openxmlformats.org/drawingml/2006/main" def="{5C22544A-7EE6-4342-B048-85BDC9FD1C3A}" />
</file>

<file path=ppt/viewProps.xml><?xml version="1.0" encoding="utf-8"?>
<viewPr xmlns="http://schemas.openxmlformats.org/presentationml/2006/main" xmlns:p="http://schemas.openxmlformats.org/presentationml/2006/main"/>
</file>

<file path=ppt/_rels/presentation.xml.rels><?xml version="1.0" encoding="UTF-8" standalone="yes"?>
<rel:Relationships xmlns:rel="http://schemas.openxmlformats.org/package/2006/relationships"><rel:Relationship Id="rId1" Type="http://schemas.openxmlformats.org/officeDocument/2006/relationships/slideMaster" Target="slideMasters/slideMaster1.xml" /><rel:Relationship Id="rId2" Type="http://schemas.openxmlformats.org/officeDocument/2006/relationships/theme" Target="theme/theme1.xml" /><rel:Relationship Id="rId3" Type="http://schemas.openxmlformats.org/officeDocument/2006/relationships/slide" Target="slides/slide1.xml" /><rel:Relationship Id="rId4" Type="http://schemas.openxmlformats.org/officeDocument/2006/relationships/slide" Target="slides/slide2.xml" /><rel:Relationship Id="rId5" Type="http://schemas.openxmlformats.org/officeDocument/2006/relationships/slide" Target="slides/slide3.xml" /><rel:Relationship Id="rId6" Type="http://schemas.openxmlformats.org/officeDocument/2006/relationships/slide" Target="slides/slide4.xml" /><rel:Relationship Id="rId7" Type="http://schemas.openxmlformats.org/officeDocument/2006/relationships/slide" Target="slides/slide5.xml" /><rel:Relationship Id="rId8" Type="http://schemas.openxmlformats.org/officeDocument/2006/relationships/slide" Target="slides/slide6.xml" /><rel:Relationship Id="rId9" Type="http://schemas.openxmlformats.org/officeDocument/2006/relationships/slide" Target="slides/slide7.xml" /><rel:Relationship Id="rId10" Type="http://schemas.openxmlformats.org/officeDocument/2006/relationships/slide" Target="slides/slide8.xml" /><rel:Relationship Id="rId11" Type="http://schemas.openxmlformats.org/officeDocument/2006/relationships/slide" Target="slides/slide9.xml" /><rel:Relationship Id="rId12" Type="http://schemas.openxmlformats.org/officeDocument/2006/relationships/slide" Target="slides/slide10.xml" /><rel:Relationship Id="rId13" Type="http://schemas.openxmlformats.org/officeDocument/2006/relationships/slide" Target="slides/slide11.xml" /><rel:Relationship Id="rId14" Type="http://schemas.openxmlformats.org/officeDocument/2006/relationships/slide" Target="slides/slide12.xml" /><rel:Relationship Id="rId15" Type="http://schemas.openxmlformats.org/officeDocument/2006/relationships/slide" Target="slides/slide13.xml" /><rel:Relationship Id="rId16" Type="http://schemas.openxmlformats.org/officeDocument/2006/relationships/slide" Target="slides/slide14.xml" /><rel:Relationship Id="rId17" Type="http://schemas.openxmlformats.org/officeDocument/2006/relationships/slide" Target="slides/slide15.xml" /><rel:Relationship Id="rId18" Type="http://schemas.openxmlformats.org/officeDocument/2006/relationships/slide" Target="slides/slide16.xml" /><rel:Relationship Id="rId19" Type="http://schemas.openxmlformats.org/officeDocument/2006/relationships/slide" Target="slides/slide17.xml" /><rel:Relationship Id="rId20" Type="http://schemas.openxmlformats.org/officeDocument/2006/relationships/slide" Target="slides/slide18.xml" /><rel:Relationship Id="rId21" Type="http://schemas.openxmlformats.org/officeDocument/2006/relationships/slide" Target="slides/slide19.xml" /><rel:Relationship Id="rId22" Type="http://schemas.openxmlformats.org/officeDocument/2006/relationships/slide" Target="slides/slide20.xml" /><rel:Relationship Id="rId23" Type="http://schemas.openxmlformats.org/officeDocument/2006/relationships/slide" Target="slides/slide21.xml" /><rel:Relationship Id="rId24" Type="http://schemas.openxmlformats.org/officeDocument/2006/relationships/slide" Target="slides/slide22.xml" /><rel:Relationship Id="rId25" Type="http://schemas.openxmlformats.org/officeDocument/2006/relationships/slide" Target="slides/slide23.xml" /><rel:Relationship Id="rId26" Type="http://schemas.openxmlformats.org/officeDocument/2006/relationships/slide" Target="slides/slide24.xml" /><rel:Relationship Id="rId27" Type="http://schemas.openxmlformats.org/officeDocument/2006/relationships/slide" Target="slides/slide25.xml" /><rel:Relationship Id="rId28" Type="http://schemas.openxmlformats.org/officeDocument/2006/relationships/slide" Target="slides/slide26.xml" /><rel:Relationship Id="rId29" Type="http://schemas.openxmlformats.org/officeDocument/2006/relationships/slide" Target="slides/slide27.xml" /><rel:Relationship Id="rId30" Type="http://schemas.openxmlformats.org/officeDocument/2006/relationships/slide" Target="slides/slide28.xml" /><rel:Relationship Id="rId31" Type="http://schemas.openxmlformats.org/officeDocument/2006/relationships/slide" Target="slides/slide29.xml" /><rel:Relationship Id="rId32" Type="http://schemas.openxmlformats.org/officeDocument/2006/relationships/slide" Target="slides/slide30.xml" /><rel:Relationship Id="rId33" Type="http://schemas.openxmlformats.org/officeDocument/2006/relationships/slide" Target="slides/slide31.xml" /><rel:Relationship Id="rId34" Type="http://schemas.openxmlformats.org/officeDocument/2006/relationships/slide" Target="slides/slide32.xml" /><rel:Relationship Id="rId35" Type="http://schemas.openxmlformats.org/officeDocument/2006/relationships/slide" Target="slides/slide33.xml" /><rel:Relationship Id="rId36" Type="http://schemas.openxmlformats.org/officeDocument/2006/relationships/presProps" Target="presProps.xml" /><rel:Relationship Id="rId37" Type="http://schemas.openxmlformats.org/officeDocument/2006/relationships/viewProps" Target="viewProps.xml" /><rel:Relationship Id="rId38" Type="http://schemas.openxmlformats.org/officeDocument/2006/relationships/tableStyles" Target="tableStyles.xml" /></rel:Relationships>
</file>

<file path=ppt/slideLayouts/_rels/slideLayout1.xml.rels><?xml version="1.0" encoding="UTF-8" standalone="yes"?>
<rel:Relationships xmlns:rel="http://schemas.openxmlformats.org/package/2006/relationships"><rel:Relationship Id="rId1" Type="http://schemas.openxmlformats.org/officeDocument/2006/relationships/slideMaster" Target="../slideMasters/slideMaster1.xml" /></rel:Relationships>
</file>

<file path=ppt/slideLayouts/slideLayout1.xml><?xml version="1.0" encoding="UTF-8" standalone="yes"?>
<sldLayout xmlns="http://schemas.openxmlformats.org/presentationml/2006/main" xmlns:a="http://schemas.openxmlformats.org/drawingml/2006/main" xmlns:a="http://schemas.openxmlformats.org/drawingml/2006/main" xmlns:r="http://schemas.openxmlformats.org/officeDocument/2006/relationships" xmlns:p="http://schemas.openxmlformats.org/presentationml/2006/main" type="blank" preserve="1"><cSld name="Blank"><spTree><nvGrpSpPr><cNvPr id="1" name="" /><cNvGrpSpPr /><nvPr /></nvGrpSpPr><grpSpPr><a:xfrm><a:off x="0" y="0" /><a:ext cx="0" cy="0" /><a:chOff x="0" y="0" /><a:chExt cx="0" cy="0" /></a:xfrm></grpSpPr></spTree></cSld></sldLayout>
</file>

<file path=ppt/slideMasters/_rels/slideMaster1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rel:Relationship Id="rId2" Type="http://schemas.openxmlformats.org/officeDocument/2006/relationships/theme" Target="../theme/theme1.xml" /></rel:Relationships>
</file>

<file path=ppt/slideMasters/slideMaster1.xml><?xml version="1.0" encoding="UTF-8" standalone="yes"?>
<sldMaster xmlns="http://schemas.openxmlformats.org/presentationml/2006/main" xmlns:a="http://schemas.openxmlformats.org/drawingml/2006/main" xmlns:a="http://schemas.openxmlformats.org/drawingml/2006/main" xmlns:r="http://schemas.openxmlformats.org/officeDocument/2006/relationships" xmlns:p="http://schemas.openxmlformats.org/presentationml/2006/main"><cSld><bg><bgRef idx="1001"><a:schemeClr val="bg1" /></bgRef></bg><spTree><nvGrpSpPr><cNvPr id="1" name="" /><cNvGrpSpPr /><nvPr /></nvGrpSpPr><grpSpPr><a:xfrm><a:off x="0" y="0" /><a:ext cx="0" cy="0" /><a:chOff x="0" y="0" /><a:chExt cx="0" cy="0" /></a:xfrm></grpSpPr></spTree></cSld><sldLayoutIdLst><sldLayoutId id="2147483649" r:id="rId1" /></sldLayoutIdLst></sldMaster>
</file>

<file path=ppt/slides/_rels/slide1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2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3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4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5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6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7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8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9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10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11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12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13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14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15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16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17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18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19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20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21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22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23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24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25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26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27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28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29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30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31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32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33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slide1.xml><?xml version="1.0" encoding="utf-8"?>
<sld xmlns="http://schemas.openxmlformats.org/presentationml/2006/main" xmlns:a="http://schemas.openxmlformats.org/drawingml/2006/main">
  <cSld>
    <bg>
      <bgPr>
        <a:solidFill>
          <a:srgbClr val="1B2A4A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AccentBar"/>
          <cNvSpPr/>
          <nvPr/>
        </nvSpPr>
        <spPr>
          <a:xfrm>
            <a:off x="457200" y="2103120"/>
            <a:ext cx="914400" cy="45720"/>
          </a:xfrm>
          <a:prstGeom prst="rect"/>
          <a:solidFill>
            <a:srgbClr val="E8573A"/>
          </a:solidFill>
        </spPr>
      </sp>
      <sp>
        <nvSpPr>
          <cNvPr id="3" name="Title"/>
          <cNvSpPr txBox="1"/>
          <nvPr/>
        </nvSpPr>
        <spPr>
          <a:xfrm>
            <a:off x="457200" y="2286000"/>
            <a:ext cx="8229600" cy="1828800"/>
          </a:xfrm>
          <a:prstGeom prst="rect"/>
          <a:noFill/>
        </spPr>
        <txBody>
          <a:bodyPr wrap="square" anchor="t"/>
          <a:lstStyle/>
          <a:p>
            <a:pPr lvl="0" algn="l"/>
            <a:r>
              <a:rPr lang="en-US" sz="3600" b="1" dirty="0">
                <a:solidFill>
                  <a:srgbClr val="FFFFFF"/>
                </a:solidFill>
                <a:latin typeface="Calibri Light"/>
                <a:cs typeface="Calibri Light"/>
              </a:rPr>
              <a:t>HIV Clinical Stages</a:t>
            </a:r>
          </a:p>
          <a:p>
            <a:pPr lvl="0" algn="l"/>
            <a:r>
              <a:rPr lang="en-US" sz="3600" b="1" dirty="0">
                <a:solidFill>
                  <a:srgbClr val="FFFFFF"/>
                </a:solidFill>
                <a:latin typeface="Calibri Light"/>
                <a:cs typeface="Calibri Light"/>
              </a:rPr>
              <a:t>and Manifestations</a:t>
            </a:r>
          </a:p>
        </txBody>
      </sp>
      <sp>
        <nvSpPr>
          <cNvPr id="4" name="Subtitle"/>
          <cNvSpPr txBox="1"/>
          <nvPr/>
        </nvSpPr>
        <spPr>
          <a:xfrm>
            <a:off x="457200" y="4389120"/>
            <a:ext cx="8229600" cy="1371600"/>
          </a:xfrm>
          <a:prstGeom prst="rect"/>
          <a:noFill/>
        </spPr>
        <txBody>
          <a:bodyPr wrap="square" anchor="t"/>
          <a:lstStyle/>
          <a:p>
            <a:pPr lvl="0" algn="l"/>
            <a:r>
              <a:rPr lang="en-US" sz="1800" b="0" dirty="0">
                <a:solidFill>
                  <a:srgbClr val="B0BEC5"/>
                </a:solidFill>
                <a:latin typeface="Calibri"/>
                <a:cs typeface="Calibri"/>
              </a:rPr>
              <a:t>A Respiratory Medicine Perspective</a:t>
            </a:r>
          </a:p>
          <a:p>
            <a:pPr lvl="0" algn="l"/>
            <a:endParaRPr lang="en-US" sz="1800"/>
          </a:p>
          <a:p>
            <a:pPr lvl="0" algn="l"/>
            <a:r>
              <a:rPr lang="en-US" sz="1800" b="0" dirty="0">
                <a:solidFill>
                  <a:srgbClr val="B0BEC5"/>
                </a:solidFill>
                <a:latin typeface="Calibri"/>
                <a:cs typeface="Calibri"/>
              </a:rPr>
              <a:t>Department of Respiratory Medicine</a:t>
            </a:r>
          </a:p>
          <a:p>
            <a:pPr lvl="0" algn="l"/>
            <a:r>
              <a:rPr lang="en-US" sz="1800" b="0" dirty="0">
                <a:solidFill>
                  <a:srgbClr val="B0BEC5"/>
                </a:solidFill>
                <a:latin typeface="Calibri"/>
                <a:cs typeface="Calibri"/>
              </a:rPr>
              <a:t>Postgraduate Academic Presentation</a:t>
            </a:r>
          </a:p>
        </txBody>
      </sp>
    </spTree>
  </cSld>
</sld>
</file>

<file path=ppt/slides/slide2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Learning Objectives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Understand the natural history and immunopathogenesis of HIV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Master WHO Clinical Staging and CDC Classification systems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Identify stage-specific clinical manifestations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Recognize pulmonary complications across all CD4 strata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Apply diagnostic algorithms for HIV-associated respiratory disease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Understand prophylaxis and management of pulmonary OIs</a:t>
            </a:r>
          </a:p>
        </txBody>
      </sp>
    </spTree>
  </cSld>
</sld>
</file>

<file path=ppt/slides/slide3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Global &amp; Indian Epidemiology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Global: 39.9 million PLHIV (UNAIDS 2024); 630,000 AIDS-related deaths/year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India: 2.4 million PLHIV; 3rd largest burden globally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Pulmonary TB is the most common OI in Indian PLHIV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22% of new HIV diagnoses in 2024 already at AIDS stage (CDC data)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Respiratory diseases remain leading cause of morbidity &amp; mortality in HIV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ART era: shift from OIs to non-infectious pulmonary complications</a:t>
            </a:r>
          </a:p>
        </txBody>
      </sp>
    </spTree>
  </cSld>
</sld>
</file>

<file path=ppt/slides/slide4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HIV Virology — Key Points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Retrovirus (Lentivirus): HIV-1 (pandemic) and HIV-2 (West Africa)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RNA virus with reverse transcriptase → proviral DNA integration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Primary target: CD4+ T lymphocytes (also macrophages, dendritic cells)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Co-receptors: CCR5 (early) and CXCR4 (late/syncytium-inducing)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Tropism shift from R5 → X4 correlates with disease progression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Latent reservoir in resting memory CD4+ T cells — barrier to cure</a:t>
            </a:r>
          </a:p>
        </txBody>
      </sp>
    </spTree>
  </cSld>
</sld>
</file>

<file path=ppt/slides/slide5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Natural History of HIV Infection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ACUTE INFECTION (2-4 weeks): Viral syndrome, high viremia, CD4 dip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CLINICAL LATENCY (Chronic HIV): Asymptomatic/PGL, gradual CD4 decline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— Average: 8-10 years without ART; CD4 loss ~50-80 cells/µL/year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ADVANCED HIV DISEASE: CD4 &lt;200 or WHO Stage 3/4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AIDS: CD4 &lt;200 cells/µL OR AIDS-defining illness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Without ART: median survival 12-18 months after AIDS diagnosis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With ART: near-normal life expectancy if treated early</a:t>
            </a:r>
          </a:p>
        </txBody>
      </sp>
    </spTree>
  </cSld>
</sld>
</file>

<file path=ppt/slides/slide6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Immunopathogenesis — Pulmonary Impact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Progressive CD4+ T cell depletion → impaired cell-mediated immunity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Alveolar macrophage dysfunction → impaired pathogen clearance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Disrupted mucosal immunity in airways (GALT/BALT depletion)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Chronic immune activation → accelerated lung aging, fibrosis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Impaired granuloma formation → atypical TB, disseminated infections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Dysregulated cytokine milieu → increased susceptibility to pneumonia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Even with ART: residual immune activation damages lung parenchyma</a:t>
            </a:r>
          </a:p>
        </txBody>
      </sp>
    </spTree>
  </cSld>
</sld>
</file>

<file path=ppt/slides/slide7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WHO Clinical Staging System — Overview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Developed for resource-limited settings where CD4 testing limited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4 progressive stages based on clinical conditions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Stage 1: Asymptomatic / Persistent Generalized Lymphadenopathy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Stage 2: Mild symptoms (minor mucocutaneous, recurrent URTIs)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Stage 3: Advanced symptoms (chronic diarrhea, oral candidiasis, TB)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Stage 4: Severe / AIDS-defining (PCP, KS, CNS toxo, cryptococcal)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Advanced HIV Disease = WHO Stage 3/4 OR CD4 &lt;200 cells/µL</a:t>
            </a:r>
          </a:p>
        </txBody>
      </sp>
    </spTree>
  </cSld>
</sld>
</file>

<file path=ppt/slides/slide8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WHO Clinical Stage 1 &amp; 2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STAGE 1 (CD4 typically &gt;500):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Asymptomatic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Persistent generalized lymphadenopathy (PGL)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STAGE 2 (CD4 typically 350-500):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Unexplained moderate weight loss (&lt;10% body weight)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Recurrent upper respiratory infections (sinusitis, otitis)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Herpes zoster (within last 5 years)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Angular cheilitis, recurrent oral ulceration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Seborrheic dermatitis, papular pruritic eruption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Fungal nail infections</a:t>
            </a:r>
          </a:p>
        </txBody>
      </sp>
    </spTree>
  </cSld>
</sld>
</file>

<file path=ppt/slides/slide9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WHO Clinical Stage 3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CD4 typically 200-350 cells/µL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Unexplained severe weight loss (&gt;10% body weight)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Unexplained chronic diarrhea &gt;1 month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Unexplained persistent fever &gt;1 month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Oral candidiasis (thrush)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Oral hairy leukoplakia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PULMONARY TUBERCULOSIS (current)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Severe bacterial infections (pneumonia, empyema, meningitis)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Unexplained anemia (&lt;8 g/dL), neutropenia, thrombocytopenia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Acute necrotizing ulcerative gingivitis/periodontitis</a:t>
            </a:r>
          </a:p>
        </txBody>
      </sp>
    </spTree>
  </cSld>
</sld>
</file>

<file path=ppt/slides/slide10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WHO Clinical Stage 4 (AIDS-Defining)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CD4 typically &lt;200 cells/µL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HIV wasting syndrome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Pneumocystis jirovecii pneumonia (PCP)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Recurrent severe bacterial pneumonia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Extrapulmonary TB (disseminated, miliary)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Kaposi sarcoma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CMV retinitis or disease (non-liver/spleen/lymph node)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CNS toxoplasmosis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Cryptococcal meningitis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HIV encephalopathy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Disseminated non-tuberculous mycobacteria (MAC)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Progressive multifocal leukoencephalopathy (PML)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• Invasive cervical carcinoma, NHL</a:t>
            </a:r>
          </a:p>
        </txBody>
      </sp>
    </spTree>
  </cSld>
</sld>
</file>

<file path=ppt/slides/slide11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CDC Classification System (Revised)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TWO-AXIS SYSTEM: Clinical Category + CD4 Count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Clinical Categories: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A — Asymptomatic, Acute HIV, PGL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B — Symptomatic (not A or C conditions)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C — AIDS-defining conditions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CD4 Categories: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1: ≥500 cells/µL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2: 200-499 cells/µL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3: &lt;200 cells/µL (AIDS regardless of clinical category)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AIDS = Category C OR CD4 &lt;200 (irreversible classification)</a:t>
            </a:r>
          </a:p>
        </txBody>
      </sp>
    </spTree>
  </cSld>
</sld>
</file>

<file path=ppt/slides/slide12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CD4 Count — Respiratory Disease Correlation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CD4 &gt;500: Bacterial pneumonia, TB (near-normal CXR patterns)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CD4 350-500: Increased bacterial pneumonia, reactivation TB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CD4 200-350: TB (atypical patterns), recurrent pneumonia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CD4 100-200: PCP, pulmonary Kaposi sarcoma, fungal infections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CD4 50-100: Disseminated MAC, disseminated histoplasmosis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CD4 &lt;50: CMV pneumonitis, disseminated TB, Aspergillus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KEY: TB occurs at ANY CD4 count; presentation varies with immunity</a:t>
            </a:r>
          </a:p>
        </txBody>
      </sp>
    </spTree>
  </cSld>
</sld>
</file>

<file path=ppt/slides/slide13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Pulmonary Complications of HIV — Overview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INFECTIOUS: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Bacterial pneumonia (most common at any CD4)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Tuberculosis (most common OI in India)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Pneumocystis jirovecii pneumonia (PCP)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Fungal: Cryptococcus, Histoplasma, Aspergillus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Viral: CMV, Influenza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Parasitic: Toxoplasma, Strongyloides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NON-INFECTIOUS: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Kaposi sarcoma, Pulmonary lymphoma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COPD/Emphysema, Pulmonary hypertension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Lymphocytic interstitial pneumonitis (LIP)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Lung cancer (increased risk even with ART)</a:t>
            </a:r>
          </a:p>
        </txBody>
      </sp>
    </spTree>
  </cSld>
</sld>
</file>

<file path=ppt/slides/slide14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HIV-TB Coinfection — The Deadly Synergy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TB is the #1 killer of PLHIV globally (&gt;160,000 deaths/year)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HIV increases TB risk 15-22 fold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TB accelerates HIV progression (increased viral load, CD4 decline)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Impaired granuloma formation → increased dissemination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Can occur at ANY CD4 count (unlike most other OIs)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Sputum smear-negative more common with low CD4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India: ~50% of HIV patients have TB coinfection at diagnosis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All HIV+ patients need TB screening; all TB patients need HIV testing</a:t>
            </a:r>
          </a:p>
        </txBody>
      </sp>
    </spTree>
  </cSld>
</sld>
</file>

<file path=ppt/slides/slide15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HIV-TB: Radiological Patterns by CD4 Count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CD4 &gt;350 (Typical TB pattern):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Upper lobe infiltrates, cavitation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Apical fibrosis, pleural effusion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CD4 200-350 (Transitional):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Mixed patterns, lower lobe involvement increasing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Less cavitation, more lymphadenopathy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CD4 &lt;200 (Atypical patterns):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Diffuse/miliary infiltrates, hilar/mediastinal lymphadenopathy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Lower/middle lobe disease, NO cavitation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Normal CXR in 10-20% despite active TB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Pleural effusion, pericardial effusion</a:t>
            </a:r>
          </a:p>
        </txBody>
      </sp>
    </spTree>
  </cSld>
</sld>
</file>

<file path=ppt/slides/slide16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HIV-TB Diagnosis — Key Considerations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Sputum AFB smear: Sensitivity reduced (40-60% vs 65-80%)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GeneXpert MTB/RIF: Preferred initial test (WHO recommended)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— Sensitivity 89% (smear+), 67% (smear-) in HIV+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— Also detects rifampicin resistance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Culture (MGIT/LJ): Gold standard; essential for DST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Urine LAM (Lateral Flow): CD4 &lt;100 — point-of-care, rapid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CT Chest: Mediastinal lymphadenopathy with rim enhancement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Histopathology: Poorly formed granulomas, abundant AFB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IGRA/TST: Less reliable with CD4 &lt;200 (anergy)</a:t>
            </a:r>
          </a:p>
        </txBody>
      </sp>
    </spTree>
  </cSld>
</sld>
</file>

<file path=ppt/slides/slide17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HIV-TB Treatment — Timing of ART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Standard ATT regimen: 2HRZE + 4HR (same as HIV-negative)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Rifampicin preferred over rifabutin (drug interactions manageable)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ART INITIATION TIMING (WHO/DHHS):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CD4 &lt;50: Start ART within 2 weeks of ATT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CD4 ≥50: Start ART within 8 weeks of ATT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TB meningitis: Delay ART to 8 weeks (reduce IRIS risk)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Preferred ART with Rifampicin: TDF + 3TC + DTG (50mg BD)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IRIS: Paradoxical worsening in 8-43%; manage symptomatically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Monitor: LFTs, drug interactions, immune reconstitution</a:t>
            </a:r>
          </a:p>
        </txBody>
      </sp>
    </spTree>
  </cSld>
</sld>
</file>

<file path=ppt/slides/slide18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Pneumocystis jirovecii Pneumonia (PCP)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Most common AIDS-defining pneumonia in non-endemic TB settings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Occurs at CD4 &lt;200 cells/µL (median CD4 ~50)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CLINICAL FEATURES: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Subacute onset (days to weeks) — insidious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Progressive exertional dyspnea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Non-productive dry cough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Low-grade fever, malaise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Examination often disproportionately normal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Hypoxemia (especially exertional) — key diagnostic clue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Elevated LDH (&gt;500 IU/L), low specificity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Beta-D-glucan elevated (&gt;80 pg/mL)</a:t>
            </a:r>
          </a:p>
        </txBody>
      </sp>
    </spTree>
  </cSld>
</sld>
</file>

<file path=ppt/slides/slide19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PCP — Diagnosis &amp; Radiology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CXR: Bilateral perihilar ground-glass opacities ("butterfly" pattern)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— Can be normal in early disease (10-20%)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— Atypical: cysts, pneumothorax, upper lobe (if on prophylaxis)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HRCT: Extensive ground-glass opacities, crazy-paving pattern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— Cysts (thin-walled), apical sparing uncommon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DIAGNOSIS: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Induced sputum: IF staining (sensitivity 50-90%)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BAL: Gold standard (sensitivity &gt;95%)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PCR (BAL/sputum): High sensitivity, interpret with clinical context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Methenamine silver or IF staining of BAL specimen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Cannot be cultured in vitro</a:t>
            </a:r>
          </a:p>
        </txBody>
      </sp>
    </spTree>
  </cSld>
</sld>
</file>

<file path=ppt/slides/slide20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PCP — Treatment Algorithm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SEVERITY ASSESSMENT: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Mild-Moderate: PaO2 &gt;70 mmHg, A-a gradient &lt;35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Moderate-Severe: PaO2 ≤70 mmHg, A-a gradient ≥35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TREATMENT: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First-line: TMP-SMX (15-20 mg/kg/day TMP) × 21 days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Moderate-Severe: Add Prednisolone (40mg BD × 5d → taper)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Alternative (intolerance): Pentamidine IV, Clindamycin + Primaquine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Mild alternative: Atovaquone, Dapsone + TMP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PROPHYLAXIS: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Primary: CD4 &lt;200 OR oropharyngeal candidiasis OR WHO Stage 3/4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Drug: TMP-SMX 1 DS daily (or Dapsone, Atovaquone)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Discontinue: CD4 &gt;200 for ≥3 months on ART</a:t>
            </a:r>
          </a:p>
        </txBody>
      </sp>
    </spTree>
  </cSld>
</sld>
</file>

<file path=ppt/slides/slide21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Bacterial Pneumonia in HIV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Most common pulmonary infection at ANY CD4 count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Risk: 5-25× higher than general population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Incidence decreases with ART but remains elevated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COMMON ORGANISMS: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Streptococcus pneumoniae (most common)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Haemophilus influenzae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Staphylococcus aureus (including MRSA)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Pseudomonas aeruginosa (CD4 &lt;100, neutropenic)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Klebsiella, Moraxella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FEATURES: Acute onset, productive cough, lobar consolidation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Recurrence: ≥2 episodes in 12 months = AIDS-defining (WHO Stage 4)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Prevention: Pneumococcal + Influenza vaccination recommended</a:t>
            </a:r>
          </a:p>
        </txBody>
      </sp>
    </spTree>
  </cSld>
</sld>
</file>

<file path=ppt/slides/slide22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Fungal Pulmonary Infections in HIV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CRYPTOCOCCOSIS (CD4 &lt;100):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Usually meningitis; pulmonary in 10-30%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CXR: Nodules, infiltrates, lymphadenopathy, effusion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Diagnosis: CrAg (serum/BAL), India ink, culture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HISTOPLASMOSIS (CD4 &lt;100, endemic areas):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Disseminated &gt; isolated pulmonary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CXR: Diffuse reticulonodular, miliary pattern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Diagnosis: Urine/serum Histoplasma Ag, culture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ASPERGILLOSIS (CD4 &lt;50, neutropenic):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Invasive pulmonary aspergillosis (rare but fatal)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CXR/CT: Nodules, halo sign, air-crescent sign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Diagnosis: Galactomannan, BAL culture, biopsy</a:t>
            </a:r>
          </a:p>
        </txBody>
      </sp>
    </spTree>
  </cSld>
</sld>
</file>

<file path=ppt/slides/slide23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Pulmonary Kaposi Sarcoma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HHV-8 associated; most common HIV-associated malignancy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Pulmonary involvement in 20-50% (usually with cutaneous KS)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CD4 typically &lt;200; can occur at higher counts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CLINICAL: Dyspnea, cough, hemoptysis; +/- skin lesions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CXR: Bilateral perihilar "flame-shaped" infiltrates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— Nodular opacities, pleural effusions (often bloody)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— Kerley B lines, mediastinal lymphadenopathy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CT: Peribronchovascular nodules, ground-glass, effusions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DIAGNOSIS: Bronchoscopy — violaceous endobronchial lesions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— Biopsy may not be needed if typical appearance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TREATMENT: ART (primary) + chemotherapy (liposomal doxorubicin)</a:t>
            </a:r>
          </a:p>
        </txBody>
      </sp>
    </spTree>
  </cSld>
</sld>
</file>

<file path=ppt/slides/slide24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Non-Infectious Pulmonary Complications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COPD/EMPHYSEMA: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2-3× more prevalent; accelerated decline (55-75 mL/yr)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Multifactorial: smoking, chronic inflammation, ART toxicity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Reduced DLCO even in non-smokers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PULMONARY HYPERTENSION: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Prevalence 0.5%; independent of CD4 count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Mechanism: HIV proteins (Nef, Tat) → endothelial dysfunction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Prognosis improved with ART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LUNG CANCER: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2-4× increased risk (even adjusting for smoking)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Presents at younger age, more advanced stage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Adenocarcinoma most common subtype</a:t>
            </a:r>
          </a:p>
        </txBody>
      </sp>
    </spTree>
  </cSld>
</sld>
</file>

<file path=ppt/slides/slide25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Lymphocytic Interstitial Pneumonitis &amp; ILD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LIP: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More common in children; rare in adults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Diffuse CD8+ lymphocytic infiltration of interstitium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CXR: Bilateral reticulonodular infiltrates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HRCT: Ground-glass, thin-walled cysts, centrilobular nodules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Treatment: ART ± corticosteroids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NON-SPECIFIC INTERSTITIAL PNEUMONITIS (NSIP):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Most common ILD pattern in HIV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Mild symptoms, usually responds to ART alone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IMMUNE RECONSTITUTION: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Sarcoidosis-like granulomatous disease post-ART initiation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Organizing pneumonia (rare)</a:t>
            </a:r>
          </a:p>
        </txBody>
      </sp>
    </spTree>
  </cSld>
</sld>
</file>

<file path=ppt/slides/slide26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IRIS — Pulmonary Manifestations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Definition: Paradoxical worsening after ART initiation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Timing: 2-12 weeks after starting ART (median 2-4 weeks)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Risk factors: Low baseline CD4, high viral load, early ART with OI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PULMONARY IRIS PRESENTATIONS: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TB-IRIS (most common): New/worsening infiltrates, lymphadenopathy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PCP-IRIS: Worsening hypoxemia despite treatment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Cryptococcal-IRIS: New pulmonary nodules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Sarcoid-like IRIS: Bilateral hilar lymphadenopathy, granulomas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MANAGEMENT: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Continue ART and treat underlying OI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NSAIDs for mild; Corticosteroids for severe (Prednisone 1-2 mg/kg)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Rarely need to stop ART (life-threatening IRIS only)</a:t>
            </a:r>
          </a:p>
        </txBody>
      </sp>
    </spTree>
  </cSld>
</sld>
</file>

<file path=ppt/slides/slide27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Diagnostic Approach: HIV + Respiratory Symptoms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STEP 1: Assess CD4 count → narrow differential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STEP 2: Characterize presentation: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Acute (&lt;1 week): Bacterial pneumonia, influenza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Subacute (1-4 weeks): TB, PCP, fungal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Chronic (&gt;4 weeks): TB, MAC, malignancy, ILD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STEP 3: Imaging (CXR → HRCT if needed)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STEP 4: Microbiological workup: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Sputum: AFB, GeneXpert, Gram stain, culture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Blood: Cultures, CrAg, Beta-D-glucan, LDH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BAL: If sputum non-diagnostic (PCP, fungal)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STEP 5: Consider non-infectious causes in ART era</a:t>
            </a:r>
          </a:p>
        </txBody>
      </sp>
    </spTree>
  </cSld>
</sld>
</file>

<file path=ppt/slides/slide28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Quick Diagnostic Reference — Pattern Recognition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BILATERAL GGO + Hypoxemia + Subacute → PCP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Upper lobe cavity + Productive cough → TB (high CD4)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Miliary pattern + Lymphadenopathy + Low CD4 → Disseminated TB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Lobar consolidation + Acute onset → Bacterial pneumonia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Peribronchovascular nodules + Effusion → Kaposi sarcoma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Diffuse reticulonodular + Low CD4 → Histoplasmosis/MAC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Bilateral hilar LAP + Post-ART → Sarcoid-like IRIS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Cysts + Pneumothorax + Low CD4 → PCP (atypical)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Upper lobe emphysema + Young non-smoker → HIV-COPD</a:t>
            </a:r>
          </a:p>
        </txBody>
      </sp>
    </spTree>
  </cSld>
</sld>
</file>

<file path=ppt/slides/slide29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OI Prophylaxis — Respiratory Focus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PRIMARY PROPHYLAXIS: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PCP: TMP-SMX 1 DS daily (CD4 &lt;200 or oral candidiasis)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TB (LTBI): INH 300mg + Pyridoxine × 6-9 months (post ruling out active TB)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MAC: Azithromycin 1200mg/week (CD4 &lt;50) — if ART not immediately available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SECONDARY PROPHYLAXIS (after treatment):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PCP: TMP-SMX until CD4 &gt;200 × 3 months on ART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MAC: Continue until CD4 &gt;100 × 6 months + completed ≥12 months Rx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VACCINATION: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Pneumococcal (PCV20 or PCV15 + PPSV23)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Influenza (annual, inactivated)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COVID-19 vaccination</a:t>
            </a:r>
          </a:p>
        </txBody>
      </sp>
    </spTree>
  </cSld>
</sld>
</file>

<file path=ppt/slides/slide30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Major Non-Respiratory Manifestations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NEUROLOGICAL: Toxoplasmosis, Cryptococcal meningitis, PML, HIV dementia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GASTROINTESTINAL: Candida esophagitis, CMV colitis, chronic diarrhea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DERMATOLOGICAL: KS, molluscum, severe HSV, drug eruptions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HEMATOLOGICAL: Cytopenias, lymphoma (NHL, primary CNS)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OPHTHALMOLOGICAL: CMV retinitis (CD4 &lt;50)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RENAL: HIVAN (FSGS variant), TDF nephrotoxicity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CARDIOVASCULAR: Accelerated atherosclerosis, cardiomyopathy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HEPATIC: HBV/HCV coinfection, ART hepatotoxicity</a:t>
            </a:r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ENDOCRINE: Adrenal insufficiency, lipodystrophy, metabolic syndrome</a:t>
            </a:r>
          </a:p>
        </txBody>
      </sp>
    </spTree>
  </cSld>
</sld>
</file>

<file path=ppt/slides/slide31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ART — Key Principles for the Respirologist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ART for ALL PLHIV regardless of CD4 (Treat All policy — WHO)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Preferred first-line: TDF + 3TC (or FTC) + DTG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Start ART within 7 days of diagnosis (Rapid ART initiation)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— Exception: Cryptococcal/TB meningitis (delay 4-8 weeks)</a:t>
            </a:r>
          </a:p>
          <a:p>
            <a:endParaRPr lang="en-US" sz="600"/>
          </a:p>
          <a:p>
            <a:pPr lvl="0" algn="l">
              <a:spcBef>
                <a:spcPts val="200"/>
              </a:spcBef>
            </a:pPr>
            <a:r>
              <a:rPr lang="en-US" sz="1400" b="1" dirty="0">
                <a:solidFill>
                  <a:srgbClr val="1B2A4A"/>
                </a:solidFill>
                <a:latin typeface="Calibri"/>
                <a:cs typeface="Calibri"/>
              </a:rPr>
              <a:t>RESPIRATORY RELEVANCE: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ART reduces OI incidence by &gt;80%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ART may not fully prevent COPD/emphysema progression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Drug interactions: Rifampicin ↔ DTG, PIs; adjust doses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Abacavir: Hypersensitivity (HLA-B*5701 testing)</a:t>
            </a:r>
          </a:p>
          <a:p>
            <a:pPr lvl="1" algn="l">
              <a:spcBef>
                <a:spcPts val="200"/>
              </a:spcBef>
            </a:pPr>
            <a:r>
              <a:rPr lang="en-US" sz="1300" b="0" dirty="0">
                <a:solidFill>
                  <a:srgbClr val="444444"/>
                </a:solidFill>
                <a:latin typeface="Calibri"/>
                <a:cs typeface="Calibri"/>
              </a:rPr>
              <a:t>• Monitor for IRIS in first 3 months</a:t>
            </a:r>
          </a:p>
        </txBody>
      </sp>
    </spTree>
  </cSld>
</sld>
</file>

<file path=ppt/slides/slide32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Key Takeaways for the Pulmonologist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1. Think HIV in any unexplained recurrent/atypical pneumonia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2. CD4 count is the compass — it predicts the infection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3. TB can occur at ANY CD4; pattern changes with immunosuppression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4. PCP presents insidiously — hypoxemia out of proportion to CXR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5. Atypical CXR + low CD4 → think disseminated/atypical infections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6. ART era complications: COPD, lung cancer, PHT now dominate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7. IRIS can mimic treatment failure — timing is the key clue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8. Always rule out TB before starting IPT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9. GeneXpert is the first test for pulmonary TB in HIV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10. Multidisciplinary approach: ID + Pulmonology + ART center</a:t>
            </a:r>
          </a:p>
        </txBody>
      </sp>
    </spTree>
  </cSld>
</sld>
</file>

<file path=ppt/slides/slide33.xml><?xml version="1.0" encoding="utf-8"?>
<sld xmlns="http://schemas.openxmlformats.org/presentationml/2006/main" xmlns:a="http://schemas.openxmlformats.org/drawingml/2006/main">
  <cSld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opBar"/>
          <cNvSpPr/>
          <nvPr/>
        </nvSpPr>
        <spPr>
          <a:xfrm>
            <a:off x="0" y="0"/>
            <a:ext cx="9144000" cy="73152"/>
          </a:xfrm>
          <a:prstGeom prst="rect"/>
          <a:solidFill>
            <a:srgbClr val="1B2A4A"/>
          </a:solidFill>
        </spPr>
      </sp>
      <sp>
        <nvSpPr>
          <cNvPr id="3" name="SlideTitle"/>
          <cNvSpPr txBox="1"/>
          <nvPr/>
        </nvSpPr>
        <spPr>
          <a:xfrm>
            <a:off x="365760" y="182880"/>
            <a:ext cx="8412480" cy="640080"/>
          </a:xfrm>
          <a:prstGeom prst="rect"/>
          <a:noFill/>
        </spPr>
        <txBody>
          <a:bodyPr wrap="square" anchor="b"/>
          <a:lstStyle/>
          <a:p>
            <a:pPr lvl="0" algn="l"/>
            <a:r>
              <a:rPr lang="en-US" sz="2400" b="1" dirty="0">
                <a:solidFill>
                  <a:srgbClr val="1B2A4A"/>
                </a:solidFill>
                <a:latin typeface="Calibri Light"/>
                <a:cs typeface="Calibri Light"/>
              </a:rPr>
              <a:t>References</a:t>
            </a:r>
          </a:p>
        </txBody>
      </sp>
      <sp>
        <nvSpPr>
          <cNvPr id="4" name="TitleLine"/>
          <cNvSpPr/>
          <nvPr/>
        </nvSpPr>
        <spPr>
          <a:xfrm>
            <a:off x="365760" y="868680"/>
            <a:ext cx="8412480" cy="18288"/>
          </a:xfrm>
          <a:prstGeom prst="rect"/>
          <a:solidFill>
            <a:srgbClr val="E8573A"/>
          </a:solidFill>
        </spPr>
      </sp>
      <sp>
        <nvSpPr>
          <cNvPr id="5" name="Content"/>
          <cNvSpPr txBox="1"/>
          <nvPr/>
        </nvSpPr>
        <spPr>
          <a:xfrm>
            <a:off x="365760" y="1005840"/>
            <a:ext cx="8412480" cy="5669280"/>
          </a:xfrm>
          <a:prstGeom prst="rect"/>
          <a:noFill/>
        </spPr>
        <txBody>
          <a:bodyPr wrap="square" anchor="t" lIns="91440" tIns="45720" rIns="91440" bIns="45720"/>
          <a:lstStyle/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1. Harrison's Principles of Internal Medicine, 21st Ed (Ch. 202: HIV/AIDS)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2. WHO Consolidated Guidelines on HIV, 2024-2025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3. WHO Guidelines on Management of Advanced HIV Disease, 2025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4. CDC/NIH/IDSA Guidelines for Prevention &amp; Treatment of OIs in HIV, 2024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5. ATS Workshop Report: HIV-Associated Pulmonary Diseases (AJRCCM)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6. Fishman's Pulmonary Diseases &amp; Disorders, 6th Ed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7. Murray &amp; Nadel's Textbook of Respiratory Medicine, 7th Ed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8. UNAIDS Global AIDS Update 2024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9. National AIDS Control Organisation (NACO) Guidelines, India</a:t>
            </a:r>
          </a:p>
          <a:p>
            <a:pPr lvl="0" algn="l">
              <a:spcBef>
                <a:spcPts val="200"/>
              </a:spcBef>
            </a:pPr>
            <a:r>
              <a:rPr lang="en-US" sz="1400" b="0" dirty="0">
                <a:solidFill>
                  <a:srgbClr val="333333"/>
                </a:solidFill>
                <a:latin typeface="Calibri"/>
                <a:cs typeface="Calibri"/>
              </a:rPr>
              <a:t>10. Lancet Resp Med: HIV-associated lung disease in ART era (2023)</a:t>
            </a:r>
          </a:p>
        </txBody>
      </sp>
    </spTree>
  </cSld>
</sld>
</file>

<file path=ppt/theme/theme1.xml><?xml version="1.0" encoding="UTF-8" standalone="yes"?>
<a:theme xmlns:a="http://schemas.openxmlformats.org/drawingml/2006/main" xmlns:a="http://schemas.openxmlformats.org/drawingml/2006/main" name="HIV Presentation Theme"><a:themeElements><a:clrScheme name="Custom"><a:dk1><a:srgbClr val="1B2A4A" /></a:dk1><a:lt1><a:srgbClr val="FFFFFF" /></a:lt1><a:dk2><a:srgbClr val="333333" /></a:dk2><a:lt2><a:srgbClr val="F5F5F5" /></a:lt2><a:accent1><a:srgbClr val="1B2A4A" /></a:accent1><a:accent2><a:srgbClr val="E8573A" /></a:accent2><a:accent3><a:srgbClr val="2E86AB" /></a:accent3><a:accent4><a:srgbClr val="4A9E6B" /></a:accent4><a:accent5><a:srgbClr val="F4A261" /></a:accent5><a:accent6><a:srgbClr val="7B68AE" /></a:accent6><a:hlink><a:srgbClr val="2E86AB" /></a:hlink><a:folHlink><a:srgbClr val="7B68AE" /></a:folHlink></a:clrScheme><a:fontScheme name="Custom"><a:majorFont><a:latin typeface="Calibri Light" /><a:ea typeface="" /><a:cs typeface="" /></a:majorFont><a:minorFont><a:latin typeface="Calibri" /><a:ea typeface="" /><a:cs typeface="" /></a:minorFont></a:fontScheme><a:fmtScheme name="Custom"><a:fillStyleLst><a:solidFill><a:schemeClr val="phClr" /></a:solidFill><a:solidFill><a:schemeClr val="phClr" /></a:solidFill><a:solidFill><a:schemeClr val="phClr" /></a:solidFill></a:fillStyleLst><a:lnStyleLst><a:ln w="9525" cap="flat"><a:solidFill><a:schemeClr val="phClr" /></a:solidFill></a:ln><a:ln w="9525" cap="flat"><a:solidFill><a:schemeClr val="phClr" /></a:solidFill></a:ln><a:ln w="9525" cap="flat"><a:solidFill><a:schemeClr val="phClr" /></a:solidFill></a:ln></a:lnStyleLst><a:effectStyleLst><a:effectStyle /><a:effectStyle /><a:effectStyle /></a:effectStyleLst><a:bgFillStyleLst><a:solidFill><a:schemeClr val="phClr" /></a:solidFill><a:solidFill><a:schemeClr val="phClr" /></a:solidFill><a:solidFill><a:schemeClr val="phClr" /></a:solidFill></a:bgFillStyleLst></a:fmtScheme></a:themeElements><a:objectDefaults /><a:extraClrSchemeLst /></a:theme>
</file>