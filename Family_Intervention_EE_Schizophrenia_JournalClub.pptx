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12192000" cy="6858000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Theme" Type="http://schemas.openxmlformats.org/officeDocument/2006/relationships/theme" Target="theme/theme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Theme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914400" y="1600200"/>
            <a:ext cx="10363200" cy="260000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n-US" sz="4000" b="1" dirty="0">
                <a:solidFill>
                  <a:srgbClr val="1F3864"/>
                </a:solidFill>
              </a:rPr>
              <a:t>Family Intervention for Expressed Emotion in Schizophrenia: Indian Context</a:t>
            </a:r>
          </a:p>
        </p:txBody>
      </p:sp>
      <p:sp>
        <p:nvSpPr>
          <p:cNvPr id="3" name="Subtitle"/>
          <p:cNvSpPr>
            <a:spLocks noGrp="1"/>
          </p:cNvSpPr>
          <p:nvPr/>
        </p:nvSpPr>
        <p:spPr>
          <a:xfrm>
            <a:off x="914400" y="4300000"/>
            <a:ext cx="10363200" cy="20000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n-US" sz="2000" dirty="0">
                <a:solidFill>
                  <a:srgbClr val="404040"/>
                </a:solidFill>
              </a:rPr>
              <a:t>Shetty K. V., Math S. B., Marimuthu P., Rawat V. S.</a:t>
            </a:r>
          </a:p>
          <a:p>
            <a:pPr algn="ctr">
              <a:buNone/>
            </a:pPr>
            <a:r>
              <a:rPr lang="en-US" sz="2000" dirty="0">
                <a:solidFill>
                  <a:srgbClr val="404040"/>
                </a:solidFill>
              </a:rPr>
              <a:t>Indian Journal of Psychiatry 2023; 65(4): 453–459</a:t>
            </a:r>
          </a:p>
          <a:p>
            <a:pPr algn="ctr">
              <a:buNone/>
            </a:pPr>
            <a:r>
              <a:rPr lang="en-US" sz="2000" dirty="0">
                <a:solidFill>
                  <a:srgbClr val="404040"/>
                </a:solidFill>
              </a:rPr>
              <a:t>DOI: 10.4103/indianjpsychiatry.indianjpsychiatry_526_22</a:t>
            </a:r>
          </a:p>
          <a:p>
            <a:pPr algn="ctr">
              <a:buNone/>
            </a:pPr>
          </a:p>
          <a:p>
            <a:pPr algn="ctr">
              <a:buNone/>
            </a:pPr>
            <a:r>
              <a:rPr lang="en-US" sz="2000" dirty="0">
                <a:solidFill>
                  <a:srgbClr val="404040"/>
                </a:solidFill>
              </a:rPr>
              <a:t>Journal Club Presentation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/>
          <p:cNvSpPr/>
          <p:nvPr/>
        </p:nvSpPr>
        <p:spPr>
          <a:xfrm>
            <a:off x="0" y="0"/>
            <a:ext cx="12192000" cy="1200000"/>
          </a:xfrm>
          <a:prstGeom prst="rect">
            <a:avLst/>
          </a:prstGeom>
          <a:solidFill>
            <a:srgbClr val="1F3864"/>
          </a:solidFill>
        </p:spPr>
        <p:txBody>
          <a:bodyPr wrap="square" lIns="228600" anchor="ctr">
            <a:normAutofit/>
          </a:bodyPr>
          <a:lstStyle/>
          <a:p>
            <a:pPr>
              <a:buNone/>
            </a:pPr>
            <a:r>
              <a:rPr lang="en-US" sz="2800" b="1" dirty="0">
                <a:solidFill>
                  <a:srgbClr val="FFFFFF"/>
                </a:solidFill>
              </a:rPr>
              <a:t>Presentation Outline</a:t>
            </a:r>
          </a:p>
        </p:txBody>
      </p:sp>
      <p:sp>
        <p:nvSpPr>
          <p:cNvPr id="3" name="Content"/>
          <p:cNvSpPr>
            <a:spLocks noGrp="1"/>
          </p:cNvSpPr>
          <p:nvPr/>
        </p:nvSpPr>
        <p:spPr>
          <a:xfrm>
            <a:off x="685800" y="1500000"/>
            <a:ext cx="10820400" cy="51000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Introduction</a:t>
            </a:r>
          </a:p>
          <a:p>
            <a:pPr marL="342900" indent="-3429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Research Gap</a:t>
            </a:r>
          </a:p>
          <a:p>
            <a:pPr marL="342900" indent="-3429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Rationale</a:t>
            </a:r>
          </a:p>
          <a:p>
            <a:pPr marL="342900" indent="-3429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Aim, Objectives &amp; Hypothesis</a:t>
            </a:r>
          </a:p>
          <a:p>
            <a:pPr marL="342900" indent="-3429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Methodology – Design, Sample, Eligibility Criteria</a:t>
            </a:r>
          </a:p>
          <a:p>
            <a:pPr marL="342900" indent="-3429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Tools / Instruments</a:t>
            </a:r>
          </a:p>
          <a:p>
            <a:pPr marL="342900" indent="-3429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Family Intervention Programme</a:t>
            </a:r>
          </a:p>
          <a:p>
            <a:pPr marL="342900" indent="-3429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Data Analysis</a:t>
            </a:r>
          </a:p>
          <a:p>
            <a:pPr marL="342900" indent="-3429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Results</a:t>
            </a:r>
          </a:p>
          <a:p>
            <a:pPr marL="342900" indent="-3429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Discussion</a:t>
            </a:r>
          </a:p>
          <a:p>
            <a:pPr marL="342900" indent="-3429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Limitations &amp; Conclusion</a:t>
            </a:r>
          </a:p>
          <a:p>
            <a:pPr marL="342900" indent="-3429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References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/>
          <p:cNvSpPr/>
          <p:nvPr/>
        </p:nvSpPr>
        <p:spPr>
          <a:xfrm>
            <a:off x="0" y="0"/>
            <a:ext cx="12192000" cy="1200000"/>
          </a:xfrm>
          <a:prstGeom prst="rect">
            <a:avLst/>
          </a:prstGeom>
          <a:solidFill>
            <a:srgbClr val="1F3864"/>
          </a:solidFill>
        </p:spPr>
        <p:txBody>
          <a:bodyPr wrap="square" lIns="228600" anchor="ctr">
            <a:normAutofit/>
          </a:bodyPr>
          <a:lstStyle/>
          <a:p>
            <a:pPr>
              <a:buNone/>
            </a:pPr>
            <a:r>
              <a:rPr lang="en-US" sz="2800" b="1" dirty="0">
                <a:solidFill>
                  <a:srgbClr val="FFFFFF"/>
                </a:solidFill>
              </a:rPr>
              <a:t>Background (Abstract)</a:t>
            </a:r>
          </a:p>
        </p:txBody>
      </p:sp>
      <p:sp>
        <p:nvSpPr>
          <p:cNvPr id="3" name="Content"/>
          <p:cNvSpPr>
            <a:spLocks noGrp="1"/>
          </p:cNvSpPr>
          <p:nvPr/>
        </p:nvSpPr>
        <p:spPr>
          <a:xfrm>
            <a:off x="685800" y="1500000"/>
            <a:ext cx="10820400" cy="51000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2000" dirty="0">
                <a:solidFill>
                  <a:srgbClr val="000000"/>
                </a:solidFill>
              </a:rPr>
              <a:t>Expressed emotion (EE), being a part of the family environment, could adversely affect the course and prognosis of schizophrenia.</a:t>
            </a:r>
          </a:p>
          <a:p>
            <a:pPr marL="342900" indent="-3429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2000" dirty="0">
                <a:solidFill>
                  <a:srgbClr val="000000"/>
                </a:solidFill>
              </a:rPr>
              <a:t>Family is often the main supporting system for people with a chronic health condition like schizophrenia.</a:t>
            </a:r>
          </a:p>
          <a:p>
            <a:pPr marL="342900" indent="-3429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2000" dirty="0">
                <a:solidFill>
                  <a:srgbClr val="000000"/>
                </a:solidFill>
              </a:rPr>
              <a:t>The better prognosis of schizophrenia in Asian countries can be due to family support.</a:t>
            </a:r>
          </a:p>
          <a:p>
            <a:pPr marL="342900" indent="-3429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2000" dirty="0">
                <a:solidFill>
                  <a:srgbClr val="000000"/>
                </a:solidFill>
              </a:rPr>
              <a:t>In India, most people with schizophrenia live with and rely on their family members for emotional support, assistance, housing, safety, and advocacy.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/>
          <p:cNvSpPr/>
          <p:nvPr/>
        </p:nvSpPr>
        <p:spPr>
          <a:xfrm>
            <a:off x="0" y="0"/>
            <a:ext cx="12192000" cy="1200000"/>
          </a:xfrm>
          <a:prstGeom prst="rect">
            <a:avLst/>
          </a:prstGeom>
          <a:solidFill>
            <a:srgbClr val="1F3864"/>
          </a:solidFill>
        </p:spPr>
        <p:txBody>
          <a:bodyPr wrap="square" lIns="228600" anchor="ctr">
            <a:normAutofit/>
          </a:bodyPr>
          <a:lstStyle/>
          <a:p>
            <a:pPr>
              <a:buNone/>
            </a:pPr>
            <a:r>
              <a:rPr lang="en-US" sz="2800" b="1" dirty="0">
                <a:solidFill>
                  <a:srgbClr val="FFFFFF"/>
                </a:solidFill>
              </a:rPr>
              <a:t>Introduction (1)</a:t>
            </a:r>
          </a:p>
        </p:txBody>
      </p:sp>
      <p:sp>
        <p:nvSpPr>
          <p:cNvPr id="3" name="Content"/>
          <p:cNvSpPr>
            <a:spLocks noGrp="1"/>
          </p:cNvSpPr>
          <p:nvPr/>
        </p:nvSpPr>
        <p:spPr>
          <a:xfrm>
            <a:off x="685800" y="1500000"/>
            <a:ext cx="10820400" cy="51000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2000" dirty="0">
                <a:solidFill>
                  <a:srgbClr val="000000"/>
                </a:solidFill>
              </a:rPr>
              <a:t>Family is an important and multifunctional social entity that fulfills the emotional and socializing needs of its members.</a:t>
            </a:r>
          </a:p>
          <a:p>
            <a:pPr marL="342900" indent="-3429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2000" dirty="0">
                <a:solidFill>
                  <a:srgbClr val="000000"/>
                </a:solidFill>
              </a:rPr>
              <a:t>Functioning of the family can be affected by a member’s chronic health condition.</a:t>
            </a:r>
          </a:p>
          <a:p>
            <a:pPr marL="342900" indent="-3429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2000" dirty="0">
                <a:solidFill>
                  <a:srgbClr val="000000"/>
                </a:solidFill>
              </a:rPr>
              <a:t>A person with schizophrenia might develop symptoms that are distressing to family, leading to crises, uncertainty, and over-burden.</a:t>
            </a:r>
          </a:p>
          <a:p>
            <a:pPr marL="342900" indent="-3429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2000" dirty="0">
                <a:solidFill>
                  <a:srgbClr val="000000"/>
                </a:solidFill>
              </a:rPr>
              <a:t>This is compounded by varying attitudes among family members.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/>
          <p:cNvSpPr/>
          <p:nvPr/>
        </p:nvSpPr>
        <p:spPr>
          <a:xfrm>
            <a:off x="0" y="0"/>
            <a:ext cx="12192000" cy="1200000"/>
          </a:xfrm>
          <a:prstGeom prst="rect">
            <a:avLst/>
          </a:prstGeom>
          <a:solidFill>
            <a:srgbClr val="1F3864"/>
          </a:solidFill>
        </p:spPr>
        <p:txBody>
          <a:bodyPr wrap="square" lIns="228600" anchor="ctr">
            <a:normAutofit/>
          </a:bodyPr>
          <a:lstStyle/>
          <a:p>
            <a:pPr>
              <a:buNone/>
            </a:pPr>
            <a:r>
              <a:rPr lang="en-US" sz="2800" b="1" dirty="0">
                <a:solidFill>
                  <a:srgbClr val="FFFFFF"/>
                </a:solidFill>
              </a:rPr>
              <a:t>Introduction (2): What is Expressed Emotion?</a:t>
            </a:r>
          </a:p>
        </p:txBody>
      </p:sp>
      <p:sp>
        <p:nvSpPr>
          <p:cNvPr id="3" name="Content"/>
          <p:cNvSpPr>
            <a:spLocks noGrp="1"/>
          </p:cNvSpPr>
          <p:nvPr/>
        </p:nvSpPr>
        <p:spPr>
          <a:xfrm>
            <a:off x="685800" y="1500000"/>
            <a:ext cx="10820400" cy="51000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2000" dirty="0">
                <a:solidFill>
                  <a:srgbClr val="000000"/>
                </a:solidFill>
              </a:rPr>
              <a:t>Caregivers may be unsympathetic and judgmental as they interpret the bizarre behaviours of the patient as intentional.</a:t>
            </a:r>
          </a:p>
          <a:p>
            <a:pPr marL="342900" indent="-3429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2000" dirty="0">
                <a:solidFill>
                  <a:srgbClr val="000000"/>
                </a:solidFill>
              </a:rPr>
              <a:t>Therefore, families may have high expressed emotion (EE).</a:t>
            </a:r>
          </a:p>
          <a:p>
            <a:pPr marL="342900" indent="-3429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2000" dirty="0">
                <a:solidFill>
                  <a:srgbClr val="000000"/>
                </a:solidFill>
              </a:rPr>
              <a:t>Attempts to resolve these issues may lead to guilt, family isolation, or compensatory overinvolvement; stigma may further impact the situation.</a:t>
            </a:r>
          </a:p>
          <a:p>
            <a:pPr marL="342900" indent="-3429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2000" dirty="0">
                <a:solidFill>
                  <a:srgbClr val="000000"/>
                </a:solidFill>
              </a:rPr>
              <a:t>These factors may significantly modulate expressed emotion in the family context.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/>
          <p:cNvSpPr/>
          <p:nvPr/>
        </p:nvSpPr>
        <p:spPr>
          <a:xfrm>
            <a:off x="0" y="0"/>
            <a:ext cx="12192000" cy="1200000"/>
          </a:xfrm>
          <a:prstGeom prst="rect">
            <a:avLst/>
          </a:prstGeom>
          <a:solidFill>
            <a:srgbClr val="1F3864"/>
          </a:solidFill>
        </p:spPr>
        <p:txBody>
          <a:bodyPr wrap="square" lIns="228600" anchor="ctr">
            <a:normAutofit/>
          </a:bodyPr>
          <a:lstStyle/>
          <a:p>
            <a:pPr>
              <a:buNone/>
            </a:pPr>
            <a:r>
              <a:rPr lang="en-US" sz="2800" b="1" dirty="0">
                <a:solidFill>
                  <a:srgbClr val="FFFFFF"/>
                </a:solidFill>
              </a:rPr>
              <a:t>Introduction (3): EE and Relapse</a:t>
            </a:r>
          </a:p>
        </p:txBody>
      </p:sp>
      <p:sp>
        <p:nvSpPr>
          <p:cNvPr id="3" name="Content"/>
          <p:cNvSpPr>
            <a:spLocks noGrp="1"/>
          </p:cNvSpPr>
          <p:nvPr/>
        </p:nvSpPr>
        <p:spPr>
          <a:xfrm>
            <a:off x="685800" y="1500000"/>
            <a:ext cx="10820400" cy="51000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1700" dirty="0">
                <a:solidFill>
                  <a:srgbClr val="000000"/>
                </a:solidFill>
              </a:rPr>
              <a:t>Studies have found EE as a robust predictor of relapse in schizophrenia.</a:t>
            </a:r>
          </a:p>
          <a:p>
            <a:pPr marL="342900" indent="-3429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1700" dirty="0">
                <a:solidFill>
                  <a:srgbClr val="000000"/>
                </a:solidFill>
              </a:rPr>
              <a:t>EE is not a stable characteristic feature; many caretakers change EE status within 12 months, usually from high to low.</a:t>
            </a:r>
          </a:p>
          <a:p>
            <a:pPr marL="342900" indent="-3429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1700" dirty="0">
                <a:solidFill>
                  <a:srgbClr val="000000"/>
                </a:solidFill>
              </a:rPr>
              <a:t>EE can adversely affect the course and outcome of schizophrenia.</a:t>
            </a:r>
          </a:p>
          <a:p>
            <a:pPr marL="342900" indent="-3429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1700" dirty="0">
                <a:solidFill>
                  <a:srgbClr val="000000"/>
                </a:solidFill>
              </a:rPr>
              <a:t>Family’s response to mental illness varies as per culture, region, perception, and language.</a:t>
            </a:r>
          </a:p>
          <a:p>
            <a:pPr marL="342900" indent="-3429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1700" dirty="0">
                <a:solidFill>
                  <a:srgbClr val="000000"/>
                </a:solidFill>
              </a:rPr>
              <a:t>Persons living with close family members showing negative attitudes are considerably more likely to relapse.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/>
          <p:cNvSpPr/>
          <p:nvPr/>
        </p:nvSpPr>
        <p:spPr>
          <a:xfrm>
            <a:off x="0" y="0"/>
            <a:ext cx="12192000" cy="1200000"/>
          </a:xfrm>
          <a:prstGeom prst="rect">
            <a:avLst/>
          </a:prstGeom>
          <a:solidFill>
            <a:srgbClr val="1F3864"/>
          </a:solidFill>
        </p:spPr>
        <p:txBody>
          <a:bodyPr wrap="square" lIns="228600" anchor="ctr">
            <a:normAutofit/>
          </a:bodyPr>
          <a:lstStyle/>
          <a:p>
            <a:pPr>
              <a:buNone/>
            </a:pPr>
            <a:r>
              <a:rPr lang="en-US" sz="2800" b="1" dirty="0">
                <a:solidFill>
                  <a:srgbClr val="FFFFFF"/>
                </a:solidFill>
              </a:rPr>
              <a:t>Research Gap</a:t>
            </a:r>
          </a:p>
        </p:txBody>
      </p:sp>
      <p:sp>
        <p:nvSpPr>
          <p:cNvPr id="3" name="Content"/>
          <p:cNvSpPr>
            <a:spLocks noGrp="1"/>
          </p:cNvSpPr>
          <p:nvPr/>
        </p:nvSpPr>
        <p:spPr>
          <a:xfrm>
            <a:off x="685800" y="1500000"/>
            <a:ext cx="10820400" cy="51000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2000" dirty="0">
                <a:solidFill>
                  <a:srgbClr val="000000"/>
                </a:solidFill>
              </a:rPr>
              <a:t>Studies have relatively explored components of EE for their potential to guide both theory and clinical practice.</a:t>
            </a:r>
          </a:p>
          <a:p>
            <a:pPr marL="342900" indent="-3429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2000" dirty="0">
                <a:solidFill>
                  <a:srgbClr val="000000"/>
                </a:solidFill>
              </a:rPr>
              <a:t>Concerns raised about EE: “Is high EE a significant predictor of relapse in schizophrenia?” and “Is EE linked with caregiver’s knowledge about illness aspects?”</a:t>
            </a:r>
          </a:p>
          <a:p>
            <a:pPr marL="342900" indent="-3429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2000" dirty="0">
                <a:solidFill>
                  <a:srgbClr val="000000"/>
                </a:solidFill>
              </a:rPr>
              <a:t>In India, there are NO standardized exclusive family intervention programs for EE.</a:t>
            </a:r>
          </a:p>
          <a:p>
            <a:pPr marL="342900" indent="-3429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2000" dirty="0">
                <a:solidFill>
                  <a:srgbClr val="000000"/>
                </a:solidFill>
              </a:rPr>
              <a:t>This gap motivated a study to assess the effects of a structured family intervention in schizophrenia.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/>
          <p:cNvSpPr/>
          <p:nvPr/>
        </p:nvSpPr>
        <p:spPr>
          <a:xfrm>
            <a:off x="0" y="0"/>
            <a:ext cx="12192000" cy="1200000"/>
          </a:xfrm>
          <a:prstGeom prst="rect">
            <a:avLst/>
          </a:prstGeom>
          <a:solidFill>
            <a:srgbClr val="1F3864"/>
          </a:solidFill>
        </p:spPr>
        <p:txBody>
          <a:bodyPr wrap="square" lIns="228600" anchor="ctr">
            <a:normAutofit/>
          </a:bodyPr>
          <a:lstStyle/>
          <a:p>
            <a:pPr>
              <a:buNone/>
            </a:pPr>
            <a:r>
              <a:rPr lang="en-US" sz="2800" b="1" dirty="0">
                <a:solidFill>
                  <a:srgbClr val="FFFFFF"/>
                </a:solidFill>
              </a:rPr>
              <a:t>Rationale</a:t>
            </a:r>
          </a:p>
        </p:txBody>
      </p:sp>
      <p:sp>
        <p:nvSpPr>
          <p:cNvPr id="3" name="Content"/>
          <p:cNvSpPr>
            <a:spLocks noGrp="1"/>
          </p:cNvSpPr>
          <p:nvPr/>
        </p:nvSpPr>
        <p:spPr>
          <a:xfrm>
            <a:off x="685800" y="1500000"/>
            <a:ext cx="10820400" cy="51000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2000" dirty="0">
                <a:solidFill>
                  <a:srgbClr val="000000"/>
                </a:solidFill>
              </a:rPr>
              <a:t>Overinvolvement undermines the person’s skills and confidence and, in the long run, fosters dependency on the family.</a:t>
            </a:r>
          </a:p>
          <a:p>
            <a:pPr marL="342900" indent="-3429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2000" dirty="0">
                <a:solidFill>
                  <a:srgbClr val="000000"/>
                </a:solidFill>
              </a:rPr>
              <a:t>Enhancing the knowledge of caregivers can reduce EE and provide a favorable environment for rehabilitation.</a:t>
            </a:r>
          </a:p>
          <a:p>
            <a:pPr marL="342900" indent="-3429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2000" dirty="0">
                <a:solidFill>
                  <a:srgbClr val="000000"/>
                </a:solidFill>
              </a:rPr>
              <a:t>Culturally relevant models in the Indian setting require mental health professionals to include family members as important partners in the treatment process.</a:t>
            </a:r>
          </a:p>
          <a:p>
            <a:pPr marL="342900" indent="-3429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2000" dirty="0">
                <a:solidFill>
                  <a:srgbClr val="000000"/>
                </a:solidFill>
              </a:rPr>
              <a:t>Therefore, this study intended to assess the effects of family intervention in schizophrenia.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/>
          <p:cNvSpPr/>
          <p:nvPr/>
        </p:nvSpPr>
        <p:spPr>
          <a:xfrm>
            <a:off x="0" y="0"/>
            <a:ext cx="12192000" cy="1200000"/>
          </a:xfrm>
          <a:prstGeom prst="rect">
            <a:avLst/>
          </a:prstGeom>
          <a:solidFill>
            <a:srgbClr val="1F3864"/>
          </a:solidFill>
        </p:spPr>
        <p:txBody>
          <a:bodyPr wrap="square" lIns="228600" anchor="ctr">
            <a:normAutofit/>
          </a:bodyPr>
          <a:lstStyle/>
          <a:p>
            <a:pPr>
              <a:buNone/>
            </a:pPr>
            <a:r>
              <a:rPr lang="en-US" sz="2800" b="1" dirty="0">
                <a:solidFill>
                  <a:srgbClr val="FFFFFF"/>
                </a:solidFill>
              </a:rPr>
              <a:t>Aim &amp; Objectives</a:t>
            </a:r>
          </a:p>
        </p:txBody>
      </p:sp>
      <p:sp>
        <p:nvSpPr>
          <p:cNvPr id="3" name="Content"/>
          <p:cNvSpPr>
            <a:spLocks noGrp="1"/>
          </p:cNvSpPr>
          <p:nvPr/>
        </p:nvSpPr>
        <p:spPr>
          <a:xfrm>
            <a:off x="685800" y="1500000"/>
            <a:ext cx="10820400" cy="51000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2000" dirty="0">
                <a:solidFill>
                  <a:srgbClr val="000000"/>
                </a:solidFill>
              </a:rPr>
              <a:t>AIM: To assess the effects of family intervention among the caregivers of persons with schizophrenia.</a:t>
            </a:r>
          </a:p>
          <a:p>
            <a:pPr marL="342900" indent="-3429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2000" dirty="0">
                <a:solidFill>
                  <a:srgbClr val="000000"/>
                </a:solidFill>
              </a:rPr>
              <a:t>OBJECTIVE: To evaluate whether a standardized 10-session family intervention programme reduces expressed emotion (criticality and emotional overinvolvement) in caregivers.</a:t>
            </a:r>
          </a:p>
          <a:p>
            <a:pPr marL="342900" indent="-3429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2000" dirty="0">
                <a:solidFill>
                  <a:srgbClr val="000000"/>
                </a:solidFill>
              </a:rPr>
              <a:t>To compare the intervention group with a treatment-as-usual (control) group on EE scores at pre-test and post-test.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/>
          <p:cNvSpPr/>
          <p:nvPr/>
        </p:nvSpPr>
        <p:spPr>
          <a:xfrm>
            <a:off x="0" y="0"/>
            <a:ext cx="12192000" cy="1200000"/>
          </a:xfrm>
          <a:prstGeom prst="rect">
            <a:avLst/>
          </a:prstGeom>
          <a:solidFill>
            <a:srgbClr val="1F3864"/>
          </a:solidFill>
        </p:spPr>
        <p:txBody>
          <a:bodyPr wrap="square" lIns="228600" anchor="ctr">
            <a:normAutofit/>
          </a:bodyPr>
          <a:lstStyle/>
          <a:p>
            <a:pPr>
              <a:buNone/>
            </a:pPr>
            <a:r>
              <a:rPr lang="en-US" sz="2800" b="1" dirty="0">
                <a:solidFill>
                  <a:srgbClr val="FFFFFF"/>
                </a:solidFill>
              </a:rPr>
              <a:t>Hypothesis</a:t>
            </a:r>
          </a:p>
        </p:txBody>
      </p:sp>
      <p:sp>
        <p:nvSpPr>
          <p:cNvPr id="3" name="Content"/>
          <p:cNvSpPr>
            <a:spLocks noGrp="1"/>
          </p:cNvSpPr>
          <p:nvPr/>
        </p:nvSpPr>
        <p:spPr>
          <a:xfrm>
            <a:off x="685800" y="1500000"/>
            <a:ext cx="10820400" cy="51000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2000" dirty="0">
                <a:solidFill>
                  <a:srgbClr val="000000"/>
                </a:solidFill>
              </a:rPr>
              <a:t>The family intervention programme will significantly reduce the level of expressed emotion (EE) among caregivers of persons with schizophrenia.</a:t>
            </a:r>
          </a:p>
          <a:p>
            <a:pPr marL="342900" indent="-3429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2000" dirty="0">
                <a:solidFill>
                  <a:srgbClr val="000000"/>
                </a:solidFill>
              </a:rPr>
              <a:t>Caregivers in the intervention group will show a significant reduction in criticality and emotional overinvolvement compared with the control (treatment-as-usual) group.</a:t>
            </a:r>
          </a:p>
          <a:p>
            <a:pPr marL="342900" indent="-3429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2000" dirty="0">
                <a:solidFill>
                  <a:srgbClr val="000000"/>
                </a:solidFill>
              </a:rPr>
              <a:t>(Derived from the study aim; the paper reports a significant reduction in EE in the intervention group.)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/>
          <p:cNvSpPr/>
          <p:nvPr/>
        </p:nvSpPr>
        <p:spPr>
          <a:xfrm>
            <a:off x="0" y="0"/>
            <a:ext cx="12192000" cy="1200000"/>
          </a:xfrm>
          <a:prstGeom prst="rect">
            <a:avLst/>
          </a:prstGeom>
          <a:solidFill>
            <a:srgbClr val="1F3864"/>
          </a:solidFill>
        </p:spPr>
        <p:txBody>
          <a:bodyPr wrap="square" lIns="228600" anchor="ctr">
            <a:normAutofit/>
          </a:bodyPr>
          <a:lstStyle/>
          <a:p>
            <a:pPr>
              <a:buNone/>
            </a:pPr>
            <a:r>
              <a:rPr lang="en-US" sz="2800" b="1" dirty="0">
                <a:solidFill>
                  <a:srgbClr val="FFFFFF"/>
                </a:solidFill>
              </a:rPr>
              <a:t>Methodology: Study Design &amp; Setting</a:t>
            </a:r>
          </a:p>
        </p:txBody>
      </p:sp>
      <p:sp>
        <p:nvSpPr>
          <p:cNvPr id="3" name="Content"/>
          <p:cNvSpPr>
            <a:spLocks noGrp="1"/>
          </p:cNvSpPr>
          <p:nvPr/>
        </p:nvSpPr>
        <p:spPr>
          <a:xfrm>
            <a:off x="685800" y="1500000"/>
            <a:ext cx="10820400" cy="51000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2000" dirty="0">
                <a:solidFill>
                  <a:srgbClr val="000000"/>
                </a:solidFill>
              </a:rPr>
              <a:t>Study design: Experimental research design.</a:t>
            </a:r>
          </a:p>
          <a:p>
            <a:pPr marL="342900" indent="-3429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2000" dirty="0">
                <a:solidFill>
                  <a:srgbClr val="000000"/>
                </a:solidFill>
              </a:rPr>
              <a:t>Setting: Caregivers of persons with schizophrenia seeking in-patient treatment at NIMHANS, Bengaluru, India (September 2014 to November 2014).</a:t>
            </a:r>
          </a:p>
          <a:p>
            <a:pPr marL="342900" indent="-3429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2000" dirty="0">
                <a:solidFill>
                  <a:srgbClr val="000000"/>
                </a:solidFill>
              </a:rPr>
              <a:t>Caregivers were recruited and randomly allocated to the interventional group and the treatment-as-usual (TAU) group.</a:t>
            </a:r>
          </a:p>
          <a:p>
            <a:pPr marL="342900" indent="-3429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2000" dirty="0">
                <a:solidFill>
                  <a:srgbClr val="000000"/>
                </a:solidFill>
              </a:rPr>
              <a:t>Allocation used a random list generated through randomization software; the sequence was concealed until interventions were assigned.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/>
          <p:cNvSpPr/>
          <p:nvPr/>
        </p:nvSpPr>
        <p:spPr>
          <a:xfrm>
            <a:off x="0" y="0"/>
            <a:ext cx="12192000" cy="1200000"/>
          </a:xfrm>
          <a:prstGeom prst="rect">
            <a:avLst/>
          </a:prstGeom>
          <a:solidFill>
            <a:srgbClr val="1F3864"/>
          </a:solidFill>
        </p:spPr>
        <p:txBody>
          <a:bodyPr wrap="square" lIns="228600" anchor="ctr">
            <a:normAutofit/>
          </a:bodyPr>
          <a:lstStyle/>
          <a:p>
            <a:pPr>
              <a:buNone/>
            </a:pPr>
            <a:r>
              <a:rPr lang="en-US" sz="2800" b="1" dirty="0">
                <a:solidFill>
                  <a:srgbClr val="FFFFFF"/>
                </a:solidFill>
              </a:rPr>
              <a:t>Methodology: Sample</a:t>
            </a:r>
          </a:p>
        </p:txBody>
      </p:sp>
      <p:sp>
        <p:nvSpPr>
          <p:cNvPr id="3" name="Content"/>
          <p:cNvSpPr>
            <a:spLocks noGrp="1"/>
          </p:cNvSpPr>
          <p:nvPr/>
        </p:nvSpPr>
        <p:spPr>
          <a:xfrm>
            <a:off x="685800" y="1500000"/>
            <a:ext cx="10820400" cy="51000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2000" dirty="0">
                <a:solidFill>
                  <a:srgbClr val="000000"/>
                </a:solidFill>
              </a:rPr>
              <a:t>A total sample of 80 caregivers was drawn for the study.</a:t>
            </a:r>
          </a:p>
          <a:p>
            <a:pPr marL="342900" indent="-3429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2000" dirty="0">
                <a:solidFill>
                  <a:srgbClr val="000000"/>
                </a:solidFill>
              </a:rPr>
              <a:t>40 caregivers constituted the control (TAU) group.</a:t>
            </a:r>
          </a:p>
          <a:p>
            <a:pPr marL="342900" indent="-3429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2000" dirty="0">
                <a:solidFill>
                  <a:srgbClr val="000000"/>
                </a:solidFill>
              </a:rPr>
              <a:t>40 caregivers comprised the intervention group.</a:t>
            </a:r>
          </a:p>
          <a:p>
            <a:pPr marL="342900" indent="-3429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2000" dirty="0">
                <a:solidFill>
                  <a:srgbClr val="000000"/>
                </a:solidFill>
              </a:rPr>
              <a:t>Two blind raters (postgraduates in Social Work and Psychology, &gt;5 years’ experience) were trained over two days on the study and administration of tools.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/>
          <p:cNvSpPr/>
          <p:nvPr/>
        </p:nvSpPr>
        <p:spPr>
          <a:xfrm>
            <a:off x="0" y="0"/>
            <a:ext cx="12192000" cy="1200000"/>
          </a:xfrm>
          <a:prstGeom prst="rect">
            <a:avLst/>
          </a:prstGeom>
          <a:solidFill>
            <a:srgbClr val="1F3864"/>
          </a:solidFill>
        </p:spPr>
        <p:txBody>
          <a:bodyPr wrap="square" lIns="228600" anchor="ctr">
            <a:normAutofit/>
          </a:bodyPr>
          <a:lstStyle/>
          <a:p>
            <a:pPr>
              <a:buNone/>
            </a:pPr>
            <a:r>
              <a:rPr lang="en-US" sz="2800" b="1" dirty="0">
                <a:solidFill>
                  <a:srgbClr val="FFFFFF"/>
                </a:solidFill>
              </a:rPr>
              <a:t>Inclusion (Eligibility) Criteria</a:t>
            </a:r>
          </a:p>
        </p:txBody>
      </p:sp>
      <p:sp>
        <p:nvSpPr>
          <p:cNvPr id="3" name="Content"/>
          <p:cNvSpPr>
            <a:spLocks noGrp="1"/>
          </p:cNvSpPr>
          <p:nvPr/>
        </p:nvSpPr>
        <p:spPr>
          <a:xfrm>
            <a:off x="685800" y="1500000"/>
            <a:ext cx="10820400" cy="51000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1700" dirty="0">
                <a:solidFill>
                  <a:srgbClr val="000000"/>
                </a:solidFill>
              </a:rPr>
              <a:t>Caregiver living with the patient and providing care.</a:t>
            </a:r>
          </a:p>
          <a:p>
            <a:pPr marL="342900" indent="-3429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1700" dirty="0">
                <a:solidFill>
                  <a:srgbClr val="000000"/>
                </a:solidFill>
              </a:rPr>
              <a:t>Aged 18 years and more.</a:t>
            </a:r>
          </a:p>
          <a:p>
            <a:pPr marL="342900" indent="-3429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1700" dirty="0">
                <a:solidFill>
                  <a:srgbClr val="000000"/>
                </a:solidFill>
              </a:rPr>
              <a:t>Duration of the patient’s illness between 1 year and 5 years.</a:t>
            </a:r>
          </a:p>
          <a:p>
            <a:pPr marL="342900" indent="-3429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1700" dirty="0">
                <a:solidFill>
                  <a:srgbClr val="000000"/>
                </a:solidFill>
              </a:rPr>
              <a:t>Caregivers fluent in Kannada, Telugu, or English language.</a:t>
            </a:r>
          </a:p>
          <a:p>
            <a:pPr marL="342900" indent="-3429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1700" dirty="0">
                <a:solidFill>
                  <a:srgbClr val="000000"/>
                </a:solidFill>
              </a:rPr>
              <a:t>ICD-10 criteria used for diagnosis confirmation.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/>
          <p:cNvSpPr/>
          <p:nvPr/>
        </p:nvSpPr>
        <p:spPr>
          <a:xfrm>
            <a:off x="0" y="0"/>
            <a:ext cx="12192000" cy="1200000"/>
          </a:xfrm>
          <a:prstGeom prst="rect">
            <a:avLst/>
          </a:prstGeom>
          <a:solidFill>
            <a:srgbClr val="1F3864"/>
          </a:solidFill>
        </p:spPr>
        <p:txBody>
          <a:bodyPr wrap="square" lIns="228600" anchor="ctr">
            <a:normAutofit/>
          </a:bodyPr>
          <a:lstStyle/>
          <a:p>
            <a:pPr>
              <a:buNone/>
            </a:pPr>
            <a:r>
              <a:rPr lang="en-US" sz="2800" b="1" dirty="0">
                <a:solidFill>
                  <a:srgbClr val="FFFFFF"/>
                </a:solidFill>
              </a:rPr>
              <a:t>Exclusion Criteria</a:t>
            </a:r>
          </a:p>
        </p:txBody>
      </p:sp>
      <p:sp>
        <p:nvSpPr>
          <p:cNvPr id="3" name="Content"/>
          <p:cNvSpPr>
            <a:spLocks noGrp="1"/>
          </p:cNvSpPr>
          <p:nvPr/>
        </p:nvSpPr>
        <p:spPr>
          <a:xfrm>
            <a:off x="685800" y="1500000"/>
            <a:ext cx="10820400" cy="51000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2000" dirty="0">
                <a:solidFill>
                  <a:srgbClr val="000000"/>
                </a:solidFill>
              </a:rPr>
              <a:t>Caregivers with a history of psychiatric illness and treatment were excluded from the study.</a:t>
            </a:r>
          </a:p>
          <a:p>
            <a:pPr marL="342900" indent="-3429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2000" dirty="0">
                <a:solidFill>
                  <a:srgbClr val="000000"/>
                </a:solidFill>
              </a:rPr>
              <a:t>Persons with schizophrenia found to have a comorbid psychiatric illness (screened with MINI) were excluded.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/>
          <p:cNvSpPr/>
          <p:nvPr/>
        </p:nvSpPr>
        <p:spPr>
          <a:xfrm>
            <a:off x="0" y="0"/>
            <a:ext cx="12192000" cy="1200000"/>
          </a:xfrm>
          <a:prstGeom prst="rect">
            <a:avLst/>
          </a:prstGeom>
          <a:solidFill>
            <a:srgbClr val="1F3864"/>
          </a:solidFill>
        </p:spPr>
        <p:txBody>
          <a:bodyPr wrap="square" lIns="228600" anchor="ctr">
            <a:normAutofit/>
          </a:bodyPr>
          <a:lstStyle/>
          <a:p>
            <a:pPr>
              <a:buNone/>
            </a:pPr>
            <a:r>
              <a:rPr lang="en-US" sz="2800" b="1" dirty="0">
                <a:solidFill>
                  <a:srgbClr val="FFFFFF"/>
                </a:solidFill>
              </a:rPr>
              <a:t>Tools / Instruments</a:t>
            </a:r>
          </a:p>
        </p:txBody>
      </p:sp>
      <p:sp>
        <p:nvSpPr>
          <p:cNvPr id="3" name="Content"/>
          <p:cNvSpPr>
            <a:spLocks noGrp="1"/>
          </p:cNvSpPr>
          <p:nvPr/>
        </p:nvSpPr>
        <p:spPr>
          <a:xfrm>
            <a:off x="685800" y="1500000"/>
            <a:ext cx="10820400" cy="51000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2000" dirty="0">
                <a:solidFill>
                  <a:srgbClr val="000000"/>
                </a:solidFill>
              </a:rPr>
              <a:t>1. Sociodemographic interview schedule of caregivers, patients, and illness profile – a semi-structured schedule (personal, family, marital, occupational, income, caregiving, and illness details).</a:t>
            </a:r>
          </a:p>
          <a:p>
            <a:pPr marL="342900" indent="-3429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2000" dirty="0">
                <a:solidFill>
                  <a:srgbClr val="000000"/>
                </a:solidFill>
              </a:rPr>
              <a:t>2. Family Emotional Involvement and Criticism Scale (FEICS) – 14-item scale measuring two dimensions of EE: emotional overinvolvement and perceived criticism; 5-point Likert scale; higher scores indicate greater EE.</a:t>
            </a:r>
          </a:p>
          <a:p>
            <a:pPr marL="342900" indent="-3429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2000" dirty="0">
                <a:solidFill>
                  <a:srgbClr val="000000"/>
                </a:solidFill>
              </a:rPr>
              <a:t>3. Mini International Neuropsychiatric Interview (MINI 6.0) – brief-structured interview for major Axis 1 disorders (DSM-IV, ICD-10); used to check comorbidity.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/>
          <p:cNvSpPr/>
          <p:nvPr/>
        </p:nvSpPr>
        <p:spPr>
          <a:xfrm>
            <a:off x="0" y="0"/>
            <a:ext cx="12192000" cy="1200000"/>
          </a:xfrm>
          <a:prstGeom prst="rect">
            <a:avLst/>
          </a:prstGeom>
          <a:solidFill>
            <a:srgbClr val="1F3864"/>
          </a:solidFill>
        </p:spPr>
        <p:txBody>
          <a:bodyPr wrap="square" lIns="228600" anchor="ctr">
            <a:normAutofit/>
          </a:bodyPr>
          <a:lstStyle/>
          <a:p>
            <a:pPr>
              <a:buNone/>
            </a:pPr>
            <a:r>
              <a:rPr lang="en-US" sz="2800" b="1" dirty="0">
                <a:solidFill>
                  <a:srgbClr val="FFFFFF"/>
                </a:solidFill>
              </a:rPr>
              <a:t>Family Intervention Programme</a:t>
            </a:r>
          </a:p>
        </p:txBody>
      </p:sp>
      <p:sp>
        <p:nvSpPr>
          <p:cNvPr id="3" name="Content"/>
          <p:cNvSpPr>
            <a:spLocks noGrp="1"/>
          </p:cNvSpPr>
          <p:nvPr/>
        </p:nvSpPr>
        <p:spPr>
          <a:xfrm>
            <a:off x="685800" y="1500000"/>
            <a:ext cx="10820400" cy="51000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1700" dirty="0">
                <a:solidFill>
                  <a:srgbClr val="000000"/>
                </a:solidFill>
              </a:rPr>
              <a:t>A standardized 10-session family intervention programme delivered by a trained Psychiatric Social Worker over 2–3 months.</a:t>
            </a:r>
          </a:p>
          <a:p>
            <a:pPr marL="342900" indent="-3429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1700" dirty="0">
                <a:solidFill>
                  <a:srgbClr val="000000"/>
                </a:solidFill>
              </a:rPr>
              <a:t>6 sessions of family psychoeducation.</a:t>
            </a:r>
          </a:p>
          <a:p>
            <a:pPr marL="342900" indent="-3429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1700" dirty="0">
                <a:solidFill>
                  <a:srgbClr val="000000"/>
                </a:solidFill>
              </a:rPr>
              <a:t>2 sessions of communication training.</a:t>
            </a:r>
          </a:p>
          <a:p>
            <a:pPr marL="342900" indent="-3429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1700" dirty="0">
                <a:solidFill>
                  <a:srgbClr val="000000"/>
                </a:solidFill>
              </a:rPr>
              <a:t>1 session of stress management.</a:t>
            </a:r>
          </a:p>
          <a:p>
            <a:pPr marL="342900" indent="-3429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1700" dirty="0">
                <a:solidFill>
                  <a:srgbClr val="000000"/>
                </a:solidFill>
              </a:rPr>
              <a:t>1 session on recap and referral services.</a:t>
            </a:r>
          </a:p>
          <a:p>
            <a:pPr marL="342900" indent="-3429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1700" dirty="0">
                <a:solidFill>
                  <a:srgbClr val="000000"/>
                </a:solidFill>
              </a:rPr>
              <a:t>Methods: social case and group work, social work principles, therapeutic activities; brainstorming, case vignettes, role plays, and video clippings. A brief handout was given.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/>
          <p:cNvSpPr/>
          <p:nvPr/>
        </p:nvSpPr>
        <p:spPr>
          <a:xfrm>
            <a:off x="0" y="0"/>
            <a:ext cx="12192000" cy="1200000"/>
          </a:xfrm>
          <a:prstGeom prst="rect">
            <a:avLst/>
          </a:prstGeom>
          <a:solidFill>
            <a:srgbClr val="1F3864"/>
          </a:solidFill>
        </p:spPr>
        <p:txBody>
          <a:bodyPr wrap="square" lIns="228600" anchor="ctr">
            <a:normAutofit/>
          </a:bodyPr>
          <a:lstStyle/>
          <a:p>
            <a:pPr>
              <a:buNone/>
            </a:pPr>
            <a:r>
              <a:rPr lang="en-US" sz="2800" b="1" dirty="0">
                <a:solidFill>
                  <a:srgbClr val="FFFFFF"/>
                </a:solidFill>
              </a:rPr>
              <a:t>Data Analysis</a:t>
            </a:r>
          </a:p>
        </p:txBody>
      </p:sp>
      <p:sp>
        <p:nvSpPr>
          <p:cNvPr id="3" name="Content"/>
          <p:cNvSpPr>
            <a:spLocks noGrp="1"/>
          </p:cNvSpPr>
          <p:nvPr/>
        </p:nvSpPr>
        <p:spPr>
          <a:xfrm>
            <a:off x="685800" y="1500000"/>
            <a:ext cx="10820400" cy="51000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2000" dirty="0">
                <a:solidFill>
                  <a:srgbClr val="000000"/>
                </a:solidFill>
              </a:rPr>
              <a:t>Data were analysed through Statistical Package for Social Sciences (SPSS) 20.0 version.</a:t>
            </a:r>
          </a:p>
          <a:p>
            <a:pPr marL="342900" indent="-3429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2000" dirty="0">
                <a:solidFill>
                  <a:srgbClr val="000000"/>
                </a:solidFill>
              </a:rPr>
              <a:t>Repeated Measures Analysis of Variance (RMANOVA) used to compare pre-test and post-test scores, simultaneously analysing the intervention and control groups.</a:t>
            </a:r>
          </a:p>
          <a:p>
            <a:pPr marL="342900" indent="-3429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2000" dirty="0">
                <a:solidFill>
                  <a:srgbClr val="000000"/>
                </a:solidFill>
              </a:rPr>
              <a:t>Paired t-test used for comparing pre-intervention and post-intervention within groups.</a:t>
            </a:r>
          </a:p>
          <a:p>
            <a:pPr marL="342900" indent="-3429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2000" dirty="0">
                <a:solidFill>
                  <a:srgbClr val="000000"/>
                </a:solidFill>
              </a:rPr>
              <a:t>Ethical clearance obtained from the institute ethics committee, NIMHANS; participation was voluntary with written informed consent.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/>
          <p:cNvSpPr/>
          <p:nvPr/>
        </p:nvSpPr>
        <p:spPr>
          <a:xfrm>
            <a:off x="0" y="0"/>
            <a:ext cx="12192000" cy="1200000"/>
          </a:xfrm>
          <a:prstGeom prst="rect">
            <a:avLst/>
          </a:prstGeom>
          <a:solidFill>
            <a:srgbClr val="1F3864"/>
          </a:solidFill>
        </p:spPr>
        <p:txBody>
          <a:bodyPr wrap="square" lIns="228600" anchor="ctr">
            <a:normAutofit/>
          </a:bodyPr>
          <a:lstStyle/>
          <a:p>
            <a:pPr>
              <a:buNone/>
            </a:pPr>
            <a:r>
              <a:rPr lang="en-US" sz="2800" b="1" dirty="0">
                <a:solidFill>
                  <a:srgbClr val="FFFFFF"/>
                </a:solidFill>
              </a:rPr>
              <a:t>Results (1): Sociodemographic Profile</a:t>
            </a:r>
          </a:p>
        </p:txBody>
      </p:sp>
      <p:sp>
        <p:nvSpPr>
          <p:cNvPr id="3" name="Content"/>
          <p:cNvSpPr>
            <a:spLocks noGrp="1"/>
          </p:cNvSpPr>
          <p:nvPr/>
        </p:nvSpPr>
        <p:spPr>
          <a:xfrm>
            <a:off x="685800" y="1500000"/>
            <a:ext cx="10820400" cy="51000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1700" dirty="0">
                <a:solidFill>
                  <a:srgbClr val="000000"/>
                </a:solidFill>
              </a:rPr>
              <a:t>50% of the caregivers fell into the age group of 50 years and more.</a:t>
            </a:r>
          </a:p>
          <a:p>
            <a:pPr marL="342900" indent="-3429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1700" dirty="0">
                <a:solidFill>
                  <a:srgbClr val="000000"/>
                </a:solidFill>
              </a:rPr>
              <a:t>There were more female caregivers than male in both groups.</a:t>
            </a:r>
          </a:p>
          <a:p>
            <a:pPr marL="342900" indent="-3429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1700" dirty="0">
                <a:solidFill>
                  <a:srgbClr val="000000"/>
                </a:solidFill>
              </a:rPr>
              <a:t>40% and 47.5% of the primary caregivers in the intervention group were mothers.</a:t>
            </a:r>
          </a:p>
          <a:p>
            <a:pPr marL="342900" indent="-3429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1700" dirty="0">
                <a:solidFill>
                  <a:srgbClr val="000000"/>
                </a:solidFill>
              </a:rPr>
              <a:t>92.5% of the caregivers would contact the patient every day.</a:t>
            </a:r>
          </a:p>
          <a:p>
            <a:pPr marL="342900" indent="-3429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1700" dirty="0">
                <a:solidFill>
                  <a:srgbClr val="000000"/>
                </a:solidFill>
              </a:rPr>
              <a:t>62.5% of patients in the control group were female; a similar trend (80%) was seen in the intervention group.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/>
          <p:cNvSpPr/>
          <p:nvPr/>
        </p:nvSpPr>
        <p:spPr>
          <a:xfrm>
            <a:off x="0" y="0"/>
            <a:ext cx="12192000" cy="1200000"/>
          </a:xfrm>
          <a:prstGeom prst="rect">
            <a:avLst/>
          </a:prstGeom>
          <a:solidFill>
            <a:srgbClr val="1F3864"/>
          </a:solidFill>
        </p:spPr>
        <p:txBody>
          <a:bodyPr wrap="square" lIns="228600" anchor="ctr">
            <a:normAutofit/>
          </a:bodyPr>
          <a:lstStyle/>
          <a:p>
            <a:pPr>
              <a:buNone/>
            </a:pPr>
            <a:r>
              <a:rPr lang="en-US" sz="2800" b="1" dirty="0">
                <a:solidFill>
                  <a:srgbClr val="FFFFFF"/>
                </a:solidFill>
              </a:rPr>
              <a:t>Results (2): Control (TAU) Group</a:t>
            </a:r>
          </a:p>
        </p:txBody>
      </p:sp>
      <p:sp>
        <p:nvSpPr>
          <p:cNvPr id="3" name="Content"/>
          <p:cNvSpPr>
            <a:spLocks noGrp="1"/>
          </p:cNvSpPr>
          <p:nvPr/>
        </p:nvSpPr>
        <p:spPr>
          <a:xfrm>
            <a:off x="685800" y="1500000"/>
            <a:ext cx="10820400" cy="51000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2000" dirty="0">
                <a:solidFill>
                  <a:srgbClr val="000000"/>
                </a:solidFill>
              </a:rPr>
              <a:t>Mean EE score in post-test (Mean = 56.72; SD = 4.52) increased compared to pre-test scores (Mean = 52.47; SD = 4.95).</a:t>
            </a:r>
          </a:p>
          <a:p>
            <a:pPr marL="342900" indent="-3429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2000" dirty="0">
                <a:solidFill>
                  <a:srgbClr val="000000"/>
                </a:solidFill>
              </a:rPr>
              <a:t>Paired t-test was statistically significant (t = −3.68; P = 0.001).</a:t>
            </a:r>
          </a:p>
          <a:p>
            <a:pPr marL="342900" indent="-3429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2000" dirty="0">
                <a:solidFill>
                  <a:srgbClr val="000000"/>
                </a:solidFill>
              </a:rPr>
              <a:t>High EE was present at post-assessment among caregivers of the control group.</a:t>
            </a:r>
          </a:p>
          <a:p>
            <a:pPr marL="342900" indent="-3429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2000" dirty="0">
                <a:solidFill>
                  <a:srgbClr val="000000"/>
                </a:solidFill>
              </a:rPr>
              <a:t>(i.e., without intervention, EE tended to rise.)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/>
          <p:cNvSpPr/>
          <p:nvPr/>
        </p:nvSpPr>
        <p:spPr>
          <a:xfrm>
            <a:off x="0" y="0"/>
            <a:ext cx="12192000" cy="1200000"/>
          </a:xfrm>
          <a:prstGeom prst="rect">
            <a:avLst/>
          </a:prstGeom>
          <a:solidFill>
            <a:srgbClr val="1F3864"/>
          </a:solidFill>
        </p:spPr>
        <p:txBody>
          <a:bodyPr wrap="square" lIns="228600" anchor="ctr">
            <a:normAutofit/>
          </a:bodyPr>
          <a:lstStyle/>
          <a:p>
            <a:pPr>
              <a:buNone/>
            </a:pPr>
            <a:r>
              <a:rPr lang="en-US" sz="2800" b="1" dirty="0">
                <a:solidFill>
                  <a:srgbClr val="FFFFFF"/>
                </a:solidFill>
              </a:rPr>
              <a:t>Results (3): Intervention Group</a:t>
            </a:r>
          </a:p>
        </p:txBody>
      </p:sp>
      <p:sp>
        <p:nvSpPr>
          <p:cNvPr id="3" name="Content"/>
          <p:cNvSpPr>
            <a:spLocks noGrp="1"/>
          </p:cNvSpPr>
          <p:nvPr/>
        </p:nvSpPr>
        <p:spPr>
          <a:xfrm>
            <a:off x="685800" y="1500000"/>
            <a:ext cx="10820400" cy="51000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2000" dirty="0">
                <a:solidFill>
                  <a:srgbClr val="000000"/>
                </a:solidFill>
              </a:rPr>
              <a:t>Criticality domain reduced significantly: pre-test Mean = 27.45 (SD = 2.89) → post-test Mean = 20.03 (SD = 3.11).</a:t>
            </a:r>
          </a:p>
          <a:p>
            <a:pPr marL="342900" indent="-3429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2000" dirty="0">
                <a:solidFill>
                  <a:srgbClr val="000000"/>
                </a:solidFill>
              </a:rPr>
              <a:t>Emotional overinvolvement reduced remarkably: pre-test Mean = 26.39 (SD = 2.86) → post-test Mean = 19.48 (SD = 3.47).</a:t>
            </a:r>
          </a:p>
          <a:p>
            <a:pPr marL="342900" indent="-3429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2000" dirty="0">
                <a:solidFill>
                  <a:srgbClr val="000000"/>
                </a:solidFill>
              </a:rPr>
              <a:t>Total EE score declined significantly: pre-test Mean = 53.85 (SD = 3.91) → post-test Mean = 39.52.</a:t>
            </a:r>
          </a:p>
          <a:p>
            <a:pPr marL="342900" indent="-3429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2000" dirty="0">
                <a:solidFill>
                  <a:srgbClr val="000000"/>
                </a:solidFill>
              </a:rPr>
              <a:t>RMANOVA (F = 35.892; P = 0.001): significant reduction in EE of the intervention group compared with the control (TAU) group.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/>
          <p:cNvSpPr/>
          <p:nvPr/>
        </p:nvSpPr>
        <p:spPr>
          <a:xfrm>
            <a:off x="0" y="0"/>
            <a:ext cx="12192000" cy="1200000"/>
          </a:xfrm>
          <a:prstGeom prst="rect">
            <a:avLst/>
          </a:prstGeom>
          <a:solidFill>
            <a:srgbClr val="1F3864"/>
          </a:solidFill>
        </p:spPr>
        <p:txBody>
          <a:bodyPr wrap="square" lIns="228600" anchor="ctr">
            <a:normAutofit/>
          </a:bodyPr>
          <a:lstStyle/>
          <a:p>
            <a:pPr>
              <a:buNone/>
            </a:pPr>
            <a:r>
              <a:rPr lang="en-US" sz="2800" b="1" dirty="0">
                <a:solidFill>
                  <a:srgbClr val="FFFFFF"/>
                </a:solidFill>
              </a:rPr>
              <a:t>Discussion</a:t>
            </a:r>
          </a:p>
        </p:txBody>
      </p:sp>
      <p:sp>
        <p:nvSpPr>
          <p:cNvPr id="3" name="Content"/>
          <p:cNvSpPr>
            <a:spLocks noGrp="1"/>
          </p:cNvSpPr>
          <p:nvPr/>
        </p:nvSpPr>
        <p:spPr>
          <a:xfrm>
            <a:off x="685800" y="1500000"/>
            <a:ext cx="10820400" cy="51000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1700" dirty="0">
                <a:solidFill>
                  <a:srgbClr val="000000"/>
                </a:solidFill>
              </a:rPr>
              <a:t>There were significant reductions in both domains (criticality and emotional overinvolvement) of the EE scale in the intervention group.</a:t>
            </a:r>
          </a:p>
          <a:p>
            <a:pPr marL="342900" indent="-3429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1700" dirty="0">
                <a:solidFill>
                  <a:srgbClr val="000000"/>
                </a:solidFill>
              </a:rPr>
              <a:t>The EE scale used does not measure positive EE – it assesses only negative EE (criticality and emotional overinvolvement).</a:t>
            </a:r>
          </a:p>
          <a:p>
            <a:pPr marL="342900" indent="-3429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1700" dirty="0">
                <a:solidFill>
                  <a:srgbClr val="000000"/>
                </a:solidFill>
              </a:rPr>
              <a:t>Findings corroborate Indian and Western studies; studies in Bengaluru and Chennai showed high EE and the need for comprehensive psychosocial intervention.</a:t>
            </a:r>
          </a:p>
          <a:p>
            <a:pPr marL="342900" indent="-3429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1700" dirty="0">
                <a:solidFill>
                  <a:srgbClr val="000000"/>
                </a:solidFill>
              </a:rPr>
              <a:t>A skill-development programme (vs. routine support-group / psychoeducation) was beneficial to caregivers.</a:t>
            </a:r>
          </a:p>
          <a:p>
            <a:pPr marL="342900" indent="-3429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1700" dirty="0">
                <a:solidFill>
                  <a:srgbClr val="000000"/>
                </a:solidFill>
              </a:rPr>
              <a:t>Interventions reduced caregivers’ face-to-face contact and overinvolvement, helped overcome guilt, and enhanced stress management.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/>
          <p:cNvSpPr/>
          <p:nvPr/>
        </p:nvSpPr>
        <p:spPr>
          <a:xfrm>
            <a:off x="0" y="0"/>
            <a:ext cx="12192000" cy="1200000"/>
          </a:xfrm>
          <a:prstGeom prst="rect">
            <a:avLst/>
          </a:prstGeom>
          <a:solidFill>
            <a:srgbClr val="1F3864"/>
          </a:solidFill>
        </p:spPr>
        <p:txBody>
          <a:bodyPr wrap="square" lIns="228600" anchor="ctr">
            <a:normAutofit/>
          </a:bodyPr>
          <a:lstStyle/>
          <a:p>
            <a:pPr>
              <a:buNone/>
            </a:pPr>
            <a:r>
              <a:rPr lang="en-US" sz="2800" b="1" dirty="0">
                <a:solidFill>
                  <a:srgbClr val="FFFFFF"/>
                </a:solidFill>
              </a:rPr>
              <a:t>Limitations</a:t>
            </a:r>
          </a:p>
        </p:txBody>
      </p:sp>
      <p:sp>
        <p:nvSpPr>
          <p:cNvPr id="3" name="Content"/>
          <p:cNvSpPr>
            <a:spLocks noGrp="1"/>
          </p:cNvSpPr>
          <p:nvPr/>
        </p:nvSpPr>
        <p:spPr>
          <a:xfrm>
            <a:off x="685800" y="1500000"/>
            <a:ext cx="10820400" cy="51000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2000" dirty="0">
                <a:solidFill>
                  <a:srgbClr val="000000"/>
                </a:solidFill>
              </a:rPr>
              <a:t>FEICS does not assess all the domains of expressed emotion.</a:t>
            </a:r>
          </a:p>
          <a:p>
            <a:pPr marL="342900" indent="-3429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2000" dirty="0">
                <a:solidFill>
                  <a:srgbClr val="000000"/>
                </a:solidFill>
              </a:rPr>
              <a:t>Due to practical difficulties, the sample size was restricted to a small number.</a:t>
            </a:r>
          </a:p>
          <a:p>
            <a:pPr marL="342900" indent="-3429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2000" dirty="0">
                <a:solidFill>
                  <a:srgbClr val="000000"/>
                </a:solidFill>
              </a:rPr>
              <a:t>Utilization of a double-blind technique would have controlled biases in the assessments and the delivery of intervention.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/>
          <p:cNvSpPr/>
          <p:nvPr/>
        </p:nvSpPr>
        <p:spPr>
          <a:xfrm>
            <a:off x="0" y="0"/>
            <a:ext cx="12192000" cy="1200000"/>
          </a:xfrm>
          <a:prstGeom prst="rect">
            <a:avLst/>
          </a:prstGeom>
          <a:solidFill>
            <a:srgbClr val="1F3864"/>
          </a:solidFill>
        </p:spPr>
        <p:txBody>
          <a:bodyPr wrap="square" lIns="228600" anchor="ctr">
            <a:normAutofit/>
          </a:bodyPr>
          <a:lstStyle/>
          <a:p>
            <a:pPr>
              <a:buNone/>
            </a:pPr>
            <a:r>
              <a:rPr lang="en-US" sz="2800" b="1" dirty="0">
                <a:solidFill>
                  <a:srgbClr val="FFFFFF"/>
                </a:solidFill>
              </a:rPr>
              <a:t>Conclusion</a:t>
            </a:r>
          </a:p>
        </p:txBody>
      </p:sp>
      <p:sp>
        <p:nvSpPr>
          <p:cNvPr id="3" name="Content"/>
          <p:cNvSpPr>
            <a:spLocks noGrp="1"/>
          </p:cNvSpPr>
          <p:nvPr/>
        </p:nvSpPr>
        <p:spPr>
          <a:xfrm>
            <a:off x="685800" y="1500000"/>
            <a:ext cx="10820400" cy="51000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2000" dirty="0">
                <a:solidFill>
                  <a:srgbClr val="000000"/>
                </a:solidFill>
              </a:rPr>
              <a:t>The family-based intervention – including psychoeducation, communication training, and stress management for caregivers of persons living with schizophrenia – was effective.</a:t>
            </a:r>
          </a:p>
          <a:p>
            <a:pPr marL="342900" indent="-3429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2000" dirty="0">
                <a:solidFill>
                  <a:srgbClr val="000000"/>
                </a:solidFill>
              </a:rPr>
              <a:t>It contributed to an overall decrease in the level of expressed emotion (EE) among the caregivers.</a:t>
            </a:r>
          </a:p>
          <a:p>
            <a:pPr marL="342900" indent="-3429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2000" dirty="0">
                <a:solidFill>
                  <a:srgbClr val="000000"/>
                </a:solidFill>
              </a:rPr>
              <a:t>Family-based intervention was found to be effective for reducing EE in schizophrenia.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/>
          <p:cNvSpPr/>
          <p:nvPr/>
        </p:nvSpPr>
        <p:spPr>
          <a:xfrm>
            <a:off x="0" y="0"/>
            <a:ext cx="12192000" cy="1200000"/>
          </a:xfrm>
          <a:prstGeom prst="rect">
            <a:avLst/>
          </a:prstGeom>
          <a:solidFill>
            <a:srgbClr val="1F3864"/>
          </a:solidFill>
        </p:spPr>
        <p:txBody>
          <a:bodyPr wrap="square" lIns="228600" anchor="ctr">
            <a:normAutofit/>
          </a:bodyPr>
          <a:lstStyle/>
          <a:p>
            <a:pPr>
              <a:buNone/>
            </a:pPr>
            <a:r>
              <a:rPr lang="en-US" sz="2800" b="1" dirty="0">
                <a:solidFill>
                  <a:srgbClr val="FFFFFF"/>
                </a:solidFill>
              </a:rPr>
              <a:t>Reference (This Paper)</a:t>
            </a:r>
          </a:p>
        </p:txBody>
      </p:sp>
      <p:sp>
        <p:nvSpPr>
          <p:cNvPr id="3" name="Content"/>
          <p:cNvSpPr>
            <a:spLocks noGrp="1"/>
          </p:cNvSpPr>
          <p:nvPr/>
        </p:nvSpPr>
        <p:spPr>
          <a:xfrm>
            <a:off x="685800" y="1500000"/>
            <a:ext cx="10820400" cy="51000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1700" dirty="0">
                <a:solidFill>
                  <a:srgbClr val="000000"/>
                </a:solidFill>
              </a:rPr>
              <a:t>Shetty K. V., Math S. B., Marimuthu P., Rawat V. S. Family intervention for expressed emotion in schizophrenia: Indian context. Indian Journal of Psychiatry. 2023; 65(4): 453–459.</a:t>
            </a:r>
          </a:p>
          <a:p>
            <a:pPr marL="342900" indent="-3429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1700" dirty="0">
                <a:solidFill>
                  <a:srgbClr val="000000"/>
                </a:solidFill>
              </a:rPr>
              <a:t>DOI: 10.4103/indianjpsychiatry.indianjpsychiatry_526_22</a:t>
            </a:r>
          </a:p>
          <a:p>
            <a:pPr marL="342900" indent="-3429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1700" dirty="0">
                <a:solidFill>
                  <a:srgbClr val="000000"/>
                </a:solidFill>
              </a:rPr>
              <a:t>Published by Wolters Kluwer – Medknow. Open access (CC BY-NC-SA 4.0).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</a:p>
          <a:p>
            <a:pPr marL="342900" indent="-3429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1700" dirty="0">
                <a:solidFill>
                  <a:srgbClr val="000000"/>
                </a:solidFill>
              </a:rPr>
              <a:t>Key cited works: Butzlaff &amp; Hooley (1998), Expressed emotion and psychiatric relapse: A meta-analysis; Leff &amp; Vaughn (1985), Expressed Emotion in Families; Shields et al. (1992), FEICS; Sheehan et al. (1998), MINI.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914400" y="1600200"/>
            <a:ext cx="10363200" cy="260000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n-US" sz="4000" b="1" dirty="0">
                <a:solidFill>
                  <a:srgbClr val="1F3864"/>
                </a:solidFill>
              </a:rPr>
              <a:t>Thank You</a:t>
            </a:r>
          </a:p>
        </p:txBody>
      </p:sp>
      <p:sp>
        <p:nvSpPr>
          <p:cNvPr id="3" name="Subtitle"/>
          <p:cNvSpPr>
            <a:spLocks noGrp="1"/>
          </p:cNvSpPr>
          <p:nvPr/>
        </p:nvSpPr>
        <p:spPr>
          <a:xfrm>
            <a:off x="914400" y="4300000"/>
            <a:ext cx="10363200" cy="20000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n-US" sz="2000" dirty="0">
                <a:solidFill>
                  <a:srgbClr val="404040"/>
                </a:solidFill>
              </a:rPr>
              <a:t>Questions &amp; Discussion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3864"/>
      </a:dk2>
      <a:lt2>
        <a:srgbClr val="EEECE1"/>
      </a:lt2>
      <a:accent1>
        <a:srgbClr val="2E5395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>
          <a:solidFill>
            <a:schemeClr val="phClr"/>
          </a:solidFill>
        </a:ln>
        <a:ln>
          <a:solidFill>
            <a:schemeClr val="phClr"/>
          </a:solidFill>
        </a:ln>
        <a:ln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