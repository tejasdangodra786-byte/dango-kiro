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762000" y="1200000"/>
            <a:ext cx="10668000" cy="26000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1F3864"/>
                </a:solidFill>
                <a:latin typeface="Times New Roman"/>
                <a:cs typeface="Times New Roman"/>
              </a:rPr>
              <a:t>Family Intervention for Expressed Emotion in Schizophrenia: Indian Context</a:t>
            </a:r>
          </a:p>
        </p:txBody>
      </p:sp>
      <p:sp>
        <p:nvSpPr>
          <p:cNvPr id="3" name="Subtitle"/>
          <p:cNvSpPr/>
          <p:nvPr/>
        </p:nvSpPr>
        <p:spPr>
          <a:xfrm>
            <a:off x="762000" y="3950000"/>
            <a:ext cx="10668000" cy="24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Times New Roman"/>
                <a:cs typeface="Times New Roman"/>
              </a:rPr>
              <a:t>Published in: INDIAN JOURNAL OF PSYCHIATRY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Times New Roman"/>
                <a:cs typeface="Times New Roman"/>
              </a:rPr>
              <a:t>2023; 65(4): 453–459  ·  DOI: 10.4103/indianjpsychiatry.indianjpsychiatry_526_22</a:t>
            </a:r>
          </a:p>
          <a:p>
            <a:pPr algn="ctr">
              <a:spcAft>
                <a:spcPts val="600"/>
              </a:spcAft>
              <a:buNone/>
            </a:pPr>
          </a:p>
          <a:p>
            <a:pPr algn="ctr">
              <a:spcAft>
                <a:spcPts val="60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Times New Roman"/>
                <a:cs typeface="Times New Roman"/>
              </a:rPr>
              <a:t>Authors: Shetty K. V., Math S. B., Marimuthu P., Rawat V. S.</a:t>
            </a:r>
          </a:p>
          <a:p>
            <a:pPr algn="ctr">
              <a:spcAft>
                <a:spcPts val="600"/>
              </a:spcAft>
              <a:buNone/>
            </a:pPr>
          </a:p>
          <a:p>
            <a:pPr algn="ctr">
              <a:spcAft>
                <a:spcPts val="60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Times New Roman"/>
                <a:cs typeface="Times New Roman"/>
              </a:rPr>
              <a:t>Journal Club Presentation – Clinical Psychology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Presentation Outline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Introduction &amp; background (with sources)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Operational definitions of variables (with sources)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Clinical / research gap &amp; rationale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Aim, objective &amp; hypothesis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Study design, participants &amp; eligibility criteria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Control (TAU) vs Experimental group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The family-intervention technique &amp; its sessions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Outcome measures, tools &amp; analysis plan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Results / findings &amp; interpretation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Strengths, limitations, conclusion, references &amp; critical reflection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Introduction (1): Family &amp; Schizophrenia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Schizophrenia is a chronic, disabling mental illness disrupting thought, perception, emotion, and social functioning, usually with a relapsing course.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Family is an important, multifunctional social entity that meets its members’ emotional and socializing needs; a member’s chronic illness disturbs this functioning.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In India, most persons with schizophrenia live with and depend on their families for emotional support, assistance, housing, safety, and advocacy – unlike in Western countries.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The comparatively better prognosis of schizophrenia in Asian countries is attributed partly to this strong family support.</a:t>
            </a:r>
          </a:p>
          <a:p>
            <a:pPr marL="0" indent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i="1" dirty="0">
                <a:solidFill>
                  <a:srgbClr val="7030A0"/>
                </a:solidFill>
                <a:latin typeface="Times New Roman"/>
                <a:cs typeface="Times New Roman"/>
              </a:rPr>
              <a:t>Source: Shetty et al. (2023), Indian Journal of Psychiatry – Introduction; family-support prognosis: Asian-country studies cited therein.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Introduction (2): The Problem of High EE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Caregivers may become unsympathetic or judgmental, interpreting the patient’s bizarre behaviours as intentional → high Expressed Emotion (EE).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Attempts to help may instead breed guilt, family isolation, or over-involvement; stigma worsens the situation.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EE is one of the most robust psychosocial predictors of relapse in schizophrenia.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EE is NOT a fixed trait – caregivers often shift from high to low EE within 12 months, making it a modifiable treatment target.</a:t>
            </a:r>
          </a:p>
          <a:p>
            <a:pPr marL="0" indent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i="1" dirty="0">
                <a:solidFill>
                  <a:srgbClr val="7030A0"/>
                </a:solidFill>
                <a:latin typeface="Times New Roman"/>
                <a:cs typeface="Times New Roman"/>
              </a:rPr>
              <a:t>Sources: Shetty et al. (2023); EE–relapse meta-analysis – Butzlaff &amp; Hooley (1998), Arch Gen Psychiatry.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Operational Definitions (1)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Schizophrenia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 chronic, severe mental disorder with disturbances of thought, perception, emotion, and behaviour; diagnosed here using ICD-10 criteria.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Caregiver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 family member living with and providing care to the person with schizophrenia; ≥18 years; primary source of emotional &amp; practical support.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Expressed Emotion (EE)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 measure of the family’s emotional climate – attitudes of criticism, hostility, and emotional over-involvement expressed by relatives toward the patient.</a:t>
            </a:r>
          </a:p>
          <a:p>
            <a:pPr marL="0" indent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i="1" dirty="0">
                <a:solidFill>
                  <a:srgbClr val="7030A0"/>
                </a:solidFill>
                <a:latin typeface="Times New Roman"/>
                <a:cs typeface="Times New Roman"/>
              </a:rPr>
              <a:t>Sources: ICD-10 (WHO); EE concept – Brown &amp; Rutter (1966); developed by Leff &amp; Vaughn (1985).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Operational Definitions (2): EE Components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Perceived Criticism (Criticality)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Negative, disapproving comments, resentment, or hostile attitudes expressed by the caregiver about the patient’s behaviour.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Emotional Over-Involvement (EOI)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Exaggerated emotional responses, over-protectiveness, self-sacrifice, and intrusiveness; it undermines the patient’s confidence and fosters dependency.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In this study EE = Criticality + Emotional Over-Involvement (negative EE only). FEICS does not measure positive EE such as warmth.</a:t>
            </a:r>
          </a:p>
          <a:p>
            <a:pPr marL="0" indent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i="1" dirty="0">
                <a:solidFill>
                  <a:srgbClr val="7030A0"/>
                </a:solidFill>
                <a:latin typeface="Times New Roman"/>
                <a:cs typeface="Times New Roman"/>
              </a:rPr>
              <a:t>Sources: Leff &amp; Vaughn (1985); FEICS – Shields, Franks, Harp, McDaniel &amp; Campbell (1992).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Operational Definitions (3): The Intervention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Family / Psychosocial Intervention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 structured, professionally-delivered programme for caregivers aimed at reducing high EE and creating a favourable rehabilitation environment.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Family Psychoeducation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 structured approach giving information about the illness, problem-solving, communication skills, and self-assertiveness training.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Communication Training &amp; Stress Management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Skills-based components teaching effective communication and coping, delivered via social case-work and group-work methods.</a:t>
            </a:r>
          </a:p>
          <a:p>
            <a:pPr marL="0" indent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i="1" dirty="0">
                <a:solidFill>
                  <a:srgbClr val="7030A0"/>
                </a:solidFill>
                <a:latin typeface="Times New Roman"/>
                <a:cs typeface="Times New Roman"/>
              </a:rPr>
              <a:t>Sources: Family psychoeducation – Anderson &amp; Hogarty (1980); social case-work – Perlman (1957).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Clinical / Research Gap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EE research is largely Western; family responses differ by culture, region, and language, so findings may not transfer to India.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Existing Indian programmes were largely generic (support groups / general psychoeducation), not a structured, skill-based, EE-focused package.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There are NO standardized, exclusive family-intervention programmes for EE in India.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Unresolved questions: Is high EE a significant predictor of relapse? Is EE linked with caregiver’s knowledge about the illness?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Hence a culturally-appropriate, standardized family intervention needed to be developed and tested.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Rationale of the Study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High EE (criticism + over-involvement) adversely affects the course and outcome of schizophrenia and predicts relapse.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EE is modifiable – enhancing caregivers’ knowledge and skills can lower EE and support rehabilitation.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In India, families are the principal care providers, so equipping them is the most sustainable, culturally-relevant point of intervention.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 structured skill-development package was expected to outperform routine care in reducing EE.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Aim, Objective &amp; Hypothesis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Aim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To assess the effects of family intervention among the caregivers of persons with schizophrenia.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Objective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To evaluate whether a standardized family-intervention programme reduces Expressed Emotion in caregivers, compared with treatment as usual.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Hypothesis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Caregivers who receive the family intervention will show a significantly greater reduction in Expressed Emotion than caregivers receiving treatment as usual.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Note: the original paper states an Aim; the objective and hypothesis are framed from that aim for the presentation.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Study Design &amp; Setting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Design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Experimental research design – a randomized, two-arm (parallel-group) controlled trial with pre-test / post-test assessment of both groups.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Setting &amp; duration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In-patient wards, NIMHANS, Bengaluru, India; September 2014 – November 2014.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Randomization &amp; blinding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Random allocation via computer-generated list, concealed until assignment; two trained blind raters (Social Work &amp; Psychology postgraduates) assessed outcomes.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Participants (Sample)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Total sample: 80 caregivers of persons with schizophrenia.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Experimental (intervention) group: 40 caregivers.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Control (treatment-as-usual, TAU) group: 40 caregivers.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Recruitment: ICD-10 case files screened → diagnosis &amp; stay confirmed with treating psychiatrist → patient screened with MINI for comorbidity → informed consent.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Some post-test analyses report n = 32 (control) and n = 33 (experimental), indicating attrition.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Eligibility: Inclusion Criteria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Caregiver living with the patient and actively providing care.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Aged 18 years or more.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Duration of the patient’s illness between 1 and 5 years.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Caregiver fluent in Kannada, Telugu, or English.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Patient’s schizophrenia diagnosis confirmed by ICD-10.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Caregiver available for at least 10 days to undergo the programme.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Eligibility: Exclusion Criteria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Caregivers with a history of psychiatric illness and treatment were excluded.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Persons with schizophrenia found to have a comorbid psychiatric illness (screened with MINI) were excluded, along with their caregivers.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Screening used the Mini International Neuropsychiatric Interview (MINI 6.0).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Control Group vs Experimental Group (1)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Experimental (Intervention) Group – n = 40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Received treatment as usual PLUS a standardized 10-session family intervention delivered by a trained Psychiatric Social Worker over 2–3 months.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Package: 6 psychoeducation + 2 communication-training + 1 stress-management + 1 recap/referral sessions.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Control Group – Treatment As Usual (TAU) – n = 40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Continued only with routine hospital care from their respective units – no structured family intervention.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For ethical reasons, the control group was offered the intervention AFTER the post-assessment.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Control Group vs Experimental Group (2)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Baseline comparability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Groups were comparable at baseline on most sociodemographic variables (P &gt; 0.05).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Only caregiver gender differed significantly (more females in the experimental group; P = 0.039).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What differed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The only planned difference was the family-intervention package – isolating its effect on EE.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Direction of change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Experimental group: EE DECREASED after intervention. Control (TAU): EE INCREASED over the same period.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The Family-Intervention Technique Used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What it is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 structured, manualized Psychiatric Social-Work Family Intervention package built on the model of FAMILY PSYCHOEDUCATION – a psychoeducational, skills-based approach for caregivers of persons with schizophrenia.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Where it came from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Family psychoeducation was first developed by Carol Anderson &amp; Gerard Hogarty (1980); it draws on Expressed-Emotion theory (Brown &amp; Rutter, 1966; Leff &amp; Vaughn, 1985) and Perlman’s (1957) social case-work problem-solving method.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What it involves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Educating the family about the illness and EE, communication training, stress management, and problem-solving – delivered through case-work &amp; group-work, brainstorming, case vignettes, role plays, video clippings, and vernacular handouts.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Number of sessions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10 sessions in total: 6 psychoeducation + 2 communication training + 1 stress management + 1 recap/referral, over 2–3 months.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Technique in Practice – Sessions 1–6 (Psychoeducation)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Information about schizophrenia – symptoms, signs, course, and outcomes.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Understanding high EE – criticality and emotional over-involvement and their link to relapse.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Role of medication, adherence, and meeting the patient’s basic needs.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Reducing excessive face-to-face contact by engaging the patient in productive activity (household work, day-care/vocational training, jobs, family business, agriculture, dairy).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Helping the patient gradually regain independence in self-care during the caregiver’s brief absences.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Technique in Practice – Sessions 7–10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Sessions 7–8: Communication Training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Role plays and video clippings to improve day-to-day communication; modifying negative emotions (criticality, hostility) toward positive interactions; vernacular handouts.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Session 9: Stress Management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Identifying stressors; balanced lifestyle; sharing roles; enhancing social support; crisis management; ‘caring for the carers’; addressing guilt.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Session 10: Recap &amp; Referral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Consolidation of learning, take-home handout, and referral to services.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Outcome Measures &amp; Tools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Primary outcome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Level of Expressed Emotion (criticality + emotional over-involvement) in caregivers.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1. Sociodemographic interview schedule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Semi-structured schedule – personal, family, marital, occupational, income, caregiving, and illness details.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2. FEICS (Shields et al., 1992)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14-item self-report; perceived criticism (even items) &amp; emotional over-involvement (odd items); 5-point Likert; higher = greater EE.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3. MINI 6.0 (Sheehan et al., 1998)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Brief structured interview for major Axis-I disorders; used to screen out comorbidity.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Analysis Plan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Software: SPSS version 20.0.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Repeated Measures ANOVA (RMANOVA) – compares pre &amp; post scores while simultaneously analysing both groups.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Paired t-test – compares pre- vs post-intervention scores within each group.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Chi-square / t-tests – compare baseline sociodemographic variables across groups.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Ethics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NIMHANS ethics-committee clearance; voluntary participation; written informed consent; control group offered the intervention afterward.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Findings (1): Sociodemographic Profile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50% of caregivers were aged 50 years and above.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More female caregivers than male in both groups (up to 85% female in the experimental group).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Mothers were the primary caregivers in 40% (control) and 47.5% (experimental) of cases.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92.5% of caregivers were in daily contact with the patient – high face-to-face contact.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Majority of patients were female (62.5% control; 80% experimental); mean patient age ≈31 years.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Findings (2): Control (TAU) Group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EE INCREASED from pre-test to post-test (no intervention):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Total EE: pre 52.47 (SD 4.95) → post 56.72 (SD 4.52); t = −3.68; P = 0.001.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Criticality: pre 26.13 → post 28.28; t = −3.47; P = 0.002.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Emotional over-involvement: pre 26.34 → post 28.44; t = −3.25; P = 0.003.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Interpretation: without a structured intervention, caregiver EE tended to WORSEN over time.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Findings (3): Experimental Group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EE DECREASED significantly after the intervention: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Criticality: pre 27.45 (SD 2.89) → post 20.03 (SD 3.11); t = 10.16; P = 0.001.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Emotional over-involvement: pre 26.39 (SD 2.86) → post 19.48 (SD 3.47); t = 8.82; P = 0.001.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Total EE: pre 53.85 (SD 3.91) → post 39.52; t = 11.73; P = 0.001.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Overall between-group result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RMANOVA: F = 35.892; P = 0.001 – significant reduction in EE for the experimental group vs the control group.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Findings (4): Interpretation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The family intervention significantly reduced negative EE (criticism &amp; over-involvement) in caregivers.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Reducing excessive face-to-face contact and over-involvement, and addressing guilt, contributed to lower EE.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 skill-development approach outperformed routine support-group / general psychoeducation formats.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Findings corroborate Indian (Bengaluru, Chennai) and Western studies (Linszen et al., 1997; Miklowitz &amp; Goldstein, 1984).</a:t>
            </a:r>
          </a:p>
          <a:p>
            <a:pPr marL="571500" indent="-228600">
              <a:spcBef>
                <a:spcPts val="0"/>
              </a:spcBef>
              <a:spcAft>
                <a:spcPts val="300"/>
              </a:spcAft>
              <a:buFont typeface="Arial"/>
              <a:buChar char="–"/>
            </a:pPr>
            <a:r>
              <a:rPr lang="en-US" sz="1600" i="1" dirty="0">
                <a:solidFill>
                  <a:srgbClr val="333333"/>
                </a:solidFill>
                <a:latin typeface="Times New Roman"/>
                <a:cs typeface="Times New Roman"/>
              </a:rPr>
              <a:t>Caveat: FEICS measures only negative EE, not positive EE such as warmth.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Strengths &amp; Limitations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Strengths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Randomized experimental design with a control group and blind raters.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Culturally-relevant, standardized, manualized intervention delivered in vernacular languages.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Statistically significant and clinically meaningful reduction in EE.</a:t>
            </a:r>
          </a:p>
          <a:p>
            <a:pPr marL="0" indent="0"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/>
                <a:cs typeface="Times New Roman"/>
              </a:rPr>
              <a:t>Limitations (authors’)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FEICS does not assess all domains of EE (no positive EE / warmth).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Small sample size; no double-blind technique to control assessment/delivery biases.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Conclusion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 family-based intervention – psychoeducation, communication training, and stress management for caregivers – was effective.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It produced an overall, statistically significant decrease in Expressed Emotion, while EE rose in the untreated control group.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Family intervention is a feasible, culturally-appropriate strategy to reduce EE and support rehabilitation in the Indian context.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References (1): Primary Paper &amp; Concepts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1. Shetty K. V., Math S. B., Marimuthu P., Rawat V. S. Family intervention for expressed emotion in schizophrenia: Indian context. Indian Journal of Psychiatry. 2023;65(4):453–459.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2. Brown G. W., Rutter M. (1966). The measurement of family activities and relationships: a methodology. Human Relations, 19(3):241–263.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3. Leff J., Vaughn C. (1985). Expressed Emotion in Families: Its Significance for Mental Illness. New York: Guilford Press.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4. Butzlaff R. L., Hooley J. M. (1998). Expressed emotion and psychiatric relapse: a meta-analysis. Archives of General Psychiatry, 55(6):547–552.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References (2): Technique &amp; Tools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5. Anderson C. M., Hogarty G. E., Reiss D. J. (1980). Family treatment of adult schizophrenic patients: a psycho-educational approach. Schizophrenia Bulletin, 6(3):490–505.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6. Perlman H. H. (1957). Social Casework: A Problem-Solving Process. Chicago: University of Chicago Press.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7. Shields C. G., Franks P., Harp J. J., McDaniel S. H., Campbell T. L. (1992). Development of the FEICS. Journal of Marital and Family Therapy, 18(4):395–407.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8. Sheehan D. V., Lecrubier Y., Sheehan K. H., et al. (1998). The Mini-International Neuropsychiatric Interview (M.I.N.I.). Journal of Clinical Psychiatry, 59(Suppl 20):22–33.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9. World Health Organization. ICD-10 Classification of Mental and Behavioural Disorders. Geneva: WHO.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cs typeface="Times New Roman"/>
              </a:rPr>
              <a:t>Critical Reflection: What Another Researcher Might Do Differently</a:t>
            </a:r>
          </a:p>
        </p:txBody>
      </p:sp>
      <p:sp>
        <p:nvSpPr>
          <p:cNvPr id="3" name="Content"/>
          <p:cNvSpPr/>
          <p:nvPr/>
        </p:nvSpPr>
        <p:spPr>
          <a:xfrm>
            <a:off x="685800" y="1050000"/>
            <a:ext cx="10820400" cy="565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Use a double-blind design and an independent, standardized EE measure (e.g., the Camberwell Family Interview) alongside FEICS, capturing positive EE (warmth) too.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Recruit a larger, multi-centre sample with an a-priori power calculation to improve generalizability beyond a single tertiary hospital (NIMHANS).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Add a follow-up period to test whether EE reduction is sustained, and measure patient outcomes (relapse, re-hospitalization, functioning), not just caregiver EE.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Include a fidelity check of intervention delivery and an active comparison arm (e.g., routine psychoeducation) to isolate the added value of the technique.</a:t>
            </a:r>
          </a:p>
          <a:p>
            <a:pPr marL="285750" indent="-28575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cs typeface="Times New Roman"/>
              </a:rPr>
              <a:t>Report effect sizes and confidence intervals, and analyse attrition (40→32 / 40→33) with intention-to-treat to reduce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762000" y="1200000"/>
            <a:ext cx="10668000" cy="26000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1F3864"/>
                </a:solidFill>
                <a:latin typeface="Times New Roman"/>
                <a:cs typeface="Times New Roman"/>
              </a:rPr>
              <a:t>Thank You</a:t>
            </a:r>
          </a:p>
        </p:txBody>
      </p:sp>
      <p:sp>
        <p:nvSpPr>
          <p:cNvPr id="3" name="Subtitle"/>
          <p:cNvSpPr/>
          <p:nvPr/>
        </p:nvSpPr>
        <p:spPr>
          <a:xfrm>
            <a:off x="762000" y="3950000"/>
            <a:ext cx="10668000" cy="24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Times New Roman"/>
                <a:cs typeface="Times New Roman"/>
              </a:rPr>
              <a:t>Questions &amp; Discussion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3864"/>
      </a:dk2>
      <a:lt2>
        <a:srgbClr val="EEECE1"/>
      </a:lt2>
      <a:accent1>
        <a:srgbClr val="2E5395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