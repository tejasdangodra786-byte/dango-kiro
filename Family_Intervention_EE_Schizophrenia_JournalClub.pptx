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9144000"/>
</p:presentation>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Theme" Type="http://schemas.openxmlformats.org/officeDocument/2006/relationships/theme" Target="theme/theme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914400" y="1400200"/>
            <a:ext cx="10363200" cy="2800000"/>
          </a:xfrm>
          <a:prstGeom prst="rect">
            <a:avLst/>
          </a:prstGeom>
        </p:spPr>
        <p:txBody>
          <a:bodyPr wrap="square" anchor="ctr">
            <a:normAutofit/>
          </a:bodyPr>
          <a:lstStyle/>
          <a:p>
            <a:pPr algn="ctr">
              <a:spcAft>
                <a:spcPts val="600"/>
              </a:spcAft>
              <a:buNone/>
            </a:pPr>
            <a:r>
              <a:rPr lang="en-US" sz="4000" b="1" dirty="0">
                <a:solidFill>
                  <a:srgbClr val="1F3864"/>
                </a:solidFill>
                <a:latin typeface="Times New Roman"/>
                <a:cs typeface="Times New Roman"/>
              </a:rPr>
              <a:t>Family Intervention for Expressed Emotion in Schizophrenia: Indian Context</a:t>
            </a:r>
          </a:p>
        </p:txBody>
      </p:sp>
      <p:sp>
        <p:nvSpPr>
          <p:cNvPr id="3" name="Subtitle"/>
          <p:cNvSpPr/>
          <p:nvPr/>
        </p:nvSpPr>
        <p:spPr>
          <a:xfrm>
            <a:off x="914400" y="4400000"/>
            <a:ext cx="10363200" cy="2000000"/>
          </a:xfrm>
          <a:prstGeom prst="rect">
            <a:avLst/>
          </a:prstGeom>
        </p:spPr>
        <p:txBody>
          <a:bodyPr wrap="square" anchor="t">
            <a:normAutofit/>
          </a:bodyPr>
          <a:lstStyle/>
          <a:p>
            <a:pPr algn="ctr">
              <a:spcAft>
                <a:spcPts val="600"/>
              </a:spcAft>
              <a:buNone/>
            </a:pPr>
            <a:r>
              <a:rPr lang="en-US" sz="2000" dirty="0">
                <a:solidFill>
                  <a:srgbClr val="404040"/>
                </a:solidFill>
                <a:latin typeface="Times New Roman"/>
                <a:cs typeface="Times New Roman"/>
              </a:rPr>
              <a:t>Shetty K. V., Math S. B., Marimuthu P., Rawat V. S.</a:t>
            </a:r>
          </a:p>
          <a:p>
            <a:pPr algn="ctr">
              <a:spcAft>
                <a:spcPts val="600"/>
              </a:spcAft>
              <a:buNone/>
            </a:pPr>
            <a:r>
              <a:rPr lang="en-US" sz="2000" dirty="0">
                <a:solidFill>
                  <a:srgbClr val="404040"/>
                </a:solidFill>
                <a:latin typeface="Times New Roman"/>
                <a:cs typeface="Times New Roman"/>
              </a:rPr>
              <a:t>Indian Journal of Psychiatry, 2023; 65(4): 453–459</a:t>
            </a:r>
          </a:p>
          <a:p>
            <a:pPr algn="ctr">
              <a:spcAft>
                <a:spcPts val="600"/>
              </a:spcAft>
              <a:buNone/>
            </a:pPr>
            <a:r>
              <a:rPr lang="en-US" sz="2000" dirty="0">
                <a:solidFill>
                  <a:srgbClr val="404040"/>
                </a:solidFill>
                <a:latin typeface="Times New Roman"/>
                <a:cs typeface="Times New Roman"/>
              </a:rPr>
              <a:t>DOI: 10.4103/indianjpsychiatry.indianjpsychiatry_526_22</a:t>
            </a:r>
          </a:p>
          <a:p>
            <a:pPr algn="ctr">
              <a:spcAft>
                <a:spcPts val="600"/>
              </a:spcAft>
              <a:buNone/>
            </a:pPr>
          </a:p>
          <a:p>
            <a:pPr algn="ctr">
              <a:spcAft>
                <a:spcPts val="600"/>
              </a:spcAft>
              <a:buNone/>
            </a:pPr>
            <a:r>
              <a:rPr lang="en-US" sz="2000" dirty="0">
                <a:solidFill>
                  <a:srgbClr val="404040"/>
                </a:solidFill>
                <a:latin typeface="Times New Roman"/>
                <a:cs typeface="Times New Roman"/>
              </a:rPr>
              <a:t>Journal Club Presentation – Clinical Psychology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Presentation Outline</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Introduction &amp; background</a:t>
            </a:r>
          </a:p>
          <a:p>
            <a:pPr marL="285750" indent="-285750">
              <a:spcBef>
                <a:spcPts val="0"/>
              </a:spcBef>
              <a:spcAft>
                <a:spcPts val="300"/>
              </a:spcAft>
              <a:buFont typeface="Arial"/>
              <a:buChar char="•"/>
            </a:pPr>
            <a:r>
              <a:rPr lang="en-US" sz="1800" dirty="0">
                <a:solidFill>
                  <a:srgbClr val="000000"/>
                </a:solidFill>
                <a:latin typeface="Times New Roman"/>
                <a:cs typeface="Times New Roman"/>
              </a:rPr>
              <a:t>Operational definitions of all variables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Clinical / research gap &amp; rationale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Aim, objectives &amp; hypotheses (research, directional, null)</a:t>
            </a:r>
          </a:p>
          <a:p>
            <a:pPr marL="285750" indent="-285750">
              <a:spcBef>
                <a:spcPts val="0"/>
              </a:spcBef>
              <a:spcAft>
                <a:spcPts val="300"/>
              </a:spcAft>
              <a:buFont typeface="Arial"/>
              <a:buChar char="•"/>
            </a:pPr>
            <a:r>
              <a:rPr lang="en-US" sz="1800" dirty="0">
                <a:solidFill>
                  <a:srgbClr val="000000"/>
                </a:solidFill>
                <a:latin typeface="Times New Roman"/>
                <a:cs typeface="Times New Roman"/>
              </a:rPr>
              <a:t>Study design, participants &amp; eligibility criteria</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Control (TAU) group vs Experimental group</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The family intervention – session by session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Outcome measures &amp; tools; analysis plan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Results / findings &amp; interpretation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Strengths, limitations, conclusion &amp; references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Introduction (1): Family &amp; Schizophrenia</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Schizophrenia is a chronic, disabling mental illness that disrupts thinking, perception, emotion, and social functioning, and usually follows a relapsing course.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Family is an important, multifunctional social entity that meets the emotional and socializing needs of its members; a member’s chronic illness disturbs this functioning.</a:t>
            </a:r>
          </a:p>
          <a:p>
            <a:pPr marL="285750" indent="-285750">
              <a:spcBef>
                <a:spcPts val="0"/>
              </a:spcBef>
              <a:spcAft>
                <a:spcPts val="300"/>
              </a:spcAft>
              <a:buFont typeface="Arial"/>
              <a:buChar char="•"/>
            </a:pPr>
            <a:r>
              <a:rPr lang="en-US" sz="1800" dirty="0">
                <a:solidFill>
                  <a:srgbClr val="000000"/>
                </a:solidFill>
                <a:latin typeface="Times New Roman"/>
                <a:cs typeface="Times New Roman"/>
              </a:rPr>
              <a:t>In India, most persons with schizophrenia live with their families and depend on them for emotional support, assistance, housing, safety, and advocacy – unlike in Western countries.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The comparatively better prognosis of schizophrenia in Asian countries is attributed partly to this strong family support system.</a:t>
            </a:r>
          </a:p>
          <a:p>
            <a:pPr marL="285750" indent="-285750">
              <a:spcBef>
                <a:spcPts val="0"/>
              </a:spcBef>
              <a:spcAft>
                <a:spcPts val="300"/>
              </a:spcAft>
              <a:buFont typeface="Arial"/>
              <a:buChar char="•"/>
            </a:pPr>
            <a:r>
              <a:rPr lang="en-US" sz="1800" dirty="0">
                <a:solidFill>
                  <a:srgbClr val="000000"/>
                </a:solidFill>
                <a:latin typeface="Times New Roman"/>
                <a:cs typeface="Times New Roman"/>
              </a:rPr>
              <a:t>However, the illness can cause distress, crises, uncertainty, and over-burden for the family, and caregivers’ attitudes toward the patient vary widely.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Introduction (2): The Problem of High EE</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Caregivers may become unsympathetic or judgmental, interpreting the patient’s bizarre behaviours as intentional → the family develops high Expressed Emotion (EE).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Well-meaning attempts to help may instead breed guilt, family isolation, or compensatory over-involvement; stigma worsens the situation further.</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Expressed Emotion is one of the most robust psychosocial predictors of relapse in schizophrenia (Butzlaff &amp; Hooley, 1998).</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Crucially, EE is NOT a fixed trait – many caregivers shift from high to low EE within 12 months, which makes it a modifiable treatment target.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Because family responses differ by culture, region, perception, and language, a culturally-relevant Indian family intervention is needed.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Operational Definitions (1)</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Schizophrenia</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 chronic, severe mental disorder with disturbances of thought, perception, emotion, and behaviour; diagnosed here using ICD-10 criteria (WHO).</a:t>
            </a:r>
          </a:p>
          <a:p>
            <a:pPr marL="0" indent="0">
              <a:spcBef>
                <a:spcPts val="300"/>
              </a:spcBef>
              <a:spcAft>
                <a:spcPts val="150"/>
              </a:spcAft>
              <a:buNone/>
            </a:pPr>
            <a:r>
              <a:rPr lang="en-US" sz="2000" b="1" dirty="0">
                <a:solidFill>
                  <a:srgbClr val="1F3864"/>
                </a:solidFill>
                <a:latin typeface="Times New Roman"/>
                <a:cs typeface="Times New Roman"/>
              </a:rPr>
              <a:t>Caregiver</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 family member living with and providing care to the person with schizophrenia; ≥18 years of age; the primary source of emotional and practical support.</a:t>
            </a:r>
          </a:p>
          <a:p>
            <a:pPr marL="0" indent="0">
              <a:spcBef>
                <a:spcPts val="300"/>
              </a:spcBef>
              <a:spcAft>
                <a:spcPts val="150"/>
              </a:spcAft>
              <a:buNone/>
            </a:pPr>
            <a:r>
              <a:rPr lang="en-US" sz="2000" b="1" dirty="0">
                <a:solidFill>
                  <a:srgbClr val="1F3864"/>
                </a:solidFill>
                <a:latin typeface="Times New Roman"/>
                <a:cs typeface="Times New Roman"/>
              </a:rPr>
              <a:t>Expressed Emotion (EE)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 measure of the family’s emotional climate – the attitudes of criticism, hostility, and emotional over-involvement expressed by relatives toward the patient.</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Concept coined by Brown &amp; Rutter (1966); measured originally via the Camberwell Family Interview; developed further by Leff &amp; Vaughn (1985).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Operational Definitions (2): EE Components</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Perceived Criticism (Criticality)</a:t>
            </a:r>
          </a:p>
          <a:p>
            <a:pPr marL="285750" indent="-285750">
              <a:spcBef>
                <a:spcPts val="0"/>
              </a:spcBef>
              <a:spcAft>
                <a:spcPts val="300"/>
              </a:spcAft>
              <a:buFont typeface="Arial"/>
              <a:buChar char="•"/>
            </a:pPr>
            <a:r>
              <a:rPr lang="en-US" sz="1800" dirty="0">
                <a:solidFill>
                  <a:srgbClr val="000000"/>
                </a:solidFill>
                <a:latin typeface="Times New Roman"/>
                <a:cs typeface="Times New Roman"/>
              </a:rPr>
              <a:t>Negative, disapproving comments, resentment, or hostile attitudes expressed by the caregiver about the patient’s behaviour – the “critical comments / hostility” dimension of EE.</a:t>
            </a:r>
          </a:p>
          <a:p>
            <a:pPr marL="0" indent="0">
              <a:spcBef>
                <a:spcPts val="300"/>
              </a:spcBef>
              <a:spcAft>
                <a:spcPts val="150"/>
              </a:spcAft>
              <a:buNone/>
            </a:pPr>
            <a:r>
              <a:rPr lang="en-US" sz="2000" b="1" dirty="0">
                <a:solidFill>
                  <a:srgbClr val="1F3864"/>
                </a:solidFill>
                <a:latin typeface="Times New Roman"/>
                <a:cs typeface="Times New Roman"/>
              </a:rPr>
              <a:t>Emotional Over-Involvement (EOI)</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Exaggerated emotional responses, over-protectiveness, self-sacrifice, and intrusiveness by the caregiver; it undermines the patient’s skills and confidence and fosters long-term dependency.</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In this study, EE = Criticality + Emotional Over-Involvement (negative EE only). The FEICS scale does NOT measure positive EE such as warmth.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Operational Definitions (3): The Intervention</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Family / Psychosocial Intervention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 structured, professionally-delivered programme for caregivers aimed at reducing high EE and creating a favourable family environment for rehabilitation.</a:t>
            </a:r>
          </a:p>
          <a:p>
            <a:pPr marL="0" indent="0">
              <a:spcBef>
                <a:spcPts val="300"/>
              </a:spcBef>
              <a:spcAft>
                <a:spcPts val="150"/>
              </a:spcAft>
              <a:buNone/>
            </a:pPr>
            <a:r>
              <a:rPr lang="en-US" sz="2000" b="1" dirty="0">
                <a:solidFill>
                  <a:srgbClr val="1F3864"/>
                </a:solidFill>
                <a:latin typeface="Times New Roman"/>
                <a:cs typeface="Times New Roman"/>
              </a:rPr>
              <a:t>Family Psychoeducation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 structured approach giving information about the illness, problem-solving, communication skills, and self-assertiveness training – term first used by Anderson &amp; Hogarty (1980).</a:t>
            </a:r>
          </a:p>
          <a:p>
            <a:pPr marL="0" indent="0">
              <a:spcBef>
                <a:spcPts val="300"/>
              </a:spcBef>
              <a:spcAft>
                <a:spcPts val="150"/>
              </a:spcAft>
              <a:buNone/>
            </a:pPr>
            <a:r>
              <a:rPr lang="en-US" sz="2000" b="1" dirty="0">
                <a:solidFill>
                  <a:srgbClr val="1F3864"/>
                </a:solidFill>
                <a:latin typeface="Times New Roman"/>
                <a:cs typeface="Times New Roman"/>
              </a:rPr>
              <a:t>Communication Training &amp; Stress Management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Skills-based components teaching effective caregiver communication and coping/stress-reduction, delivered via social case-work and group-work methods.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Clinical / Research Gap</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EE has been studied mostly in Western populations; family responses differ by culture, region, and language, so Western findings may not transfer to India.</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Existing Indian programmes were largely generic (support groups, general psychoeducation), not a structured, skill-based, EE-focused package.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There are NO standardized, exclusive family-intervention programmes for EE in India.</a:t>
            </a:r>
          </a:p>
          <a:p>
            <a:pPr marL="285750" indent="-285750">
              <a:spcBef>
                <a:spcPts val="0"/>
              </a:spcBef>
              <a:spcAft>
                <a:spcPts val="300"/>
              </a:spcAft>
              <a:buFont typeface="Arial"/>
              <a:buChar char="•"/>
            </a:pPr>
            <a:r>
              <a:rPr lang="en-US" sz="1800" dirty="0">
                <a:solidFill>
                  <a:srgbClr val="000000"/>
                </a:solidFill>
                <a:latin typeface="Times New Roman"/>
                <a:cs typeface="Times New Roman"/>
              </a:rPr>
              <a:t>Unresolved questions in the literature: (a) Is high EE a significant predictor of relapse? (b) Is EE linked with the caregiver’s knowledge about the illness?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Hence a culturally-appropriate, standardized, manualized family intervention needed to be developed and tested – the gap this study addresses.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Rationale of the Study</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High EE (criticism + over-involvement) adversely affects the course and outcome of schizophrenia and predicts relapse.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EE is modifiable – enhancing caregivers’ knowledge and skills can lower EE and support rehabilitation.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In India, families are the principal care providers, so equipping them is the most sustainable and culturally-relevant point of intervention.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 structured skill-development package was expected to outperform routine care in reducing EE.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Therefore, this study developed and evaluated a standardized family intervention to reduce EE among caregivers of persons with schizophrenia.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Aim &amp; Objectives</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Aim</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To assess the effects of family intervention among the caregivers of persons with schizophrenia.</a:t>
            </a:r>
          </a:p>
          <a:p>
            <a:pPr marL="0" indent="0">
              <a:spcBef>
                <a:spcPts val="300"/>
              </a:spcBef>
              <a:spcAft>
                <a:spcPts val="150"/>
              </a:spcAft>
              <a:buNone/>
            </a:pPr>
            <a:r>
              <a:rPr lang="en-US" sz="2000" b="1" dirty="0">
                <a:solidFill>
                  <a:srgbClr val="1F3864"/>
                </a:solidFill>
                <a:latin typeface="Times New Roman"/>
                <a:cs typeface="Times New Roman"/>
              </a:rPr>
              <a:t>Objectives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1. To assess the level of EE (criticality &amp; emotional over-involvement) among caregivers.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2. To deliver a standardized 10-session family intervention to the experimental group.</a:t>
            </a:r>
          </a:p>
          <a:p>
            <a:pPr marL="285750" indent="-285750">
              <a:spcBef>
                <a:spcPts val="0"/>
              </a:spcBef>
              <a:spcAft>
                <a:spcPts val="300"/>
              </a:spcAft>
              <a:buFont typeface="Arial"/>
              <a:buChar char="•"/>
            </a:pPr>
            <a:r>
              <a:rPr lang="en-US" sz="1800" dirty="0">
                <a:solidFill>
                  <a:srgbClr val="000000"/>
                </a:solidFill>
                <a:latin typeface="Times New Roman"/>
                <a:cs typeface="Times New Roman"/>
              </a:rPr>
              <a:t>3. To compare pre-test &amp; post-test EE scores within and between the experimental and control (TAU) groups.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4. To evaluate the effectiveness of the family intervention in reducing EE.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Hypotheses</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Research Hypothesis (H1)</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There is a significant difference in EE scores between the experimental and control groups after the family intervention.</a:t>
            </a:r>
          </a:p>
          <a:p>
            <a:pPr marL="0" indent="0">
              <a:spcBef>
                <a:spcPts val="300"/>
              </a:spcBef>
              <a:spcAft>
                <a:spcPts val="150"/>
              </a:spcAft>
              <a:buNone/>
            </a:pPr>
            <a:r>
              <a:rPr lang="en-US" sz="2000" b="1" dirty="0">
                <a:solidFill>
                  <a:srgbClr val="1F3864"/>
                </a:solidFill>
                <a:latin typeface="Times New Roman"/>
                <a:cs typeface="Times New Roman"/>
              </a:rPr>
              <a:t>Directional Hypothesis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Caregivers who receive the family intervention will show a significantly greater reduction in EE (criticality &amp; emotional over-involvement) than caregivers receiving treatment as usual.</a:t>
            </a:r>
          </a:p>
          <a:p>
            <a:pPr marL="0" indent="0">
              <a:spcBef>
                <a:spcPts val="300"/>
              </a:spcBef>
              <a:spcAft>
                <a:spcPts val="150"/>
              </a:spcAft>
              <a:buNone/>
            </a:pPr>
            <a:r>
              <a:rPr lang="en-US" sz="2000" b="1" dirty="0">
                <a:solidFill>
                  <a:srgbClr val="1F3864"/>
                </a:solidFill>
                <a:latin typeface="Times New Roman"/>
                <a:cs typeface="Times New Roman"/>
              </a:rPr>
              <a:t>Null Hypothesis (H0)</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There is no significant difference in EE scores between the experimental and control groups; the family intervention has no effect on EE.</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Note: the original paper states an Aim; these hypotheses are framed from that aim for the journal-club presentation.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Study Design &amp; Setting</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Design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Experimental research design – a randomized, two-arm (parallel-group) controlled trial with pre-test / post-test assessment of both groups.</a:t>
            </a:r>
          </a:p>
          <a:p>
            <a:pPr marL="0" indent="0">
              <a:spcBef>
                <a:spcPts val="300"/>
              </a:spcBef>
              <a:spcAft>
                <a:spcPts val="150"/>
              </a:spcAft>
              <a:buNone/>
            </a:pPr>
            <a:r>
              <a:rPr lang="en-US" sz="2000" b="1" dirty="0">
                <a:solidFill>
                  <a:srgbClr val="1F3864"/>
                </a:solidFill>
                <a:latin typeface="Times New Roman"/>
                <a:cs typeface="Times New Roman"/>
              </a:rPr>
              <a:t>Setting &amp; duration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In-patient wards, NIMHANS, Bengaluru, India; September 2014 – November 2014.</a:t>
            </a:r>
          </a:p>
          <a:p>
            <a:pPr marL="0" indent="0">
              <a:spcBef>
                <a:spcPts val="300"/>
              </a:spcBef>
              <a:spcAft>
                <a:spcPts val="150"/>
              </a:spcAft>
              <a:buNone/>
            </a:pPr>
            <a:r>
              <a:rPr lang="en-US" sz="2000" b="1" dirty="0">
                <a:solidFill>
                  <a:srgbClr val="1F3864"/>
                </a:solidFill>
                <a:latin typeface="Times New Roman"/>
                <a:cs typeface="Times New Roman"/>
              </a:rPr>
              <a:t>Randomization &amp; blinding</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Caregivers randomly allocated to experimental or control (TAU) group using a computer-generated random list; allocation concealed until assignment.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Two blind raters (postgraduates in Social Work &amp; Psychology, &gt;5 years’ experience) trained for 2 days assessed outcomes.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Participants (Sample)</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Total sample: 80 caregivers of persons with schizophrenia.</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Experimental (intervention) group: 40 caregivers.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Control (treatment-as-usual, TAU) group: 40 caregivers.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Recruitment: case files screened by ICD-10 diagnosis → diagnosis &amp; in-patient stay confirmed with the treating psychiatrist → patient screened with MINI to exclude comorbidity → informed consent obtained.</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Note: some post-test analyses report n = 32 (control) and n = 33 (experimental), indicating attrition from the original 40 + 40.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Control Group vs Experimental Group (1)</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Experimental (Intervention) Group – n = 40</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Received treatment as usual PLUS a standardized 10-session family intervention delivered by a trained Psychiatric Social Worker over 2–3 months.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Package: 6 psychoeducation + 2 communication-training + 1 stress-management + 1 recap/referral sessions.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Methods: social case-work &amp; group-work, role plays, video clippings, case vignettes, brainstorming, and a vernacular take-home handout.</a:t>
            </a:r>
          </a:p>
          <a:p>
            <a:pPr marL="0" indent="0">
              <a:spcBef>
                <a:spcPts val="300"/>
              </a:spcBef>
              <a:spcAft>
                <a:spcPts val="150"/>
              </a:spcAft>
              <a:buNone/>
            </a:pPr>
            <a:r>
              <a:rPr lang="en-US" sz="2000" b="1" dirty="0">
                <a:solidFill>
                  <a:srgbClr val="1F3864"/>
                </a:solidFill>
                <a:latin typeface="Times New Roman"/>
                <a:cs typeface="Times New Roman"/>
              </a:rPr>
              <a:t>Control Group – Treatment As Usual (TAU) – n = 40</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Continued only with the routine hospital care provided by their respective units – no structured family intervention.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For ethical reasons, the control group was offered the intervention AFTER the post-assessment.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Control Group vs Experimental Group (2)</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Baseline comparability</a:t>
            </a:r>
          </a:p>
          <a:p>
            <a:pPr marL="285750" indent="-285750">
              <a:spcBef>
                <a:spcPts val="0"/>
              </a:spcBef>
              <a:spcAft>
                <a:spcPts val="300"/>
              </a:spcAft>
              <a:buFont typeface="Arial"/>
              <a:buChar char="•"/>
            </a:pPr>
            <a:r>
              <a:rPr lang="en-US" sz="1800" dirty="0">
                <a:solidFill>
                  <a:srgbClr val="000000"/>
                </a:solidFill>
                <a:latin typeface="Times New Roman"/>
                <a:cs typeface="Times New Roman"/>
              </a:rPr>
              <a:t>Groups were comparable at baseline on most sociodemographic variables (age, marital status, education, occupation, primary caregiver, contact frequency) – no significant differences (P &gt; 0.05).</a:t>
            </a:r>
          </a:p>
          <a:p>
            <a:pPr marL="285750" indent="-285750">
              <a:spcBef>
                <a:spcPts val="0"/>
              </a:spcBef>
              <a:spcAft>
                <a:spcPts val="300"/>
              </a:spcAft>
              <a:buFont typeface="Arial"/>
              <a:buChar char="•"/>
            </a:pPr>
            <a:r>
              <a:rPr lang="en-US" sz="1800" dirty="0">
                <a:solidFill>
                  <a:srgbClr val="000000"/>
                </a:solidFill>
                <a:latin typeface="Times New Roman"/>
                <a:cs typeface="Times New Roman"/>
              </a:rPr>
              <a:t>Only caregiver gender differed significantly (more females in the experimental group; P = 0.039).</a:t>
            </a:r>
          </a:p>
          <a:p>
            <a:pPr marL="0" indent="0">
              <a:spcBef>
                <a:spcPts val="300"/>
              </a:spcBef>
              <a:spcAft>
                <a:spcPts val="150"/>
              </a:spcAft>
              <a:buNone/>
            </a:pPr>
            <a:r>
              <a:rPr lang="en-US" sz="2000" b="1" dirty="0">
                <a:solidFill>
                  <a:srgbClr val="1F3864"/>
                </a:solidFill>
                <a:latin typeface="Times New Roman"/>
                <a:cs typeface="Times New Roman"/>
              </a:rPr>
              <a:t>What differed between the groups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The ONLY planned difference was the family-intervention package – allowing its effect on EE to be isolated.</a:t>
            </a:r>
          </a:p>
          <a:p>
            <a:pPr marL="0" indent="0">
              <a:spcBef>
                <a:spcPts val="300"/>
              </a:spcBef>
              <a:spcAft>
                <a:spcPts val="150"/>
              </a:spcAft>
              <a:buNone/>
            </a:pPr>
            <a:r>
              <a:rPr lang="en-US" sz="2000" b="1" dirty="0">
                <a:solidFill>
                  <a:srgbClr val="1F3864"/>
                </a:solidFill>
                <a:latin typeface="Times New Roman"/>
                <a:cs typeface="Times New Roman"/>
              </a:rPr>
              <a:t>Direction of change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Experimental group: EE DECREASED after intervention. Control (TAU) group: EE INCREASED over the same period – highlighting the value of the intervention.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Family Intervention – Sessions 1–6 (Psychoeducation)</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Family Psychoeducation (6 sessions)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Information about schizophrenia – symptoms, signs, course, and outcomes of the illness.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Understanding high EE – what criticality and emotional over-involvement are, and how they affect relapse.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Role of medication, adherence, and meeting the patient’s basic needs.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Reducing excessive face-to-face contact by engaging the patient in productive activity – household work, day-care / vocational training, suitable jobs, family business, agriculture, dairy, or cattle-rearing.</a:t>
            </a:r>
          </a:p>
          <a:p>
            <a:pPr marL="285750" indent="-285750">
              <a:spcBef>
                <a:spcPts val="0"/>
              </a:spcBef>
              <a:spcAft>
                <a:spcPts val="300"/>
              </a:spcAft>
              <a:buFont typeface="Arial"/>
              <a:buChar char="•"/>
            </a:pPr>
            <a:r>
              <a:rPr lang="en-US" sz="1800" dirty="0">
                <a:solidFill>
                  <a:srgbClr val="000000"/>
                </a:solidFill>
                <a:latin typeface="Times New Roman"/>
                <a:cs typeface="Times New Roman"/>
              </a:rPr>
              <a:t>Helping the patient gradually regain independence in self-care (eating, bathing, watching TV) during the caregiver’s brief absences.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Family Intervention – Sessions 7–10</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Sessions 7–8: Communication Training</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Role plays and video clippings to improve day-to-day communication with the patient.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Modifying negative emotions (criticality, hostility) toward positive, supportive interactions.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Vernacular-language handouts to reinforce communication skills.</a:t>
            </a:r>
          </a:p>
          <a:p>
            <a:pPr marL="0" indent="0">
              <a:spcBef>
                <a:spcPts val="300"/>
              </a:spcBef>
              <a:spcAft>
                <a:spcPts val="150"/>
              </a:spcAft>
              <a:buNone/>
            </a:pPr>
            <a:r>
              <a:rPr lang="en-US" sz="2000" b="1" dirty="0">
                <a:solidFill>
                  <a:srgbClr val="1F3864"/>
                </a:solidFill>
                <a:latin typeface="Times New Roman"/>
                <a:cs typeface="Times New Roman"/>
              </a:rPr>
              <a:t>Session 9: Stress Management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Identifying caregiver stressors; balanced lifestyle; sharing roles &amp; responsibilities; enhancing social support; crisis management; ‘caring for the carers’ (enjoyable activities, brief trial separations); addressing guilt.</a:t>
            </a:r>
          </a:p>
          <a:p>
            <a:pPr marL="0" indent="0">
              <a:spcBef>
                <a:spcPts val="300"/>
              </a:spcBef>
              <a:spcAft>
                <a:spcPts val="150"/>
              </a:spcAft>
              <a:buNone/>
            </a:pPr>
            <a:r>
              <a:rPr lang="en-US" sz="2000" b="1" dirty="0">
                <a:solidFill>
                  <a:srgbClr val="1F3864"/>
                </a:solidFill>
                <a:latin typeface="Times New Roman"/>
                <a:cs typeface="Times New Roman"/>
              </a:rPr>
              <a:t>Session 10: Recap &amp; Referral</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Consolidation of learning, take-home handout, and referral to appropriate services.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Outcome Measures &amp; Tools</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Primary outcome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Level of Expressed Emotion (criticality + emotional over-involvement) in caregivers.</a:t>
            </a:r>
          </a:p>
          <a:p>
            <a:pPr marL="0" indent="0">
              <a:spcBef>
                <a:spcPts val="300"/>
              </a:spcBef>
              <a:spcAft>
                <a:spcPts val="150"/>
              </a:spcAft>
              <a:buNone/>
            </a:pPr>
            <a:r>
              <a:rPr lang="en-US" sz="2000" b="1" dirty="0">
                <a:solidFill>
                  <a:srgbClr val="1F3864"/>
                </a:solidFill>
                <a:latin typeface="Times New Roman"/>
                <a:cs typeface="Times New Roman"/>
              </a:rPr>
              <a:t>1. Sociodemographic interview schedule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Semi-structured schedule (by the researcher) – personal, family, marital, occupational, income, caregiving, and illness details.</a:t>
            </a:r>
          </a:p>
          <a:p>
            <a:pPr marL="0" indent="0">
              <a:spcBef>
                <a:spcPts val="300"/>
              </a:spcBef>
              <a:spcAft>
                <a:spcPts val="150"/>
              </a:spcAft>
              <a:buNone/>
            </a:pPr>
            <a:r>
              <a:rPr lang="en-US" sz="2000" b="1" dirty="0">
                <a:solidFill>
                  <a:srgbClr val="1F3864"/>
                </a:solidFill>
                <a:latin typeface="Times New Roman"/>
                <a:cs typeface="Times New Roman"/>
              </a:rPr>
              <a:t>2. FEICS – Family Emotional Involvement &amp; Criticism Scale (Shields et al., 1992)</a:t>
            </a:r>
          </a:p>
          <a:p>
            <a:pPr marL="285750" indent="-285750">
              <a:spcBef>
                <a:spcPts val="0"/>
              </a:spcBef>
              <a:spcAft>
                <a:spcPts val="300"/>
              </a:spcAft>
              <a:buFont typeface="Arial"/>
              <a:buChar char="•"/>
            </a:pPr>
            <a:r>
              <a:rPr lang="en-US" sz="1800" dirty="0">
                <a:solidFill>
                  <a:srgbClr val="000000"/>
                </a:solidFill>
                <a:latin typeface="Times New Roman"/>
                <a:cs typeface="Times New Roman"/>
              </a:rPr>
              <a:t>14-item self-report; two dimensions – perceived criticism (even items) &amp; emotional over-involvement (odd items); 5-point Likert (almost never → almost always); higher = greater EE.</a:t>
            </a:r>
          </a:p>
          <a:p>
            <a:pPr marL="0" indent="0">
              <a:spcBef>
                <a:spcPts val="300"/>
              </a:spcBef>
              <a:spcAft>
                <a:spcPts val="150"/>
              </a:spcAft>
              <a:buNone/>
            </a:pPr>
            <a:r>
              <a:rPr lang="en-US" sz="2000" b="1" dirty="0">
                <a:solidFill>
                  <a:srgbClr val="1F3864"/>
                </a:solidFill>
                <a:latin typeface="Times New Roman"/>
                <a:cs typeface="Times New Roman"/>
              </a:rPr>
              <a:t>3. MINI 6.0 (Sheehan et al., 1998)</a:t>
            </a:r>
          </a:p>
          <a:p>
            <a:pPr marL="285750" indent="-285750">
              <a:spcBef>
                <a:spcPts val="0"/>
              </a:spcBef>
              <a:spcAft>
                <a:spcPts val="300"/>
              </a:spcAft>
              <a:buFont typeface="Arial"/>
              <a:buChar char="•"/>
            </a:pPr>
            <a:r>
              <a:rPr lang="en-US" sz="1800" dirty="0">
                <a:solidFill>
                  <a:srgbClr val="000000"/>
                </a:solidFill>
                <a:latin typeface="Times New Roman"/>
                <a:cs typeface="Times New Roman"/>
              </a:rPr>
              <a:t>Brief structured interview for major Axis-I disorders (DSM-IV / ICD-10); used to screen out comorbidity.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Analysis Plan</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Software: SPSS version 20.0.</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Repeated Measures ANOVA (RMANOVA) – compares pre-test &amp; post-test scores while simultaneously analysing the experimental and control groups (between-within design).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Paired t-test – compares pre- vs post-intervention scores within each group.</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Chi-square / independent t-tests – compare sociodemographic variables across groups at baseline.</a:t>
            </a:r>
          </a:p>
          <a:p>
            <a:pPr marL="0" indent="0">
              <a:spcBef>
                <a:spcPts val="300"/>
              </a:spcBef>
              <a:spcAft>
                <a:spcPts val="150"/>
              </a:spcAft>
              <a:buNone/>
            </a:pPr>
            <a:r>
              <a:rPr lang="en-US" sz="2000" b="1" dirty="0">
                <a:solidFill>
                  <a:srgbClr val="1F3864"/>
                </a:solidFill>
                <a:latin typeface="Times New Roman"/>
                <a:cs typeface="Times New Roman"/>
              </a:rPr>
              <a:t>Ethics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Ethical clearance from the NIMHANS institute ethics committee; voluntary participation; written informed consent; control group offered the intervention after post-assessment.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Findings (1): Sociodemographic Profile</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50% of caregivers were aged 50 years and above.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More female caregivers than male in both groups (up to 85% female in the experimental group).</a:t>
            </a:r>
          </a:p>
          <a:p>
            <a:pPr marL="285750" indent="-285750">
              <a:spcBef>
                <a:spcPts val="0"/>
              </a:spcBef>
              <a:spcAft>
                <a:spcPts val="300"/>
              </a:spcAft>
              <a:buFont typeface="Arial"/>
              <a:buChar char="•"/>
            </a:pPr>
            <a:r>
              <a:rPr lang="en-US" sz="1800" dirty="0">
                <a:solidFill>
                  <a:srgbClr val="000000"/>
                </a:solidFill>
                <a:latin typeface="Times New Roman"/>
                <a:cs typeface="Times New Roman"/>
              </a:rPr>
              <a:t>Mothers were the primary caregivers in 40% (control) and 47.5% (experimental) of cases.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92.5% of caregivers were in daily contact with the patient – high face-to-face contact.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Majority of patients were female (62.5% control; 80% experimental); mean patient age ≈31 years.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Findings (2): Control (TAU) Group</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In the control group, EE INCREASED from pre-test to post-test (no intervention):</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Total EE: pre 52.47 (SD 4.95) → post 56.72 (SD 4.52); t = −3.68; P = 0.001.</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Criticality: pre 26.13 → post 28.28; t = −3.47; P = 0.002.</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Emotional over-involvement: pre 26.34 → post 28.44; t = −3.25; P = 0.003.</a:t>
            </a:r>
          </a:p>
          <a:p>
            <a:pPr marL="285750" indent="-285750">
              <a:spcBef>
                <a:spcPts val="0"/>
              </a:spcBef>
              <a:spcAft>
                <a:spcPts val="300"/>
              </a:spcAft>
              <a:buFont typeface="Arial"/>
              <a:buChar char="•"/>
            </a:pPr>
            <a:r>
              <a:rPr lang="en-US" sz="1800" dirty="0">
                <a:solidFill>
                  <a:srgbClr val="000000"/>
                </a:solidFill>
                <a:latin typeface="Times New Roman"/>
                <a:cs typeface="Times New Roman"/>
              </a:rPr>
              <a:t>Interpretation: without a structured intervention, caregiver EE tended to WORSEN over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Findings (3): Experimental Group</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In the experimental group, EE DECREASED significantly after the intervention:</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Criticality: pre 27.45 (SD 2.89) → post 20.03 (SD 3.11); t = 10.16; P = 0.001.</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Emotional over-involvement: pre 26.39 (SD 2.86) → post 19.48 (SD 3.47); t = 8.82; P = 0.001.</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Total EE: pre 53.85 (SD 3.91) → post 39.52; t = 11.73; P = 0.001.</a:t>
            </a:r>
          </a:p>
          <a:p>
            <a:pPr marL="0" indent="0">
              <a:spcBef>
                <a:spcPts val="300"/>
              </a:spcBef>
              <a:spcAft>
                <a:spcPts val="150"/>
              </a:spcAft>
              <a:buNone/>
            </a:pPr>
            <a:r>
              <a:rPr lang="en-US" sz="2000" b="1" dirty="0">
                <a:solidFill>
                  <a:srgbClr val="1F3864"/>
                </a:solidFill>
                <a:latin typeface="Times New Roman"/>
                <a:cs typeface="Times New Roman"/>
              </a:rPr>
              <a:t>Overall between-group result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RMANOVA: F = 35.892; P = 0.001 – a significant reduction in EE for the experimental group compared with the control (TAU)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Findings (4): Interpretation</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The family intervention significantly reduced negative EE (criticism &amp; over-involvement) in caregivers.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Reducing excessive face-to-face contact and over-involvement, and helping caregivers overcome guilt, contributed to lower EE.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A skill-development approach (role plays, video clippings, participatory methods, handouts) proved more effective than routine support-group / general psychoeducation formats.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Findings corroborate Indian (Bengaluru, Chennai) and Western studies (Linszen et al., 1997; Miklowitz &amp; Goldstein, 1984).</a:t>
            </a:r>
          </a:p>
          <a:p>
            <a:pPr marL="571500" indent="-228600">
              <a:spcBef>
                <a:spcPts val="0"/>
              </a:spcBef>
              <a:spcAft>
                <a:spcPts val="300"/>
              </a:spcAft>
              <a:buFont typeface="Arial"/>
              <a:buChar char="–"/>
            </a:pPr>
            <a:r>
              <a:rPr lang="en-US" sz="1800" i="1" dirty="0">
                <a:solidFill>
                  <a:srgbClr val="333333"/>
                </a:solidFill>
                <a:latin typeface="Times New Roman"/>
                <a:cs typeface="Times New Roman"/>
              </a:rPr>
              <a:t>Caveat: FEICS measures only negative EE, not positive EE such as warmth.</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Strengths &amp; Limitations</a:t>
            </a:r>
          </a:p>
        </p:txBody>
      </p:sp>
      <p:sp>
        <p:nvSpPr>
          <p:cNvPr id="3" name="Content"/>
          <p:cNvSpPr/>
          <p:nvPr/>
        </p:nvSpPr>
        <p:spPr>
          <a:xfrm>
            <a:off x="685800" y="1150000"/>
            <a:ext cx="10820400" cy="5500000"/>
          </a:xfrm>
          <a:prstGeom prst="rect">
            <a:avLst/>
          </a:prstGeom>
        </p:spPr>
        <p:txBody>
          <a:bodyPr wrap="square" anchor="t">
            <a:normAutofit/>
          </a:bodyPr>
          <a:lstStyle/>
          <a:p>
            <a:pPr marL="0" indent="0">
              <a:spcBef>
                <a:spcPts val="300"/>
              </a:spcBef>
              <a:spcAft>
                <a:spcPts val="150"/>
              </a:spcAft>
              <a:buNone/>
            </a:pPr>
            <a:r>
              <a:rPr lang="en-US" sz="2000" b="1" dirty="0">
                <a:solidFill>
                  <a:srgbClr val="1F3864"/>
                </a:solidFill>
                <a:latin typeface="Times New Roman"/>
                <a:cs typeface="Times New Roman"/>
              </a:rPr>
              <a:t>Strengths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Randomized experimental design with a control group and blind raters.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Culturally-relevant, standardized, manualized intervention delivered in vernacular languages.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Statistically significant and clinically meaningful reduction in EE.</a:t>
            </a:r>
          </a:p>
          <a:p>
            <a:pPr marL="0" indent="0">
              <a:spcBef>
                <a:spcPts val="300"/>
              </a:spcBef>
              <a:spcAft>
                <a:spcPts val="150"/>
              </a:spcAft>
              <a:buNone/>
            </a:pPr>
            <a:r>
              <a:rPr lang="en-US" sz="2000" b="1" dirty="0">
                <a:solidFill>
                  <a:srgbClr val="1F3864"/>
                </a:solidFill>
                <a:latin typeface="Times New Roman"/>
                <a:cs typeface="Times New Roman"/>
              </a:rPr>
              <a:t>Limitations (as stated by the authors)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FEICS does not assess all domains of EE (e.g., no positive EE / warmth).</a:t>
            </a:r>
          </a:p>
          <a:p>
            <a:pPr marL="285750" indent="-285750">
              <a:spcBef>
                <a:spcPts val="0"/>
              </a:spcBef>
              <a:spcAft>
                <a:spcPts val="300"/>
              </a:spcAft>
              <a:buFont typeface="Arial"/>
              <a:buChar char="•"/>
            </a:pPr>
            <a:r>
              <a:rPr lang="en-US" sz="1800" dirty="0">
                <a:solidFill>
                  <a:srgbClr val="000000"/>
                </a:solidFill>
                <a:latin typeface="Times New Roman"/>
                <a:cs typeface="Times New Roman"/>
              </a:rPr>
              <a:t>Small sample size due to practical difficulties.</a:t>
            </a:r>
          </a:p>
          <a:p>
            <a:pPr marL="285750" indent="-285750">
              <a:spcBef>
                <a:spcPts val="0"/>
              </a:spcBef>
              <a:spcAft>
                <a:spcPts val="300"/>
              </a:spcAft>
              <a:buFont typeface="Arial"/>
              <a:buChar char="•"/>
            </a:pPr>
            <a:r>
              <a:rPr lang="en-US" sz="1800" dirty="0">
                <a:solidFill>
                  <a:srgbClr val="000000"/>
                </a:solidFill>
                <a:latin typeface="Times New Roman"/>
                <a:cs typeface="Times New Roman"/>
              </a:rPr>
              <a:t>No double-blind technique – which would have better controlled assessment and delivery biases.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Conclusion</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A family-based intervention – psychoeducation, communication training, and stress management for caregivers of persons living with schizophrenia – was effective.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It produced an overall, statistically significant decrease in Expressed Emotion among caregivers, while EE rose in the untreated control group.</a:t>
            </a:r>
          </a:p>
          <a:p>
            <a:pPr marL="285750" indent="-285750">
              <a:spcBef>
                <a:spcPts val="0"/>
              </a:spcBef>
              <a:spcAft>
                <a:spcPts val="300"/>
              </a:spcAft>
              <a:buFont typeface="Arial"/>
              <a:buChar char="•"/>
            </a:pPr>
            <a:r>
              <a:rPr lang="en-US" sz="1800" dirty="0">
                <a:solidFill>
                  <a:srgbClr val="000000"/>
                </a:solidFill>
                <a:latin typeface="Times New Roman"/>
                <a:cs typeface="Times New Roman"/>
              </a:rPr>
              <a:t>Family intervention is a feasible, culturally-appropriate strategy to reduce EE and support rehabilitation in the Indian context.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References (1): Primary Paper &amp; Concepts</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1. Shetty K. V., Math S. B., Marimuthu P., Rawat V. S. Family intervention for expressed emotion in schizophrenia: Indian context. Indian Journal of Psychiatry. 2023;65(4):453–459. DOI:10.4103/indianjpsychiatry.indianjpsychiatry_526_22.</a:t>
            </a:r>
          </a:p>
          <a:p>
            <a:pPr marL="285750" indent="-285750">
              <a:spcBef>
                <a:spcPts val="0"/>
              </a:spcBef>
              <a:spcAft>
                <a:spcPts val="300"/>
              </a:spcAft>
              <a:buFont typeface="Arial"/>
              <a:buChar char="•"/>
            </a:pPr>
            <a:r>
              <a:rPr lang="en-US" sz="1800" dirty="0">
                <a:solidFill>
                  <a:srgbClr val="000000"/>
                </a:solidFill>
                <a:latin typeface="Times New Roman"/>
                <a:cs typeface="Times New Roman"/>
              </a:rPr>
              <a:t>2. Brown G. W., Rutter M. (1966). The measurement of family activities and relationships: a methodology. Human Relations, 19(3):241–263. [Origin of the Expressed Emotion concept.]</a:t>
            </a:r>
          </a:p>
          <a:p>
            <a:pPr marL="285750" indent="-285750">
              <a:spcBef>
                <a:spcPts val="0"/>
              </a:spcBef>
              <a:spcAft>
                <a:spcPts val="300"/>
              </a:spcAft>
              <a:buFont typeface="Arial"/>
              <a:buChar char="•"/>
            </a:pPr>
            <a:r>
              <a:rPr lang="en-US" sz="1800" dirty="0">
                <a:solidFill>
                  <a:srgbClr val="000000"/>
                </a:solidFill>
                <a:latin typeface="Times New Roman"/>
                <a:cs typeface="Times New Roman"/>
              </a:rPr>
              <a:t>3. Leff J., Vaughn C. (1985). Expressed Emotion in Families: Its Significance for Mental Illness. New York: Guilford Press. [Development of EE.]</a:t>
            </a:r>
          </a:p>
          <a:p>
            <a:pPr marL="285750" indent="-285750">
              <a:spcBef>
                <a:spcPts val="0"/>
              </a:spcBef>
              <a:spcAft>
                <a:spcPts val="300"/>
              </a:spcAft>
              <a:buFont typeface="Arial"/>
              <a:buChar char="•"/>
            </a:pPr>
            <a:r>
              <a:rPr lang="en-US" sz="1800" dirty="0">
                <a:solidFill>
                  <a:srgbClr val="000000"/>
                </a:solidFill>
                <a:latin typeface="Times New Roman"/>
                <a:cs typeface="Times New Roman"/>
              </a:rPr>
              <a:t>4. Butzlaff R. L., Hooley J. M. (1998). Expressed emotion and psychiatric relapse: a meta-analysis. Archives of General Psychiatry, 55(6):547–552.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Bar"/>
          <p:cNvSpPr/>
          <p:nvPr/>
        </p:nvSpPr>
        <p:spPr>
          <a:xfrm>
            <a:off x="0" y="0"/>
            <a:ext cx="12192000" cy="1000000"/>
          </a:xfrm>
          <a:prstGeom prst="rect">
            <a:avLst/>
          </a:prstGeom>
          <a:solidFill>
            <a:srgbClr val="1F3864"/>
          </a:solidFill>
        </p:spPr>
        <p:txBody>
          <a:bodyPr wrap="square" lIns="228600" anchor="ctr">
            <a:normAutofit/>
          </a:bodyPr>
          <a:lstStyle/>
          <a:p>
            <a:pPr>
              <a:spcAft>
                <a:spcPts val="600"/>
              </a:spcAft>
              <a:buNone/>
            </a:pPr>
            <a:r>
              <a:rPr lang="en-US" sz="3000" b="1" dirty="0">
                <a:solidFill>
                  <a:srgbClr val="FFFFFF"/>
                </a:solidFill>
                <a:latin typeface="Times New Roman"/>
                <a:cs typeface="Times New Roman"/>
              </a:rPr>
              <a:t>References (2): Intervention &amp; Tools</a:t>
            </a:r>
          </a:p>
        </p:txBody>
      </p:sp>
      <p:sp>
        <p:nvSpPr>
          <p:cNvPr id="3" name="Content"/>
          <p:cNvSpPr/>
          <p:nvPr/>
        </p:nvSpPr>
        <p:spPr>
          <a:xfrm>
            <a:off x="685800" y="1150000"/>
            <a:ext cx="10820400" cy="5500000"/>
          </a:xfrm>
          <a:prstGeom prst="rect">
            <a:avLst/>
          </a:prstGeom>
        </p:spPr>
        <p:txBody>
          <a:bodyPr wrap="square" anchor="t">
            <a:normAutofit/>
          </a:bodyPr>
          <a:lstStyle/>
          <a:p>
            <a:pPr marL="285750" indent="-285750">
              <a:spcBef>
                <a:spcPts val="0"/>
              </a:spcBef>
              <a:spcAft>
                <a:spcPts val="300"/>
              </a:spcAft>
              <a:buFont typeface="Arial"/>
              <a:buChar char="•"/>
            </a:pPr>
            <a:r>
              <a:rPr lang="en-US" sz="1800" dirty="0">
                <a:solidFill>
                  <a:srgbClr val="000000"/>
                </a:solidFill>
                <a:latin typeface="Times New Roman"/>
                <a:cs typeface="Times New Roman"/>
              </a:rPr>
              <a:t>5. Anderson C. M., Hogarty G. E., Reiss D. J. (1980). Family treatment of adult schizophrenic patients: a psycho-educational approach. Schizophrenia Bulletin, 6(3):490–505. [Origin of family psychoeducation.]</a:t>
            </a:r>
          </a:p>
          <a:p>
            <a:pPr marL="285750" indent="-285750">
              <a:spcBef>
                <a:spcPts val="0"/>
              </a:spcBef>
              <a:spcAft>
                <a:spcPts val="300"/>
              </a:spcAft>
              <a:buFont typeface="Arial"/>
              <a:buChar char="•"/>
            </a:pPr>
            <a:r>
              <a:rPr lang="en-US" sz="1800" dirty="0">
                <a:solidFill>
                  <a:srgbClr val="000000"/>
                </a:solidFill>
                <a:latin typeface="Times New Roman"/>
                <a:cs typeface="Times New Roman"/>
              </a:rPr>
              <a:t>6. Shields C. G., Franks P., Harp J. J., McDaniel S. H., Campbell T. L. (1992). Development of the Family Emotional Involvement and Criticism Scale (FEICS). Journal of Marital and Family Therapy, 18(4):395–407.</a:t>
            </a:r>
          </a:p>
          <a:p>
            <a:pPr marL="285750" indent="-285750">
              <a:spcBef>
                <a:spcPts val="0"/>
              </a:spcBef>
              <a:spcAft>
                <a:spcPts val="300"/>
              </a:spcAft>
              <a:buFont typeface="Arial"/>
              <a:buChar char="•"/>
            </a:pPr>
            <a:r>
              <a:rPr lang="en-US" sz="1800" dirty="0">
                <a:solidFill>
                  <a:srgbClr val="000000"/>
                </a:solidFill>
                <a:latin typeface="Times New Roman"/>
                <a:cs typeface="Times New Roman"/>
              </a:rPr>
              <a:t>7. Sheehan D. V., Lecrubier Y., Sheehan K. H., et al. (1998). The Mini-International Neuropsychiatric Interview (M.I.N.I.). Journal of Clinical Psychiatry, 59(Suppl 20):22–33.</a:t>
            </a:r>
          </a:p>
          <a:p>
            <a:pPr marL="285750" indent="-285750">
              <a:spcBef>
                <a:spcPts val="0"/>
              </a:spcBef>
              <a:spcAft>
                <a:spcPts val="300"/>
              </a:spcAft>
              <a:buFont typeface="Arial"/>
              <a:buChar char="•"/>
            </a:pPr>
            <a:r>
              <a:rPr lang="en-US" sz="1800" dirty="0">
                <a:solidFill>
                  <a:srgbClr val="000000"/>
                </a:solidFill>
                <a:latin typeface="Times New Roman"/>
                <a:cs typeface="Times New Roman"/>
              </a:rPr>
              <a:t>8. Shetty K. V., Janardhana N., Math S. B., Marimuthu P. (2021–2022). Development/validation &amp; manual of the psychiatric social-work intervention package to reduce EE. [Intervention package used in this study.]</a:t>
            </a:r>
          </a:p>
          <a:p>
            <a:pPr marL="285750" indent="-285750">
              <a:spcBef>
                <a:spcPts val="0"/>
              </a:spcBef>
              <a:spcAft>
                <a:spcPts val="300"/>
              </a:spcAft>
              <a:buFont typeface="Arial"/>
              <a:buChar char="•"/>
            </a:pPr>
            <a:r>
              <a:rPr lang="en-US" sz="1800" dirty="0">
                <a:solidFill>
                  <a:srgbClr val="000000"/>
                </a:solidFill>
                <a:latin typeface="Times New Roman"/>
                <a:cs typeface="Times New Roman"/>
              </a:rPr>
              <a:t>9. World Health Organization. ICD-10 Classification of Mental and Behavioural Disorders. Geneva: WHO. [Diagnostic criteria.]</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914400" y="1400200"/>
            <a:ext cx="10363200" cy="2800000"/>
          </a:xfrm>
          <a:prstGeom prst="rect">
            <a:avLst/>
          </a:prstGeom>
        </p:spPr>
        <p:txBody>
          <a:bodyPr wrap="square" anchor="ctr">
            <a:normAutofit/>
          </a:bodyPr>
          <a:lstStyle/>
          <a:p>
            <a:pPr algn="ctr">
              <a:spcAft>
                <a:spcPts val="600"/>
              </a:spcAft>
              <a:buNone/>
            </a:pPr>
            <a:r>
              <a:rPr lang="en-US" sz="4000" b="1" dirty="0">
                <a:solidFill>
                  <a:srgbClr val="1F3864"/>
                </a:solidFill>
                <a:latin typeface="Times New Roman"/>
                <a:cs typeface="Times New Roman"/>
              </a:rPr>
              <a:t>Thank You</a:t>
            </a:r>
          </a:p>
        </p:txBody>
      </p:sp>
      <p:sp>
        <p:nvSpPr>
          <p:cNvPr id="3" name="Subtitle"/>
          <p:cNvSpPr/>
          <p:nvPr/>
        </p:nvSpPr>
        <p:spPr>
          <a:xfrm>
            <a:off x="914400" y="4400000"/>
            <a:ext cx="10363200" cy="2000000"/>
          </a:xfrm>
          <a:prstGeom prst="rect">
            <a:avLst/>
          </a:prstGeom>
        </p:spPr>
        <p:txBody>
          <a:bodyPr wrap="square" anchor="t">
            <a:normAutofit/>
          </a:bodyPr>
          <a:lstStyle/>
          <a:p>
            <a:pPr algn="ctr">
              <a:spcAft>
                <a:spcPts val="600"/>
              </a:spcAft>
              <a:buNone/>
            </a:pPr>
            <a:r>
              <a:rPr lang="en-US" sz="2000" dirty="0">
                <a:solidFill>
                  <a:srgbClr val="404040"/>
                </a:solidFill>
                <a:latin typeface="Times New Roman"/>
                <a:cs typeface="Times New Roman"/>
              </a:rPr>
              <a:t>Questions &amp; Discussion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3864"/>
      </a:dk2>
      <a:lt2>
        <a:srgbClr val="EEECE1"/>
      </a:lt2>
      <a:accent1>
        <a:srgbClr val="2E5395"/>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Times New Roman"/>
        <a:ea typeface=""/>
        <a:cs typeface=""/>
      </a:majorFont>
      <a:minorFont>
        <a:latin typeface="Times New Roman"/>
        <a:ea typeface=""/>
        <a:cs typeface=""/>
      </a:minorFont>
    </a:fontScheme>
    <a:fmtScheme name="Office">
      <a:fillStyleLst>
        <a:solidFill>
          <a:schemeClr val="phClr"/>
        </a:solidFill>
        <a:solidFill>
          <a:schemeClr val="phClr"/>
        </a:solidFill>
        <a:solidFill>
          <a:schemeClr val="phClr"/>
        </a:solidFill>
      </a:fillStyleLst>
      <a:lnStyleLst>
        <a:ln>
          <a:solidFill>
            <a:schemeClr val="phClr"/>
          </a:solidFill>
        </a:ln>
        <a:ln>
          <a:solidFill>
            <a:schemeClr val="phClr"/>
          </a:solidFill>
        </a:ln>
        <a:ln>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