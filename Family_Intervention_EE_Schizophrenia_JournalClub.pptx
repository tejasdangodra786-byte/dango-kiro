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Theme" Type="http://schemas.openxmlformats.org/officeDocument/2006/relationships/theme" Target="theme/theme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914400" y="1600200"/>
            <a:ext cx="10363200" cy="2600000"/>
          </a:xfrm>
          <a:prstGeom prst="rect">
            <a:avLst/>
          </a:prstGeom>
        </p:spPr>
        <p:txBody>
          <a:bodyPr wrap="square" anchor="ctr">
            <a:normAutofit/>
          </a:bodyPr>
          <a:lstStyle/>
          <a:p>
            <a:pPr algn="ctr">
              <a:spcAft>
                <a:spcPts val="600"/>
              </a:spcAft>
              <a:buNone/>
            </a:pPr>
            <a:r>
              <a:rPr lang="en-US" sz="3200" b="1" dirty="0">
                <a:solidFill>
                  <a:srgbClr val="1F3864"/>
                </a:solidFill>
                <a:latin typeface="Times New Roman"/>
                <a:cs typeface="Times New Roman"/>
              </a:rPr>
              <a:t>Family Intervention for Expressed Emotion in Schizophrenia: Indian Context</a:t>
            </a:r>
          </a:p>
        </p:txBody>
      </p:sp>
      <p:sp>
        <p:nvSpPr>
          <p:cNvPr id="3" name="Subtitle"/>
          <p:cNvSpPr/>
          <p:nvPr/>
        </p:nvSpPr>
        <p:spPr>
          <a:xfrm>
            <a:off x="914400" y="4300000"/>
            <a:ext cx="10363200" cy="2000000"/>
          </a:xfrm>
          <a:prstGeom prst="rect">
            <a:avLst/>
          </a:prstGeom>
        </p:spPr>
        <p:txBody>
          <a:bodyPr wrap="square" anchor="t">
            <a:normAutofit/>
          </a:bodyPr>
          <a:lstStyle/>
          <a:p>
            <a:pPr algn="ctr">
              <a:spcAft>
                <a:spcPts val="600"/>
              </a:spcAft>
              <a:buNone/>
            </a:pPr>
            <a:r>
              <a:rPr lang="en-US" sz="1400" dirty="0">
                <a:solidFill>
                  <a:srgbClr val="404040"/>
                </a:solidFill>
                <a:latin typeface="Times New Roman"/>
                <a:cs typeface="Times New Roman"/>
              </a:rPr>
              <a:t>Shetty K. V., Math S. B., Marimuthu P., Rawat V. S.</a:t>
            </a:r>
          </a:p>
          <a:p>
            <a:pPr algn="ctr">
              <a:spcAft>
                <a:spcPts val="600"/>
              </a:spcAft>
              <a:buNone/>
            </a:pPr>
            <a:r>
              <a:rPr lang="en-US" sz="1400" dirty="0">
                <a:solidFill>
                  <a:srgbClr val="404040"/>
                </a:solidFill>
                <a:latin typeface="Times New Roman"/>
                <a:cs typeface="Times New Roman"/>
              </a:rPr>
              <a:t>Indian Journal of Psychiatry, 2023; 65(4): 453–459</a:t>
            </a:r>
          </a:p>
          <a:p>
            <a:pPr algn="ctr">
              <a:spcAft>
                <a:spcPts val="600"/>
              </a:spcAft>
              <a:buNone/>
            </a:pPr>
            <a:r>
              <a:rPr lang="en-US" sz="1400" dirty="0">
                <a:solidFill>
                  <a:srgbClr val="404040"/>
                </a:solidFill>
                <a:latin typeface="Times New Roman"/>
                <a:cs typeface="Times New Roman"/>
              </a:rPr>
              <a:t>DOI: 10.4103/indianjpsychiatry.indianjpsychiatry_526_22</a:t>
            </a:r>
          </a:p>
          <a:p>
            <a:pPr algn="ctr">
              <a:spcAft>
                <a:spcPts val="600"/>
              </a:spcAft>
              <a:buNone/>
            </a:pPr>
          </a:p>
          <a:p>
            <a:pPr algn="ctr">
              <a:spcAft>
                <a:spcPts val="600"/>
              </a:spcAft>
              <a:buNone/>
            </a:pPr>
            <a:r>
              <a:rPr lang="en-US" sz="1400" dirty="0">
                <a:solidFill>
                  <a:srgbClr val="404040"/>
                </a:solidFill>
                <a:latin typeface="Times New Roman"/>
                <a:cs typeface="Times New Roman"/>
              </a:rPr>
              <a:t>Journal Club Presentation – Clinical Psychology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Presentation Outline</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Introduction &amp; background of the study</a:t>
            </a:r>
          </a:p>
          <a:p>
            <a:pPr marL="285750" indent="-285750">
              <a:spcBef>
                <a:spcPts val="0"/>
              </a:spcBef>
              <a:spcAft>
                <a:spcPts val="300"/>
              </a:spcAft>
              <a:buFont typeface="Arial"/>
              <a:buChar char="•"/>
            </a:pPr>
            <a:r>
              <a:rPr lang="en-US" sz="1200" dirty="0">
                <a:solidFill>
                  <a:srgbClr val="000000"/>
                </a:solidFill>
                <a:latin typeface="Times New Roman"/>
                <a:cs typeface="Times New Roman"/>
              </a:rPr>
              <a:t>Operational definitions of all study variables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Clinical / research gap</a:t>
            </a:r>
          </a:p>
          <a:p>
            <a:pPr marL="285750" indent="-285750">
              <a:spcBef>
                <a:spcPts val="0"/>
              </a:spcBef>
              <a:spcAft>
                <a:spcPts val="300"/>
              </a:spcAft>
              <a:buFont typeface="Arial"/>
              <a:buChar char="•"/>
            </a:pPr>
            <a:r>
              <a:rPr lang="en-US" sz="1200" dirty="0">
                <a:solidFill>
                  <a:srgbClr val="000000"/>
                </a:solidFill>
                <a:latin typeface="Times New Roman"/>
                <a:cs typeface="Times New Roman"/>
              </a:rPr>
              <a:t>Rationale of the study</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Aim &amp; objectives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Hypotheses (research, directional &amp; null)</a:t>
            </a:r>
          </a:p>
          <a:p>
            <a:pPr marL="285750" indent="-285750">
              <a:spcBef>
                <a:spcPts val="0"/>
              </a:spcBef>
              <a:spcAft>
                <a:spcPts val="300"/>
              </a:spcAft>
              <a:buFont typeface="Arial"/>
              <a:buChar char="•"/>
            </a:pPr>
            <a:r>
              <a:rPr lang="en-US" sz="1200" dirty="0">
                <a:solidFill>
                  <a:srgbClr val="000000"/>
                </a:solidFill>
                <a:latin typeface="Times New Roman"/>
                <a:cs typeface="Times New Roman"/>
              </a:rPr>
              <a:t>Study design, participants &amp; eligibility criteria</a:t>
            </a:r>
          </a:p>
          <a:p>
            <a:pPr marL="285750" indent="-285750">
              <a:spcBef>
                <a:spcPts val="0"/>
              </a:spcBef>
              <a:spcAft>
                <a:spcPts val="300"/>
              </a:spcAft>
              <a:buFont typeface="Arial"/>
              <a:buChar char="•"/>
            </a:pPr>
            <a:r>
              <a:rPr lang="en-US" sz="1200" dirty="0">
                <a:solidFill>
                  <a:srgbClr val="000000"/>
                </a:solidFill>
                <a:latin typeface="Times New Roman"/>
                <a:cs typeface="Times New Roman"/>
              </a:rPr>
              <a:t>The family intervention – session by session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Outcome measures &amp; assessment tools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Analysis plan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Results / findings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Strengths &amp; limitations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Conclusion &amp; references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Introduction (1): Family &amp; Schizophrenia</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Family is an important, multifunctional social entity that fulfils the emotional and socializing needs of its members; its functioning can be affected by a member’s chronic health condition.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In India, most persons with schizophrenia live with and rely on their family members for emotional support, assistance, housing, safety, and advocacy – unlike in Western countries.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The comparatively better prognosis of schizophrenia in Asian countries is attributed partly to this strong family support.</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 person with schizophrenia may develop symptoms distressing to the family, leading to crises, uncertainty, and over-burden – compounded by varying attitudes among family members.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Introduction (2): The Problem of High EE</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Caregivers may be unsympathetic or judgmental, interpreting the patient’s bizarre behaviours as intentional → the family develops high Expressed Emotion (EE).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Attempts to resolve difficulties may instead produce guilt, family isolation, or compensatory over-involvement; stigma further worsens the situation.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EE is a robust predictor of relapse in schizophrenia (Butzlaff &amp; Hooley, 1998).</a:t>
            </a:r>
          </a:p>
          <a:p>
            <a:pPr marL="285750" indent="-285750">
              <a:spcBef>
                <a:spcPts val="0"/>
              </a:spcBef>
              <a:spcAft>
                <a:spcPts val="300"/>
              </a:spcAft>
              <a:buFont typeface="Arial"/>
              <a:buChar char="•"/>
            </a:pPr>
            <a:r>
              <a:rPr lang="en-US" sz="1200" dirty="0">
                <a:solidFill>
                  <a:srgbClr val="000000"/>
                </a:solidFill>
                <a:latin typeface="Times New Roman"/>
                <a:cs typeface="Times New Roman"/>
              </a:rPr>
              <a:t>EE is not a fixed trait – many caregivers change EE status within 12 months, usually from high to low, which makes it a modifiable target for intervention.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Family response to mental illness varies with culture, region, perception, and language – hence the need for a culturally-relevant, Indian family intervention.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Operational Definitions (1)</a:t>
            </a:r>
          </a:p>
        </p:txBody>
      </p:sp>
      <p:sp>
        <p:nvSpPr>
          <p:cNvPr id="3" name="Content"/>
          <p:cNvSpPr/>
          <p:nvPr/>
        </p:nvSpPr>
        <p:spPr>
          <a:xfrm>
            <a:off x="685800" y="1050000"/>
            <a:ext cx="10820400" cy="5600000"/>
          </a:xfrm>
          <a:prstGeom prst="rect">
            <a:avLst/>
          </a:prstGeom>
        </p:spPr>
        <p:txBody>
          <a:bodyPr wrap="square" anchor="t">
            <a:normAutofit/>
          </a:bodyPr>
          <a:lstStyle/>
          <a:p>
            <a:pPr marL="0" indent="0">
              <a:spcBef>
                <a:spcPts val="300"/>
              </a:spcBef>
              <a:spcAft>
                <a:spcPts val="150"/>
              </a:spcAft>
              <a:buNone/>
            </a:pPr>
            <a:r>
              <a:rPr lang="en-US" sz="1200" b="1" dirty="0">
                <a:solidFill>
                  <a:srgbClr val="1F3864"/>
                </a:solidFill>
                <a:latin typeface="Times New Roman"/>
                <a:cs typeface="Times New Roman"/>
              </a:rPr>
              <a:t>Schizophrenia</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 chronic, severe mental disorder marked by disturbances in thought, perception, emotion, and behaviour; in this study diagnosed using ICD-10 criteria (WHO).</a:t>
            </a:r>
          </a:p>
          <a:p>
            <a:pPr marL="0" indent="0">
              <a:spcBef>
                <a:spcPts val="300"/>
              </a:spcBef>
              <a:spcAft>
                <a:spcPts val="150"/>
              </a:spcAft>
              <a:buNone/>
            </a:pPr>
            <a:r>
              <a:rPr lang="en-US" sz="1200" b="1" dirty="0">
                <a:solidFill>
                  <a:srgbClr val="1F3864"/>
                </a:solidFill>
                <a:latin typeface="Times New Roman"/>
                <a:cs typeface="Times New Roman"/>
              </a:rPr>
              <a:t>Caregiver</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 family member living with and providing care to the person with schizophrenia; aged ≥18 years; the primary source of emotional and practical support.</a:t>
            </a:r>
          </a:p>
          <a:p>
            <a:pPr marL="0" indent="0">
              <a:spcBef>
                <a:spcPts val="300"/>
              </a:spcBef>
              <a:spcAft>
                <a:spcPts val="150"/>
              </a:spcAft>
              <a:buNone/>
            </a:pPr>
            <a:r>
              <a:rPr lang="en-US" sz="1200" b="1" dirty="0">
                <a:solidFill>
                  <a:srgbClr val="1F3864"/>
                </a:solidFill>
                <a:latin typeface="Times New Roman"/>
                <a:cs typeface="Times New Roman"/>
              </a:rPr>
              <a:t>Expressed Emotion (EE)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 measure of the family emotional climate – the attitudes of criticism, hostility, and emotional over-involvement expressed by relatives toward the patient (concept coined by Brown &amp; Rutter, 1966; developed by Leff &amp; Vaughn, 1985).</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Operational Definitions (2): EE Components</a:t>
            </a:r>
          </a:p>
        </p:txBody>
      </p:sp>
      <p:sp>
        <p:nvSpPr>
          <p:cNvPr id="3" name="Content"/>
          <p:cNvSpPr/>
          <p:nvPr/>
        </p:nvSpPr>
        <p:spPr>
          <a:xfrm>
            <a:off x="685800" y="1050000"/>
            <a:ext cx="10820400" cy="5600000"/>
          </a:xfrm>
          <a:prstGeom prst="rect">
            <a:avLst/>
          </a:prstGeom>
        </p:spPr>
        <p:txBody>
          <a:bodyPr wrap="square" anchor="t">
            <a:normAutofit/>
          </a:bodyPr>
          <a:lstStyle/>
          <a:p>
            <a:pPr marL="0" indent="0">
              <a:spcBef>
                <a:spcPts val="300"/>
              </a:spcBef>
              <a:spcAft>
                <a:spcPts val="150"/>
              </a:spcAft>
              <a:buNone/>
            </a:pPr>
            <a:r>
              <a:rPr lang="en-US" sz="1200" b="1" dirty="0">
                <a:solidFill>
                  <a:srgbClr val="1F3864"/>
                </a:solidFill>
                <a:latin typeface="Times New Roman"/>
                <a:cs typeface="Times New Roman"/>
              </a:rPr>
              <a:t>Perceived Criticism (Criticality)</a:t>
            </a:r>
          </a:p>
          <a:p>
            <a:pPr marL="285750" indent="-285750">
              <a:spcBef>
                <a:spcPts val="0"/>
              </a:spcBef>
              <a:spcAft>
                <a:spcPts val="300"/>
              </a:spcAft>
              <a:buFont typeface="Arial"/>
              <a:buChar char="•"/>
            </a:pPr>
            <a:r>
              <a:rPr lang="en-US" sz="1200" dirty="0">
                <a:solidFill>
                  <a:srgbClr val="000000"/>
                </a:solidFill>
                <a:latin typeface="Times New Roman"/>
                <a:cs typeface="Times New Roman"/>
              </a:rPr>
              <a:t>Negative, disapproving statements or attitudes expressed by the caregiver about the patient’s behaviour – the “critical comments / hostility” dimension of EE.</a:t>
            </a:r>
          </a:p>
          <a:p>
            <a:pPr marL="0" indent="0">
              <a:spcBef>
                <a:spcPts val="300"/>
              </a:spcBef>
              <a:spcAft>
                <a:spcPts val="150"/>
              </a:spcAft>
              <a:buNone/>
            </a:pPr>
            <a:r>
              <a:rPr lang="en-US" sz="1200" b="1" dirty="0">
                <a:solidFill>
                  <a:srgbClr val="1F3864"/>
                </a:solidFill>
                <a:latin typeface="Times New Roman"/>
                <a:cs typeface="Times New Roman"/>
              </a:rPr>
              <a:t>Emotional Over-Involvement (EOI)</a:t>
            </a:r>
          </a:p>
          <a:p>
            <a:pPr marL="285750" indent="-285750">
              <a:spcBef>
                <a:spcPts val="0"/>
              </a:spcBef>
              <a:spcAft>
                <a:spcPts val="300"/>
              </a:spcAft>
              <a:buFont typeface="Arial"/>
              <a:buChar char="•"/>
            </a:pPr>
            <a:r>
              <a:rPr lang="en-US" sz="1200" dirty="0">
                <a:solidFill>
                  <a:srgbClr val="000000"/>
                </a:solidFill>
                <a:latin typeface="Times New Roman"/>
                <a:cs typeface="Times New Roman"/>
              </a:rPr>
              <a:t>Exaggerated emotional response, over-protectiveness, self-sacrifice, or intrusiveness by the caregiver; it undermines the patient’s skills and confidence and fosters long-term dependency.</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In this study EE = Criticality + Emotional Over-Involvement (negative EE only; the FEICS scale does not measure positive EE such as warmth).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Operational Definitions (3): The Intervention</a:t>
            </a:r>
          </a:p>
        </p:txBody>
      </p:sp>
      <p:sp>
        <p:nvSpPr>
          <p:cNvPr id="3" name="Content"/>
          <p:cNvSpPr/>
          <p:nvPr/>
        </p:nvSpPr>
        <p:spPr>
          <a:xfrm>
            <a:off x="685800" y="1050000"/>
            <a:ext cx="10820400" cy="5600000"/>
          </a:xfrm>
          <a:prstGeom prst="rect">
            <a:avLst/>
          </a:prstGeom>
        </p:spPr>
        <p:txBody>
          <a:bodyPr wrap="square" anchor="t">
            <a:normAutofit/>
          </a:bodyPr>
          <a:lstStyle/>
          <a:p>
            <a:pPr marL="0" indent="0">
              <a:spcBef>
                <a:spcPts val="300"/>
              </a:spcBef>
              <a:spcAft>
                <a:spcPts val="150"/>
              </a:spcAft>
              <a:buNone/>
            </a:pPr>
            <a:r>
              <a:rPr lang="en-US" sz="1200" b="1" dirty="0">
                <a:solidFill>
                  <a:srgbClr val="1F3864"/>
                </a:solidFill>
                <a:latin typeface="Times New Roman"/>
                <a:cs typeface="Times New Roman"/>
              </a:rPr>
              <a:t>Family Intervention / Psychosocial Intervention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 structured, professionally-delivered programme for caregivers that aims to reduce high EE and improve the family environment for rehabilitation.</a:t>
            </a:r>
          </a:p>
          <a:p>
            <a:pPr marL="0" indent="0">
              <a:spcBef>
                <a:spcPts val="300"/>
              </a:spcBef>
              <a:spcAft>
                <a:spcPts val="150"/>
              </a:spcAft>
              <a:buNone/>
            </a:pPr>
            <a:r>
              <a:rPr lang="en-US" sz="1200" b="1" dirty="0">
                <a:solidFill>
                  <a:srgbClr val="1F3864"/>
                </a:solidFill>
                <a:latin typeface="Times New Roman"/>
                <a:cs typeface="Times New Roman"/>
              </a:rPr>
              <a:t>Family Psychoeducation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 structured approach providing information about the illness, problem-solving, communication skills, and self-assertiveness – term first used by Anderson &amp; Hogarty (1980).</a:t>
            </a:r>
          </a:p>
          <a:p>
            <a:pPr marL="0" indent="0">
              <a:spcBef>
                <a:spcPts val="300"/>
              </a:spcBef>
              <a:spcAft>
                <a:spcPts val="150"/>
              </a:spcAft>
              <a:buNone/>
            </a:pPr>
            <a:r>
              <a:rPr lang="en-US" sz="1200" b="1" dirty="0">
                <a:solidFill>
                  <a:srgbClr val="1F3864"/>
                </a:solidFill>
                <a:latin typeface="Times New Roman"/>
                <a:cs typeface="Times New Roman"/>
              </a:rPr>
              <a:t>Communication Training / Stress Management</a:t>
            </a:r>
          </a:p>
          <a:p>
            <a:pPr marL="285750" indent="-285750">
              <a:spcBef>
                <a:spcPts val="0"/>
              </a:spcBef>
              <a:spcAft>
                <a:spcPts val="300"/>
              </a:spcAft>
              <a:buFont typeface="Arial"/>
              <a:buChar char="•"/>
            </a:pPr>
            <a:r>
              <a:rPr lang="en-US" sz="1200" dirty="0">
                <a:solidFill>
                  <a:srgbClr val="000000"/>
                </a:solidFill>
                <a:latin typeface="Times New Roman"/>
                <a:cs typeface="Times New Roman"/>
              </a:rPr>
              <a:t>Skills-based components teaching caregivers effective communication and coping/stress-reduction strategies, delivered here through social case-work and group-work methods.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Clinical / Research Gap</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EE has been studied largely in Western settings; family responses differ by culture, region, and language, so Western findings may not transfer directly to India.</a:t>
            </a:r>
          </a:p>
          <a:p>
            <a:pPr marL="285750" indent="-285750">
              <a:spcBef>
                <a:spcPts val="0"/>
              </a:spcBef>
              <a:spcAft>
                <a:spcPts val="300"/>
              </a:spcAft>
              <a:buFont typeface="Arial"/>
              <a:buChar char="•"/>
            </a:pPr>
            <a:r>
              <a:rPr lang="en-US" sz="1200" dirty="0">
                <a:solidFill>
                  <a:srgbClr val="000000"/>
                </a:solidFill>
                <a:latin typeface="Times New Roman"/>
                <a:cs typeface="Times New Roman"/>
              </a:rPr>
              <a:t>Existing Indian programmes were largely generic support-group or psychoeducation formats, not a structured, skill-based EE-reduction package.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There are NO standardized, exclusive family-intervention programmes for EE in India.</a:t>
            </a:r>
          </a:p>
          <a:p>
            <a:pPr marL="285750" indent="-285750">
              <a:spcBef>
                <a:spcPts val="0"/>
              </a:spcBef>
              <a:spcAft>
                <a:spcPts val="300"/>
              </a:spcAft>
              <a:buFont typeface="Arial"/>
              <a:buChar char="•"/>
            </a:pPr>
            <a:r>
              <a:rPr lang="en-US" sz="1200" dirty="0">
                <a:solidFill>
                  <a:srgbClr val="000000"/>
                </a:solidFill>
                <a:latin typeface="Times New Roman"/>
                <a:cs typeface="Times New Roman"/>
              </a:rPr>
              <a:t>Unresolved questions in the literature: “Is high EE a significant predictor of relapse?” and “Is EE linked with caregiver’s knowledge about the illness?”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Hence a culturally-appropriate, standardized family intervention needed to be developed and tested – the gap this study addresses.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Rationale of the Study</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High EE (criticism + over-involvement) adversely affects the course and outcome of schizophrenia and predicts relapse.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EE is modifiable – enhancing caregivers’ knowledge can lower EE and create a favourable rehabilitation environment.</a:t>
            </a:r>
          </a:p>
          <a:p>
            <a:pPr marL="285750" indent="-285750">
              <a:spcBef>
                <a:spcPts val="0"/>
              </a:spcBef>
              <a:spcAft>
                <a:spcPts val="300"/>
              </a:spcAft>
              <a:buFont typeface="Arial"/>
              <a:buChar char="•"/>
            </a:pPr>
            <a:r>
              <a:rPr lang="en-US" sz="1200" dirty="0">
                <a:solidFill>
                  <a:srgbClr val="000000"/>
                </a:solidFill>
                <a:latin typeface="Times New Roman"/>
                <a:cs typeface="Times New Roman"/>
              </a:rPr>
              <a:t>In India, families are the principal care providers, so equipping them is the most sustainable, culturally-relevant point of intervention.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 structured skill-development package (vs. routine care) was expected to be more effective in reducing EE.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Therefore, this study aimed to develop and evaluate a standardized family intervention to reduce EE among caregivers of persons with schizophrenia.</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Aim &amp; Objectives</a:t>
            </a:r>
          </a:p>
        </p:txBody>
      </p:sp>
      <p:sp>
        <p:nvSpPr>
          <p:cNvPr id="3" name="Content"/>
          <p:cNvSpPr/>
          <p:nvPr/>
        </p:nvSpPr>
        <p:spPr>
          <a:xfrm>
            <a:off x="685800" y="1050000"/>
            <a:ext cx="10820400" cy="5600000"/>
          </a:xfrm>
          <a:prstGeom prst="rect">
            <a:avLst/>
          </a:prstGeom>
        </p:spPr>
        <p:txBody>
          <a:bodyPr wrap="square" anchor="t">
            <a:normAutofit/>
          </a:bodyPr>
          <a:lstStyle/>
          <a:p>
            <a:pPr marL="0" indent="0">
              <a:spcBef>
                <a:spcPts val="300"/>
              </a:spcBef>
              <a:spcAft>
                <a:spcPts val="150"/>
              </a:spcAft>
              <a:buNone/>
            </a:pPr>
            <a:r>
              <a:rPr lang="en-US" sz="1200" b="1" dirty="0">
                <a:solidFill>
                  <a:srgbClr val="1F3864"/>
                </a:solidFill>
                <a:latin typeface="Times New Roman"/>
                <a:cs typeface="Times New Roman"/>
              </a:rPr>
              <a:t>Aim</a:t>
            </a:r>
          </a:p>
          <a:p>
            <a:pPr marL="285750" indent="-285750">
              <a:spcBef>
                <a:spcPts val="0"/>
              </a:spcBef>
              <a:spcAft>
                <a:spcPts val="300"/>
              </a:spcAft>
              <a:buFont typeface="Arial"/>
              <a:buChar char="•"/>
            </a:pPr>
            <a:r>
              <a:rPr lang="en-US" sz="1200" dirty="0">
                <a:solidFill>
                  <a:srgbClr val="000000"/>
                </a:solidFill>
                <a:latin typeface="Times New Roman"/>
                <a:cs typeface="Times New Roman"/>
              </a:rPr>
              <a:t>To assess the effects of family intervention among the caregivers of persons with schizophrenia.</a:t>
            </a:r>
          </a:p>
          <a:p>
            <a:pPr marL="0" indent="0">
              <a:spcBef>
                <a:spcPts val="300"/>
              </a:spcBef>
              <a:spcAft>
                <a:spcPts val="150"/>
              </a:spcAft>
              <a:buNone/>
            </a:pPr>
            <a:r>
              <a:rPr lang="en-US" sz="1200" b="1" dirty="0">
                <a:solidFill>
                  <a:srgbClr val="1F3864"/>
                </a:solidFill>
                <a:latin typeface="Times New Roman"/>
                <a:cs typeface="Times New Roman"/>
              </a:rPr>
              <a:t>Objectives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1. To assess the level of Expressed Emotion (criticality and emotional over-involvement) among caregivers of persons with schizophrenia.</a:t>
            </a:r>
          </a:p>
          <a:p>
            <a:pPr marL="285750" indent="-285750">
              <a:spcBef>
                <a:spcPts val="0"/>
              </a:spcBef>
              <a:spcAft>
                <a:spcPts val="300"/>
              </a:spcAft>
              <a:buFont typeface="Arial"/>
              <a:buChar char="•"/>
            </a:pPr>
            <a:r>
              <a:rPr lang="en-US" sz="1200" dirty="0">
                <a:solidFill>
                  <a:srgbClr val="000000"/>
                </a:solidFill>
                <a:latin typeface="Times New Roman"/>
                <a:cs typeface="Times New Roman"/>
              </a:rPr>
              <a:t>2. To deliver a standardized 10-session family intervention programme to the caregivers in the intervention group.</a:t>
            </a:r>
          </a:p>
          <a:p>
            <a:pPr marL="285750" indent="-285750">
              <a:spcBef>
                <a:spcPts val="0"/>
              </a:spcBef>
              <a:spcAft>
                <a:spcPts val="300"/>
              </a:spcAft>
              <a:buFont typeface="Arial"/>
              <a:buChar char="•"/>
            </a:pPr>
            <a:r>
              <a:rPr lang="en-US" sz="1200" dirty="0">
                <a:solidFill>
                  <a:srgbClr val="000000"/>
                </a:solidFill>
                <a:latin typeface="Times New Roman"/>
                <a:cs typeface="Times New Roman"/>
              </a:rPr>
              <a:t>3. To compare pre-test and post-test EE scores within and between the intervention and control (treatment-as-usual) groups.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4. To evaluate the effectiveness of the family intervention in reducing EE.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Hypotheses</a:t>
            </a:r>
          </a:p>
        </p:txBody>
      </p:sp>
      <p:sp>
        <p:nvSpPr>
          <p:cNvPr id="3" name="Content"/>
          <p:cNvSpPr/>
          <p:nvPr/>
        </p:nvSpPr>
        <p:spPr>
          <a:xfrm>
            <a:off x="685800" y="1050000"/>
            <a:ext cx="10820400" cy="5600000"/>
          </a:xfrm>
          <a:prstGeom prst="rect">
            <a:avLst/>
          </a:prstGeom>
        </p:spPr>
        <p:txBody>
          <a:bodyPr wrap="square" anchor="t">
            <a:normAutofit/>
          </a:bodyPr>
          <a:lstStyle/>
          <a:p>
            <a:pPr marL="0" indent="0">
              <a:spcBef>
                <a:spcPts val="300"/>
              </a:spcBef>
              <a:spcAft>
                <a:spcPts val="150"/>
              </a:spcAft>
              <a:buNone/>
            </a:pPr>
            <a:r>
              <a:rPr lang="en-US" sz="1200" b="1" dirty="0">
                <a:solidFill>
                  <a:srgbClr val="1F3864"/>
                </a:solidFill>
                <a:latin typeface="Times New Roman"/>
                <a:cs typeface="Times New Roman"/>
              </a:rPr>
              <a:t>Research Hypothesis (H1)</a:t>
            </a:r>
          </a:p>
          <a:p>
            <a:pPr marL="285750" indent="-285750">
              <a:spcBef>
                <a:spcPts val="0"/>
              </a:spcBef>
              <a:spcAft>
                <a:spcPts val="300"/>
              </a:spcAft>
              <a:buFont typeface="Arial"/>
              <a:buChar char="•"/>
            </a:pPr>
            <a:r>
              <a:rPr lang="en-US" sz="1200" dirty="0">
                <a:solidFill>
                  <a:srgbClr val="000000"/>
                </a:solidFill>
                <a:latin typeface="Times New Roman"/>
                <a:cs typeface="Times New Roman"/>
              </a:rPr>
              <a:t>There is a significant difference in EE scores between the intervention and control groups after the family intervention.</a:t>
            </a:r>
          </a:p>
          <a:p>
            <a:pPr marL="0" indent="0">
              <a:spcBef>
                <a:spcPts val="300"/>
              </a:spcBef>
              <a:spcAft>
                <a:spcPts val="150"/>
              </a:spcAft>
              <a:buNone/>
            </a:pPr>
            <a:r>
              <a:rPr lang="en-US" sz="1200" b="1" dirty="0">
                <a:solidFill>
                  <a:srgbClr val="1F3864"/>
                </a:solidFill>
                <a:latin typeface="Times New Roman"/>
                <a:cs typeface="Times New Roman"/>
              </a:rPr>
              <a:t>Directional Hypothesis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Caregivers who receive the family intervention will show a significantly greater reduction in EE (criticality and emotional over-involvement) than caregivers receiving treatment as usual.</a:t>
            </a:r>
          </a:p>
          <a:p>
            <a:pPr marL="0" indent="0">
              <a:spcBef>
                <a:spcPts val="300"/>
              </a:spcBef>
              <a:spcAft>
                <a:spcPts val="150"/>
              </a:spcAft>
              <a:buNone/>
            </a:pPr>
            <a:r>
              <a:rPr lang="en-US" sz="1200" b="1" dirty="0">
                <a:solidFill>
                  <a:srgbClr val="1F3864"/>
                </a:solidFill>
                <a:latin typeface="Times New Roman"/>
                <a:cs typeface="Times New Roman"/>
              </a:rPr>
              <a:t>Null Hypothesis (H0)</a:t>
            </a:r>
          </a:p>
          <a:p>
            <a:pPr marL="285750" indent="-285750">
              <a:spcBef>
                <a:spcPts val="0"/>
              </a:spcBef>
              <a:spcAft>
                <a:spcPts val="300"/>
              </a:spcAft>
              <a:buFont typeface="Arial"/>
              <a:buChar char="•"/>
            </a:pPr>
            <a:r>
              <a:rPr lang="en-US" sz="1200" dirty="0">
                <a:solidFill>
                  <a:srgbClr val="000000"/>
                </a:solidFill>
                <a:latin typeface="Times New Roman"/>
                <a:cs typeface="Times New Roman"/>
              </a:rPr>
              <a:t>There is no significant difference in the EE scores of caregivers in the intervention group compared with the control group; the family intervention has no effect on EE.</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Note: the original paper states an Aim; these hypotheses are framed from that aim for the journal-club presentation.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Study Design &amp; Setting</a:t>
            </a:r>
          </a:p>
        </p:txBody>
      </p:sp>
      <p:sp>
        <p:nvSpPr>
          <p:cNvPr id="3" name="Content"/>
          <p:cNvSpPr/>
          <p:nvPr/>
        </p:nvSpPr>
        <p:spPr>
          <a:xfrm>
            <a:off x="685800" y="1050000"/>
            <a:ext cx="10820400" cy="5600000"/>
          </a:xfrm>
          <a:prstGeom prst="rect">
            <a:avLst/>
          </a:prstGeom>
        </p:spPr>
        <p:txBody>
          <a:bodyPr wrap="square" anchor="t">
            <a:normAutofit/>
          </a:bodyPr>
          <a:lstStyle/>
          <a:p>
            <a:pPr marL="0" indent="0">
              <a:spcBef>
                <a:spcPts val="300"/>
              </a:spcBef>
              <a:spcAft>
                <a:spcPts val="150"/>
              </a:spcAft>
              <a:buNone/>
            </a:pPr>
            <a:r>
              <a:rPr lang="en-US" sz="1200" b="1" dirty="0">
                <a:solidFill>
                  <a:srgbClr val="1F3864"/>
                </a:solidFill>
                <a:latin typeface="Times New Roman"/>
                <a:cs typeface="Times New Roman"/>
              </a:rPr>
              <a:t>Design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Experimental research design – a randomized, two-arm (parallel-group) controlled trial with pre-test / post-test assessment.</a:t>
            </a:r>
          </a:p>
          <a:p>
            <a:pPr marL="0" indent="0">
              <a:spcBef>
                <a:spcPts val="300"/>
              </a:spcBef>
              <a:spcAft>
                <a:spcPts val="150"/>
              </a:spcAft>
              <a:buNone/>
            </a:pPr>
            <a:r>
              <a:rPr lang="en-US" sz="1200" b="1" dirty="0">
                <a:solidFill>
                  <a:srgbClr val="1F3864"/>
                </a:solidFill>
                <a:latin typeface="Times New Roman"/>
                <a:cs typeface="Times New Roman"/>
              </a:rPr>
              <a:t>Setting</a:t>
            </a:r>
          </a:p>
          <a:p>
            <a:pPr marL="285750" indent="-285750">
              <a:spcBef>
                <a:spcPts val="0"/>
              </a:spcBef>
              <a:spcAft>
                <a:spcPts val="300"/>
              </a:spcAft>
              <a:buFont typeface="Arial"/>
              <a:buChar char="•"/>
            </a:pPr>
            <a:r>
              <a:rPr lang="en-US" sz="1200" dirty="0">
                <a:solidFill>
                  <a:srgbClr val="000000"/>
                </a:solidFill>
                <a:latin typeface="Times New Roman"/>
                <a:cs typeface="Times New Roman"/>
              </a:rPr>
              <a:t>In-patient wards, NIMHANS, Bengaluru, India (September 2014 – November 2014).</a:t>
            </a:r>
          </a:p>
          <a:p>
            <a:pPr marL="0" indent="0">
              <a:spcBef>
                <a:spcPts val="300"/>
              </a:spcBef>
              <a:spcAft>
                <a:spcPts val="150"/>
              </a:spcAft>
              <a:buNone/>
            </a:pPr>
            <a:r>
              <a:rPr lang="en-US" sz="1200" b="1" dirty="0">
                <a:solidFill>
                  <a:srgbClr val="1F3864"/>
                </a:solidFill>
                <a:latin typeface="Times New Roman"/>
                <a:cs typeface="Times New Roman"/>
              </a:rPr>
              <a:t>Randomization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Caregivers were randomly allocated to the intervention group or the treatment-as-usual (TAU / control) group using a random list generated by randomization software; the allocation sequence was concealed until interventions were assigned.</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Participants (Sample)</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Total sample: 80 caregivers of persons with schizophrenia.</a:t>
            </a:r>
          </a:p>
          <a:p>
            <a:pPr marL="285750" indent="-285750">
              <a:spcBef>
                <a:spcPts val="0"/>
              </a:spcBef>
              <a:spcAft>
                <a:spcPts val="300"/>
              </a:spcAft>
              <a:buFont typeface="Arial"/>
              <a:buChar char="•"/>
            </a:pPr>
            <a:r>
              <a:rPr lang="en-US" sz="1200" dirty="0">
                <a:solidFill>
                  <a:srgbClr val="000000"/>
                </a:solidFill>
                <a:latin typeface="Times New Roman"/>
                <a:cs typeface="Times New Roman"/>
              </a:rPr>
              <a:t>Intervention group: 40 caregivers.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Control (TAU) group: 40 caregivers.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Assessments were done by two blind raters – postgraduates in Social Work and Psychology, each with &gt;5 years of experience working with psychiatry patients, trained over two days on the study and administration of the tools.</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Note: some post-test analyses report n = 32 (control) and n = 33 (intervention), indicating attrition from the original 40 + 40.</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Eligibility: Inclusion Criteria</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Caregiver living with the patient and actively providing care.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Aged 18 years or more.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Duration of the patient’s illness between 1 and 5 years.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Caregiver fluent in Kannada, Telugu, or English.</a:t>
            </a:r>
          </a:p>
          <a:p>
            <a:pPr marL="285750" indent="-285750">
              <a:spcBef>
                <a:spcPts val="0"/>
              </a:spcBef>
              <a:spcAft>
                <a:spcPts val="300"/>
              </a:spcAft>
              <a:buFont typeface="Arial"/>
              <a:buChar char="•"/>
            </a:pPr>
            <a:r>
              <a:rPr lang="en-US" sz="1200" dirty="0">
                <a:solidFill>
                  <a:srgbClr val="000000"/>
                </a:solidFill>
                <a:latin typeface="Times New Roman"/>
                <a:cs typeface="Times New Roman"/>
              </a:rPr>
              <a:t>Patient’s diagnosis of schizophrenia confirmed using ICD-10 criteria.</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Caregiver available for at least 10 days to undergo the intervention programme.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Eligibility: Exclusion Criteria</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Caregivers with a history of psychiatric illness and treatment were excluded.</a:t>
            </a:r>
          </a:p>
          <a:p>
            <a:pPr marL="285750" indent="-285750">
              <a:spcBef>
                <a:spcPts val="0"/>
              </a:spcBef>
              <a:spcAft>
                <a:spcPts val="300"/>
              </a:spcAft>
              <a:buFont typeface="Arial"/>
              <a:buChar char="•"/>
            </a:pPr>
            <a:r>
              <a:rPr lang="en-US" sz="1200" dirty="0">
                <a:solidFill>
                  <a:srgbClr val="000000"/>
                </a:solidFill>
                <a:latin typeface="Times New Roman"/>
                <a:cs typeface="Times New Roman"/>
              </a:rPr>
              <a:t>Persons with schizophrenia found to have a comorbid psychiatric illness (screened with MINI) were excluded, along with their caregivers.</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Screening used the Mini International Neuropsychiatric Interview (MINI 6.0) to rule out comorbidity.</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The Intervention Received (Overview)</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Intervention group: a standardized 10-session family intervention programme, delivered by the researcher (a trained Psychiatric Social Worker), over a period of 2–3 months.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Control group: continued with treatment as usual (routine care provided by their respective hospital units).</a:t>
            </a:r>
          </a:p>
          <a:p>
            <a:pPr marL="0" indent="0">
              <a:spcBef>
                <a:spcPts val="300"/>
              </a:spcBef>
              <a:spcAft>
                <a:spcPts val="150"/>
              </a:spcAft>
              <a:buNone/>
            </a:pPr>
            <a:r>
              <a:rPr lang="en-US" sz="1200" b="1" dirty="0">
                <a:solidFill>
                  <a:srgbClr val="1F3864"/>
                </a:solidFill>
                <a:latin typeface="Times New Roman"/>
                <a:cs typeface="Times New Roman"/>
              </a:rPr>
              <a:t>Package structure (10 sessions)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6 sessions of family psychoeducation + 2 sessions of communication training + 1 session of stress management + 1 session of recap &amp; referral services.</a:t>
            </a:r>
          </a:p>
          <a:p>
            <a:pPr marL="0" indent="0">
              <a:spcBef>
                <a:spcPts val="300"/>
              </a:spcBef>
              <a:spcAft>
                <a:spcPts val="150"/>
              </a:spcAft>
              <a:buNone/>
            </a:pPr>
            <a:r>
              <a:rPr lang="en-US" sz="1200" b="1" dirty="0">
                <a:solidFill>
                  <a:srgbClr val="1F3864"/>
                </a:solidFill>
                <a:latin typeface="Times New Roman"/>
                <a:cs typeface="Times New Roman"/>
              </a:rPr>
              <a:t>Methods used</a:t>
            </a:r>
          </a:p>
          <a:p>
            <a:pPr marL="285750" indent="-285750">
              <a:spcBef>
                <a:spcPts val="0"/>
              </a:spcBef>
              <a:spcAft>
                <a:spcPts val="300"/>
              </a:spcAft>
              <a:buFont typeface="Arial"/>
              <a:buChar char="•"/>
            </a:pPr>
            <a:r>
              <a:rPr lang="en-US" sz="1200" dirty="0">
                <a:solidFill>
                  <a:srgbClr val="000000"/>
                </a:solidFill>
                <a:latin typeface="Times New Roman"/>
                <a:cs typeface="Times New Roman"/>
              </a:rPr>
              <a:t>Social case-work and group-work methods, social-work principles and therapeutic activities – brainstorming, case vignettes, role plays, video clippings, and a brief take-home handout in the vernacular language.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Family Intervention – Session by Session</a:t>
            </a:r>
          </a:p>
        </p:txBody>
      </p:sp>
      <p:sp>
        <p:nvSpPr>
          <p:cNvPr id="3" name="Content"/>
          <p:cNvSpPr/>
          <p:nvPr/>
        </p:nvSpPr>
        <p:spPr>
          <a:xfrm>
            <a:off x="685800" y="1050000"/>
            <a:ext cx="10820400" cy="5600000"/>
          </a:xfrm>
          <a:prstGeom prst="rect">
            <a:avLst/>
          </a:prstGeom>
        </p:spPr>
        <p:txBody>
          <a:bodyPr wrap="square" anchor="t">
            <a:normAutofit/>
          </a:bodyPr>
          <a:lstStyle/>
          <a:p>
            <a:pPr marL="0" indent="0">
              <a:spcBef>
                <a:spcPts val="300"/>
              </a:spcBef>
              <a:spcAft>
                <a:spcPts val="150"/>
              </a:spcAft>
              <a:buNone/>
            </a:pPr>
            <a:r>
              <a:rPr lang="en-US" sz="1200" b="1" dirty="0">
                <a:solidFill>
                  <a:srgbClr val="1F3864"/>
                </a:solidFill>
                <a:latin typeface="Times New Roman"/>
                <a:cs typeface="Times New Roman"/>
              </a:rPr>
              <a:t>Sessions 1–6: Family Psychoeducation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Information on schizophrenia – symptoms, signs, course, and outcomes; nature of high EE (criticality &amp; over-involvement); the role of medication and basic needs; reducing excessive face-to-face contact by engaging the patient in productive activities (household work, day-care/vocational training, jobs, agriculture, dairy, etc.).</a:t>
            </a:r>
          </a:p>
          <a:p>
            <a:pPr marL="0" indent="0">
              <a:spcBef>
                <a:spcPts val="300"/>
              </a:spcBef>
              <a:spcAft>
                <a:spcPts val="150"/>
              </a:spcAft>
              <a:buNone/>
            </a:pPr>
            <a:r>
              <a:rPr lang="en-US" sz="1200" b="1" dirty="0">
                <a:solidFill>
                  <a:srgbClr val="1F3864"/>
                </a:solidFill>
                <a:latin typeface="Times New Roman"/>
                <a:cs typeface="Times New Roman"/>
              </a:rPr>
              <a:t>Sessions 7–8: Communication Training</a:t>
            </a:r>
          </a:p>
          <a:p>
            <a:pPr marL="285750" indent="-285750">
              <a:spcBef>
                <a:spcPts val="0"/>
              </a:spcBef>
              <a:spcAft>
                <a:spcPts val="300"/>
              </a:spcAft>
              <a:buFont typeface="Arial"/>
              <a:buChar char="•"/>
            </a:pPr>
            <a:r>
              <a:rPr lang="en-US" sz="1200" dirty="0">
                <a:solidFill>
                  <a:srgbClr val="000000"/>
                </a:solidFill>
                <a:latin typeface="Times New Roman"/>
                <a:cs typeface="Times New Roman"/>
              </a:rPr>
              <a:t>Role plays and video clippings to improve day-to-day communication; modifying negative emotions (criticality, hostility) toward positive interactions.</a:t>
            </a:r>
          </a:p>
          <a:p>
            <a:pPr marL="0" indent="0">
              <a:spcBef>
                <a:spcPts val="300"/>
              </a:spcBef>
              <a:spcAft>
                <a:spcPts val="150"/>
              </a:spcAft>
              <a:buNone/>
            </a:pPr>
            <a:r>
              <a:rPr lang="en-US" sz="1200" b="1" dirty="0">
                <a:solidFill>
                  <a:srgbClr val="1F3864"/>
                </a:solidFill>
                <a:latin typeface="Times New Roman"/>
                <a:cs typeface="Times New Roman"/>
              </a:rPr>
              <a:t>Session 9: Stress Management</a:t>
            </a:r>
          </a:p>
          <a:p>
            <a:pPr marL="285750" indent="-285750">
              <a:spcBef>
                <a:spcPts val="0"/>
              </a:spcBef>
              <a:spcAft>
                <a:spcPts val="300"/>
              </a:spcAft>
              <a:buFont typeface="Arial"/>
              <a:buChar char="•"/>
            </a:pPr>
            <a:r>
              <a:rPr lang="en-US" sz="1200" dirty="0">
                <a:solidFill>
                  <a:srgbClr val="000000"/>
                </a:solidFill>
                <a:latin typeface="Times New Roman"/>
                <a:cs typeface="Times New Roman"/>
              </a:rPr>
              <a:t>Identifying caregiver stressors; balanced lifestyle; sharing roles &amp; responsibilities; enhancing social support; crisis management; ‘caring for the carers’ (enjoyable activities, brief trial separations); addressing guilt.</a:t>
            </a:r>
          </a:p>
          <a:p>
            <a:pPr marL="0" indent="0">
              <a:spcBef>
                <a:spcPts val="300"/>
              </a:spcBef>
              <a:spcAft>
                <a:spcPts val="150"/>
              </a:spcAft>
              <a:buNone/>
            </a:pPr>
            <a:r>
              <a:rPr lang="en-US" sz="1200" b="1" dirty="0">
                <a:solidFill>
                  <a:srgbClr val="1F3864"/>
                </a:solidFill>
                <a:latin typeface="Times New Roman"/>
                <a:cs typeface="Times New Roman"/>
              </a:rPr>
              <a:t>Session 10: Recap &amp; Referral</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Consolidation of learning, take-home handout, and referral services.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Outcome Measures &amp; Tools</a:t>
            </a:r>
          </a:p>
        </p:txBody>
      </p:sp>
      <p:sp>
        <p:nvSpPr>
          <p:cNvPr id="3" name="Content"/>
          <p:cNvSpPr/>
          <p:nvPr/>
        </p:nvSpPr>
        <p:spPr>
          <a:xfrm>
            <a:off x="685800" y="1050000"/>
            <a:ext cx="10820400" cy="5600000"/>
          </a:xfrm>
          <a:prstGeom prst="rect">
            <a:avLst/>
          </a:prstGeom>
        </p:spPr>
        <p:txBody>
          <a:bodyPr wrap="square" anchor="t">
            <a:normAutofit/>
          </a:bodyPr>
          <a:lstStyle/>
          <a:p>
            <a:pPr marL="0" indent="0">
              <a:spcBef>
                <a:spcPts val="300"/>
              </a:spcBef>
              <a:spcAft>
                <a:spcPts val="150"/>
              </a:spcAft>
              <a:buNone/>
            </a:pPr>
            <a:r>
              <a:rPr lang="en-US" sz="1200" b="1" dirty="0">
                <a:solidFill>
                  <a:srgbClr val="1F3864"/>
                </a:solidFill>
                <a:latin typeface="Times New Roman"/>
                <a:cs typeface="Times New Roman"/>
              </a:rPr>
              <a:t>Primary outcome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Level of Expressed Emotion (criticality + emotional over-involvement) in caregivers.</a:t>
            </a:r>
          </a:p>
          <a:p>
            <a:pPr marL="0" indent="0">
              <a:spcBef>
                <a:spcPts val="300"/>
              </a:spcBef>
              <a:spcAft>
                <a:spcPts val="150"/>
              </a:spcAft>
              <a:buNone/>
            </a:pPr>
            <a:r>
              <a:rPr lang="en-US" sz="1200" b="1" dirty="0">
                <a:solidFill>
                  <a:srgbClr val="1F3864"/>
                </a:solidFill>
                <a:latin typeface="Times New Roman"/>
                <a:cs typeface="Times New Roman"/>
              </a:rPr>
              <a:t>1. Sociodemographic interview schedule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Semi-structured schedule (by the researcher) – personal, family, marital, occupational, income, caregiving, and illness details of caregivers and patients.</a:t>
            </a:r>
          </a:p>
          <a:p>
            <a:pPr marL="0" indent="0">
              <a:spcBef>
                <a:spcPts val="300"/>
              </a:spcBef>
              <a:spcAft>
                <a:spcPts val="150"/>
              </a:spcAft>
              <a:buNone/>
            </a:pPr>
            <a:r>
              <a:rPr lang="en-US" sz="1200" b="1" dirty="0">
                <a:solidFill>
                  <a:srgbClr val="1F3864"/>
                </a:solidFill>
                <a:latin typeface="Times New Roman"/>
                <a:cs typeface="Times New Roman"/>
              </a:rPr>
              <a:t>2. FEICS – Family Emotional Involvement &amp; Criticism Scale (Shields et al., 1992)</a:t>
            </a:r>
          </a:p>
          <a:p>
            <a:pPr marL="285750" indent="-285750">
              <a:spcBef>
                <a:spcPts val="0"/>
              </a:spcBef>
              <a:spcAft>
                <a:spcPts val="300"/>
              </a:spcAft>
              <a:buFont typeface="Arial"/>
              <a:buChar char="•"/>
            </a:pPr>
            <a:r>
              <a:rPr lang="en-US" sz="1200" dirty="0">
                <a:solidFill>
                  <a:srgbClr val="000000"/>
                </a:solidFill>
                <a:latin typeface="Times New Roman"/>
                <a:cs typeface="Times New Roman"/>
              </a:rPr>
              <a:t>14-item self-report scale; two dimensions – perceived criticism (even items) and emotional over-involvement (odd items); 5-point Likert (almost never → almost always); higher scores = greater EE.</a:t>
            </a:r>
          </a:p>
          <a:p>
            <a:pPr marL="0" indent="0">
              <a:spcBef>
                <a:spcPts val="300"/>
              </a:spcBef>
              <a:spcAft>
                <a:spcPts val="150"/>
              </a:spcAft>
              <a:buNone/>
            </a:pPr>
            <a:r>
              <a:rPr lang="en-US" sz="1200" b="1" dirty="0">
                <a:solidFill>
                  <a:srgbClr val="1F3864"/>
                </a:solidFill>
                <a:latin typeface="Times New Roman"/>
                <a:cs typeface="Times New Roman"/>
              </a:rPr>
              <a:t>3. MINI 6.0 (Sheehan et al., 1998)</a:t>
            </a:r>
          </a:p>
          <a:p>
            <a:pPr marL="285750" indent="-285750">
              <a:spcBef>
                <a:spcPts val="0"/>
              </a:spcBef>
              <a:spcAft>
                <a:spcPts val="300"/>
              </a:spcAft>
              <a:buFont typeface="Arial"/>
              <a:buChar char="•"/>
            </a:pPr>
            <a:r>
              <a:rPr lang="en-US" sz="1200" dirty="0">
                <a:solidFill>
                  <a:srgbClr val="000000"/>
                </a:solidFill>
                <a:latin typeface="Times New Roman"/>
                <a:cs typeface="Times New Roman"/>
              </a:rPr>
              <a:t>Brief structured interview for major Axis-I disorders (DSM-IV / ICD-10); used to screen for comorbidity.</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Analysis Plan</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Software: SPSS version 20.0.</a:t>
            </a:r>
          </a:p>
          <a:p>
            <a:pPr marL="285750" indent="-285750">
              <a:spcBef>
                <a:spcPts val="0"/>
              </a:spcBef>
              <a:spcAft>
                <a:spcPts val="300"/>
              </a:spcAft>
              <a:buFont typeface="Arial"/>
              <a:buChar char="•"/>
            </a:pPr>
            <a:r>
              <a:rPr lang="en-US" sz="1200" dirty="0">
                <a:solidFill>
                  <a:srgbClr val="000000"/>
                </a:solidFill>
                <a:latin typeface="Times New Roman"/>
                <a:cs typeface="Times New Roman"/>
              </a:rPr>
              <a:t>Repeated Measures Analysis of Variance (RMANOVA) – to compare pre-test and post-test scores while simultaneously analysing the intervention and control groups.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Paired t-test – to compare pre-intervention vs post-intervention scores within each group.</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Chi-square / t-tests – for comparing sociodemographic variables across groups.</a:t>
            </a:r>
          </a:p>
          <a:p>
            <a:pPr marL="0" indent="0">
              <a:spcBef>
                <a:spcPts val="300"/>
              </a:spcBef>
              <a:spcAft>
                <a:spcPts val="150"/>
              </a:spcAft>
              <a:buNone/>
            </a:pPr>
            <a:r>
              <a:rPr lang="en-US" sz="1200" b="1" dirty="0">
                <a:solidFill>
                  <a:srgbClr val="1F3864"/>
                </a:solidFill>
                <a:latin typeface="Times New Roman"/>
                <a:cs typeface="Times New Roman"/>
              </a:rPr>
              <a:t>Ethics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Ethical clearance from the NIMHANS institute ethics committee; voluntary participation; written informed consent; control group offered the intervention after post-assessment.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Findings (1): Sociodemographic Profile</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50% of caregivers were aged 50 years and above.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More female caregivers than male in both groups (e.g., 85% female in the intervention group).</a:t>
            </a:r>
          </a:p>
          <a:p>
            <a:pPr marL="285750" indent="-285750">
              <a:spcBef>
                <a:spcPts val="0"/>
              </a:spcBef>
              <a:spcAft>
                <a:spcPts val="300"/>
              </a:spcAft>
              <a:buFont typeface="Arial"/>
              <a:buChar char="•"/>
            </a:pPr>
            <a:r>
              <a:rPr lang="en-US" sz="1200" dirty="0">
                <a:solidFill>
                  <a:srgbClr val="000000"/>
                </a:solidFill>
                <a:latin typeface="Times New Roman"/>
                <a:cs typeface="Times New Roman"/>
              </a:rPr>
              <a:t>Mothers were the primary caregivers in 40% (control) and 47.5% (intervention) of cases.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92.5% of caregivers were in daily contact with the patient.</a:t>
            </a:r>
          </a:p>
          <a:p>
            <a:pPr marL="285750" indent="-285750">
              <a:spcBef>
                <a:spcPts val="0"/>
              </a:spcBef>
              <a:spcAft>
                <a:spcPts val="300"/>
              </a:spcAft>
              <a:buFont typeface="Arial"/>
              <a:buChar char="•"/>
            </a:pPr>
            <a:r>
              <a:rPr lang="en-US" sz="1200" dirty="0">
                <a:solidFill>
                  <a:srgbClr val="000000"/>
                </a:solidFill>
                <a:latin typeface="Times New Roman"/>
                <a:cs typeface="Times New Roman"/>
              </a:rPr>
              <a:t>Majority of patients were female (62.5% control; 80% intervention).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Findings (2): Control (TAU) Group</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EE increased in the control group from pre-test to post-test:</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Total EE: pre-test Mean = 52.47 (SD 4.95) → post-test Mean = 56.72 (SD 4.52).</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Criticality: pre 26.13 → post 28.28 (t = −3.47; P = 0.002).</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Emotional over-involvement: pre 26.34 → post 28.44 (t = −3.25; P = 0.003).</a:t>
            </a:r>
          </a:p>
          <a:p>
            <a:pPr marL="285750" indent="-285750">
              <a:spcBef>
                <a:spcPts val="0"/>
              </a:spcBef>
              <a:spcAft>
                <a:spcPts val="300"/>
              </a:spcAft>
              <a:buFont typeface="Arial"/>
              <a:buChar char="•"/>
            </a:pPr>
            <a:r>
              <a:rPr lang="en-US" sz="1200" dirty="0">
                <a:solidFill>
                  <a:srgbClr val="000000"/>
                </a:solidFill>
                <a:latin typeface="Times New Roman"/>
                <a:cs typeface="Times New Roman"/>
              </a:rPr>
              <a:t>Paired t-test for total EE was significant (t = −3.68; P = 0.001) – i.e., without intervention, EE tended to rise.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Findings (3): Intervention Group</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Significant reductions in both EE domains after the intervention:</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Criticality: pre 27.45 (SD 2.89) → post 20.03 (SD 3.11); t = 10.16; P = 0.001.</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Emotional over-involvement: pre 26.39 (SD 2.86) → post 19.48 (SD 3.47); t = 8.82; P = 0.001.</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Total EE: pre 53.85 (SD 3.91) → post 39.52; t = 11.73; P = 0.001.</a:t>
            </a:r>
          </a:p>
          <a:p>
            <a:pPr marL="0" indent="0">
              <a:spcBef>
                <a:spcPts val="300"/>
              </a:spcBef>
              <a:spcAft>
                <a:spcPts val="150"/>
              </a:spcAft>
              <a:buNone/>
            </a:pPr>
            <a:r>
              <a:rPr lang="en-US" sz="1200" b="1" dirty="0">
                <a:solidFill>
                  <a:srgbClr val="1F3864"/>
                </a:solidFill>
                <a:latin typeface="Times New Roman"/>
                <a:cs typeface="Times New Roman"/>
              </a:rPr>
              <a:t>Overall result</a:t>
            </a:r>
          </a:p>
          <a:p>
            <a:pPr marL="285750" indent="-285750">
              <a:spcBef>
                <a:spcPts val="0"/>
              </a:spcBef>
              <a:spcAft>
                <a:spcPts val="300"/>
              </a:spcAft>
              <a:buFont typeface="Arial"/>
              <a:buChar char="•"/>
            </a:pPr>
            <a:r>
              <a:rPr lang="en-US" sz="1200" dirty="0">
                <a:solidFill>
                  <a:srgbClr val="000000"/>
                </a:solidFill>
                <a:latin typeface="Times New Roman"/>
                <a:cs typeface="Times New Roman"/>
              </a:rPr>
              <a:t>RMANOVA: F = 35.892; P = 0.001 – a significant reduction in EE for the intervention group compared with the control (TAU) group.</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Findings (4): Interpretation</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The family intervention significantly reduced negative EE (criticism and over-involvement) in caregivers.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Reducing caregivers’ excessive face-to-face contact and over-involvement, and helping them overcome guilt, contributed to lower EE.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Skill-development (role plays, video clippings, participatory methods, handouts) proved more effective than routine support-group / psychoeducation formats.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Findings corroborate Indian (Bengaluru, Chennai) and Western studies (e.g., Linszen et al., 1997; Miklowitz &amp; Goldstein, 1984).</a:t>
            </a:r>
          </a:p>
          <a:p>
            <a:pPr marL="571500" indent="-228600">
              <a:spcBef>
                <a:spcPts val="0"/>
              </a:spcBef>
              <a:spcAft>
                <a:spcPts val="300"/>
              </a:spcAft>
              <a:buFont typeface="Arial"/>
              <a:buChar char="–"/>
            </a:pPr>
            <a:r>
              <a:rPr lang="en-US" sz="1200" i="1" dirty="0">
                <a:solidFill>
                  <a:srgbClr val="333333"/>
                </a:solidFill>
                <a:latin typeface="Times New Roman"/>
                <a:cs typeface="Times New Roman"/>
              </a:rPr>
              <a:t>Caveat: the FEICS measures only negative EE, not positive EE such as warmth.</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Strengths &amp; Limitations</a:t>
            </a:r>
          </a:p>
        </p:txBody>
      </p:sp>
      <p:sp>
        <p:nvSpPr>
          <p:cNvPr id="3" name="Content"/>
          <p:cNvSpPr/>
          <p:nvPr/>
        </p:nvSpPr>
        <p:spPr>
          <a:xfrm>
            <a:off x="685800" y="1050000"/>
            <a:ext cx="10820400" cy="5600000"/>
          </a:xfrm>
          <a:prstGeom prst="rect">
            <a:avLst/>
          </a:prstGeom>
        </p:spPr>
        <p:txBody>
          <a:bodyPr wrap="square" anchor="t">
            <a:normAutofit/>
          </a:bodyPr>
          <a:lstStyle/>
          <a:p>
            <a:pPr marL="0" indent="0">
              <a:spcBef>
                <a:spcPts val="300"/>
              </a:spcBef>
              <a:spcAft>
                <a:spcPts val="150"/>
              </a:spcAft>
              <a:buNone/>
            </a:pPr>
            <a:r>
              <a:rPr lang="en-US" sz="1200" b="1" dirty="0">
                <a:solidFill>
                  <a:srgbClr val="1F3864"/>
                </a:solidFill>
                <a:latin typeface="Times New Roman"/>
                <a:cs typeface="Times New Roman"/>
              </a:rPr>
              <a:t>Strengths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Randomized experimental design with a control group and blind raters.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Culturally-relevant, standardized, manualized intervention delivered in vernacular languages.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Statistically significant, clinically meaningful reduction in EE.</a:t>
            </a:r>
          </a:p>
          <a:p>
            <a:pPr marL="0" indent="0">
              <a:spcBef>
                <a:spcPts val="300"/>
              </a:spcBef>
              <a:spcAft>
                <a:spcPts val="150"/>
              </a:spcAft>
              <a:buNone/>
            </a:pPr>
            <a:r>
              <a:rPr lang="en-US" sz="1200" b="1" dirty="0">
                <a:solidFill>
                  <a:srgbClr val="1F3864"/>
                </a:solidFill>
                <a:latin typeface="Times New Roman"/>
                <a:cs typeface="Times New Roman"/>
              </a:rPr>
              <a:t>Limitations (as stated by the authors)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FEICS does not assess all domains of EE (e.g., no positive EE / warmth).</a:t>
            </a:r>
          </a:p>
          <a:p>
            <a:pPr marL="285750" indent="-285750">
              <a:spcBef>
                <a:spcPts val="0"/>
              </a:spcBef>
              <a:spcAft>
                <a:spcPts val="300"/>
              </a:spcAft>
              <a:buFont typeface="Arial"/>
              <a:buChar char="•"/>
            </a:pPr>
            <a:r>
              <a:rPr lang="en-US" sz="1200" dirty="0">
                <a:solidFill>
                  <a:srgbClr val="000000"/>
                </a:solidFill>
                <a:latin typeface="Times New Roman"/>
                <a:cs typeface="Times New Roman"/>
              </a:rPr>
              <a:t>Small sample size due to practical difficulties.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Absence of a double-blind technique – which would have better controlled biases in assessment and delivery of the intervention.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Conclusion</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A family-based intervention – comprising psychoeducation, communication training, and stress management for caregivers of persons living with schizophrenia – was effective.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It produced an overall, statistically significant decrease in the level of Expressed Emotion among caregivers.</a:t>
            </a:r>
          </a:p>
          <a:p>
            <a:pPr marL="285750" indent="-285750">
              <a:spcBef>
                <a:spcPts val="0"/>
              </a:spcBef>
              <a:spcAft>
                <a:spcPts val="300"/>
              </a:spcAft>
              <a:buFont typeface="Arial"/>
              <a:buChar char="•"/>
            </a:pPr>
            <a:r>
              <a:rPr lang="en-US" sz="1200" dirty="0">
                <a:solidFill>
                  <a:srgbClr val="000000"/>
                </a:solidFill>
                <a:latin typeface="Times New Roman"/>
                <a:cs typeface="Times New Roman"/>
              </a:rPr>
              <a:t>Family intervention is a feasible, culturally-appropriate strategy to reduce EE and support rehabilitation in the Indian context.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References (1): Primary Paper &amp; Concepts</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1. Shetty K. V., Math S. B., Marimuthu P., Rawat V. S. Family intervention for expressed emotion in schizophrenia: Indian context. Indian Journal of Psychiatry. 2023;65(4):453–459. DOI:10.4103/indianjpsychiatry.indianjpsychiatry_526_22.</a:t>
            </a:r>
          </a:p>
          <a:p>
            <a:pPr marL="285750" indent="-285750">
              <a:spcBef>
                <a:spcPts val="0"/>
              </a:spcBef>
              <a:spcAft>
                <a:spcPts val="300"/>
              </a:spcAft>
              <a:buFont typeface="Arial"/>
              <a:buChar char="•"/>
            </a:pPr>
            <a:r>
              <a:rPr lang="en-US" sz="1200" dirty="0">
                <a:solidFill>
                  <a:srgbClr val="000000"/>
                </a:solidFill>
                <a:latin typeface="Times New Roman"/>
                <a:cs typeface="Times New Roman"/>
              </a:rPr>
              <a:t>2. Brown G. W., Rutter M. (1966). The measurement of family activities and relationships: a methodology. Human Relations, 19(3):241–263. [Origin of the Expressed Emotion concept.]</a:t>
            </a:r>
          </a:p>
          <a:p>
            <a:pPr marL="285750" indent="-285750">
              <a:spcBef>
                <a:spcPts val="0"/>
              </a:spcBef>
              <a:spcAft>
                <a:spcPts val="300"/>
              </a:spcAft>
              <a:buFont typeface="Arial"/>
              <a:buChar char="•"/>
            </a:pPr>
            <a:r>
              <a:rPr lang="en-US" sz="1200" dirty="0">
                <a:solidFill>
                  <a:srgbClr val="000000"/>
                </a:solidFill>
                <a:latin typeface="Times New Roman"/>
                <a:cs typeface="Times New Roman"/>
              </a:rPr>
              <a:t>3. Leff J., Vaughn C. (1985). Expressed Emotion in Families: Its Significance for Mental Illness. New York: Guilford Press. [Development of EE.]</a:t>
            </a:r>
          </a:p>
          <a:p>
            <a:pPr marL="285750" indent="-285750">
              <a:spcBef>
                <a:spcPts val="0"/>
              </a:spcBef>
              <a:spcAft>
                <a:spcPts val="300"/>
              </a:spcAft>
              <a:buFont typeface="Arial"/>
              <a:buChar char="•"/>
            </a:pPr>
            <a:r>
              <a:rPr lang="en-US" sz="1200" dirty="0">
                <a:solidFill>
                  <a:srgbClr val="000000"/>
                </a:solidFill>
                <a:latin typeface="Times New Roman"/>
                <a:cs typeface="Times New Roman"/>
              </a:rPr>
              <a:t>4. Butzlaff R. L., Hooley J. M. (1998). Expressed emotion and psychiatric relapse: a meta-analysis. Archives of General Psychiatry, 55(6):547–552.</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0" y="0"/>
            <a:ext cx="12192000" cy="900000"/>
          </a:xfrm>
          <a:prstGeom prst="rect">
            <a:avLst/>
          </a:prstGeom>
          <a:solidFill>
            <a:srgbClr val="1F3864"/>
          </a:solidFill>
        </p:spPr>
        <p:txBody>
          <a:bodyPr wrap="square" lIns="228600" anchor="ctr">
            <a:normAutofit/>
          </a:bodyPr>
          <a:lstStyle/>
          <a:p>
            <a:pPr>
              <a:spcAft>
                <a:spcPts val="600"/>
              </a:spcAft>
              <a:buNone/>
            </a:pPr>
            <a:r>
              <a:rPr lang="en-US" sz="1400" b="1" dirty="0">
                <a:solidFill>
                  <a:srgbClr val="FFFFFF"/>
                </a:solidFill>
                <a:latin typeface="Times New Roman"/>
                <a:cs typeface="Times New Roman"/>
              </a:rPr>
              <a:t>References (2): Intervention &amp; Tools</a:t>
            </a:r>
          </a:p>
        </p:txBody>
      </p:sp>
      <p:sp>
        <p:nvSpPr>
          <p:cNvPr id="3" name="Content"/>
          <p:cNvSpPr/>
          <p:nvPr/>
        </p:nvSpPr>
        <p:spPr>
          <a:xfrm>
            <a:off x="685800" y="1050000"/>
            <a:ext cx="10820400" cy="5600000"/>
          </a:xfrm>
          <a:prstGeom prst="rect">
            <a:avLst/>
          </a:prstGeom>
        </p:spPr>
        <p:txBody>
          <a:bodyPr wrap="square" anchor="t">
            <a:normAutofit/>
          </a:bodyPr>
          <a:lstStyle/>
          <a:p>
            <a:pPr marL="285750" indent="-285750">
              <a:spcBef>
                <a:spcPts val="0"/>
              </a:spcBef>
              <a:spcAft>
                <a:spcPts val="300"/>
              </a:spcAft>
              <a:buFont typeface="Arial"/>
              <a:buChar char="•"/>
            </a:pPr>
            <a:r>
              <a:rPr lang="en-US" sz="1200" dirty="0">
                <a:solidFill>
                  <a:srgbClr val="000000"/>
                </a:solidFill>
                <a:latin typeface="Times New Roman"/>
                <a:cs typeface="Times New Roman"/>
              </a:rPr>
              <a:t>5. Anderson C. M., Hogarty G. E., Reiss D. J. (1980). Family treatment of adult schizophrenic patients: a psycho-educational approach. Schizophrenia Bulletin, 6(3):490–505. [Origin of family psychoeducation.]</a:t>
            </a:r>
          </a:p>
          <a:p>
            <a:pPr marL="285750" indent="-285750">
              <a:spcBef>
                <a:spcPts val="0"/>
              </a:spcBef>
              <a:spcAft>
                <a:spcPts val="300"/>
              </a:spcAft>
              <a:buFont typeface="Arial"/>
              <a:buChar char="•"/>
            </a:pPr>
            <a:r>
              <a:rPr lang="en-US" sz="1200" dirty="0">
                <a:solidFill>
                  <a:srgbClr val="000000"/>
                </a:solidFill>
                <a:latin typeface="Times New Roman"/>
                <a:cs typeface="Times New Roman"/>
              </a:rPr>
              <a:t>6. Shields C. G., Franks P., Harp J. J., McDaniel S. H., Campbell T. L. (1992). Development of the Family Emotional Involvement and Criticism Scale (FEICS). Journal of Marital and Family Therapy, 18(4):395–407.</a:t>
            </a:r>
          </a:p>
          <a:p>
            <a:pPr marL="285750" indent="-285750">
              <a:spcBef>
                <a:spcPts val="0"/>
              </a:spcBef>
              <a:spcAft>
                <a:spcPts val="300"/>
              </a:spcAft>
              <a:buFont typeface="Arial"/>
              <a:buChar char="•"/>
            </a:pPr>
            <a:r>
              <a:rPr lang="en-US" sz="1200" dirty="0">
                <a:solidFill>
                  <a:srgbClr val="000000"/>
                </a:solidFill>
                <a:latin typeface="Times New Roman"/>
                <a:cs typeface="Times New Roman"/>
              </a:rPr>
              <a:t>7. Sheehan D. V., Lecrubier Y., Sheehan K. H., et al. (1998). The Mini-International Neuropsychiatric Interview (M.I.N.I.). Journal of Clinical Psychiatry, 59(Suppl 20):22–33.</a:t>
            </a:r>
          </a:p>
          <a:p>
            <a:pPr marL="285750" indent="-285750">
              <a:spcBef>
                <a:spcPts val="0"/>
              </a:spcBef>
              <a:spcAft>
                <a:spcPts val="300"/>
              </a:spcAft>
              <a:buFont typeface="Arial"/>
              <a:buChar char="•"/>
            </a:pPr>
            <a:r>
              <a:rPr lang="en-US" sz="1200" dirty="0">
                <a:solidFill>
                  <a:srgbClr val="000000"/>
                </a:solidFill>
                <a:latin typeface="Times New Roman"/>
                <a:cs typeface="Times New Roman"/>
              </a:rPr>
              <a:t>8. Shetty K. V., Janardhana N., Math S. B., Marimuthu P. (2021/2022). Development and validation / manual of the psychiatric social-work intervention package to reduce EE. [Intervention package used in this study.]</a:t>
            </a:r>
          </a:p>
          <a:p>
            <a:pPr marL="285750" indent="-285750">
              <a:spcBef>
                <a:spcPts val="0"/>
              </a:spcBef>
              <a:spcAft>
                <a:spcPts val="300"/>
              </a:spcAft>
              <a:buFont typeface="Arial"/>
              <a:buChar char="•"/>
            </a:pPr>
            <a:r>
              <a:rPr lang="en-US" sz="1200" dirty="0">
                <a:solidFill>
                  <a:srgbClr val="000000"/>
                </a:solidFill>
                <a:latin typeface="Times New Roman"/>
                <a:cs typeface="Times New Roman"/>
              </a:rPr>
              <a:t>9. World Health Organization. ICD-10 Classification of Mental and Behavioural Disorders. Geneva: WHO. [Diagnostic criteria.]</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914400" y="1600200"/>
            <a:ext cx="10363200" cy="2600000"/>
          </a:xfrm>
          <a:prstGeom prst="rect">
            <a:avLst/>
          </a:prstGeom>
        </p:spPr>
        <p:txBody>
          <a:bodyPr wrap="square" anchor="ctr">
            <a:normAutofit/>
          </a:bodyPr>
          <a:lstStyle/>
          <a:p>
            <a:pPr algn="ctr">
              <a:spcAft>
                <a:spcPts val="600"/>
              </a:spcAft>
              <a:buNone/>
            </a:pPr>
            <a:r>
              <a:rPr lang="en-US" sz="3200" b="1" dirty="0">
                <a:solidFill>
                  <a:srgbClr val="1F3864"/>
                </a:solidFill>
                <a:latin typeface="Times New Roman"/>
                <a:cs typeface="Times New Roman"/>
              </a:rPr>
              <a:t>Thank You</a:t>
            </a:r>
          </a:p>
        </p:txBody>
      </p:sp>
      <p:sp>
        <p:nvSpPr>
          <p:cNvPr id="3" name="Subtitle"/>
          <p:cNvSpPr/>
          <p:nvPr/>
        </p:nvSpPr>
        <p:spPr>
          <a:xfrm>
            <a:off x="914400" y="4300000"/>
            <a:ext cx="10363200" cy="2000000"/>
          </a:xfrm>
          <a:prstGeom prst="rect">
            <a:avLst/>
          </a:prstGeom>
        </p:spPr>
        <p:txBody>
          <a:bodyPr wrap="square" anchor="t">
            <a:normAutofit/>
          </a:bodyPr>
          <a:lstStyle/>
          <a:p>
            <a:pPr algn="ctr">
              <a:spcAft>
                <a:spcPts val="600"/>
              </a:spcAft>
              <a:buNone/>
            </a:pPr>
            <a:r>
              <a:rPr lang="en-US" sz="1400" dirty="0">
                <a:solidFill>
                  <a:srgbClr val="404040"/>
                </a:solidFill>
                <a:latin typeface="Times New Roman"/>
                <a:cs typeface="Times New Roman"/>
              </a:rPr>
              <a:t>Questions &amp; Discussion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2E539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majorFont>
      <a:minorFont>
        <a:latin typeface="Times New Roman"/>
        <a:ea typeface=""/>
        <a:cs typeface=""/>
      </a:minorFont>
    </a:fontScheme>
    <a:fmtScheme name="Office">
      <a:fillStyleLst>
        <a:solidFill>
          <a:schemeClr val="phClr"/>
        </a:solidFill>
        <a:solidFill>
          <a:schemeClr val="phClr"/>
        </a:solidFill>
        <a:solidFill>
          <a:schemeClr val="phClr"/>
        </a:solidFill>
      </a:fillStyleLst>
      <a:lnStyleLst>
        <a:ln>
          <a:solidFill>
            <a:schemeClr val="phClr"/>
          </a:solidFill>
        </a:ln>
        <a:ln>
          <a:solidFill>
            <a:schemeClr val="phClr"/>
          </a:solidFill>
        </a:ln>
        <a:ln>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