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48"/>
  </p:notesMasterIdLst>
  <p:handoutMasterIdLst>
    <p:handoutMasterId r:id="rId49"/>
  </p:handoutMasterIdLst>
  <p:sldIdLst>
    <p:sldId id="344" r:id="rId5"/>
    <p:sldId id="426" r:id="rId6"/>
    <p:sldId id="401" r:id="rId7"/>
    <p:sldId id="402" r:id="rId8"/>
    <p:sldId id="403" r:id="rId9"/>
    <p:sldId id="427" r:id="rId10"/>
    <p:sldId id="362" r:id="rId11"/>
    <p:sldId id="404" r:id="rId12"/>
    <p:sldId id="363" r:id="rId13"/>
    <p:sldId id="428" r:id="rId14"/>
    <p:sldId id="364" r:id="rId15"/>
    <p:sldId id="365" r:id="rId16"/>
    <p:sldId id="405" r:id="rId17"/>
    <p:sldId id="366" r:id="rId18"/>
    <p:sldId id="429" r:id="rId19"/>
    <p:sldId id="430" r:id="rId20"/>
    <p:sldId id="431" r:id="rId21"/>
    <p:sldId id="432" r:id="rId22"/>
    <p:sldId id="433" r:id="rId23"/>
    <p:sldId id="434" r:id="rId24"/>
    <p:sldId id="435" r:id="rId25"/>
    <p:sldId id="371" r:id="rId26"/>
    <p:sldId id="436" r:id="rId27"/>
    <p:sldId id="407" r:id="rId28"/>
    <p:sldId id="408" r:id="rId29"/>
    <p:sldId id="425" r:id="rId30"/>
    <p:sldId id="438" r:id="rId31"/>
    <p:sldId id="409" r:id="rId32"/>
    <p:sldId id="375" r:id="rId33"/>
    <p:sldId id="376" r:id="rId34"/>
    <p:sldId id="377" r:id="rId35"/>
    <p:sldId id="383" r:id="rId36"/>
    <p:sldId id="384" r:id="rId37"/>
    <p:sldId id="411" r:id="rId38"/>
    <p:sldId id="412" r:id="rId39"/>
    <p:sldId id="413" r:id="rId40"/>
    <p:sldId id="414" r:id="rId41"/>
    <p:sldId id="417" r:id="rId42"/>
    <p:sldId id="418" r:id="rId43"/>
    <p:sldId id="419" r:id="rId44"/>
    <p:sldId id="421" r:id="rId45"/>
    <p:sldId id="439" r:id="rId46"/>
    <p:sldId id="40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17" userDrawn="1">
          <p15:clr>
            <a:srgbClr val="A4A3A4"/>
          </p15:clr>
        </p15:guide>
        <p15:guide id="2" pos="387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D0F851-EC5A-4D38-B0AD-8093EC10F338}">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5928" autoAdjust="0"/>
  </p:normalViewPr>
  <p:slideViewPr>
    <p:cSldViewPr snapToGrid="0" showGuides="1">
      <p:cViewPr varScale="1">
        <p:scale>
          <a:sx n="60" d="100"/>
          <a:sy n="60" d="100"/>
        </p:scale>
        <p:origin x="844" y="44"/>
      </p:cViewPr>
      <p:guideLst>
        <p:guide orient="horz" pos="1817"/>
        <p:guide pos="387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pPr/>
              <a:t>9/30/2026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pPr/>
              <a:t>9/30/2026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
        <p:nvSpPr>
          <p:cNvPr id="7" name="Rectangle 1"/>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ame 7"/>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4"/>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dirty="0"/>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B5CEABB6-07DC-46E8-9B57-56EC44A396E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9EE256"/>
            </a:gs>
            <a:gs pos="100000">
              <a:srgbClr val="52762D"/>
            </a:gs>
          </a:gsLst>
          <a:lin ang="540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32914" y="900000"/>
            <a:ext cx="11430000" cy="1854835"/>
          </a:xfrm>
        </p:spPr>
        <p:txBody>
          <a:bodyPr/>
          <a:lstStyle/>
          <a:p>
            <a:pPr algn="ctr"/>
            <a:r>
              <a:rPr lang="en-US" sz="7200" b="1" dirty="0">
                <a:solidFill>
                  <a:schemeClr val="tx1"/>
                </a:solidFill>
                <a:latin typeface="Times New Roman" panose="02020603050405020304" pitchFamily="18" charset="0"/>
                <a:cs typeface="Times New Roman" panose="02020603050405020304" pitchFamily="18" charset="0"/>
              </a:rPr>
              <a:t>CASE CONFERENCE</a:t>
            </a:r>
          </a:p>
        </p:txBody>
      </p:sp>
      <p:sp>
        <p:nvSpPr>
          <p:cNvPr id="4" name="TextBox 3"/>
          <p:cNvSpPr txBox="1"/>
          <p:nvPr/>
        </p:nvSpPr>
        <p:spPr>
          <a:xfrm>
            <a:off x="1500000" y="3300000"/>
            <a:ext cx="9192000" cy="2600000"/>
          </a:xfrm>
          <a:prstGeom prst="rect">
            <a:avLst/>
          </a:prstGeom>
          <a:noFill/>
        </p:spPr>
        <p:txBody>
          <a:bodyPr wrap="square" rtlCol="0">
            <a:normAutofit/>
          </a:bodyPr>
          <a:lstStyle/>
          <a:p>
            <a:pPr algn="ctr"/>
            <a:r>
              <a:rPr lang="en-US" sz="2000" dirty="0">
                <a:solidFill>
                  <a:schemeClr val="tx1"/>
                </a:solidFill>
                <a:latin typeface="Times New Roman" panose="02020603050405020304" pitchFamily="18" charset="0"/>
                <a:cs typeface="Times New Roman" panose="02020603050405020304" pitchFamily="18" charset="0"/>
              </a:rPr>
              <a:t>Presented by:</a:t>
            </a:r>
          </a:p>
          <a:p>
            <a:pPr algn="ctr"/>
            <a:r>
              <a:rPr lang="en-US" sz="2000" dirty="0">
                <a:solidFill>
                  <a:schemeClr val="tx1"/>
                </a:solidFill>
                <a:latin typeface="Times New Roman" panose="02020603050405020304" pitchFamily="18" charset="0"/>
                <a:cs typeface="Times New Roman" panose="02020603050405020304" pitchFamily="18" charset="0"/>
              </a:rPr>
              <a:t>Clinical Psychology Trainee</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solidFill>
                  <a:schemeClr val="tx1"/>
                </a:solidFill>
                <a:latin typeface="Times New Roman" panose="02020603050405020304" pitchFamily="18" charset="0"/>
                <a:cs typeface="Times New Roman" panose="02020603050405020304" pitchFamily="18" charset="0"/>
              </a:rPr>
              <a:t>Under the supervision of:</a:t>
            </a:r>
          </a:p>
          <a:p>
            <a:pPr algn="ctr"/>
            <a:r>
              <a:rPr lang="en-US" sz="2000" dirty="0">
                <a:solidFill>
                  <a:schemeClr val="tx1"/>
                </a:solidFill>
                <a:latin typeface="Times New Roman" panose="02020603050405020304" pitchFamily="18" charset="0"/>
                <a:cs typeface="Times New Roman" panose="02020603050405020304" pitchFamily="18" charset="0"/>
              </a:rPr>
              <a:t>Supervisor</a:t>
            </a: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SOCIO-DEMOGRAPHIC DATA:</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OPD No: </a:t>
            </a:r>
            <a:r>
              <a:rPr lang="en-US" sz="1600" dirty="0">
                <a:latin typeface="Times New Roman" panose="02020603050405020304" pitchFamily="18" charset="0"/>
                <a:cs typeface="Times New Roman" panose="02020603050405020304" pitchFamily="18" charset="0"/>
              </a:rPr>
              <a:t/>
            </a:r>
          </a:p>
          <a:p>
            <a:pPr>
              <a:lnSpc>
                <a:spcPct val="150000"/>
              </a:lnSpc>
            </a:pPr>
            <a:r>
              <a:rPr lang="en-US" sz="1600" b="1" dirty="0">
                <a:latin typeface="Times New Roman" panose="02020603050405020304" pitchFamily="18" charset="0"/>
                <a:cs typeface="Times New Roman" panose="02020603050405020304" pitchFamily="18" charset="0"/>
              </a:rPr>
              <a:t>Date of Administration: </a:t>
            </a:r>
            <a:r>
              <a:rPr lang="en-US" sz="1600" dirty="0">
                <a:latin typeface="Times New Roman" panose="02020603050405020304" pitchFamily="18" charset="0"/>
                <a:cs typeface="Times New Roman" panose="02020603050405020304" pitchFamily="18" charset="0"/>
              </a:rPr>
              <a:t/>
            </a:r>
          </a:p>
          <a:p>
            <a:pPr>
              <a:lnSpc>
                <a:spcPct val="150000"/>
              </a:lnSpc>
            </a:pPr>
            <a:r>
              <a:rPr lang="en-US" sz="1600" b="1" dirty="0">
                <a:latin typeface="Times New Roman" panose="02020603050405020304" pitchFamily="18" charset="0"/>
                <a:cs typeface="Times New Roman" panose="02020603050405020304" pitchFamily="18" charset="0"/>
              </a:rPr>
              <a:t>Name: </a:t>
            </a:r>
            <a:r>
              <a:rPr lang="en-US" sz="1600" dirty="0">
                <a:latin typeface="Times New Roman" panose="02020603050405020304" pitchFamily="18" charset="0"/>
                <a:cs typeface="Times New Roman" panose="02020603050405020304" pitchFamily="18" charset="0"/>
              </a:rPr>
              <a:t>Sapna Ahirwar</a:t>
            </a:r>
          </a:p>
          <a:p>
            <a:pPr>
              <a:lnSpc>
                <a:spcPct val="150000"/>
              </a:lnSpc>
            </a:pPr>
            <a:r>
              <a:rPr lang="en-US" sz="1600" b="1" dirty="0">
                <a:latin typeface="Times New Roman" panose="02020603050405020304" pitchFamily="18" charset="0"/>
                <a:cs typeface="Times New Roman" panose="02020603050405020304" pitchFamily="18" charset="0"/>
              </a:rPr>
              <a:t>Gender: </a:t>
            </a:r>
            <a:r>
              <a:rPr lang="en-US" sz="1600" dirty="0">
                <a:latin typeface="Times New Roman" panose="02020603050405020304" pitchFamily="18" charset="0"/>
                <a:cs typeface="Times New Roman" panose="02020603050405020304" pitchFamily="18" charset="0"/>
              </a:rPr>
              <a:t>Female</a:t>
            </a:r>
          </a:p>
          <a:p>
            <a:pPr>
              <a:lnSpc>
                <a:spcPct val="150000"/>
              </a:lnSpc>
            </a:pPr>
            <a:r>
              <a:rPr lang="en-US" sz="1600" b="1" dirty="0">
                <a:latin typeface="Times New Roman" panose="02020603050405020304" pitchFamily="18" charset="0"/>
                <a:cs typeface="Times New Roman" panose="02020603050405020304" pitchFamily="18" charset="0"/>
              </a:rPr>
              <a:t>Marital Status: </a:t>
            </a:r>
            <a:r>
              <a:rPr lang="en-US" sz="1600" dirty="0">
                <a:latin typeface="Times New Roman" panose="02020603050405020304" pitchFamily="18" charset="0"/>
                <a:cs typeface="Times New Roman" panose="02020603050405020304" pitchFamily="18" charset="0"/>
              </a:rPr>
              <a:t>Unmarried</a:t>
            </a:r>
          </a:p>
          <a:p>
            <a:pPr>
              <a:lnSpc>
                <a:spcPct val="150000"/>
              </a:lnSpc>
            </a:pPr>
            <a:r>
              <a:rPr lang="en-US" sz="1600" b="1" dirty="0">
                <a:latin typeface="Times New Roman" panose="02020603050405020304" pitchFamily="18" charset="0"/>
                <a:cs typeface="Times New Roman" panose="02020603050405020304" pitchFamily="18" charset="0"/>
              </a:rPr>
              <a:t>Religion: </a:t>
            </a:r>
            <a:r>
              <a:rPr lang="en-US" sz="1600" dirty="0">
                <a:latin typeface="Times New Roman" panose="02020603050405020304" pitchFamily="18" charset="0"/>
                <a:cs typeface="Times New Roman" panose="02020603050405020304" pitchFamily="18" charset="0"/>
              </a:rPr>
              <a:t>Hindu</a:t>
            </a:r>
          </a:p>
          <a:p>
            <a:pPr>
              <a:lnSpc>
                <a:spcPct val="150000"/>
              </a:lnSpc>
            </a:pPr>
            <a:r>
              <a:rPr lang="en-US" sz="1600" b="1" dirty="0">
                <a:latin typeface="Times New Roman" panose="02020603050405020304" pitchFamily="18" charset="0"/>
                <a:cs typeface="Times New Roman" panose="02020603050405020304" pitchFamily="18" charset="0"/>
              </a:rPr>
              <a:t>Education: </a:t>
            </a:r>
            <a:r>
              <a:rPr lang="en-US" sz="1600" dirty="0">
                <a:latin typeface="Times New Roman" panose="02020603050405020304" pitchFamily="18" charset="0"/>
                <a:cs typeface="Times New Roman" panose="02020603050405020304" pitchFamily="18" charset="0"/>
              </a:rPr>
              <a:t>Graduate</a:t>
            </a:r>
          </a:p>
          <a:p>
            <a:pPr>
              <a:lnSpc>
                <a:spcPct val="150000"/>
              </a:lnSpc>
            </a:pPr>
            <a:r>
              <a:rPr lang="en-US" sz="1600" b="1" dirty="0">
                <a:latin typeface="Times New Roman" panose="02020603050405020304" pitchFamily="18" charset="0"/>
                <a:cs typeface="Times New Roman" panose="02020603050405020304" pitchFamily="18" charset="0"/>
              </a:rPr>
              <a:t>Occupation: </a:t>
            </a:r>
            <a:r>
              <a:rPr lang="en-US" sz="1600" dirty="0">
                <a:latin typeface="Times New Roman" panose="02020603050405020304" pitchFamily="18" charset="0"/>
                <a:cs typeface="Times New Roman" panose="02020603050405020304" pitchFamily="18" charset="0"/>
              </a:rPr>
              <a:t>Unemployed</a:t>
            </a:r>
          </a:p>
          <a:p>
            <a:pPr>
              <a:lnSpc>
                <a:spcPct val="150000"/>
              </a:lnSpc>
            </a:pPr>
            <a:r>
              <a:rPr lang="en-US" sz="1600" b="1" dirty="0">
                <a:latin typeface="Times New Roman" panose="02020603050405020304" pitchFamily="18" charset="0"/>
                <a:cs typeface="Times New Roman" panose="02020603050405020304" pitchFamily="18" charset="0"/>
              </a:rPr>
              <a:t>Age: </a:t>
            </a:r>
            <a:r>
              <a:rPr lang="en-US" sz="1600" dirty="0">
                <a:latin typeface="Times New Roman" panose="02020603050405020304" pitchFamily="18" charset="0"/>
                <a:cs typeface="Times New Roman" panose="02020603050405020304" pitchFamily="18" charset="0"/>
              </a:rPr>
              <a:t>24 years</a:t>
            </a:r>
          </a:p>
          <a:p>
            <a:pPr>
              <a:lnSpc>
                <a:spcPct val="150000"/>
              </a:lnSpc>
            </a:pPr>
            <a:r>
              <a:rPr lang="en-US" sz="1600" b="1" dirty="0">
                <a:latin typeface="Times New Roman" panose="02020603050405020304" pitchFamily="18" charset="0"/>
                <a:cs typeface="Times New Roman" panose="02020603050405020304" pitchFamily="18" charset="0"/>
              </a:rPr>
              <a:t>Socio-Economic Status: </a:t>
            </a:r>
            <a:r>
              <a:rPr lang="en-US" sz="1600" dirty="0">
                <a:latin typeface="Times New Roman" panose="02020603050405020304" pitchFamily="18" charset="0"/>
                <a:cs typeface="Times New Roman" panose="02020603050405020304" pitchFamily="18" charset="0"/>
              </a:rPr>
              <a:t>Lower middle</a:t>
            </a:r>
          </a:p>
          <a:p>
            <a:pPr>
              <a:lnSpc>
                <a:spcPct val="150000"/>
              </a:lnSpc>
            </a:pPr>
            <a:r>
              <a:rPr lang="en-US" sz="1600" b="1" dirty="0">
                <a:latin typeface="Times New Roman" panose="02020603050405020304" pitchFamily="18" charset="0"/>
                <a:cs typeface="Times New Roman" panose="02020603050405020304" pitchFamily="18" charset="0"/>
              </a:rPr>
              <a:t>Address: </a:t>
            </a:r>
            <a:r>
              <a:rPr lang="en-US" sz="1600" dirty="0">
                <a:latin typeface="Times New Roman" panose="02020603050405020304" pitchFamily="18" charset="0"/>
                <a:cs typeface="Times New Roman" panose="02020603050405020304" pitchFamily="18" charset="0"/>
              </a:rPr>
              <a:t>Ashoknagar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INFORMANT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Name: </a:t>
            </a:r>
            <a:r>
              <a:rPr lang="en-US" sz="1600" dirty="0">
                <a:latin typeface="Times New Roman" panose="02020603050405020304" pitchFamily="18" charset="0"/>
                <a:cs typeface="Times New Roman" panose="02020603050405020304" pitchFamily="18" charset="0"/>
              </a:rPr>
              <a:t>Johan Singh</a:t>
            </a:r>
          </a:p>
          <a:p>
            <a:pPr>
              <a:lnSpc>
                <a:spcPct val="150000"/>
              </a:lnSpc>
            </a:pPr>
            <a:r>
              <a:rPr lang="en-US" sz="1600" b="1" dirty="0">
                <a:latin typeface="Times New Roman" panose="02020603050405020304" pitchFamily="18" charset="0"/>
                <a:cs typeface="Times New Roman" panose="02020603050405020304" pitchFamily="18" charset="0"/>
              </a:rPr>
              <a:t>Relationship: </a:t>
            </a:r>
            <a:r>
              <a:rPr lang="en-US" sz="1600" dirty="0">
                <a:latin typeface="Times New Roman" panose="02020603050405020304" pitchFamily="18" charset="0"/>
                <a:cs typeface="Times New Roman" panose="02020603050405020304" pitchFamily="18" charset="0"/>
              </a:rPr>
              <a:t>Father</a:t>
            </a:r>
          </a:p>
          <a:p>
            <a:pPr>
              <a:lnSpc>
                <a:spcPct val="150000"/>
              </a:lnSpc>
            </a:pPr>
            <a:r>
              <a:rPr lang="en-US" sz="1600" b="1" dirty="0">
                <a:latin typeface="Times New Roman" panose="02020603050405020304" pitchFamily="18" charset="0"/>
                <a:cs typeface="Times New Roman" panose="02020603050405020304" pitchFamily="18" charset="0"/>
              </a:rPr>
              <a:t>Duration of Acquaintance: </a:t>
            </a:r>
            <a:r>
              <a:rPr lang="en-US" sz="1600" dirty="0">
                <a:latin typeface="Times New Roman" panose="02020603050405020304" pitchFamily="18" charset="0"/>
                <a:cs typeface="Times New Roman" panose="02020603050405020304" pitchFamily="18" charset="0"/>
              </a:rPr>
              <a:t>24 years</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Reliability and Adequacy: </a:t>
            </a:r>
            <a:r>
              <a:rPr lang="en-US" sz="1600" dirty="0">
                <a:latin typeface="Times New Roman" panose="02020603050405020304" pitchFamily="18" charset="0"/>
                <a:cs typeface="Times New Roman" panose="02020603050405020304" pitchFamily="18" charset="0"/>
              </a:rPr>
              <a:t>The given information is reliable and adequate.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CHIEF COMPLAINTS (as per patient and informant)</a:t>
            </a:r>
          </a:p>
          <a:p>
            <a:pPr>
              <a:lnSpc>
                <a:spcPct val="150000"/>
              </a:lnSpc>
            </a:pPr>
            <a:r>
              <a:rPr lang="en-US" sz="1600"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Washing hands repetitively multiple times a day — since 4 years.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Repetitive checking behaviour.</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Cleaning the washroom and her room every time she uses the washroom — since 4 years.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Repetitive sexual thoughts and images of everyone she engages in conversation with — since 4 years.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Low mood and socially withdrawn behaviour — since 2 years.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Diminished sleep and appetite — since 2 years.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Reason for Consultation: </a:t>
            </a:r>
            <a:r>
              <a:rPr lang="en-US" sz="1600" dirty="0">
                <a:latin typeface="Times New Roman" panose="02020603050405020304" pitchFamily="18" charset="0"/>
                <a:cs typeface="Times New Roman" panose="02020603050405020304" pitchFamily="18" charset="0"/>
              </a:rPr>
              <a:t>The patient was brought for psychiatric consultation and psychological assessment due to her presenting problems.</a:t>
            </a:r>
          </a:p>
          <a:p>
            <a:pPr>
              <a:lnSpc>
                <a:spcPct val="150000"/>
              </a:lnSpc>
            </a:pPr>
            <a:r>
              <a:rPr lang="en-US" sz="1600" b="1" dirty="0">
                <a:latin typeface="Times New Roman" panose="02020603050405020304" pitchFamily="18" charset="0"/>
                <a:cs typeface="Times New Roman" panose="02020603050405020304" pitchFamily="18" charset="0"/>
              </a:rPr>
              <a:t>Total Duration: </a:t>
            </a:r>
            <a:r>
              <a:rPr lang="en-US" sz="1600" dirty="0">
                <a:latin typeface="Times New Roman" panose="02020603050405020304" pitchFamily="18" charset="0"/>
                <a:cs typeface="Times New Roman" panose="02020603050405020304" pitchFamily="18" charset="0"/>
              </a:rPr>
              <a:t>4 to 5 years</a:t>
            </a:r>
          </a:p>
          <a:p>
            <a:pPr>
              <a:lnSpc>
                <a:spcPct val="150000"/>
              </a:lnSpc>
            </a:pPr>
            <a:r>
              <a:rPr lang="en-US" sz="1600" b="1" dirty="0">
                <a:latin typeface="Times New Roman" panose="02020603050405020304" pitchFamily="18" charset="0"/>
                <a:cs typeface="Times New Roman" panose="02020603050405020304" pitchFamily="18" charset="0"/>
              </a:rPr>
              <a:t>Onset: </a:t>
            </a:r>
            <a:r>
              <a:rPr lang="en-US" sz="1600" dirty="0">
                <a:latin typeface="Times New Roman" panose="02020603050405020304" pitchFamily="18" charset="0"/>
                <a:cs typeface="Times New Roman" panose="02020603050405020304" pitchFamily="18" charset="0"/>
              </a:rPr>
              <a:t>Insidious</a:t>
            </a:r>
          </a:p>
          <a:p>
            <a:pPr>
              <a:lnSpc>
                <a:spcPct val="150000"/>
              </a:lnSpc>
            </a:pPr>
            <a:r>
              <a:rPr lang="en-US" sz="1600" b="1" dirty="0">
                <a:latin typeface="Times New Roman" panose="02020603050405020304" pitchFamily="18" charset="0"/>
                <a:cs typeface="Times New Roman" panose="02020603050405020304" pitchFamily="18" charset="0"/>
              </a:rPr>
              <a:t>Course: </a:t>
            </a:r>
            <a:r>
              <a:rPr lang="en-US" sz="1600" dirty="0">
                <a:latin typeface="Times New Roman" panose="02020603050405020304" pitchFamily="18" charset="0"/>
                <a:cs typeface="Times New Roman" panose="02020603050405020304" pitchFamily="18" charset="0"/>
              </a:rPr>
              <a:t>Continuous</a:t>
            </a:r>
          </a:p>
          <a:p>
            <a:pPr>
              <a:lnSpc>
                <a:spcPct val="150000"/>
              </a:lnSpc>
            </a:pPr>
            <a:r>
              <a:rPr lang="en-US" sz="1600" b="1" dirty="0">
                <a:latin typeface="Times New Roman" panose="02020603050405020304" pitchFamily="18" charset="0"/>
                <a:cs typeface="Times New Roman" panose="02020603050405020304" pitchFamily="18" charset="0"/>
              </a:rPr>
              <a:t>Progress: </a:t>
            </a:r>
            <a:r>
              <a:rPr lang="en-US" sz="1600" dirty="0">
                <a:latin typeface="Times New Roman" panose="02020603050405020304" pitchFamily="18" charset="0"/>
                <a:cs typeface="Times New Roman" panose="02020603050405020304" pitchFamily="18" charset="0"/>
              </a:rPr>
              <a:t>Static</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Predisposing Factor: </a:t>
            </a:r>
            <a:r>
              <a:rPr lang="en-US" sz="1600" dirty="0">
                <a:latin typeface="Times New Roman" panose="02020603050405020304" pitchFamily="18" charset="0"/>
                <a:cs typeface="Times New Roman" panose="02020603050405020304" pitchFamily="18" charset="0"/>
              </a:rPr>
              <a:t>Death of mother at a very young age and lack of parental support.</a:t>
            </a:r>
          </a:p>
          <a:p>
            <a:pPr>
              <a:lnSpc>
                <a:spcPct val="150000"/>
              </a:lnSpc>
            </a:pPr>
            <a:r>
              <a:rPr lang="en-US" sz="1600" b="1" dirty="0">
                <a:latin typeface="Times New Roman" panose="02020603050405020304" pitchFamily="18" charset="0"/>
                <a:cs typeface="Times New Roman" panose="02020603050405020304" pitchFamily="18" charset="0"/>
              </a:rPr>
              <a:t>Precipitating Factor: </a:t>
            </a:r>
            <a:r>
              <a:rPr lang="en-US" sz="1600" dirty="0">
                <a:latin typeface="Times New Roman" panose="02020603050405020304" pitchFamily="18" charset="0"/>
                <a:cs typeface="Times New Roman" panose="02020603050405020304" pitchFamily="18" charset="0"/>
              </a:rPr>
              <a:t>Sexual assault by her grandfather and another relative between 15 and 18 years of age.</a:t>
            </a:r>
          </a:p>
          <a:p>
            <a:pPr>
              <a:lnSpc>
                <a:spcPct val="150000"/>
              </a:lnSpc>
            </a:pPr>
            <a:r>
              <a:rPr lang="en-US" sz="1600" b="1" dirty="0">
                <a:latin typeface="Times New Roman" panose="02020603050405020304" pitchFamily="18" charset="0"/>
                <a:cs typeface="Times New Roman" panose="02020603050405020304" pitchFamily="18" charset="0"/>
              </a:rPr>
              <a:t>Perpetuating Factor: </a:t>
            </a:r>
            <a:r>
              <a:rPr lang="en-US" sz="1600" dirty="0">
                <a:latin typeface="Times New Roman" panose="02020603050405020304" pitchFamily="18" charset="0"/>
                <a:cs typeface="Times New Roman" panose="02020603050405020304" pitchFamily="18" charset="0"/>
              </a:rPr>
              <a:t>Poor medical compliance and poor insight level.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HISTORY OF PRESENTING ILLNESS (HOPI)</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index patient is a 24-year-old unmarried female currently residing in Ashoknagar, unemployed, who completed her education up to graduation and belongs to a lower socioeconomic stratum. She presented with complaints of washing her hands repetitively multiple times a day, taking longer hours to bathe, cleaning the washroom and her room every time she uses the washroom, repetitive sexual thoughts and images of everyone she engages in conversation with, and avoiding eye contact with people since 4 years, along with diminished sleep and appetite for the past two years. The patient reported repetitive checking behaviours, such as checking whether the gas was turned off and repeatedly checking the places where she had kept her belongings. She also reported that she washes her hands again and again because she thinks dirt has accumulated on them, and she takes baths multiple times because she feels she is dirty. She further reported cleaning her washroom again and again, spending a lot of time while bathing, and cleaning her room repeatedly.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HISTORY OF PRESENTING ILLNESS (HOPI)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 also reported that she had multiple sexual dreams involving the people who had sexually assaulted her during childhood, with recurrent images of having sexual relations with them. She reported that now, whenever she looks at anyone, she gets thoughts of having sexual relations with them, and she experiences excessive worry related to these thoughts and wishes that they would stop. She has stopped looking directly at people and avoids eye contact with them, and she has stopped going out of the house to avoid people. The patient also reported that she cannot start conversations with men and has developed hatred towards people who sexually assault girls. Whenever she hears news in her neighbourhood about conflicts in marriages or affairs, she starts questioning the integrity of people and becomes very distressed due to the thoughts she experiences. She has been avoiding eye contact with people, her sleep and appetite are disturbed, and her libido has significantly decreased.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BIOLOGICAL FUNCTIONING</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Sleep: </a:t>
            </a:r>
            <a:r>
              <a:rPr lang="en-US" sz="1600" dirty="0">
                <a:latin typeface="Times New Roman" panose="02020603050405020304" pitchFamily="18" charset="0"/>
                <a:cs typeface="Times New Roman" panose="02020603050405020304" pitchFamily="18" charset="0"/>
              </a:rPr>
              <a:t>Decreased; she faces difficulty initiating sleep during both night-time and day-time, as reported by the patient.</a:t>
            </a:r>
          </a:p>
          <a:p>
            <a:pPr>
              <a:lnSpc>
                <a:spcPct val="150000"/>
              </a:lnSpc>
            </a:pPr>
            <a:r>
              <a:rPr lang="en-US" sz="1600" b="1" dirty="0">
                <a:latin typeface="Times New Roman" panose="02020603050405020304" pitchFamily="18" charset="0"/>
                <a:cs typeface="Times New Roman" panose="02020603050405020304" pitchFamily="18" charset="0"/>
              </a:rPr>
              <a:t>Appetite: </a:t>
            </a:r>
            <a:r>
              <a:rPr lang="en-US" sz="1600" dirty="0">
                <a:latin typeface="Times New Roman" panose="02020603050405020304" pitchFamily="18" charset="0"/>
                <a:cs typeface="Times New Roman" panose="02020603050405020304" pitchFamily="18" charset="0"/>
              </a:rPr>
              <a:t>Decreased, as reported by the patient.</a:t>
            </a:r>
          </a:p>
          <a:p>
            <a:pPr>
              <a:lnSpc>
                <a:spcPct val="150000"/>
              </a:lnSpc>
            </a:pPr>
            <a:r>
              <a:rPr lang="en-US" sz="1600" b="1" dirty="0">
                <a:latin typeface="Times New Roman" panose="02020603050405020304" pitchFamily="18" charset="0"/>
                <a:cs typeface="Times New Roman" panose="02020603050405020304" pitchFamily="18" charset="0"/>
              </a:rPr>
              <a:t>Self-care: </a:t>
            </a:r>
            <a:r>
              <a:rPr lang="en-US" sz="1600" dirty="0">
                <a:latin typeface="Times New Roman" panose="02020603050405020304" pitchFamily="18" charset="0"/>
                <a:cs typeface="Times New Roman" panose="02020603050405020304" pitchFamily="18" charset="0"/>
              </a:rPr>
              <a:t>Adequate; she is able to take proper care of herself.</a:t>
            </a:r>
          </a:p>
          <a:p>
            <a:pPr>
              <a:lnSpc>
                <a:spcPct val="150000"/>
              </a:lnSpc>
            </a:pPr>
            <a:r>
              <a:rPr lang="en-US" sz="1600" b="1" dirty="0">
                <a:latin typeface="Times New Roman" panose="02020603050405020304" pitchFamily="18" charset="0"/>
                <a:cs typeface="Times New Roman" panose="02020603050405020304" pitchFamily="18" charset="0"/>
              </a:rPr>
              <a:t>Bowel and Bladder: </a:t>
            </a:r>
            <a:r>
              <a:rPr lang="en-US" sz="1600" dirty="0">
                <a:latin typeface="Times New Roman" panose="02020603050405020304" pitchFamily="18" charset="0"/>
                <a:cs typeface="Times New Roman" panose="02020603050405020304" pitchFamily="18" charset="0"/>
              </a:rPr>
              <a:t>No disturbance in her bowel and bladder movements.</a:t>
            </a:r>
          </a:p>
          <a:p>
            <a:pPr>
              <a:lnSpc>
                <a:spcPct val="150000"/>
              </a:lnSpc>
            </a:pPr>
            <a:r>
              <a:rPr lang="en-US" sz="1600" b="1" dirty="0">
                <a:latin typeface="Times New Roman" panose="02020603050405020304" pitchFamily="18" charset="0"/>
                <a:cs typeface="Times New Roman" panose="02020603050405020304" pitchFamily="18" charset="0"/>
              </a:rPr>
              <a:t>Libido: </a:t>
            </a:r>
            <a:r>
              <a:rPr lang="en-US" sz="1600" dirty="0">
                <a:latin typeface="Times New Roman" panose="02020603050405020304" pitchFamily="18" charset="0"/>
                <a:cs typeface="Times New Roman" panose="02020603050405020304" pitchFamily="18" charset="0"/>
              </a:rPr>
              <a:t>Low libido level reported by the patient; she said she has no desire to engage in sexual relations with anyone.</a:t>
            </a:r>
          </a:p>
          <a:p>
            <a:pPr>
              <a:lnSpc>
                <a:spcPct val="150000"/>
              </a:lnSpc>
            </a:pPr>
            <a:r>
              <a:rPr lang="en-US" sz="1600" b="1" dirty="0">
                <a:latin typeface="Times New Roman" panose="02020603050405020304" pitchFamily="18" charset="0"/>
                <a:cs typeface="Times New Roman" panose="02020603050405020304" pitchFamily="18" charset="0"/>
              </a:rPr>
              <a:t>Occupational Functioning: </a:t>
            </a:r>
            <a:r>
              <a:rPr lang="en-US" sz="1600" dirty="0">
                <a:latin typeface="Times New Roman" panose="02020603050405020304" pitchFamily="18" charset="0"/>
                <a:cs typeface="Times New Roman" panose="02020603050405020304" pitchFamily="18" charset="0"/>
              </a:rPr>
              <a:t>Impaired; she has left her studies for the past few months, is not able to attend college, and is not able to work at home properly.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NEGATIVE HISTORY</a:t>
            </a:r>
          </a:p>
          <a:p>
            <a:pPr>
              <a:lnSpc>
                <a:spcPct val="150000"/>
              </a:lnSpc>
            </a:pPr>
            <a:r>
              <a:rPr lang="en-US" sz="1600"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history suggestive of brain fever, head injury, vomiting, or fits-like symptoms such as frothing of the mouth, rigidity in the body, rolling of eyes followed by unconsciousness and urination.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history suggestive of intake of any substance, alcohol, cannabis, nicotine, or caffeine.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history suggestive of hearing voices in the absence of others, talking to self, aimless roaming, feelings of doubt towards others, or excessive fear towards others.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history suggestive of increased talk, self-boasting, elevated mood, increased energy, or decreased need for sleep.</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history suggestive of breathlessness, choking, trembling of hands, dry mouth, increased sweating, or increased heart rate.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history suggestive of increased impulsivity, increased emotionality, fear of being left again, or following rules strictly.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TREATMENT HISTORY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Medical History: </a:t>
            </a:r>
            <a:r>
              <a:rPr lang="en-US" sz="1600" dirty="0">
                <a:latin typeface="Times New Roman" panose="02020603050405020304" pitchFamily="18" charset="0"/>
                <a:cs typeface="Times New Roman" panose="02020603050405020304" pitchFamily="18" charset="0"/>
              </a:rPr>
              <a:t>The patient has no significant past medical history.</a:t>
            </a:r>
          </a:p>
          <a:p>
            <a:pPr>
              <a:lnSpc>
                <a:spcPct val="150000"/>
              </a:lnSpc>
            </a:pPr>
            <a:r>
              <a:rPr lang="en-US" sz="1600" b="1" dirty="0">
                <a:latin typeface="Times New Roman" panose="02020603050405020304" pitchFamily="18" charset="0"/>
                <a:cs typeface="Times New Roman" panose="02020603050405020304" pitchFamily="18" charset="0"/>
              </a:rPr>
              <a:t>Psychiatric History: </a:t>
            </a:r>
            <a:r>
              <a:rPr lang="en-US" sz="1600" dirty="0">
                <a:latin typeface="Times New Roman" panose="02020603050405020304" pitchFamily="18" charset="0"/>
                <a:cs typeface="Times New Roman" panose="02020603050405020304" pitchFamily="18" charset="0"/>
              </a:rPr>
              <a:t>The patient has been seeking treatment from MAN Psychiatric Clinic for the past 2 months.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FAMILY HISTORY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Family History of Medical/Psychiatric Disorders: </a:t>
            </a:r>
            <a:r>
              <a:rPr lang="en-US" sz="1600" dirty="0">
                <a:latin typeface="Times New Roman" panose="02020603050405020304" pitchFamily="18" charset="0"/>
                <a:cs typeface="Times New Roman" panose="02020603050405020304" pitchFamily="18" charset="0"/>
              </a:rPr>
              <a:t>No past medical or psychiatric history, as per the patient and informant.</a:t>
            </a:r>
          </a:p>
          <a:p>
            <a:pPr>
              <a:lnSpc>
                <a:spcPct val="150000"/>
              </a:lnSpc>
            </a:pPr>
            <a:r>
              <a:rPr lang="en-US" sz="1600" b="1" dirty="0">
                <a:latin typeface="Times New Roman" panose="02020603050405020304" pitchFamily="18" charset="0"/>
                <a:cs typeface="Times New Roman" panose="02020603050405020304" pitchFamily="18" charset="0"/>
              </a:rPr>
              <a:t>Primary Caregiver: </a:t>
            </a:r>
            <a:r>
              <a:rPr lang="en-US" sz="1600" dirty="0">
                <a:latin typeface="Times New Roman" panose="02020603050405020304" pitchFamily="18" charset="0"/>
                <a:cs typeface="Times New Roman" panose="02020603050405020304" pitchFamily="18" charset="0"/>
              </a:rPr>
              <a:t>Father is the primary caregiver.</a:t>
            </a:r>
          </a:p>
          <a:p>
            <a:pPr>
              <a:lnSpc>
                <a:spcPct val="150000"/>
              </a:lnSpc>
            </a:pPr>
            <a:r>
              <a:rPr lang="en-US" sz="1600" b="1" dirty="0">
                <a:latin typeface="Times New Roman" panose="02020603050405020304" pitchFamily="18" charset="0"/>
                <a:cs typeface="Times New Roman" panose="02020603050405020304" pitchFamily="18" charset="0"/>
              </a:rPr>
              <a:t>Type of Communication: </a:t>
            </a:r>
            <a:r>
              <a:rPr lang="en-US" sz="1600" dirty="0">
                <a:latin typeface="Times New Roman" panose="02020603050405020304" pitchFamily="18" charset="0"/>
                <a:cs typeface="Times New Roman" panose="02020603050405020304" pitchFamily="18" charset="0"/>
              </a:rPr>
              <a:t>Restricted communication in the family; she is not able to express herself within her family.</a:t>
            </a:r>
          </a:p>
          <a:p>
            <a:pPr>
              <a:lnSpc>
                <a:spcPct val="150000"/>
              </a:lnSpc>
            </a:pPr>
            <a:r>
              <a:rPr lang="en-US" sz="1600" b="1" dirty="0">
                <a:latin typeface="Times New Roman" panose="02020603050405020304" pitchFamily="18" charset="0"/>
                <a:cs typeface="Times New Roman" panose="02020603050405020304" pitchFamily="18" charset="0"/>
              </a:rPr>
              <a:t>Family Understanding of Illness: </a:t>
            </a:r>
            <a:r>
              <a:rPr lang="en-US" sz="1600" dirty="0">
                <a:latin typeface="Times New Roman" panose="02020603050405020304" pitchFamily="18" charset="0"/>
                <a:cs typeface="Times New Roman" panose="02020603050405020304" pitchFamily="18" charset="0"/>
              </a:rPr>
              <a:t>The family is able to understand the type of illness but is not able to understand the nature of the illness.</a:t>
            </a:r>
          </a:p>
          <a:p>
            <a:pPr>
              <a:lnSpc>
                <a:spcPct val="150000"/>
              </a:lnSpc>
            </a:pPr>
            <a:r>
              <a:rPr lang="en-US" sz="1600" b="1" dirty="0">
                <a:latin typeface="Times New Roman" panose="02020603050405020304" pitchFamily="18" charset="0"/>
                <a:cs typeface="Times New Roman" panose="02020603050405020304" pitchFamily="18" charset="0"/>
              </a:rPr>
              <a:t>Family Members’ Attitude Towards the Patient: </a:t>
            </a:r>
            <a:r>
              <a:rPr lang="en-US" sz="1600" dirty="0">
                <a:latin typeface="Times New Roman" panose="02020603050405020304" pitchFamily="18" charset="0"/>
                <a:cs typeface="Times New Roman" panose="02020603050405020304" pitchFamily="18" charset="0"/>
              </a:rPr>
              <a:t>The family is supportive, but she had a conflictual relationship within the family.</a:t>
            </a:r>
          </a:p>
          <a:p>
            <a:pPr>
              <a:lnSpc>
                <a:spcPct val="150000"/>
              </a:lnSpc>
            </a:pPr>
            <a:r>
              <a:rPr lang="en-US" sz="1600" b="1" dirty="0">
                <a:latin typeface="Times New Roman" panose="02020603050405020304" pitchFamily="18" charset="0"/>
                <a:cs typeface="Times New Roman" panose="02020603050405020304" pitchFamily="18" charset="0"/>
              </a:rPr>
              <a:t>Family Stressors and Discords: </a:t>
            </a:r>
            <a:r>
              <a:rPr lang="en-US" sz="1600" dirty="0">
                <a:latin typeface="Times New Roman" panose="02020603050405020304" pitchFamily="18" charset="0"/>
                <a:cs typeface="Times New Roman" panose="02020603050405020304" pitchFamily="18" charset="0"/>
              </a:rPr>
              <a:t>Since childhood, the patient has not been living with her own parents and used to live with her uncle and aunt (bua, fufaji).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PERSONAL HISTORY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Birth and Early Development: </a:t>
            </a:r>
            <a:r>
              <a:rPr lang="en-US" sz="1600" dirty="0">
                <a:latin typeface="Times New Roman" panose="02020603050405020304" pitchFamily="18" charset="0"/>
                <a:cs typeface="Times New Roman" panose="02020603050405020304" pitchFamily="18" charset="0"/>
              </a:rPr>
              <a:t>As reported by the parents, the patient was born through normal delivery after the full nine months of gestation. The birth cry was present, and no immediate postnatal complications were reported. Developmental milestones were age-appropriate.</a:t>
            </a:r>
          </a:p>
          <a:p>
            <a:pPr>
              <a:lnSpc>
                <a:spcPct val="150000"/>
              </a:lnSpc>
            </a:pPr>
            <a:r>
              <a:rPr lang="en-US" sz="1600" b="1" dirty="0">
                <a:latin typeface="Times New Roman" panose="02020603050405020304" pitchFamily="18" charset="0"/>
                <a:cs typeface="Times New Roman" panose="02020603050405020304" pitchFamily="18" charset="0"/>
              </a:rPr>
              <a:t>Behaviour During Childhood: </a:t>
            </a:r>
            <a:r>
              <a:rPr lang="en-US" sz="1600" dirty="0">
                <a:latin typeface="Times New Roman" panose="02020603050405020304" pitchFamily="18" charset="0"/>
                <a:cs typeface="Times New Roman" panose="02020603050405020304" pitchFamily="18" charset="0"/>
              </a:rPr>
              <a:t>As reported by the patient, she exhibited adequate and age-appropriate behaviour; no significant behavioural difficulties were reported by the informant.</a:t>
            </a:r>
          </a:p>
          <a:p>
            <a:pPr>
              <a:lnSpc>
                <a:spcPct val="150000"/>
              </a:lnSpc>
            </a:pPr>
            <a:r>
              <a:rPr lang="en-US" sz="1600" b="1" dirty="0">
                <a:latin typeface="Times New Roman" panose="02020603050405020304" pitchFamily="18" charset="0"/>
                <a:cs typeface="Times New Roman" panose="02020603050405020304" pitchFamily="18" charset="0"/>
              </a:rPr>
              <a:t>Physical Illness During Childhood: </a:t>
            </a:r>
            <a:r>
              <a:rPr lang="en-US" sz="1600" dirty="0">
                <a:latin typeface="Times New Roman" panose="02020603050405020304" pitchFamily="18" charset="0"/>
                <a:cs typeface="Times New Roman" panose="02020603050405020304" pitchFamily="18" charset="0"/>
              </a:rPr>
              <a:t>No significant physical illness during childhood was reported.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PERSONAL HISTORY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Home Atmosphere During Childhood and Adolescence: </a:t>
            </a:r>
            <a:r>
              <a:rPr lang="en-US" sz="1600" dirty="0">
                <a:latin typeface="Times New Roman" panose="02020603050405020304" pitchFamily="18" charset="0"/>
                <a:cs typeface="Times New Roman" panose="02020603050405020304" pitchFamily="18" charset="0"/>
              </a:rPr>
              <a:t>The home atmosphere during the patient’s childhood was conflictual, as she lost her mother at a very young age and started living with her bua and fufaji, where she was sexually assaulted and was not able to express her feelings properly to her father.</a:t>
            </a:r>
          </a:p>
          <a:p>
            <a:pPr>
              <a:lnSpc>
                <a:spcPct val="150000"/>
              </a:lnSpc>
            </a:pPr>
            <a:r>
              <a:rPr lang="en-US" sz="1600" b="1" dirty="0">
                <a:latin typeface="Times New Roman" panose="02020603050405020304" pitchFamily="18" charset="0"/>
                <a:cs typeface="Times New Roman" panose="02020603050405020304" pitchFamily="18" charset="0"/>
              </a:rPr>
              <a:t>Scholastic and Extracurricular Activities: </a:t>
            </a:r>
            <a:r>
              <a:rPr lang="en-US" sz="1600" dirty="0">
                <a:latin typeface="Times New Roman" panose="02020603050405020304" pitchFamily="18" charset="0"/>
                <a:cs typeface="Times New Roman" panose="02020603050405020304" pitchFamily="18" charset="0"/>
              </a:rPr>
              <a:t>The patient was an average performer in academics. No significant participation in extracurricular activities was reported.</a:t>
            </a:r>
          </a:p>
          <a:p>
            <a:pPr>
              <a:lnSpc>
                <a:spcPct val="150000"/>
              </a:lnSpc>
            </a:pPr>
            <a:r>
              <a:rPr lang="en-US" sz="1600" b="1" dirty="0">
                <a:latin typeface="Times New Roman" panose="02020603050405020304" pitchFamily="18" charset="0"/>
                <a:cs typeface="Times New Roman" panose="02020603050405020304" pitchFamily="18" charset="0"/>
              </a:rPr>
              <a:t>Occupation: </a:t>
            </a:r>
            <a:r>
              <a:rPr lang="en-US" sz="1600" dirty="0">
                <a:latin typeface="Times New Roman" panose="02020603050405020304" pitchFamily="18" charset="0"/>
                <a:cs typeface="Times New Roman" panose="02020603050405020304" pitchFamily="18" charset="0"/>
              </a:rPr>
              <a:t>Currently a dropout from studies and unemployed.</a:t>
            </a:r>
          </a:p>
          <a:p>
            <a:pPr>
              <a:lnSpc>
                <a:spcPct val="150000"/>
              </a:lnSpc>
            </a:pPr>
            <a:r>
              <a:rPr lang="en-US" sz="1600" b="1" dirty="0">
                <a:latin typeface="Times New Roman" panose="02020603050405020304" pitchFamily="18" charset="0"/>
                <a:cs typeface="Times New Roman" panose="02020603050405020304" pitchFamily="18" charset="0"/>
              </a:rPr>
              <a:t>Menstrual History: </a:t>
            </a:r>
            <a:r>
              <a:rPr lang="en-US" sz="1600" dirty="0">
                <a:latin typeface="Times New Roman" panose="02020603050405020304" pitchFamily="18" charset="0"/>
                <a:cs typeface="Times New Roman" panose="02020603050405020304" pitchFamily="18" charset="0"/>
              </a:rPr>
              <a:t>Period cycle is regular.</a:t>
            </a:r>
          </a:p>
          <a:p>
            <a:pPr>
              <a:lnSpc>
                <a:spcPct val="150000"/>
              </a:lnSpc>
            </a:pPr>
            <a:r>
              <a:rPr lang="en-US" sz="1600" b="1" dirty="0">
                <a:latin typeface="Times New Roman" panose="02020603050405020304" pitchFamily="18" charset="0"/>
                <a:cs typeface="Times New Roman" panose="02020603050405020304" pitchFamily="18" charset="0"/>
              </a:rPr>
              <a:t>Sexual/Masturbation History: </a:t>
            </a:r>
            <a:r>
              <a:rPr lang="en-US" sz="1600" dirty="0">
                <a:latin typeface="Times New Roman" panose="02020603050405020304" pitchFamily="18" charset="0"/>
                <a:cs typeface="Times New Roman" panose="02020603050405020304" pitchFamily="18" charset="0"/>
              </a:rPr>
              <a:t>No sexual relations maintained; no masturbation practices reported by the patient.</a:t>
            </a:r>
          </a:p>
          <a:p>
            <a:pPr>
              <a:lnSpc>
                <a:spcPct val="150000"/>
              </a:lnSpc>
            </a:pPr>
            <a:r>
              <a:rPr lang="en-US" sz="1600" b="1" dirty="0">
                <a:latin typeface="Times New Roman" panose="02020603050405020304" pitchFamily="18" charset="0"/>
                <a:cs typeface="Times New Roman" panose="02020603050405020304" pitchFamily="18" charset="0"/>
              </a:rPr>
              <a:t>Marital History: </a:t>
            </a:r>
            <a:r>
              <a:rPr lang="en-US" sz="1600" dirty="0">
                <a:latin typeface="Times New Roman" panose="02020603050405020304" pitchFamily="18" charset="0"/>
                <a:cs typeface="Times New Roman" panose="02020603050405020304" pitchFamily="18" charset="0"/>
              </a:rPr>
              <a:t>Unmarried.</a:t>
            </a:r>
          </a:p>
          <a:p>
            <a:pPr>
              <a:lnSpc>
                <a:spcPct val="150000"/>
              </a:lnSpc>
            </a:pPr>
            <a:r>
              <a:rPr lang="en-US" sz="1600" b="1" dirty="0">
                <a:latin typeface="Times New Roman" panose="02020603050405020304" pitchFamily="18" charset="0"/>
                <a:cs typeface="Times New Roman" panose="02020603050405020304" pitchFamily="18" charset="0"/>
              </a:rPr>
              <a:t>Substance Use History: </a:t>
            </a:r>
            <a:r>
              <a:rPr lang="en-US" sz="1600" dirty="0">
                <a:latin typeface="Times New Roman" panose="02020603050405020304" pitchFamily="18" charset="0"/>
                <a:cs typeface="Times New Roman" panose="02020603050405020304" pitchFamily="18" charset="0"/>
              </a:rPr>
              <a:t>Not significantly found.</a:t>
            </a:r>
          </a:p>
          <a:p>
            <a:pPr>
              <a:lnSpc>
                <a:spcPct val="150000"/>
              </a:lnSpc>
            </a:pPr>
            <a:r>
              <a:rPr lang="en-US" sz="1600" b="1" dirty="0">
                <a:latin typeface="Times New Roman" panose="02020603050405020304" pitchFamily="18" charset="0"/>
                <a:cs typeface="Times New Roman" panose="02020603050405020304" pitchFamily="18" charset="0"/>
              </a:rPr>
              <a:t>Forensic History: </a:t>
            </a:r>
            <a:r>
              <a:rPr lang="en-US" sz="1600" dirty="0">
                <a:latin typeface="Times New Roman" panose="02020603050405020304" pitchFamily="18" charset="0"/>
                <a:cs typeface="Times New Roman" panose="02020603050405020304" pitchFamily="18" charset="0"/>
              </a:rPr>
              <a:t>Not significantly found.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PREMORBID PERSONALITY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patient’s premorbid functioning was generally appropriate, as she was able to manage her daily activities at an age-appropriate level prior to the onset of the present illness. However, her social and interpersonal functioning reflected notable difficulties, particularly in forming and maintaining satisfactory relationships with peers of her own age group. Although she was described as having conflicts with age-appropriate individuals, she appeared relatively more comfortable and less conflictual in her interactions with younger individuals.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PREMORBID PERSONALITY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In terms of work and responsibility, the patient demonstrated responsibility towards assigned tasks and showed the ability to initiate work; however, there was marked inconsistency in completing responsibilities, often requiring supervision or external reminders. Her reaction to stress was characterised by increased irritability and anger, with a tendency to respond impulsively rather than employing adaptive coping strategies, suggesting low stress tolerance. Regarding intellectual activities and hobbies, no significant engagement in structured or skill-based leisure activities was reported, and the patient did not demonstrate sustained interest in such pursuits. The patient’s premorbid mood was predominantly euthymic, with no significant or persistent symptoms indicative of mood disturbance prior to the onset of current difficulties.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MENTAL STATUS EXAMINATION</a:t>
            </a:r>
          </a:p>
          <a:p>
            <a:pPr>
              <a:lnSpc>
                <a:spcPct val="150000"/>
              </a:lnSpc>
            </a:pPr>
            <a:r>
              <a:rPr lang="en-US" sz="1600" b="1" dirty="0">
                <a:latin typeface="Times New Roman" panose="02020603050405020304" pitchFamily="18" charset="0"/>
                <a:cs typeface="Times New Roman" panose="02020603050405020304" pitchFamily="18" charset="0"/>
              </a:rPr>
              <a:t>General Appearance &amp; Behaviour</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Physical Appearance: </a:t>
            </a:r>
            <a:r>
              <a:rPr lang="en-US" sz="1600" dirty="0">
                <a:latin typeface="Times New Roman" panose="02020603050405020304" pitchFamily="18" charset="0"/>
                <a:cs typeface="Times New Roman" panose="02020603050405020304" pitchFamily="18" charset="0"/>
              </a:rPr>
              <a:t>The patient appeared well-kempt. She was dressed in neat, clean, and age-appropriate clothing.</a:t>
            </a:r>
          </a:p>
          <a:p>
            <a:pPr>
              <a:lnSpc>
                <a:spcPct val="150000"/>
              </a:lnSpc>
            </a:pPr>
            <a:r>
              <a:rPr lang="en-US" sz="1600" b="1" dirty="0">
                <a:latin typeface="Times New Roman" panose="02020603050405020304" pitchFamily="18" charset="0"/>
                <a:cs typeface="Times New Roman" panose="02020603050405020304" pitchFamily="18" charset="0"/>
              </a:rPr>
              <a:t>Entry into the Room: </a:t>
            </a:r>
            <a:r>
              <a:rPr lang="en-US" sz="1600" dirty="0">
                <a:latin typeface="Times New Roman" panose="02020603050405020304" pitchFamily="18" charset="0"/>
                <a:cs typeface="Times New Roman" panose="02020603050405020304" pitchFamily="18" charset="0"/>
              </a:rPr>
              <a:t>The patient entered the interview room voluntarily, without any signs of resistance or hesitation.</a:t>
            </a:r>
          </a:p>
          <a:p>
            <a:pPr>
              <a:lnSpc>
                <a:spcPct val="150000"/>
              </a:lnSpc>
            </a:pPr>
            <a:r>
              <a:rPr lang="en-US" sz="1600" b="1" dirty="0">
                <a:latin typeface="Times New Roman" panose="02020603050405020304" pitchFamily="18" charset="0"/>
                <a:cs typeface="Times New Roman" panose="02020603050405020304" pitchFamily="18" charset="0"/>
              </a:rPr>
              <a:t>Facial Expression and Body Language: </a:t>
            </a:r>
            <a:r>
              <a:rPr lang="en-US" sz="1600" dirty="0">
                <a:latin typeface="Times New Roman" panose="02020603050405020304" pitchFamily="18" charset="0"/>
                <a:cs typeface="Times New Roman" panose="02020603050405020304" pitchFamily="18" charset="0"/>
              </a:rPr>
              <a:t>The patient appeared interested in the interview. She actively listened to the questions asked and responded adequately. Her facial expressions and body language were appropriate to the context of interaction.</a:t>
            </a:r>
          </a:p>
          <a:p>
            <a:pPr>
              <a:lnSpc>
                <a:spcPct val="150000"/>
              </a:lnSpc>
            </a:pPr>
            <a:r>
              <a:rPr lang="en-US" sz="1600" b="1" dirty="0">
                <a:latin typeface="Times New Roman" panose="02020603050405020304" pitchFamily="18" charset="0"/>
                <a:cs typeface="Times New Roman" panose="02020603050405020304" pitchFamily="18" charset="0"/>
              </a:rPr>
              <a:t>Personal Hygiene: </a:t>
            </a:r>
            <a:r>
              <a:rPr lang="en-US" sz="1600" dirty="0">
                <a:latin typeface="Times New Roman" panose="02020603050405020304" pitchFamily="18" charset="0"/>
                <a:cs typeface="Times New Roman" panose="02020603050405020304" pitchFamily="18" charset="0"/>
              </a:rPr>
              <a:t>The patient was well-groomed. Her nails were trimmed, hair was combed, and overall personal hygiene was adequately maintained.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General Appearance &amp; Behaviour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Eye Contact: </a:t>
            </a:r>
            <a:r>
              <a:rPr lang="en-US" sz="1600" dirty="0">
                <a:latin typeface="Times New Roman" panose="02020603050405020304" pitchFamily="18" charset="0"/>
                <a:cs typeface="Times New Roman" panose="02020603050405020304" pitchFamily="18" charset="0"/>
              </a:rPr>
              <a:t>The patient made and maintained appropriate eye contact throughout the interview.</a:t>
            </a:r>
          </a:p>
          <a:p>
            <a:pPr>
              <a:lnSpc>
                <a:spcPct val="150000"/>
              </a:lnSpc>
            </a:pPr>
            <a:r>
              <a:rPr lang="en-US" sz="1600" b="1" dirty="0">
                <a:latin typeface="Times New Roman" panose="02020603050405020304" pitchFamily="18" charset="0"/>
                <a:cs typeface="Times New Roman" panose="02020603050405020304" pitchFamily="18" charset="0"/>
              </a:rPr>
              <a:t>Attitude Towards the Examiner: </a:t>
            </a:r>
            <a:r>
              <a:rPr lang="en-US" sz="1600" dirty="0">
                <a:latin typeface="Times New Roman" panose="02020603050405020304" pitchFamily="18" charset="0"/>
                <a:cs typeface="Times New Roman" panose="02020603050405020304" pitchFamily="18" charset="0"/>
              </a:rPr>
              <a:t>The patient’s attitude towards the examiner was guarded in the beginning, until rapport was established.</a:t>
            </a:r>
          </a:p>
          <a:p>
            <a:pPr>
              <a:lnSpc>
                <a:spcPct val="150000"/>
              </a:lnSpc>
            </a:pPr>
            <a:r>
              <a:rPr lang="en-US" sz="1600" b="1" dirty="0">
                <a:latin typeface="Times New Roman" panose="02020603050405020304" pitchFamily="18" charset="0"/>
                <a:cs typeface="Times New Roman" panose="02020603050405020304" pitchFamily="18" charset="0"/>
              </a:rPr>
              <a:t>Rapport: </a:t>
            </a:r>
            <a:r>
              <a:rPr lang="en-US" sz="1600" dirty="0">
                <a:latin typeface="Times New Roman" panose="02020603050405020304" pitchFamily="18" charset="0"/>
                <a:cs typeface="Times New Roman" panose="02020603050405020304" pitchFamily="18" charset="0"/>
              </a:rPr>
              <a:t>Rapport was established with some difficulty.</a:t>
            </a:r>
          </a:p>
          <a:p>
            <a:pPr>
              <a:lnSpc>
                <a:spcPct val="150000"/>
              </a:lnSpc>
            </a:pPr>
            <a:r>
              <a:rPr lang="en-US" sz="1600" b="1" dirty="0">
                <a:latin typeface="Times New Roman" panose="02020603050405020304" pitchFamily="18" charset="0"/>
                <a:cs typeface="Times New Roman" panose="02020603050405020304" pitchFamily="18" charset="0"/>
              </a:rPr>
              <a:t>Behaviour During the Interview: </a:t>
            </a:r>
            <a:r>
              <a:rPr lang="en-US" sz="1600" dirty="0">
                <a:latin typeface="Times New Roman" panose="02020603050405020304" pitchFamily="18" charset="0"/>
                <a:cs typeface="Times New Roman" panose="02020603050405020304" pitchFamily="18" charset="0"/>
              </a:rPr>
              <a:t>The patient remained alert and responsive and showed respectful behaviour during the interview.</a:t>
            </a:r>
          </a:p>
          <a:p>
            <a:pPr>
              <a:lnSpc>
                <a:spcPct val="150000"/>
              </a:lnSpc>
            </a:pPr>
            <a:r>
              <a:rPr lang="en-US" sz="1600" b="1" dirty="0">
                <a:latin typeface="Times New Roman" panose="02020603050405020304" pitchFamily="18" charset="0"/>
                <a:cs typeface="Times New Roman" panose="02020603050405020304" pitchFamily="18" charset="0"/>
              </a:rPr>
              <a:t>Psychomotor Activity: </a:t>
            </a:r>
            <a:r>
              <a:rPr lang="en-US" sz="1600" dirty="0">
                <a:latin typeface="Times New Roman" panose="02020603050405020304" pitchFamily="18" charset="0"/>
                <a:cs typeface="Times New Roman" panose="02020603050405020304" pitchFamily="18" charset="0"/>
              </a:rPr>
              <a:t>Psychomotor activity was goal-directed.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SPEECH</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Coherence: </a:t>
            </a:r>
            <a:r>
              <a:rPr lang="en-US" sz="1600" dirty="0">
                <a:latin typeface="Times New Roman" panose="02020603050405020304" pitchFamily="18" charset="0"/>
                <a:cs typeface="Times New Roman" panose="02020603050405020304" pitchFamily="18" charset="0"/>
              </a:rPr>
              <a:t>Speech was logical and understandable.</a:t>
            </a:r>
          </a:p>
          <a:p>
            <a:pPr>
              <a:lnSpc>
                <a:spcPct val="150000"/>
              </a:lnSpc>
            </a:pPr>
            <a:r>
              <a:rPr lang="en-US" sz="1600" b="1" dirty="0">
                <a:latin typeface="Times New Roman" panose="02020603050405020304" pitchFamily="18" charset="0"/>
                <a:cs typeface="Times New Roman" panose="02020603050405020304" pitchFamily="18" charset="0"/>
              </a:rPr>
              <a:t>Relevance: </a:t>
            </a:r>
            <a:r>
              <a:rPr lang="en-US" sz="1600" dirty="0">
                <a:latin typeface="Times New Roman" panose="02020603050405020304" pitchFamily="18" charset="0"/>
                <a:cs typeface="Times New Roman" panose="02020603050405020304" pitchFamily="18" charset="0"/>
              </a:rPr>
              <a:t>Relevant to the questions asked.</a:t>
            </a:r>
          </a:p>
          <a:p>
            <a:pPr>
              <a:lnSpc>
                <a:spcPct val="150000"/>
              </a:lnSpc>
            </a:pPr>
            <a:r>
              <a:rPr lang="en-US" sz="1600" b="1" dirty="0">
                <a:latin typeface="Times New Roman" panose="02020603050405020304" pitchFamily="18" charset="0"/>
                <a:cs typeface="Times New Roman" panose="02020603050405020304" pitchFamily="18" charset="0"/>
              </a:rPr>
              <a:t>Tone: </a:t>
            </a:r>
            <a:r>
              <a:rPr lang="en-US" sz="1600" dirty="0">
                <a:latin typeface="Times New Roman" panose="02020603050405020304" pitchFamily="18" charset="0"/>
                <a:cs typeface="Times New Roman" panose="02020603050405020304" pitchFamily="18" charset="0"/>
              </a:rPr>
              <a:t>Low.</a:t>
            </a:r>
          </a:p>
          <a:p>
            <a:pPr>
              <a:lnSpc>
                <a:spcPct val="150000"/>
              </a:lnSpc>
            </a:pPr>
            <a:r>
              <a:rPr lang="en-US" sz="1600" b="1" dirty="0">
                <a:latin typeface="Times New Roman" panose="02020603050405020304" pitchFamily="18" charset="0"/>
                <a:cs typeface="Times New Roman" panose="02020603050405020304" pitchFamily="18" charset="0"/>
              </a:rPr>
              <a:t>Tempo: </a:t>
            </a:r>
            <a:r>
              <a:rPr lang="en-US" sz="1600" dirty="0">
                <a:latin typeface="Times New Roman" panose="02020603050405020304" pitchFamily="18" charset="0"/>
                <a:cs typeface="Times New Roman" panose="02020603050405020304" pitchFamily="18" charset="0"/>
              </a:rPr>
              <a:t>Slow.</a:t>
            </a:r>
          </a:p>
          <a:p>
            <a:pPr>
              <a:lnSpc>
                <a:spcPct val="150000"/>
              </a:lnSpc>
            </a:pPr>
            <a:r>
              <a:rPr lang="en-US" sz="1600" b="1" dirty="0">
                <a:latin typeface="Times New Roman" panose="02020603050405020304" pitchFamily="18" charset="0"/>
                <a:cs typeface="Times New Roman" panose="02020603050405020304" pitchFamily="18" charset="0"/>
              </a:rPr>
              <a:t>Reaction Time: </a:t>
            </a:r>
            <a:r>
              <a:rPr lang="en-US" sz="1600" dirty="0">
                <a:latin typeface="Times New Roman" panose="02020603050405020304" pitchFamily="18" charset="0"/>
                <a:cs typeface="Times New Roman" panose="02020603050405020304" pitchFamily="18" charset="0"/>
              </a:rPr>
              <a:t>Adequate reaction time.</a:t>
            </a:r>
          </a:p>
          <a:p>
            <a:pPr>
              <a:lnSpc>
                <a:spcPct val="150000"/>
              </a:lnSpc>
            </a:pPr>
            <a:r>
              <a:rPr lang="en-US" sz="1600" b="1" dirty="0">
                <a:latin typeface="Times New Roman" panose="02020603050405020304" pitchFamily="18" charset="0"/>
                <a:cs typeface="Times New Roman" panose="02020603050405020304" pitchFamily="18" charset="0"/>
              </a:rPr>
              <a:t>Volume: </a:t>
            </a:r>
            <a:r>
              <a:rPr lang="en-US" sz="1600" dirty="0">
                <a:latin typeface="Times New Roman" panose="02020603050405020304" pitchFamily="18" charset="0"/>
                <a:cs typeface="Times New Roman" panose="02020603050405020304" pitchFamily="18" charset="0"/>
              </a:rPr>
              <a:t>Adequate; adequate words were used during the interview.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THOUGHT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Form: </a:t>
            </a:r>
            <a:r>
              <a:rPr lang="en-US" sz="1600" dirty="0">
                <a:latin typeface="Times New Roman" panose="02020603050405020304" pitchFamily="18" charset="0"/>
                <a:cs typeface="Times New Roman" panose="02020603050405020304" pitchFamily="18" charset="0"/>
              </a:rPr>
              <a:t>No disturbance in the form of thought.</a:t>
            </a:r>
          </a:p>
          <a:p>
            <a:pPr>
              <a:lnSpc>
                <a:spcPct val="150000"/>
              </a:lnSpc>
            </a:pPr>
            <a:r>
              <a:rPr lang="en-US" sz="1600" b="1" dirty="0">
                <a:latin typeface="Times New Roman" panose="02020603050405020304" pitchFamily="18" charset="0"/>
                <a:cs typeface="Times New Roman" panose="02020603050405020304" pitchFamily="18" charset="0"/>
              </a:rPr>
              <a:t>Stream: </a:t>
            </a:r>
            <a:r>
              <a:rPr lang="en-US" sz="1600" dirty="0">
                <a:latin typeface="Times New Roman" panose="02020603050405020304" pitchFamily="18" charset="0"/>
                <a:cs typeface="Times New Roman" panose="02020603050405020304" pitchFamily="18" charset="0"/>
              </a:rPr>
              <a:t>Circumstantiality of speech was present.</a:t>
            </a:r>
          </a:p>
          <a:p>
            <a:pPr>
              <a:lnSpc>
                <a:spcPct val="150000"/>
              </a:lnSpc>
            </a:pPr>
            <a:r>
              <a:rPr lang="en-US" sz="1600" b="1" dirty="0">
                <a:latin typeface="Times New Roman" panose="02020603050405020304" pitchFamily="18" charset="0"/>
                <a:cs typeface="Times New Roman" panose="02020603050405020304" pitchFamily="18" charset="0"/>
              </a:rPr>
              <a:t>Possession: </a:t>
            </a:r>
            <a:r>
              <a:rPr lang="en-US" sz="1600" dirty="0">
                <a:latin typeface="Times New Roman" panose="02020603050405020304" pitchFamily="18" charset="0"/>
                <a:cs typeface="Times New Roman" panose="02020603050405020304" pitchFamily="18" charset="0"/>
              </a:rPr>
              <a:t>No disturbance in the possession of thought.</a:t>
            </a:r>
          </a:p>
          <a:p>
            <a:pPr>
              <a:lnSpc>
                <a:spcPct val="150000"/>
              </a:lnSpc>
            </a:pPr>
            <a:r>
              <a:rPr lang="en-US" sz="1600" b="1" dirty="0">
                <a:latin typeface="Times New Roman" panose="02020603050405020304" pitchFamily="18" charset="0"/>
                <a:cs typeface="Times New Roman" panose="02020603050405020304" pitchFamily="18" charset="0"/>
              </a:rPr>
              <a:t>Content: </a:t>
            </a:r>
            <a:r>
              <a:rPr lang="en-US" sz="1600" dirty="0">
                <a:latin typeface="Times New Roman" panose="02020603050405020304" pitchFamily="18" charset="0"/>
                <a:cs typeface="Times New Roman" panose="02020603050405020304" pitchFamily="18" charset="0"/>
              </a:rPr>
              <a:t>Preoccupation with thoughts related to repetitive sexual thoughts was present, along with repetitive hand-washing and repetitive checking behaviour.</a:t>
            </a:r>
          </a:p>
          <a:p>
            <a:pPr>
              <a:lnSpc>
                <a:spcPct val="150000"/>
              </a:lnSpc>
            </a:pPr>
            <a:r>
              <a:rPr lang="en-US" sz="1600" b="1" dirty="0">
                <a:latin typeface="Times New Roman" panose="02020603050405020304" pitchFamily="18" charset="0"/>
                <a:cs typeface="Times New Roman" panose="02020603050405020304" pitchFamily="18" charset="0"/>
              </a:rPr>
              <a:t>Death Wishes: </a:t>
            </a:r>
            <a:r>
              <a:rPr lang="en-US" sz="1600" dirty="0">
                <a:latin typeface="Times New Roman" panose="02020603050405020304" pitchFamily="18" charset="0"/>
                <a:cs typeface="Times New Roman" panose="02020603050405020304" pitchFamily="18" charset="0"/>
              </a:rPr>
              <a:t>Death wishes are present, as she is very stressed by the illness and has death wishes of ending her life due to the ongoing illness.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MOOD AND AFFECT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Subjective: </a:t>
            </a:r>
            <a:r>
              <a:rPr lang="en-US" sz="1600" dirty="0">
                <a:latin typeface="Times New Roman" panose="02020603050405020304" pitchFamily="18" charset="0"/>
                <a:cs typeface="Times New Roman" panose="02020603050405020304" pitchFamily="18" charset="0"/>
              </a:rPr>
              <a:t>“kaafi time se thoda bura sa lagta hai”</a:t>
            </a:r>
          </a:p>
          <a:p>
            <a:pPr>
              <a:lnSpc>
                <a:spcPct val="150000"/>
              </a:lnSpc>
            </a:pPr>
            <a:r>
              <a:rPr lang="en-US" sz="1600" b="1" dirty="0">
                <a:latin typeface="Times New Roman" panose="02020603050405020304" pitchFamily="18" charset="0"/>
                <a:cs typeface="Times New Roman" panose="02020603050405020304" pitchFamily="18" charset="0"/>
              </a:rPr>
              <a:t>Objective: </a:t>
            </a:r>
            <a:r>
              <a:rPr lang="en-US" sz="1600" dirty="0">
                <a:latin typeface="Times New Roman" panose="02020603050405020304" pitchFamily="18" charset="0"/>
                <a:cs typeface="Times New Roman" panose="02020603050405020304" pitchFamily="18" charset="0"/>
              </a:rPr>
              <a:t>Dysphoric.</a:t>
            </a:r>
          </a:p>
          <a:p>
            <a:pPr>
              <a:lnSpc>
                <a:spcPct val="150000"/>
              </a:lnSpc>
            </a:pPr>
            <a:r>
              <a:rPr lang="en-US" sz="1600" dirty="0">
                <a:latin typeface="Times New Roman" panose="02020603050405020304" pitchFamily="18" charset="0"/>
                <a:cs typeface="Times New Roman" panose="02020603050405020304" pitchFamily="18" charset="0"/>
              </a:rPr>
              <a:t>The mood and affect were congruent.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SENSORIUM &amp; PERCEPTION</a:t>
            </a:r>
          </a:p>
          <a:p>
            <a:pPr>
              <a:lnSpc>
                <a:spcPct val="150000"/>
              </a:lnSpc>
            </a:pPr>
            <a:r>
              <a:rPr lang="en-US" sz="1600" b="1" dirty="0">
                <a:latin typeface="Times New Roman" panose="02020603050405020304" pitchFamily="18" charset="0"/>
                <a:cs typeface="Times New Roman" panose="02020603050405020304" pitchFamily="18" charset="0"/>
              </a:rPr>
              <a:t>Illusions: </a:t>
            </a:r>
            <a:r>
              <a:rPr lang="en-US" sz="1600" dirty="0">
                <a:latin typeface="Times New Roman" panose="02020603050405020304" pitchFamily="18" charset="0"/>
                <a:cs typeface="Times New Roman" panose="02020603050405020304" pitchFamily="18" charset="0"/>
              </a:rPr>
              <a:t>Not significantly found.</a:t>
            </a:r>
          </a:p>
          <a:p>
            <a:pPr>
              <a:lnSpc>
                <a:spcPct val="150000"/>
              </a:lnSpc>
            </a:pPr>
            <a:r>
              <a:rPr lang="en-US" sz="1600" b="1" dirty="0">
                <a:latin typeface="Times New Roman" panose="02020603050405020304" pitchFamily="18" charset="0"/>
                <a:cs typeface="Times New Roman" panose="02020603050405020304" pitchFamily="18" charset="0"/>
              </a:rPr>
              <a:t>Hallucinations: </a:t>
            </a:r>
            <a:r>
              <a:rPr lang="en-US" sz="1600" dirty="0">
                <a:latin typeface="Times New Roman" panose="02020603050405020304" pitchFamily="18" charset="0"/>
                <a:cs typeface="Times New Roman" panose="02020603050405020304" pitchFamily="18" charset="0"/>
              </a:rPr>
              <a:t>Not significantly found.</a:t>
            </a:r>
          </a:p>
          <a:p>
            <a:pPr>
              <a:lnSpc>
                <a:spcPct val="150000"/>
              </a:lnSpc>
            </a:pPr>
            <a:r>
              <a:rPr lang="en-US" sz="1600" b="1" dirty="0">
                <a:latin typeface="Times New Roman" panose="02020603050405020304" pitchFamily="18" charset="0"/>
                <a:cs typeface="Times New Roman" panose="02020603050405020304" pitchFamily="18" charset="0"/>
              </a:rPr>
              <a:t>Pseudo-Hallucinations: </a:t>
            </a:r>
            <a:r>
              <a:rPr lang="en-US" sz="1600" dirty="0">
                <a:latin typeface="Times New Roman" panose="02020603050405020304" pitchFamily="18" charset="0"/>
                <a:cs typeface="Times New Roman" panose="02020603050405020304" pitchFamily="18" charset="0"/>
              </a:rPr>
              <a:t>Not significantly found.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HIGHER COGNITIVE FUNCTIONS</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Level of Consciousness: </a:t>
            </a:r>
            <a:r>
              <a:rPr lang="en-US" sz="1600" dirty="0">
                <a:latin typeface="Times New Roman" panose="02020603050405020304" pitchFamily="18" charset="0"/>
                <a:cs typeface="Times New Roman" panose="02020603050405020304" pitchFamily="18" charset="0"/>
              </a:rPr>
              <a:t>She was alert and awake.</a:t>
            </a:r>
          </a:p>
          <a:p>
            <a:pPr>
              <a:lnSpc>
                <a:spcPct val="150000"/>
              </a:lnSpc>
            </a:pPr>
            <a:r>
              <a:rPr lang="en-US" sz="1600" b="1" dirty="0">
                <a:latin typeface="Times New Roman" panose="02020603050405020304" pitchFamily="18" charset="0"/>
                <a:cs typeface="Times New Roman" panose="02020603050405020304" pitchFamily="18" charset="0"/>
              </a:rPr>
              <a:t>Orientation: </a:t>
            </a:r>
            <a:r>
              <a:rPr lang="en-US" sz="1600" dirty="0">
                <a:latin typeface="Times New Roman" panose="02020603050405020304" pitchFamily="18" charset="0"/>
                <a:cs typeface="Times New Roman" panose="02020603050405020304" pitchFamily="18" charset="0"/>
              </a:rPr>
              <a:t>Orientation to time, place, and person was intact.</a:t>
            </a:r>
          </a:p>
          <a:p>
            <a:pPr>
              <a:lnSpc>
                <a:spcPct val="150000"/>
              </a:lnSpc>
            </a:pPr>
            <a:r>
              <a:rPr lang="en-US" sz="1600" b="1" dirty="0">
                <a:latin typeface="Times New Roman" panose="02020603050405020304" pitchFamily="18" charset="0"/>
                <a:cs typeface="Times New Roman" panose="02020603050405020304" pitchFamily="18" charset="0"/>
              </a:rPr>
              <a:t>Attention and Concentration: </a:t>
            </a:r>
            <a:r>
              <a:rPr lang="en-US" sz="1600" dirty="0">
                <a:latin typeface="Times New Roman" panose="02020603050405020304" pitchFamily="18" charset="0"/>
                <a:cs typeface="Times New Roman" panose="02020603050405020304" pitchFamily="18" charset="0"/>
              </a:rPr>
              <a:t>Attention was aroused and sustained.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MEMORY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patient’s memory functions were examined across immediate, recent, and remote recall. Immediate memory was found to be intact, as the patient was able to recall simple items such as bus, balloon, pen, remote, and bottle. Recent memory was also adequate, with the patient recalling instances from her new college and sharing those instances during the interview. Remote memory was intact, as the patient successfully remembered India’s first Prime Minister, Jawaharlal Nehru, the name of her preschool, and the name of the present President. Overall, the patient demonstrated intact immediate, recent, and remote memory functions.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ABSTRACTABILITY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 displayed a functional level of abstract thinking. She was able to identify similarities, such as between a pen and a pencil or a chair and a table, and recognise differences such as apple versus mango or colours such as red and yellow. She could also provide appropriate interpretations of proverbs such as “jaisi karni waisi bharni” and “nach na jaane aangan tedha,” indicating a functional level of abstractability.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GENERAL INTELLIGENCE</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 was able to fairly comprehend the questions and instructions delivered during the assessment. She demonstrated adequate understanding of what was being asked and successfully performed the three-command test, indicating intact comprehension abilities. When asked to solve simple arithmetic tasks (20 + 35) and (40 − 20), she correctly responded with the right answers, suggesting that her basic arithmetic functioning is preserved. Furthermore, based on her performance in tasks assessing comprehension, reasoning, and general knowledge, the patient appears to possess an average level of intelligence. Overall, the findings indicate that she is functioning at an average intellectual level.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JUDGMENT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patient’s personal judgment appeared intact. When asked about the present — whether she likes spending time with the family — she said yes and expressed why it is important, reflecting thoughtful decision-making. For the future, she expressed a goal of pursuing a successful career, indicating awareness and planning for long-term aspirations. In the social domain, her responses also suggested appropriate reasoning: when presented with a situation involving an envelope, she said she would call if the contact number is given and hand it over to the police station; in the case of fire, she mentioned that she would pour water and then call the fire brigade; and for a guest, she stated that she would offer them water, tea, and breakfast if available. These responses reflect adequate practical and social judgment.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OVERALL IMPRESSION OF HIGHER COGNITIVE FUNCTIONING</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 was conscious, alert, and well-oriented to time, place, and person. Attention and concentration were intact, as she was adequately able to perform the digit-span task and arithmetic calculations. Memory functions, including immediate, recent, and remote recall, were intact. Abstract thinking was functional, with the patient demonstrating the ability to identify similarities and differences and to interpret proverbs appropriately. General intelligence appeared to be average, with intact comprehension and basic arithmetic abilities. Judgment was also intact, as reflected in appropriate personal, future-oriented, and social decision-making responses.</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Insight: </a:t>
            </a:r>
            <a:r>
              <a:rPr lang="en-US" sz="1600" dirty="0">
                <a:latin typeface="Times New Roman" panose="02020603050405020304" pitchFamily="18" charset="0"/>
                <a:cs typeface="Times New Roman" panose="02020603050405020304" pitchFamily="18" charset="0"/>
              </a:rPr>
              <a:t>Insight level was Grade 3 — awareness of being sick, attributed to external factors.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TESTS ADMINISTERED</a:t>
            </a:r>
          </a:p>
          <a:p>
            <a:pPr>
              <a:lnSpc>
                <a:spcPct val="150000"/>
              </a:lnSpc>
            </a:pPr>
            <a:r>
              <a:rPr lang="en-US" sz="1600"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Yale-Brown Obsessive Compulsive Scale (Y-BOCS)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Millon Clinical Multiaxial Inventory-III (MCMI-III)</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Thematic Apperception Test (TAT)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RESULTS AND INTERPRETATION</a:t>
            </a:r>
          </a:p>
          <a:p>
            <a:pPr>
              <a:lnSpc>
                <a:spcPct val="150000"/>
              </a:lnSpc>
            </a:pPr>
            <a:r>
              <a:rPr lang="en-US" sz="1600" b="1" dirty="0">
                <a:latin typeface="Times New Roman" panose="02020603050405020304" pitchFamily="18" charset="0"/>
                <a:cs typeface="Times New Roman" panose="02020603050405020304" pitchFamily="18" charset="0"/>
              </a:rPr>
              <a:t>Yale-Brown Obsessive Compulsive Scale (Y-BOCS)</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patient obtained a total score of 27 on the Yale-Brown Obsessive Compulsive Scale (Y-BOCS), which falls within the severe range of obsessive-compulsive symptomatology (score range: 24–31). This score indicates that the patient’s obsessions and compulsions are experienced as highly time-consuming, significantly distressing, and substantially interfering with daily functioning, social relationships, and occupational or academic responsibilities. At this level of severity, the patient is likely to demonstrate considerable difficulty resisting or controlling both the intrusive obsessional thoughts (contamination fears and unwanted sexual imagery) and the associated compulsive behaviours (repetitive hand-washing), with attempts at resistance typically met with strong anxiety and limited success. This finding is consistent with, and corroborates, the clinical presentation and case history of contamination-related obsessions with repetitive sexual thoughts.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Millon Clinical Multiaxial Inventory-III (MCMI-III)</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Taken as a whole, the MCMI-III profile describes a patient whose difficulties appear to be driven primarily by anxiety rather than by any deeper or longstanding disturbance in her character or sense of self. The most striking and clinically meaningful feature of her profile is a pronounced, pervasive anxiety that dominates the picture and is clearly the focus of her current distress. Alongside this, she shows an inclination toward emotional reserve and a tendency to keep some distance in social situations — a quiet, self-contained interpersonal style that reflects how she characteristically relates to others rather than a source of impairment in itself. Importantly, her profile does not point to entrenched personality difficulties, a mood disorder, psychotic-spectrum features, or substance-related concerns. The overall impression, then, is of an anxiety-centred clinical presentation in a patient who is otherwise psychologically resourced.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Thematic Apperception Test (TAT)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TAT profile suggests a psychologically organised individual with strong themes of achievement, responsibility, nurturance, autonomy, and moral sensitivity. Across the narratives, there is a recurring preference for active, protective, and competent figures, often male or masculine in role, while vulnerable, distressed, or constrained figures are more often female. This pattern appears stable and ego-syntonic, reflecting an internal orientation toward agency, control, and caregiving.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Thematic Apperception Test (TAT)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Interpersonal themes show a marked sensitivity to misunderstanding, emotional neglect, relational mismatch, and injustice. The patient values mutual understanding, loyalty, and meaningful connection, while also showing concern for social and environmental harm. The overall profile suggests good reality testing, adequate emotional regulation, and constructive coping through sublimation, rationalisation, and action-oriented problem-solving. No gross psychopathology, thought disorder, or severe personality disorganisation is evident in the stories as presented.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PROVISIONAL DIAGNOSIS</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F42.2 — </a:t>
            </a:r>
            <a:r>
              <a:rPr lang="en-US" sz="1600" dirty="0">
                <a:latin typeface="Times New Roman" panose="02020603050405020304" pitchFamily="18" charset="0"/>
                <a:cs typeface="Times New Roman" panose="02020603050405020304" pitchFamily="18" charset="0"/>
              </a:rPr>
              <a:t>Mixed obsessional thoughts and acts.</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Points in Favour</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Symptoms meet the duration/distress threshold: the patient has experienced recurrent obsessional symptoms (chronic 4-to-5-year course) that are a clear source of distress and interference with daily functioning.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Thoughts are recognised as her own and are resisted: the intrusive sexual thoughts are acknowledged by the patient as her own thoughts/impulses (not externally imposed), and she unsuccessfully attempts to resist and suppress them, meeting the core ICD-10 criteria for obsessions.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Thoughts are unpleasant: the intrusive sexual thoughts are experienced as unwanted, distressing, and ego-dystonic rather than gratifying; any associated relief relates only to anxiety reduction, which ICD-10 does not count as pleasure.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Obsessional/ruminative component predominates: although some washing and checking behaviours coexist, the clinical picture is dominated by intrusive obsessional thoughts and ruminations (the sexual intrusive thoughts being her most distressing and time-consuming symptom).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DIAGNOSTIC FORMULATION</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The index patient, Sapna Ahirwar, a 24-year-old unmarried female from Ashoknagar, unemployed and educated up to graduation, came with her father and uncle with presenting chief complaints of repeated thoughts of cleaning and washing, spending longer hours washing her hands and bathing, obsessive and intrusive thoughts of sexual images, socially withdrawn behaviour, and low mood since two to four years, with symptoms becoming severe over the past few months. The onset of illness was insidious and the course is continuous.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DIAGNOSTIC FORMULATION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MSE findings revealed circumstantiality in the stream of thought. In the possession of thought, obsessions and compulsions were present. Death wishes were present. Mood and affect were dysphoric, and the insight level was Grade 3. The predisposing factor was the death of her mother at a very young age and lack of parental support since childhood. The precipitating factor was a history of sexual assault. The perpetuating factors are a conflictual relationship within the family and poor medical compliance.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RATIONALE OF THE THERAPY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dirty="0">
                <a:latin typeface="Times New Roman" panose="02020603050405020304" pitchFamily="18" charset="0"/>
                <a:cs typeface="Times New Roman" panose="02020603050405020304" pitchFamily="18" charset="0"/>
              </a:rPr>
              <a:t>Exposure and Response (Ritual) Prevention (ERP) is used for OCD because it directly targets the cycle that maintains the disorder: obsessions trigger distress, and the compulsions or avoidance performed to reduce that distress bring only temporary relief, which negatively reinforces the rituals and strengthens them over time. ERP breaks this cycle by having the patient deliberately confront the feared thoughts, objects, or situations (exposure) while refraining from performing rituals (response/ritual prevention), so that the patient directly experiences habituation — learning that anxiety rises, peaks, and then declines on its own without ritualising — and discovers that the feared consequences do not actually occur, which disconfirms the erroneous beliefs underlying the OCD.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GOALS OF THERAPY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Short-Term Goals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Psychoeducate the patient about OCD and the ERP rationale, and build an exposure hierarchy using SUDS ratings.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Reduce compulsive behaviours (hand-washing, checking) through response prevention.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Help the patient tolerate obsessional distress and experience habituation during in-session and homework exposures.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Teach JPMR as a general stress-management and grounding skill to support overall emotional regulation.</a:t>
            </a:r>
          </a:p>
          <a:p>
            <a:pPr>
              <a:lnSpc>
                <a:spcPct val="150000"/>
              </a:lnSpc>
            </a:pPr>
            <a:r>
              <a:rPr lang="en-US" sz="1600" b="1" dirty="0">
                <a:latin typeface="Times New Roman" panose="02020603050405020304" pitchFamily="18" charset="0"/>
                <a:cs typeface="Times New Roman" panose="02020603050405020304" pitchFamily="18" charset="0"/>
              </a:rPr>
              <a:t>Long-Term Goals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Achieve a significant and durable reduction in OCD symptom severity across all three domains (sexual obsessions, washing, checking).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Restore functioning and quality of life in work, relationships, and daily activities.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Equip the patient with relapse-prevention skills to independently manage future intrusive thoughts.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SESSION 1 — Psychoeducation &amp; JPMR Introduction</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Goals of Therapy (this session)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Build rapport and establish emotional safety (essential given the trauma history).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Present the EX/RP treatment rationale and structure.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Gather general and OCD history; map the three symptom clusters.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Deliver psychoeducation on the obsession → distress → ritual → relief → reinforcement cycle.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Normalise intrusive thoughts; separate thought ≠ action ≠ identity (critical for sexual obsessions/shame).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Introduce self-monitoring and teach JPMR as a general stress-management skill.</a:t>
            </a:r>
          </a:p>
          <a:p>
            <a:pPr>
              <a:lnSpc>
                <a:spcPct val="150000"/>
              </a:lnSpc>
            </a:pPr>
            <a:r>
              <a:rPr lang="en-US" sz="1600" b="1" dirty="0">
                <a:latin typeface="Times New Roman" panose="02020603050405020304" pitchFamily="18" charset="0"/>
                <a:cs typeface="Times New Roman" panose="02020603050405020304" pitchFamily="18" charset="0"/>
              </a:rPr>
              <a:t>Homework Given Today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Daily self-monitoring (triggers, SUDS, rituals, time spent).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JPMR practice once daily (at calm times, not during distress spikes).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Read the “OCD: Some Facts” handout.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SESSION 2 — Treatment Planning: SUDS and Hierarchy</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Goals of Therapy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Teach the SUDS scale and set her personal anchors (0 / 50 / 100).</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Build the full exposure hierarchy across all three domains.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Identify the core feared consequence behind each symptom.</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Establish the treatment protocol (ritual prevention, gradual approach, voluntariness, support person).</a:t>
            </a:r>
          </a:p>
          <a:p>
            <a:pPr>
              <a:lnSpc>
                <a:spcPct val="150000"/>
              </a:lnSpc>
            </a:pPr>
            <a:r>
              <a:rPr lang="en-US" sz="1600" b="1" dirty="0">
                <a:latin typeface="Times New Roman" panose="02020603050405020304" pitchFamily="18" charset="0"/>
                <a:cs typeface="Times New Roman" panose="02020603050405020304" pitchFamily="18" charset="0"/>
              </a:rPr>
              <a:t>Review of Prior Homework</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 self-monitoring logs to refine triggers and feared consequences.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Check in on JPMR practice; confirm she is not using it to prevent distress.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Collaboratively rank items, e.g.: checking (50–60) → contamination/hand-washing (70–85) → sexual intrusive thoughts (90–100, flagged for careful/later introduction).</a:t>
            </a:r>
          </a:p>
          <a:p>
            <a:pPr>
              <a:lnSpc>
                <a:spcPct val="150000"/>
              </a:lnSpc>
            </a:pPr>
            <a:r>
              <a:rPr lang="en-US" sz="1600" b="1" dirty="0">
                <a:latin typeface="Times New Roman" panose="02020603050405020304" pitchFamily="18" charset="0"/>
                <a:cs typeface="Times New Roman" panose="02020603050405020304" pitchFamily="18" charset="0"/>
              </a:rPr>
              <a:t>Homework Given Today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self-monitoring.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daily JPMR (maintenance); if not, try box breathing.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SESSION 3 — First In-Vivo Exposure (Checking) + JPMR Reinforcement</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Goals of Therapy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Provide psychoeducation on the checking cycle (doubt/uncertainty → anxiety → checking/reassurance → temporary relief → strengthened urge to check).</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Collaboratively construct and refine the checking hierarchy using SUDS ratings.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Conduct therapist-guided in-session exposure to a manageable checking trigger (e.g., checking the gas once instead of five times, then leaving without rechecking).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response prevention — help her face the doubt and resist checking, reassurance-seeking, and mental checking.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Establish the key learning goal: “I can tolerate uncertainty and the urge to check without acting on it.”</a:t>
            </a:r>
          </a:p>
          <a:p>
            <a:pPr>
              <a:lnSpc>
                <a:spcPct val="150000"/>
              </a:lnSpc>
            </a:pPr>
            <a:r>
              <a:rPr lang="en-US" sz="1600" b="1" dirty="0">
                <a:latin typeface="Times New Roman" panose="02020603050405020304" pitchFamily="18" charset="0"/>
                <a:cs typeface="Times New Roman" panose="02020603050405020304" pitchFamily="18" charset="0"/>
              </a:rPr>
              <a:t>Homework Discussed (assigned in prior session)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Reviewed self-monitoring logs (triggers, SUDS, rituals, time spent).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Reviewed JPMR practice and adherence as a general coping/grounding skill.</a:t>
            </a:r>
          </a:p>
          <a:p>
            <a:pPr>
              <a:lnSpc>
                <a:spcPct val="150000"/>
              </a:lnSpc>
            </a:pPr>
            <a:r>
              <a:rPr lang="en-US" sz="1600" b="1" dirty="0">
                <a:latin typeface="Times New Roman" panose="02020603050405020304" pitchFamily="18" charset="0"/>
                <a:cs typeface="Times New Roman" panose="02020603050405020304" pitchFamily="18" charset="0"/>
              </a:rPr>
              <a:t>Homework Given (for next session)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Self-directed checking exposures matched to lower hierarchy items, facing the doubt without checking/rechecking, recording SUDS.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daily self-monitoring.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JPMR practice as a between-session coping skill (not during exposures).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SESSION 4 — In-Vivo Exposure (Contamination / Hand-washing)</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Goals of Therapy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Provide psychoeducation on the contamination–washing cycle (trigger → “I am dirty/contaminated” → anxiety → washing/bathing → temporary relief → stronger urge to wash).</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Collaboratively construct the contamination hierarchy, beginning with moderate, manageable distress items.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Conduct graded therapist-guided exposure to contamination-related triggers (e.g., touching a perceived “slightly dirty” or commonly used object).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response prevention — no immediate washing, cleaning, bathing, or other neutralising behaviour after exposure.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Establish the key learning goal: “I can tolerate the feeling of being contaminated without washing immediately, and I do not have to respond to the thought as if it is a fact.”</a:t>
            </a:r>
          </a:p>
          <a:p>
            <a:pPr>
              <a:lnSpc>
                <a:spcPct val="150000"/>
              </a:lnSpc>
            </a:pPr>
            <a:r>
              <a:rPr lang="en-US" sz="1600" b="1" dirty="0">
                <a:latin typeface="Times New Roman" panose="02020603050405020304" pitchFamily="18" charset="0"/>
                <a:cs typeface="Times New Roman" panose="02020603050405020304" pitchFamily="18" charset="0"/>
              </a:rPr>
              <a:t>Homework Discussed (assigned in Session 3)</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Reviewed self-directed checking exposure logs (triggers faced, duration, SUDS change, any checking/reassurance lapses).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Reviewed self-monitoring records.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Reviewed JPMR adherence as a coping skill.</a:t>
            </a:r>
          </a:p>
          <a:p>
            <a:pPr>
              <a:lnSpc>
                <a:spcPct val="150000"/>
              </a:lnSpc>
            </a:pPr>
            <a:r>
              <a:rPr lang="en-US" sz="1600" b="1" dirty="0">
                <a:latin typeface="Times New Roman" panose="02020603050405020304" pitchFamily="18" charset="0"/>
                <a:cs typeface="Times New Roman" panose="02020603050405020304" pitchFamily="18" charset="0"/>
              </a:rPr>
              <a:t>Homework Given (for next session)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Self-directed contamination exposures without immediate washing/cleaning, progressing up the contamination hierarchy, recording SUDS.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daily self-monitoring.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JPMR practice between sessions.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SESSION 5 — Introducing Sexual-Obsession Work (Imaginal Exposure) + JPMR</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Goals of Therapy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Carefully introduce the top-of-hierarchy sexual intrusive thoughts for therapeutic work.</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Reinforce the principle of thought ≠ action ≠ identity (a thought is not a wish; the patient is not her abuser).</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Target her mental rituals (neutralising, mental checking, reassurance-seeking, and avoidance) through ritual prevention.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Begin imaginal exposure to the OCD feared consequence (e.g., “this thought means I am a bad/dangerous person”) rather than re-exposure to assault memories.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 JPMR as a grounding skill to open and close the session, not as a means to interrupt or cut short the exposure.</a:t>
            </a:r>
          </a:p>
          <a:p>
            <a:pPr>
              <a:lnSpc>
                <a:spcPct val="150000"/>
              </a:lnSpc>
            </a:pPr>
            <a:r>
              <a:rPr lang="en-US" sz="1600" b="1" dirty="0">
                <a:latin typeface="Times New Roman" panose="02020603050405020304" pitchFamily="18" charset="0"/>
                <a:cs typeface="Times New Roman" panose="02020603050405020304" pitchFamily="18" charset="0"/>
              </a:rPr>
              <a:t>Homework Discussed (assigned in Session 4)</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Reviewed her contamination exposure logs, noting the gains consolidated across both the checking and washing domains.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Confirmed her JPMR adherence and discussed how she has been using it as a between-session coping/grounding skill.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SESSION 5 — continued</a:t>
            </a:r>
          </a:p>
          <a:p>
            <a:pPr>
              <a:lnSpc>
                <a:spcPct val="150000"/>
              </a:lnSpc>
            </a:pPr>
            <a:r>
              <a:rPr lang="en-US" sz="1600" dirty="0">
                <a:latin typeface="Times New Roman" panose="02020603050405020304" pitchFamily="18" charset="0"/>
                <a:cs typeface="Times New Roman" panose="02020603050405020304" pitchFamily="18" charset="0"/>
              </a:rPr>
              <a:t> </a:t>
            </a:r>
          </a:p>
          <a:p>
            <a:pPr>
              <a:lnSpc>
                <a:spcPct val="150000"/>
              </a:lnSpc>
            </a:pPr>
            <a:r>
              <a:rPr lang="en-US" sz="1600" b="1" dirty="0">
                <a:latin typeface="Times New Roman" panose="02020603050405020304" pitchFamily="18" charset="0"/>
                <a:cs typeface="Times New Roman" panose="02020603050405020304" pitchFamily="18" charset="0"/>
              </a:rPr>
              <a:t>Session Content / Flow</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Reinforced the progress and distress tolerance she has already demonstrated across earlier sessions.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Provided a psychoeducation refresher on ego-dystonic thoughts and thought–action fusion.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Conducted imaginal exposure to the OCD feared consequence, recording SUDS throughout and audio-recording the script for homework.</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Applied ritual prevention to her mental rituals.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Processed the exposure while monitoring closely for emotional overload; if she became overwhelmed or the content shifted into trauma intrusions, the exposure would be paused, discussed, and reassessed for trauma-focused treatment.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Delivered JPMR grounding at the start and, in particular, at the end of the session to help her leave regulated.</a:t>
            </a:r>
          </a:p>
          <a:p>
            <a:pPr>
              <a:lnSpc>
                <a:spcPct val="150000"/>
              </a:lnSpc>
            </a:pPr>
            <a:r>
              <a:rPr lang="en-US" sz="1600" b="1" dirty="0">
                <a:latin typeface="Times New Roman" panose="02020603050405020304" pitchFamily="18" charset="0"/>
                <a:cs typeface="Times New Roman" panose="02020603050405020304" pitchFamily="18" charset="0"/>
              </a:rPr>
              <a:t>Homework Given (for next session)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Listen to the audio-recorded imaginal exposure script (eyes closed, not while driving), applying ritual prevention and recording Pre/Post/Peak SUDS.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daily self-monitoring.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JPMR practice as a between-session grounding and coping skill.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3561BA9-CDCF-4958-B8AB-66F3BF063E13}" type="slidenum">
              <a:rPr lang="en-US" smtClean="0"/>
              <a:pPr/>
              <a:t>#</a:t>
            </a:fld>
            <a:endParaRPr lang="en-US"/>
          </a:p>
        </p:txBody>
      </p:sp>
      <p:sp>
        <p:nvSpPr>
          <p:cNvPr id="4" name="Content Placeholder 2"/>
          <p:cNvSpPr>
            <a:spLocks noGrp="1"/>
          </p:cNvSpPr>
          <p:nvPr>
            <p:ph type="title"/>
          </p:nvPr>
        </p:nvSpPr>
        <p:spPr>
          <a:xfrm>
            <a:off x="609600" y="190500"/>
            <a:ext cx="10972800" cy="6124036"/>
          </a:xfrm>
        </p:spPr>
        <p:txBody>
          <a:bodyPr vert="horz" lIns="91440" tIns="45720" rIns="91440" bIns="45720" rtlCol="0" anchor="t">
            <a:normAutofit/>
          </a:bodyPr>
          <a:lstStyle/>
          <a:p>
            <a:pPr>
              <a:lnSpc>
                <a:spcPct val="150000"/>
              </a:lnSpc>
            </a:pPr>
            <a:r>
              <a:rPr lang="en-US" sz="1600" b="1" dirty="0">
                <a:latin typeface="Times New Roman" panose="02020603050405020304" pitchFamily="18" charset="0"/>
                <a:cs typeface="Times New Roman" panose="02020603050405020304" pitchFamily="18" charset="0"/>
              </a:rPr>
              <a:t>FUTURE SESSIONS (6–17)</a:t>
            </a:r>
          </a:p>
          <a:p>
            <a:pPr>
              <a:lnSpc>
                <a:spcPct val="150000"/>
              </a:lnSpc>
            </a:pPr>
            <a:r>
              <a:rPr lang="en-US" sz="1600"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Continue JPMR (daily, and as a grounding tool after homework exposures, once distress has already risen and fallen).</a:t>
            </a:r>
          </a:p>
          <a:p>
            <a:pPr>
              <a:lnSpc>
                <a:spcPct val="150000"/>
              </a:lnSpc>
            </a:pPr>
            <a:r>
              <a:rPr lang="en-US" sz="1600" dirty="0">
                <a:latin typeface="Times New Roman" panose="02020603050405020304" pitchFamily="18" charset="0"/>
                <a:cs typeface="Times New Roman" panose="02020603050405020304" pitchFamily="18" charset="0"/>
              </a:rPr>
              <a:t>Across Sessions 6–17, the therapy follows the same repeating EX/RP structure each time: review self-monitoring and homework, run in-session exposures (in vivo and/or imaginal) with processing, assign new homework, and schedule the weekly phone check-in while progressively working up the hierarchy:</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Sessions 6–7: deepen the contamination/hand-washing exposures and continue the sexual-obsession imaginal work while targeting mental rituals.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Around Session 8: reach and confront the highest item (sexual intrusive thoughts) at full intensity using combined in-vivo and imaginal exposure.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Sessions 9–13: repeat and vary the hardest items across different settings (“where the OCD lives”), add newly discovered triggers, reduce residual avoidance and subtle/mental rituals, incorporate one or two home visits if needed, and gradually have her design her own exposures.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Sessions 14–16: shift toward consolidation, progress review, re-rating the hierarchy to show gains, introducing “normal behaviour” guidelines, and emphasising relapse prevention.</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Session 17 (final): review overall progress, finalise the return to normal behaviour and a relapse-prevention plan via an OCD “quiz”/role-play, and schedule 4–6 follow-up phone calls — with JPMR used throughout only as a between-session grounding and stress-management skill, never during exposures.</a:t>
            </a:r>
          </a:p>
        </p:txBody>
      </p:sp>
    </p:spTree>
  </p:cSld>
  <p:clrMapOvr>
    <a:masterClrMapping/>
  </p:clrMapOvr>
</p:sld>
</file>

<file path=ppt/theme/theme1.xml><?xml version="1.0" encoding="utf-8"?>
<a:theme xmlns:a="http://schemas.openxmlformats.org/drawingml/2006/main" name="1_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7CDA33-9251-49D0-A51A-7888AA3E0635}">
  <ds:schemaRefs/>
</ds:datastoreItem>
</file>

<file path=customXml/itemProps2.xml><?xml version="1.0" encoding="utf-8"?>
<ds:datastoreItem xmlns:ds="http://schemas.openxmlformats.org/officeDocument/2006/customXml" ds:itemID="{32E4FA29-61E2-42A6-9537-732ED628B68D}">
  <ds:schemaRefs/>
</ds:datastoreItem>
</file>

<file path=customXml/itemProps3.xml><?xml version="1.0" encoding="utf-8"?>
<ds:datastoreItem xmlns:ds="http://schemas.openxmlformats.org/officeDocument/2006/customXml" ds:itemID="{3F796806-D3A7-49C6-9335-B8A0B9307F8E}">
  <ds:schemaRefs/>
</ds:datastoreItem>
</file>

<file path=docProps/app.xml><?xml version="1.0" encoding="utf-8"?>
<Properties xmlns="http://schemas.openxmlformats.org/officeDocument/2006/extended-properties" xmlns:vt="http://schemas.openxmlformats.org/officeDocument/2006/docPropsVTypes">
  <Template>Light sales pitch presentation</Template>
  <TotalTime>8708</TotalTime>
  <Words>5866</Words>
  <Application>Microsoft Office PowerPoint</Application>
  <PresentationFormat>Widescreen</PresentationFormat>
  <Paragraphs>450</Paragraphs>
  <Slides>43</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Symbol</vt:lpstr>
      <vt:lpstr>Times New Roman</vt:lpstr>
      <vt:lpstr>Wingdings</vt:lpstr>
      <vt:lpstr>1_Blue Waves</vt:lpstr>
      <vt:lpstr>                CASE CONFERENCE  </vt:lpstr>
      <vt:lpstr>  SOCIO-DEMOGRAPHIC DATA:  OPD No.: 260219005                                 Date: 6/07/2026                                    DOB: 27/03/1996  Name: A.B                                                Gender: Female                                     Marital Status: Married  Religion: Hindu                                         Education: Grade 12                             Occupation: Housewife  Age: 30                                                      Socio-economic status : Middle socio-economic status   Mobile: 738935287                                   Address: Guna, MP  Informant: Relationship: Mother                               Duration of acquaintance: Since birth Reliable and Adequacy: The given information is reliable and adequate                         </vt:lpstr>
      <vt:lpstr>Chief Complaints</vt:lpstr>
      <vt:lpstr> Factors of Illnes  </vt:lpstr>
      <vt:lpstr>PowerPoint Presentation</vt:lpstr>
      <vt:lpstr>PowerPoint Presentation</vt:lpstr>
      <vt:lpstr>PowerPoint Presentation</vt:lpstr>
      <vt:lpstr>Treatment History</vt:lpstr>
      <vt:lpstr>PowerPoint Presentation</vt:lpstr>
      <vt:lpstr>FAMILY HISTORY</vt:lpstr>
      <vt:lpstr>PowerPoint Presentation</vt:lpstr>
      <vt:lpstr>PowerPoint Presentation</vt:lpstr>
      <vt:lpstr>PowerPoint Presentation</vt:lpstr>
      <vt:lpstr>PowerPoint Presentation</vt:lpstr>
      <vt:lpstr>Mental Status Examination</vt:lpstr>
      <vt:lpstr>Mental Status Examination</vt:lpstr>
      <vt:lpstr>Mental Status Examination</vt:lpstr>
      <vt:lpstr>Mental Status Examination</vt:lpstr>
      <vt:lpstr> Mental Status Examination </vt:lpstr>
      <vt:lpstr> Mental Status Examination </vt:lpstr>
      <vt:lpstr>Mental Status Examination</vt:lpstr>
      <vt:lpstr>PowerPoint Presentation</vt:lpstr>
      <vt:lpstr> Diagnostic Formulation </vt:lpstr>
      <vt:lpstr>Provisional Diagnosis  F41.1 – Generalized anxiety disorder</vt:lpstr>
      <vt:lpstr> Assessments and Results </vt:lpstr>
      <vt:lpstr> Assessments and Results </vt:lpstr>
      <vt:lpstr>Rorschach Inkblot Test (ROR)</vt:lpstr>
      <vt:lpstr> Therapeutic Formulation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Sessions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Conference – Sapna Ahirwar</dc:title>
  <dc:creator>Krishna Sathian</dc:creator>
  <cp:lastModifiedBy>mahek kandya</cp:lastModifiedBy>
  <cp:revision>166</cp:revision>
  <dcterms:created xsi:type="dcterms:W3CDTF">2025-04-16T11:41:00Z</dcterms:created>
  <dcterms:modified xsi:type="dcterms:W3CDTF">2026-10-05T19:04:39Z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ICV">
    <vt:lpwstr>339E98E83A074D0EBD31277CF3A3B8D6_12</vt:lpwstr>
  </property>
  <property fmtid="{D5CDD505-2E9C-101B-9397-08002B2CF9AE}" pid="5" name="KSOProductBuildVer">
    <vt:lpwstr>1033-12.2.0.23196</vt:lpwstr>
  </property>
</Properties>
</file>