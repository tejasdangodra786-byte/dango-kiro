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4"/>
  </p:sldMasterIdLst>
  <p:notesMasterIdLst>
    <p:notesMasterId r:id="rId48"/>
  </p:notesMasterIdLst>
  <p:handoutMasterIdLst>
    <p:handoutMasterId r:id="rId49"/>
  </p:handoutMasterIdLst>
  <p:sldIdLst>
    <p:sldId id="344" r:id="rId5"/>
    <p:sldId id="426" r:id="rId6"/>
    <p:sldId id="401" r:id="rId7"/>
    <p:sldId id="402" r:id="rId8"/>
    <p:sldId id="403" r:id="rId9"/>
    <p:sldId id="427" r:id="rId10"/>
    <p:sldId id="362" r:id="rId11"/>
    <p:sldId id="404" r:id="rId12"/>
    <p:sldId id="363" r:id="rId13"/>
    <p:sldId id="428" r:id="rId14"/>
    <p:sldId id="364" r:id="rId15"/>
    <p:sldId id="365" r:id="rId16"/>
    <p:sldId id="405" r:id="rId17"/>
    <p:sldId id="366" r:id="rId18"/>
    <p:sldId id="429" r:id="rId19"/>
    <p:sldId id="430" r:id="rId20"/>
    <p:sldId id="431" r:id="rId21"/>
    <p:sldId id="432" r:id="rId22"/>
    <p:sldId id="433" r:id="rId23"/>
    <p:sldId id="434" r:id="rId24"/>
    <p:sldId id="435" r:id="rId25"/>
    <p:sldId id="371" r:id="rId26"/>
    <p:sldId id="436" r:id="rId27"/>
    <p:sldId id="407" r:id="rId28"/>
    <p:sldId id="408" r:id="rId29"/>
    <p:sldId id="425" r:id="rId30"/>
    <p:sldId id="438" r:id="rId31"/>
    <p:sldId id="409" r:id="rId32"/>
    <p:sldId id="375" r:id="rId33"/>
    <p:sldId id="376" r:id="rId34"/>
    <p:sldId id="377" r:id="rId35"/>
    <p:sldId id="383" r:id="rId36"/>
    <p:sldId id="384" r:id="rId37"/>
    <p:sldId id="411" r:id="rId38"/>
    <p:sldId id="412" r:id="rId39"/>
    <p:sldId id="413" r:id="rId40"/>
    <p:sldId id="414" r:id="rId41"/>
    <p:sldId id="417" r:id="rId42"/>
    <p:sldId id="418" r:id="rId43"/>
    <p:sldId id="419" r:id="rId44"/>
    <p:sldId id="421" r:id="rId45"/>
    <p:sldId id="439" r:id="rId46"/>
    <p:sldId id="400"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17" userDrawn="1">
          <p15:clr>
            <a:srgbClr val="A4A3A4"/>
          </p15:clr>
        </p15:guide>
        <p15:guide id="2" pos="387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A3D024-909B-3BC2-1496-FEEAB652808A}" name="Sher Dionisio" initials="" userId="S::Sher.Dionisio@teksystemsgs.com::02daa716-9709-4d47-a153-1943ce1675c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FD0F851-EC5A-4D38-B0AD-8093EC10F338}">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8" autoAdjust="0"/>
    <p:restoredTop sz="95928" autoAdjust="0"/>
  </p:normalViewPr>
  <p:slideViewPr>
    <p:cSldViewPr snapToGrid="0" showGuides="1">
      <p:cViewPr varScale="1">
        <p:scale>
          <a:sx n="60" d="100"/>
          <a:sy n="60" d="100"/>
        </p:scale>
        <p:origin x="844" y="44"/>
      </p:cViewPr>
      <p:guideLst>
        <p:guide orient="horz" pos="1817"/>
        <p:guide pos="387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10109"/>
    </p:cViewPr>
  </p:sorterViewPr>
  <p:notesViewPr>
    <p:cSldViewPr snapToGrid="0">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818EB1-FF96-47AA-9A30-F1BFF2FFD1F7}" type="datetimeFigureOut">
              <a:rPr lang="en-US" smtClean="0"/>
              <a:pPr/>
              <a:t>9/30/2026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F75FB2-D12E-4669-8522-D3E2C7E6DC97}" type="slidenum">
              <a:rPr lang="en-US" smtClean="0"/>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E4A361-7934-4769-9B16-8A939698742C}" type="datetimeFigureOut">
              <a:rPr lang="en-US" smtClean="0"/>
              <a:pPr/>
              <a:t>9/30/2026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18E0B9-48E4-499D-93B2-B07D00395BAC}"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7</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9</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11</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12</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14</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22</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altLang="en-US" dirty="0"/>
              <a:t>Avoidence behaviour provides temprory relief but again starts the same </a:t>
            </a:r>
          </a:p>
        </p:txBody>
      </p:sp>
      <p:sp>
        <p:nvSpPr>
          <p:cNvPr id="4" name="Slide Number Placeholder 3"/>
          <p:cNvSpPr>
            <a:spLocks noGrp="1"/>
          </p:cNvSpPr>
          <p:nvPr>
            <p:ph type="sldNum" sz="quarter" idx="5"/>
          </p:nvPr>
        </p:nvSpPr>
        <p:spPr/>
        <p:txBody>
          <a:bodyPr/>
          <a:lstStyle/>
          <a:p>
            <a:fld id="{8D18E0B9-48E4-499D-93B2-B07D00395BAC}" type="slidenum">
              <a:rPr lang="en-US" smtClean="0"/>
              <a:pPr/>
              <a:t>29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30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31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32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33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34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35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36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37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38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39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40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pPr/>
              <a:t>41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46FDEA9-29B0-4000-9A8A-EA5137E778F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
        <p:nvSpPr>
          <p:cNvPr id="7" name="Rectangle 1"/>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ame 7"/>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pPr/>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9"/>
          <p:cNvPicPr>
            <a:picLocks noChangeAspect="1"/>
          </p:cNvPicPr>
          <p:nvPr/>
        </p:nvPicPr>
        <p:blipFill>
          <a:blip r:embed="rId14"/>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endParaRPr lang="en-US" dirty="0"/>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dirty="0"/>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B5CEABB6-07DC-46E8-9B57-56EC44A396E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9EE256"/>
            </a:gs>
            <a:gs pos="100000">
              <a:srgbClr val="52762D"/>
            </a:gs>
          </a:gsLst>
          <a:lin ang="540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232914" y="1000100"/>
            <a:ext cx="11430000" cy="1854835"/>
          </a:xfrm>
        </p:spPr>
        <p:txBody>
          <a:bodyPr/>
          <a:lstStyle/>
          <a:p>
            <a:r>
              <a:rPr lang="en-PH" altLang="en-US" dirty="0">
                <a:solidFill>
                  <a:schemeClr val="accent5">
                    <a:lumMod val="75000"/>
                  </a:schemeClr>
                </a:solidFill>
              </a:rPr>
              <a:t>                </a:t>
            </a:r>
            <a:r>
              <a:rPr lang="en-US" sz="7200" b="1" dirty="0">
                <a:solidFill>
                  <a:schemeClr val="tx1"/>
                </a:solidFill>
                <a:latin typeface="Times New Roman" panose="02020603050405020304" pitchFamily="18" charset="0"/>
                <a:cs typeface="Times New Roman" panose="02020603050405020304" pitchFamily="18" charset="0"/>
              </a:rPr>
              <a:t>CASE CONFERENCE </a:t>
            </a:r>
            <a:br>
              <a:rPr lang="en-US" sz="4400" dirty="0">
                <a:solidFill>
                  <a:schemeClr val="tx1"/>
                </a:solidFill>
                <a:latin typeface="Times New Roman" panose="02020603050405020304" pitchFamily="18" charset="0"/>
                <a:cs typeface="Times New Roman" panose="02020603050405020304" pitchFamily="18" charset="0"/>
              </a:rPr>
            </a:br>
            <a:endParaRPr lang="en-PH" altLang="en-US" sz="2400" dirty="0">
              <a:solidFill>
                <a:schemeClr val="tx1"/>
              </a:solidFill>
              <a:latin typeface="Times New Roman" panose="02020603050405020304" pitchFamily="18" charset="0"/>
              <a:cs typeface="Times New Roman" panose="02020603050405020304" pitchFamily="18" charset="0"/>
            </a:endParaRPr>
          </a:p>
        </p:txBody>
      </p:sp>
      <p:sp>
        <p:nvSpPr>
          <p:cNvPr id="4" name="Subtitle 2"/>
          <p:cNvSpPr txBox="1">
            <a:spLocks/>
          </p:cNvSpPr>
          <p:nvPr/>
        </p:nvSpPr>
        <p:spPr>
          <a:xfrm>
            <a:off x="1333848" y="3697772"/>
            <a:ext cx="4100795" cy="2504620"/>
          </a:xfrm>
          <a:prstGeom prst="rect">
            <a:avLst/>
          </a:prstGeom>
        </p:spPr>
        <p:txBody>
          <a:bodyPr>
            <a:noAutofit/>
          </a:bodyPr>
          <a:lstStyle/>
          <a:p>
            <a:pPr marL="342900" marR="0" lvl="0" indent="-342900" algn="ctr" defTabSz="914400" rtl="0" eaLnBrk="1" fontAlgn="base" latinLnBrk="0" hangingPunct="1">
              <a:spcBef>
                <a:spcPct val="20000"/>
              </a:spcBef>
              <a:spcAft>
                <a:spcPct val="0"/>
              </a:spcAft>
              <a:buClrTx/>
              <a:buSzTx/>
              <a:tabLst/>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Presented by:</a:t>
            </a:r>
          </a:p>
          <a:p>
            <a:pPr marL="342900" marR="0" lvl="0" indent="-342900" algn="ctr" defTabSz="914400" rtl="0" eaLnBrk="1" fontAlgn="base" latinLnBrk="0" hangingPunct="1">
              <a:spcAft>
                <a:spcPct val="0"/>
              </a:spcAft>
              <a:buClrTx/>
              <a:buSzTx/>
              <a:tabLst/>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 </a:t>
            </a:r>
          </a:p>
          <a:p>
            <a:pPr marL="342900" marR="0" lvl="0" indent="-342900" algn="ctr" defTabSz="914400" rtl="0" eaLnBrk="1" fontAlgn="base" latinLnBrk="0" hangingPunct="1">
              <a:spcAft>
                <a:spcPct val="0"/>
              </a:spcAft>
              <a:buClrTx/>
              <a:buSzTx/>
              <a:tabLst/>
              <a:defRPr/>
            </a:pPr>
            <a:r>
              <a:rPr lang="en-US" sz="2000" dirty="0">
                <a:latin typeface="Times New Roman" panose="02020603050405020304" pitchFamily="18" charset="0"/>
                <a:cs typeface="Times New Roman" panose="02020603050405020304" pitchFamily="18" charset="0"/>
                <a:sym typeface="+mn-ea"/>
              </a:rPr>
              <a:t>Mahek Jain </a:t>
            </a: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p>
            <a:pPr marL="342900" marR="0" lvl="0" indent="-342900" algn="ctr" defTabSz="914400" rtl="0" eaLnBrk="1" fontAlgn="base" latinLnBrk="0" hangingPunct="1">
              <a:spcAft>
                <a:spcPct val="0"/>
              </a:spcAft>
              <a:buClrTx/>
              <a:buSzTx/>
              <a:tabLst/>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MPhil Clinical Psychology </a:t>
            </a:r>
            <a:r>
              <a:rPr kumimoji="0" lang="en-PH"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Trainee</a:t>
            </a:r>
          </a:p>
          <a:p>
            <a:pPr marL="342900" marR="0" lvl="0" indent="-342900" algn="ctr" defTabSz="914400" rtl="0" eaLnBrk="1" fontAlgn="base" latinLnBrk="0" hangingPunct="1">
              <a:spcAft>
                <a:spcPct val="0"/>
              </a:spcAft>
              <a:buClrTx/>
              <a:buSzTx/>
              <a:tabLst/>
              <a:defRPr/>
            </a:pPr>
            <a:r>
              <a:rPr lang="en-PH" sz="2000" dirty="0">
                <a:latin typeface="Times New Roman" panose="02020603050405020304" pitchFamily="18" charset="0"/>
                <a:cs typeface="Times New Roman" panose="02020603050405020304" pitchFamily="18" charset="0"/>
                <a:sym typeface="+mn-ea"/>
              </a:rPr>
              <a:t>Year II</a:t>
            </a: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p>
            <a:pPr marL="342900" lvl="0" indent="-342900" algn="ctr" fontAlgn="base">
              <a:spcAft>
                <a:spcPct val="0"/>
              </a:spcAft>
              <a:defRPr/>
            </a:pPr>
            <a:r>
              <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Man College, Guna</a:t>
            </a:r>
            <a:r>
              <a:rPr lang="en-US" altLang="en-US" sz="2000" dirty="0">
                <a:latin typeface="Times New Roman" panose="02020603050405020304" pitchFamily="18" charset="0"/>
                <a:cs typeface="Times New Roman" panose="02020603050405020304" pitchFamily="18" charset="0"/>
              </a:rPr>
              <a:t>, MP</a:t>
            </a:r>
            <a:endPar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50000"/>
              </a:lnSpc>
              <a:spcBef>
                <a:spcPct val="20000"/>
              </a:spcBef>
              <a:spcAft>
                <a:spcPct val="0"/>
              </a:spcAft>
              <a:buClrTx/>
              <a:buSzTx/>
              <a:buFontTx/>
              <a:buChar char="•"/>
              <a:tabLst/>
              <a:defRPr/>
            </a:pPr>
            <a:endParaRPr kumimoji="0" lang="en-US"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5" name="Text Box 4"/>
          <p:cNvSpPr txBox="1"/>
          <p:nvPr/>
        </p:nvSpPr>
        <p:spPr>
          <a:xfrm>
            <a:off x="6602481" y="3789944"/>
            <a:ext cx="5000263" cy="1563505"/>
          </a:xfrm>
          <a:prstGeom prst="rect">
            <a:avLst/>
          </a:prstGeom>
          <a:noFill/>
        </p:spPr>
        <p:txBody>
          <a:bodyPr wrap="square" rtlCol="0" anchor="t">
            <a:spAutoFit/>
          </a:bodyPr>
          <a:lstStyle/>
          <a:p>
            <a:pPr algn="ctr">
              <a:lnSpc>
                <a:spcPct val="120000"/>
              </a:lnSpc>
            </a:pPr>
            <a:r>
              <a:rPr lang="en-US" b="1" dirty="0">
                <a:solidFill>
                  <a:schemeClr val="tx1"/>
                </a:solidFill>
                <a:latin typeface="Times New Roman" pitchFamily="18" charset="0"/>
                <a:cs typeface="Times New Roman" pitchFamily="18" charset="0"/>
                <a:sym typeface="+mn-ea"/>
              </a:rPr>
              <a:t>Supervised by: </a:t>
            </a:r>
            <a:endParaRPr lang="en-US" b="1" dirty="0">
              <a:solidFill>
                <a:schemeClr val="tx1"/>
              </a:solidFill>
              <a:latin typeface="Times New Roman" pitchFamily="18" charset="0"/>
              <a:cs typeface="Times New Roman" pitchFamily="18" charset="0"/>
            </a:endParaRPr>
          </a:p>
          <a:p>
            <a:pPr algn="ctr"/>
            <a:endParaRPr lang="en-US" dirty="0">
              <a:solidFill>
                <a:schemeClr val="tx1"/>
              </a:solidFill>
              <a:latin typeface="Times New Roman" pitchFamily="18" charset="0"/>
              <a:cs typeface="Times New Roman" pitchFamily="18" charset="0"/>
              <a:sym typeface="+mn-ea"/>
            </a:endParaRPr>
          </a:p>
          <a:p>
            <a:pPr algn="ctr"/>
            <a:r>
              <a:rPr lang="en-US" dirty="0">
                <a:solidFill>
                  <a:schemeClr val="tx1"/>
                </a:solidFill>
                <a:latin typeface="Times New Roman" pitchFamily="18" charset="0"/>
                <a:cs typeface="Times New Roman" pitchFamily="18" charset="0"/>
                <a:sym typeface="+mn-ea"/>
              </a:rPr>
              <a:t> Ms. </a:t>
            </a:r>
            <a:r>
              <a:rPr lang="en-US" dirty="0" err="1">
                <a:solidFill>
                  <a:schemeClr val="tx1"/>
                </a:solidFill>
                <a:latin typeface="Times New Roman" pitchFamily="18" charset="0"/>
                <a:cs typeface="Times New Roman" pitchFamily="18" charset="0"/>
                <a:sym typeface="+mn-ea"/>
              </a:rPr>
              <a:t>Shivani</a:t>
            </a:r>
            <a:r>
              <a:rPr lang="en-US" dirty="0">
                <a:solidFill>
                  <a:schemeClr val="tx1"/>
                </a:solidFill>
                <a:latin typeface="Times New Roman" pitchFamily="18" charset="0"/>
                <a:cs typeface="Times New Roman" pitchFamily="18" charset="0"/>
                <a:sym typeface="+mn-ea"/>
              </a:rPr>
              <a:t> </a:t>
            </a:r>
            <a:r>
              <a:rPr lang="en-US" dirty="0" err="1">
                <a:solidFill>
                  <a:schemeClr val="tx1"/>
                </a:solidFill>
                <a:latin typeface="Times New Roman" pitchFamily="18" charset="0"/>
                <a:cs typeface="Times New Roman" pitchFamily="18" charset="0"/>
                <a:sym typeface="+mn-ea"/>
              </a:rPr>
              <a:t>Kirar</a:t>
            </a:r>
            <a:r>
              <a:rPr lang="en-US" dirty="0">
                <a:solidFill>
                  <a:schemeClr val="tx1"/>
                </a:solidFill>
                <a:latin typeface="Times New Roman" pitchFamily="18" charset="0"/>
                <a:cs typeface="Times New Roman" pitchFamily="18" charset="0"/>
                <a:sym typeface="+mn-ea"/>
              </a:rPr>
              <a:t> </a:t>
            </a:r>
          </a:p>
          <a:p>
            <a:pPr algn="ctr"/>
            <a:r>
              <a:rPr lang="en-US" dirty="0">
                <a:latin typeface="Times New Roman" pitchFamily="18" charset="0"/>
                <a:cs typeface="Times New Roman" pitchFamily="18" charset="0"/>
                <a:sym typeface="+mn-ea"/>
              </a:rPr>
              <a:t>Assistant Professor </a:t>
            </a:r>
          </a:p>
          <a:p>
            <a:pPr algn="ctr"/>
            <a:r>
              <a:rPr lang="en-US" dirty="0">
                <a:latin typeface="Times New Roman" pitchFamily="18" charset="0"/>
                <a:cs typeface="Times New Roman" pitchFamily="18" charset="0"/>
                <a:sym typeface="+mn-ea"/>
              </a:rPr>
              <a:t>Man College, </a:t>
            </a:r>
            <a:r>
              <a:rPr lang="en-US" altLang="en-US" dirty="0">
                <a:latin typeface="Times New Roman" pitchFamily="18" charset="0"/>
                <a:cs typeface="Times New Roman" pitchFamily="18" charset="0"/>
              </a:rPr>
              <a:t>Guna, MP</a:t>
            </a:r>
            <a:endParaRPr lang="en-US" dirty="0">
              <a:solidFill>
                <a:schemeClr val="tx1"/>
              </a:solidFill>
              <a:latin typeface="Times New Roman" pitchFamily="18" charset="0"/>
              <a:cs typeface="Times New Roman" pitchFamily="18"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2</a:t>
            </a:fld>
            <a:endParaRPr lang="en-US"/>
          </a:p>
        </p:txBody>
      </p:sp>
      <p:sp>
        <p:nvSpPr>
          <p:cNvPr id="4" name="Content Placeholder 2">
            <a:extLst>
              <a:ext uri="{FF2B5EF4-FFF2-40B4-BE49-F238E27FC236}">
                <a16:creationId xmlns:a16="http://schemas.microsoft.com/office/drawing/2014/main" id="{22788C46-D0BC-4307-AE55-7601A139E7CB}"/>
              </a:ext>
            </a:extLst>
          </p:cNvPr>
          <p:cNvSpPr>
            <a:spLocks noGrp="1"/>
          </p:cNvSpPr>
          <p:nvPr>
            <p:ph type="title"/>
          </p:nvPr>
        </p:nvSpPr>
        <p:spPr>
          <a:xfrm>
            <a:off x="609600" y="190500"/>
            <a:ext cx="10972800" cy="6124036"/>
          </a:xfrm>
        </p:spPr>
        <p:txBody>
          <a:bodyPr vert="horz" lIns="91440" tIns="45720" rIns="91440" bIns="45720" rtlCol="0" anchor="t">
            <a:normAutofit/>
          </a:bodyPr>
          <a:lstStyle/>
          <a:p>
            <a:br>
              <a:rPr lang="en-US" sz="1600" b="1" dirty="0">
                <a:latin typeface="Times New Roman" panose="02020603050405020304" pitchFamily="18" charset="0"/>
                <a:cs typeface="Times New Roman" panose="02020603050405020304" pitchFamily="18" charset="0"/>
              </a:rPr>
            </a:br>
            <a:br>
              <a:rPr lang="en-US" sz="1600" b="1"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SOCIO-DEMOGRAPHIC DATA:</a:t>
            </a:r>
          </a:p>
          <a:p>
            <a:pPr>
              <a:lnSpc>
                <a:spcPct val="200000"/>
              </a:lnSpc>
            </a:pPr>
            <a:br>
              <a:rPr lang="en-US" sz="1600" b="1"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OPD No</a:t>
            </a:r>
            <a:r>
              <a:rPr lang="en-US" sz="1600" dirty="0">
                <a:latin typeface="Times New Roman" panose="02020603050405020304" pitchFamily="18" charset="0"/>
                <a:cs typeface="Times New Roman" panose="02020603050405020304" pitchFamily="18" charset="0"/>
              </a:rPr>
              <a:t>.: 260219005                                 </a:t>
            </a:r>
            <a:r>
              <a:rPr lang="en-US" sz="1600" b="1" dirty="0">
                <a:latin typeface="Times New Roman" panose="02020603050405020304" pitchFamily="18" charset="0"/>
                <a:cs typeface="Times New Roman" panose="02020603050405020304" pitchFamily="18" charset="0"/>
              </a:rPr>
              <a:t>Date:</a:t>
            </a:r>
            <a:r>
              <a:rPr lang="en-US" sz="1600" dirty="0">
                <a:latin typeface="Times New Roman" panose="02020603050405020304" pitchFamily="18" charset="0"/>
                <a:cs typeface="Times New Roman" panose="02020603050405020304" pitchFamily="18" charset="0"/>
              </a:rPr>
              <a:t> 6/07/2026                                    </a:t>
            </a:r>
            <a:r>
              <a:rPr lang="en-US" sz="1600" b="1" dirty="0">
                <a:latin typeface="Times New Roman" panose="02020603050405020304" pitchFamily="18" charset="0"/>
                <a:cs typeface="Times New Roman" panose="02020603050405020304" pitchFamily="18" charset="0"/>
              </a:rPr>
              <a:t>DOB</a:t>
            </a:r>
            <a:r>
              <a:rPr lang="en-US" sz="1600" dirty="0">
                <a:latin typeface="Times New Roman" panose="02020603050405020304" pitchFamily="18" charset="0"/>
                <a:cs typeface="Times New Roman" panose="02020603050405020304" pitchFamily="18" charset="0"/>
              </a:rPr>
              <a:t>: 27/03/1996</a:t>
            </a:r>
          </a:p>
          <a:p>
            <a:pPr>
              <a:lnSpc>
                <a:spcPct val="200000"/>
              </a:lnSpc>
            </a:pP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Name</a:t>
            </a:r>
            <a:r>
              <a:rPr lang="en-US" sz="1600" dirty="0">
                <a:latin typeface="Times New Roman" panose="02020603050405020304" pitchFamily="18" charset="0"/>
                <a:cs typeface="Times New Roman" panose="02020603050405020304" pitchFamily="18" charset="0"/>
              </a:rPr>
              <a:t>: A.B                                                </a:t>
            </a:r>
            <a:r>
              <a:rPr lang="en-US" sz="1600" b="1" dirty="0">
                <a:latin typeface="Times New Roman" panose="02020603050405020304" pitchFamily="18" charset="0"/>
                <a:cs typeface="Times New Roman" panose="02020603050405020304" pitchFamily="18" charset="0"/>
              </a:rPr>
              <a:t>Gender</a:t>
            </a:r>
            <a:r>
              <a:rPr lang="en-US" sz="1600" dirty="0">
                <a:latin typeface="Times New Roman" panose="02020603050405020304" pitchFamily="18" charset="0"/>
                <a:cs typeface="Times New Roman" panose="02020603050405020304" pitchFamily="18" charset="0"/>
              </a:rPr>
              <a:t>: Female                                     </a:t>
            </a:r>
            <a:r>
              <a:rPr lang="en-US" sz="1600" b="1" dirty="0">
                <a:latin typeface="Times New Roman" panose="02020603050405020304" pitchFamily="18" charset="0"/>
                <a:cs typeface="Times New Roman" panose="02020603050405020304" pitchFamily="18" charset="0"/>
              </a:rPr>
              <a:t>Marital Status</a:t>
            </a:r>
            <a:r>
              <a:rPr lang="en-US" sz="1600" dirty="0">
                <a:latin typeface="Times New Roman" panose="02020603050405020304" pitchFamily="18" charset="0"/>
                <a:cs typeface="Times New Roman" panose="02020603050405020304" pitchFamily="18" charset="0"/>
              </a:rPr>
              <a:t>: Married</a:t>
            </a:r>
          </a:p>
          <a:p>
            <a:pPr>
              <a:lnSpc>
                <a:spcPct val="200000"/>
              </a:lnSpc>
            </a:pP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Religion:</a:t>
            </a:r>
            <a:r>
              <a:rPr lang="en-US" sz="1600" dirty="0">
                <a:latin typeface="Times New Roman" panose="02020603050405020304" pitchFamily="18" charset="0"/>
                <a:cs typeface="Times New Roman" panose="02020603050405020304" pitchFamily="18" charset="0"/>
              </a:rPr>
              <a:t> Hindu                                         </a:t>
            </a:r>
            <a:r>
              <a:rPr lang="en-US" sz="1600" b="1" dirty="0">
                <a:latin typeface="Times New Roman" panose="02020603050405020304" pitchFamily="18" charset="0"/>
                <a:cs typeface="Times New Roman" panose="02020603050405020304" pitchFamily="18" charset="0"/>
              </a:rPr>
              <a:t>Education</a:t>
            </a:r>
            <a:r>
              <a:rPr lang="en-US" sz="1600" dirty="0">
                <a:latin typeface="Times New Roman" panose="02020603050405020304" pitchFamily="18" charset="0"/>
                <a:cs typeface="Times New Roman" panose="02020603050405020304" pitchFamily="18" charset="0"/>
              </a:rPr>
              <a:t>: Grade 12                             </a:t>
            </a:r>
            <a:r>
              <a:rPr lang="en-US" sz="1600" b="1" dirty="0">
                <a:latin typeface="Times New Roman" panose="02020603050405020304" pitchFamily="18" charset="0"/>
                <a:cs typeface="Times New Roman" panose="02020603050405020304" pitchFamily="18" charset="0"/>
              </a:rPr>
              <a:t>Occupation</a:t>
            </a:r>
            <a:r>
              <a:rPr lang="en-US" sz="1600" dirty="0">
                <a:latin typeface="Times New Roman" panose="02020603050405020304" pitchFamily="18" charset="0"/>
                <a:cs typeface="Times New Roman" panose="02020603050405020304" pitchFamily="18" charset="0"/>
              </a:rPr>
              <a:t>: Housewife</a:t>
            </a:r>
          </a:p>
          <a:p>
            <a:pPr>
              <a:lnSpc>
                <a:spcPct val="200000"/>
              </a:lnSpc>
            </a:pP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Age</a:t>
            </a:r>
            <a:r>
              <a:rPr lang="en-US" sz="1600" dirty="0">
                <a:latin typeface="Times New Roman" panose="02020603050405020304" pitchFamily="18" charset="0"/>
                <a:cs typeface="Times New Roman" panose="02020603050405020304" pitchFamily="18" charset="0"/>
              </a:rPr>
              <a:t>: 30                                                      </a:t>
            </a:r>
            <a:r>
              <a:rPr lang="en-US" sz="1600" b="1" dirty="0">
                <a:latin typeface="Times New Roman" panose="02020603050405020304" pitchFamily="18" charset="0"/>
                <a:cs typeface="Times New Roman" panose="02020603050405020304" pitchFamily="18" charset="0"/>
              </a:rPr>
              <a:t>Socio-economic status </a:t>
            </a:r>
            <a:r>
              <a:rPr lang="en-US" sz="1600" dirty="0">
                <a:latin typeface="Times New Roman" panose="02020603050405020304" pitchFamily="18" charset="0"/>
                <a:cs typeface="Times New Roman" panose="02020603050405020304" pitchFamily="18" charset="0"/>
              </a:rPr>
              <a:t>: Middle socio-economic status </a:t>
            </a:r>
          </a:p>
          <a:p>
            <a:pPr>
              <a:lnSpc>
                <a:spcPct val="200000"/>
              </a:lnSpc>
            </a:pP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Mobile</a:t>
            </a:r>
            <a:r>
              <a:rPr lang="en-US" sz="1600" dirty="0">
                <a:latin typeface="Times New Roman" panose="02020603050405020304" pitchFamily="18" charset="0"/>
                <a:cs typeface="Times New Roman" panose="02020603050405020304" pitchFamily="18" charset="0"/>
              </a:rPr>
              <a:t>: 738935287                                   </a:t>
            </a:r>
            <a:r>
              <a:rPr lang="en-US" sz="1600" b="1" dirty="0">
                <a:latin typeface="Times New Roman" panose="02020603050405020304" pitchFamily="18" charset="0"/>
                <a:cs typeface="Times New Roman" panose="02020603050405020304" pitchFamily="18" charset="0"/>
              </a:rPr>
              <a:t>Address</a:t>
            </a:r>
            <a:r>
              <a:rPr lang="en-US" sz="1600" dirty="0">
                <a:latin typeface="Times New Roman" panose="02020603050405020304" pitchFamily="18" charset="0"/>
                <a:cs typeface="Times New Roman" panose="02020603050405020304" pitchFamily="18" charset="0"/>
              </a:rPr>
              <a:t>: Guna, MP</a:t>
            </a:r>
          </a:p>
          <a:p>
            <a:pPr>
              <a:lnSpc>
                <a:spcPct val="200000"/>
              </a:lnSpc>
            </a:pPr>
            <a:endParaRPr lang="en-US" sz="1600" dirty="0">
              <a:latin typeface="Times New Roman" panose="02020603050405020304" pitchFamily="18" charset="0"/>
              <a:cs typeface="Times New Roman" panose="02020603050405020304" pitchFamily="18" charset="0"/>
            </a:endParaRPr>
          </a:p>
          <a:p>
            <a:pPr>
              <a:lnSpc>
                <a:spcPct val="200000"/>
              </a:lnSpc>
            </a:pPr>
            <a:r>
              <a:rPr lang="en-US" sz="1600" b="1" dirty="0">
                <a:latin typeface="Times New Roman" panose="02020603050405020304" pitchFamily="18" charset="0"/>
                <a:cs typeface="Times New Roman" panose="02020603050405020304" pitchFamily="18" charset="0"/>
              </a:rPr>
              <a:t>Informant:</a:t>
            </a:r>
          </a:p>
          <a:p>
            <a:pPr>
              <a:lnSpc>
                <a:spcPct val="200000"/>
              </a:lnSpc>
            </a:pPr>
            <a:r>
              <a:rPr lang="en-US" sz="1600" b="1" dirty="0">
                <a:latin typeface="Times New Roman" panose="02020603050405020304" pitchFamily="18" charset="0"/>
                <a:cs typeface="Times New Roman" panose="02020603050405020304" pitchFamily="18" charset="0"/>
              </a:rPr>
              <a:t>Relationship</a:t>
            </a:r>
            <a:r>
              <a:rPr lang="en-US" sz="1600" dirty="0">
                <a:latin typeface="Times New Roman" panose="02020603050405020304" pitchFamily="18" charset="0"/>
                <a:cs typeface="Times New Roman" panose="02020603050405020304" pitchFamily="18" charset="0"/>
              </a:rPr>
              <a:t>: Mother                               </a:t>
            </a:r>
            <a:r>
              <a:rPr lang="en-US" sz="1600" b="1" dirty="0">
                <a:latin typeface="Times New Roman" panose="02020603050405020304" pitchFamily="18" charset="0"/>
                <a:cs typeface="Times New Roman" panose="02020603050405020304" pitchFamily="18" charset="0"/>
              </a:rPr>
              <a:t>Duration of acquaintance</a:t>
            </a:r>
            <a:r>
              <a:rPr lang="en-US" sz="1600" dirty="0">
                <a:latin typeface="Times New Roman" panose="02020603050405020304" pitchFamily="18" charset="0"/>
                <a:cs typeface="Times New Roman" panose="02020603050405020304" pitchFamily="18" charset="0"/>
              </a:rPr>
              <a:t>: Since birth</a:t>
            </a:r>
          </a:p>
          <a:p>
            <a:pPr>
              <a:lnSpc>
                <a:spcPct val="200000"/>
              </a:lnSpc>
            </a:pPr>
            <a:r>
              <a:rPr lang="en-US" sz="1600" b="1" dirty="0">
                <a:latin typeface="Times New Roman" panose="02020603050405020304" pitchFamily="18" charset="0"/>
                <a:cs typeface="Times New Roman" panose="02020603050405020304" pitchFamily="18" charset="0"/>
              </a:rPr>
              <a:t>Reliable and Adequacy</a:t>
            </a:r>
            <a:r>
              <a:rPr lang="en-US" sz="1600" dirty="0">
                <a:latin typeface="Times New Roman" panose="02020603050405020304" pitchFamily="18" charset="0"/>
                <a:cs typeface="Times New Roman" panose="02020603050405020304" pitchFamily="18" charset="0"/>
              </a:rPr>
              <a:t>: The given information is reliable and adequate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402" y="499110"/>
            <a:ext cx="6133243" cy="467995"/>
          </a:xfrm>
        </p:spPr>
        <p:txBody>
          <a:bodyPr/>
          <a:lstStyle/>
          <a:p>
            <a:r>
              <a:rPr lang="en-US" altLang="en-US" sz="2400" b="1" dirty="0">
                <a:latin typeface="Times New Roman" panose="02020603050405020304" pitchFamily="18" charset="0"/>
                <a:cs typeface="Times New Roman" panose="02020603050405020304" pitchFamily="18" charset="0"/>
              </a:rPr>
              <a:t>Chief Complaints</a:t>
            </a:r>
          </a:p>
        </p:txBody>
      </p:sp>
      <p:sp>
        <p:nvSpPr>
          <p:cNvPr id="3" name="Slide Number Placeholder 2"/>
          <p:cNvSpPr>
            <a:spLocks noGrp="1"/>
          </p:cNvSpPr>
          <p:nvPr>
            <p:ph type="sldNum" sz="quarter" idx="12"/>
          </p:nvPr>
        </p:nvSpPr>
        <p:spPr/>
        <p:txBody>
          <a:bodyPr/>
          <a:lstStyle/>
          <a:p>
            <a:fld id="{B3561BA9-CDCF-4958-B8AB-66F3BF063E13}" type="slidenum">
              <a:rPr lang="en-US" smtClean="0"/>
              <a:pPr/>
              <a:t>3</a:t>
            </a:fld>
            <a:endParaRPr lang="en-US"/>
          </a:p>
        </p:txBody>
      </p:sp>
      <p:sp>
        <p:nvSpPr>
          <p:cNvPr id="5" name="Text Box 4"/>
          <p:cNvSpPr txBox="1"/>
          <p:nvPr/>
        </p:nvSpPr>
        <p:spPr>
          <a:xfrm>
            <a:off x="551402" y="967105"/>
            <a:ext cx="9775825" cy="5501640"/>
          </a:xfrm>
          <a:prstGeom prst="rect">
            <a:avLst/>
          </a:prstGeom>
          <a:noFill/>
        </p:spPr>
        <p:txBody>
          <a:bodyPr wrap="square" rtlCol="0">
            <a:noAutofit/>
          </a:bodyPr>
          <a:lstStyle/>
          <a:p>
            <a:pPr>
              <a:lnSpc>
                <a:spcPct val="150000"/>
              </a:lnSpc>
            </a:pPr>
            <a:r>
              <a:rPr lang="en-US" altLang="en-US" dirty="0">
                <a:latin typeface="Times New Roman" panose="02020603050405020304" pitchFamily="18" charset="0"/>
                <a:cs typeface="Times New Roman" panose="02020603050405020304" pitchFamily="18" charset="0"/>
              </a:rPr>
              <a:t>			</a:t>
            </a:r>
          </a:p>
          <a:p>
            <a:pPr>
              <a:lnSpc>
                <a:spcPct val="150000"/>
              </a:lnSpc>
            </a:pPr>
            <a:endParaRPr lang="en-US" sz="2000" b="1" dirty="0">
              <a:solidFill>
                <a:schemeClr val="accent5">
                  <a:lumMod val="75000"/>
                </a:schemeClr>
              </a:solidFill>
              <a:latin typeface="Times New Roman" panose="02020603050405020304" pitchFamily="18" charset="0"/>
              <a:cs typeface="Times New Roman" panose="02020603050405020304" pitchFamily="18" charset="0"/>
              <a:sym typeface="+mn-ea"/>
            </a:endParaRPr>
          </a:p>
          <a:p>
            <a:pPr>
              <a:lnSpc>
                <a:spcPct val="150000"/>
              </a:lnSpc>
            </a:pPr>
            <a:endParaRPr lang="en-US" sz="2000" b="1" dirty="0">
              <a:latin typeface="Times New Roman" panose="02020603050405020304" pitchFamily="18" charset="0"/>
              <a:cs typeface="Times New Roman" panose="02020603050405020304" pitchFamily="18" charset="0"/>
            </a:endParaRPr>
          </a:p>
          <a:p>
            <a:pPr>
              <a:lnSpc>
                <a:spcPct val="150000"/>
              </a:lnSpc>
            </a:pPr>
            <a:endParaRPr lang="en-US" sz="2000" b="1" dirty="0">
              <a:latin typeface="Times New Roman" panose="02020603050405020304" pitchFamily="18" charset="0"/>
              <a:cs typeface="Times New Roman" panose="02020603050405020304" pitchFamily="18" charset="0"/>
            </a:endParaRPr>
          </a:p>
          <a:p>
            <a:pPr>
              <a:lnSpc>
                <a:spcPct val="150000"/>
              </a:lnSpc>
            </a:pPr>
            <a:endParaRPr lang="en-US" sz="2000" b="1" dirty="0">
              <a:latin typeface="Times New Roman" panose="02020603050405020304" pitchFamily="18" charset="0"/>
              <a:cs typeface="Times New Roman" panose="02020603050405020304" pitchFamily="18" charset="0"/>
            </a:endParaRPr>
          </a:p>
          <a:p>
            <a:pPr>
              <a:lnSpc>
                <a:spcPct val="150000"/>
              </a:lnSpc>
            </a:pPr>
            <a:endParaRPr lang="en-US" sz="2000" b="1"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Reason for consultation:  </a:t>
            </a:r>
            <a:r>
              <a:rPr lang="en-US" dirty="0">
                <a:latin typeface="Times New Roman" panose="02020603050405020304" pitchFamily="18" charset="0"/>
                <a:cs typeface="Times New Roman" panose="02020603050405020304" pitchFamily="18" charset="0"/>
              </a:rPr>
              <a:t>Patient has come for behavioural assessment.</a:t>
            </a:r>
            <a:endParaRPr lang="en-US" b="1" dirty="0">
              <a:solidFill>
                <a:schemeClr val="accent5">
                  <a:lumMod val="75000"/>
                </a:schemeClr>
              </a:solidFill>
              <a:latin typeface="Times New Roman" panose="02020603050405020304" pitchFamily="18" charset="0"/>
              <a:cs typeface="Times New Roman" panose="02020603050405020304" pitchFamily="18" charset="0"/>
              <a:sym typeface="+mn-ea"/>
            </a:endParaRPr>
          </a:p>
          <a:p>
            <a:pPr>
              <a:lnSpc>
                <a:spcPct val="150000"/>
              </a:lnSpc>
            </a:pPr>
            <a:r>
              <a:rPr lang="en-US" sz="2000" b="1" dirty="0">
                <a:latin typeface="Times New Roman" panose="02020603050405020304" pitchFamily="18" charset="0"/>
                <a:cs typeface="Times New Roman" panose="02020603050405020304" pitchFamily="18" charset="0"/>
                <a:sym typeface="+mn-ea"/>
              </a:rPr>
              <a:t>History of Present Illness</a:t>
            </a:r>
            <a:r>
              <a:rPr lang="en-US" altLang="en-US" sz="2000" b="1" dirty="0">
                <a:latin typeface="Times New Roman" panose="02020603050405020304" pitchFamily="18" charset="0"/>
                <a:cs typeface="Times New Roman" panose="02020603050405020304" pitchFamily="18" charset="0"/>
              </a:rPr>
              <a:t> </a:t>
            </a:r>
          </a:p>
          <a:p>
            <a:pPr>
              <a:lnSpc>
                <a:spcPct val="150000"/>
              </a:lnSpc>
            </a:pPr>
            <a:r>
              <a:rPr lang="en-US" b="1" dirty="0">
                <a:latin typeface="Times New Roman" panose="02020603050405020304" pitchFamily="18" charset="0"/>
                <a:cs typeface="Times New Roman" panose="02020603050405020304" pitchFamily="18" charset="0"/>
              </a:rPr>
              <a:t>Total Duration: </a:t>
            </a:r>
            <a:r>
              <a:rPr lang="en-US" dirty="0">
                <a:latin typeface="Times New Roman" panose="02020603050405020304" pitchFamily="18" charset="0"/>
                <a:cs typeface="Times New Roman" panose="02020603050405020304" pitchFamily="18" charset="0"/>
              </a:rPr>
              <a:t>Total duration is 4 years</a:t>
            </a:r>
            <a:endParaRPr lang="en-US" altLang="en-US" b="1"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Onset: </a:t>
            </a:r>
            <a:r>
              <a:rPr lang="en-US" dirty="0">
                <a:latin typeface="Times New Roman" panose="02020603050405020304" pitchFamily="18" charset="0"/>
                <a:cs typeface="Times New Roman" panose="02020603050405020304" pitchFamily="18" charset="0"/>
              </a:rPr>
              <a:t>The onset of illness is</a:t>
            </a:r>
            <a:r>
              <a:rPr lang="en-US" altLang="en-US" b="1" dirty="0">
                <a:solidFill>
                  <a:schemeClr val="tx1"/>
                </a:solidFill>
                <a:latin typeface="Times New Roman" panose="02020603050405020304" pitchFamily="18" charset="0"/>
                <a:cs typeface="Times New Roman" panose="02020603050405020304" pitchFamily="18" charset="0"/>
              </a:rPr>
              <a:t> </a:t>
            </a:r>
            <a:r>
              <a:rPr lang="en-US" altLang="en-US" dirty="0">
                <a:solidFill>
                  <a:schemeClr val="tx1"/>
                </a:solidFill>
                <a:latin typeface="Times New Roman" panose="02020603050405020304" pitchFamily="18" charset="0"/>
                <a:cs typeface="Times New Roman" panose="02020603050405020304" pitchFamily="18" charset="0"/>
              </a:rPr>
              <a:t>insidious  </a:t>
            </a:r>
            <a:r>
              <a:rPr lang="en-PH" altLang="en-US" dirty="0">
                <a:solidFill>
                  <a:schemeClr val="tx1"/>
                </a:solidFill>
                <a:latin typeface="Times New Roman" panose="02020603050405020304" pitchFamily="18" charset="0"/>
                <a:cs typeface="Times New Roman" panose="02020603050405020304" pitchFamily="18" charset="0"/>
              </a:rPr>
              <a:t> </a:t>
            </a:r>
          </a:p>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Course:</a:t>
            </a:r>
            <a:r>
              <a:rPr lang="en-US" altLang="en-US" dirty="0">
                <a:solidFill>
                  <a:schemeClr val="tx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course of illness is f</a:t>
            </a:r>
            <a:r>
              <a:rPr lang="en-US" altLang="en-US" dirty="0">
                <a:solidFill>
                  <a:schemeClr val="tx1"/>
                </a:solidFill>
                <a:latin typeface="Times New Roman" panose="02020603050405020304" pitchFamily="18" charset="0"/>
                <a:cs typeface="Times New Roman" panose="02020603050405020304" pitchFamily="18" charset="0"/>
              </a:rPr>
              <a:t>luctuating </a:t>
            </a:r>
          </a:p>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Progress:</a:t>
            </a:r>
            <a:r>
              <a:rPr lang="en-US" altLang="en-US" dirty="0">
                <a:solidFill>
                  <a:schemeClr val="tx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progress is s</a:t>
            </a:r>
            <a:r>
              <a:rPr lang="en-US" altLang="en-US" dirty="0">
                <a:solidFill>
                  <a:schemeClr val="tx1"/>
                </a:solidFill>
                <a:latin typeface="Times New Roman" panose="02020603050405020304" pitchFamily="18" charset="0"/>
                <a:cs typeface="Times New Roman" panose="02020603050405020304" pitchFamily="18" charset="0"/>
              </a:rPr>
              <a:t>tatic </a:t>
            </a:r>
            <a:r>
              <a:rPr lang="en-PH" altLang="en-US" dirty="0">
                <a:solidFill>
                  <a:schemeClr val="tx1"/>
                </a:solidFill>
                <a:latin typeface="Times New Roman" panose="02020603050405020304" pitchFamily="18" charset="0"/>
                <a:cs typeface="Times New Roman" panose="02020603050405020304" pitchFamily="18" charset="0"/>
              </a:rPr>
              <a:t>                 </a:t>
            </a:r>
            <a:endParaRPr lang="en-US" altLang="en-US" sz="2000" b="1" dirty="0">
              <a:solidFill>
                <a:schemeClr val="tx1"/>
              </a:solidFill>
              <a:latin typeface="Times New Roman" panose="02020603050405020304" pitchFamily="18" charset="0"/>
              <a:cs typeface="Times New Roman" panose="02020603050405020304" pitchFamily="18" charset="0"/>
            </a:endParaRPr>
          </a:p>
          <a:p>
            <a:pPr>
              <a:lnSpc>
                <a:spcPct val="150000"/>
              </a:lnSpc>
            </a:pPr>
            <a:endParaRPr lang="en-US" altLang="en-US" sz="2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555" y="287020"/>
            <a:ext cx="4582795" cy="614680"/>
          </a:xfrm>
        </p:spPr>
        <p:txBody>
          <a:bodyPr/>
          <a:lstStyle/>
          <a:p>
            <a:br>
              <a:rPr lang="en-US" altLang="en-US" sz="2400" b="1">
                <a:latin typeface="Times New Roman" panose="02020603050405020304" pitchFamily="18" charset="0"/>
                <a:cs typeface="Times New Roman" panose="02020603050405020304" pitchFamily="18" charset="0"/>
              </a:rPr>
            </a:br>
            <a:r>
              <a:rPr lang="en-US" altLang="en-US" sz="2400" b="1">
                <a:solidFill>
                  <a:schemeClr val="accent5">
                    <a:lumMod val="75000"/>
                  </a:schemeClr>
                </a:solidFill>
                <a:latin typeface="Times New Roman" panose="02020603050405020304" pitchFamily="18" charset="0"/>
                <a:cs typeface="Times New Roman" panose="02020603050405020304" pitchFamily="18" charset="0"/>
              </a:rPr>
              <a:t>Factors of Illnes </a:t>
            </a:r>
            <a:br>
              <a:rPr lang="en-US" altLang="en-US" sz="2400" b="1">
                <a:solidFill>
                  <a:schemeClr val="accent5">
                    <a:lumMod val="75000"/>
                  </a:schemeClr>
                </a:solidFill>
                <a:latin typeface="Times New Roman" panose="02020603050405020304" pitchFamily="18" charset="0"/>
                <a:cs typeface="Times New Roman" panose="02020603050405020304" pitchFamily="18" charset="0"/>
              </a:rPr>
            </a:br>
            <a:endParaRPr lang="en-US" altLang="en-US" sz="2400" b="1">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B3561BA9-CDCF-4958-B8AB-66F3BF063E13}" type="slidenum">
              <a:rPr lang="en-US" smtClean="0"/>
              <a:pPr/>
              <a:t>4</a:t>
            </a:fld>
            <a:endParaRPr lang="en-US"/>
          </a:p>
        </p:txBody>
      </p:sp>
      <p:sp>
        <p:nvSpPr>
          <p:cNvPr id="5" name="Text Box 4"/>
          <p:cNvSpPr txBox="1"/>
          <p:nvPr/>
        </p:nvSpPr>
        <p:spPr>
          <a:xfrm>
            <a:off x="561340" y="895985"/>
            <a:ext cx="11032562" cy="5434330"/>
          </a:xfrm>
          <a:prstGeom prst="rect">
            <a:avLst/>
          </a:prstGeom>
          <a:noFill/>
        </p:spPr>
        <p:txBody>
          <a:bodyPr wrap="square" rtlCol="0">
            <a:noAutofit/>
          </a:bodyPr>
          <a:lstStyle/>
          <a:p>
            <a:pPr>
              <a:lnSpc>
                <a:spcPct val="190000"/>
              </a:lnSpc>
            </a:pPr>
            <a:r>
              <a:rPr lang="en-US" altLang="en-US" b="1" dirty="0">
                <a:latin typeface="Times New Roman" panose="02020603050405020304" pitchFamily="18" charset="0"/>
                <a:cs typeface="Times New Roman" panose="02020603050405020304" pitchFamily="18" charset="0"/>
              </a:rPr>
              <a:t>Predisposing Factor:</a:t>
            </a:r>
            <a:r>
              <a:rPr lang="en-US" altLang="en-US" dirty="0">
                <a:latin typeface="Times New Roman" panose="02020603050405020304" pitchFamily="18" charset="0"/>
                <a:cs typeface="Times New Roman" panose="02020603050405020304" pitchFamily="18" charset="0"/>
              </a:rPr>
              <a:t> No significant predisposing factor was reported </a:t>
            </a:r>
          </a:p>
          <a:p>
            <a:pPr>
              <a:lnSpc>
                <a:spcPct val="190000"/>
              </a:lnSpc>
            </a:pPr>
            <a:r>
              <a:rPr lang="en-US" altLang="en-US" b="1" dirty="0">
                <a:latin typeface="Times New Roman" panose="02020603050405020304" pitchFamily="18" charset="0"/>
                <a:cs typeface="Times New Roman" panose="02020603050405020304" pitchFamily="18" charset="0"/>
              </a:rPr>
              <a:t>Precipitating Factor: </a:t>
            </a:r>
            <a:r>
              <a:rPr lang="en-US" altLang="en-US" dirty="0">
                <a:latin typeface="Times New Roman" panose="02020603050405020304" pitchFamily="18" charset="0"/>
                <a:cs typeface="Times New Roman" panose="02020603050405020304" pitchFamily="18" charset="0"/>
              </a:rPr>
              <a:t>Son was diagnosed with autism and with heart problem</a:t>
            </a:r>
            <a:r>
              <a:rPr lang="en-US" altLang="en-US" b="1" dirty="0">
                <a:latin typeface="Times New Roman" panose="02020603050405020304" pitchFamily="18" charset="0"/>
                <a:cs typeface="Times New Roman" panose="02020603050405020304" pitchFamily="18" charset="0"/>
              </a:rPr>
              <a:t> </a:t>
            </a:r>
          </a:p>
          <a:p>
            <a:pPr>
              <a:lnSpc>
                <a:spcPct val="190000"/>
              </a:lnSpc>
            </a:pPr>
            <a:r>
              <a:rPr lang="en-US" altLang="en-US" b="1" dirty="0">
                <a:latin typeface="Times New Roman" panose="02020603050405020304" pitchFamily="18" charset="0"/>
                <a:cs typeface="Times New Roman" panose="02020603050405020304" pitchFamily="18" charset="0"/>
              </a:rPr>
              <a:t>Perpetuating Factor:</a:t>
            </a:r>
            <a:r>
              <a:rPr lang="en-US" altLang="en-US" dirty="0">
                <a:latin typeface="Times New Roman" panose="02020603050405020304" pitchFamily="18" charset="0"/>
                <a:cs typeface="Times New Roman" panose="02020603050405020304" pitchFamily="18" charset="0"/>
              </a:rPr>
              <a:t> Child behaviour (temper tantrum, difficulty in management)</a:t>
            </a:r>
            <a:r>
              <a:rPr lang="en-PH"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a:lnSpc>
                <a:spcPct val="150000"/>
              </a:lnSpc>
            </a:pPr>
            <a:r>
              <a:rPr lang="en-PH" altLang="en-US" sz="2400" b="1" dirty="0">
                <a:solidFill>
                  <a:schemeClr val="accent5">
                    <a:lumMod val="75000"/>
                  </a:schemeClr>
                </a:solidFill>
                <a:latin typeface="Times New Roman" panose="02020603050405020304" pitchFamily="18" charset="0"/>
                <a:cs typeface="Times New Roman" panose="02020603050405020304" pitchFamily="18" charset="0"/>
              </a:rPr>
              <a:t>Continue with </a:t>
            </a:r>
            <a:r>
              <a:rPr lang="en-US" altLang="en-US" sz="2400" b="1" dirty="0">
                <a:solidFill>
                  <a:schemeClr val="accent5">
                    <a:lumMod val="75000"/>
                  </a:schemeClr>
                </a:solidFill>
                <a:latin typeface="Times New Roman" panose="02020603050405020304" pitchFamily="18" charset="0"/>
                <a:cs typeface="Times New Roman" panose="02020603050405020304" pitchFamily="18" charset="0"/>
              </a:rPr>
              <a:t>History of Present Illness </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Index patient A.B. 30 year-old female, married belongs to middle socio economic strata, came along with mother and her husband with the chief complaints of excessive worries about future, breathing difficulties, increased heart rate, shivering in hands and legs, fear of hospital, travelling, driving and other situations since 4 years, verbal aggression towards husband since one year. The patient was asymptomatic </a:t>
            </a:r>
            <a:r>
              <a:rPr lang="en-PH" altLang="en-US" dirty="0">
                <a:latin typeface="Times New Roman" panose="02020603050405020304" pitchFamily="18" charset="0"/>
                <a:cs typeface="Times New Roman" panose="02020603050405020304" pitchFamily="18" charset="0"/>
              </a:rPr>
              <a:t>4 years </a:t>
            </a:r>
            <a:r>
              <a:rPr lang="en-US" altLang="en-US" dirty="0">
                <a:latin typeface="Times New Roman" panose="02020603050405020304" pitchFamily="18" charset="0"/>
                <a:cs typeface="Times New Roman" panose="02020603050405020304" pitchFamily="18" charset="0"/>
              </a:rPr>
              <a:t> ago. According to the informant, after 2 years of her marriage, she conceived and delivered a </a:t>
            </a:r>
            <a:r>
              <a:rPr lang="en-PH" altLang="en-US" dirty="0">
                <a:latin typeface="Times New Roman" panose="02020603050405020304" pitchFamily="18" charset="0"/>
                <a:cs typeface="Times New Roman" panose="02020603050405020304" pitchFamily="18" charset="0"/>
              </a:rPr>
              <a:t>boy </a:t>
            </a:r>
            <a:r>
              <a:rPr lang="en-US" altLang="en-US" dirty="0">
                <a:latin typeface="Times New Roman" panose="02020603050405020304" pitchFamily="18" charset="0"/>
                <a:cs typeface="Times New Roman" panose="02020603050405020304" pitchFamily="18" charset="0"/>
              </a:rPr>
              <a:t>child</a:t>
            </a:r>
            <a:r>
              <a:rPr lang="en-PH"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Later they noticed that child is having different characteristics like some repetitive movements in hands, frequent difficulties in breathing and compare to other normal child, the developmental milestone was delayed. For that they went for medical check up and it was discovered that the child was having issues in heart (2 holes in heart).</a:t>
            </a:r>
          </a:p>
          <a:p>
            <a:pPr>
              <a:lnSpc>
                <a:spcPct val="150000"/>
              </a:lnSpc>
            </a:pPr>
            <a:endParaRPr lang="en-US" altLang="en-US" dirty="0">
              <a:latin typeface="Times New Roman" panose="02020603050405020304" pitchFamily="18" charset="0"/>
              <a:cs typeface="Times New Roman" panose="02020603050405020304" pitchFamily="18" charset="0"/>
            </a:endParaRPr>
          </a:p>
          <a:p>
            <a:pPr>
              <a:lnSpc>
                <a:spcPct val="150000"/>
              </a:lnSpc>
            </a:pPr>
            <a:endParaRPr lang="en-US" alt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5</a:t>
            </a:fld>
            <a:endParaRPr lang="en-US"/>
          </a:p>
        </p:txBody>
      </p:sp>
      <p:sp>
        <p:nvSpPr>
          <p:cNvPr id="5" name="Text Box 4"/>
          <p:cNvSpPr txBox="1"/>
          <p:nvPr/>
        </p:nvSpPr>
        <p:spPr>
          <a:xfrm>
            <a:off x="361087" y="1103642"/>
            <a:ext cx="11090275" cy="4503528"/>
          </a:xfrm>
          <a:prstGeom prst="rect">
            <a:avLst/>
          </a:prstGeom>
          <a:noFill/>
        </p:spPr>
        <p:txBody>
          <a:bodyPr wrap="square" rtlCol="0">
            <a:noAutofit/>
          </a:bodyPr>
          <a:lstStyle/>
          <a:p>
            <a:pPr marL="285750" indent="-285750" algn="just">
              <a:lnSpc>
                <a:spcPct val="150000"/>
              </a:lnSpc>
            </a:pPr>
            <a:r>
              <a:rPr lang="en-US" altLang="en-US" dirty="0">
                <a:latin typeface="Times New Roman" panose="02020603050405020304" pitchFamily="18" charset="0"/>
                <a:cs typeface="Times New Roman" panose="02020603050405020304" pitchFamily="18" charset="0"/>
              </a:rPr>
              <a:t> 	So the test was done</a:t>
            </a:r>
            <a:r>
              <a:rPr lang="en-PH"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t>
            </a:r>
            <a:r>
              <a:rPr lang="en-PH" altLang="en-US" dirty="0">
                <a:latin typeface="Times New Roman" panose="02020603050405020304" pitchFamily="18" charset="0"/>
                <a:cs typeface="Times New Roman" panose="02020603050405020304" pitchFamily="18" charset="0"/>
              </a:rPr>
              <a:t>and t</a:t>
            </a:r>
            <a:r>
              <a:rPr lang="en-US" altLang="en-US" dirty="0">
                <a:latin typeface="Times New Roman" panose="02020603050405020304" pitchFamily="18" charset="0"/>
                <a:cs typeface="Times New Roman" panose="02020603050405020304" pitchFamily="18" charset="0"/>
              </a:rPr>
              <a:t>hey were asked to wait for the result for two days. Next day, it was her 4th wedding anniversary day, and family members arranged party for all, the same day, her son was diagnosed with autistic features and severe heart issues. On receiving the diagnosis, the patient became extremely distressed, cried excessively, </a:t>
            </a:r>
            <a:r>
              <a:rPr lang="en-PH" altLang="en-US" dirty="0">
                <a:latin typeface="Times New Roman" panose="02020603050405020304" pitchFamily="18" charset="0"/>
                <a:cs typeface="Times New Roman" panose="02020603050405020304" pitchFamily="18" charset="0"/>
              </a:rPr>
              <a:t>and </a:t>
            </a:r>
            <a:r>
              <a:rPr lang="en-US" altLang="en-US" dirty="0">
                <a:latin typeface="Times New Roman" panose="02020603050405020304" pitchFamily="18" charset="0"/>
                <a:cs typeface="Times New Roman" panose="02020603050405020304" pitchFamily="18" charset="0"/>
              </a:rPr>
              <a:t>fainted</a:t>
            </a:r>
            <a:r>
              <a:rPr lang="en-PH"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After that she was not interested in talking with others, started to show worry about her son, had difficulty in breathing, and she reported “I am not able to breath properly, feel something stuck in my chest, my hands and legs also shiver in between.” Most of the days she used to sit alone, feels down, unable to work at home because of tiredness, and also reported “I felt that I was left alone, nobody with me, why it happened to me.” Started to show fear of hospital setting, during driving,</a:t>
            </a:r>
            <a:r>
              <a:rPr lang="en-PH" altLang="en-US" dirty="0">
                <a:latin typeface="Times New Roman" panose="02020603050405020304" pitchFamily="18" charset="0"/>
                <a:cs typeface="Times New Roman" panose="02020603050405020304" pitchFamily="18" charset="0"/>
              </a:rPr>
              <a:t> travelling in train and many other situations. S</a:t>
            </a:r>
            <a:r>
              <a:rPr lang="en-US" altLang="en-US" dirty="0">
                <a:latin typeface="Times New Roman" panose="02020603050405020304" pitchFamily="18" charset="0"/>
                <a:cs typeface="Times New Roman" panose="02020603050405020304" pitchFamily="18" charset="0"/>
              </a:rPr>
              <a:t>he f</a:t>
            </a:r>
            <a:r>
              <a:rPr lang="en-PH" altLang="en-US" dirty="0">
                <a:latin typeface="Times New Roman" panose="02020603050405020304" pitchFamily="18" charset="0"/>
                <a:cs typeface="Times New Roman" panose="02020603050405020304" pitchFamily="18" charset="0"/>
              </a:rPr>
              <a:t>eels</a:t>
            </a:r>
            <a:r>
              <a:rPr lang="en-US" altLang="en-US" dirty="0">
                <a:latin typeface="Times New Roman" panose="02020603050405020304" pitchFamily="18" charset="0"/>
                <a:cs typeface="Times New Roman" panose="02020603050405020304" pitchFamily="18" charset="0"/>
              </a:rPr>
              <a:t> she is going to be out of control, </a:t>
            </a:r>
            <a:r>
              <a:rPr lang="en-PH" altLang="en-US" dirty="0">
                <a:latin typeface="Times New Roman" panose="02020603050405020304" pitchFamily="18" charset="0"/>
                <a:cs typeface="Times New Roman" panose="02020603050405020304" pitchFamily="18" charset="0"/>
              </a:rPr>
              <a:t>and </a:t>
            </a:r>
            <a:r>
              <a:rPr lang="en-US" altLang="en-US" dirty="0">
                <a:latin typeface="Times New Roman" panose="02020603050405020304" pitchFamily="18" charset="0"/>
                <a:cs typeface="Times New Roman" panose="02020603050405020304" pitchFamily="18" charset="0"/>
              </a:rPr>
              <a:t>her heartbeat increases without reason. And she feels fear of everything since 4 years onwards. Since one year, she is having irritability and verbal aggression towards husband and son. </a:t>
            </a:r>
          </a:p>
          <a:p>
            <a:pPr marL="285750" indent="-285750" algn="just">
              <a:lnSpc>
                <a:spcPct val="150000"/>
              </a:lnSpc>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6</a:t>
            </a:fld>
            <a:endParaRPr lang="en-US"/>
          </a:p>
        </p:txBody>
      </p:sp>
      <p:sp>
        <p:nvSpPr>
          <p:cNvPr id="5" name="Text Box 4"/>
          <p:cNvSpPr txBox="1"/>
          <p:nvPr/>
        </p:nvSpPr>
        <p:spPr>
          <a:xfrm>
            <a:off x="499110" y="542925"/>
            <a:ext cx="11090275" cy="5894070"/>
          </a:xfrm>
          <a:prstGeom prst="rect">
            <a:avLst/>
          </a:prstGeom>
          <a:noFill/>
        </p:spPr>
        <p:txBody>
          <a:bodyPr wrap="square" rtlCol="0">
            <a:noAutofit/>
          </a:bodyPr>
          <a:lstStyle/>
          <a:p>
            <a:pPr marL="285750" indent="-285750" algn="just"/>
            <a:r>
              <a:rPr lang="en-US" b="1" dirty="0">
                <a:latin typeface="Times New Roman" panose="02020603050405020304" pitchFamily="18" charset="0"/>
                <a:cs typeface="Times New Roman" panose="02020603050405020304" pitchFamily="18" charset="0"/>
              </a:rPr>
              <a:t>BIOLOGICAL FUNCTIONING </a:t>
            </a:r>
            <a:r>
              <a:rPr lang="en-US" altLang="en-US" b="1"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a:lnSpc>
                <a:spcPct val="150000"/>
              </a:lnSpc>
            </a:pPr>
            <a:endParaRPr lang="en-US"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SLEEP</a:t>
            </a:r>
            <a:r>
              <a:rPr lang="en-US" dirty="0">
                <a:latin typeface="Times New Roman" panose="02020603050405020304" pitchFamily="18" charset="0"/>
                <a:cs typeface="Times New Roman" panose="02020603050405020304" pitchFamily="18" charset="0"/>
              </a:rPr>
              <a:t>: Patient did not report any sleep disturbance.</a:t>
            </a:r>
          </a:p>
          <a:p>
            <a:pPr>
              <a:lnSpc>
                <a:spcPct val="150000"/>
              </a:lnSpc>
            </a:pPr>
            <a:r>
              <a:rPr lang="en-US" b="1" dirty="0">
                <a:latin typeface="Times New Roman" panose="02020603050405020304" pitchFamily="18" charset="0"/>
                <a:cs typeface="Times New Roman" panose="02020603050405020304" pitchFamily="18" charset="0"/>
              </a:rPr>
              <a:t>APPETITE</a:t>
            </a:r>
            <a:r>
              <a:rPr lang="en-US" dirty="0">
                <a:latin typeface="Times New Roman" panose="02020603050405020304" pitchFamily="18" charset="0"/>
                <a:cs typeface="Times New Roman" panose="02020603050405020304" pitchFamily="18" charset="0"/>
              </a:rPr>
              <a:t>: Appetite was intact.</a:t>
            </a:r>
          </a:p>
          <a:p>
            <a:pPr>
              <a:lnSpc>
                <a:spcPct val="150000"/>
              </a:lnSpc>
            </a:pPr>
            <a:r>
              <a:rPr lang="en-US" b="1" dirty="0">
                <a:latin typeface="Times New Roman" panose="02020603050405020304" pitchFamily="18" charset="0"/>
                <a:cs typeface="Times New Roman" panose="02020603050405020304" pitchFamily="18" charset="0"/>
              </a:rPr>
              <a:t>SELF-CARE</a:t>
            </a:r>
            <a:r>
              <a:rPr lang="en-US" dirty="0">
                <a:latin typeface="Times New Roman" panose="02020603050405020304" pitchFamily="18" charset="0"/>
                <a:cs typeface="Times New Roman" panose="02020603050405020304" pitchFamily="18" charset="0"/>
              </a:rPr>
              <a:t>: Maintained</a:t>
            </a:r>
          </a:p>
          <a:p>
            <a:pPr>
              <a:lnSpc>
                <a:spcPct val="150000"/>
              </a:lnSpc>
            </a:pPr>
            <a:r>
              <a:rPr lang="en-US" b="1" dirty="0">
                <a:latin typeface="Times New Roman" panose="02020603050405020304" pitchFamily="18" charset="0"/>
                <a:cs typeface="Times New Roman" panose="02020603050405020304" pitchFamily="18" charset="0"/>
              </a:rPr>
              <a:t>LIBIDO</a:t>
            </a:r>
            <a:r>
              <a:rPr lang="en-US" dirty="0">
                <a:latin typeface="Times New Roman" panose="02020603050405020304" pitchFamily="18" charset="0"/>
                <a:cs typeface="Times New Roman" panose="02020603050405020304" pitchFamily="18" charset="0"/>
              </a:rPr>
              <a:t>: No changes in libido reported by the patient.</a:t>
            </a:r>
          </a:p>
          <a:p>
            <a:pPr>
              <a:lnSpc>
                <a:spcPct val="150000"/>
              </a:lnSpc>
            </a:pPr>
            <a:r>
              <a:rPr lang="en-US" b="1" dirty="0">
                <a:latin typeface="Times New Roman" panose="02020603050405020304" pitchFamily="18" charset="0"/>
                <a:cs typeface="Times New Roman" panose="02020603050405020304" pitchFamily="18" charset="0"/>
              </a:rPr>
              <a:t>OCCUPATIONAL FUNCTIONING</a:t>
            </a:r>
            <a:r>
              <a:rPr 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Her occupational functioning was partially impaired due to </a:t>
            </a:r>
            <a:r>
              <a:rPr lang="en-PH" altLang="en-US" dirty="0">
                <a:latin typeface="Times New Roman" panose="02020603050405020304" pitchFamily="18" charset="0"/>
                <a:cs typeface="Times New Roman" panose="02020603050405020304" pitchFamily="18" charset="0"/>
              </a:rPr>
              <a:t>the fear of different situations</a:t>
            </a:r>
            <a:r>
              <a:rPr lang="en-US" alt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lgn="just"/>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22"/>
          <p:cNvSpPr txBox="1"/>
          <p:nvPr/>
        </p:nvSpPr>
        <p:spPr>
          <a:xfrm>
            <a:off x="415290" y="780043"/>
            <a:ext cx="6318250" cy="568325"/>
          </a:xfrm>
          <a:prstGeom prst="rect">
            <a:avLst/>
          </a:prstGeom>
        </p:spPr>
        <p:txBody>
          <a:bodyPr vert="horz" lIns="91440" tIns="45720" rIns="914400" bIns="45720" rtlCol="0" anchor="b">
            <a:norm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2400" b="1" dirty="0">
                <a:solidFill>
                  <a:schemeClr val="tx1"/>
                </a:solidFill>
                <a:latin typeface="Times New Roman" panose="02020603050405020304" pitchFamily="18" charset="0"/>
                <a:cs typeface="Times New Roman" panose="02020603050405020304" pitchFamily="18" charset="0"/>
              </a:rPr>
              <a:t>Negative History</a:t>
            </a:r>
          </a:p>
        </p:txBody>
      </p:sp>
      <p:sp>
        <p:nvSpPr>
          <p:cNvPr id="6" name="TextBox 5"/>
          <p:cNvSpPr txBox="1"/>
          <p:nvPr/>
        </p:nvSpPr>
        <p:spPr>
          <a:xfrm>
            <a:off x="575310" y="5234305"/>
            <a:ext cx="10994390" cy="721360"/>
          </a:xfrm>
          <a:prstGeom prst="rect">
            <a:avLst/>
          </a:prstGeom>
          <a:noFill/>
        </p:spPr>
        <p:txBody>
          <a:bodyPr wrap="square">
            <a:noAutofit/>
          </a:bodyPr>
          <a:lstStyle/>
          <a:p>
            <a:endParaRPr lang="en-IN" dirty="0"/>
          </a:p>
        </p:txBody>
      </p:sp>
      <p:sp>
        <p:nvSpPr>
          <p:cNvPr id="5" name="Content Placeholder 2">
            <a:extLst>
              <a:ext uri="{FF2B5EF4-FFF2-40B4-BE49-F238E27FC236}">
                <a16:creationId xmlns:a16="http://schemas.microsoft.com/office/drawing/2014/main" id="{681B10D4-DEE3-2382-F30E-B64D2A569C72}"/>
              </a:ext>
            </a:extLst>
          </p:cNvPr>
          <p:cNvSpPr txBox="1">
            <a:spLocks/>
          </p:cNvSpPr>
          <p:nvPr/>
        </p:nvSpPr>
        <p:spPr>
          <a:xfrm>
            <a:off x="590413" y="1669679"/>
            <a:ext cx="10615300" cy="4382136"/>
          </a:xfrm>
          <a:prstGeom prst="rect">
            <a:avLst/>
          </a:prstGeom>
        </p:spPr>
        <p:txBody>
          <a:bodyPr>
            <a:noAutofit/>
          </a:bodyPr>
          <a:lstStyle/>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No history suggestive of fever, head injury, vomiting and fits-like symptoms such as frothing of mouth, rigidity in body, rolling of eyes.</a:t>
            </a:r>
            <a:endParaRPr kumimoji="0" lang="en-IN"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No history suggestive of intake of any substance, alcohol, weed, nicotine and </a:t>
            </a:r>
            <a:r>
              <a:rPr kumimoji="0" lang="en-US"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caffine</a:t>
            </a: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IN"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No history suggestive of gazing, flat affect, self-smiling, self-muttering, taking to self, hearing or seeing things that are not present.</a:t>
            </a:r>
            <a:endParaRPr kumimoji="0" lang="en-IN"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No history suggestive of indulging into repetitive thinking and doing behavior.</a:t>
            </a:r>
            <a:endParaRPr kumimoji="0" lang="en-IN"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No history suggestive of increased talk, self-boasting, high mood and increased energy, decreased need for sleep.</a:t>
            </a:r>
            <a:endParaRPr kumimoji="0" lang="en-IN"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Tx/>
              <a:buSzTx/>
              <a:tabLst/>
              <a:defRPr/>
            </a:pPr>
            <a:endParaRPr kumimoji="0" lang="en-I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4690" y="168910"/>
            <a:ext cx="3604260" cy="582930"/>
          </a:xfrm>
        </p:spPr>
        <p:txBody>
          <a:bodyPr/>
          <a:lstStyle/>
          <a:p>
            <a:r>
              <a:rPr lang="en-PH" altLang="en-US" sz="2400" b="1">
                <a:solidFill>
                  <a:schemeClr val="accent5">
                    <a:lumMod val="75000"/>
                  </a:schemeClr>
                </a:solidFill>
                <a:latin typeface="Times New Roman" panose="02020603050405020304" pitchFamily="18" charset="0"/>
                <a:cs typeface="Times New Roman" panose="02020603050405020304" pitchFamily="18" charset="0"/>
              </a:rPr>
              <a:t>Treatment History</a:t>
            </a:r>
          </a:p>
        </p:txBody>
      </p:sp>
      <p:sp>
        <p:nvSpPr>
          <p:cNvPr id="3" name="Slide Number Placeholder 2"/>
          <p:cNvSpPr>
            <a:spLocks noGrp="1"/>
          </p:cNvSpPr>
          <p:nvPr>
            <p:ph type="sldNum" sz="quarter" idx="12"/>
          </p:nvPr>
        </p:nvSpPr>
        <p:spPr/>
        <p:txBody>
          <a:bodyPr/>
          <a:lstStyle/>
          <a:p>
            <a:fld id="{B3561BA9-CDCF-4958-B8AB-66F3BF063E13}" type="slidenum">
              <a:rPr lang="en-US" smtClean="0"/>
              <a:pPr/>
              <a:t>8</a:t>
            </a:fld>
            <a:endParaRPr lang="en-US"/>
          </a:p>
        </p:txBody>
      </p:sp>
      <p:sp>
        <p:nvSpPr>
          <p:cNvPr id="5" name="Text Box 4"/>
          <p:cNvSpPr txBox="1"/>
          <p:nvPr/>
        </p:nvSpPr>
        <p:spPr>
          <a:xfrm>
            <a:off x="659393" y="809805"/>
            <a:ext cx="11123930" cy="2640761"/>
          </a:xfrm>
          <a:prstGeom prst="rect">
            <a:avLst/>
          </a:prstGeom>
          <a:noFill/>
        </p:spPr>
        <p:txBody>
          <a:bodyPr wrap="square" rtlCol="0">
            <a:noAutofit/>
          </a:bodyPr>
          <a:lstStyle/>
          <a:p>
            <a:pPr>
              <a:lnSpc>
                <a:spcPct val="150000"/>
              </a:lnSpc>
            </a:pPr>
            <a:r>
              <a:rPr lang="en-PH" altLang="en-US" b="1" dirty="0">
                <a:latin typeface="Times New Roman" panose="02020603050405020304" pitchFamily="18" charset="0"/>
                <a:cs typeface="Times New Roman" panose="02020603050405020304" pitchFamily="18" charset="0"/>
              </a:rPr>
              <a:t>Medical History :</a:t>
            </a:r>
          </a:p>
          <a:p>
            <a:pPr>
              <a:lnSpc>
                <a:spcPct val="150000"/>
              </a:lnSpc>
            </a:pPr>
            <a:r>
              <a:rPr lang="en-PH" altLang="en-US" dirty="0">
                <a:latin typeface="Times New Roman" panose="02020603050405020304" pitchFamily="18" charset="0"/>
                <a:cs typeface="Times New Roman" panose="02020603050405020304" pitchFamily="18" charset="0"/>
              </a:rPr>
              <a:t>There is no significant past medical history is present </a:t>
            </a:r>
          </a:p>
          <a:p>
            <a:pPr>
              <a:lnSpc>
                <a:spcPct val="150000"/>
              </a:lnSpc>
            </a:pPr>
            <a:r>
              <a:rPr lang="en-PH" altLang="en-US" b="1" dirty="0">
                <a:latin typeface="Times New Roman" panose="02020603050405020304" pitchFamily="18" charset="0"/>
                <a:cs typeface="Times New Roman" panose="02020603050405020304" pitchFamily="18" charset="0"/>
              </a:rPr>
              <a:t>Past Psychiatric History :</a:t>
            </a:r>
          </a:p>
          <a:p>
            <a:pPr algn="just">
              <a:lnSpc>
                <a:spcPct val="150000"/>
              </a:lnSpc>
            </a:pPr>
            <a:r>
              <a:rPr lang="en-US" altLang="en-US" dirty="0">
                <a:latin typeface="Times New Roman" panose="02020603050405020304" pitchFamily="18" charset="0"/>
                <a:cs typeface="Times New Roman" panose="02020603050405020304" pitchFamily="18" charset="0"/>
              </a:rPr>
              <a:t>Patient went for multiple consultation, first, in 2022, consulted</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for excessive crying, breathing difficulties, worries, shivering in hands and legs and taken medicine for 1 ½ years with partial relief</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Then </a:t>
            </a:r>
            <a:r>
              <a:rPr lang="en-US" altLang="en-US" dirty="0" err="1">
                <a:latin typeface="Times New Roman" panose="02020603050405020304" pitchFamily="18" charset="0"/>
                <a:cs typeface="Times New Roman" panose="02020603050405020304" pitchFamily="18" charset="0"/>
              </a:rPr>
              <a:t>i</a:t>
            </a:r>
            <a:r>
              <a:rPr lang="en-PH" altLang="en-US" dirty="0">
                <a:latin typeface="Times New Roman" panose="02020603050405020304" pitchFamily="18" charset="0"/>
                <a:cs typeface="Times New Roman" panose="02020603050405020304" pitchFamily="18" charset="0"/>
              </a:rPr>
              <a:t>n 2024, she </a:t>
            </a:r>
            <a:r>
              <a:rPr lang="en-US" altLang="en-US" dirty="0">
                <a:latin typeface="Times New Roman" panose="02020603050405020304" pitchFamily="18" charset="0"/>
                <a:cs typeface="Times New Roman" panose="02020603050405020304" pitchFamily="18" charset="0"/>
              </a:rPr>
              <a:t>went for homeopathic treatment without relief. </a:t>
            </a:r>
          </a:p>
          <a:p>
            <a:pPr algn="just">
              <a:lnSpc>
                <a:spcPct val="150000"/>
              </a:lnSpc>
            </a:pPr>
            <a:r>
              <a:rPr lang="en-US" altLang="en-US"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2"/>
          <p:cNvSpPr txBox="1"/>
          <p:nvPr/>
        </p:nvSpPr>
        <p:spPr>
          <a:xfrm>
            <a:off x="489585" y="356870"/>
            <a:ext cx="3028315" cy="494030"/>
          </a:xfrm>
          <a:prstGeom prst="rect">
            <a:avLst/>
          </a:prstGeom>
        </p:spPr>
        <p:txBody>
          <a:bodyPr vert="horz" lIns="91440" tIns="45720" rIns="914400" bIns="45720" rtlCol="0" anchor="b">
            <a:no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2300" b="1" dirty="0">
                <a:solidFill>
                  <a:schemeClr val="tx1"/>
                </a:solidFill>
                <a:latin typeface="Times New Roman" panose="02020603050405020304" pitchFamily="18" charset="0"/>
                <a:cs typeface="Times New Roman" panose="02020603050405020304" pitchFamily="18" charset="0"/>
              </a:rPr>
              <a:t>Genogram</a:t>
            </a:r>
          </a:p>
        </p:txBody>
      </p:sp>
      <p:sp>
        <p:nvSpPr>
          <p:cNvPr id="3" name="Oval 2"/>
          <p:cNvSpPr/>
          <p:nvPr/>
        </p:nvSpPr>
        <p:spPr>
          <a:xfrm>
            <a:off x="2494280" y="1144270"/>
            <a:ext cx="589915" cy="620395"/>
          </a:xfrm>
          <a:prstGeom prst="ellipse">
            <a:avLst/>
          </a:prstGeom>
          <a:solidFill>
            <a:schemeClr val="bg1"/>
          </a:solidFill>
          <a:ln w="9525" cap="flat" cmpd="sng" algn="ctr">
            <a:solidFill>
              <a:schemeClr val="tx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4" name="Rectangles 3"/>
          <p:cNvSpPr/>
          <p:nvPr/>
        </p:nvSpPr>
        <p:spPr>
          <a:xfrm>
            <a:off x="958850" y="1240155"/>
            <a:ext cx="589280" cy="45275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cxnSp>
        <p:nvCxnSpPr>
          <p:cNvPr id="5" name="Straight Connector 4"/>
          <p:cNvCxnSpPr>
            <a:stCxn id="4" idx="3"/>
            <a:endCxn id="3" idx="2"/>
          </p:cNvCxnSpPr>
          <p:nvPr/>
        </p:nvCxnSpPr>
        <p:spPr>
          <a:xfrm flipV="1">
            <a:off x="1548130" y="1454785"/>
            <a:ext cx="946150" cy="12065"/>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cxnSp>
        <p:nvCxnSpPr>
          <p:cNvPr id="6" name="Straight Connector 5"/>
          <p:cNvCxnSpPr/>
          <p:nvPr/>
        </p:nvCxnSpPr>
        <p:spPr>
          <a:xfrm>
            <a:off x="2049145" y="1430020"/>
            <a:ext cx="20955" cy="809625"/>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cxnSp>
        <p:nvCxnSpPr>
          <p:cNvPr id="7" name="Straight Connector 6"/>
          <p:cNvCxnSpPr/>
          <p:nvPr/>
        </p:nvCxnSpPr>
        <p:spPr>
          <a:xfrm flipV="1">
            <a:off x="1168400" y="2218690"/>
            <a:ext cx="2048510" cy="6350"/>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sp>
        <p:nvSpPr>
          <p:cNvPr id="8" name="Rectangles 7"/>
          <p:cNvSpPr/>
          <p:nvPr/>
        </p:nvSpPr>
        <p:spPr>
          <a:xfrm>
            <a:off x="898525" y="2681605"/>
            <a:ext cx="415925" cy="3619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9" name="Oval 8"/>
          <p:cNvSpPr/>
          <p:nvPr/>
        </p:nvSpPr>
        <p:spPr>
          <a:xfrm>
            <a:off x="1860550" y="2640965"/>
            <a:ext cx="436245" cy="445770"/>
          </a:xfrm>
          <a:prstGeom prst="ellipse">
            <a:avLst/>
          </a:prstGeom>
          <a:solidFill>
            <a:schemeClr val="bg1"/>
          </a:solidFill>
          <a:ln w="9525" cap="flat" cmpd="sng" algn="ctr">
            <a:solidFill>
              <a:schemeClr val="tx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10" name="Rectangles 9"/>
          <p:cNvSpPr/>
          <p:nvPr/>
        </p:nvSpPr>
        <p:spPr>
          <a:xfrm>
            <a:off x="3042285" y="2713990"/>
            <a:ext cx="194945" cy="31877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11" name="Rectangles 10"/>
          <p:cNvSpPr/>
          <p:nvPr/>
        </p:nvSpPr>
        <p:spPr>
          <a:xfrm>
            <a:off x="3232150" y="2713355"/>
            <a:ext cx="191135" cy="30734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cxnSp>
        <p:nvCxnSpPr>
          <p:cNvPr id="12" name="Straight Connector 11"/>
          <p:cNvCxnSpPr/>
          <p:nvPr/>
        </p:nvCxnSpPr>
        <p:spPr>
          <a:xfrm flipH="1">
            <a:off x="1186815" y="2225040"/>
            <a:ext cx="2540" cy="477520"/>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cxnSp>
        <p:nvCxnSpPr>
          <p:cNvPr id="13" name="Straight Connector 12"/>
          <p:cNvCxnSpPr/>
          <p:nvPr/>
        </p:nvCxnSpPr>
        <p:spPr>
          <a:xfrm flipV="1">
            <a:off x="2090420" y="2208530"/>
            <a:ext cx="0" cy="410210"/>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cxnSp>
        <p:nvCxnSpPr>
          <p:cNvPr id="14" name="Straight Connector 13"/>
          <p:cNvCxnSpPr/>
          <p:nvPr/>
        </p:nvCxnSpPr>
        <p:spPr>
          <a:xfrm>
            <a:off x="3223260" y="2203450"/>
            <a:ext cx="3810" cy="551815"/>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sp>
        <p:nvSpPr>
          <p:cNvPr id="15" name="Text Box 14"/>
          <p:cNvSpPr txBox="1"/>
          <p:nvPr/>
        </p:nvSpPr>
        <p:spPr>
          <a:xfrm>
            <a:off x="629285" y="3072765"/>
            <a:ext cx="7670800" cy="368300"/>
          </a:xfrm>
          <a:prstGeom prst="rect">
            <a:avLst/>
          </a:prstGeom>
          <a:noFill/>
        </p:spPr>
        <p:txBody>
          <a:bodyPr wrap="square" rtlCol="0">
            <a:spAutoFit/>
          </a:bodyPr>
          <a:lstStyle/>
          <a:p>
            <a:r>
              <a:rPr lang="en-PH" altLang="en-US" dirty="0"/>
              <a:t>40                38              35                               39                              30</a:t>
            </a:r>
          </a:p>
        </p:txBody>
      </p:sp>
      <p:sp>
        <p:nvSpPr>
          <p:cNvPr id="16" name="Rectangles 15"/>
          <p:cNvSpPr/>
          <p:nvPr/>
        </p:nvSpPr>
        <p:spPr>
          <a:xfrm>
            <a:off x="5470525" y="1415415"/>
            <a:ext cx="511175" cy="45847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17" name="Oval 16"/>
          <p:cNvSpPr/>
          <p:nvPr/>
        </p:nvSpPr>
        <p:spPr>
          <a:xfrm>
            <a:off x="7155180" y="1374140"/>
            <a:ext cx="574040" cy="562610"/>
          </a:xfrm>
          <a:prstGeom prst="ellipse">
            <a:avLst/>
          </a:prstGeom>
          <a:solidFill>
            <a:schemeClr val="bg1"/>
          </a:solidFill>
          <a:ln w="9525" cap="flat" cmpd="sng" algn="ctr">
            <a:solidFill>
              <a:schemeClr val="tx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cxnSp>
        <p:nvCxnSpPr>
          <p:cNvPr id="18" name="Straight Connector 17"/>
          <p:cNvCxnSpPr>
            <a:stCxn id="16" idx="3"/>
          </p:cNvCxnSpPr>
          <p:nvPr/>
        </p:nvCxnSpPr>
        <p:spPr>
          <a:xfrm flipV="1">
            <a:off x="5981700" y="1630045"/>
            <a:ext cx="1158240" cy="14605"/>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cxnSp>
        <p:nvCxnSpPr>
          <p:cNvPr id="19" name="Straight Connector 18"/>
          <p:cNvCxnSpPr/>
          <p:nvPr/>
        </p:nvCxnSpPr>
        <p:spPr>
          <a:xfrm flipH="1" flipV="1">
            <a:off x="6620510" y="1649730"/>
            <a:ext cx="4445" cy="568960"/>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cxnSp>
        <p:nvCxnSpPr>
          <p:cNvPr id="20" name="Straight Connector 19"/>
          <p:cNvCxnSpPr/>
          <p:nvPr/>
        </p:nvCxnSpPr>
        <p:spPr>
          <a:xfrm flipV="1">
            <a:off x="5415915" y="2205355"/>
            <a:ext cx="2481580" cy="20955"/>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sp>
        <p:nvSpPr>
          <p:cNvPr id="21" name="Rectangles 20"/>
          <p:cNvSpPr/>
          <p:nvPr/>
        </p:nvSpPr>
        <p:spPr>
          <a:xfrm>
            <a:off x="5212080" y="2661285"/>
            <a:ext cx="426085" cy="35115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22" name="Oval 21"/>
          <p:cNvSpPr/>
          <p:nvPr/>
        </p:nvSpPr>
        <p:spPr>
          <a:xfrm>
            <a:off x="6299835" y="2641600"/>
            <a:ext cx="487680" cy="467995"/>
          </a:xfrm>
          <a:prstGeom prst="ellipse">
            <a:avLst/>
          </a:prstGeom>
          <a:solidFill>
            <a:schemeClr val="bg1"/>
          </a:solidFill>
          <a:ln w="9525" cap="flat" cmpd="sng" algn="ctr">
            <a:solidFill>
              <a:schemeClr val="tx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23" name="Oval 22"/>
          <p:cNvSpPr/>
          <p:nvPr/>
        </p:nvSpPr>
        <p:spPr>
          <a:xfrm>
            <a:off x="7611745" y="2725420"/>
            <a:ext cx="509270" cy="457835"/>
          </a:xfrm>
          <a:prstGeom prst="ellipse">
            <a:avLst/>
          </a:prstGeom>
          <a:solidFill>
            <a:schemeClr val="tx1"/>
          </a:solidFill>
          <a:ln w="9525" cap="flat" cmpd="sng" algn="ctr">
            <a:solidFill>
              <a:schemeClr val="tx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cxnSp>
        <p:nvCxnSpPr>
          <p:cNvPr id="24" name="Straight Connector 23"/>
          <p:cNvCxnSpPr/>
          <p:nvPr/>
        </p:nvCxnSpPr>
        <p:spPr>
          <a:xfrm>
            <a:off x="5448935" y="2214245"/>
            <a:ext cx="0" cy="415290"/>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cxnSp>
        <p:nvCxnSpPr>
          <p:cNvPr id="25" name="Straight Connector 24"/>
          <p:cNvCxnSpPr>
            <a:stCxn id="21" idx="3"/>
          </p:cNvCxnSpPr>
          <p:nvPr/>
        </p:nvCxnSpPr>
        <p:spPr>
          <a:xfrm>
            <a:off x="5638165" y="2837180"/>
            <a:ext cx="692150" cy="1905"/>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cxnSp>
        <p:nvCxnSpPr>
          <p:cNvPr id="26" name="Straight Connector 25"/>
          <p:cNvCxnSpPr>
            <a:endCxn id="23" idx="0"/>
          </p:cNvCxnSpPr>
          <p:nvPr/>
        </p:nvCxnSpPr>
        <p:spPr>
          <a:xfrm>
            <a:off x="7855585" y="2197735"/>
            <a:ext cx="10795" cy="527685"/>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cxnSp>
        <p:nvCxnSpPr>
          <p:cNvPr id="27" name="Straight Connector 26"/>
          <p:cNvCxnSpPr/>
          <p:nvPr/>
        </p:nvCxnSpPr>
        <p:spPr>
          <a:xfrm flipH="1">
            <a:off x="5930265" y="2842895"/>
            <a:ext cx="8255" cy="553720"/>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cxnSp>
        <p:nvCxnSpPr>
          <p:cNvPr id="28" name="Straight Connector 27"/>
          <p:cNvCxnSpPr/>
          <p:nvPr/>
        </p:nvCxnSpPr>
        <p:spPr>
          <a:xfrm>
            <a:off x="5236210" y="3406775"/>
            <a:ext cx="1341755" cy="0"/>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sp>
        <p:nvSpPr>
          <p:cNvPr id="30" name="Oval 29"/>
          <p:cNvSpPr/>
          <p:nvPr/>
        </p:nvSpPr>
        <p:spPr>
          <a:xfrm>
            <a:off x="5044440" y="3705225"/>
            <a:ext cx="468630" cy="424815"/>
          </a:xfrm>
          <a:prstGeom prst="ellipse">
            <a:avLst/>
          </a:prstGeom>
          <a:solidFill>
            <a:schemeClr val="bg1"/>
          </a:solidFill>
          <a:ln w="9525" cap="flat" cmpd="sng" algn="ctr">
            <a:solidFill>
              <a:schemeClr val="tx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31" name="Rectangles 30"/>
          <p:cNvSpPr/>
          <p:nvPr/>
        </p:nvSpPr>
        <p:spPr>
          <a:xfrm>
            <a:off x="6374765" y="3705225"/>
            <a:ext cx="341630" cy="34988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cxnSp>
        <p:nvCxnSpPr>
          <p:cNvPr id="32" name="Straight Connector 31"/>
          <p:cNvCxnSpPr>
            <a:endCxn id="30" idx="0"/>
          </p:cNvCxnSpPr>
          <p:nvPr/>
        </p:nvCxnSpPr>
        <p:spPr>
          <a:xfrm>
            <a:off x="5278120" y="3407410"/>
            <a:ext cx="635" cy="297815"/>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cxnSp>
        <p:nvCxnSpPr>
          <p:cNvPr id="33" name="Straight Connector 32"/>
          <p:cNvCxnSpPr>
            <a:endCxn id="31" idx="0"/>
          </p:cNvCxnSpPr>
          <p:nvPr/>
        </p:nvCxnSpPr>
        <p:spPr>
          <a:xfrm flipH="1">
            <a:off x="6545580" y="3406775"/>
            <a:ext cx="15240" cy="298450"/>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cxnSp>
        <p:nvCxnSpPr>
          <p:cNvPr id="34" name="Straight Connector 33"/>
          <p:cNvCxnSpPr/>
          <p:nvPr/>
        </p:nvCxnSpPr>
        <p:spPr>
          <a:xfrm flipV="1">
            <a:off x="3164205" y="4333240"/>
            <a:ext cx="4733290" cy="20955"/>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cxnSp>
        <p:nvCxnSpPr>
          <p:cNvPr id="35" name="Straight Connector 34"/>
          <p:cNvCxnSpPr>
            <a:stCxn id="23" idx="4"/>
          </p:cNvCxnSpPr>
          <p:nvPr/>
        </p:nvCxnSpPr>
        <p:spPr>
          <a:xfrm>
            <a:off x="7866380" y="3183255"/>
            <a:ext cx="20320" cy="1139190"/>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cxnSp>
        <p:nvCxnSpPr>
          <p:cNvPr id="36" name="Straight Connector 35"/>
          <p:cNvCxnSpPr/>
          <p:nvPr/>
        </p:nvCxnSpPr>
        <p:spPr>
          <a:xfrm>
            <a:off x="3122295" y="2965450"/>
            <a:ext cx="20955" cy="1398905"/>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sp>
        <p:nvSpPr>
          <p:cNvPr id="37" name="Rectangles 36"/>
          <p:cNvSpPr/>
          <p:nvPr/>
        </p:nvSpPr>
        <p:spPr>
          <a:xfrm>
            <a:off x="5140325" y="4676775"/>
            <a:ext cx="564515" cy="394335"/>
          </a:xfrm>
          <a:prstGeom prst="rect">
            <a:avLst/>
          </a:prstGeom>
          <a:solidFill>
            <a:schemeClr val="tx1"/>
          </a:solidFill>
          <a:ln w="9525" cap="flat" cmpd="sng" algn="ctr">
            <a:solidFill>
              <a:schemeClr val="tx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cxnSp>
        <p:nvCxnSpPr>
          <p:cNvPr id="38" name="Straight Connector 37"/>
          <p:cNvCxnSpPr>
            <a:endCxn id="37" idx="0"/>
          </p:cNvCxnSpPr>
          <p:nvPr/>
        </p:nvCxnSpPr>
        <p:spPr>
          <a:xfrm>
            <a:off x="5417185" y="4344035"/>
            <a:ext cx="5715" cy="332740"/>
          </a:xfrm>
          <a:prstGeom prst="line">
            <a:avLst/>
          </a:prstGeom>
          <a:gradFill rotWithShape="0">
            <a:gsLst>
              <a:gs pos="0">
                <a:schemeClr val="accent1"/>
              </a:gs>
              <a:gs pos="100000">
                <a:schemeClr val="accent2"/>
              </a:gs>
            </a:gsLst>
            <a:lin ang="5400000" scaled="1"/>
          </a:gradFill>
          <a:ln w="9525" cap="flat" cmpd="sng" algn="ctr">
            <a:solidFill>
              <a:schemeClr val="tx1"/>
            </a:solidFill>
            <a:prstDash val="solid"/>
            <a:round/>
            <a:headEnd type="none" w="med" len="med"/>
            <a:tailEnd type="none" w="med" len="med"/>
          </a:ln>
        </p:spPr>
      </p:cxnSp>
      <p:sp>
        <p:nvSpPr>
          <p:cNvPr id="39" name="Rectangles 38"/>
          <p:cNvSpPr/>
          <p:nvPr/>
        </p:nvSpPr>
        <p:spPr>
          <a:xfrm>
            <a:off x="5438140" y="4695825"/>
            <a:ext cx="287655" cy="36131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40" name="Text Box 39"/>
          <p:cNvSpPr txBox="1"/>
          <p:nvPr/>
        </p:nvSpPr>
        <p:spPr>
          <a:xfrm>
            <a:off x="4500880" y="5123815"/>
            <a:ext cx="1692910" cy="368300"/>
          </a:xfrm>
          <a:prstGeom prst="rect">
            <a:avLst/>
          </a:prstGeom>
          <a:noFill/>
        </p:spPr>
        <p:txBody>
          <a:bodyPr wrap="square" rtlCol="0">
            <a:spAutoFit/>
          </a:bodyPr>
          <a:lstStyle/>
          <a:p>
            <a:r>
              <a:rPr lang="en-PH" altLang="en-US"/>
              <a:t>        7 years </a:t>
            </a:r>
          </a:p>
        </p:txBody>
      </p:sp>
      <p:sp>
        <p:nvSpPr>
          <p:cNvPr id="42" name="Text Box 41"/>
          <p:cNvSpPr txBox="1"/>
          <p:nvPr/>
        </p:nvSpPr>
        <p:spPr>
          <a:xfrm>
            <a:off x="796925" y="1852295"/>
            <a:ext cx="7379970" cy="368300"/>
          </a:xfrm>
          <a:prstGeom prst="rect">
            <a:avLst/>
          </a:prstGeom>
          <a:noFill/>
        </p:spPr>
        <p:txBody>
          <a:bodyPr wrap="square" rtlCol="0">
            <a:spAutoFit/>
          </a:bodyPr>
          <a:lstStyle/>
          <a:p>
            <a:r>
              <a:rPr lang="en-PH" altLang="en-US"/>
              <a:t>68                       60                                        60                        58</a:t>
            </a:r>
          </a:p>
        </p:txBody>
      </p:sp>
      <p:cxnSp>
        <p:nvCxnSpPr>
          <p:cNvPr id="43" name="Straight Arrow Connector 42"/>
          <p:cNvCxnSpPr/>
          <p:nvPr/>
        </p:nvCxnSpPr>
        <p:spPr>
          <a:xfrm flipH="1">
            <a:off x="8210550" y="2545080"/>
            <a:ext cx="717550" cy="306070"/>
          </a:xfrm>
          <a:prstGeom prst="straightConnector1">
            <a:avLst/>
          </a:prstGeom>
          <a:gradFill rotWithShape="0">
            <a:gsLst>
              <a:gs pos="0">
                <a:schemeClr val="accent1"/>
              </a:gs>
              <a:gs pos="100000">
                <a:schemeClr val="accent2"/>
              </a:gs>
            </a:gsLst>
            <a:lin ang="5400000" scaled="1"/>
          </a:gradFill>
          <a:ln w="28575" cap="flat" cmpd="sng" algn="ctr">
            <a:solidFill>
              <a:schemeClr val="tx1"/>
            </a:solidFill>
            <a:prstDash val="solid"/>
            <a:round/>
            <a:headEnd type="none" w="med" len="med"/>
            <a:tailEnd type="arrow"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4690" y="168910"/>
            <a:ext cx="3604260" cy="582930"/>
          </a:xfrm>
        </p:spPr>
        <p:txBody>
          <a:bodyPr/>
          <a:lstStyle/>
          <a:p>
            <a:r>
              <a:rPr lang="en-US" sz="2400" dirty="0">
                <a:latin typeface="Times New Roman" panose="02020603050405020304" pitchFamily="18" charset="0"/>
                <a:cs typeface="Times New Roman" panose="02020603050405020304" pitchFamily="18" charset="0"/>
              </a:rPr>
              <a:t>FAMILY HISTORY</a:t>
            </a:r>
            <a:endParaRPr lang="en-PH" altLang="en-US" sz="2400" b="1"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B3561BA9-CDCF-4958-B8AB-66F3BF063E13}" type="slidenum">
              <a:rPr lang="en-US" smtClean="0"/>
              <a:pPr/>
              <a:t>10</a:t>
            </a:fld>
            <a:endParaRPr lang="en-US"/>
          </a:p>
        </p:txBody>
      </p:sp>
      <p:sp>
        <p:nvSpPr>
          <p:cNvPr id="7" name="Content Placeholder 2">
            <a:extLst>
              <a:ext uri="{FF2B5EF4-FFF2-40B4-BE49-F238E27FC236}">
                <a16:creationId xmlns:a16="http://schemas.microsoft.com/office/drawing/2014/main" id="{70C6E399-5E53-6983-A58F-9898C2CD29F9}"/>
              </a:ext>
            </a:extLst>
          </p:cNvPr>
          <p:cNvSpPr txBox="1">
            <a:spLocks/>
          </p:cNvSpPr>
          <p:nvPr/>
        </p:nvSpPr>
        <p:spPr>
          <a:xfrm>
            <a:off x="284405" y="1040595"/>
            <a:ext cx="11340445" cy="5476973"/>
          </a:xfrm>
          <a:prstGeom prst="rect">
            <a:avLst/>
          </a:prstGeom>
        </p:spPr>
        <p:txBody>
          <a:bodyPr>
            <a:noAutofit/>
          </a:bodyPr>
          <a:lstStyle/>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en-US"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Family History of Medical/Psychiatric Disorder: </a:t>
            </a: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No family history of medical/psychiatric</a:t>
            </a:r>
            <a:r>
              <a:rPr kumimoji="0" lang="en-US" b="0" i="0" u="none" strike="noStrike" kern="1200" cap="none" spc="0" normalizeH="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disorder.</a:t>
            </a:r>
            <a:endPar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en-US"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Living Arrangements: </a:t>
            </a: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patient currently resides in a nuclear family setup.</a:t>
            </a: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en-US"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Primary Caregiver: </a:t>
            </a: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patient’s primary caregiver is husband.</a:t>
            </a: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en-US"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Type of Communication: </a:t>
            </a: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Open communication</a:t>
            </a:r>
            <a:r>
              <a:rPr kumimoji="0" lang="en-US" i="0" u="none" strike="noStrike" kern="1200" cap="none" spc="0" normalizeH="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in the family </a:t>
            </a:r>
            <a:endPar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en-US"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Family Understanding of Illness: </a:t>
            </a: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family has an adequate understanding of the patient’s illness.</a:t>
            </a: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en-US"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Family Members’ Attitude Towards the Patient: </a:t>
            </a: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Family members exhibit a caring and supportive attitude towards the patient and are involved in providing support.</a:t>
            </a: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en-US"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Family Stressors and Discords: </a:t>
            </a: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No family stressors and discords are reported. </a:t>
            </a:r>
            <a:endParaRPr kumimoji="0" lang="en-IN"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2"/>
          <p:cNvSpPr txBox="1"/>
          <p:nvPr/>
        </p:nvSpPr>
        <p:spPr>
          <a:xfrm>
            <a:off x="387350" y="326390"/>
            <a:ext cx="6124575" cy="547370"/>
          </a:xfrm>
          <a:prstGeom prst="rect">
            <a:avLst/>
          </a:prstGeom>
        </p:spPr>
        <p:txBody>
          <a:bodyPr vert="horz" lIns="91440" tIns="45720" rIns="914400" bIns="45720" rtlCol="0" anchor="b">
            <a:norm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2400" b="1" dirty="0">
                <a:solidFill>
                  <a:schemeClr val="tx1"/>
                </a:solidFill>
                <a:latin typeface="Times New Roman" panose="02020603050405020304" pitchFamily="18" charset="0"/>
                <a:cs typeface="Times New Roman" panose="02020603050405020304" pitchFamily="18" charset="0"/>
              </a:rPr>
              <a:t>Personal History</a:t>
            </a:r>
          </a:p>
        </p:txBody>
      </p:sp>
      <p:sp>
        <p:nvSpPr>
          <p:cNvPr id="6" name="TextBox 5"/>
          <p:cNvSpPr txBox="1"/>
          <p:nvPr/>
        </p:nvSpPr>
        <p:spPr>
          <a:xfrm>
            <a:off x="365760" y="1199072"/>
            <a:ext cx="11078845" cy="5450648"/>
          </a:xfrm>
          <a:prstGeom prst="rect">
            <a:avLst/>
          </a:prstGeom>
          <a:noFill/>
        </p:spPr>
        <p:txBody>
          <a:bodyPr wrap="square">
            <a:noAutofit/>
          </a:bodyPr>
          <a:lstStyle/>
          <a:p>
            <a:pPr>
              <a:lnSpc>
                <a:spcPct val="150000"/>
              </a:lnSpc>
              <a:spcBef>
                <a:spcPts val="600"/>
              </a:spcBef>
              <a:spcAft>
                <a:spcPts val="600"/>
              </a:spcAft>
            </a:pPr>
            <a:r>
              <a:rPr lang="en-IN" b="1" dirty="0">
                <a:latin typeface="Times New Roman" panose="02020603050405020304" pitchFamily="18" charset="0"/>
                <a:cs typeface="Times New Roman" panose="02020603050405020304" pitchFamily="18" charset="0"/>
              </a:rPr>
              <a:t>Birth and Early Development:  </a:t>
            </a:r>
            <a:r>
              <a:rPr lang="en-IN" dirty="0">
                <a:latin typeface="Times New Roman" panose="02020603050405020304" pitchFamily="18" charset="0"/>
                <a:cs typeface="Times New Roman" panose="02020603050405020304" pitchFamily="18" charset="0"/>
              </a:rPr>
              <a:t>The birth was full-term, normal delivery. There was no delay in the achievement of developmental milestones. </a:t>
            </a:r>
          </a:p>
          <a:p>
            <a:pPr>
              <a:lnSpc>
                <a:spcPct val="150000"/>
              </a:lnSpc>
              <a:spcBef>
                <a:spcPts val="600"/>
              </a:spcBef>
              <a:spcAft>
                <a:spcPts val="600"/>
              </a:spcAft>
            </a:pPr>
            <a:r>
              <a:rPr lang="en-IN" b="1" dirty="0">
                <a:latin typeface="Times New Roman" panose="02020603050405020304" pitchFamily="18" charset="0"/>
                <a:cs typeface="Times New Roman" panose="02020603050405020304" pitchFamily="18" charset="0"/>
              </a:rPr>
              <a:t>Behaviour during Childhood: </a:t>
            </a:r>
            <a:r>
              <a:rPr lang="en-PH" altLang="en-IN" dirty="0">
                <a:latin typeface="Times New Roman" panose="02020603050405020304" pitchFamily="18" charset="0"/>
                <a:cs typeface="Times New Roman" panose="02020603050405020304" pitchFamily="18" charset="0"/>
              </a:rPr>
              <a:t>According to her mother,</a:t>
            </a:r>
            <a:r>
              <a:rPr lang="en-IN"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temper tantrum was present. </a:t>
            </a:r>
            <a:endParaRPr lang="en-IN" dirty="0">
              <a:latin typeface="Times New Roman" panose="02020603050405020304" pitchFamily="18" charset="0"/>
              <a:cs typeface="Times New Roman" panose="02020603050405020304" pitchFamily="18" charset="0"/>
            </a:endParaRPr>
          </a:p>
          <a:p>
            <a:pPr>
              <a:lnSpc>
                <a:spcPct val="150000"/>
              </a:lnSpc>
              <a:spcBef>
                <a:spcPts val="600"/>
              </a:spcBef>
              <a:spcAft>
                <a:spcPts val="600"/>
              </a:spcAft>
            </a:pPr>
            <a:r>
              <a:rPr lang="en-IN" b="1" dirty="0">
                <a:latin typeface="Times New Roman" panose="02020603050405020304" pitchFamily="18" charset="0"/>
                <a:cs typeface="Times New Roman" panose="02020603050405020304" pitchFamily="18" charset="0"/>
              </a:rPr>
              <a:t>Physical illness during Childhood: </a:t>
            </a:r>
            <a:r>
              <a:rPr lang="en-US" altLang="en-IN" dirty="0">
                <a:latin typeface="Times New Roman" panose="02020603050405020304" pitchFamily="18" charset="0"/>
                <a:cs typeface="Times New Roman" panose="02020603050405020304" pitchFamily="18" charset="0"/>
              </a:rPr>
              <a:t>No physical illness during childhood</a:t>
            </a:r>
            <a:r>
              <a:rPr lang="en-US" altLang="en-US"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p>
          <a:p>
            <a:pPr>
              <a:lnSpc>
                <a:spcPct val="150000"/>
              </a:lnSpc>
              <a:spcBef>
                <a:spcPts val="600"/>
              </a:spcBef>
              <a:spcAft>
                <a:spcPts val="600"/>
              </a:spcAft>
            </a:pPr>
            <a:r>
              <a:rPr lang="en-IN" b="1" dirty="0">
                <a:latin typeface="Times New Roman" panose="02020603050405020304" pitchFamily="18" charset="0"/>
                <a:cs typeface="Times New Roman" panose="02020603050405020304" pitchFamily="18" charset="0"/>
              </a:rPr>
              <a:t>Home atmosphere in childhood and adolescence: </a:t>
            </a:r>
            <a:r>
              <a:rPr lang="en-US" dirty="0">
                <a:latin typeface="Times New Roman" panose="02020603050405020304" pitchFamily="18" charset="0"/>
                <a:cs typeface="Times New Roman" panose="02020603050405020304" pitchFamily="18" charset="0"/>
              </a:rPr>
              <a:t>The home atmosphere during the patient’s childhood was cordial.</a:t>
            </a:r>
          </a:p>
          <a:p>
            <a:pPr>
              <a:lnSpc>
                <a:spcPct val="150000"/>
              </a:lnSpc>
              <a:spcBef>
                <a:spcPts val="600"/>
              </a:spcBef>
              <a:spcAft>
                <a:spcPts val="600"/>
              </a:spcAft>
            </a:pPr>
            <a:r>
              <a:rPr lang="en-US" altLang="en-US" b="1" dirty="0">
                <a:latin typeface="Times New Roman" panose="02020603050405020304" pitchFamily="18" charset="0"/>
                <a:cs typeface="Times New Roman" panose="02020603050405020304" pitchFamily="18" charset="0"/>
              </a:rPr>
              <a:t>Scholastic and extracurricular activity: </a:t>
            </a:r>
            <a:r>
              <a:rPr lang="en-US" altLang="en-US" dirty="0">
                <a:latin typeface="Times New Roman" panose="02020603050405020304" pitchFamily="18" charset="0"/>
                <a:cs typeface="Times New Roman" panose="02020603050405020304" pitchFamily="18" charset="0"/>
              </a:rPr>
              <a:t>At the age of 5, she started her schooling, average in studies. She was  good at dance and singing during her school days, her attitude and relationship with peer were good. </a:t>
            </a:r>
            <a:endParaRPr lang="en-IN" dirty="0"/>
          </a:p>
          <a:p>
            <a:pPr>
              <a:lnSpc>
                <a:spcPct val="150000"/>
              </a:lnSpc>
            </a:pP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217170" y="240665"/>
            <a:ext cx="11748770" cy="6506210"/>
          </a:xfrm>
          <a:prstGeom prst="rect">
            <a:avLst/>
          </a:prstGeom>
          <a:noFill/>
        </p:spPr>
        <p:txBody>
          <a:bodyPr wrap="square">
            <a:noAutofit/>
          </a:bodyPr>
          <a:lstStyle/>
          <a:p>
            <a:r>
              <a:rPr lang="en-US" altLang="en-US" dirty="0">
                <a:latin typeface="Times New Roman" panose="02020603050405020304" pitchFamily="18" charset="0"/>
                <a:cs typeface="Times New Roman" panose="02020603050405020304" pitchFamily="18" charset="0"/>
              </a:rPr>
              <a:t> </a:t>
            </a:r>
          </a:p>
          <a:p>
            <a:pPr algn="just">
              <a:lnSpc>
                <a:spcPct val="150000"/>
              </a:lnSpc>
            </a:pPr>
            <a:endParaRPr lang="en-US" altLang="en-US" b="1" dirty="0">
              <a:latin typeface="Times New Roman" panose="02020603050405020304" pitchFamily="18" charset="0"/>
              <a:cs typeface="Times New Roman" panose="02020603050405020304" pitchFamily="18" charset="0"/>
            </a:endParaRPr>
          </a:p>
          <a:p>
            <a:pPr algn="just">
              <a:lnSpc>
                <a:spcPct val="150000"/>
              </a:lnSpc>
              <a:spcBef>
                <a:spcPts val="600"/>
              </a:spcBef>
              <a:spcAft>
                <a:spcPts val="600"/>
              </a:spcAft>
            </a:pPr>
            <a:r>
              <a:rPr lang="en-US" b="1" dirty="0">
                <a:latin typeface="Times New Roman" panose="02020603050405020304" pitchFamily="18" charset="0"/>
                <a:cs typeface="Times New Roman" panose="02020603050405020304" pitchFamily="18" charset="0"/>
              </a:rPr>
              <a:t>Occupation: </a:t>
            </a:r>
            <a:r>
              <a:rPr lang="en-US" dirty="0">
                <a:latin typeface="Times New Roman" panose="02020603050405020304" pitchFamily="18" charset="0"/>
                <a:cs typeface="Times New Roman" panose="02020603050405020304" pitchFamily="18" charset="0"/>
              </a:rPr>
              <a:t>The patient is currently a housewife.</a:t>
            </a:r>
          </a:p>
          <a:p>
            <a:pPr algn="just">
              <a:lnSpc>
                <a:spcPct val="150000"/>
              </a:lnSpc>
              <a:spcBef>
                <a:spcPts val="600"/>
              </a:spcBef>
              <a:spcAft>
                <a:spcPts val="600"/>
              </a:spcAft>
            </a:pPr>
            <a:r>
              <a:rPr lang="en-US" b="1" dirty="0">
                <a:latin typeface="Times New Roman" panose="02020603050405020304" pitchFamily="18" charset="0"/>
                <a:cs typeface="Times New Roman" panose="02020603050405020304" pitchFamily="18" charset="0"/>
              </a:rPr>
              <a:t>Masturbation History: </a:t>
            </a:r>
            <a:r>
              <a:rPr lang="en-IN" dirty="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patient</a:t>
            </a:r>
            <a:r>
              <a:rPr lang="en-PH" alt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had her menarche when she was 13 years old and was informed </a:t>
            </a:r>
            <a:r>
              <a:rPr lang="en-PH" altLang="en-IN" dirty="0">
                <a:latin typeface="Times New Roman" panose="02020603050405020304" pitchFamily="18" charset="0"/>
                <a:cs typeface="Times New Roman" panose="02020603050405020304" pitchFamily="18" charset="0"/>
              </a:rPr>
              <a:t>that it</a:t>
            </a:r>
            <a:r>
              <a:rPr lang="en-US" altLang="en-US" dirty="0">
                <a:latin typeface="Times New Roman" panose="02020603050405020304" pitchFamily="18" charset="0"/>
                <a:cs typeface="Times New Roman" panose="02020603050405020304" pitchFamily="18" charset="0"/>
              </a:rPr>
              <a:t> was painful, </a:t>
            </a:r>
            <a:r>
              <a:rPr lang="en-PH" altLang="en-US" dirty="0">
                <a:latin typeface="Times New Roman" panose="02020603050405020304" pitchFamily="18" charset="0"/>
                <a:cs typeface="Times New Roman" panose="02020603050405020304" pitchFamily="18" charset="0"/>
              </a:rPr>
              <a:t>and </a:t>
            </a:r>
            <a:r>
              <a:rPr lang="en-US" altLang="en-US" dirty="0">
                <a:latin typeface="Times New Roman" panose="02020603050405020304" pitchFamily="18" charset="0"/>
                <a:cs typeface="Times New Roman" panose="02020603050405020304" pitchFamily="18" charset="0"/>
              </a:rPr>
              <a:t>her </a:t>
            </a:r>
            <a:r>
              <a:rPr lang="en-IN" dirty="0">
                <a:latin typeface="Times New Roman" panose="02020603050405020304" pitchFamily="18" charset="0"/>
                <a:cs typeface="Times New Roman" panose="02020603050405020304" pitchFamily="18" charset="0"/>
              </a:rPr>
              <a:t>menstrual cycle was regular. </a:t>
            </a:r>
            <a:endParaRPr lang="en-US" dirty="0">
              <a:latin typeface="Times New Roman" panose="02020603050405020304" pitchFamily="18" charset="0"/>
              <a:cs typeface="Times New Roman" panose="02020603050405020304" pitchFamily="18" charset="0"/>
            </a:endParaRPr>
          </a:p>
          <a:p>
            <a:pPr algn="just">
              <a:lnSpc>
                <a:spcPct val="150000"/>
              </a:lnSpc>
              <a:spcBef>
                <a:spcPts val="600"/>
              </a:spcBef>
              <a:spcAft>
                <a:spcPts val="600"/>
              </a:spcAft>
            </a:pPr>
            <a:r>
              <a:rPr lang="en-US" b="1" dirty="0">
                <a:latin typeface="Times New Roman" panose="02020603050405020304" pitchFamily="18" charset="0"/>
                <a:cs typeface="Times New Roman" panose="02020603050405020304" pitchFamily="18" charset="0"/>
              </a:rPr>
              <a:t>Sexual History: </a:t>
            </a:r>
            <a:r>
              <a:rPr lang="en-IN" dirty="0">
                <a:latin typeface="Times New Roman" panose="02020603050405020304" pitchFamily="18" charset="0"/>
                <a:cs typeface="Times New Roman" panose="02020603050405020304" pitchFamily="18" charset="0"/>
              </a:rPr>
              <a:t>The </a:t>
            </a:r>
            <a:r>
              <a:rPr lang="en-PH" altLang="en-IN" dirty="0">
                <a:latin typeface="Times New Roman" panose="02020603050405020304" pitchFamily="18" charset="0"/>
                <a:cs typeface="Times New Roman" panose="02020603050405020304" pitchFamily="18" charset="0"/>
              </a:rPr>
              <a:t>patient</a:t>
            </a:r>
            <a:r>
              <a:rPr lang="en-IN" dirty="0">
                <a:latin typeface="Times New Roman" panose="02020603050405020304" pitchFamily="18" charset="0"/>
                <a:cs typeface="Times New Roman" panose="02020603050405020304" pitchFamily="18" charset="0"/>
              </a:rPr>
              <a:t> got to know about sex from social media and friends</a:t>
            </a:r>
            <a:r>
              <a:rPr lang="en-US" dirty="0">
                <a:latin typeface="Times New Roman" panose="02020603050405020304" pitchFamily="18" charset="0"/>
                <a:cs typeface="Times New Roman" panose="02020603050405020304" pitchFamily="18" charset="0"/>
              </a:rPr>
              <a:t>. </a:t>
            </a:r>
            <a:r>
              <a:rPr lang="en-IN" dirty="0">
                <a:latin typeface="Times New Roman" pitchFamily="18" charset="0"/>
                <a:cs typeface="Times New Roman" pitchFamily="18" charset="0"/>
              </a:rPr>
              <a:t>Further details could not be elicited as the patient was not comfortable.</a:t>
            </a:r>
            <a:endParaRPr lang="en-US" dirty="0">
              <a:latin typeface="Times New Roman" pitchFamily="18" charset="0"/>
              <a:cs typeface="Times New Roman" pitchFamily="18" charset="0"/>
            </a:endParaRPr>
          </a:p>
          <a:p>
            <a:pPr algn="just">
              <a:lnSpc>
                <a:spcPct val="150000"/>
              </a:lnSpc>
              <a:spcBef>
                <a:spcPts val="600"/>
              </a:spcBef>
              <a:spcAft>
                <a:spcPts val="600"/>
              </a:spcAft>
            </a:pPr>
            <a:r>
              <a:rPr lang="en-US" b="1" dirty="0">
                <a:latin typeface="Times New Roman" panose="02020603050405020304" pitchFamily="18" charset="0"/>
                <a:cs typeface="Times New Roman" panose="02020603050405020304" pitchFamily="18" charset="0"/>
              </a:rPr>
              <a:t>Marital History: </a:t>
            </a:r>
            <a:r>
              <a:rPr lang="en-US" altLang="en-US" dirty="0">
                <a:latin typeface="Times New Roman" panose="02020603050405020304" pitchFamily="18" charset="0"/>
                <a:cs typeface="Times New Roman" panose="02020603050405020304" pitchFamily="18" charset="0"/>
              </a:rPr>
              <a:t>She was married at the age of 23 and it was an arranged marriage </a:t>
            </a:r>
            <a:r>
              <a:rPr lang="en-US" dirty="0">
                <a:latin typeface="Times New Roman" panose="02020603050405020304" pitchFamily="18" charset="0"/>
                <a:cs typeface="Times New Roman" panose="02020603050405020304" pitchFamily="18" charset="0"/>
              </a:rPr>
              <a:t>.</a:t>
            </a:r>
          </a:p>
          <a:p>
            <a:pPr algn="just">
              <a:lnSpc>
                <a:spcPct val="150000"/>
              </a:lnSpc>
              <a:spcBef>
                <a:spcPts val="600"/>
              </a:spcBef>
              <a:spcAft>
                <a:spcPts val="600"/>
              </a:spcAft>
            </a:pPr>
            <a:r>
              <a:rPr lang="en-US" b="1" dirty="0">
                <a:latin typeface="Times New Roman" panose="02020603050405020304" pitchFamily="18" charset="0"/>
                <a:cs typeface="Times New Roman" panose="02020603050405020304" pitchFamily="18" charset="0"/>
              </a:rPr>
              <a:t>Substance Use History: </a:t>
            </a:r>
            <a:r>
              <a:rPr lang="en-US" dirty="0">
                <a:latin typeface="Times New Roman" panose="02020603050405020304" pitchFamily="18" charset="0"/>
                <a:cs typeface="Times New Roman" panose="02020603050405020304" pitchFamily="18" charset="0"/>
              </a:rPr>
              <a:t>No history of substance use was reported.</a:t>
            </a:r>
          </a:p>
          <a:p>
            <a:pPr algn="just">
              <a:lnSpc>
                <a:spcPct val="150000"/>
              </a:lnSpc>
              <a:spcBef>
                <a:spcPts val="600"/>
              </a:spcBef>
              <a:spcAft>
                <a:spcPts val="600"/>
              </a:spcAft>
            </a:pPr>
            <a:r>
              <a:rPr lang="en-US" altLang="en-US" b="1" dirty="0">
                <a:latin typeface="Times New Roman" panose="02020603050405020304" pitchFamily="18" charset="0"/>
                <a:cs typeface="Times New Roman" panose="02020603050405020304" pitchFamily="18" charset="0"/>
              </a:rPr>
              <a:t>Forensic History:</a:t>
            </a:r>
            <a:r>
              <a:rPr lang="en-US" altLang="en-US" dirty="0">
                <a:latin typeface="Times New Roman" panose="02020603050405020304" pitchFamily="18" charset="0"/>
                <a:cs typeface="Times New Roman" panose="02020603050405020304" pitchFamily="18" charset="0"/>
              </a:rPr>
              <a:t> There were no significant findings in the forensic history</a:t>
            </a:r>
            <a:r>
              <a:rPr lang="en-PH"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algn="just">
              <a:lnSpc>
                <a:spcPct val="150000"/>
              </a:lnSpc>
              <a:spcBef>
                <a:spcPts val="600"/>
              </a:spcBef>
              <a:spcAft>
                <a:spcPts val="600"/>
              </a:spcAft>
            </a:pPr>
            <a:r>
              <a:rPr lang="en-US" altLang="en-US" b="1" dirty="0">
                <a:latin typeface="Times New Roman" panose="02020603050405020304" pitchFamily="18" charset="0"/>
                <a:cs typeface="Times New Roman" panose="02020603050405020304" pitchFamily="18" charset="0"/>
              </a:rPr>
              <a:t>General pattern of living:</a:t>
            </a:r>
            <a:r>
              <a:rPr lang="en-US" altLang="en-US" dirty="0">
                <a:latin typeface="Times New Roman" panose="02020603050405020304" pitchFamily="18" charset="0"/>
                <a:cs typeface="Times New Roman" panose="02020603050405020304" pitchFamily="18" charset="0"/>
              </a:rPr>
              <a:t> The patient lives in a urban area, with all basic amenities available. She has her own room and privacy.</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3" name="Rectangle 2"/>
          <p:cNvSpPr/>
          <p:nvPr/>
        </p:nvSpPr>
        <p:spPr bwMode="auto">
          <a:xfrm>
            <a:off x="586597" y="319177"/>
            <a:ext cx="2777706" cy="586597"/>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rtlCol="0" anchor="ctr" anchorCtr="0" compatLnSpc="1"/>
          <a:lstStyle/>
          <a:p>
            <a:r>
              <a:rPr lang="en-US" sz="2400" b="1" dirty="0">
                <a:latin typeface="Times New Roman" panose="02020603050405020304" pitchFamily="18" charset="0"/>
                <a:cs typeface="Times New Roman" panose="02020603050405020304" pitchFamily="18" charset="0"/>
              </a:rPr>
              <a:t>Personal History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13</a:t>
            </a:fld>
            <a:endParaRPr lang="en-US"/>
          </a:p>
        </p:txBody>
      </p:sp>
      <p:sp>
        <p:nvSpPr>
          <p:cNvPr id="5" name="Text Box 4"/>
          <p:cNvSpPr txBox="1"/>
          <p:nvPr/>
        </p:nvSpPr>
        <p:spPr>
          <a:xfrm>
            <a:off x="223352" y="720509"/>
            <a:ext cx="11367135" cy="560705"/>
          </a:xfrm>
          <a:prstGeom prst="rect">
            <a:avLst/>
          </a:prstGeom>
          <a:noFill/>
        </p:spPr>
        <p:txBody>
          <a:bodyPr wrap="square" rtlCol="0" anchor="t">
            <a:noAutofit/>
          </a:bodyPr>
          <a:lstStyle/>
          <a:p>
            <a:r>
              <a:rPr lang="en-US" altLang="en-US" sz="2400" b="1" dirty="0">
                <a:latin typeface="Times New Roman" panose="02020603050405020304" pitchFamily="18" charset="0"/>
                <a:cs typeface="Times New Roman" panose="02020603050405020304" pitchFamily="18" charset="0"/>
              </a:rPr>
              <a:t>Premorbid Personality</a:t>
            </a:r>
          </a:p>
          <a:p>
            <a:endParaRPr lang="en-US" altLang="en-US" b="1"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1A2B870A-A78B-4F0C-2798-D94B83D5DBF6}"/>
              </a:ext>
            </a:extLst>
          </p:cNvPr>
          <p:cNvSpPr txBox="1">
            <a:spLocks/>
          </p:cNvSpPr>
          <p:nvPr/>
        </p:nvSpPr>
        <p:spPr>
          <a:xfrm>
            <a:off x="284672" y="1229204"/>
            <a:ext cx="11602527" cy="5296190"/>
          </a:xfrm>
          <a:prstGeom prst="rect">
            <a:avLst/>
          </a:prstGeom>
        </p:spPr>
        <p:txBody>
          <a:bodyPr>
            <a:noAutofit/>
          </a:bodyPr>
          <a:lstStyle/>
          <a:p>
            <a:pPr marL="342900" marR="0" lvl="0" indent="-342900" algn="l" defTabSz="914400" rtl="0" eaLnBrk="1" fontAlgn="base" latinLnBrk="0" hangingPunct="1">
              <a:lnSpc>
                <a:spcPct val="100000"/>
              </a:lnSpc>
              <a:spcBef>
                <a:spcPts val="600"/>
              </a:spcBef>
              <a:spcAft>
                <a:spcPts val="600"/>
              </a:spcAft>
              <a:buClrTx/>
              <a:buSzTx/>
              <a:buFontTx/>
              <a:buChar char="•"/>
              <a:tabLst/>
              <a:defRPr/>
            </a:pPr>
            <a:r>
              <a:rPr kumimoji="0" lang="en-US"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Social Relations: </a:t>
            </a: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Cordial relationship</a:t>
            </a:r>
            <a:r>
              <a:rPr kumimoji="0" lang="en-US" b="0" i="0" u="none" strike="noStrike" kern="1200" cap="none" spc="0" normalizeH="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with everyone. </a:t>
            </a:r>
            <a:endPar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ts val="600"/>
              </a:spcBef>
              <a:spcAft>
                <a:spcPts val="600"/>
              </a:spcAft>
              <a:buClrTx/>
              <a:buSzTx/>
              <a:buFontTx/>
              <a:buChar char="•"/>
              <a:tabLst/>
              <a:defRPr/>
            </a:pPr>
            <a:r>
              <a:rPr kumimoji="0" lang="en-US"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Premorbid Functioning: </a:t>
            </a: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patient’s overall </a:t>
            </a:r>
            <a:r>
              <a:rPr kumimoji="0" lang="en-US"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premorbid</a:t>
            </a: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functioning was appropriate, and she was able to manage his daily activities. </a:t>
            </a:r>
          </a:p>
          <a:p>
            <a:pPr marL="342900" marR="0" lvl="0" indent="-342900" algn="l" defTabSz="914400" rtl="0" eaLnBrk="1" fontAlgn="base" latinLnBrk="0" hangingPunct="1">
              <a:lnSpc>
                <a:spcPct val="100000"/>
              </a:lnSpc>
              <a:spcBef>
                <a:spcPts val="600"/>
              </a:spcBef>
              <a:spcAft>
                <a:spcPts val="600"/>
              </a:spcAft>
              <a:buClrTx/>
              <a:buSzTx/>
              <a:buFontTx/>
              <a:buChar char="•"/>
              <a:tabLst/>
              <a:defRPr/>
            </a:pPr>
            <a:r>
              <a:rPr kumimoji="0" lang="en-US"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Attitude Towards Work and Responsibility: </a:t>
            </a: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patient showed responsibility towards the tasks assigned to her. </a:t>
            </a:r>
          </a:p>
          <a:p>
            <a:pPr marL="342900" marR="0" lvl="0" indent="-342900" algn="l" defTabSz="914400" rtl="0" eaLnBrk="1" fontAlgn="base" latinLnBrk="0" hangingPunct="1">
              <a:lnSpc>
                <a:spcPct val="100000"/>
              </a:lnSpc>
              <a:spcBef>
                <a:spcPts val="600"/>
              </a:spcBef>
              <a:spcAft>
                <a:spcPts val="600"/>
              </a:spcAft>
              <a:buClrTx/>
              <a:buSzTx/>
              <a:buFontTx/>
              <a:buChar char="•"/>
              <a:tabLst/>
              <a:defRPr/>
            </a:pPr>
            <a:r>
              <a:rPr kumimoji="0" lang="en-US"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Reaction Pattern to Stress: </a:t>
            </a: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Whenever the patient encountered stressful situations or faced frustration, she tended to respond with increased irritability and anger. </a:t>
            </a:r>
          </a:p>
          <a:p>
            <a:pPr marL="342900" marR="0" lvl="0" indent="-342900" algn="l" defTabSz="914400" rtl="0" eaLnBrk="1" fontAlgn="base" latinLnBrk="0" hangingPunct="1">
              <a:lnSpc>
                <a:spcPct val="100000"/>
              </a:lnSpc>
              <a:spcBef>
                <a:spcPts val="600"/>
              </a:spcBef>
              <a:spcAft>
                <a:spcPts val="600"/>
              </a:spcAft>
              <a:buClrTx/>
              <a:buSzTx/>
              <a:buFontTx/>
              <a:buChar char="•"/>
              <a:tabLst/>
              <a:defRPr/>
            </a:pPr>
            <a:r>
              <a:rPr kumimoji="0" lang="en-US"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Intellectual Activities / Hobbies / Habits: </a:t>
            </a: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No significant engagement in structured intellectual activities or consistent hobbies was reported. The patient did not demonstrate sustained interest in leisure or skill-based activities.</a:t>
            </a:r>
          </a:p>
          <a:p>
            <a:pPr marL="342900" marR="0" lvl="0" indent="-342900" algn="l" defTabSz="914400" rtl="0" eaLnBrk="1" fontAlgn="base" latinLnBrk="0" hangingPunct="1">
              <a:lnSpc>
                <a:spcPct val="100000"/>
              </a:lnSpc>
              <a:spcBef>
                <a:spcPts val="600"/>
              </a:spcBef>
              <a:spcAft>
                <a:spcPts val="600"/>
              </a:spcAft>
              <a:buClrTx/>
              <a:buSzTx/>
              <a:buFontTx/>
              <a:buChar char="•"/>
              <a:tabLst/>
              <a:defRPr/>
            </a:pPr>
            <a:r>
              <a:rPr kumimoji="0" lang="en-US"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Premorbid Mood: </a:t>
            </a: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patient’s </a:t>
            </a:r>
            <a:r>
              <a:rPr kumimoji="0" lang="en-US"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premorbid</a:t>
            </a: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mood was predominantly cheerful.</a:t>
            </a:r>
          </a:p>
          <a:p>
            <a:pPr marL="342900" indent="-342900" fontAlgn="base">
              <a:spcBef>
                <a:spcPts val="600"/>
              </a:spcBef>
              <a:spcAft>
                <a:spcPts val="600"/>
              </a:spcAft>
              <a:buFontTx/>
              <a:buChar char="•"/>
            </a:pPr>
            <a:r>
              <a:rPr lang="en-IN" b="1" dirty="0">
                <a:latin typeface="Times New Roman" panose="02020603050405020304" pitchFamily="18" charset="0"/>
                <a:cs typeface="Times New Roman" panose="02020603050405020304" pitchFamily="18" charset="0"/>
              </a:rPr>
              <a:t>Interpersonal Relationships: </a:t>
            </a:r>
            <a:r>
              <a:rPr lang="en-US" altLang="en-US" dirty="0">
                <a:latin typeface="Times New Roman" panose="02020603050405020304" pitchFamily="18" charset="0"/>
                <a:cs typeface="Times New Roman" panose="02020603050405020304" pitchFamily="18" charset="0"/>
              </a:rPr>
              <a:t>She gets angry easily and </a:t>
            </a:r>
            <a:r>
              <a:rPr lang="en-PH" altLang="en-US" dirty="0">
                <a:latin typeface="Times New Roman" panose="02020603050405020304" pitchFamily="18" charset="0"/>
                <a:cs typeface="Times New Roman" panose="02020603050405020304" pitchFamily="18" charset="0"/>
              </a:rPr>
              <a:t>some times </a:t>
            </a:r>
            <a:r>
              <a:rPr lang="en-US" altLang="en-US" dirty="0">
                <a:latin typeface="Times New Roman" panose="02020603050405020304" pitchFamily="18" charset="0"/>
                <a:cs typeface="Times New Roman" panose="02020603050405020304" pitchFamily="18" charset="0"/>
              </a:rPr>
              <a:t>used to engage in physical and verbal fights with friends. However, she is generally friendly in nature, and once she becomes close to others, she is able to trust them and </a:t>
            </a:r>
            <a:r>
              <a:rPr lang="en-PH" altLang="en-US" dirty="0">
                <a:latin typeface="Times New Roman" panose="02020603050405020304" pitchFamily="18" charset="0"/>
                <a:cs typeface="Times New Roman" panose="02020603050405020304" pitchFamily="18" charset="0"/>
              </a:rPr>
              <a:t>maintain </a:t>
            </a:r>
            <a:r>
              <a:rPr lang="en-US" altLang="en-US" dirty="0">
                <a:latin typeface="Times New Roman" panose="02020603050405020304" pitchFamily="18" charset="0"/>
                <a:cs typeface="Times New Roman" panose="02020603050405020304" pitchFamily="18" charset="0"/>
              </a:rPr>
              <a:t>sustain relationships.</a:t>
            </a:r>
          </a:p>
          <a:p>
            <a:pPr marL="342900" indent="-342900" fontAlgn="base">
              <a:spcBef>
                <a:spcPts val="600"/>
              </a:spcBef>
              <a:spcAft>
                <a:spcPts val="600"/>
              </a:spcAft>
              <a:buFontTx/>
              <a:buChar char="•"/>
            </a:pPr>
            <a:r>
              <a:rPr lang="en-US" altLang="en-US" b="1" dirty="0">
                <a:latin typeface="Times New Roman" panose="02020603050405020304" pitchFamily="18" charset="0"/>
                <a:cs typeface="Times New Roman" panose="02020603050405020304" pitchFamily="18" charset="0"/>
              </a:rPr>
              <a:t>Energy and Initiative:</a:t>
            </a:r>
            <a:r>
              <a:rPr lang="en-US" altLang="en-US" dirty="0">
                <a:latin typeface="Times New Roman" panose="02020603050405020304" pitchFamily="18" charset="0"/>
                <a:cs typeface="Times New Roman" panose="02020603050405020304" pitchFamily="18" charset="0"/>
              </a:rPr>
              <a:t> The Patient had adequate energy and took the initiative to complete her tasks.</a:t>
            </a:r>
          </a:p>
          <a:p>
            <a:pPr marL="342900" marR="0" lvl="0" indent="-342900" algn="l" defTabSz="914400" rtl="0" eaLnBrk="1" fontAlgn="base" latinLnBrk="0" hangingPunct="1">
              <a:lnSpc>
                <a:spcPct val="100000"/>
              </a:lnSpc>
              <a:spcBef>
                <a:spcPts val="600"/>
              </a:spcBef>
              <a:spcAft>
                <a:spcPts val="600"/>
              </a:spcAft>
              <a:buClrTx/>
              <a:buSzTx/>
              <a:buFontTx/>
              <a:buChar char="•"/>
              <a:tabLst/>
              <a:defRPr/>
            </a:pPr>
            <a:endPar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endParaRPr kumimoji="0" lang="en-I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75146" y="1506998"/>
            <a:ext cx="11028045" cy="4272699"/>
          </a:xfrm>
          <a:prstGeom prst="rect">
            <a:avLst/>
          </a:prstGeom>
          <a:noFill/>
        </p:spPr>
        <p:txBody>
          <a:bodyPr wrap="square">
            <a:noAutofit/>
          </a:bodyPr>
          <a:lstStyle/>
          <a:p>
            <a:endParaRPr lang="en-IN" dirty="0"/>
          </a:p>
          <a:p>
            <a:pPr algn="just">
              <a:lnSpc>
                <a:spcPct val="150000"/>
              </a:lnSpc>
            </a:pPr>
            <a:endParaRPr lang="en-US" altLang="en-US" b="1" dirty="0">
              <a:latin typeface="Times New Roman" panose="02020603050405020304" pitchFamily="18" charset="0"/>
              <a:cs typeface="Times New Roman" panose="02020603050405020304" pitchFamily="18" charset="0"/>
            </a:endParaRPr>
          </a:p>
          <a:p>
            <a:pPr algn="just">
              <a:lnSpc>
                <a:spcPct val="150000"/>
              </a:lnSpc>
            </a:pPr>
            <a:endParaRPr lang="en-US" altLang="en-US" b="1" dirty="0">
              <a:latin typeface="Times New Roman" panose="02020603050405020304" pitchFamily="18" charset="0"/>
              <a:cs typeface="Times New Roman" panose="02020603050405020304" pitchFamily="18" charset="0"/>
            </a:endParaRPr>
          </a:p>
          <a:p>
            <a:pPr algn="just">
              <a:lnSpc>
                <a:spcPct val="150000"/>
              </a:lnSpc>
              <a:spcBef>
                <a:spcPts val="600"/>
              </a:spcBef>
              <a:spcAft>
                <a:spcPts val="600"/>
              </a:spcAft>
            </a:pPr>
            <a:r>
              <a:rPr lang="en-US" altLang="en-US" b="1" dirty="0">
                <a:latin typeface="Times New Roman" panose="02020603050405020304" pitchFamily="18" charset="0"/>
                <a:cs typeface="Times New Roman" panose="02020603050405020304" pitchFamily="18" charset="0"/>
              </a:rPr>
              <a:t>Fantasy Life:</a:t>
            </a:r>
            <a:r>
              <a:rPr lang="en-US" alt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No significant fantasy life was reported. </a:t>
            </a:r>
          </a:p>
          <a:p>
            <a:pPr algn="just">
              <a:lnSpc>
                <a:spcPct val="150000"/>
              </a:lnSpc>
              <a:spcBef>
                <a:spcPts val="600"/>
              </a:spcBef>
              <a:spcAft>
                <a:spcPts val="600"/>
              </a:spcAft>
            </a:pPr>
            <a:r>
              <a:rPr lang="en-US" b="1" dirty="0">
                <a:latin typeface="Times New Roman" panose="02020603050405020304" pitchFamily="18" charset="0"/>
                <a:cs typeface="Times New Roman" panose="02020603050405020304" pitchFamily="18" charset="0"/>
              </a:rPr>
              <a:t>Attitude Towards Self: </a:t>
            </a:r>
            <a:r>
              <a:rPr lang="en-US" dirty="0">
                <a:latin typeface="Times New Roman" panose="02020603050405020304" pitchFamily="18" charset="0"/>
                <a:cs typeface="Times New Roman" panose="02020603050405020304" pitchFamily="18" charset="0"/>
              </a:rPr>
              <a:t>The patient’s attitude towards self was largely positive.</a:t>
            </a:r>
          </a:p>
          <a:p>
            <a:pPr algn="just">
              <a:lnSpc>
                <a:spcPct val="150000"/>
              </a:lnSpc>
              <a:spcBef>
                <a:spcPts val="600"/>
              </a:spcBef>
              <a:spcAft>
                <a:spcPts val="600"/>
              </a:spcAft>
            </a:pPr>
            <a:r>
              <a:rPr lang="en-US" altLang="en-US" b="1" dirty="0">
                <a:latin typeface="Times New Roman" panose="02020603050405020304" pitchFamily="18" charset="0"/>
                <a:cs typeface="Times New Roman" panose="02020603050405020304" pitchFamily="18" charset="0"/>
              </a:rPr>
              <a:t>Standards in moral, religious, and health matters: </a:t>
            </a:r>
            <a:r>
              <a:rPr lang="en-US" altLang="en-US" dirty="0">
                <a:latin typeface="Times New Roman" panose="02020603050405020304" pitchFamily="18" charset="0"/>
                <a:cs typeface="Times New Roman" panose="02020603050405020304" pitchFamily="18" charset="0"/>
              </a:rPr>
              <a:t>Patient was not overly concerned with religious or health matters. However, she was highly concerned with moral standards when doing tasks and believed they  must be done “perfectly” and “in the right manner” .</a:t>
            </a:r>
          </a:p>
          <a:p>
            <a:pPr algn="just">
              <a:lnSpc>
                <a:spcPct val="150000"/>
              </a:lnSpc>
            </a:pPr>
            <a:r>
              <a:rPr lang="en-US" altLang="en-US" dirty="0">
                <a:latin typeface="Times New Roman" panose="02020603050405020304" pitchFamily="18" charset="0"/>
                <a:cs typeface="Times New Roman" panose="02020603050405020304" pitchFamily="18" charset="0"/>
              </a:rPr>
              <a:t>  </a:t>
            </a:r>
          </a:p>
          <a:p>
            <a:pPr algn="just">
              <a:lnSpc>
                <a:spcPct val="150000"/>
              </a:lnSpc>
            </a:pPr>
            <a:r>
              <a:rPr lang="en-US" altLang="en-US" dirty="0">
                <a:latin typeface="Times New Roman" panose="02020603050405020304" pitchFamily="18" charset="0"/>
                <a:cs typeface="Times New Roman" panose="02020603050405020304" pitchFamily="18" charset="0"/>
              </a:rPr>
              <a:t> </a:t>
            </a:r>
          </a:p>
          <a:p>
            <a:pPr>
              <a:lnSpc>
                <a:spcPct val="150000"/>
              </a:lnSpc>
            </a:pPr>
            <a:endParaRPr lang="en-US" alt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Rectangle 3"/>
          <p:cNvSpPr/>
          <p:nvPr/>
        </p:nvSpPr>
        <p:spPr bwMode="auto">
          <a:xfrm>
            <a:off x="431320" y="1224950"/>
            <a:ext cx="4192438" cy="81951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rtlCol="0" anchor="ctr" anchorCtr="0" compatLnSpc="1"/>
          <a:lstStyle/>
          <a:p>
            <a:r>
              <a:rPr lang="en-US" altLang="en-US" sz="2400" b="1" dirty="0">
                <a:latin typeface="Times New Roman" panose="02020603050405020304" pitchFamily="18" charset="0"/>
                <a:cs typeface="Times New Roman" panose="02020603050405020304" pitchFamily="18" charset="0"/>
              </a:rPr>
              <a:t>Premorbid Personality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15</a:t>
            </a:fld>
            <a:endParaRPr lang="en-US"/>
          </a:p>
        </p:txBody>
      </p:sp>
      <p:sp>
        <p:nvSpPr>
          <p:cNvPr id="4" name="Content Placeholder 2">
            <a:extLst>
              <a:ext uri="{FF2B5EF4-FFF2-40B4-BE49-F238E27FC236}">
                <a16:creationId xmlns:a16="http://schemas.microsoft.com/office/drawing/2014/main" id="{E2D95BA7-67EE-D72D-4DB5-73CD797EA829}"/>
              </a:ext>
            </a:extLst>
          </p:cNvPr>
          <p:cNvSpPr txBox="1">
            <a:spLocks/>
          </p:cNvSpPr>
          <p:nvPr/>
        </p:nvSpPr>
        <p:spPr>
          <a:xfrm>
            <a:off x="533868" y="1142317"/>
            <a:ext cx="11124263" cy="5275736"/>
          </a:xfrm>
          <a:prstGeom prst="rect">
            <a:avLst/>
          </a:prstGeom>
        </p:spPr>
        <p:txBody>
          <a:bodyPr>
            <a:noAutofit/>
          </a:bodyPr>
          <a:lstStyle/>
          <a:p>
            <a:pPr marL="342900" marR="0" lvl="0" indent="-342900" algn="l" defTabSz="914400" rtl="0" eaLnBrk="1" fontAlgn="base" latinLnBrk="0" hangingPunct="1">
              <a:lnSpc>
                <a:spcPct val="15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Physical Appearance: </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patient appeared well-kempt. She was dressed in neat, clean, and age-appropriate clothing.</a:t>
            </a:r>
          </a:p>
          <a:p>
            <a:pPr marL="342900" marR="0" lvl="0" indent="-342900" algn="l" defTabSz="914400" rtl="0" eaLnBrk="1" fontAlgn="base" latinLnBrk="0" hangingPunct="1">
              <a:lnSpc>
                <a:spcPct val="15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Entered into the Room: </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patient entered the interview room voluntarily without any signs of resistance or hesitation.</a:t>
            </a:r>
          </a:p>
          <a:p>
            <a:pPr marL="342900" marR="0" lvl="0" indent="-342900" algn="l" defTabSz="914400" rtl="0" eaLnBrk="1" fontAlgn="base" latinLnBrk="0" hangingPunct="1">
              <a:lnSpc>
                <a:spcPct val="15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Facial Expression and Body Language: </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patient appeared interested in the interview. She actively listened to the questions asked and responded adequately. Her facial expressions and body language were appropriate to the context of the interaction.</a:t>
            </a:r>
          </a:p>
          <a:p>
            <a:pPr marL="342900" marR="0" lvl="0" indent="-342900" algn="l" defTabSz="914400" rtl="0" eaLnBrk="1" fontAlgn="base" latinLnBrk="0" hangingPunct="1">
              <a:lnSpc>
                <a:spcPct val="15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Personal Hygiene: </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patient was well-groomed. Hair was combed, and overall personal hygiene was adequately maintained.</a:t>
            </a:r>
          </a:p>
          <a:p>
            <a:pPr marL="342900" marR="0" lvl="0" indent="-342900" algn="l" defTabSz="914400" rtl="0" eaLnBrk="1" fontAlgn="base" latinLnBrk="0" hangingPunct="1">
              <a:lnSpc>
                <a:spcPct val="15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Eye Contact: </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patient made and maintained appropriate eye contact throughout the interview.</a:t>
            </a:r>
          </a:p>
          <a:p>
            <a:pPr marL="342900" marR="0" lvl="0" indent="-342900" algn="l" defTabSz="914400" rtl="0" eaLnBrk="1" fontAlgn="base" latinLnBrk="0" hangingPunct="1">
              <a:lnSpc>
                <a:spcPct val="15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Attitude Towards the Examiner: </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patient’s attitude towards the examiner was cooperative and respectful.</a:t>
            </a:r>
          </a:p>
          <a:p>
            <a:pPr marL="342900" marR="0" lvl="0" indent="-342900" algn="l" defTabSz="914400" rtl="0" eaLnBrk="1" fontAlgn="base" latinLnBrk="0" hangingPunct="1">
              <a:lnSpc>
                <a:spcPct val="15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Rapport: </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Rapport was easily established and maintained throughout the session.</a:t>
            </a:r>
          </a:p>
          <a:p>
            <a:pPr marL="342900" marR="0" lvl="0" indent="-342900" algn="l" defTabSz="914400" rtl="0" eaLnBrk="1" fontAlgn="base" latinLnBrk="0" hangingPunct="1">
              <a:lnSpc>
                <a:spcPct val="15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Behaviour During the Interview: </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patient remained alert and responsive during the interview, with no evidence of distractibility or uncooperative behaviour.</a:t>
            </a:r>
          </a:p>
          <a:p>
            <a:pPr marL="342900" marR="0" lvl="0" indent="-342900" algn="l" defTabSz="914400" rtl="0" eaLnBrk="1" fontAlgn="base" latinLnBrk="0" hangingPunct="1">
              <a:lnSpc>
                <a:spcPct val="15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Psychomotor Activity: </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Psychomotor activity was normal and goal-directed.</a:t>
            </a:r>
          </a:p>
          <a:p>
            <a:pPr marL="342900" marR="0" lvl="0" indent="-342900" algn="l" defTabSz="914400" rtl="0" eaLnBrk="1" fontAlgn="base" latinLnBrk="0" hangingPunct="1">
              <a:lnSpc>
                <a:spcPct val="150000"/>
              </a:lnSpc>
              <a:spcBef>
                <a:spcPct val="20000"/>
              </a:spcBef>
              <a:spcAft>
                <a:spcPct val="0"/>
              </a:spcAft>
              <a:buClrTx/>
              <a:buSzTx/>
              <a:buFontTx/>
              <a:buChar char="•"/>
              <a:tabLst/>
              <a:defRPr/>
            </a:pP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5" name="Title 4"/>
          <p:cNvSpPr txBox="1">
            <a:spLocks noGrp="1"/>
          </p:cNvSpPr>
          <p:nvPr>
            <p:ph type="title"/>
          </p:nvPr>
        </p:nvSpPr>
        <p:spPr>
          <a:prstGeom prst="rect">
            <a:avLst/>
          </a:prstGeom>
          <a:noFill/>
        </p:spPr>
        <p:txBody>
          <a:bodyPr wrap="square">
            <a:noAutofit/>
          </a:bodyPr>
          <a:lstStyle/>
          <a:p>
            <a:pPr algn="just">
              <a:lnSpc>
                <a:spcPct val="150000"/>
              </a:lnSpc>
            </a:pPr>
            <a:r>
              <a:rPr lang="en-US" altLang="en-US" sz="2400" b="1" dirty="0">
                <a:latin typeface="Times New Roman" panose="02020603050405020304" pitchFamily="18" charset="0"/>
                <a:cs typeface="Times New Roman" panose="02020603050405020304" pitchFamily="18" charset="0"/>
              </a:rPr>
              <a:t>Mental Status Examination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16</a:t>
            </a:fld>
            <a:endParaRPr lang="en-US"/>
          </a:p>
        </p:txBody>
      </p:sp>
      <p:sp>
        <p:nvSpPr>
          <p:cNvPr id="5" name="Title 4"/>
          <p:cNvSpPr txBox="1">
            <a:spLocks noGrp="1"/>
          </p:cNvSpPr>
          <p:nvPr>
            <p:ph type="title"/>
          </p:nvPr>
        </p:nvSpPr>
        <p:spPr>
          <a:prstGeom prst="rect">
            <a:avLst/>
          </a:prstGeom>
          <a:noFill/>
        </p:spPr>
        <p:txBody>
          <a:bodyPr wrap="square">
            <a:noAutofit/>
          </a:bodyPr>
          <a:lstStyle/>
          <a:p>
            <a:pPr algn="just">
              <a:lnSpc>
                <a:spcPct val="150000"/>
              </a:lnSpc>
            </a:pPr>
            <a:r>
              <a:rPr lang="en-US" altLang="en-US" sz="2400" b="1" dirty="0">
                <a:latin typeface="Times New Roman" panose="02020603050405020304" pitchFamily="18" charset="0"/>
                <a:cs typeface="Times New Roman" panose="02020603050405020304" pitchFamily="18" charset="0"/>
              </a:rPr>
              <a:t>Mental Status Examination</a:t>
            </a:r>
          </a:p>
        </p:txBody>
      </p:sp>
      <p:sp>
        <p:nvSpPr>
          <p:cNvPr id="6" name="Content Placeholder 2">
            <a:extLst>
              <a:ext uri="{FF2B5EF4-FFF2-40B4-BE49-F238E27FC236}">
                <a16:creationId xmlns:a16="http://schemas.microsoft.com/office/drawing/2014/main" id="{9C885D0D-3DEC-C1A7-9C8E-B1340C0B2879}"/>
              </a:ext>
            </a:extLst>
          </p:cNvPr>
          <p:cNvSpPr txBox="1">
            <a:spLocks/>
          </p:cNvSpPr>
          <p:nvPr/>
        </p:nvSpPr>
        <p:spPr>
          <a:xfrm>
            <a:off x="791220" y="1508420"/>
            <a:ext cx="9779182" cy="3366815"/>
          </a:xfrm>
          <a:prstGeom prst="rect">
            <a:avLst/>
          </a:prstGeom>
        </p:spPr>
        <p:txBody>
          <a:bodyPr>
            <a:normAutofit/>
          </a:bodyPr>
          <a:lstStyle/>
          <a:p>
            <a:pPr marL="342900" marR="0" lvl="0" indent="-342900" algn="l" defTabSz="914400" rtl="0" eaLnBrk="1" fontAlgn="base" latinLnBrk="0" hangingPunct="1">
              <a:lnSpc>
                <a:spcPct val="150000"/>
              </a:lnSpc>
              <a:spcBef>
                <a:spcPct val="20000"/>
              </a:spcBef>
              <a:spcAft>
                <a:spcPct val="0"/>
              </a:spcAft>
              <a:buClrTx/>
              <a:buSzTx/>
              <a:tabLst/>
              <a:defRPr/>
            </a:pPr>
            <a:r>
              <a:rPr kumimoji="0" lang="en-US"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SPEECH:</a:t>
            </a:r>
            <a:endParaRPr kumimoji="0" lang="en-IN"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en-US"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From the clinical interview, it was observed that the patient was able to understand the questions asked and responded in a clear and meaningful manner, indicating </a:t>
            </a:r>
            <a:r>
              <a:rPr kumimoji="0" lang="en-US"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coherent speech</a:t>
            </a:r>
            <a:r>
              <a:rPr kumimoji="0" lang="en-US"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There was no evidence of incoherence. Her responses were </a:t>
            </a:r>
            <a:r>
              <a:rPr kumimoji="0" lang="en-US"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relevant to the questions asked</a:t>
            </a:r>
            <a:r>
              <a:rPr kumimoji="0" lang="en-US"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The patient spoke in a </a:t>
            </a:r>
            <a:r>
              <a:rPr kumimoji="0" lang="en-US"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normal, audible tone</a:t>
            </a:r>
            <a:r>
              <a:rPr kumimoji="0" lang="en-US"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and his </a:t>
            </a:r>
            <a:r>
              <a:rPr kumimoji="0" lang="en-US"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tempo of speech was adequate</a:t>
            </a:r>
            <a:r>
              <a:rPr kumimoji="0" lang="en-US"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He responded appropriately without any undue delay, suggesting that her </a:t>
            </a:r>
            <a:r>
              <a:rPr kumimoji="0" lang="en-US" sz="1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reaction time was within normal limits</a:t>
            </a:r>
            <a:r>
              <a:rPr kumimoji="0" lang="en-US"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I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5670430" cy="582613"/>
          </a:xfrm>
        </p:spPr>
        <p:txBody>
          <a:bodyPr/>
          <a:lstStyle/>
          <a:p>
            <a:r>
              <a:rPr lang="en-US" sz="2400" dirty="0">
                <a:latin typeface="Times New Roman" panose="02020603050405020304" pitchFamily="18" charset="0"/>
                <a:cs typeface="Times New Roman" panose="02020603050405020304" pitchFamily="18" charset="0"/>
              </a:rPr>
              <a:t>Mental Status Examination</a:t>
            </a:r>
            <a:endParaRPr lang="en-US" sz="2400" dirty="0"/>
          </a:p>
        </p:txBody>
      </p:sp>
      <p:sp>
        <p:nvSpPr>
          <p:cNvPr id="3" name="Slide Number Placeholder 2"/>
          <p:cNvSpPr>
            <a:spLocks noGrp="1"/>
          </p:cNvSpPr>
          <p:nvPr>
            <p:ph type="sldNum" sz="quarter" idx="12"/>
          </p:nvPr>
        </p:nvSpPr>
        <p:spPr/>
        <p:txBody>
          <a:bodyPr/>
          <a:lstStyle/>
          <a:p>
            <a:fld id="{B3561BA9-CDCF-4958-B8AB-66F3BF063E13}" type="slidenum">
              <a:rPr lang="en-US" smtClean="0"/>
              <a:pPr/>
              <a:t>17</a:t>
            </a:fld>
            <a:endParaRPr lang="en-US"/>
          </a:p>
        </p:txBody>
      </p:sp>
      <p:sp>
        <p:nvSpPr>
          <p:cNvPr id="4" name="Content Placeholder 2">
            <a:extLst>
              <a:ext uri="{FF2B5EF4-FFF2-40B4-BE49-F238E27FC236}">
                <a16:creationId xmlns:a16="http://schemas.microsoft.com/office/drawing/2014/main" id="{96CF8B19-7D11-06B6-9B47-E0E9BD2813AF}"/>
              </a:ext>
            </a:extLst>
          </p:cNvPr>
          <p:cNvSpPr txBox="1">
            <a:spLocks/>
          </p:cNvSpPr>
          <p:nvPr/>
        </p:nvSpPr>
        <p:spPr>
          <a:xfrm>
            <a:off x="271511" y="837902"/>
            <a:ext cx="11415860" cy="5698699"/>
          </a:xfrm>
          <a:prstGeom prst="rect">
            <a:avLst/>
          </a:prstGeom>
        </p:spPr>
        <p:txBody>
          <a:bodyPr>
            <a:noAutofit/>
          </a:bodyPr>
          <a:lstStyle/>
          <a:p>
            <a:pPr marL="342900" marR="0" lvl="0" indent="-342900" algn="l" defTabSz="914400" rtl="0" eaLnBrk="1" fontAlgn="base" latinLnBrk="0" hangingPunct="1">
              <a:lnSpc>
                <a:spcPct val="100000"/>
              </a:lnSpc>
              <a:spcBef>
                <a:spcPct val="20000"/>
              </a:spcBef>
              <a:spcAft>
                <a:spcPct val="0"/>
              </a:spcAft>
              <a:buClrTx/>
              <a:buSzTx/>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THOUGHT:</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5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Form</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There is no thought disorder of form type indicated/presented during the interview by the patient.</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5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Stream: </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There is no thought disorder of stream type indicated during the interview by the patient.</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5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Possession: </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There is no thought disorder of possessions type presented during the interview by the patient.</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lvl="1" indent="-285750" fontAlgn="base">
              <a:lnSpc>
                <a:spcPct val="150000"/>
              </a:lnSpc>
              <a:spcBef>
                <a:spcPct val="20000"/>
              </a:spcBef>
              <a:spcAft>
                <a:spcPct val="0"/>
              </a:spcAft>
              <a:buFontTx/>
              <a:buChar cha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Content: </a:t>
            </a:r>
            <a:r>
              <a:rPr lang="en-US" altLang="en-US" sz="1600" dirty="0">
                <a:latin typeface="Times New Roman" panose="02020603050405020304" pitchFamily="18" charset="0"/>
                <a:cs typeface="Times New Roman" panose="02020603050405020304" pitchFamily="18" charset="0"/>
              </a:rPr>
              <a:t>Content of thought includes excessive worry about the future of the son and fear related with hospital visiting, driving and other situation</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Tx/>
              <a:buSzTx/>
              <a:tabLst/>
              <a:defRPr/>
            </a:pP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Tx/>
              <a:buSzTx/>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MOOD AND AFFECT:</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Tx/>
              <a:buSzTx/>
              <a:tabLst/>
              <a:defRPr/>
            </a:pP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Upon asking “how has your mood been over the past few days”?	(Patient Reported that)</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lvl="0" indent="-342900" fontAlgn="base">
              <a:spcBef>
                <a:spcPct val="20000"/>
              </a:spcBef>
              <a:spcAft>
                <a:spcPct val="0"/>
              </a:spcAft>
              <a:buFontTx/>
              <a:buChar cha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Subjective: </a:t>
            </a:r>
            <a:r>
              <a:rPr lang="en-US" altLang="en-US" sz="1600" dirty="0">
                <a:latin typeface="Times New Roman" panose="02020603050405020304" pitchFamily="18" charset="0"/>
                <a:cs typeface="Times New Roman" panose="02020603050405020304" pitchFamily="18" charset="0"/>
              </a:rPr>
              <a:t>“</a:t>
            </a:r>
            <a:r>
              <a:rPr lang="en-US" altLang="en-US" sz="1600" i="1" dirty="0">
                <a:latin typeface="Times New Roman" panose="02020603050405020304" pitchFamily="18" charset="0"/>
                <a:cs typeface="Times New Roman" panose="02020603050405020304" pitchFamily="18" charset="0"/>
              </a:rPr>
              <a:t>Me nervous ho</a:t>
            </a:r>
            <a:r>
              <a:rPr lang="en-US" altLang="en-US" sz="1600" dirty="0">
                <a:latin typeface="Times New Roman" panose="02020603050405020304" pitchFamily="18" charset="0"/>
                <a:cs typeface="Times New Roman" panose="02020603050405020304" pitchFamily="18" charset="0"/>
              </a:rPr>
              <a:t>” </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Objective: </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Patient seems anxious.</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Tx/>
              <a:buSzTx/>
              <a:tabLst/>
              <a:defRPr/>
            </a:pP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Tx/>
              <a:buSzTx/>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SENSORIUM &amp; PERCETION:</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Illusions: </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No evidence of illusions was observed.</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Hallucinations: </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There are no hallucinations reported or observed during the interview.</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Pseudo-Hallucinations: </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There were no indications of pseudo-hallucinations.</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588" y="345775"/>
            <a:ext cx="10972800" cy="582613"/>
          </a:xfrm>
        </p:spPr>
        <p:txBody>
          <a:bodyPr/>
          <a:lstStyle/>
          <a:p>
            <a:r>
              <a:rPr lang="en-US" altLang="en-US" sz="2400" b="1" dirty="0">
                <a:latin typeface="Times New Roman" panose="02020603050405020304" pitchFamily="18" charset="0"/>
                <a:cs typeface="Times New Roman" panose="02020603050405020304" pitchFamily="18" charset="0"/>
              </a:rPr>
              <a:t>Mental Status Examination</a:t>
            </a:r>
            <a:endParaRPr lang="en-US" sz="2400" dirty="0"/>
          </a:p>
        </p:txBody>
      </p:sp>
      <p:sp>
        <p:nvSpPr>
          <p:cNvPr id="3" name="Slide Number Placeholder 2"/>
          <p:cNvSpPr>
            <a:spLocks noGrp="1"/>
          </p:cNvSpPr>
          <p:nvPr>
            <p:ph type="sldNum" sz="quarter" idx="12"/>
          </p:nvPr>
        </p:nvSpPr>
        <p:spPr/>
        <p:txBody>
          <a:bodyPr/>
          <a:lstStyle/>
          <a:p>
            <a:fld id="{B3561BA9-CDCF-4958-B8AB-66F3BF063E13}" type="slidenum">
              <a:rPr lang="en-US" smtClean="0"/>
              <a:pPr/>
              <a:t>18</a:t>
            </a:fld>
            <a:endParaRPr lang="en-US"/>
          </a:p>
        </p:txBody>
      </p:sp>
      <p:sp>
        <p:nvSpPr>
          <p:cNvPr id="4" name="Content Placeholder 2">
            <a:extLst>
              <a:ext uri="{FF2B5EF4-FFF2-40B4-BE49-F238E27FC236}">
                <a16:creationId xmlns:a16="http://schemas.microsoft.com/office/drawing/2014/main" id="{87E8630A-B979-DAB2-51D4-B8D475DF4B41}"/>
              </a:ext>
            </a:extLst>
          </p:cNvPr>
          <p:cNvSpPr txBox="1">
            <a:spLocks/>
          </p:cNvSpPr>
          <p:nvPr/>
        </p:nvSpPr>
        <p:spPr>
          <a:xfrm>
            <a:off x="141402" y="1253896"/>
            <a:ext cx="11708091" cy="5307160"/>
          </a:xfrm>
          <a:prstGeom prst="rect">
            <a:avLst/>
          </a:prstGeom>
        </p:spPr>
        <p:txBody>
          <a:bodyPr>
            <a:normAutofit/>
          </a:bodyPr>
          <a:lstStyle/>
          <a:p>
            <a:pPr marL="342900" marR="0" lvl="0" indent="-342900" algn="just" defTabSz="914400" rtl="0" eaLnBrk="1" fontAlgn="base" latinLnBrk="0" hangingPunct="1">
              <a:lnSpc>
                <a:spcPct val="150000"/>
              </a:lnSpc>
              <a:spcBef>
                <a:spcPct val="20000"/>
              </a:spcBef>
              <a:spcAft>
                <a:spcPct val="0"/>
              </a:spcAft>
              <a:buClrTx/>
              <a:buSzTx/>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HIGHER COGNITIVE FUNCTIONS:</a:t>
            </a:r>
          </a:p>
          <a:p>
            <a:pPr marL="342900" marR="0" lvl="0" indent="-342900" algn="just" defTabSz="914400" rtl="0" eaLnBrk="1" fontAlgn="base" latinLnBrk="0" hangingPunct="1">
              <a:lnSpc>
                <a:spcPct val="150000"/>
              </a:lnSpc>
              <a:spcBef>
                <a:spcPct val="20000"/>
              </a:spcBef>
              <a:spcAft>
                <a:spcPct val="0"/>
              </a:spcAft>
              <a:buClrTx/>
              <a:buSzTx/>
              <a:buFont typeface="+mj-lt"/>
              <a:buAutoNum type="arabicPeriod"/>
              <a:tabLst/>
              <a:defRPr/>
            </a:pP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Level of Consciousness: The patient was consciously alert and awake during the interview.</a:t>
            </a:r>
          </a:p>
          <a:p>
            <a:pPr marL="342900" marR="0" lvl="0" indent="-342900" algn="just" defTabSz="914400" rtl="0" eaLnBrk="1" fontAlgn="base" latinLnBrk="0" hangingPunct="1">
              <a:lnSpc>
                <a:spcPct val="150000"/>
              </a:lnSpc>
              <a:spcBef>
                <a:spcPct val="20000"/>
              </a:spcBef>
              <a:spcAft>
                <a:spcPct val="0"/>
              </a:spcAft>
              <a:buClrTx/>
              <a:buSzTx/>
              <a:buFont typeface="+mj-lt"/>
              <a:buAutoNum type="arabicPeriod"/>
              <a:tabLst/>
              <a:defRPr/>
            </a:pP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Orientation: The patient was oriented to time, place, and person.</a:t>
            </a:r>
          </a:p>
          <a:p>
            <a:pPr marL="342900" marR="0" lvl="0" indent="-342900" algn="just" defTabSz="914400" rtl="0" eaLnBrk="1" fontAlgn="base" latinLnBrk="0" hangingPunct="1">
              <a:lnSpc>
                <a:spcPct val="150000"/>
              </a:lnSpc>
              <a:spcBef>
                <a:spcPct val="20000"/>
              </a:spcBef>
              <a:spcAft>
                <a:spcPct val="0"/>
              </a:spcAft>
              <a:buClrTx/>
              <a:buSzTx/>
              <a:buFont typeface="+mj-lt"/>
              <a:buAutoNum type="arabicPeriod"/>
              <a:tabLst/>
              <a:defRPr/>
            </a:pP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Attention and Concentration: On digit span tasks, both forward and backward sequences were attempted, and performance on digit span tasks showed that patient’s attention was not aroused nor sustained.</a:t>
            </a:r>
          </a:p>
          <a:p>
            <a:pPr marL="342900" marR="0" lvl="0" indent="-342900" algn="just" defTabSz="914400" rtl="0" eaLnBrk="1" fontAlgn="base" latinLnBrk="0" hangingPunct="1">
              <a:lnSpc>
                <a:spcPct val="150000"/>
              </a:lnSpc>
              <a:spcBef>
                <a:spcPct val="20000"/>
              </a:spcBef>
              <a:spcAft>
                <a:spcPct val="0"/>
              </a:spcAft>
              <a:buClrTx/>
              <a:buSzTx/>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MEMORY</a:t>
            </a:r>
          </a:p>
          <a:p>
            <a:pPr marL="342900" lvl="0" indent="-342900" algn="just" fontAlgn="base">
              <a:lnSpc>
                <a:spcPct val="150000"/>
              </a:lnSpc>
              <a:spcBef>
                <a:spcPct val="20000"/>
              </a:spcBef>
              <a:spcAft>
                <a:spcPct val="0"/>
              </a:spcAft>
              <a:buFontTx/>
              <a:buChar char="•"/>
            </a:pPr>
            <a:r>
              <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patient’s memory functions were examined across immediate, recent, and remote recall. Immediate memory was found to be intact, as the patient was able to recall simple items such as </a:t>
            </a:r>
            <a:r>
              <a:rPr kumimoji="0" lang="en-IN" sz="16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ghadi</a:t>
            </a:r>
            <a:r>
              <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fan, and table. Recent memory was also adequate, with the patient recalling what did</a:t>
            </a:r>
            <a:r>
              <a:rPr kumimoji="0" lang="en-IN" sz="1600" b="0" i="0" u="none" strike="noStrike" kern="1200" cap="none" spc="0" normalizeH="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she eat for breakfast and lunch</a:t>
            </a:r>
            <a:r>
              <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Remote memory was intact, as the patient successfully remembered India’s first Prime Minister, Jawaharlal Nehru</a:t>
            </a:r>
            <a:r>
              <a:rPr lang="en-IN" sz="1600" dirty="0">
                <a:latin typeface="Times New Roman" panose="02020603050405020304" pitchFamily="18" charset="0"/>
                <a:cs typeface="Times New Roman" panose="02020603050405020304" pitchFamily="18" charset="0"/>
              </a:rPr>
              <a:t>, and the </a:t>
            </a:r>
            <a:r>
              <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event of independence in 1947. Overall, the patient demonstrated intact immediate, recent, and remote memory functions.</a:t>
            </a: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endPar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211" y="207753"/>
            <a:ext cx="11358114" cy="582613"/>
          </a:xfrm>
        </p:spPr>
        <p:txBody>
          <a:bodyPr/>
          <a:lstStyle/>
          <a:p>
            <a:br>
              <a:rPr lang="en-US" altLang="en-US" b="1" dirty="0">
                <a:solidFill>
                  <a:schemeClr val="accent5">
                    <a:lumMod val="75000"/>
                  </a:schemeClr>
                </a:solidFill>
                <a:latin typeface="Times New Roman" panose="02020603050405020304" pitchFamily="18" charset="0"/>
                <a:cs typeface="Times New Roman" panose="02020603050405020304" pitchFamily="18" charset="0"/>
              </a:rPr>
            </a:br>
            <a:r>
              <a:rPr lang="en-US" altLang="en-US" sz="2400" b="1" dirty="0">
                <a:latin typeface="Times New Roman" panose="02020603050405020304" pitchFamily="18" charset="0"/>
                <a:cs typeface="Times New Roman" panose="02020603050405020304" pitchFamily="18" charset="0"/>
              </a:rPr>
              <a:t>Mental Status Examination</a:t>
            </a:r>
            <a:br>
              <a:rPr lang="en-US" altLang="en-US" b="1" dirty="0">
                <a:solidFill>
                  <a:schemeClr val="accent5">
                    <a:lumMod val="75000"/>
                  </a:schemeClr>
                </a:solidFill>
                <a:latin typeface="Times New Roman" panose="02020603050405020304" pitchFamily="18" charset="0"/>
                <a:cs typeface="Times New Roman" panose="02020603050405020304" pitchFamily="18" charset="0"/>
              </a:rPr>
            </a:br>
            <a:endParaRPr lang="en-US" dirty="0"/>
          </a:p>
        </p:txBody>
      </p:sp>
      <p:sp>
        <p:nvSpPr>
          <p:cNvPr id="3" name="Slide Number Placeholder 2"/>
          <p:cNvSpPr>
            <a:spLocks noGrp="1"/>
          </p:cNvSpPr>
          <p:nvPr>
            <p:ph type="sldNum" sz="quarter" idx="12"/>
          </p:nvPr>
        </p:nvSpPr>
        <p:spPr/>
        <p:txBody>
          <a:bodyPr/>
          <a:lstStyle/>
          <a:p>
            <a:fld id="{B3561BA9-CDCF-4958-B8AB-66F3BF063E13}" type="slidenum">
              <a:rPr lang="en-US" smtClean="0"/>
              <a:pPr/>
              <a:t>19</a:t>
            </a:fld>
            <a:endParaRPr lang="en-US"/>
          </a:p>
        </p:txBody>
      </p:sp>
      <p:sp>
        <p:nvSpPr>
          <p:cNvPr id="4" name="Content Placeholder 2">
            <a:extLst>
              <a:ext uri="{FF2B5EF4-FFF2-40B4-BE49-F238E27FC236}">
                <a16:creationId xmlns:a16="http://schemas.microsoft.com/office/drawing/2014/main" id="{F78D3B8A-595D-F191-8021-C9BBDCAF8C18}"/>
              </a:ext>
            </a:extLst>
          </p:cNvPr>
          <p:cNvSpPr txBox="1">
            <a:spLocks/>
          </p:cNvSpPr>
          <p:nvPr/>
        </p:nvSpPr>
        <p:spPr>
          <a:xfrm>
            <a:off x="151885" y="422693"/>
            <a:ext cx="11476521" cy="6021239"/>
          </a:xfrm>
          <a:prstGeom prst="rect">
            <a:avLst/>
          </a:prstGeom>
        </p:spPr>
        <p:txBody>
          <a:bodyPr>
            <a:noAutofit/>
          </a:bodyPr>
          <a:lstStyle/>
          <a:p>
            <a:pPr marL="342900" marR="0" lvl="0" indent="-342900" algn="just" defTabSz="914400" rtl="0" eaLnBrk="1" fontAlgn="base" latinLnBrk="0" hangingPunct="1">
              <a:lnSpc>
                <a:spcPct val="150000"/>
              </a:lnSpc>
              <a:spcBef>
                <a:spcPct val="20000"/>
              </a:spcBef>
              <a:spcAft>
                <a:spcPct val="0"/>
              </a:spcAft>
              <a:buClrTx/>
              <a:buSzTx/>
              <a:tabLst/>
              <a:defRPr/>
            </a:pPr>
            <a:endPar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50000"/>
              </a:lnSpc>
              <a:spcBef>
                <a:spcPct val="20000"/>
              </a:spcBef>
              <a:spcAft>
                <a:spcPct val="0"/>
              </a:spcAft>
              <a:buClrTx/>
              <a:buSzTx/>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ABSTRACTABILITY</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fontAlgn="t"/>
            <a:endParaRPr lang="en-US" sz="1600" b="1" dirty="0"/>
          </a:p>
          <a:p>
            <a:pPr fontAlgn="t"/>
            <a:r>
              <a:rPr lang="en-US" sz="1600" b="1" dirty="0"/>
              <a:t>Differences</a:t>
            </a:r>
            <a:endParaRPr lang="en-US" sz="1600" dirty="0"/>
          </a:p>
          <a:p>
            <a:pPr fontAlgn="t"/>
            <a:endParaRPr lang="en-IN" sz="1600" dirty="0"/>
          </a:p>
          <a:p>
            <a:pPr fontAlgn="t"/>
            <a:r>
              <a:rPr lang="en-IN" sz="1600" dirty="0"/>
              <a:t>Stone and Potato –</a:t>
            </a:r>
            <a:r>
              <a:rPr lang="en-PH" sz="1600" dirty="0"/>
              <a:t>”S</a:t>
            </a:r>
            <a:r>
              <a:rPr lang="en-US" sz="1600" dirty="0"/>
              <a:t>tone used for fighting, throwing; Potato</a:t>
            </a:r>
            <a:r>
              <a:rPr lang="en-PH" sz="1600" dirty="0"/>
              <a:t>, </a:t>
            </a:r>
            <a:r>
              <a:rPr lang="en-US" sz="1600" dirty="0"/>
              <a:t>we used for making curry</a:t>
            </a:r>
            <a:r>
              <a:rPr lang="en-PH" sz="1600" dirty="0"/>
              <a:t>”</a:t>
            </a:r>
            <a:endParaRPr lang="en-US" sz="1600" dirty="0"/>
          </a:p>
          <a:p>
            <a:pPr fontAlgn="t"/>
            <a:endParaRPr lang="en-US" sz="1600" dirty="0"/>
          </a:p>
          <a:p>
            <a:pPr fontAlgn="t"/>
            <a:r>
              <a:rPr lang="en-IN" sz="1600" dirty="0"/>
              <a:t>Fly and Butterfly – “</a:t>
            </a:r>
            <a:r>
              <a:rPr lang="en-PH" sz="1600" dirty="0"/>
              <a:t>F</a:t>
            </a:r>
            <a:r>
              <a:rPr lang="en-US" sz="1600" dirty="0" err="1"/>
              <a:t>ly</a:t>
            </a:r>
            <a:r>
              <a:rPr lang="en-US" sz="1600" dirty="0"/>
              <a:t> sits in dirty, butterfly sits in flower</a:t>
            </a:r>
            <a:r>
              <a:rPr lang="en-PH" sz="1600" dirty="0"/>
              <a:t> </a:t>
            </a:r>
            <a:r>
              <a:rPr lang="en-IN" sz="1600" dirty="0"/>
              <a:t>”</a:t>
            </a:r>
            <a:endParaRPr lang="en-US" sz="1600" dirty="0"/>
          </a:p>
          <a:p>
            <a:pPr fontAlgn="t"/>
            <a:endParaRPr lang="en-IN" sz="1600" dirty="0"/>
          </a:p>
          <a:p>
            <a:pPr fontAlgn="t"/>
            <a:r>
              <a:rPr lang="en-IN" sz="1600" dirty="0"/>
              <a:t>Cinema and Radio – “</a:t>
            </a:r>
            <a:r>
              <a:rPr lang="en-PH" sz="1600" dirty="0"/>
              <a:t> W</a:t>
            </a:r>
            <a:r>
              <a:rPr lang="en-US" sz="1600" dirty="0"/>
              <a:t>e can see and hear through TV, but radio we can only hear</a:t>
            </a:r>
            <a:r>
              <a:rPr lang="en-IN" sz="1600" dirty="0"/>
              <a:t>” </a:t>
            </a:r>
            <a:endParaRPr lang="en-US" sz="1600" dirty="0"/>
          </a:p>
          <a:p>
            <a:pPr fontAlgn="t"/>
            <a:endParaRPr lang="en-IN" sz="1600" dirty="0"/>
          </a:p>
          <a:p>
            <a:pPr fontAlgn="t"/>
            <a:r>
              <a:rPr lang="en-US" sz="1600" b="1" dirty="0"/>
              <a:t>Similarities</a:t>
            </a:r>
            <a:endParaRPr lang="en-US" sz="1600" dirty="0"/>
          </a:p>
          <a:p>
            <a:pPr fontAlgn="t"/>
            <a:endParaRPr lang="en-US" sz="1600" dirty="0"/>
          </a:p>
          <a:p>
            <a:pPr fontAlgn="t"/>
            <a:r>
              <a:rPr lang="en-US" sz="1600" dirty="0"/>
              <a:t>Orange and Banana  - “</a:t>
            </a:r>
            <a:r>
              <a:rPr lang="en-PH" sz="1600" dirty="0"/>
              <a:t>Both are fruits </a:t>
            </a:r>
            <a:r>
              <a:rPr lang="en-US" sz="1600" dirty="0"/>
              <a:t>”</a:t>
            </a:r>
          </a:p>
          <a:p>
            <a:pPr fontAlgn="t"/>
            <a:endParaRPr lang="en-US" sz="1600" dirty="0"/>
          </a:p>
          <a:p>
            <a:pPr fontAlgn="t"/>
            <a:r>
              <a:rPr lang="en-US" sz="1600" dirty="0"/>
              <a:t>Dog and Lion – “</a:t>
            </a:r>
            <a:r>
              <a:rPr lang="en-PH" sz="1600" dirty="0"/>
              <a:t>Animals </a:t>
            </a:r>
            <a:r>
              <a:rPr lang="en-US" sz="1600" dirty="0"/>
              <a:t>”</a:t>
            </a:r>
          </a:p>
          <a:p>
            <a:pPr fontAlgn="t"/>
            <a:endParaRPr lang="en-US" sz="1600" dirty="0"/>
          </a:p>
          <a:p>
            <a:pPr fontAlgn="t"/>
            <a:r>
              <a:rPr lang="en-US" sz="1600" dirty="0"/>
              <a:t>Eye and Ear – “</a:t>
            </a:r>
            <a:r>
              <a:rPr lang="en-PH" sz="1600" dirty="0"/>
              <a:t>Body </a:t>
            </a:r>
            <a:r>
              <a:rPr lang="en-US" sz="1600" dirty="0"/>
              <a:t>organs ”</a:t>
            </a:r>
          </a:p>
          <a:p>
            <a:pPr fontAlgn="t"/>
            <a:endParaRPr lang="en-IN" sz="1600" dirty="0"/>
          </a:p>
          <a:p>
            <a:pPr fontAlgn="t"/>
            <a:r>
              <a:rPr lang="en-US" sz="1600" b="1" dirty="0"/>
              <a:t>Proverb</a:t>
            </a:r>
            <a:endParaRPr lang="en-US" sz="1600" dirty="0"/>
          </a:p>
          <a:p>
            <a:pPr fontAlgn="t"/>
            <a:r>
              <a:rPr lang="en-IN" sz="1600" i="1" dirty="0">
                <a:latin typeface="Times New Roman" panose="02020603050405020304" pitchFamily="18" charset="0"/>
                <a:cs typeface="Times New Roman" panose="02020603050405020304" pitchFamily="18" charset="0"/>
              </a:rPr>
              <a:t>“</a:t>
            </a:r>
            <a:r>
              <a:rPr lang="en-IN" sz="1600" i="1" dirty="0" err="1">
                <a:latin typeface="Times New Roman" panose="02020603050405020304" pitchFamily="18" charset="0"/>
                <a:cs typeface="Times New Roman" panose="02020603050405020304" pitchFamily="18" charset="0"/>
              </a:rPr>
              <a:t>Jaise</a:t>
            </a:r>
            <a:r>
              <a:rPr lang="en-IN" sz="1600" i="1" dirty="0">
                <a:latin typeface="Times New Roman" panose="02020603050405020304" pitchFamily="18" charset="0"/>
                <a:cs typeface="Times New Roman" panose="02020603050405020304" pitchFamily="18" charset="0"/>
              </a:rPr>
              <a:t> </a:t>
            </a:r>
            <a:r>
              <a:rPr lang="en-IN" sz="1600" i="1" dirty="0" err="1">
                <a:latin typeface="Times New Roman" panose="02020603050405020304" pitchFamily="18" charset="0"/>
                <a:cs typeface="Times New Roman" panose="02020603050405020304" pitchFamily="18" charset="0"/>
              </a:rPr>
              <a:t>karni</a:t>
            </a:r>
            <a:r>
              <a:rPr lang="en-IN" sz="1600" i="1" dirty="0">
                <a:latin typeface="Times New Roman" panose="02020603050405020304" pitchFamily="18" charset="0"/>
                <a:cs typeface="Times New Roman" panose="02020603050405020304" pitchFamily="18" charset="0"/>
              </a:rPr>
              <a:t> </a:t>
            </a:r>
            <a:r>
              <a:rPr lang="en-IN" sz="1600" i="1" dirty="0" err="1">
                <a:latin typeface="Times New Roman" panose="02020603050405020304" pitchFamily="18" charset="0"/>
                <a:cs typeface="Times New Roman" panose="02020603050405020304" pitchFamily="18" charset="0"/>
              </a:rPr>
              <a:t>vaise</a:t>
            </a:r>
            <a:r>
              <a:rPr lang="en-IN" sz="1600" i="1" dirty="0">
                <a:latin typeface="Times New Roman" panose="02020603050405020304" pitchFamily="18" charset="0"/>
                <a:cs typeface="Times New Roman" panose="02020603050405020304" pitchFamily="18" charset="0"/>
              </a:rPr>
              <a:t> </a:t>
            </a:r>
            <a:r>
              <a:rPr lang="en-IN" sz="1600" i="1" dirty="0" err="1">
                <a:latin typeface="Times New Roman" panose="02020603050405020304" pitchFamily="18" charset="0"/>
                <a:cs typeface="Times New Roman" panose="02020603050405020304" pitchFamily="18" charset="0"/>
              </a:rPr>
              <a:t>bharni</a:t>
            </a:r>
            <a:r>
              <a:rPr lang="en-IN" sz="1600" i="1" dirty="0">
                <a:latin typeface="Times New Roman" panose="02020603050405020304" pitchFamily="18" charset="0"/>
                <a:cs typeface="Times New Roman" panose="02020603050405020304" pitchFamily="18" charset="0"/>
              </a:rPr>
              <a:t>” </a:t>
            </a:r>
          </a:p>
          <a:p>
            <a:pPr fontAlgn="t"/>
            <a:endParaRPr lang="en-IN" sz="1600" dirty="0">
              <a:latin typeface="Times New Roman" panose="02020603050405020304" pitchFamily="18" charset="0"/>
              <a:cs typeface="Times New Roman" panose="02020603050405020304" pitchFamily="18" charset="0"/>
            </a:endParaRPr>
          </a:p>
          <a:p>
            <a:pPr fontAlgn="t">
              <a:buFont typeface="Wingdings" pitchFamily="2" charset="2"/>
              <a:buChar char="§"/>
            </a:pPr>
            <a:r>
              <a:rPr lang="en-IN" dirty="0">
                <a:latin typeface="Times New Roman" panose="02020603050405020304" pitchFamily="18" charset="0"/>
                <a:cs typeface="Times New Roman" panose="02020603050405020304" pitchFamily="18" charset="0"/>
              </a:rPr>
              <a:t>The </a:t>
            </a:r>
            <a:r>
              <a:rPr kumimoji="0" lang="en-IN"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patient displayed a functional level of abstract thinking. </a:t>
            </a:r>
          </a:p>
          <a:p>
            <a:pPr marL="342900" marR="0" lvl="0" indent="-342900" algn="just" defTabSz="914400" rtl="0" eaLnBrk="1" fontAlgn="base" latinLnBrk="0" hangingPunct="1">
              <a:lnSpc>
                <a:spcPct val="150000"/>
              </a:lnSpc>
              <a:spcBef>
                <a:spcPct val="20000"/>
              </a:spcBef>
              <a:spcAft>
                <a:spcPct val="0"/>
              </a:spcAft>
              <a:buClrTx/>
              <a:buSzTx/>
              <a:tabLst/>
              <a:defRPr/>
            </a:pPr>
            <a:endPar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211" y="207753"/>
            <a:ext cx="11358114" cy="582613"/>
          </a:xfrm>
        </p:spPr>
        <p:txBody>
          <a:bodyPr/>
          <a:lstStyle/>
          <a:p>
            <a:br>
              <a:rPr lang="en-US" altLang="en-US" b="1" dirty="0">
                <a:solidFill>
                  <a:schemeClr val="accent5">
                    <a:lumMod val="75000"/>
                  </a:schemeClr>
                </a:solidFill>
                <a:latin typeface="Times New Roman" panose="02020603050405020304" pitchFamily="18" charset="0"/>
                <a:cs typeface="Times New Roman" panose="02020603050405020304" pitchFamily="18" charset="0"/>
              </a:rPr>
            </a:br>
            <a:r>
              <a:rPr lang="en-US" altLang="en-US" sz="2400" b="1" dirty="0">
                <a:latin typeface="Times New Roman" panose="02020603050405020304" pitchFamily="18" charset="0"/>
                <a:cs typeface="Times New Roman" panose="02020603050405020304" pitchFamily="18" charset="0"/>
              </a:rPr>
              <a:t>Mental Status Examination</a:t>
            </a:r>
            <a:br>
              <a:rPr lang="en-US" altLang="en-US" b="1" dirty="0">
                <a:solidFill>
                  <a:schemeClr val="accent5">
                    <a:lumMod val="75000"/>
                  </a:schemeClr>
                </a:solidFill>
                <a:latin typeface="Times New Roman" panose="02020603050405020304" pitchFamily="18" charset="0"/>
                <a:cs typeface="Times New Roman" panose="02020603050405020304" pitchFamily="18" charset="0"/>
              </a:rPr>
            </a:br>
            <a:endParaRPr lang="en-US" dirty="0"/>
          </a:p>
        </p:txBody>
      </p:sp>
      <p:sp>
        <p:nvSpPr>
          <p:cNvPr id="3" name="Slide Number Placeholder 2"/>
          <p:cNvSpPr>
            <a:spLocks noGrp="1"/>
          </p:cNvSpPr>
          <p:nvPr>
            <p:ph type="sldNum" sz="quarter" idx="12"/>
          </p:nvPr>
        </p:nvSpPr>
        <p:spPr/>
        <p:txBody>
          <a:bodyPr/>
          <a:lstStyle/>
          <a:p>
            <a:fld id="{B3561BA9-CDCF-4958-B8AB-66F3BF063E13}" type="slidenum">
              <a:rPr lang="en-US" smtClean="0"/>
              <a:pPr/>
              <a:t>20</a:t>
            </a:fld>
            <a:endParaRPr lang="en-US"/>
          </a:p>
        </p:txBody>
      </p:sp>
      <p:sp>
        <p:nvSpPr>
          <p:cNvPr id="4" name="Content Placeholder 2">
            <a:extLst>
              <a:ext uri="{FF2B5EF4-FFF2-40B4-BE49-F238E27FC236}">
                <a16:creationId xmlns:a16="http://schemas.microsoft.com/office/drawing/2014/main" id="{F78D3B8A-595D-F191-8021-C9BBDCAF8C18}"/>
              </a:ext>
            </a:extLst>
          </p:cNvPr>
          <p:cNvSpPr txBox="1">
            <a:spLocks/>
          </p:cNvSpPr>
          <p:nvPr/>
        </p:nvSpPr>
        <p:spPr>
          <a:xfrm>
            <a:off x="333040" y="699582"/>
            <a:ext cx="11476521" cy="5899626"/>
          </a:xfrm>
          <a:prstGeom prst="rect">
            <a:avLst/>
          </a:prstGeom>
        </p:spPr>
        <p:txBody>
          <a:bodyPr>
            <a:noAutofit/>
          </a:bodyPr>
          <a:lstStyle/>
          <a:p>
            <a:pPr marL="342900" marR="0" lvl="0" indent="-342900" algn="just" defTabSz="914400" rtl="0" eaLnBrk="1" fontAlgn="base" latinLnBrk="0" hangingPunct="1">
              <a:lnSpc>
                <a:spcPct val="150000"/>
              </a:lnSpc>
              <a:spcBef>
                <a:spcPct val="20000"/>
              </a:spcBef>
              <a:spcAft>
                <a:spcPct val="0"/>
              </a:spcAft>
              <a:buClrTx/>
              <a:buSzTx/>
              <a:tabLst/>
              <a:defRPr/>
            </a:pPr>
            <a:endPar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50000"/>
              </a:lnSpc>
              <a:spcBef>
                <a:spcPct val="20000"/>
              </a:spcBef>
              <a:spcAft>
                <a:spcPct val="0"/>
              </a:spcAft>
              <a:buClrTx/>
              <a:buSzTx/>
              <a:tabLst/>
              <a:defRPr/>
            </a:pPr>
            <a:endPar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50000"/>
              </a:lnSpc>
              <a:spcBef>
                <a:spcPct val="20000"/>
              </a:spcBef>
              <a:spcAft>
                <a:spcPct val="0"/>
              </a:spcAft>
              <a:buClrTx/>
              <a:buSzTx/>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GENERAL INTELLIGENCE</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Comprehension: </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She was fairly comprehending the questions and instructions delivered. She was able to understand whatever was being asked and was able to perform the three-command test.</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Arithmetic and calculations: </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when asked to solve 2000-7, the patient correctly answered 1993, indicating basic arithmetic functioning was intact.</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Impression:</a:t>
            </a:r>
            <a:r>
              <a:rPr kumimoji="0" lang="en-US"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The patient displayed an average level of intelligence as inferred from performance on comprehension, reasoning, and general knowledge tasks. Overall impression suggests that the patient is functioning at an average level intellectually.</a:t>
            </a: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endParaRPr kumimoji="0" lang="en-IN" sz="1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4850921" cy="582613"/>
          </a:xfrm>
        </p:spPr>
        <p:txBody>
          <a:bodyPr/>
          <a:lstStyle/>
          <a:p>
            <a:r>
              <a:rPr lang="en-US" altLang="en-US" sz="2400" b="1" dirty="0">
                <a:latin typeface="Times New Roman" panose="02020603050405020304" pitchFamily="18" charset="0"/>
                <a:cs typeface="Times New Roman" panose="02020603050405020304" pitchFamily="18" charset="0"/>
              </a:rPr>
              <a:t>Mental Status Examination</a:t>
            </a:r>
            <a:endParaRPr lang="en-US" sz="2400" dirty="0"/>
          </a:p>
        </p:txBody>
      </p:sp>
      <p:sp>
        <p:nvSpPr>
          <p:cNvPr id="3" name="Slide Number Placeholder 2"/>
          <p:cNvSpPr>
            <a:spLocks noGrp="1"/>
          </p:cNvSpPr>
          <p:nvPr>
            <p:ph type="sldNum" sz="quarter" idx="12"/>
          </p:nvPr>
        </p:nvSpPr>
        <p:spPr/>
        <p:txBody>
          <a:bodyPr/>
          <a:lstStyle/>
          <a:p>
            <a:fld id="{B3561BA9-CDCF-4958-B8AB-66F3BF063E13}" type="slidenum">
              <a:rPr lang="en-US" smtClean="0"/>
              <a:pPr/>
              <a:t>21</a:t>
            </a:fld>
            <a:endParaRPr lang="en-US"/>
          </a:p>
        </p:txBody>
      </p:sp>
      <p:sp>
        <p:nvSpPr>
          <p:cNvPr id="4" name="TextBox 3"/>
          <p:cNvSpPr txBox="1"/>
          <p:nvPr/>
        </p:nvSpPr>
        <p:spPr>
          <a:xfrm>
            <a:off x="415542" y="923025"/>
            <a:ext cx="10631805" cy="5779700"/>
          </a:xfrm>
          <a:prstGeom prst="rect">
            <a:avLst/>
          </a:prstGeom>
          <a:noFill/>
        </p:spPr>
        <p:txBody>
          <a:bodyPr wrap="square">
            <a:noAutofit/>
          </a:bodyPr>
          <a:lstStyle/>
          <a:p>
            <a:pPr>
              <a:lnSpc>
                <a:spcPct val="170000"/>
              </a:lnSpc>
            </a:pPr>
            <a:r>
              <a:rPr lang="en-US" altLang="en-US" b="1" dirty="0">
                <a:latin typeface="Times New Roman" panose="02020603050405020304" pitchFamily="18" charset="0"/>
                <a:cs typeface="Times New Roman" panose="02020603050405020304" pitchFamily="18" charset="0"/>
              </a:rPr>
              <a:t>Judgment:</a:t>
            </a:r>
            <a:endParaRPr lang="en-US" altLang="en-US" dirty="0">
              <a:latin typeface="Times New Roman" panose="02020603050405020304" pitchFamily="18" charset="0"/>
              <a:cs typeface="Times New Roman" panose="02020603050405020304" pitchFamily="18" charset="0"/>
            </a:endParaRPr>
          </a:p>
          <a:p>
            <a:pPr>
              <a:lnSpc>
                <a:spcPct val="170000"/>
              </a:lnSpc>
            </a:pPr>
            <a:r>
              <a:rPr lang="en-US" altLang="en-US" b="1" u="sng" dirty="0">
                <a:latin typeface="Times New Roman" panose="02020603050405020304" pitchFamily="18" charset="0"/>
                <a:cs typeface="Times New Roman" panose="02020603050405020304" pitchFamily="18" charset="0"/>
              </a:rPr>
              <a:t>Self</a:t>
            </a:r>
          </a:p>
          <a:p>
            <a:pPr>
              <a:lnSpc>
                <a:spcPct val="170000"/>
              </a:lnSpc>
            </a:pPr>
            <a:r>
              <a:rPr lang="en-US" altLang="en-US" dirty="0">
                <a:latin typeface="Times New Roman" panose="02020603050405020304" pitchFamily="18" charset="0"/>
                <a:cs typeface="Times New Roman" panose="02020603050405020304" pitchFamily="18" charset="0"/>
              </a:rPr>
              <a:t>Present: “</a:t>
            </a:r>
            <a:r>
              <a:rPr lang="en-PH" altLang="en-US" dirty="0">
                <a:latin typeface="Times New Roman" panose="02020603050405020304" pitchFamily="18" charset="0"/>
                <a:cs typeface="Times New Roman" panose="02020603050405020304" pitchFamily="18" charset="0"/>
              </a:rPr>
              <a:t>Wanted focus on my work</a:t>
            </a:r>
            <a:r>
              <a:rPr lang="en-US" altLang="en-US" dirty="0">
                <a:latin typeface="Times New Roman" panose="02020603050405020304" pitchFamily="18" charset="0"/>
                <a:cs typeface="Times New Roman" panose="02020603050405020304" pitchFamily="18" charset="0"/>
              </a:rPr>
              <a:t>”</a:t>
            </a:r>
          </a:p>
          <a:p>
            <a:pPr>
              <a:lnSpc>
                <a:spcPct val="170000"/>
              </a:lnSpc>
            </a:pPr>
            <a:r>
              <a:rPr lang="en-US" altLang="en-US" dirty="0">
                <a:latin typeface="Times New Roman" panose="02020603050405020304" pitchFamily="18" charset="0"/>
                <a:cs typeface="Times New Roman" panose="02020603050405020304" pitchFamily="18" charset="0"/>
              </a:rPr>
              <a:t>Future: “I wanted to give my son good treatment and make him perfect.”</a:t>
            </a:r>
          </a:p>
          <a:p>
            <a:pPr>
              <a:lnSpc>
                <a:spcPct val="170000"/>
              </a:lnSpc>
            </a:pPr>
            <a:r>
              <a:rPr lang="en-US" altLang="en-US" b="1" u="sng" dirty="0">
                <a:latin typeface="Times New Roman" panose="02020603050405020304" pitchFamily="18" charset="0"/>
                <a:cs typeface="Times New Roman" panose="02020603050405020304" pitchFamily="18" charset="0"/>
              </a:rPr>
              <a:t>Test</a:t>
            </a:r>
            <a:r>
              <a:rPr lang="en-PH" altLang="en-US" b="1" u="sng" dirty="0">
                <a:latin typeface="Times New Roman" panose="02020603050405020304" pitchFamily="18" charset="0"/>
                <a:cs typeface="Times New Roman" panose="02020603050405020304" pitchFamily="18" charset="0"/>
              </a:rPr>
              <a:t> </a:t>
            </a:r>
          </a:p>
          <a:p>
            <a:pPr>
              <a:lnSpc>
                <a:spcPct val="170000"/>
              </a:lnSpc>
            </a:pPr>
            <a:r>
              <a:rPr lang="en-US" altLang="en-US" dirty="0">
                <a:latin typeface="Times New Roman" panose="02020603050405020304" pitchFamily="18" charset="0"/>
                <a:cs typeface="Times New Roman" panose="02020603050405020304" pitchFamily="18" charset="0"/>
              </a:rPr>
              <a:t>Envelope:  “I will crush </a:t>
            </a:r>
            <a:r>
              <a:rPr lang="en-PH" altLang="en-US" dirty="0">
                <a:latin typeface="Times New Roman" panose="02020603050405020304" pitchFamily="18" charset="0"/>
                <a:cs typeface="Times New Roman" panose="02020603050405020304" pitchFamily="18" charset="0"/>
              </a:rPr>
              <a:t>it </a:t>
            </a:r>
            <a:r>
              <a:rPr lang="en-US" altLang="en-US" dirty="0">
                <a:latin typeface="Times New Roman" panose="02020603050405020304" pitchFamily="18" charset="0"/>
                <a:cs typeface="Times New Roman" panose="02020603050405020304" pitchFamily="18" charset="0"/>
              </a:rPr>
              <a:t>and throw away</a:t>
            </a:r>
            <a:r>
              <a:rPr lang="en-PH" altLang="en-US" dirty="0">
                <a:latin typeface="Times New Roman" panose="02020603050405020304" pitchFamily="18" charset="0"/>
                <a:cs typeface="Times New Roman" panose="02020603050405020304" pitchFamily="18" charset="0"/>
              </a:rPr>
              <a:t>, because I dont want to take risk </a:t>
            </a:r>
            <a:r>
              <a:rPr lang="en-US" altLang="en-US" dirty="0">
                <a:latin typeface="Times New Roman" panose="02020603050405020304" pitchFamily="18" charset="0"/>
                <a:cs typeface="Times New Roman" panose="02020603050405020304" pitchFamily="18" charset="0"/>
              </a:rPr>
              <a:t>”</a:t>
            </a:r>
          </a:p>
          <a:p>
            <a:pPr>
              <a:lnSpc>
                <a:spcPct val="170000"/>
              </a:lnSpc>
            </a:pPr>
            <a:r>
              <a:rPr lang="en-US" altLang="en-US" dirty="0">
                <a:latin typeface="Times New Roman" panose="02020603050405020304" pitchFamily="18" charset="0"/>
                <a:cs typeface="Times New Roman" panose="02020603050405020304" pitchFamily="18" charset="0"/>
              </a:rPr>
              <a:t>Fire:  “I will try to put off fire</a:t>
            </a:r>
            <a:r>
              <a:rPr lang="en-PH" altLang="en-US" dirty="0">
                <a:latin typeface="Times New Roman" panose="02020603050405020304" pitchFamily="18" charset="0"/>
                <a:cs typeface="Times New Roman" panose="02020603050405020304" pitchFamily="18" charset="0"/>
              </a:rPr>
              <a:t> and </a:t>
            </a:r>
            <a:r>
              <a:rPr lang="en-US" altLang="en-US" dirty="0">
                <a:latin typeface="Times New Roman" panose="02020603050405020304" pitchFamily="18" charset="0"/>
                <a:cs typeface="Times New Roman" panose="02020603050405020304" pitchFamily="18" charset="0"/>
              </a:rPr>
              <a:t> I will call neighbor</a:t>
            </a:r>
            <a:r>
              <a:rPr lang="en-PH" altLang="en-US" dirty="0">
                <a:latin typeface="Times New Roman" panose="02020603050405020304" pitchFamily="18" charset="0"/>
                <a:cs typeface="Times New Roman" panose="02020603050405020304" pitchFamily="18" charset="0"/>
              </a:rPr>
              <a:t>s for help</a:t>
            </a:r>
            <a:r>
              <a:rPr lang="en-US" altLang="en-US" dirty="0">
                <a:latin typeface="Times New Roman" panose="02020603050405020304" pitchFamily="18" charset="0"/>
                <a:cs typeface="Times New Roman" panose="02020603050405020304" pitchFamily="18" charset="0"/>
              </a:rPr>
              <a:t>. ” </a:t>
            </a:r>
          </a:p>
          <a:p>
            <a:pPr>
              <a:lnSpc>
                <a:spcPct val="170000"/>
              </a:lnSpc>
            </a:pPr>
            <a:r>
              <a:rPr lang="en-US" altLang="en-US" dirty="0">
                <a:latin typeface="Times New Roman" panose="02020603050405020304" pitchFamily="18" charset="0"/>
                <a:cs typeface="Times New Roman" panose="02020603050405020304" pitchFamily="18" charset="0"/>
              </a:rPr>
              <a:t>Guest: S</a:t>
            </a:r>
            <a:r>
              <a:rPr lang="en-IN" dirty="0">
                <a:latin typeface="Times New Roman" panose="02020603050405020304" pitchFamily="18" charset="0"/>
                <a:cs typeface="Times New Roman" panose="02020603050405020304" pitchFamily="18" charset="0"/>
              </a:rPr>
              <a:t>he stated that she would offer them water, and tea.</a:t>
            </a:r>
          </a:p>
          <a:p>
            <a:pPr>
              <a:lnSpc>
                <a:spcPct val="170000"/>
              </a:lnSpc>
              <a:buFont typeface="Arial" pitchFamily="34" charset="0"/>
              <a:buChar char="•"/>
            </a:pPr>
            <a:r>
              <a:rPr lang="en-IN" b="1" dirty="0">
                <a:latin typeface="Times New Roman" panose="02020603050405020304" pitchFamily="18" charset="0"/>
                <a:cs typeface="Times New Roman" panose="02020603050405020304" pitchFamily="18" charset="0"/>
              </a:rPr>
              <a:t>  These responses reflect adequate practical and social judgment</a:t>
            </a:r>
            <a:r>
              <a:rPr lang="en-IN" dirty="0">
                <a:latin typeface="Times New Roman" panose="02020603050405020304" pitchFamily="18" charset="0"/>
                <a:cs typeface="Times New Roman" panose="02020603050405020304" pitchFamily="18" charset="0"/>
              </a:rPr>
              <a:t>.</a:t>
            </a:r>
            <a:endParaRPr lang="en-US" altLang="en-US" b="1" dirty="0">
              <a:latin typeface="Times New Roman" panose="02020603050405020304" pitchFamily="18" charset="0"/>
              <a:cs typeface="Times New Roman" panose="02020603050405020304" pitchFamily="18" charset="0"/>
            </a:endParaRPr>
          </a:p>
          <a:p>
            <a:pPr>
              <a:lnSpc>
                <a:spcPct val="170000"/>
              </a:lnSpc>
            </a:pPr>
            <a:r>
              <a:rPr lang="en-US" altLang="en-US" b="1" dirty="0">
                <a:latin typeface="Times New Roman" panose="02020603050405020304" pitchFamily="18" charset="0"/>
                <a:cs typeface="Times New Roman" panose="02020603050405020304" pitchFamily="18" charset="0"/>
              </a:rPr>
              <a:t>Insight:</a:t>
            </a:r>
            <a:r>
              <a:rPr lang="en-US" altLang="en-US" dirty="0">
                <a:latin typeface="Times New Roman" panose="02020603050405020304" pitchFamily="18" charset="0"/>
                <a:cs typeface="Times New Roman" panose="02020603050405020304" pitchFamily="18" charset="0"/>
              </a:rPr>
              <a:t> Grade </a:t>
            </a:r>
            <a:r>
              <a:rPr lang="en-PH" altLang="en-US" dirty="0">
                <a:latin typeface="Times New Roman" panose="02020603050405020304" pitchFamily="18" charset="0"/>
                <a:cs typeface="Times New Roman" panose="02020603050405020304" pitchFamily="18" charset="0"/>
              </a:rPr>
              <a:t>III</a:t>
            </a:r>
          </a:p>
          <a:p>
            <a:pPr>
              <a:lnSpc>
                <a:spcPct val="170000"/>
              </a:lnSpc>
            </a:pPr>
            <a:r>
              <a:rPr lang="en-US" altLang="en-US" dirty="0">
                <a:latin typeface="Times New Roman" panose="02020603050405020304" pitchFamily="18" charset="0"/>
                <a:cs typeface="Times New Roman" panose="02020603050405020304" pitchFamily="18" charset="0"/>
              </a:rPr>
              <a:t>“I know I am ill, but thinking about my son I will become out of control</a:t>
            </a:r>
            <a:r>
              <a:rPr lang="en-PH" altLang="en-US" dirty="0">
                <a:latin typeface="Times New Roman" panose="02020603050405020304" pitchFamily="18" charset="0"/>
                <a:cs typeface="Times New Roman" panose="02020603050405020304" pitchFamily="18" charset="0"/>
              </a:rPr>
              <a:t> and I need treatment </a:t>
            </a:r>
            <a:r>
              <a:rPr lang="en-US" altLang="en-US" dirty="0">
                <a:latin typeface="Times New Roman" panose="02020603050405020304" pitchFamily="18" charset="0"/>
                <a:cs typeface="Times New Roman" panose="02020603050405020304" pitchFamily="18" charset="0"/>
              </a:rPr>
              <a:t>”</a:t>
            </a:r>
          </a:p>
          <a:p>
            <a:pPr>
              <a:lnSpc>
                <a:spcPct val="170000"/>
              </a:lnSpc>
            </a:pPr>
            <a:endParaRPr lang="en-IN" b="1" dirty="0">
              <a:latin typeface="Times New Roman" panose="02020603050405020304" pitchFamily="18" charset="0"/>
              <a:cs typeface="Times New Roman" panose="02020603050405020304" pitchFamily="18" charset="0"/>
            </a:endParaRPr>
          </a:p>
          <a:p>
            <a:pPr>
              <a:lnSpc>
                <a:spcPct val="170000"/>
              </a:lnSpc>
            </a:pPr>
            <a:r>
              <a:rPr lang="en-IN" b="1" dirty="0">
                <a:latin typeface="Times New Roman" panose="02020603050405020304" pitchFamily="18" charset="0"/>
                <a:cs typeface="Times New Roman" panose="02020603050405020304" pitchFamily="18" charset="0"/>
              </a:rPr>
              <a:t> </a:t>
            </a:r>
            <a:endParaRPr lang="en-US" alt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22"/>
          <p:cNvSpPr txBox="1"/>
          <p:nvPr/>
        </p:nvSpPr>
        <p:spPr>
          <a:xfrm>
            <a:off x="438946" y="539974"/>
            <a:ext cx="6083167" cy="568543"/>
          </a:xfrm>
          <a:prstGeom prst="rect">
            <a:avLst/>
          </a:prstGeom>
        </p:spPr>
        <p:txBody>
          <a:bodyPr vert="horz" lIns="91440" tIns="45720" rIns="914400" bIns="45720" rtlCol="0" anchor="b">
            <a:norm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2665" b="1" dirty="0">
                <a:solidFill>
                  <a:schemeClr val="tx1"/>
                </a:solidFill>
                <a:latin typeface="Times New Roman" panose="02020603050405020304" pitchFamily="18" charset="0"/>
                <a:cs typeface="Times New Roman" panose="02020603050405020304" pitchFamily="18" charset="0"/>
              </a:rPr>
              <a:t>Case Summary</a:t>
            </a:r>
          </a:p>
        </p:txBody>
      </p:sp>
      <p:sp>
        <p:nvSpPr>
          <p:cNvPr id="17" name="TextBox 16"/>
          <p:cNvSpPr txBox="1"/>
          <p:nvPr/>
        </p:nvSpPr>
        <p:spPr>
          <a:xfrm>
            <a:off x="387290" y="1505394"/>
            <a:ext cx="10941685" cy="4084524"/>
          </a:xfrm>
          <a:prstGeom prst="rect">
            <a:avLst/>
          </a:prstGeom>
          <a:noFill/>
        </p:spPr>
        <p:txBody>
          <a:bodyPr wrap="square">
            <a:noAutofit/>
          </a:bodyPr>
          <a:lstStyle/>
          <a:p>
            <a:pPr algn="just">
              <a:lnSpc>
                <a:spcPct val="150000"/>
              </a:lnSpc>
            </a:pPr>
            <a:r>
              <a:rPr lang="en-US" altLang="en-US" dirty="0">
                <a:latin typeface="Times New Roman" panose="02020603050405020304" pitchFamily="18" charset="0"/>
                <a:cs typeface="Times New Roman" panose="02020603050405020304" pitchFamily="18" charset="0"/>
              </a:rPr>
              <a:t>	Index patient A.B. 30 year-old female, married belongs to middle socio economic strata, came along with her mother and husband and presented with the chief complaints of excessive worries about future, breathing difficulties, increased heart rate, shivering in hands and legs, fear of hospital, travelling, driving and other situations since 4 years, verbal aggression towards husband since one year. </a:t>
            </a:r>
            <a:r>
              <a:rPr lang="en-US" spc="-10" dirty="0">
                <a:effectLst/>
                <a:latin typeface="Times New Roman" panose="02020603050405020304" pitchFamily="18" charset="0"/>
                <a:ea typeface="Times New Roman" panose="02020603050405020304" pitchFamily="18" charset="0"/>
                <a:cs typeface="Times New Roman" panose="02020603050405020304" pitchFamily="18" charset="0"/>
              </a:rPr>
              <a:t>On MSE, </a:t>
            </a:r>
            <a:r>
              <a:rPr lang="en-PH"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her mood was </a:t>
            </a:r>
            <a:r>
              <a:rPr lang="en-US"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anxious, memory was intact</a:t>
            </a:r>
            <a:r>
              <a:rPr lang="en-PH"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effectLst/>
                <a:latin typeface="Times New Roman" panose="02020603050405020304" pitchFamily="18" charset="0"/>
                <a:ea typeface="Times New Roman" panose="02020603050405020304" pitchFamily="18" charset="0"/>
                <a:cs typeface="Times New Roman" panose="02020603050405020304" pitchFamily="18" charset="0"/>
              </a:rPr>
              <a:t>disturbance was seen in thought, excessive worry was present in </a:t>
            </a:r>
            <a:r>
              <a:rPr lang="en-US" spc="-10">
                <a:effectLst/>
                <a:latin typeface="Times New Roman" panose="02020603050405020304" pitchFamily="18" charset="0"/>
                <a:ea typeface="Times New Roman" panose="02020603050405020304" pitchFamily="18" charset="0"/>
                <a:cs typeface="Times New Roman" panose="02020603050405020304" pitchFamily="18" charset="0"/>
              </a:rPr>
              <a:t>the thought content</a:t>
            </a:r>
            <a:r>
              <a:rPr lang="en-US"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PH"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Having </a:t>
            </a:r>
            <a:r>
              <a:rPr lang="en-US"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functional level</a:t>
            </a:r>
            <a:r>
              <a:rPr lang="en-PH"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 of thinking capacity, h</a:t>
            </a:r>
            <a:r>
              <a:rPr lang="en-US" spc="-10" dirty="0">
                <a:effectLst/>
                <a:latin typeface="Times New Roman" panose="02020603050405020304" pitchFamily="18" charset="0"/>
                <a:ea typeface="Times New Roman" panose="02020603050405020304" pitchFamily="18" charset="0"/>
                <a:cs typeface="Times New Roman" panose="02020603050405020304" pitchFamily="18" charset="0"/>
              </a:rPr>
              <a:t>er higher-order cognitive functions were intact</a:t>
            </a:r>
            <a:r>
              <a:rPr lang="en-PH"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 judgement was partially intact </a:t>
            </a:r>
            <a:r>
              <a:rPr lang="en-US"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PH"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with </a:t>
            </a:r>
            <a:r>
              <a:rPr lang="en-US" spc="-10" dirty="0">
                <a:effectLst/>
                <a:latin typeface="Times New Roman" panose="02020603050405020304" pitchFamily="18" charset="0"/>
                <a:ea typeface="Times New Roman" panose="02020603050405020304" pitchFamily="18" charset="0"/>
                <a:cs typeface="Times New Roman" panose="02020603050405020304" pitchFamily="18" charset="0"/>
              </a:rPr>
              <a:t>Insight Grade </a:t>
            </a:r>
            <a:r>
              <a:rPr lang="en-PH"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level </a:t>
            </a:r>
            <a:r>
              <a:rPr lang="en-US" spc="-10" dirty="0">
                <a:effectLst/>
                <a:latin typeface="Times New Roman" panose="02020603050405020304" pitchFamily="18" charset="0"/>
                <a:ea typeface="Times New Roman" panose="02020603050405020304" pitchFamily="18" charset="0"/>
                <a:cs typeface="Times New Roman" panose="02020603050405020304" pitchFamily="18" charset="0"/>
              </a:rPr>
              <a:t>III. </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698" y="509677"/>
            <a:ext cx="4229819" cy="582613"/>
          </a:xfrm>
        </p:spPr>
        <p:txBody>
          <a:bodyPr/>
          <a:lstStyle/>
          <a:p>
            <a:br>
              <a:rPr lang="en-US" altLang="en-US" b="1" dirty="0">
                <a:solidFill>
                  <a:schemeClr val="accent5">
                    <a:lumMod val="75000"/>
                  </a:schemeClr>
                </a:solidFill>
                <a:latin typeface="Times New Roman" panose="02020603050405020304" pitchFamily="18" charset="0"/>
                <a:cs typeface="Times New Roman" panose="02020603050405020304" pitchFamily="18" charset="0"/>
              </a:rPr>
            </a:br>
            <a:r>
              <a:rPr lang="en-US" altLang="en-US" sz="2400" b="1" dirty="0">
                <a:latin typeface="Times New Roman" panose="02020603050405020304" pitchFamily="18" charset="0"/>
                <a:cs typeface="Times New Roman" panose="02020603050405020304" pitchFamily="18" charset="0"/>
              </a:rPr>
              <a:t>Diagnostic Formulation</a:t>
            </a:r>
            <a:br>
              <a:rPr lang="en-US" altLang="en-US" b="1" dirty="0">
                <a:solidFill>
                  <a:schemeClr val="accent5">
                    <a:lumMod val="75000"/>
                  </a:schemeClr>
                </a:solidFill>
                <a:latin typeface="Times New Roman" panose="02020603050405020304" pitchFamily="18" charset="0"/>
                <a:cs typeface="Times New Roman" panose="02020603050405020304" pitchFamily="18" charset="0"/>
              </a:rPr>
            </a:br>
            <a:endParaRPr lang="en-US" dirty="0"/>
          </a:p>
        </p:txBody>
      </p:sp>
      <p:sp>
        <p:nvSpPr>
          <p:cNvPr id="3" name="Slide Number Placeholder 2"/>
          <p:cNvSpPr>
            <a:spLocks noGrp="1"/>
          </p:cNvSpPr>
          <p:nvPr>
            <p:ph type="sldNum" sz="quarter" idx="12"/>
          </p:nvPr>
        </p:nvSpPr>
        <p:spPr/>
        <p:txBody>
          <a:bodyPr/>
          <a:lstStyle/>
          <a:p>
            <a:fld id="{B3561BA9-CDCF-4958-B8AB-66F3BF063E13}" type="slidenum">
              <a:rPr lang="en-US" smtClean="0"/>
              <a:pPr/>
              <a:t>23</a:t>
            </a:fld>
            <a:endParaRPr lang="en-US"/>
          </a:p>
        </p:txBody>
      </p:sp>
      <p:sp>
        <p:nvSpPr>
          <p:cNvPr id="4" name="TextBox 3"/>
          <p:cNvSpPr txBox="1"/>
          <p:nvPr/>
        </p:nvSpPr>
        <p:spPr>
          <a:xfrm>
            <a:off x="387290" y="1505394"/>
            <a:ext cx="10941685" cy="4084524"/>
          </a:xfrm>
          <a:prstGeom prst="rect">
            <a:avLst/>
          </a:prstGeom>
          <a:noFill/>
        </p:spPr>
        <p:txBody>
          <a:bodyPr wrap="square">
            <a:noAutofit/>
          </a:bodyPr>
          <a:lstStyle/>
          <a:p>
            <a:pPr algn="just">
              <a:lnSpc>
                <a:spcPct val="150000"/>
              </a:lnSpc>
            </a:pPr>
            <a:r>
              <a:rPr lang="en-US" altLang="en-US" dirty="0">
                <a:latin typeface="Times New Roman" panose="02020603050405020304" pitchFamily="18" charset="0"/>
                <a:cs typeface="Times New Roman" panose="02020603050405020304" pitchFamily="18" charset="0"/>
              </a:rPr>
              <a:t>	Index patient A.B. 30 year-old female, married, belongs to middle socio economic strata, came along with her mother and husband and presented with the chief complaints of excessive worries about future, breathing difficulties, increased heart rate, shivering in hands and legs, fear of hospital, travelling, driving and other situations since 4 years, verbal aggression towards husband since one year. </a:t>
            </a:r>
            <a:r>
              <a:rPr lang="en-US" spc="-10" dirty="0">
                <a:latin typeface="Times New Roman" panose="02020603050405020304" pitchFamily="18" charset="0"/>
                <a:ea typeface="Times New Roman" panose="02020603050405020304" pitchFamily="18" charset="0"/>
                <a:cs typeface="Times New Roman" panose="02020603050405020304" pitchFamily="18" charset="0"/>
              </a:rPr>
              <a:t>The onset was insidious,</a:t>
            </a:r>
            <a:r>
              <a:rPr lang="en-PH" altLang="en-US" spc="-10" dirty="0">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latin typeface="Times New Roman" panose="02020603050405020304" pitchFamily="18" charset="0"/>
                <a:ea typeface="Times New Roman" panose="02020603050405020304" pitchFamily="18" charset="0"/>
                <a:cs typeface="Times New Roman" panose="02020603050405020304" pitchFamily="18" charset="0"/>
              </a:rPr>
              <a:t>course </a:t>
            </a:r>
            <a:r>
              <a:rPr lang="en-PH" altLang="en-US" spc="-10" dirty="0">
                <a:latin typeface="Times New Roman" panose="02020603050405020304" pitchFamily="18" charset="0"/>
                <a:ea typeface="Times New Roman" panose="02020603050405020304" pitchFamily="18" charset="0"/>
                <a:cs typeface="Times New Roman" panose="02020603050405020304" pitchFamily="18" charset="0"/>
              </a:rPr>
              <a:t>was fluctuating</a:t>
            </a:r>
            <a:r>
              <a:rPr lang="en-US" spc="-10" dirty="0">
                <a:latin typeface="Times New Roman" panose="02020603050405020304" pitchFamily="18" charset="0"/>
                <a:ea typeface="Times New Roman" panose="02020603050405020304" pitchFamily="18" charset="0"/>
                <a:cs typeface="Times New Roman" panose="02020603050405020304" pitchFamily="18" charset="0"/>
              </a:rPr>
              <a:t>, and progress </a:t>
            </a:r>
            <a:r>
              <a:rPr lang="en-PH" altLang="en-US" spc="-10" dirty="0">
                <a:latin typeface="Times New Roman" panose="02020603050405020304" pitchFamily="18" charset="0"/>
                <a:ea typeface="Times New Roman" panose="02020603050405020304" pitchFamily="18" charset="0"/>
                <a:cs typeface="Times New Roman" panose="02020603050405020304" pitchFamily="18" charset="0"/>
              </a:rPr>
              <a:t>was static</a:t>
            </a:r>
            <a:r>
              <a:rPr lang="en-US" spc="-10" dirty="0">
                <a:latin typeface="Times New Roman" panose="02020603050405020304" pitchFamily="18" charset="0"/>
                <a:ea typeface="Times New Roman" panose="02020603050405020304" pitchFamily="18" charset="0"/>
                <a:cs typeface="Times New Roman" panose="02020603050405020304" pitchFamily="18" charset="0"/>
              </a:rPr>
              <a:t>. The precipitating factor was her </a:t>
            </a:r>
            <a:r>
              <a:rPr lang="en-US" altLang="en-US" dirty="0">
                <a:latin typeface="Times New Roman" panose="02020603050405020304" pitchFamily="18" charset="0"/>
                <a:cs typeface="Times New Roman" panose="02020603050405020304" pitchFamily="18" charset="0"/>
              </a:rPr>
              <a:t>son was diagnosed with autism with severe heart problem</a:t>
            </a:r>
            <a:r>
              <a:rPr lang="en-US" altLang="en-US" b="1" dirty="0">
                <a:latin typeface="Times New Roman" panose="02020603050405020304" pitchFamily="18" charset="0"/>
                <a:cs typeface="Times New Roman" panose="02020603050405020304" pitchFamily="18" charset="0"/>
              </a:rPr>
              <a:t> </a:t>
            </a:r>
            <a:r>
              <a:rPr lang="en-PH" altLang="en-US" spc="-10" dirty="0">
                <a:latin typeface="Times New Roman" panose="02020603050405020304" pitchFamily="18" charset="0"/>
                <a:ea typeface="Times New Roman" panose="02020603050405020304" pitchFamily="18" charset="0"/>
                <a:cs typeface="Times New Roman" panose="02020603050405020304" pitchFamily="18" charset="0"/>
              </a:rPr>
              <a:t>and t</a:t>
            </a:r>
            <a:r>
              <a:rPr lang="en-US" spc="-10" dirty="0">
                <a:latin typeface="Times New Roman" panose="02020603050405020304" pitchFamily="18" charset="0"/>
                <a:ea typeface="Times New Roman" panose="02020603050405020304" pitchFamily="18" charset="0"/>
                <a:cs typeface="Times New Roman" panose="02020603050405020304" pitchFamily="18" charset="0"/>
              </a:rPr>
              <a:t>he perpetuating factor includes </a:t>
            </a:r>
            <a:r>
              <a:rPr lang="en-PH" altLang="en-US" spc="-10" dirty="0">
                <a:latin typeface="Times New Roman" panose="02020603050405020304" pitchFamily="18" charset="0"/>
                <a:ea typeface="Times New Roman" panose="02020603050405020304" pitchFamily="18" charset="0"/>
                <a:cs typeface="Times New Roman" panose="02020603050405020304" pitchFamily="18" charset="0"/>
              </a:rPr>
              <a:t>difficulties in managing child behavioural at home alone. </a:t>
            </a:r>
            <a:r>
              <a:rPr lang="en-US" spc="-10" dirty="0">
                <a:latin typeface="Times New Roman" panose="02020603050405020304" pitchFamily="18" charset="0"/>
                <a:ea typeface="Times New Roman" panose="02020603050405020304" pitchFamily="18" charset="0"/>
                <a:cs typeface="Times New Roman" panose="02020603050405020304" pitchFamily="18" charset="0"/>
              </a:rPr>
              <a:t>On </a:t>
            </a:r>
            <a:r>
              <a:rPr lang="en-US" spc="-10" dirty="0">
                <a:effectLst/>
                <a:latin typeface="Times New Roman" panose="02020603050405020304" pitchFamily="18" charset="0"/>
                <a:ea typeface="Times New Roman" panose="02020603050405020304" pitchFamily="18" charset="0"/>
                <a:cs typeface="Times New Roman" panose="02020603050405020304" pitchFamily="18" charset="0"/>
              </a:rPr>
              <a:t>MSE, </a:t>
            </a:r>
            <a:r>
              <a:rPr lang="en-PH"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her mood was </a:t>
            </a:r>
            <a:r>
              <a:rPr lang="en-US"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anxious, memory was intact</a:t>
            </a:r>
            <a:r>
              <a:rPr lang="en-PH"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effectLst/>
                <a:latin typeface="Times New Roman" panose="02020603050405020304" pitchFamily="18" charset="0"/>
                <a:ea typeface="Times New Roman" panose="02020603050405020304" pitchFamily="18" charset="0"/>
                <a:cs typeface="Times New Roman" panose="02020603050405020304" pitchFamily="18" charset="0"/>
              </a:rPr>
              <a:t>disturbance was seen in thought, excessive worry was present in the content. </a:t>
            </a:r>
            <a:r>
              <a:rPr lang="en-PH"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Having </a:t>
            </a:r>
            <a:r>
              <a:rPr lang="en-US"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functional level</a:t>
            </a:r>
            <a:r>
              <a:rPr lang="en-PH"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 of thinking capacity, h</a:t>
            </a:r>
            <a:r>
              <a:rPr lang="en-US" spc="-10" dirty="0">
                <a:effectLst/>
                <a:latin typeface="Times New Roman" panose="02020603050405020304" pitchFamily="18" charset="0"/>
                <a:ea typeface="Times New Roman" panose="02020603050405020304" pitchFamily="18" charset="0"/>
                <a:cs typeface="Times New Roman" panose="02020603050405020304" pitchFamily="18" charset="0"/>
              </a:rPr>
              <a:t>er higher-order cognitive functions were intact</a:t>
            </a:r>
            <a:r>
              <a:rPr lang="en-PH"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 judgement was partially intact </a:t>
            </a:r>
            <a:r>
              <a:rPr lang="en-US"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PH"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with </a:t>
            </a:r>
            <a:r>
              <a:rPr lang="en-US" spc="-10" dirty="0">
                <a:effectLst/>
                <a:latin typeface="Times New Roman" panose="02020603050405020304" pitchFamily="18" charset="0"/>
                <a:ea typeface="Times New Roman" panose="02020603050405020304" pitchFamily="18" charset="0"/>
                <a:cs typeface="Times New Roman" panose="02020603050405020304" pitchFamily="18" charset="0"/>
              </a:rPr>
              <a:t>Insight Grade </a:t>
            </a:r>
            <a:r>
              <a:rPr lang="en-PH" altLang="en-US" spc="-10" dirty="0">
                <a:effectLst/>
                <a:latin typeface="Times New Roman" panose="02020603050405020304" pitchFamily="18" charset="0"/>
                <a:ea typeface="Times New Roman" panose="02020603050405020304" pitchFamily="18" charset="0"/>
                <a:cs typeface="Times New Roman" panose="02020603050405020304" pitchFamily="18" charset="0"/>
              </a:rPr>
              <a:t>level </a:t>
            </a:r>
            <a:r>
              <a:rPr lang="en-US" spc="-10" dirty="0">
                <a:effectLst/>
                <a:latin typeface="Times New Roman" panose="02020603050405020304" pitchFamily="18" charset="0"/>
                <a:ea typeface="Times New Roman" panose="02020603050405020304" pitchFamily="18" charset="0"/>
                <a:cs typeface="Times New Roman" panose="02020603050405020304" pitchFamily="18" charset="0"/>
              </a:rPr>
              <a:t>III</a:t>
            </a:r>
            <a:r>
              <a:rPr lang="en-US" spc="-1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760" y="786765"/>
            <a:ext cx="10962640" cy="1020445"/>
          </a:xfrm>
        </p:spPr>
        <p:txBody>
          <a:bodyPr/>
          <a:lstStyle/>
          <a:p>
            <a:pPr marL="0" indent="0">
              <a:lnSpc>
                <a:spcPct val="160000"/>
              </a:lnSpc>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Provisional Diagnosis </a:t>
            </a:r>
            <a:br>
              <a:rPr lang="en-US" altLang="en-US" sz="2000" b="1" dirty="0">
                <a:solidFill>
                  <a:schemeClr val="accent5">
                    <a:lumMod val="75000"/>
                  </a:schemeClr>
                </a:solidFill>
                <a:latin typeface="Times New Roman" panose="02020603050405020304" pitchFamily="18" charset="0"/>
                <a:cs typeface="Times New Roman" panose="02020603050405020304" pitchFamily="18" charset="0"/>
              </a:rPr>
            </a:br>
            <a:r>
              <a:rPr lang="en-US" altLang="en-US" sz="1800" dirty="0">
                <a:solidFill>
                  <a:schemeClr val="tx1"/>
                </a:solidFill>
                <a:latin typeface="Times New Roman" panose="02020603050405020304" pitchFamily="18" charset="0"/>
                <a:cs typeface="Times New Roman" panose="02020603050405020304" pitchFamily="18" charset="0"/>
              </a:rPr>
              <a:t>F41.1 – Generalized anxiety disorder</a:t>
            </a:r>
          </a:p>
        </p:txBody>
      </p:sp>
      <p:sp>
        <p:nvSpPr>
          <p:cNvPr id="3" name="Slide Number Placeholder 2"/>
          <p:cNvSpPr>
            <a:spLocks noGrp="1"/>
          </p:cNvSpPr>
          <p:nvPr>
            <p:ph type="sldNum" sz="quarter" idx="12"/>
          </p:nvPr>
        </p:nvSpPr>
        <p:spPr/>
        <p:txBody>
          <a:bodyPr/>
          <a:lstStyle/>
          <a:p>
            <a:fld id="{B3561BA9-CDCF-4958-B8AB-66F3BF063E13}" type="slidenum">
              <a:rPr lang="en-US" smtClean="0"/>
              <a:pPr/>
              <a:t>24</a:t>
            </a:fld>
            <a:endParaRPr lang="en-US"/>
          </a:p>
        </p:txBody>
      </p:sp>
      <p:sp>
        <p:nvSpPr>
          <p:cNvPr id="4" name="Text Box 3"/>
          <p:cNvSpPr txBox="1"/>
          <p:nvPr/>
        </p:nvSpPr>
        <p:spPr>
          <a:xfrm>
            <a:off x="671830" y="2014220"/>
            <a:ext cx="10448290" cy="619760"/>
          </a:xfrm>
          <a:prstGeom prst="rect">
            <a:avLst/>
          </a:prstGeom>
          <a:noFill/>
        </p:spPr>
        <p:txBody>
          <a:bodyPr wrap="square" rtlCol="0" anchor="t">
            <a:noAutofit/>
          </a:bodyPr>
          <a:lstStyle/>
          <a:p>
            <a:r>
              <a:rPr lang="en-US" altLang="en-US" sz="2000" b="1" dirty="0">
                <a:latin typeface="Times New Roman" panose="02020603050405020304" pitchFamily="18" charset="0"/>
                <a:cs typeface="Times New Roman" panose="02020603050405020304" pitchFamily="18" charset="0"/>
              </a:rPr>
              <a:t>Points in favour of the diagnosis</a:t>
            </a:r>
          </a:p>
          <a:p>
            <a:endParaRPr lang="en-US" altLang="en-US" sz="2000" b="1" dirty="0">
              <a:solidFill>
                <a:schemeClr val="accent5">
                  <a:lumMod val="75000"/>
                </a:schemeClr>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PH" altLang="en-US" dirty="0">
                <a:solidFill>
                  <a:schemeClr val="tx1"/>
                </a:solidFill>
                <a:latin typeface="Times New Roman" panose="02020603050405020304" pitchFamily="18" charset="0"/>
                <a:cs typeface="Times New Roman" panose="02020603050405020304" pitchFamily="18" charset="0"/>
              </a:rPr>
              <a:t>Anxiety not restricted or strongly predominating in any particular environmental circumstances .</a:t>
            </a:r>
          </a:p>
          <a:p>
            <a:pPr marL="285750" indent="-285750">
              <a:lnSpc>
                <a:spcPct val="150000"/>
              </a:lnSpc>
              <a:buFont typeface="Arial" panose="020B0604020202020204" pitchFamily="34" charset="0"/>
              <a:buChar char="•"/>
            </a:pPr>
            <a:r>
              <a:rPr lang="en-PH" altLang="en-US" dirty="0">
                <a:solidFill>
                  <a:schemeClr val="tx1"/>
                </a:solidFill>
                <a:latin typeface="Times New Roman" panose="02020603050405020304" pitchFamily="18" charset="0"/>
                <a:cs typeface="Times New Roman" panose="02020603050405020304" pitchFamily="18" charset="0"/>
              </a:rPr>
              <a:t>Complaints of continuous feeling of nervousness, muscular tension, and increased palpitation are common.</a:t>
            </a:r>
          </a:p>
          <a:p>
            <a:pPr marL="285750" indent="-285750">
              <a:lnSpc>
                <a:spcPct val="150000"/>
              </a:lnSpc>
              <a:buFont typeface="Arial" panose="020B0604020202020204" pitchFamily="34" charset="0"/>
              <a:buChar char="•"/>
            </a:pPr>
            <a:r>
              <a:rPr lang="en-PH" altLang="en-US" dirty="0">
                <a:solidFill>
                  <a:schemeClr val="tx1"/>
                </a:solidFill>
                <a:latin typeface="Times New Roman" panose="02020603050405020304" pitchFamily="18" charset="0"/>
                <a:cs typeface="Times New Roman" panose="02020603050405020304" pitchFamily="18" charset="0"/>
              </a:rPr>
              <a:t>Symptoms last for several weeks to several months (Apprehension, Motor tension, Automatic overactivity).</a:t>
            </a:r>
          </a:p>
          <a:p>
            <a:pPr marL="285750" indent="-285750">
              <a:lnSpc>
                <a:spcPct val="150000"/>
              </a:lnSpc>
              <a:buFont typeface="Arial" panose="020B0604020202020204" pitchFamily="34" charset="0"/>
              <a:buChar char="•"/>
            </a:pPr>
            <a:r>
              <a:rPr lang="en-PH" altLang="en-US" dirty="0">
                <a:solidFill>
                  <a:schemeClr val="tx1"/>
                </a:solidFill>
                <a:latin typeface="Times New Roman" panose="02020603050405020304" pitchFamily="18" charset="0"/>
                <a:cs typeface="Times New Roman" panose="02020603050405020304" pitchFamily="18" charset="0"/>
              </a:rPr>
              <a:t>More common in women, and often related to chronic environmental stress.</a:t>
            </a:r>
          </a:p>
          <a:p>
            <a:pPr marL="285750" indent="-285750">
              <a:lnSpc>
                <a:spcPct val="150000"/>
              </a:lnSpc>
              <a:buFont typeface="Arial" panose="020B0604020202020204" pitchFamily="34" charset="0"/>
              <a:buChar char="•"/>
            </a:pPr>
            <a:r>
              <a:rPr lang="en-PH" altLang="en-US" dirty="0">
                <a:solidFill>
                  <a:schemeClr val="tx1"/>
                </a:solidFill>
                <a:latin typeface="Times New Roman" panose="02020603050405020304" pitchFamily="18" charset="0"/>
                <a:cs typeface="Times New Roman" panose="02020603050405020304" pitchFamily="18" charset="0"/>
              </a:rPr>
              <a:t>Course is variable but tend to be fluctuating and chronic. </a:t>
            </a:r>
          </a:p>
        </p:txBody>
      </p:sp>
      <p:sp>
        <p:nvSpPr>
          <p:cNvPr id="5" name="Rectangle 4"/>
          <p:cNvSpPr/>
          <p:nvPr/>
        </p:nvSpPr>
        <p:spPr bwMode="auto">
          <a:xfrm>
            <a:off x="621102" y="4865298"/>
            <a:ext cx="8790317" cy="1147313"/>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800" b="1" i="0" u="none" strike="noStrike" cap="none" normalizeH="0" baseline="0" dirty="0">
                <a:ln>
                  <a:noFill/>
                </a:ln>
                <a:solidFill>
                  <a:schemeClr val="tx1"/>
                </a:solidFill>
                <a:effectLst/>
                <a:latin typeface="Times New Roman" pitchFamily="18" charset="0"/>
                <a:ea typeface="SimSun" panose="02010600030101010101" pitchFamily="2" charset="-122"/>
                <a:cs typeface="Times New Roman" pitchFamily="18" charset="0"/>
              </a:rPr>
              <a:t>Differential Diagnosis</a:t>
            </a:r>
          </a:p>
          <a:p>
            <a:pPr marL="0" marR="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p>
            <a:pPr fontAlgn="base">
              <a:spcBef>
                <a:spcPct val="0"/>
              </a:spcBef>
              <a:spcAft>
                <a:spcPct val="0"/>
              </a:spcAft>
            </a:pPr>
            <a:r>
              <a:rPr lang="en-US" dirty="0">
                <a:latin typeface="Times New Roman" pitchFamily="18" charset="0"/>
                <a:cs typeface="Times New Roman" pitchFamily="18" charset="0"/>
              </a:rPr>
              <a:t>F41.2 Mixed anxiety and depressive disorder</a:t>
            </a:r>
            <a:endParaRPr kumimoji="0" lang="en-US" sz="1800" b="0" i="0" u="none" strike="noStrike" cap="none" normalizeH="0" baseline="0" dirty="0">
              <a:ln>
                <a:noFill/>
              </a:ln>
              <a:solidFill>
                <a:schemeClr val="tx1"/>
              </a:solidFill>
              <a:effectLst/>
              <a:latin typeface="Times New Roman" pitchFamily="18" charset="0"/>
              <a:ea typeface="SimSun" panose="02010600030101010101" pitchFamily="2" charset="-122"/>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735" y="127635"/>
            <a:ext cx="6399530" cy="561340"/>
          </a:xfrm>
        </p:spPr>
        <p:txBody>
          <a:bodyPr/>
          <a:lstStyle/>
          <a:p>
            <a:br>
              <a:rPr lang="en-US" altLang="en-US" dirty="0"/>
            </a:br>
            <a:r>
              <a:rPr lang="en-US" altLang="en-US" sz="2400" b="1" dirty="0">
                <a:latin typeface="Times New Roman" panose="02020603050405020304" pitchFamily="18" charset="0"/>
                <a:cs typeface="Times New Roman" panose="02020603050405020304" pitchFamily="18" charset="0"/>
              </a:rPr>
              <a:t>Assessments and Results</a:t>
            </a:r>
            <a:br>
              <a:rPr lang="en-US" altLang="en-US" sz="2400" b="1" dirty="0">
                <a:solidFill>
                  <a:schemeClr val="accent5">
                    <a:lumMod val="75000"/>
                  </a:schemeClr>
                </a:solidFill>
                <a:latin typeface="Times New Roman" panose="02020603050405020304" pitchFamily="18" charset="0"/>
                <a:cs typeface="Times New Roman" panose="02020603050405020304" pitchFamily="18" charset="0"/>
              </a:rPr>
            </a:br>
            <a:endParaRPr lang="en-US" altLang="en-US" sz="2400" b="1"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B3561BA9-CDCF-4958-B8AB-66F3BF063E13}" type="slidenum">
              <a:rPr lang="en-US" smtClean="0"/>
              <a:pPr/>
              <a:t>25</a:t>
            </a:fld>
            <a:endParaRPr lang="en-US"/>
          </a:p>
        </p:txBody>
      </p:sp>
      <p:sp>
        <p:nvSpPr>
          <p:cNvPr id="4" name="Text Box 3"/>
          <p:cNvSpPr txBox="1"/>
          <p:nvPr/>
        </p:nvSpPr>
        <p:spPr>
          <a:xfrm>
            <a:off x="448873" y="892163"/>
            <a:ext cx="10862310" cy="5464175"/>
          </a:xfrm>
          <a:prstGeom prst="rect">
            <a:avLst/>
          </a:prstGeom>
          <a:noFill/>
        </p:spPr>
        <p:txBody>
          <a:bodyPr wrap="square" rtlCol="0" anchor="t">
            <a:noAutofit/>
          </a:bodyPr>
          <a:lstStyle/>
          <a:p>
            <a:pPr algn="just">
              <a:lnSpc>
                <a:spcPct val="150000"/>
              </a:lnSpc>
            </a:pPr>
            <a:r>
              <a:rPr lang="en-US" altLang="en-US" sz="2400" b="1" dirty="0">
                <a:latin typeface="Times New Roman" panose="02020603050405020304" pitchFamily="18" charset="0"/>
                <a:cs typeface="Times New Roman" panose="02020603050405020304" pitchFamily="18" charset="0"/>
              </a:rPr>
              <a:t>The State-Trait Anxiety Inventory (STAI)</a:t>
            </a:r>
          </a:p>
          <a:p>
            <a:pPr algn="just">
              <a:lnSpc>
                <a:spcPct val="150000"/>
              </a:lnSpc>
            </a:pPr>
            <a:r>
              <a:rPr lang="en-US" altLang="en-US" dirty="0">
                <a:latin typeface="Times New Roman" panose="02020603050405020304" pitchFamily="18" charset="0"/>
                <a:cs typeface="Times New Roman" panose="02020603050405020304" pitchFamily="18" charset="0"/>
              </a:rPr>
              <a:t> 	</a:t>
            </a:r>
            <a:r>
              <a:rPr lang="en-PH" altLang="en-US" dirty="0">
                <a:latin typeface="Times New Roman" panose="02020603050405020304" pitchFamily="18" charset="0"/>
                <a:cs typeface="Times New Roman" panose="02020603050405020304" pitchFamily="18" charset="0"/>
              </a:rPr>
              <a:t>A</a:t>
            </a:r>
            <a:r>
              <a:rPr lang="en-US" altLang="en-US" dirty="0">
                <a:latin typeface="Times New Roman" panose="02020603050405020304" pitchFamily="18" charset="0"/>
                <a:cs typeface="Times New Roman" panose="02020603050405020304" pitchFamily="18" charset="0"/>
              </a:rPr>
              <a:t> commonly used </a:t>
            </a:r>
            <a:r>
              <a:rPr lang="en-PH" altLang="en-US" dirty="0">
                <a:latin typeface="Times New Roman" panose="02020603050405020304" pitchFamily="18" charset="0"/>
                <a:cs typeface="Times New Roman" panose="02020603050405020304" pitchFamily="18" charset="0"/>
              </a:rPr>
              <a:t>screening tool</a:t>
            </a:r>
            <a:r>
              <a:rPr lang="en-US" altLang="en-US" dirty="0">
                <a:latin typeface="Times New Roman" panose="02020603050405020304" pitchFamily="18" charset="0"/>
                <a:cs typeface="Times New Roman" panose="02020603050405020304" pitchFamily="18" charset="0"/>
              </a:rPr>
              <a:t> of trait and state anxiety </a:t>
            </a:r>
            <a:r>
              <a:rPr lang="en-PH" altLang="en-US" dirty="0">
                <a:latin typeface="Times New Roman" panose="02020603050405020304" pitchFamily="18" charset="0"/>
                <a:cs typeface="Times New Roman" panose="02020603050405020304" pitchFamily="18" charset="0"/>
              </a:rPr>
              <a:t>developed by </a:t>
            </a:r>
            <a:r>
              <a:rPr lang="en-US" altLang="en-US" dirty="0" err="1">
                <a:latin typeface="Times New Roman" panose="02020603050405020304" pitchFamily="18" charset="0"/>
                <a:cs typeface="Times New Roman" panose="02020603050405020304" pitchFamily="18" charset="0"/>
              </a:rPr>
              <a:t>Spielberger</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Gorsuch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Lushene</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Vagg</a:t>
            </a:r>
            <a:r>
              <a:rPr lang="en-US" altLang="en-US" dirty="0">
                <a:latin typeface="Times New Roman" panose="02020603050405020304" pitchFamily="18" charset="0"/>
                <a:cs typeface="Times New Roman" panose="02020603050405020304" pitchFamily="18" charset="0"/>
              </a:rPr>
              <a:t>, &amp; Jacobs, 1983.</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It can be used in clinical settings to diagnose anxiety and to distinguish it from depressive syndromes. It measures state anxiety </a:t>
            </a:r>
            <a:r>
              <a:rPr lang="en-PH" altLang="en-US" dirty="0">
                <a:latin typeface="Times New Roman" panose="02020603050405020304" pitchFamily="18" charset="0"/>
                <a:cs typeface="Times New Roman" panose="02020603050405020304" pitchFamily="18" charset="0"/>
              </a:rPr>
              <a:t>that means </a:t>
            </a:r>
            <a:r>
              <a:rPr lang="en-US" altLang="en-US" dirty="0">
                <a:latin typeface="Times New Roman" panose="02020603050405020304" pitchFamily="18" charset="0"/>
                <a:cs typeface="Times New Roman" panose="02020603050405020304" pitchFamily="18" charset="0"/>
              </a:rPr>
              <a:t> how anxious an individual currently feels and trait anxiety- how anxious an individual generally feels.</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The STAI consists of 40 items (20 for state and 20 for trait anxiety) and is valuable for both clinical assessment and research purposes, providing a comprehensive understanding of an individual’s anxiety patterns over time.</a:t>
            </a:r>
          </a:p>
          <a:p>
            <a:pPr algn="just">
              <a:lnSpc>
                <a:spcPct val="150000"/>
              </a:lnSpc>
            </a:pPr>
            <a:r>
              <a:rPr lang="en-PH" altLang="en-US" b="1" dirty="0">
                <a:latin typeface="Times New Roman" panose="02020603050405020304" pitchFamily="18" charset="0"/>
                <a:cs typeface="Times New Roman" panose="02020603050405020304" pitchFamily="18" charset="0"/>
              </a:rPr>
              <a:t>Results : </a:t>
            </a:r>
            <a:r>
              <a:rPr lang="en-PH" altLang="en-US" dirty="0">
                <a:latin typeface="Times New Roman" panose="02020603050405020304" pitchFamily="18" charset="0"/>
                <a:cs typeface="Times New Roman" panose="02020603050405020304" pitchFamily="18" charset="0"/>
              </a:rPr>
              <a:t>State anxiety score:36</a:t>
            </a:r>
          </a:p>
          <a:p>
            <a:pPr algn="just">
              <a:lnSpc>
                <a:spcPct val="150000"/>
              </a:lnSpc>
            </a:pPr>
            <a:r>
              <a:rPr lang="en-PH" altLang="en-US" dirty="0">
                <a:latin typeface="Times New Roman" panose="02020603050405020304" pitchFamily="18" charset="0"/>
                <a:cs typeface="Times New Roman" panose="02020603050405020304" pitchFamily="18" charset="0"/>
              </a:rPr>
              <a:t>                Trait anxiety score:54</a:t>
            </a:r>
          </a:p>
          <a:p>
            <a:pPr algn="just">
              <a:lnSpc>
                <a:spcPct val="150000"/>
              </a:lnSpc>
            </a:pPr>
            <a:r>
              <a:rPr lang="en-US" altLang="en-US" dirty="0">
                <a:latin typeface="Times New Roman" panose="02020603050405020304" pitchFamily="18" charset="0"/>
                <a:cs typeface="Times New Roman" panose="02020603050405020304" pitchFamily="18" charset="0"/>
              </a:rPr>
              <a:t>	A score of 3</a:t>
            </a:r>
            <a:r>
              <a:rPr lang="en-PH" altLang="en-US" dirty="0">
                <a:latin typeface="Times New Roman" panose="02020603050405020304" pitchFamily="18" charset="0"/>
                <a:cs typeface="Times New Roman" panose="02020603050405020304" pitchFamily="18" charset="0"/>
              </a:rPr>
              <a:t>6</a:t>
            </a:r>
            <a:r>
              <a:rPr lang="en-US" altLang="en-US" dirty="0">
                <a:latin typeface="Times New Roman" panose="02020603050405020304" pitchFamily="18" charset="0"/>
                <a:cs typeface="Times New Roman" panose="02020603050405020304" pitchFamily="18" charset="0"/>
              </a:rPr>
              <a:t> on state anxiety indicates the absence of significant state anxiety. On the other hand, a score of </a:t>
            </a:r>
            <a:r>
              <a:rPr lang="en-PH" altLang="en-US" dirty="0">
                <a:latin typeface="Times New Roman" panose="02020603050405020304" pitchFamily="18" charset="0"/>
                <a:cs typeface="Times New Roman" panose="02020603050405020304" pitchFamily="18" charset="0"/>
              </a:rPr>
              <a:t>54</a:t>
            </a:r>
            <a:r>
              <a:rPr lang="en-US" altLang="en-US" dirty="0">
                <a:latin typeface="Times New Roman" panose="02020603050405020304" pitchFamily="18" charset="0"/>
                <a:cs typeface="Times New Roman" panose="02020603050405020304" pitchFamily="18" charset="0"/>
              </a:rPr>
              <a:t> on trait anxiety indicates the presence of high trait anxiety. The most prominent symptoms were difficulty in being cool and calm, finding herself inadequate and lacking confidence. </a:t>
            </a:r>
          </a:p>
          <a:p>
            <a:pPr algn="just">
              <a:lnSpc>
                <a:spcPct val="150000"/>
              </a:lnSpc>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735" y="127635"/>
            <a:ext cx="6399530" cy="561340"/>
          </a:xfrm>
        </p:spPr>
        <p:txBody>
          <a:bodyPr/>
          <a:lstStyle/>
          <a:p>
            <a:br>
              <a:rPr lang="en-US" altLang="en-US" dirty="0"/>
            </a:br>
            <a:r>
              <a:rPr lang="en-US" altLang="en-US" sz="2400" b="1" dirty="0">
                <a:latin typeface="Times New Roman" panose="02020603050405020304" pitchFamily="18" charset="0"/>
                <a:cs typeface="Times New Roman" panose="02020603050405020304" pitchFamily="18" charset="0"/>
              </a:rPr>
              <a:t>Assessments and Results</a:t>
            </a:r>
            <a:br>
              <a:rPr lang="en-US" altLang="en-US" sz="2400" b="1" dirty="0">
                <a:solidFill>
                  <a:schemeClr val="accent5">
                    <a:lumMod val="75000"/>
                  </a:schemeClr>
                </a:solidFill>
                <a:latin typeface="Times New Roman" panose="02020603050405020304" pitchFamily="18" charset="0"/>
                <a:cs typeface="Times New Roman" panose="02020603050405020304" pitchFamily="18" charset="0"/>
              </a:rPr>
            </a:br>
            <a:endParaRPr lang="en-US" altLang="en-US" sz="2400" b="1"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B3561BA9-CDCF-4958-B8AB-66F3BF063E13}" type="slidenum">
              <a:rPr lang="en-US" smtClean="0"/>
              <a:pPr/>
              <a:t>26</a:t>
            </a:fld>
            <a:endParaRPr lang="en-US"/>
          </a:p>
        </p:txBody>
      </p:sp>
      <p:sp>
        <p:nvSpPr>
          <p:cNvPr id="4" name="Text Box 3"/>
          <p:cNvSpPr txBox="1"/>
          <p:nvPr/>
        </p:nvSpPr>
        <p:spPr>
          <a:xfrm>
            <a:off x="165196" y="770135"/>
            <a:ext cx="11479530" cy="5777314"/>
          </a:xfrm>
          <a:prstGeom prst="rect">
            <a:avLst/>
          </a:prstGeom>
          <a:noFill/>
        </p:spPr>
        <p:txBody>
          <a:bodyPr wrap="square" rtlCol="0" anchor="t">
            <a:noAutofit/>
          </a:bodyPr>
          <a:lstStyle/>
          <a:p>
            <a:pPr algn="just">
              <a:lnSpc>
                <a:spcPct val="150000"/>
              </a:lnSpc>
            </a:pPr>
            <a:r>
              <a:rPr lang="en-US" altLang="en-US" sz="2400" b="1" dirty="0">
                <a:latin typeface="Times New Roman" panose="02020603050405020304" pitchFamily="18" charset="0"/>
                <a:cs typeface="Times New Roman" panose="02020603050405020304" pitchFamily="18" charset="0"/>
              </a:rPr>
              <a:t>Beck- Anxiety Inventory </a:t>
            </a:r>
          </a:p>
          <a:p>
            <a:pPr algn="just">
              <a:lnSpc>
                <a:spcPct val="150000"/>
              </a:lnSpc>
            </a:pPr>
            <a:r>
              <a:rPr lang="en-US" altLang="en-US" dirty="0">
                <a:latin typeface="Times New Roman" panose="02020603050405020304" pitchFamily="18" charset="0"/>
                <a:cs typeface="Times New Roman" panose="02020603050405020304" pitchFamily="18" charset="0"/>
              </a:rPr>
              <a:t>	The Beck Anxiety Inventory (BAI) is a widely </a:t>
            </a:r>
            <a:r>
              <a:rPr lang="en-US" altLang="en-US" dirty="0" err="1">
                <a:latin typeface="Times New Roman" panose="02020603050405020304" pitchFamily="18" charset="0"/>
                <a:cs typeface="Times New Roman" panose="02020603050405020304" pitchFamily="18" charset="0"/>
              </a:rPr>
              <a:t>utilised</a:t>
            </a:r>
            <a:r>
              <a:rPr lang="en-US" altLang="en-US" dirty="0">
                <a:latin typeface="Times New Roman" panose="02020603050405020304" pitchFamily="18" charset="0"/>
                <a:cs typeface="Times New Roman" panose="02020603050405020304" pitchFamily="18" charset="0"/>
              </a:rPr>
              <a:t> self-report questionnaire designed to assess the severity of anxiety symptoms. This inventory is particularly useful for professionals in monitoring anxiety levels over time, evaluating the effectiveness of treatments, and differentiating anxiety from depressive disorders.</a:t>
            </a:r>
          </a:p>
          <a:p>
            <a:pPr algn="just">
              <a:lnSpc>
                <a:spcPct val="150000"/>
              </a:lnSpc>
            </a:pPr>
            <a:r>
              <a:rPr lang="en-US" altLang="en-US" b="1" dirty="0">
                <a:latin typeface="Times New Roman" panose="02020603050405020304" pitchFamily="18" charset="0"/>
                <a:cs typeface="Times New Roman" panose="02020603050405020304" pitchFamily="18" charset="0"/>
              </a:rPr>
              <a:t>Results : BAI</a:t>
            </a:r>
            <a:r>
              <a:rPr lang="en-US" altLang="en-US" dirty="0">
                <a:latin typeface="Times New Roman" panose="02020603050405020304" pitchFamily="18" charset="0"/>
                <a:cs typeface="Times New Roman" panose="02020603050405020304" pitchFamily="18" charset="0"/>
              </a:rPr>
              <a:t> score- 28 indicates moderate level of anxiety.</a:t>
            </a:r>
          </a:p>
          <a:p>
            <a:pPr algn="just">
              <a:lnSpc>
                <a:spcPct val="150000"/>
              </a:lnSpc>
            </a:pPr>
            <a:r>
              <a:rPr lang="en-PH" altLang="en-US" sz="2400" b="1" dirty="0">
                <a:latin typeface="Times New Roman" panose="02020603050405020304" pitchFamily="18" charset="0"/>
                <a:cs typeface="Times New Roman" panose="02020603050405020304" pitchFamily="18" charset="0"/>
              </a:rPr>
              <a:t>Generalized Anxiety Disorder 7 -item (GAD-7) scale </a:t>
            </a:r>
            <a:endParaRPr lang="en-US" altLang="en-US" sz="2400" b="1" dirty="0">
              <a:latin typeface="Times New Roman" panose="02020603050405020304" pitchFamily="18" charset="0"/>
              <a:cs typeface="Times New Roman" panose="02020603050405020304" pitchFamily="18" charset="0"/>
            </a:endParaRPr>
          </a:p>
          <a:p>
            <a:pPr algn="just">
              <a:lnSpc>
                <a:spcPct val="150000"/>
              </a:lnSpc>
            </a:pPr>
            <a:r>
              <a:rPr lang="en-US" altLang="en-US" dirty="0">
                <a:latin typeface="Times New Roman" panose="02020603050405020304" pitchFamily="18" charset="0"/>
                <a:cs typeface="Times New Roman" panose="02020603050405020304" pitchFamily="18" charset="0"/>
              </a:rPr>
              <a:t>	The GAD-7 (Generalized Anxiety Disorder–7) was developed by Dr. Robert L. Spitzer, Dr. Janet B. W. Williams, Dr. Kurt </a:t>
            </a:r>
            <a:r>
              <a:rPr lang="en-US" altLang="en-US" dirty="0" err="1">
                <a:latin typeface="Times New Roman" panose="02020603050405020304" pitchFamily="18" charset="0"/>
                <a:cs typeface="Times New Roman" panose="02020603050405020304" pitchFamily="18" charset="0"/>
              </a:rPr>
              <a:t>Kroenke</a:t>
            </a:r>
            <a:r>
              <a:rPr lang="en-US" altLang="en-US" dirty="0">
                <a:latin typeface="Times New Roman" panose="02020603050405020304" pitchFamily="18" charset="0"/>
                <a:cs typeface="Times New Roman" panose="02020603050405020304" pitchFamily="18" charset="0"/>
              </a:rPr>
              <a:t>, and colleagues in 2006. It is a brief, 7-item questionnaire designed to screen </a:t>
            </a:r>
            <a:r>
              <a:rPr lang="en-PH" altLang="en-US" dirty="0">
                <a:latin typeface="Times New Roman" panose="02020603050405020304" pitchFamily="18" charset="0"/>
                <a:cs typeface="Times New Roman" panose="02020603050405020304" pitchFamily="18" charset="0"/>
              </a:rPr>
              <a:t>only the </a:t>
            </a:r>
            <a:r>
              <a:rPr lang="en-US" altLang="en-US" dirty="0">
                <a:latin typeface="Times New Roman" panose="02020603050405020304" pitchFamily="18" charset="0"/>
                <a:cs typeface="Times New Roman" panose="02020603050405020304" pitchFamily="18" charset="0"/>
              </a:rPr>
              <a:t> severity of generalized anxiety disorder (GAD) symptoms. The scale focuses on worry, nervousness, restlessness, and difficulty relaxing experienced over the past two weeks. Each item is rated from 0 (not at all) to 3 (nearly every day), yielding a total score between 0 and 21, with higher scores indicating greater anxiety severity. Scores of around 5 suggest mild anxiety, 10 indicate moderate anxiety, and 15 or more reflect severe anxiety levels.</a:t>
            </a:r>
            <a:endParaRPr lang="en-PH" altLang="en-US" dirty="0">
              <a:latin typeface="Times New Roman" panose="02020603050405020304" pitchFamily="18" charset="0"/>
              <a:cs typeface="Times New Roman" panose="02020603050405020304" pitchFamily="18" charset="0"/>
            </a:endParaRPr>
          </a:p>
          <a:p>
            <a:pPr algn="just">
              <a:lnSpc>
                <a:spcPct val="150000"/>
              </a:lnSpc>
            </a:pPr>
            <a:r>
              <a:rPr lang="en-PH" altLang="en-US" b="1" dirty="0">
                <a:latin typeface="Times New Roman" panose="02020603050405020304" pitchFamily="18" charset="0"/>
                <a:cs typeface="Times New Roman" panose="02020603050405020304" pitchFamily="18" charset="0"/>
              </a:rPr>
              <a:t>Results : GAD -7 </a:t>
            </a:r>
            <a:r>
              <a:rPr lang="en-PH" altLang="en-US" dirty="0">
                <a:latin typeface="Times New Roman" panose="02020603050405020304" pitchFamily="18" charset="0"/>
                <a:cs typeface="Times New Roman" panose="02020603050405020304" pitchFamily="18" charset="0"/>
              </a:rPr>
              <a:t>score- 16 indicates moderate to severe level of </a:t>
            </a:r>
            <a:r>
              <a:rPr lang="en-US" altLang="en-US" dirty="0">
                <a:latin typeface="Times New Roman" panose="02020603050405020304" pitchFamily="18" charset="0"/>
                <a:cs typeface="Times New Roman" panose="02020603050405020304" pitchFamily="18" charset="0"/>
              </a:rPr>
              <a:t>Generalized</a:t>
            </a:r>
            <a:r>
              <a:rPr lang="en-PH" altLang="en-US" dirty="0">
                <a:latin typeface="Times New Roman" panose="02020603050405020304" pitchFamily="18" charset="0"/>
                <a:cs typeface="Times New Roman" panose="02020603050405020304" pitchFamily="18" charset="0"/>
              </a:rPr>
              <a:t>  anxiety.</a:t>
            </a:r>
            <a:endParaRPr lang="en-US" altLang="en-US" dirty="0">
              <a:latin typeface="Times New Roman" panose="02020603050405020304" pitchFamily="18" charset="0"/>
              <a:cs typeface="Times New Roman" panose="02020603050405020304" pitchFamily="18" charset="0"/>
            </a:endParaRPr>
          </a:p>
          <a:p>
            <a:pPr algn="just">
              <a:lnSpc>
                <a:spcPct val="150000"/>
              </a:lnSpc>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1578" y="3321889"/>
            <a:ext cx="10972800" cy="582613"/>
          </a:xfrm>
        </p:spPr>
        <p:txBody>
          <a:bodyPr/>
          <a:lstStyle/>
          <a:p>
            <a:r>
              <a:rPr lang="en-US" sz="2400" b="1" dirty="0">
                <a:latin typeface="Times New Roman" pitchFamily="18" charset="0"/>
                <a:cs typeface="Times New Roman" pitchFamily="18" charset="0"/>
              </a:rPr>
              <a:t>Rorschach Inkblot Test (ROR)</a:t>
            </a:r>
            <a:endParaRPr lang="en-US" sz="2400"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B3561BA9-CDCF-4958-B8AB-66F3BF063E13}" type="slidenum">
              <a:rPr lang="en-US" smtClean="0"/>
              <a:pPr/>
              <a:t>27</a:t>
            </a:fld>
            <a:endParaRPr lang="en-US"/>
          </a:p>
        </p:txBody>
      </p:sp>
      <p:sp>
        <p:nvSpPr>
          <p:cNvPr id="5" name="Rectangle 4"/>
          <p:cNvSpPr/>
          <p:nvPr/>
        </p:nvSpPr>
        <p:spPr>
          <a:xfrm>
            <a:off x="370936" y="3893742"/>
            <a:ext cx="10601864" cy="2169825"/>
          </a:xfrm>
          <a:prstGeom prst="rect">
            <a:avLst/>
          </a:prstGeom>
        </p:spPr>
        <p:txBody>
          <a:bodyPr wrap="square">
            <a:spAutoFit/>
          </a:bodyPr>
          <a:lstStyle/>
          <a:p>
            <a:pPr algn="just">
              <a:lnSpc>
                <a:spcPct val="150000"/>
              </a:lnSpc>
            </a:pPr>
            <a:r>
              <a:rPr lang="en-US" dirty="0">
                <a:latin typeface="Times New Roman" pitchFamily="18" charset="0"/>
                <a:cs typeface="Times New Roman" pitchFamily="18" charset="0"/>
              </a:rPr>
              <a:t>	The Rorschach findings suggest generally adequate basic coping resources but vulnerability to stress, with some difficulty in conventional cognitive mediation and a tendency toward subjective interpretation of environmental information. The patient also appears self-focused and somewhat cautious/guarded in interpersonal situations, while ideation remains generally organized without strong evidence of gross thought disorder.</a:t>
            </a:r>
          </a:p>
        </p:txBody>
      </p:sp>
      <p:sp>
        <p:nvSpPr>
          <p:cNvPr id="6" name="Rectangle 5"/>
          <p:cNvSpPr/>
          <p:nvPr/>
        </p:nvSpPr>
        <p:spPr>
          <a:xfrm>
            <a:off x="483079" y="1361868"/>
            <a:ext cx="10256808" cy="1754326"/>
          </a:xfrm>
          <a:prstGeom prst="rect">
            <a:avLst/>
          </a:prstGeom>
        </p:spPr>
        <p:txBody>
          <a:bodyPr wrap="square">
            <a:spAutoFit/>
          </a:bodyPr>
          <a:lstStyle/>
          <a:p>
            <a:pPr algn="just">
              <a:lnSpc>
                <a:spcPct val="150000"/>
              </a:lnSpc>
            </a:pPr>
            <a:r>
              <a:rPr lang="en-US" dirty="0">
                <a:latin typeface="Times New Roman" pitchFamily="18" charset="0"/>
                <a:cs typeface="Times New Roman" pitchFamily="18" charset="0"/>
              </a:rPr>
              <a:t>	The patient’s HAM-D score of 10 indicates mild depressive symptoms. The symptom profile is characterized predominantly by marked psychic anxiety, reduction in work and activities and moderate somatic anxiety. Mild weight loss is also present. There is no evidence of significant psychomotor retardation, agitation, and </a:t>
            </a:r>
            <a:r>
              <a:rPr lang="en-US" dirty="0" err="1">
                <a:latin typeface="Times New Roman" pitchFamily="18" charset="0"/>
                <a:cs typeface="Times New Roman" pitchFamily="18" charset="0"/>
              </a:rPr>
              <a:t>hypochondriacal</a:t>
            </a:r>
            <a:r>
              <a:rPr lang="en-US" dirty="0">
                <a:latin typeface="Times New Roman" pitchFamily="18" charset="0"/>
                <a:cs typeface="Times New Roman" pitchFamily="18" charset="0"/>
              </a:rPr>
              <a:t> preoccupation.</a:t>
            </a:r>
          </a:p>
        </p:txBody>
      </p:sp>
      <p:sp>
        <p:nvSpPr>
          <p:cNvPr id="7" name="Rectangle 6"/>
          <p:cNvSpPr/>
          <p:nvPr/>
        </p:nvSpPr>
        <p:spPr>
          <a:xfrm>
            <a:off x="488531" y="915203"/>
            <a:ext cx="5821658" cy="461665"/>
          </a:xfrm>
          <a:prstGeom prst="rect">
            <a:avLst/>
          </a:prstGeom>
        </p:spPr>
        <p:txBody>
          <a:bodyPr wrap="none">
            <a:spAutoFit/>
          </a:bodyPr>
          <a:lstStyle/>
          <a:p>
            <a:r>
              <a:rPr lang="en-US" sz="2400" b="1" dirty="0">
                <a:latin typeface="Times New Roman" pitchFamily="18" charset="0"/>
                <a:cs typeface="Times New Roman" pitchFamily="18" charset="0"/>
              </a:rPr>
              <a:t>Hamilton Depression Rating Scale (HDRS</a:t>
            </a:r>
            <a:r>
              <a:rPr lang="en-US" sz="2400" b="1" dirty="0"/>
              <a:t>)</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345" y="462280"/>
            <a:ext cx="4893310" cy="626110"/>
          </a:xfrm>
        </p:spPr>
        <p:txBody>
          <a:bodyPr/>
          <a:lstStyle/>
          <a:p>
            <a:br>
              <a:rPr lang="en-US" altLang="en-US" sz="2400" b="1" dirty="0">
                <a:solidFill>
                  <a:schemeClr val="accent5">
                    <a:lumMod val="75000"/>
                  </a:schemeClr>
                </a:solidFill>
              </a:rPr>
            </a:br>
            <a:r>
              <a:rPr lang="en-US" altLang="en-US" sz="2400" b="1" dirty="0"/>
              <a:t>Therapeutic Formulation </a:t>
            </a:r>
            <a:br>
              <a:rPr lang="en-US" altLang="en-US" sz="2400" b="1" dirty="0">
                <a:solidFill>
                  <a:schemeClr val="accent5">
                    <a:lumMod val="75000"/>
                  </a:schemeClr>
                </a:solidFill>
              </a:rPr>
            </a:br>
            <a:endParaRPr lang="en-US" altLang="en-US" sz="2400" b="1" dirty="0">
              <a:solidFill>
                <a:schemeClr val="accent5">
                  <a:lumMod val="75000"/>
                </a:schemeClr>
              </a:solidFill>
            </a:endParaRPr>
          </a:p>
        </p:txBody>
      </p:sp>
      <p:sp>
        <p:nvSpPr>
          <p:cNvPr id="3" name="Slide Number Placeholder 2"/>
          <p:cNvSpPr>
            <a:spLocks noGrp="1"/>
          </p:cNvSpPr>
          <p:nvPr>
            <p:ph type="sldNum" sz="quarter" idx="12"/>
          </p:nvPr>
        </p:nvSpPr>
        <p:spPr/>
        <p:txBody>
          <a:bodyPr/>
          <a:lstStyle/>
          <a:p>
            <a:fld id="{B3561BA9-CDCF-4958-B8AB-66F3BF063E13}" type="slidenum">
              <a:rPr lang="en-US" smtClean="0"/>
              <a:pPr/>
              <a:t>28</a:t>
            </a:fld>
            <a:endParaRPr lang="en-US"/>
          </a:p>
        </p:txBody>
      </p:sp>
      <p:sp>
        <p:nvSpPr>
          <p:cNvPr id="4" name="Text Box 3"/>
          <p:cNvSpPr txBox="1"/>
          <p:nvPr/>
        </p:nvSpPr>
        <p:spPr>
          <a:xfrm>
            <a:off x="401320" y="1155065"/>
            <a:ext cx="9941560" cy="5086350"/>
          </a:xfrm>
          <a:prstGeom prst="rect">
            <a:avLst/>
          </a:prstGeom>
          <a:noFill/>
        </p:spPr>
        <p:txBody>
          <a:bodyPr wrap="square" rtlCol="0">
            <a:noAutofit/>
          </a:bodyPr>
          <a:lstStyle/>
          <a:p>
            <a:pPr>
              <a:lnSpc>
                <a:spcPct val="170000"/>
              </a:lnSpc>
            </a:pPr>
            <a:r>
              <a:rPr lang="en-US" altLang="en-US" b="1" dirty="0">
                <a:latin typeface="Times New Roman" panose="02020603050405020304" pitchFamily="18" charset="0"/>
                <a:cs typeface="Times New Roman" panose="02020603050405020304" pitchFamily="18" charset="0"/>
              </a:rPr>
              <a:t>Precipitating factors </a:t>
            </a:r>
            <a:endParaRPr lang="en-US" altLang="en-US" dirty="0">
              <a:latin typeface="Times New Roman" panose="02020603050405020304" pitchFamily="18" charset="0"/>
              <a:cs typeface="Times New Roman" panose="02020603050405020304" pitchFamily="18" charset="0"/>
            </a:endParaRPr>
          </a:p>
          <a:p>
            <a:pPr>
              <a:lnSpc>
                <a:spcPct val="170000"/>
              </a:lnSpc>
            </a:pPr>
            <a:r>
              <a:rPr lang="en-US" altLang="en-US" dirty="0">
                <a:latin typeface="Times New Roman" panose="02020603050405020304" pitchFamily="18" charset="0"/>
                <a:cs typeface="Times New Roman" panose="02020603050405020304" pitchFamily="18" charset="0"/>
              </a:rPr>
              <a:t>Son was diagnosed with severe medical complications. </a:t>
            </a:r>
          </a:p>
          <a:p>
            <a:pPr>
              <a:lnSpc>
                <a:spcPct val="170000"/>
              </a:lnSpc>
            </a:pPr>
            <a:r>
              <a:rPr lang="en-US" altLang="en-US" dirty="0">
                <a:latin typeface="Times New Roman" panose="02020603050405020304" pitchFamily="18" charset="0"/>
                <a:cs typeface="Times New Roman" panose="02020603050405020304" pitchFamily="18" charset="0"/>
              </a:rPr>
              <a:t>Poor impulse control and stress intolerance </a:t>
            </a:r>
          </a:p>
          <a:p>
            <a:pPr>
              <a:lnSpc>
                <a:spcPct val="170000"/>
              </a:lnSpc>
            </a:pPr>
            <a:r>
              <a:rPr lang="en-US" altLang="en-US" b="1" dirty="0">
                <a:latin typeface="Times New Roman" panose="02020603050405020304" pitchFamily="18" charset="0"/>
                <a:cs typeface="Times New Roman" panose="02020603050405020304" pitchFamily="18" charset="0"/>
              </a:rPr>
              <a:t>Perpetuating factors </a:t>
            </a:r>
            <a:endParaRPr lang="en-US" altLang="en-US" dirty="0">
              <a:latin typeface="Times New Roman" panose="02020603050405020304" pitchFamily="18" charset="0"/>
              <a:cs typeface="Times New Roman" panose="02020603050405020304" pitchFamily="18" charset="0"/>
            </a:endParaRPr>
          </a:p>
          <a:p>
            <a:pPr>
              <a:lnSpc>
                <a:spcPct val="170000"/>
              </a:lnSpc>
            </a:pPr>
            <a:r>
              <a:rPr lang="en-US" altLang="en-US" dirty="0">
                <a:latin typeface="Times New Roman" panose="02020603050405020304" pitchFamily="18" charset="0"/>
                <a:cs typeface="Times New Roman" panose="02020603050405020304" pitchFamily="18" charset="0"/>
              </a:rPr>
              <a:t>Currently difficult to manage child-</a:t>
            </a:r>
            <a:r>
              <a:rPr lang="en-US" altLang="en-US" dirty="0" err="1">
                <a:latin typeface="Times New Roman" panose="02020603050405020304" pitchFamily="18" charset="0"/>
                <a:cs typeface="Times New Roman" panose="02020603050405020304" pitchFamily="18" charset="0"/>
              </a:rPr>
              <a:t>behaviours</a:t>
            </a:r>
            <a:r>
              <a:rPr lang="en-US" altLang="en-US" dirty="0">
                <a:latin typeface="Times New Roman" panose="02020603050405020304" pitchFamily="18" charset="0"/>
                <a:cs typeface="Times New Roman" panose="02020603050405020304" pitchFamily="18" charset="0"/>
              </a:rPr>
              <a:t>, continues need for caring of child, and no other support, </a:t>
            </a:r>
          </a:p>
          <a:p>
            <a:pPr>
              <a:lnSpc>
                <a:spcPct val="170000"/>
              </a:lnSpc>
            </a:pPr>
            <a:r>
              <a:rPr lang="en-US" altLang="en-US" b="1" dirty="0">
                <a:latin typeface="Times New Roman" panose="02020603050405020304" pitchFamily="18" charset="0"/>
                <a:cs typeface="Times New Roman" panose="02020603050405020304" pitchFamily="18" charset="0"/>
              </a:rPr>
              <a:t>Protecting factors </a:t>
            </a:r>
          </a:p>
          <a:p>
            <a:pPr>
              <a:lnSpc>
                <a:spcPct val="170000"/>
              </a:lnSpc>
            </a:pPr>
            <a:r>
              <a:rPr lang="en-US" altLang="en-US" dirty="0">
                <a:latin typeface="Times New Roman" panose="02020603050405020304" pitchFamily="18" charset="0"/>
                <a:cs typeface="Times New Roman" panose="02020603050405020304" pitchFamily="18" charset="0"/>
              </a:rPr>
              <a:t>Good support of family members.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22"/>
          <p:cNvSpPr txBox="1"/>
          <p:nvPr/>
        </p:nvSpPr>
        <p:spPr>
          <a:xfrm>
            <a:off x="501015" y="118110"/>
            <a:ext cx="6083300" cy="462915"/>
          </a:xfrm>
          <a:prstGeom prst="rect">
            <a:avLst/>
          </a:prstGeom>
        </p:spPr>
        <p:txBody>
          <a:bodyPr vert="horz" lIns="91440" tIns="45720" rIns="914400" bIns="45720" rtlCol="0" anchor="b">
            <a:norm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2400" b="1" dirty="0">
                <a:solidFill>
                  <a:schemeClr val="tx1"/>
                </a:solidFill>
              </a:rPr>
              <a:t>Therapeutic Formulation </a:t>
            </a:r>
          </a:p>
        </p:txBody>
      </p:sp>
      <p:pic>
        <p:nvPicPr>
          <p:cNvPr id="5" name="Picture 4" descr="Screenshot (289)"/>
          <p:cNvPicPr>
            <a:picLocks noChangeAspect="1"/>
          </p:cNvPicPr>
          <p:nvPr/>
        </p:nvPicPr>
        <p:blipFill>
          <a:blip r:embed="rId3"/>
          <a:stretch>
            <a:fillRect/>
          </a:stretch>
        </p:blipFill>
        <p:spPr>
          <a:xfrm>
            <a:off x="393405" y="645160"/>
            <a:ext cx="9683115" cy="6094730"/>
          </a:xfrm>
          <a:prstGeom prst="rect">
            <a:avLst/>
          </a:prstGeom>
        </p:spPr>
      </p:pic>
      <p:sp>
        <p:nvSpPr>
          <p:cNvPr id="6" name="Rectangles 5"/>
          <p:cNvSpPr/>
          <p:nvPr/>
        </p:nvSpPr>
        <p:spPr>
          <a:xfrm>
            <a:off x="7926070" y="5534660"/>
            <a:ext cx="1408430" cy="454025"/>
          </a:xfrm>
          <a:prstGeom prst="rect">
            <a:avLst/>
          </a:pr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gradFill rotWithShape="0">
                  <a:gsLst>
                    <a:gs pos="0">
                      <a:schemeClr val="accent1"/>
                    </a:gs>
                    <a:gs pos="100000">
                      <a:schemeClr val="accent2"/>
                    </a:gs>
                  </a:gsLst>
                  <a:lin ang="5400000" scaled="1"/>
                </a:gradFill>
              </a14:hiddenFill>
            </a:ext>
          </a:extLst>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PH" altLang="zh-CN" sz="1400" b="1" i="0" u="none" strike="noStrike" cap="none" normalizeH="0" baseline="0">
                <a:ln>
                  <a:noFill/>
                </a:ln>
                <a:solidFill>
                  <a:schemeClr val="tx1"/>
                </a:solidFill>
                <a:effectLst/>
                <a:latin typeface="Arial" panose="020B0604020202020204" pitchFamily="34" charset="0"/>
                <a:ea typeface="SimSun" panose="02010600030101010101" pitchFamily="2" charset="-122"/>
              </a:rPr>
              <a:t>Temprory relief</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22"/>
          <p:cNvSpPr txBox="1"/>
          <p:nvPr/>
        </p:nvSpPr>
        <p:spPr>
          <a:xfrm>
            <a:off x="447572" y="416268"/>
            <a:ext cx="6083167" cy="568543"/>
          </a:xfrm>
          <a:prstGeom prst="rect">
            <a:avLst/>
          </a:prstGeom>
        </p:spPr>
        <p:txBody>
          <a:bodyPr vert="horz" lIns="91440" tIns="45720" rIns="914400" bIns="45720" rtlCol="0" anchor="b">
            <a:norm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2400" b="1" dirty="0">
                <a:solidFill>
                  <a:schemeClr val="tx1"/>
                </a:solidFill>
              </a:rPr>
              <a:t>Appropriate Therapy </a:t>
            </a:r>
          </a:p>
        </p:txBody>
      </p:sp>
      <p:sp>
        <p:nvSpPr>
          <p:cNvPr id="17" name="TextBox 16"/>
          <p:cNvSpPr txBox="1"/>
          <p:nvPr/>
        </p:nvSpPr>
        <p:spPr>
          <a:xfrm>
            <a:off x="447572" y="1065520"/>
            <a:ext cx="11016115" cy="5077460"/>
          </a:xfrm>
          <a:prstGeom prst="rect">
            <a:avLst/>
          </a:prstGeom>
          <a:noFill/>
        </p:spPr>
        <p:txBody>
          <a:bodyPr wrap="square">
            <a:spAutoFit/>
          </a:bodyPr>
          <a:lstStyle/>
          <a:p>
            <a:pPr marL="0" marR="0" algn="just">
              <a:lnSpc>
                <a:spcPct val="150000"/>
              </a:lnSpc>
              <a:buNone/>
            </a:pPr>
            <a:r>
              <a:rPr lang="en-US" sz="1800" b="1" dirty="0">
                <a:effectLst/>
                <a:ea typeface="Times New Roman" panose="02020603050405020304" pitchFamily="18" charset="0"/>
              </a:rPr>
              <a:t>Psychoeducation </a:t>
            </a:r>
            <a:endParaRPr lang="en-IN" sz="1800" dirty="0">
              <a:effectLst/>
              <a:ea typeface="Times New Roman" panose="02020603050405020304" pitchFamily="18" charset="0"/>
            </a:endParaRPr>
          </a:p>
          <a:p>
            <a:pPr marL="0" marR="0" algn="just">
              <a:lnSpc>
                <a:spcPct val="150000"/>
              </a:lnSpc>
              <a:buNone/>
            </a:pPr>
            <a:r>
              <a:rPr lang="en-US" sz="1800" b="1" dirty="0">
                <a:effectLst/>
                <a:ea typeface="Times New Roman" panose="02020603050405020304" pitchFamily="18" charset="0"/>
              </a:rPr>
              <a:t> </a:t>
            </a:r>
            <a:endParaRPr lang="en-IN" sz="1800" dirty="0">
              <a:effectLst/>
              <a:ea typeface="Times New Roman" panose="02020603050405020304" pitchFamily="18" charset="0"/>
            </a:endParaRPr>
          </a:p>
          <a:p>
            <a:pPr marL="0" marR="0" algn="just">
              <a:lnSpc>
                <a:spcPct val="150000"/>
              </a:lnSpc>
              <a:buNone/>
            </a:pPr>
            <a:r>
              <a:rPr lang="en-US" sz="1800" dirty="0">
                <a:effectLst/>
                <a:ea typeface="Times New Roman" panose="02020603050405020304" pitchFamily="18" charset="0"/>
              </a:rPr>
              <a:t>It is necessary to psychoeducate </a:t>
            </a:r>
            <a:r>
              <a:rPr lang="en-US" sz="1800">
                <a:effectLst/>
                <a:ea typeface="Times New Roman" panose="02020603050405020304" pitchFamily="18" charset="0"/>
              </a:rPr>
              <a:t>the patient and </a:t>
            </a:r>
            <a:r>
              <a:rPr lang="en-US" sz="1800" dirty="0">
                <a:effectLst/>
                <a:ea typeface="Times New Roman" panose="02020603050405020304" pitchFamily="18" charset="0"/>
              </a:rPr>
              <a:t>their family about their condition, factors associated with it, and the treatment, including its duration and course. This helps them better understand their illness, and this increased clarity helps them be motivated for the treatment. </a:t>
            </a:r>
            <a:endParaRPr lang="en-IN" sz="1800" dirty="0">
              <a:effectLst/>
              <a:ea typeface="Times New Roman" panose="02020603050405020304" pitchFamily="18" charset="0"/>
            </a:endParaRPr>
          </a:p>
          <a:p>
            <a:pPr marL="0" marR="0" algn="just">
              <a:lnSpc>
                <a:spcPct val="150000"/>
              </a:lnSpc>
              <a:buNone/>
            </a:pPr>
            <a:r>
              <a:rPr lang="en-US" sz="1800" b="1" dirty="0">
                <a:effectLst/>
                <a:ea typeface="Times New Roman" panose="02020603050405020304" pitchFamily="18" charset="0"/>
              </a:rPr>
              <a:t> </a:t>
            </a:r>
            <a:endParaRPr lang="en-IN" sz="1800" dirty="0">
              <a:effectLst/>
              <a:ea typeface="Times New Roman" panose="02020603050405020304" pitchFamily="18" charset="0"/>
            </a:endParaRPr>
          </a:p>
          <a:p>
            <a:pPr marL="0" marR="0" algn="just">
              <a:lnSpc>
                <a:spcPct val="150000"/>
              </a:lnSpc>
              <a:buNone/>
            </a:pPr>
            <a:r>
              <a:rPr lang="en-US" sz="1800" b="1" dirty="0">
                <a:effectLst/>
                <a:ea typeface="Times New Roman" panose="02020603050405020304" pitchFamily="18" charset="0"/>
              </a:rPr>
              <a:t>Cognitive Behaviour Therapy (CBT) </a:t>
            </a:r>
            <a:endParaRPr lang="en-IN" sz="1800" dirty="0">
              <a:effectLst/>
              <a:ea typeface="Times New Roman" panose="02020603050405020304" pitchFamily="18" charset="0"/>
            </a:endParaRPr>
          </a:p>
          <a:p>
            <a:pPr marL="0" marR="0" algn="just">
              <a:lnSpc>
                <a:spcPct val="150000"/>
              </a:lnSpc>
              <a:buNone/>
            </a:pPr>
            <a:r>
              <a:rPr lang="en-US" sz="1800" b="1" dirty="0">
                <a:effectLst/>
                <a:ea typeface="Times New Roman" panose="02020603050405020304" pitchFamily="18" charset="0"/>
              </a:rPr>
              <a:t> </a:t>
            </a:r>
            <a:endParaRPr lang="en-IN" sz="1800" dirty="0">
              <a:effectLst/>
              <a:ea typeface="Times New Roman" panose="02020603050405020304" pitchFamily="18" charset="0"/>
            </a:endParaRPr>
          </a:p>
          <a:p>
            <a:pPr marL="0" marR="0" algn="just">
              <a:lnSpc>
                <a:spcPct val="150000"/>
              </a:lnSpc>
            </a:pPr>
            <a:r>
              <a:rPr lang="en-US" sz="1800" dirty="0">
                <a:effectLst/>
                <a:ea typeface="Times New Roman" panose="02020603050405020304" pitchFamily="18" charset="0"/>
              </a:rPr>
              <a:t>CBT posits that emotional distress, including depression and anxiety, occurs not due to events themselves, but how individuals perceive them. </a:t>
            </a:r>
            <a:r>
              <a:rPr lang="en-US" dirty="0">
                <a:ea typeface="Times New Roman" panose="02020603050405020304" pitchFamily="18" charset="0"/>
              </a:rPr>
              <a:t>It</a:t>
            </a:r>
            <a:r>
              <a:rPr lang="en-US" sz="1800" dirty="0">
                <a:effectLst/>
                <a:ea typeface="Times New Roman" panose="02020603050405020304" pitchFamily="18" charset="0"/>
              </a:rPr>
              <a:t> further states how thoughts, emotions and behaviours influence each other in perpetuating the emotional distress. Therefore, CBT aims to identify the dysfunctional thoughts and to replace them with more adaptive ones.</a:t>
            </a:r>
            <a:endParaRPr lang="en-IN" sz="1800" dirty="0">
              <a:effectLst/>
              <a:ea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22"/>
          <p:cNvSpPr txBox="1"/>
          <p:nvPr/>
        </p:nvSpPr>
        <p:spPr>
          <a:xfrm>
            <a:off x="554355" y="119380"/>
            <a:ext cx="4101465" cy="534035"/>
          </a:xfrm>
          <a:prstGeom prst="rect">
            <a:avLst/>
          </a:prstGeom>
        </p:spPr>
        <p:txBody>
          <a:bodyPr vert="horz" lIns="91440" tIns="45720" rIns="914400" bIns="45720" rtlCol="0" anchor="b">
            <a:no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2400" b="1" dirty="0">
                <a:solidFill>
                  <a:schemeClr val="tx1"/>
                </a:solidFill>
                <a:latin typeface="Times New Roman" panose="02020603050405020304" pitchFamily="18" charset="0"/>
                <a:cs typeface="Times New Roman" panose="02020603050405020304" pitchFamily="18" charset="0"/>
              </a:rPr>
              <a:t>Goals of Therapy</a:t>
            </a:r>
          </a:p>
        </p:txBody>
      </p:sp>
      <p:graphicFrame>
        <p:nvGraphicFramePr>
          <p:cNvPr id="3" name="Table 2"/>
          <p:cNvGraphicFramePr>
            <a:graphicFrameLocks noGrp="1"/>
          </p:cNvGraphicFramePr>
          <p:nvPr>
            <p:custDataLst>
              <p:tags r:id="rId1"/>
            </p:custDataLst>
          </p:nvPr>
        </p:nvGraphicFramePr>
        <p:xfrm>
          <a:off x="1202797" y="1198031"/>
          <a:ext cx="7556500" cy="4960784"/>
        </p:xfrm>
        <a:graphic>
          <a:graphicData uri="http://schemas.openxmlformats.org/drawingml/2006/table">
            <a:tbl>
              <a:tblPr firstRow="1" firstCol="1" bandRow="1">
                <a:tableStyleId>{5FD0F851-EC5A-4D38-B0AD-8093EC10F338}</a:tableStyleId>
              </a:tblPr>
              <a:tblGrid>
                <a:gridCol w="3885565">
                  <a:extLst>
                    <a:ext uri="{9D8B030D-6E8A-4147-A177-3AD203B41FA5}">
                      <a16:colId xmlns:a16="http://schemas.microsoft.com/office/drawing/2014/main" val="20000"/>
                    </a:ext>
                  </a:extLst>
                </a:gridCol>
                <a:gridCol w="194310">
                  <a:extLst>
                    <a:ext uri="{9D8B030D-6E8A-4147-A177-3AD203B41FA5}">
                      <a16:colId xmlns:a16="http://schemas.microsoft.com/office/drawing/2014/main" val="20001"/>
                    </a:ext>
                  </a:extLst>
                </a:gridCol>
                <a:gridCol w="3476625">
                  <a:extLst>
                    <a:ext uri="{9D8B030D-6E8A-4147-A177-3AD203B41FA5}">
                      <a16:colId xmlns:a16="http://schemas.microsoft.com/office/drawing/2014/main" val="20002"/>
                    </a:ext>
                  </a:extLst>
                </a:gridCol>
              </a:tblGrid>
              <a:tr h="354024">
                <a:tc>
                  <a:txBody>
                    <a:bodyPr/>
                    <a:lstStyle/>
                    <a:p>
                      <a:pPr marL="0" marR="0" algn="ctr">
                        <a:lnSpc>
                          <a:spcPct val="150000"/>
                        </a:lnSpc>
                        <a:buNone/>
                      </a:pPr>
                      <a:r>
                        <a:rPr lang="en-US" sz="1800" dirty="0">
                          <a:solidFill>
                            <a:schemeClr val="tx1"/>
                          </a:solidFill>
                          <a:effectLst/>
                        </a:rPr>
                        <a:t>Short-Term Goals</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buNone/>
                      </a:pP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buNone/>
                      </a:pPr>
                      <a:r>
                        <a:rPr lang="en-US" sz="1800" dirty="0">
                          <a:solidFill>
                            <a:schemeClr val="tx1"/>
                          </a:solidFill>
                          <a:effectLst/>
                        </a:rPr>
                        <a:t>Long-Term Goals</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598580">
                <a:tc>
                  <a:txBody>
                    <a:bodyPr/>
                    <a:lstStyle/>
                    <a:p>
                      <a:pPr marL="342900" marR="0" lvl="0" indent="-342900" algn="l">
                        <a:lnSpc>
                          <a:spcPct val="150000"/>
                        </a:lnSpc>
                        <a:buFont typeface="Symbol" panose="05050102010706020507" pitchFamily="18" charset="2"/>
                        <a:buChar char=""/>
                      </a:pPr>
                      <a:r>
                        <a:rPr lang="en-US" altLang="en-US" sz="1800" b="0" dirty="0">
                          <a:effectLst/>
                          <a:latin typeface="Times New Roman" panose="02020603050405020304" pitchFamily="18" charset="0"/>
                          <a:ea typeface="Times New Roman" panose="02020603050405020304" pitchFamily="18" charset="0"/>
                          <a:cs typeface="Times New Roman" panose="02020603050405020304" pitchFamily="18" charset="0"/>
                        </a:rPr>
                        <a:t>Understand the cognitive, physiological, and behavioral components of anxiety and  CBT treatment</a:t>
                      </a:r>
                    </a:p>
                    <a:p>
                      <a:pPr marL="342900" marR="0" lvl="0" indent="-342900" algn="l">
                        <a:lnSpc>
                          <a:spcPct val="150000"/>
                        </a:lnSpc>
                        <a:buFont typeface="Symbol" panose="05050102010706020507" pitchFamily="18" charset="2"/>
                        <a:buChar char=""/>
                      </a:pPr>
                      <a:r>
                        <a:rPr lang="en-US" altLang="en-US" sz="1800" b="0" dirty="0">
                          <a:effectLst/>
                          <a:latin typeface="Times New Roman" panose="02020603050405020304" pitchFamily="18" charset="0"/>
                          <a:ea typeface="Times New Roman" panose="02020603050405020304" pitchFamily="18" charset="0"/>
                          <a:cs typeface="Times New Roman" panose="02020603050405020304" pitchFamily="18" charset="0"/>
                        </a:rPr>
                        <a:t>Identify common triggers and early signs.</a:t>
                      </a:r>
                    </a:p>
                    <a:p>
                      <a:pPr marL="342900" marR="0" lvl="0" indent="-342900" algn="l">
                        <a:lnSpc>
                          <a:spcPct val="150000"/>
                        </a:lnSpc>
                        <a:buFont typeface="Symbol" panose="05050102010706020507" pitchFamily="18" charset="2"/>
                        <a:buChar char=""/>
                      </a:pPr>
                      <a:r>
                        <a:rPr lang="en-US" altLang="en-US" sz="1800" b="0" dirty="0">
                          <a:effectLst/>
                          <a:latin typeface="Times New Roman" panose="02020603050405020304" pitchFamily="18" charset="0"/>
                          <a:ea typeface="Times New Roman" panose="02020603050405020304" pitchFamily="18" charset="0"/>
                          <a:cs typeface="Times New Roman" panose="02020603050405020304" pitchFamily="18" charset="0"/>
                        </a:rPr>
                        <a:t>Reduce physiological symptoms of anxiety.</a:t>
                      </a:r>
                    </a:p>
                    <a:p>
                      <a:pPr marL="342900" marR="0" lvl="0" indent="-342900" algn="l">
                        <a:lnSpc>
                          <a:spcPct val="150000"/>
                        </a:lnSpc>
                        <a:buFont typeface="Symbol" panose="05050102010706020507" pitchFamily="18" charset="2"/>
                        <a:buChar char=""/>
                      </a:pPr>
                      <a:endParaRPr lang="en-US" altLang="en-US" sz="18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alpha val="20000"/>
                      </a:schemeClr>
                    </a:solidFill>
                  </a:tcPr>
                </a:tc>
                <a:tc>
                  <a:txBody>
                    <a:bodyPr/>
                    <a:lstStyle/>
                    <a:p>
                      <a:pPr marR="0" lvl="0" indent="0" algn="just">
                        <a:lnSpc>
                          <a:spcPct val="150000"/>
                        </a:lnSpc>
                        <a:buFont typeface="Symbol" panose="05050102010706020507" pitchFamily="18" charset="2"/>
                        <a:buNone/>
                      </a:pP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l">
                        <a:lnSpc>
                          <a:spcPct val="150000"/>
                        </a:lnSpc>
                        <a:buFont typeface="Symbol" panose="05050102010706020507" pitchFamily="18" charset="2"/>
                        <a:buChar char=""/>
                      </a:pPr>
                      <a:r>
                        <a:rPr lang="en-US" altLang="en-US" sz="1800" dirty="0">
                          <a:effectLst/>
                          <a:latin typeface="Times New Roman" panose="02020603050405020304" pitchFamily="18" charset="0"/>
                          <a:ea typeface="Times New Roman" panose="02020603050405020304" pitchFamily="18" charset="0"/>
                          <a:cs typeface="Times New Roman" panose="02020603050405020304" pitchFamily="18" charset="0"/>
                        </a:rPr>
                        <a:t>Reduce anxiety </a:t>
                      </a:r>
                      <a:r>
                        <a:rPr lang="en-PH" altLang="en-US" sz="1800" dirty="0">
                          <a:effectLst/>
                          <a:latin typeface="Times New Roman" panose="02020603050405020304" pitchFamily="18" charset="0"/>
                          <a:ea typeface="Times New Roman" panose="02020603050405020304" pitchFamily="18" charset="0"/>
                          <a:cs typeface="Times New Roman" panose="02020603050405020304" pitchFamily="18" charset="0"/>
                        </a:rPr>
                        <a:t>symptoms and </a:t>
                      </a:r>
                      <a:r>
                        <a:rPr lang="en-US" alt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improve daily functioning</a:t>
                      </a:r>
                      <a:r>
                        <a:rPr lang="en-PH" alt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342900" marR="0" lvl="0" indent="-342900" algn="l">
                        <a:lnSpc>
                          <a:spcPct val="150000"/>
                        </a:lnSpc>
                        <a:buFont typeface="Symbol" panose="05050102010706020507" pitchFamily="18" charset="2"/>
                        <a:buChar char=""/>
                      </a:pPr>
                      <a:r>
                        <a:rPr lang="en-US" alt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Practice relapse prevention techniques for future anxiety management.</a:t>
                      </a:r>
                    </a:p>
                    <a:p>
                      <a:pPr marL="342900" marR="0" lvl="0" indent="-342900" algn="l">
                        <a:lnSpc>
                          <a:spcPct val="150000"/>
                        </a:lnSpc>
                        <a:buFont typeface="Symbol" panose="05050102010706020507" pitchFamily="18" charset="2"/>
                        <a:buChar char=""/>
                      </a:pPr>
                      <a:endParaRPr lang="en-US" alt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alpha val="20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22"/>
          <p:cNvSpPr txBox="1"/>
          <p:nvPr/>
        </p:nvSpPr>
        <p:spPr>
          <a:xfrm>
            <a:off x="447572" y="416268"/>
            <a:ext cx="6083167" cy="568543"/>
          </a:xfrm>
          <a:prstGeom prst="rect">
            <a:avLst/>
          </a:prstGeom>
        </p:spPr>
        <p:txBody>
          <a:bodyPr vert="horz" lIns="91440" tIns="45720" rIns="914400" bIns="45720" rtlCol="0" anchor="b">
            <a:norm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2665" b="1" dirty="0">
                <a:solidFill>
                  <a:schemeClr val="tx1"/>
                </a:solidFill>
                <a:latin typeface="Times New Roman" panose="02020603050405020304" pitchFamily="18" charset="0"/>
                <a:cs typeface="Times New Roman" panose="02020603050405020304" pitchFamily="18" charset="0"/>
              </a:rPr>
              <a:t>Process of Therapy</a:t>
            </a:r>
          </a:p>
        </p:txBody>
      </p:sp>
      <p:sp>
        <p:nvSpPr>
          <p:cNvPr id="17" name="TextBox 16"/>
          <p:cNvSpPr txBox="1"/>
          <p:nvPr/>
        </p:nvSpPr>
        <p:spPr>
          <a:xfrm>
            <a:off x="447675" y="1559560"/>
            <a:ext cx="11015980" cy="5140325"/>
          </a:xfrm>
          <a:prstGeom prst="rect">
            <a:avLst/>
          </a:prstGeom>
          <a:noFill/>
        </p:spPr>
        <p:txBody>
          <a:bodyPr wrap="square">
            <a:noAutofit/>
          </a:bodyPr>
          <a:lstStyle/>
          <a:p>
            <a:pPr marL="0" marR="0" algn="just">
              <a:lnSpc>
                <a:spcPct val="150000"/>
              </a:lnSpc>
              <a:buNone/>
            </a:pPr>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Date</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PH" altLang="en-US" dirty="0">
                <a:effectLst/>
                <a:latin typeface="Times New Roman" panose="02020603050405020304" pitchFamily="18" charset="0"/>
                <a:ea typeface="Times New Roman" panose="02020603050405020304" pitchFamily="18" charset="0"/>
                <a:cs typeface="Times New Roman" panose="02020603050405020304" pitchFamily="18" charset="0"/>
              </a:rPr>
              <a:t>16 July</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202</a:t>
            </a:r>
            <a:r>
              <a:rPr lang="en-PH" altLang="en-US" dirty="0">
                <a:effectLst/>
                <a:latin typeface="Times New Roman" panose="02020603050405020304" pitchFamily="18" charset="0"/>
                <a:ea typeface="Times New Roman" panose="02020603050405020304" pitchFamily="18" charset="0"/>
                <a:cs typeface="Times New Roman" panose="02020603050405020304" pitchFamily="18" charset="0"/>
              </a:rPr>
              <a:t>6</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Duration</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PH" altLang="en-US" dirty="0">
                <a:effectLst/>
                <a:latin typeface="Times New Roman" panose="02020603050405020304" pitchFamily="18" charset="0"/>
                <a:ea typeface="Times New Roman" panose="02020603050405020304" pitchFamily="18" charset="0"/>
                <a:cs typeface="Times New Roman" panose="02020603050405020304" pitchFamily="18" charset="0"/>
              </a:rPr>
              <a:t>1 hour</a:t>
            </a: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indent="-342900" algn="just">
              <a:lnSpc>
                <a:spcPct val="150000"/>
              </a:lnSpc>
              <a:buFont typeface="Arial" panose="020B0604020202020204" pitchFamily="34" charset="0"/>
              <a:buChar char="•"/>
            </a:pPr>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Goal</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PH" altLang="en-US" dirty="0">
                <a:effectLst/>
                <a:latin typeface="Times New Roman" panose="02020603050405020304" pitchFamily="18" charset="0"/>
                <a:ea typeface="Times New Roman" panose="02020603050405020304" pitchFamily="18" charset="0"/>
                <a:cs typeface="Times New Roman" panose="02020603050405020304" pitchFamily="18" charset="0"/>
              </a:rPr>
              <a:t>S</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trengthening the rapport and psychoeducation on </a:t>
            </a:r>
            <a:r>
              <a:rPr lang="en-PH" altLang="en-US" dirty="0">
                <a:effectLst/>
                <a:latin typeface="Times New Roman" panose="02020603050405020304" pitchFamily="18" charset="0"/>
                <a:ea typeface="Times New Roman" panose="02020603050405020304" pitchFamily="18" charset="0"/>
                <a:cs typeface="Times New Roman" panose="02020603050405020304" pitchFamily="18" charset="0"/>
              </a:rPr>
              <a:t>Generalized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anxiety </a:t>
            </a:r>
            <a:r>
              <a:rPr lang="en-PH" altLang="en-US" dirty="0">
                <a:effectLst/>
                <a:latin typeface="Times New Roman" panose="02020603050405020304" pitchFamily="18" charset="0"/>
                <a:ea typeface="Times New Roman" panose="02020603050405020304" pitchFamily="18" charset="0"/>
                <a:cs typeface="Times New Roman" panose="02020603050405020304" pitchFamily="18" charset="0"/>
              </a:rPr>
              <a:t>disorder </a:t>
            </a: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indent="-342900" algn="just">
              <a:lnSpc>
                <a:spcPct val="150000"/>
              </a:lnSpc>
              <a:buFont typeface="Arial" panose="020B0604020202020204" pitchFamily="34" charset="0"/>
              <a:buChar char="•"/>
            </a:pPr>
            <a:r>
              <a:rPr lang="en-PH" altLang="en-US" dirty="0">
                <a:effectLst/>
                <a:latin typeface="Times New Roman" panose="02020603050405020304" pitchFamily="18" charset="0"/>
                <a:ea typeface="Times New Roman" panose="02020603050405020304" pitchFamily="18" charset="0"/>
                <a:cs typeface="Times New Roman" panose="02020603050405020304" pitchFamily="18" charset="0"/>
              </a:rPr>
              <a:t>After the initial rapport building, 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he </a:t>
            </a:r>
            <a:r>
              <a:rPr lang="en-PH" altLang="en-US" dirty="0">
                <a:effectLst/>
                <a:latin typeface="Times New Roman" panose="02020603050405020304" pitchFamily="18" charset="0"/>
                <a:ea typeface="Times New Roman" panose="02020603050405020304" pitchFamily="18" charset="0"/>
                <a:cs typeface="Times New Roman" panose="02020603050405020304" pitchFamily="18" charset="0"/>
              </a:rPr>
              <a:t>patient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was </a:t>
            </a:r>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psychoeducated</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o</a:t>
            </a:r>
            <a:r>
              <a:rPr lang="en-PH" altLang="en-US" dirty="0">
                <a:effectLst/>
                <a:latin typeface="Times New Roman" panose="02020603050405020304" pitchFamily="18" charset="0"/>
                <a:ea typeface="Times New Roman" panose="02020603050405020304" pitchFamily="18" charset="0"/>
                <a:cs typeface="Times New Roman" panose="02020603050405020304" pitchFamily="18" charset="0"/>
              </a:rPr>
              <a:t>n </a:t>
            </a:r>
            <a:r>
              <a:rPr lang="en-US" altLang="en-US" dirty="0">
                <a:effectLst/>
                <a:latin typeface="Times New Roman" panose="02020603050405020304" pitchFamily="18" charset="0"/>
                <a:ea typeface="Times New Roman" panose="02020603050405020304" pitchFamily="18" charset="0"/>
                <a:cs typeface="Times New Roman" panose="02020603050405020304" pitchFamily="18" charset="0"/>
              </a:rPr>
              <a:t>the physiological, behavioural, and cognitive manifestations of anxiety </a:t>
            </a:r>
            <a:r>
              <a:rPr lang="en-PH" altLang="en-US" dirty="0">
                <a:effectLst/>
                <a:latin typeface="Times New Roman" panose="02020603050405020304" pitchFamily="18" charset="0"/>
                <a:ea typeface="Times New Roman" panose="02020603050405020304" pitchFamily="18" charset="0"/>
                <a:cs typeface="Times New Roman" panose="02020603050405020304" pitchFamily="18" charset="0"/>
              </a:rPr>
              <a:t>symptoms, its  prevalence, causes and treatment options  in detail and clarified her doubts.</a:t>
            </a:r>
          </a:p>
          <a:p>
            <a:pPr marL="342900" marR="0" indent="-342900" algn="just">
              <a:lnSpc>
                <a:spcPct val="150000"/>
              </a:lnSpc>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A </a:t>
            </a: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therapy contract </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outlining the frequency and duration of sessions and terms regarding cancellation was discussed.</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indent="-342900" algn="just">
              <a:lnSpc>
                <a:spcPct val="150000"/>
              </a:lnSpc>
              <a:buFont typeface="Arial" panose="020B0604020202020204" pitchFamily="34" charset="0"/>
              <a:buChar char="•"/>
            </a:pPr>
            <a:r>
              <a:rPr lang="en-IN" b="1" dirty="0">
                <a:latin typeface="Times New Roman" panose="02020603050405020304" pitchFamily="18" charset="0"/>
                <a:ea typeface="Times New Roman" panose="02020603050405020304" pitchFamily="18" charset="0"/>
                <a:cs typeface="Times New Roman" panose="02020603050405020304" pitchFamily="18" charset="0"/>
              </a:rPr>
              <a:t>Homework</a:t>
            </a:r>
            <a:r>
              <a:rPr lang="en-IN" dirty="0">
                <a:latin typeface="Times New Roman" panose="02020603050405020304" pitchFamily="18" charset="0"/>
                <a:ea typeface="Times New Roman" panose="02020603050405020304" pitchFamily="18" charset="0"/>
                <a:cs typeface="Times New Roman" panose="02020603050405020304" pitchFamily="18" charset="0"/>
              </a:rPr>
              <a:t>: Goals for seeking Therapy </a:t>
            </a:r>
          </a:p>
          <a:p>
            <a:pPr marL="342900" marR="0" indent="-342900" algn="l">
              <a:lnSpc>
                <a:spcPct val="150000"/>
              </a:lnSpc>
              <a:buFont typeface="Arial" panose="020B0604020202020204" pitchFamily="34" charset="0"/>
              <a:buChar char="•"/>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P</a:t>
            </a:r>
            <a:r>
              <a:rPr lang="en-PH" altLang="en-IN" b="1" dirty="0">
                <a:effectLst/>
                <a:latin typeface="Times New Roman" panose="02020603050405020304" pitchFamily="18" charset="0"/>
                <a:ea typeface="Times New Roman" panose="02020603050405020304" pitchFamily="18" charset="0"/>
                <a:cs typeface="Times New Roman" panose="02020603050405020304" pitchFamily="18" charset="0"/>
              </a:rPr>
              <a:t>atient</a:t>
            </a: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 Feedback:  </a:t>
            </a:r>
            <a:r>
              <a:rPr lang="en-PH" altLang="en-IN" dirty="0">
                <a:effectLst/>
                <a:latin typeface="Times New Roman" panose="02020603050405020304" pitchFamily="18" charset="0"/>
                <a:ea typeface="Times New Roman" panose="02020603050405020304" pitchFamily="18" charset="0"/>
                <a:cs typeface="Times New Roman" panose="02020603050405020304" pitchFamily="18" charset="0"/>
              </a:rPr>
              <a:t>S</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he was ready </a:t>
            </a:r>
            <a:r>
              <a:rPr lang="en-IN" dirty="0">
                <a:latin typeface="Times New Roman" panose="02020603050405020304" pitchFamily="18" charset="0"/>
                <a:ea typeface="Times New Roman" panose="02020603050405020304" pitchFamily="18" charset="0"/>
                <a:cs typeface="Times New Roman" panose="02020603050405020304" pitchFamily="18" charset="0"/>
              </a:rPr>
              <a:t>for </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therapy and do </a:t>
            </a:r>
            <a:r>
              <a:rPr lang="en-IN" dirty="0">
                <a:latin typeface="Times New Roman" panose="02020603050405020304" pitchFamily="18" charset="0"/>
                <a:ea typeface="Times New Roman" panose="02020603050405020304" pitchFamily="18" charset="0"/>
                <a:cs typeface="Times New Roman" panose="02020603050405020304" pitchFamily="18" charset="0"/>
              </a:rPr>
              <a:t>her</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best. </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indent="-342900" algn="l">
              <a:lnSpc>
                <a:spcPct val="150000"/>
              </a:lnSpc>
              <a:buFont typeface="Arial" panose="020B0604020202020204" pitchFamily="34" charset="0"/>
              <a:buChar char="•"/>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Plan for the next session: </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Collaboratively setting realistic and specific goals for therapy. </a:t>
            </a:r>
          </a:p>
          <a:p>
            <a:endParaRPr lang="en-IN" dirty="0">
              <a:latin typeface="Times New Roman" panose="02020603050405020304" pitchFamily="18" charset="0"/>
              <a:cs typeface="Times New Roman" panose="02020603050405020304" pitchFamily="18" charset="0"/>
            </a:endParaRPr>
          </a:p>
        </p:txBody>
      </p:sp>
      <p:sp>
        <p:nvSpPr>
          <p:cNvPr id="2" name="Title 22"/>
          <p:cNvSpPr txBox="1"/>
          <p:nvPr/>
        </p:nvSpPr>
        <p:spPr>
          <a:xfrm>
            <a:off x="295275" y="1034415"/>
            <a:ext cx="6168390" cy="568325"/>
          </a:xfrm>
          <a:prstGeom prst="rect">
            <a:avLst/>
          </a:prstGeom>
        </p:spPr>
        <p:txBody>
          <a:bodyPr vert="horz" lIns="91440" tIns="45720" rIns="914400" bIns="45720" rtlCol="0" anchor="b">
            <a:norm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2400" b="1" dirty="0">
                <a:solidFill>
                  <a:schemeClr val="tx1"/>
                </a:solidFill>
                <a:highlight>
                  <a:srgbClr val="FFFF00"/>
                </a:highlight>
                <a:latin typeface="Times New Roman" panose="02020603050405020304" pitchFamily="18" charset="0"/>
                <a:cs typeface="Times New Roman" panose="02020603050405020304" pitchFamily="18" charset="0"/>
              </a:rPr>
              <a:t>Session 1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107315" y="667385"/>
            <a:ext cx="11899265" cy="5575300"/>
          </a:xfrm>
          <a:prstGeom prst="rect">
            <a:avLst/>
          </a:prstGeom>
          <a:noFill/>
        </p:spPr>
        <p:txBody>
          <a:bodyPr wrap="square">
            <a:noAutofit/>
          </a:bodyPr>
          <a:lstStyle/>
          <a:p>
            <a:pPr algn="just"/>
            <a:r>
              <a:rPr lang="en-IN" b="1" dirty="0">
                <a:latin typeface="Times New Roman" panose="02020603050405020304" pitchFamily="18" charset="0"/>
                <a:cs typeface="Times New Roman" panose="02020603050405020304" pitchFamily="18" charset="0"/>
              </a:rPr>
              <a:t>Date</a:t>
            </a:r>
            <a:r>
              <a:rPr lang="en-IN" dirty="0">
                <a:latin typeface="Times New Roman" panose="02020603050405020304" pitchFamily="18" charset="0"/>
                <a:cs typeface="Times New Roman" panose="02020603050405020304" pitchFamily="18" charset="0"/>
              </a:rPr>
              <a:t>: </a:t>
            </a:r>
            <a:r>
              <a:rPr lang="en-US" altLang="en-IN" dirty="0">
                <a:latin typeface="Times New Roman" panose="02020603050405020304" pitchFamily="18" charset="0"/>
                <a:cs typeface="Times New Roman" panose="02020603050405020304" pitchFamily="18" charset="0"/>
              </a:rPr>
              <a:t>27</a:t>
            </a:r>
            <a:r>
              <a:rPr lang="en-US" altLang="en-IN" baseline="30000" dirty="0">
                <a:latin typeface="Times New Roman" panose="02020603050405020304" pitchFamily="18" charset="0"/>
                <a:cs typeface="Times New Roman" panose="02020603050405020304" pitchFamily="18" charset="0"/>
              </a:rPr>
              <a:t>th</a:t>
            </a:r>
            <a:r>
              <a:rPr lang="en-US" altLang="en-IN" dirty="0">
                <a:latin typeface="Times New Roman" panose="02020603050405020304" pitchFamily="18" charset="0"/>
                <a:cs typeface="Times New Roman" panose="02020603050405020304" pitchFamily="18" charset="0"/>
              </a:rPr>
              <a:t> July </a:t>
            </a:r>
            <a:r>
              <a:rPr lang="en-IN" dirty="0">
                <a:latin typeface="Times New Roman" panose="02020603050405020304" pitchFamily="18" charset="0"/>
                <a:cs typeface="Times New Roman" panose="02020603050405020304" pitchFamily="18" charset="0"/>
              </a:rPr>
              <a:t>202</a:t>
            </a:r>
            <a:r>
              <a:rPr lang="en-PH" altLang="en-IN" dirty="0">
                <a:latin typeface="Times New Roman" panose="02020603050405020304" pitchFamily="18" charset="0"/>
                <a:cs typeface="Times New Roman" panose="02020603050405020304" pitchFamily="18" charset="0"/>
              </a:rPr>
              <a:t>6</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Duration</a:t>
            </a:r>
            <a:r>
              <a:rPr lang="en-IN" dirty="0">
                <a:latin typeface="Times New Roman" panose="02020603050405020304" pitchFamily="18" charset="0"/>
                <a:cs typeface="Times New Roman" panose="02020603050405020304" pitchFamily="18" charset="0"/>
              </a:rPr>
              <a:t>: </a:t>
            </a:r>
            <a:r>
              <a:rPr lang="en-PH" altLang="en-US" dirty="0">
                <a:latin typeface="Times New Roman" panose="02020603050405020304" pitchFamily="18" charset="0"/>
                <a:ea typeface="Times New Roman" panose="02020603050405020304" pitchFamily="18" charset="0"/>
                <a:cs typeface="Times New Roman" panose="02020603050405020304" pitchFamily="18" charset="0"/>
              </a:rPr>
              <a:t>1 hour</a:t>
            </a:r>
            <a:endParaRPr lang="en-IN" dirty="0">
              <a:latin typeface="Times New Roman" panose="02020603050405020304" pitchFamily="18" charset="0"/>
              <a:cs typeface="Times New Roman" panose="02020603050405020304" pitchFamily="18" charset="0"/>
            </a:endParaRPr>
          </a:p>
          <a:p>
            <a:pPr indent="0" algn="just">
              <a:lnSpc>
                <a:spcPct val="150000"/>
              </a:lnSpc>
              <a:buFont typeface="Arial" panose="020B0604020202020204" pitchFamily="34" charset="0"/>
              <a:buNone/>
            </a:pPr>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brief check-in </a:t>
            </a:r>
            <a:r>
              <a:rPr lang="en-IN" dirty="0">
                <a:latin typeface="Times New Roman" panose="02020603050405020304" pitchFamily="18" charset="0"/>
                <a:cs typeface="Times New Roman" panose="02020603050405020304" pitchFamily="18" charset="0"/>
              </a:rPr>
              <a:t>was done of the P</a:t>
            </a:r>
            <a:r>
              <a:rPr lang="en-PH" altLang="en-IN" dirty="0">
                <a:latin typeface="Times New Roman" panose="02020603050405020304" pitchFamily="18" charset="0"/>
                <a:cs typeface="Times New Roman" panose="02020603050405020304" pitchFamily="18" charset="0"/>
              </a:rPr>
              <a:t>atient</a:t>
            </a:r>
            <a:r>
              <a:rPr lang="en-IN" dirty="0">
                <a:latin typeface="Times New Roman" panose="02020603050405020304" pitchFamily="18" charset="0"/>
                <a:cs typeface="Times New Roman" panose="02020603050405020304" pitchFamily="18" charset="0"/>
              </a:rPr>
              <a:t>s week and how she was doing. </a:t>
            </a:r>
          </a:p>
          <a:p>
            <a:pPr indent="0" algn="l">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Goals</a:t>
            </a:r>
            <a:r>
              <a:rPr lang="en-IN" dirty="0">
                <a:latin typeface="Times New Roman" panose="02020603050405020304" pitchFamily="18" charset="0"/>
                <a:cs typeface="Times New Roman" panose="02020603050405020304" pitchFamily="18" charset="0"/>
              </a:rPr>
              <a:t>:</a:t>
            </a:r>
          </a:p>
          <a:p>
            <a:pPr indent="0" algn="l">
              <a:lnSpc>
                <a:spcPct val="150000"/>
              </a:lnSpc>
              <a:buFont typeface="Arial" panose="020B0604020202020204" pitchFamily="34" charset="0"/>
              <a:buNone/>
            </a:pPr>
            <a:r>
              <a:rPr lang="en-PH" altLang="en-IN"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Collaboratively setting</a:t>
            </a: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the </a:t>
            </a:r>
            <a:r>
              <a:rPr lang="en-IN" dirty="0">
                <a:latin typeface="Times New Roman" panose="02020603050405020304" pitchFamily="18" charset="0"/>
                <a:cs typeface="Times New Roman" panose="02020603050405020304" pitchFamily="18" charset="0"/>
              </a:rPr>
              <a:t>therapy goals</a:t>
            </a:r>
          </a:p>
          <a:p>
            <a:pPr indent="0" algn="l">
              <a:lnSpc>
                <a:spcPct val="150000"/>
              </a:lnSpc>
              <a:buFont typeface="Arial" panose="020B0604020202020204" pitchFamily="34" charset="0"/>
              <a:buNone/>
            </a:pPr>
            <a:r>
              <a:rPr lang="en-PH" altLang="en-IN"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P</a:t>
            </a:r>
            <a:r>
              <a:rPr lang="en-IN" dirty="0">
                <a:latin typeface="Times New Roman" panose="02020603050405020304" pitchFamily="18" charset="0"/>
                <a:cs typeface="Times New Roman" panose="02020603050405020304" pitchFamily="18" charset="0"/>
              </a:rPr>
              <a:t>sychoeducation of the CBT model of anxiety. </a:t>
            </a:r>
          </a:p>
          <a:p>
            <a:pPr indent="0" algn="l">
              <a:lnSpc>
                <a:spcPct val="150000"/>
              </a:lnSpc>
              <a:buFont typeface="Arial" panose="020B0604020202020204" pitchFamily="34" charset="0"/>
              <a:buNone/>
            </a:pPr>
            <a:r>
              <a:rPr lang="en-PH" altLang="en-IN" dirty="0">
                <a:latin typeface="Times New Roman" panose="02020603050405020304" pitchFamily="18" charset="0"/>
                <a:cs typeface="Times New Roman" panose="02020603050405020304" pitchFamily="18" charset="0"/>
              </a:rPr>
              <a:t>3. </a:t>
            </a:r>
            <a:r>
              <a:rPr lang="en-US" altLang="en-US" dirty="0">
                <a:latin typeface="Times New Roman" panose="02020603050405020304" pitchFamily="18" charset="0"/>
                <a:cs typeface="Times New Roman" panose="02020603050405020304" pitchFamily="18" charset="0"/>
              </a:rPr>
              <a:t>Addressing the physiological symptoms of anxiety</a:t>
            </a:r>
          </a:p>
          <a:p>
            <a:pPr indent="0" algn="l">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Homework was discussed </a:t>
            </a: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H</a:t>
            </a:r>
            <a:r>
              <a:rPr lang="en-IN" dirty="0">
                <a:latin typeface="Times New Roman" panose="02020603050405020304" pitchFamily="18" charset="0"/>
                <a:cs typeface="Times New Roman" panose="02020603050405020304" pitchFamily="18" charset="0"/>
              </a:rPr>
              <a:t>elped in setting therapy goals that were then divided into short-term and long-term goals. </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Psychoeducation</a:t>
            </a:r>
            <a:r>
              <a:rPr lang="en-IN" dirty="0">
                <a:latin typeface="Times New Roman" panose="02020603050405020304" pitchFamily="18" charset="0"/>
                <a:cs typeface="Times New Roman" panose="02020603050405020304" pitchFamily="18" charset="0"/>
              </a:rPr>
              <a:t> on how thoughts, emotions, and behaviour are linked </a:t>
            </a:r>
            <a:r>
              <a:rPr lang="en-PH" altLang="en-IN" dirty="0">
                <a:latin typeface="Times New Roman" panose="02020603050405020304" pitchFamily="18" charset="0"/>
                <a:cs typeface="Times New Roman" panose="02020603050405020304" pitchFamily="18" charset="0"/>
              </a:rPr>
              <a:t>to each other </a:t>
            </a:r>
            <a:r>
              <a:rPr lang="en-IN" dirty="0">
                <a:latin typeface="Times New Roman" panose="02020603050405020304" pitchFamily="18" charset="0"/>
                <a:cs typeface="Times New Roman" panose="02020603050405020304" pitchFamily="18" charset="0"/>
              </a:rPr>
              <a:t>and contribute in the development and maintenance of anxiety</a:t>
            </a:r>
            <a:r>
              <a:rPr lang="en-PH" altLang="en-IN" dirty="0">
                <a:latin typeface="Times New Roman" panose="02020603050405020304" pitchFamily="18" charset="0"/>
                <a:cs typeface="Times New Roman" panose="02020603050405020304" pitchFamily="18" charset="0"/>
              </a:rPr>
              <a:t> through CBT model of generalized anxiety disorder </a:t>
            </a:r>
            <a:r>
              <a:rPr lang="en-IN" dirty="0">
                <a:latin typeface="Times New Roman" panose="02020603050405020304" pitchFamily="18" charset="0"/>
                <a:cs typeface="Times New Roman" panose="02020603050405020304" pitchFamily="18" charset="0"/>
              </a:rPr>
              <a:t>. </a:t>
            </a:r>
          </a:p>
          <a:p>
            <a:pPr marL="285750" indent="-285750" algn="just">
              <a:lnSpc>
                <a:spcPct val="150000"/>
              </a:lnSpc>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Diaphragmatic Breathing</a:t>
            </a:r>
            <a:r>
              <a:rPr lang="en-US" altLang="en-US" dirty="0">
                <a:latin typeface="Times New Roman" panose="02020603050405020304" pitchFamily="18" charset="0"/>
                <a:cs typeface="Times New Roman" panose="02020603050405020304" pitchFamily="18" charset="0"/>
              </a:rPr>
              <a:t> was taught in the session to manage the physiological symptoms of anxiety (Logic behind the Diaphragmatic breathing introduced -Helps to increase oxygen in blood, lower heart rate and reduce muscle tension).</a:t>
            </a:r>
          </a:p>
          <a:p>
            <a:pPr marL="285750" indent="-285750" algn="just">
              <a:lnSpc>
                <a:spcPct val="60000"/>
              </a:lnSpc>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pPr marL="285750" indent="-285750" algn="just">
              <a:lnSpc>
                <a:spcPct val="6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Homework</a:t>
            </a:r>
            <a:r>
              <a:rPr lang="en-IN" dirty="0">
                <a:latin typeface="Times New Roman" panose="02020603050405020304" pitchFamily="18" charset="0"/>
                <a:cs typeface="Times New Roman" panose="02020603050405020304" pitchFamily="18" charset="0"/>
              </a:rPr>
              <a:t> 1) Practice </a:t>
            </a:r>
            <a:r>
              <a:rPr lang="en-US" altLang="en-US" dirty="0">
                <a:latin typeface="Times New Roman" panose="02020603050405020304" pitchFamily="18" charset="0"/>
                <a:cs typeface="Times New Roman" panose="02020603050405020304" pitchFamily="18" charset="0"/>
              </a:rPr>
              <a:t>Diaphragmatic Breathing</a:t>
            </a:r>
            <a:r>
              <a:rPr lang="en-IN" dirty="0">
                <a:latin typeface="Times New Roman" panose="02020603050405020304" pitchFamily="18" charset="0"/>
                <a:cs typeface="Times New Roman" panose="02020603050405020304" pitchFamily="18" charset="0"/>
              </a:rPr>
              <a:t>  2) Identify </a:t>
            </a:r>
            <a:r>
              <a:rPr lang="en-PH" altLang="en-IN" dirty="0">
                <a:latin typeface="Times New Roman" panose="02020603050405020304" pitchFamily="18" charset="0"/>
                <a:cs typeface="Times New Roman" panose="02020603050405020304" pitchFamily="18" charset="0"/>
              </a:rPr>
              <a:t>trigers </a:t>
            </a:r>
            <a:r>
              <a:rPr lang="en-IN" dirty="0">
                <a:latin typeface="Times New Roman" panose="02020603050405020304" pitchFamily="18" charset="0"/>
                <a:cs typeface="Times New Roman" panose="02020603050405020304" pitchFamily="18" charset="0"/>
              </a:rPr>
              <a:t> that made her anxious. </a:t>
            </a:r>
          </a:p>
          <a:p>
            <a:pPr algn="just">
              <a:lnSpc>
                <a:spcPct val="60000"/>
              </a:lnSpc>
            </a:pPr>
            <a:r>
              <a:rPr lang="en-IN" dirty="0">
                <a:latin typeface="Times New Roman" panose="02020603050405020304" pitchFamily="18" charset="0"/>
                <a:cs typeface="Times New Roman" panose="02020603050405020304" pitchFamily="18" charset="0"/>
              </a:rPr>
              <a:t> </a:t>
            </a:r>
          </a:p>
          <a:p>
            <a:pPr marL="285750" indent="-285750" algn="just">
              <a:lnSpc>
                <a:spcPct val="6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Pt Feedback: </a:t>
            </a:r>
            <a:r>
              <a:rPr lang="en-IN" dirty="0">
                <a:latin typeface="Times New Roman" panose="02020603050405020304" pitchFamily="18" charset="0"/>
                <a:cs typeface="Times New Roman" panose="02020603050405020304" pitchFamily="18" charset="0"/>
              </a:rPr>
              <a:t>The patient said she was more convinced </a:t>
            </a:r>
            <a:r>
              <a:rPr lang="en-PH" altLang="en-IN" dirty="0">
                <a:latin typeface="Times New Roman" panose="02020603050405020304" pitchFamily="18" charset="0"/>
                <a:cs typeface="Times New Roman" panose="02020603050405020304" pitchFamily="18" charset="0"/>
              </a:rPr>
              <a:t>to the sessions and </a:t>
            </a:r>
            <a:r>
              <a:rPr lang="en-IN" dirty="0">
                <a:latin typeface="Times New Roman" panose="02020603050405020304" pitchFamily="18" charset="0"/>
                <a:cs typeface="Times New Roman" panose="02020603050405020304" pitchFamily="18" charset="0"/>
              </a:rPr>
              <a:t> trusting regarding therapy. </a:t>
            </a:r>
          </a:p>
          <a:p>
            <a:pPr marL="285750" indent="-285750" algn="just">
              <a:lnSpc>
                <a:spcPct val="6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just">
              <a:lnSpc>
                <a:spcPct val="6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Plan for the next session:  </a:t>
            </a:r>
            <a:r>
              <a:rPr lang="en-PH" altLang="en-IN" b="1" dirty="0">
                <a:latin typeface="Times New Roman" panose="02020603050405020304" pitchFamily="18" charset="0"/>
                <a:cs typeface="Times New Roman" panose="02020603050405020304" pitchFamily="18" charset="0"/>
              </a:rPr>
              <a:t>U</a:t>
            </a:r>
            <a:r>
              <a:rPr lang="en-PH" altLang="en-IN" dirty="0">
                <a:latin typeface="Times New Roman" panose="02020603050405020304" pitchFamily="18" charset="0"/>
                <a:cs typeface="Times New Roman" panose="02020603050405020304" pitchFamily="18" charset="0"/>
              </a:rPr>
              <a:t>nderstanding of anxiety activating events, beliefs, and its consequences  </a:t>
            </a:r>
          </a:p>
        </p:txBody>
      </p:sp>
      <p:sp>
        <p:nvSpPr>
          <p:cNvPr id="2" name="Title 22"/>
          <p:cNvSpPr txBox="1"/>
          <p:nvPr/>
        </p:nvSpPr>
        <p:spPr>
          <a:xfrm>
            <a:off x="160020" y="39370"/>
            <a:ext cx="2217420" cy="568325"/>
          </a:xfrm>
          <a:prstGeom prst="rect">
            <a:avLst/>
          </a:prstGeom>
        </p:spPr>
        <p:txBody>
          <a:bodyPr vert="horz" lIns="91440" tIns="45720" rIns="914400" bIns="45720" rtlCol="0" anchor="b">
            <a:norm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2000" b="1" dirty="0">
                <a:solidFill>
                  <a:schemeClr val="tx1"/>
                </a:solidFill>
                <a:highlight>
                  <a:srgbClr val="FFFF00"/>
                </a:highlight>
              </a:rPr>
              <a:t>Session 2</a:t>
            </a:r>
            <a:r>
              <a:rPr lang="en-US" sz="2000" b="1" dirty="0">
                <a:solidFill>
                  <a:schemeClr val="accent5">
                    <a:lumMod val="75000"/>
                  </a:schemeClr>
                </a:solidFill>
                <a:highlight>
                  <a:srgbClr val="FFFF00"/>
                </a:highlight>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318770" y="497205"/>
            <a:ext cx="11687810" cy="6170930"/>
          </a:xfrm>
          <a:prstGeom prst="rect">
            <a:avLst/>
          </a:prstGeom>
          <a:noFill/>
        </p:spPr>
        <p:txBody>
          <a:bodyPr wrap="square">
            <a:noAutofit/>
          </a:bodyPr>
          <a:lstStyle/>
          <a:p>
            <a:pPr algn="just"/>
            <a:r>
              <a:rPr lang="en-IN" b="1" dirty="0">
                <a:latin typeface="Times New Roman" panose="02020603050405020304" pitchFamily="18" charset="0"/>
                <a:cs typeface="Times New Roman" panose="02020603050405020304" pitchFamily="18" charset="0"/>
              </a:rPr>
              <a:t>Date</a:t>
            </a:r>
            <a:r>
              <a:rPr lang="en-IN" dirty="0">
                <a:latin typeface="Times New Roman" panose="02020603050405020304" pitchFamily="18" charset="0"/>
                <a:cs typeface="Times New Roman" panose="02020603050405020304" pitchFamily="18" charset="0"/>
              </a:rPr>
              <a:t>: </a:t>
            </a:r>
            <a:r>
              <a:rPr lang="en-US" altLang="en-IN" dirty="0">
                <a:latin typeface="Times New Roman" panose="02020603050405020304" pitchFamily="18" charset="0"/>
                <a:cs typeface="Times New Roman" panose="02020603050405020304" pitchFamily="18" charset="0"/>
              </a:rPr>
              <a:t>8</a:t>
            </a:r>
            <a:r>
              <a:rPr lang="en-US" altLang="en-IN" baseline="30000" dirty="0">
                <a:latin typeface="Times New Roman" panose="02020603050405020304" pitchFamily="18" charset="0"/>
                <a:cs typeface="Times New Roman" panose="02020603050405020304" pitchFamily="18" charset="0"/>
              </a:rPr>
              <a:t>th</a:t>
            </a:r>
            <a:r>
              <a:rPr lang="en-US" altLang="en-IN" dirty="0">
                <a:latin typeface="Times New Roman" panose="02020603050405020304" pitchFamily="18" charset="0"/>
                <a:cs typeface="Times New Roman" panose="02020603050405020304" pitchFamily="18" charset="0"/>
              </a:rPr>
              <a:t> August 2026 </a:t>
            </a:r>
            <a:r>
              <a:rPr lang="en-IN" b="1" dirty="0">
                <a:latin typeface="Times New Roman" panose="02020603050405020304" pitchFamily="18" charset="0"/>
                <a:cs typeface="Times New Roman" panose="02020603050405020304" pitchFamily="18" charset="0"/>
              </a:rPr>
              <a:t>Duration</a:t>
            </a:r>
            <a:r>
              <a:rPr lang="en-IN" dirty="0">
                <a:latin typeface="Times New Roman" panose="02020603050405020304" pitchFamily="18" charset="0"/>
                <a:cs typeface="Times New Roman" panose="02020603050405020304" pitchFamily="18" charset="0"/>
              </a:rPr>
              <a:t>: 4</a:t>
            </a:r>
            <a:r>
              <a:rPr lang="en-PH" altLang="en-IN" dirty="0">
                <a:latin typeface="Times New Roman" panose="02020603050405020304" pitchFamily="18" charset="0"/>
                <a:cs typeface="Times New Roman" panose="02020603050405020304" pitchFamily="18" charset="0"/>
              </a:rPr>
              <a:t>5</a:t>
            </a:r>
            <a:r>
              <a:rPr lang="en-IN" dirty="0">
                <a:latin typeface="Times New Roman" panose="02020603050405020304" pitchFamily="18" charset="0"/>
                <a:cs typeface="Times New Roman" panose="02020603050405020304" pitchFamily="18" charset="0"/>
              </a:rPr>
              <a:t> minutes</a:t>
            </a:r>
          </a:p>
          <a:p>
            <a:pPr indent="0" algn="just">
              <a:lnSpc>
                <a:spcPct val="150000"/>
              </a:lnSpc>
              <a:buFont typeface="Arial" panose="020B0604020202020204" pitchFamily="34" charset="0"/>
              <a:buNone/>
            </a:pPr>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brief check-in </a:t>
            </a:r>
            <a:r>
              <a:rPr lang="en-IN" dirty="0">
                <a:latin typeface="Times New Roman" panose="02020603050405020304" pitchFamily="18" charset="0"/>
                <a:cs typeface="Times New Roman" panose="02020603050405020304" pitchFamily="18" charset="0"/>
              </a:rPr>
              <a:t>was done of the P</a:t>
            </a:r>
            <a:r>
              <a:rPr lang="en-PH" altLang="en-IN" dirty="0">
                <a:latin typeface="Times New Roman" panose="02020603050405020304" pitchFamily="18" charset="0"/>
                <a:cs typeface="Times New Roman" panose="02020603050405020304" pitchFamily="18" charset="0"/>
              </a:rPr>
              <a:t>atient</a:t>
            </a:r>
            <a:r>
              <a:rPr lang="en-IN" dirty="0">
                <a:latin typeface="Times New Roman" panose="02020603050405020304" pitchFamily="18" charset="0"/>
                <a:cs typeface="Times New Roman" panose="02020603050405020304" pitchFamily="18" charset="0"/>
              </a:rPr>
              <a:t>s week and how she was doing. </a:t>
            </a:r>
          </a:p>
          <a:p>
            <a:pPr indent="0" algn="l">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Goals</a:t>
            </a:r>
            <a:r>
              <a:rPr lang="en-IN" dirty="0">
                <a:latin typeface="Times New Roman" panose="02020603050405020304" pitchFamily="18" charset="0"/>
                <a:cs typeface="Times New Roman" panose="02020603050405020304" pitchFamily="18" charset="0"/>
              </a:rPr>
              <a:t>:</a:t>
            </a:r>
          </a:p>
          <a:p>
            <a:pPr indent="0" algn="l">
              <a:lnSpc>
                <a:spcPct val="150000"/>
              </a:lnSpc>
              <a:buFont typeface="Arial" panose="020B0604020202020204" pitchFamily="34" charset="0"/>
              <a:buNone/>
            </a:pPr>
            <a:r>
              <a:rPr lang="en-PH" altLang="en-IN" dirty="0">
                <a:latin typeface="Times New Roman" panose="02020603050405020304" pitchFamily="18" charset="0"/>
                <a:cs typeface="Times New Roman" panose="02020603050405020304" pitchFamily="18" charset="0"/>
              </a:rPr>
              <a:t>1. Identifying trigers that leads anxious </a:t>
            </a:r>
          </a:p>
          <a:p>
            <a:pPr indent="0" algn="l">
              <a:lnSpc>
                <a:spcPct val="150000"/>
              </a:lnSpc>
              <a:buFont typeface="Arial" panose="020B0604020202020204" pitchFamily="34" charset="0"/>
              <a:buNone/>
            </a:pPr>
            <a:r>
              <a:rPr lang="en-PH" altLang="en-IN"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Using ABC model for understanding connection between thoughts, emotions and behaviour.</a:t>
            </a:r>
            <a:endParaRPr lang="en-US" altLang="en-US" dirty="0">
              <a:latin typeface="Times New Roman" panose="02020603050405020304" pitchFamily="18" charset="0"/>
              <a:cs typeface="Times New Roman" panose="02020603050405020304" pitchFamily="18" charset="0"/>
            </a:endParaRPr>
          </a:p>
          <a:p>
            <a:pPr indent="0" algn="l">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Homework was discussed </a:t>
            </a:r>
            <a:r>
              <a:rPr lang="en-IN" dirty="0">
                <a:latin typeface="Times New Roman" panose="02020603050405020304" pitchFamily="18" charset="0"/>
                <a:cs typeface="Times New Roman" panose="02020603050405020304" pitchFamily="18" charset="0"/>
              </a:rPr>
              <a:t>- </a:t>
            </a:r>
          </a:p>
          <a:p>
            <a:pPr indent="0" algn="l">
              <a:lnSpc>
                <a:spcPct val="150000"/>
              </a:lnSpc>
              <a:buFont typeface="Arial" panose="020B0604020202020204" pitchFamily="34" charset="0"/>
            </a:pPr>
            <a:r>
              <a:rPr lang="en-US" altLang="en-US" dirty="0">
                <a:latin typeface="Times New Roman" panose="02020603050405020304" pitchFamily="18" charset="0"/>
                <a:cs typeface="Times New Roman" panose="02020603050405020304" pitchFamily="18" charset="0"/>
              </a:rPr>
              <a:t>She found diaphragmatic breathing to be effective in reducing </a:t>
            </a:r>
            <a:r>
              <a:rPr lang="en-PH" altLang="en-US" dirty="0">
                <a:latin typeface="Times New Roman" panose="02020603050405020304" pitchFamily="18" charset="0"/>
                <a:cs typeface="Times New Roman" panose="02020603050405020304" pitchFamily="18" charset="0"/>
              </a:rPr>
              <a:t>her stress and tension</a:t>
            </a:r>
            <a:r>
              <a:rPr lang="en-US" altLang="en-US" dirty="0">
                <a:latin typeface="Times New Roman" panose="02020603050405020304" pitchFamily="18" charset="0"/>
                <a:cs typeface="Times New Roman" panose="02020603050405020304" pitchFamily="18" charset="0"/>
              </a:rPr>
              <a:t>.</a:t>
            </a:r>
          </a:p>
          <a:p>
            <a:pPr indent="0" algn="l">
              <a:lnSpc>
                <a:spcPct val="150000"/>
              </a:lnSpc>
              <a:buFont typeface="Arial" panose="020B0604020202020204" pitchFamily="34" charset="0"/>
            </a:pPr>
            <a:r>
              <a:rPr lang="en-PH" altLang="en-US" dirty="0">
                <a:latin typeface="Times New Roman" panose="02020603050405020304" pitchFamily="18" charset="0"/>
                <a:cs typeface="Times New Roman" panose="02020603050405020304" pitchFamily="18" charset="0"/>
              </a:rPr>
              <a:t>Patient</a:t>
            </a:r>
            <a:r>
              <a:rPr lang="en-US" altLang="en-US" dirty="0">
                <a:latin typeface="Times New Roman" panose="02020603050405020304" pitchFamily="18" charset="0"/>
                <a:cs typeface="Times New Roman" panose="02020603050405020304" pitchFamily="18" charset="0"/>
              </a:rPr>
              <a:t>  </a:t>
            </a:r>
            <a:r>
              <a:rPr lang="en-PH" altLang="en-US" dirty="0">
                <a:latin typeface="Times New Roman" panose="02020603050405020304" pitchFamily="18" charset="0"/>
                <a:cs typeface="Times New Roman" panose="02020603050405020304" pitchFamily="18" charset="0"/>
              </a:rPr>
              <a:t>asked to </a:t>
            </a:r>
            <a:r>
              <a:rPr lang="en-US" altLang="en-US" dirty="0">
                <a:latin typeface="Times New Roman" panose="02020603050405020304" pitchFamily="18" charset="0"/>
                <a:cs typeface="Times New Roman" panose="02020603050405020304" pitchFamily="18" charset="0"/>
              </a:rPr>
              <a:t>list</a:t>
            </a:r>
            <a:r>
              <a:rPr lang="en-PH" altLang="en-US" dirty="0">
                <a:latin typeface="Times New Roman" panose="02020603050405020304" pitchFamily="18" charset="0"/>
                <a:cs typeface="Times New Roman" panose="02020603050405020304" pitchFamily="18" charset="0"/>
              </a:rPr>
              <a:t>  triggers</a:t>
            </a:r>
            <a:r>
              <a:rPr lang="en-US" altLang="en-US" dirty="0">
                <a:latin typeface="Times New Roman" panose="02020603050405020304" pitchFamily="18" charset="0"/>
                <a:cs typeface="Times New Roman" panose="02020603050405020304" pitchFamily="18" charset="0"/>
              </a:rPr>
              <a:t> </a:t>
            </a:r>
            <a:r>
              <a:rPr lang="en-PH" altLang="en-US" dirty="0">
                <a:latin typeface="Times New Roman" panose="02020603050405020304" pitchFamily="18" charset="0"/>
                <a:cs typeface="Times New Roman" panose="02020603050405020304" pitchFamily="18" charset="0"/>
              </a:rPr>
              <a:t>that leads her to </a:t>
            </a:r>
            <a:r>
              <a:rPr lang="en-US" altLang="en-US" dirty="0">
                <a:latin typeface="Times New Roman" panose="02020603050405020304" pitchFamily="18" charset="0"/>
                <a:cs typeface="Times New Roman" panose="02020603050405020304" pitchFamily="18" charset="0"/>
              </a:rPr>
              <a:t> anxious. </a:t>
            </a:r>
          </a:p>
          <a:p>
            <a:pPr indent="0" algn="l">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Psychoeducation</a:t>
            </a:r>
            <a:r>
              <a:rPr lang="en-IN" dirty="0">
                <a:latin typeface="Times New Roman" panose="02020603050405020304" pitchFamily="18" charset="0"/>
                <a:cs typeface="Times New Roman" panose="02020603050405020304" pitchFamily="18" charset="0"/>
              </a:rPr>
              <a:t> on how </a:t>
            </a:r>
            <a:r>
              <a:rPr lang="en-PH" altLang="en-IN" dirty="0">
                <a:latin typeface="Times New Roman" panose="02020603050405020304" pitchFamily="18" charset="0"/>
                <a:cs typeface="Times New Roman" panose="02020603050405020304" pitchFamily="18" charset="0"/>
              </a:rPr>
              <a:t>incidents or activating events (situstions) leads to belief or thought, and specifically when thoughts are negative or catastrophic how it leads to emotions (anxious). Pt</a:t>
            </a:r>
            <a:r>
              <a:rPr lang="en-US" altLang="en-US" dirty="0">
                <a:latin typeface="Times New Roman" panose="02020603050405020304" pitchFamily="18" charset="0"/>
                <a:cs typeface="Times New Roman" panose="02020603050405020304" pitchFamily="18" charset="0"/>
              </a:rPr>
              <a:t> was </a:t>
            </a:r>
            <a:r>
              <a:rPr lang="en-PH" altLang="en-US" dirty="0">
                <a:latin typeface="Times New Roman" panose="02020603050405020304" pitchFamily="18" charset="0"/>
                <a:cs typeface="Times New Roman" panose="02020603050405020304" pitchFamily="18" charset="0"/>
              </a:rPr>
              <a:t>then </a:t>
            </a:r>
            <a:r>
              <a:rPr lang="en-US" altLang="en-US" dirty="0">
                <a:latin typeface="Times New Roman" panose="02020603050405020304" pitchFamily="18" charset="0"/>
                <a:cs typeface="Times New Roman" panose="02020603050405020304" pitchFamily="18" charset="0"/>
              </a:rPr>
              <a:t>asked to identify her activating events related thought and emotions </a:t>
            </a:r>
            <a:r>
              <a:rPr lang="en-PH" altLang="en-US" dirty="0">
                <a:latin typeface="Times New Roman" panose="02020603050405020304" pitchFamily="18" charset="0"/>
                <a:cs typeface="Times New Roman" panose="02020603050405020304" pitchFamily="18" charset="0"/>
              </a:rPr>
              <a:t>(She found that seeing </a:t>
            </a:r>
            <a:r>
              <a:rPr lang="en-US" altLang="en-US" dirty="0">
                <a:latin typeface="Times New Roman" panose="02020603050405020304" pitchFamily="18" charset="0"/>
                <a:cs typeface="Times New Roman" panose="02020603050405020304" pitchFamily="18" charset="0"/>
              </a:rPr>
              <a:t>cousin children, whenever her child makes loud noises</a:t>
            </a:r>
            <a:r>
              <a:rPr lang="en-PH" altLang="en-US" dirty="0">
                <a:latin typeface="Times New Roman" panose="02020603050405020304" pitchFamily="18" charset="0"/>
                <a:cs typeface="Times New Roman" panose="02020603050405020304" pitchFamily="18" charset="0"/>
              </a:rPr>
              <a:t> &amp;</a:t>
            </a:r>
            <a:r>
              <a:rPr lang="en-US" altLang="en-US" dirty="0">
                <a:latin typeface="Times New Roman" panose="02020603050405020304" pitchFamily="18" charset="0"/>
                <a:cs typeface="Times New Roman" panose="02020603050405020304" pitchFamily="18" charset="0"/>
              </a:rPr>
              <a:t> different behaviour</a:t>
            </a:r>
            <a:r>
              <a:rPr lang="en-PH" altLang="en-US"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indent="0" algn="just">
              <a:lnSpc>
                <a:spcPct val="60000"/>
              </a:lnSpc>
              <a:buFont typeface="Arial" panose="020B0604020202020204" pitchFamily="34" charset="0"/>
              <a:buNone/>
            </a:pPr>
            <a:endParaRPr lang="en-IN" b="1" dirty="0">
              <a:latin typeface="Times New Roman" panose="02020603050405020304" pitchFamily="18" charset="0"/>
              <a:cs typeface="Times New Roman" panose="02020603050405020304" pitchFamily="18" charset="0"/>
            </a:endParaRPr>
          </a:p>
          <a:p>
            <a:pPr indent="0" algn="just">
              <a:lnSpc>
                <a:spcPct val="7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Homework</a:t>
            </a: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 1) Continue with</a:t>
            </a: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p</a:t>
            </a:r>
            <a:r>
              <a:rPr lang="en-IN" dirty="0">
                <a:latin typeface="Times New Roman" panose="02020603050405020304" pitchFamily="18" charset="0"/>
                <a:cs typeface="Times New Roman" panose="02020603050405020304" pitchFamily="18" charset="0"/>
              </a:rPr>
              <a:t>ractice </a:t>
            </a:r>
            <a:r>
              <a:rPr lang="en-US" altLang="en-US" dirty="0">
                <a:latin typeface="Times New Roman" panose="02020603050405020304" pitchFamily="18" charset="0"/>
                <a:cs typeface="Times New Roman" panose="02020603050405020304" pitchFamily="18" charset="0"/>
              </a:rPr>
              <a:t>Diaphragmatic Breathing</a:t>
            </a:r>
            <a:r>
              <a:rPr lang="en-IN" dirty="0">
                <a:latin typeface="Times New Roman" panose="02020603050405020304" pitchFamily="18" charset="0"/>
                <a:cs typeface="Times New Roman" panose="02020603050405020304" pitchFamily="18" charset="0"/>
              </a:rPr>
              <a:t>  2) </a:t>
            </a:r>
            <a:r>
              <a:rPr lang="en-PH" altLang="en-IN" dirty="0">
                <a:latin typeface="Times New Roman" panose="02020603050405020304" pitchFamily="18" charset="0"/>
                <a:cs typeface="Times New Roman" panose="02020603050405020304" pitchFamily="18" charset="0"/>
              </a:rPr>
              <a:t>Asked to keep ABC chart for monitoring her triggers.</a:t>
            </a:r>
            <a:endParaRPr lang="en-IN" dirty="0">
              <a:latin typeface="Times New Roman" panose="02020603050405020304" pitchFamily="18" charset="0"/>
              <a:cs typeface="Times New Roman" panose="02020603050405020304" pitchFamily="18" charset="0"/>
            </a:endParaRPr>
          </a:p>
          <a:p>
            <a:pPr algn="just">
              <a:lnSpc>
                <a:spcPct val="70000"/>
              </a:lnSpc>
            </a:pPr>
            <a:r>
              <a:rPr lang="en-IN" dirty="0">
                <a:latin typeface="Times New Roman" panose="02020603050405020304" pitchFamily="18" charset="0"/>
                <a:cs typeface="Times New Roman" panose="02020603050405020304" pitchFamily="18" charset="0"/>
              </a:rPr>
              <a:t> </a:t>
            </a:r>
          </a:p>
          <a:p>
            <a:pPr indent="0" algn="just">
              <a:lnSpc>
                <a:spcPct val="12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Pt Feedback: </a:t>
            </a:r>
            <a:r>
              <a:rPr lang="en-PH" altLang="en-IN" dirty="0">
                <a:latin typeface="Times New Roman" panose="02020603050405020304" pitchFamily="18" charset="0"/>
                <a:cs typeface="Times New Roman" panose="02020603050405020304" pitchFamily="18" charset="0"/>
              </a:rPr>
              <a:t>Pt said</a:t>
            </a:r>
            <a:r>
              <a:rPr lang="en-PH" altLang="en-IN" b="1" dirty="0">
                <a:latin typeface="Times New Roman" panose="02020603050405020304" pitchFamily="18" charset="0"/>
                <a:cs typeface="Times New Roman" panose="02020603050405020304" pitchFamily="18" charset="0"/>
              </a:rPr>
              <a:t> </a:t>
            </a:r>
            <a:r>
              <a:rPr lang="en-PH" altLang="en-US" b="1"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she got clear understanding of the situation that leads to negative thoughts and how it ends up with anxiety</a:t>
            </a:r>
            <a:r>
              <a:rPr lang="en-PH"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indent="0" algn="just">
              <a:lnSpc>
                <a:spcPct val="12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Plan for the next session:</a:t>
            </a: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Elaborate more about the  </a:t>
            </a:r>
            <a:r>
              <a:rPr lang="en-US" altLang="en-US" dirty="0">
                <a:latin typeface="Times New Roman" panose="02020603050405020304" pitchFamily="18" charset="0"/>
                <a:cs typeface="Times New Roman" panose="02020603050405020304" pitchFamily="18" charset="0"/>
              </a:rPr>
              <a:t>cognitive, psychological and behavioural components of anxiety</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to psychoeducate her on cognitive distortions and negative automatic thoughts. </a:t>
            </a:r>
          </a:p>
          <a:p>
            <a:pPr indent="0" algn="just">
              <a:lnSpc>
                <a:spcPct val="70000"/>
              </a:lnSpc>
              <a:buFont typeface="Arial" panose="020B0604020202020204" pitchFamily="34" charset="0"/>
              <a:buNone/>
            </a:pPr>
            <a:r>
              <a:rPr lang="en-IN" dirty="0">
                <a:latin typeface="Times New Roman" panose="02020603050405020304" pitchFamily="18" charset="0"/>
                <a:cs typeface="Times New Roman" panose="02020603050405020304" pitchFamily="18" charset="0"/>
              </a:rPr>
              <a:t> </a:t>
            </a:r>
          </a:p>
        </p:txBody>
      </p:sp>
      <p:sp>
        <p:nvSpPr>
          <p:cNvPr id="2" name="Title 22"/>
          <p:cNvSpPr txBox="1"/>
          <p:nvPr/>
        </p:nvSpPr>
        <p:spPr>
          <a:xfrm>
            <a:off x="160020" y="39370"/>
            <a:ext cx="2217420" cy="473710"/>
          </a:xfrm>
          <a:prstGeom prst="rect">
            <a:avLst/>
          </a:prstGeom>
        </p:spPr>
        <p:txBody>
          <a:bodyPr vert="horz" lIns="91440" tIns="45720" rIns="914400" bIns="45720" rtlCol="0" anchor="b">
            <a:norm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2000" b="1" dirty="0">
                <a:solidFill>
                  <a:schemeClr val="tx1"/>
                </a:solidFill>
                <a:highlight>
                  <a:srgbClr val="FFFF00"/>
                </a:highlight>
              </a:rPr>
              <a:t>Session </a:t>
            </a:r>
            <a:r>
              <a:rPr lang="en-PH" altLang="en-US" sz="2000" b="1" dirty="0">
                <a:solidFill>
                  <a:schemeClr val="tx1"/>
                </a:solidFill>
                <a:highlight>
                  <a:srgbClr val="FFFF00"/>
                </a:highlight>
              </a:rPr>
              <a:t>3</a:t>
            </a:r>
            <a:r>
              <a:rPr lang="en-US" sz="2000" b="1" dirty="0">
                <a:solidFill>
                  <a:schemeClr val="accent5">
                    <a:lumMod val="75000"/>
                  </a:schemeClr>
                </a:solidFill>
                <a:highlight>
                  <a:srgbClr val="FFFF00"/>
                </a:highlight>
              </a:rPr>
              <a:t> </a:t>
            </a:r>
          </a:p>
        </p:txBody>
      </p:sp>
      <p:cxnSp>
        <p:nvCxnSpPr>
          <p:cNvPr id="3" name="Straight Connector 2"/>
          <p:cNvCxnSpPr/>
          <p:nvPr/>
        </p:nvCxnSpPr>
        <p:spPr>
          <a:xfrm flipH="1">
            <a:off x="9424670" y="2099310"/>
            <a:ext cx="902335" cy="1463040"/>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cxnSp>
        <p:nvCxnSpPr>
          <p:cNvPr id="4" name="Straight Connector 3"/>
          <p:cNvCxnSpPr/>
          <p:nvPr/>
        </p:nvCxnSpPr>
        <p:spPr>
          <a:xfrm>
            <a:off x="10514965" y="2203450"/>
            <a:ext cx="1062990" cy="1440180"/>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cxnSp>
        <p:nvCxnSpPr>
          <p:cNvPr id="5" name="Straight Connector 4"/>
          <p:cNvCxnSpPr/>
          <p:nvPr/>
        </p:nvCxnSpPr>
        <p:spPr>
          <a:xfrm flipV="1">
            <a:off x="9518015" y="3634105"/>
            <a:ext cx="1988185" cy="22860"/>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sp>
        <p:nvSpPr>
          <p:cNvPr id="6" name="Oval 5"/>
          <p:cNvSpPr/>
          <p:nvPr/>
        </p:nvSpPr>
        <p:spPr>
          <a:xfrm>
            <a:off x="10128250" y="1718310"/>
            <a:ext cx="530225" cy="548005"/>
          </a:xfrm>
          <a:prstGeom prst="ellipse">
            <a:avLst/>
          </a:prstGeom>
          <a:solidFill>
            <a:schemeClr val="tx1"/>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PH" altLang="zh-CN" sz="1800" b="1" i="0" u="none" strike="noStrike" cap="none" normalizeH="0" baseline="0">
                <a:ln>
                  <a:noFill/>
                </a:ln>
                <a:solidFill>
                  <a:schemeClr val="bg1"/>
                </a:solidFill>
                <a:effectLst/>
                <a:latin typeface="Arial" panose="020B0604020202020204" pitchFamily="34" charset="0"/>
                <a:ea typeface="SimSun" panose="02010600030101010101" pitchFamily="2" charset="-122"/>
              </a:rPr>
              <a:t>A</a:t>
            </a:r>
          </a:p>
        </p:txBody>
      </p:sp>
      <p:sp>
        <p:nvSpPr>
          <p:cNvPr id="7" name="Oval 6"/>
          <p:cNvSpPr/>
          <p:nvPr/>
        </p:nvSpPr>
        <p:spPr>
          <a:xfrm>
            <a:off x="9110345" y="3293110"/>
            <a:ext cx="558165" cy="536575"/>
          </a:xfrm>
          <a:prstGeom prst="ellipse">
            <a:avLst/>
          </a:prstGeom>
          <a:solidFill>
            <a:schemeClr val="tx1"/>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PH" altLang="zh-CN"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a:t>
            </a:r>
          </a:p>
        </p:txBody>
      </p:sp>
      <p:sp>
        <p:nvSpPr>
          <p:cNvPr id="8" name="Oval 7"/>
          <p:cNvSpPr/>
          <p:nvPr/>
        </p:nvSpPr>
        <p:spPr>
          <a:xfrm>
            <a:off x="11128375" y="3289935"/>
            <a:ext cx="541020" cy="517525"/>
          </a:xfrm>
          <a:prstGeom prst="ellipse">
            <a:avLst/>
          </a:prstGeom>
          <a:solidFill>
            <a:schemeClr val="tx1"/>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PH" altLang="zh-CN" sz="1800" b="1" i="0" u="none" strike="noStrike" cap="none" normalizeH="0" baseline="0">
                <a:ln>
                  <a:noFill/>
                </a:ln>
                <a:solidFill>
                  <a:schemeClr val="bg1"/>
                </a:solidFill>
                <a:effectLst/>
                <a:latin typeface="Arial" panose="020B0604020202020204" pitchFamily="34" charset="0"/>
                <a:ea typeface="SimSun" panose="02010600030101010101" pitchFamily="2" charset="-122"/>
              </a:rPr>
              <a:t>C</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276860" y="750570"/>
            <a:ext cx="11719560" cy="5917565"/>
          </a:xfrm>
          <a:prstGeom prst="rect">
            <a:avLst/>
          </a:prstGeom>
          <a:noFill/>
        </p:spPr>
        <p:txBody>
          <a:bodyPr wrap="square">
            <a:noAutofit/>
          </a:bodyPr>
          <a:lstStyle/>
          <a:p>
            <a:pPr algn="just"/>
            <a:r>
              <a:rPr lang="en-IN" b="1" dirty="0">
                <a:latin typeface="Times New Roman" panose="02020603050405020304" pitchFamily="18" charset="0"/>
                <a:cs typeface="Times New Roman" panose="02020603050405020304" pitchFamily="18" charset="0"/>
              </a:rPr>
              <a:t>Date</a:t>
            </a:r>
            <a:r>
              <a:rPr lang="en-IN" dirty="0">
                <a:latin typeface="Times New Roman" panose="02020603050405020304" pitchFamily="18" charset="0"/>
                <a:cs typeface="Times New Roman" panose="02020603050405020304" pitchFamily="18" charset="0"/>
              </a:rPr>
              <a:t>: </a:t>
            </a:r>
            <a:r>
              <a:rPr lang="en-US" altLang="en-IN" dirty="0">
                <a:latin typeface="Times New Roman" panose="02020603050405020304" pitchFamily="18" charset="0"/>
                <a:cs typeface="Times New Roman" panose="02020603050405020304" pitchFamily="18" charset="0"/>
              </a:rPr>
              <a:t>13</a:t>
            </a:r>
            <a:r>
              <a:rPr lang="en-US" altLang="en-IN" baseline="30000" dirty="0">
                <a:latin typeface="Times New Roman" panose="02020603050405020304" pitchFamily="18" charset="0"/>
                <a:cs typeface="Times New Roman" panose="02020603050405020304" pitchFamily="18" charset="0"/>
              </a:rPr>
              <a:t>th</a:t>
            </a:r>
            <a:r>
              <a:rPr lang="en-US" altLang="en-IN" dirty="0">
                <a:latin typeface="Times New Roman" panose="02020603050405020304" pitchFamily="18" charset="0"/>
                <a:cs typeface="Times New Roman" panose="02020603050405020304" pitchFamily="18" charset="0"/>
              </a:rPr>
              <a:t> August 2026</a:t>
            </a:r>
            <a:r>
              <a:rPr lang="en-PH" altLang="en-IN"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Duration</a:t>
            </a:r>
            <a:r>
              <a:rPr lang="en-IN" dirty="0">
                <a:latin typeface="Times New Roman" panose="02020603050405020304" pitchFamily="18" charset="0"/>
                <a:cs typeface="Times New Roman" panose="02020603050405020304" pitchFamily="18" charset="0"/>
              </a:rPr>
              <a:t>: </a:t>
            </a:r>
            <a:r>
              <a:rPr lang="en-US" altLang="en-IN" dirty="0">
                <a:latin typeface="Times New Roman" panose="02020603050405020304" pitchFamily="18" charset="0"/>
                <a:cs typeface="Times New Roman" panose="02020603050405020304" pitchFamily="18" charset="0"/>
              </a:rPr>
              <a:t>1 hour</a:t>
            </a:r>
            <a:r>
              <a:rPr lang="en-PH" alt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indent="0" algn="just">
              <a:lnSpc>
                <a:spcPct val="150000"/>
              </a:lnSpc>
              <a:buFont typeface="Arial" panose="020B0604020202020204" pitchFamily="34" charset="0"/>
              <a:buNone/>
            </a:pPr>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brief check-in </a:t>
            </a:r>
            <a:r>
              <a:rPr lang="en-IN" dirty="0">
                <a:latin typeface="Times New Roman" panose="02020603050405020304" pitchFamily="18" charset="0"/>
                <a:cs typeface="Times New Roman" panose="02020603050405020304" pitchFamily="18" charset="0"/>
              </a:rPr>
              <a:t>was done of the P</a:t>
            </a:r>
            <a:r>
              <a:rPr lang="en-PH" altLang="en-IN" dirty="0">
                <a:latin typeface="Times New Roman" panose="02020603050405020304" pitchFamily="18" charset="0"/>
                <a:cs typeface="Times New Roman" panose="02020603050405020304" pitchFamily="18" charset="0"/>
              </a:rPr>
              <a:t>atient</a:t>
            </a:r>
            <a:r>
              <a:rPr lang="en-IN" dirty="0">
                <a:latin typeface="Times New Roman" panose="02020603050405020304" pitchFamily="18" charset="0"/>
                <a:cs typeface="Times New Roman" panose="02020603050405020304" pitchFamily="18" charset="0"/>
              </a:rPr>
              <a:t>s week and how she was doing. </a:t>
            </a:r>
          </a:p>
          <a:p>
            <a:pPr indent="0" algn="l">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Goals</a:t>
            </a:r>
            <a:r>
              <a:rPr lang="en-IN" dirty="0">
                <a:latin typeface="Times New Roman" panose="02020603050405020304" pitchFamily="18" charset="0"/>
                <a:cs typeface="Times New Roman" panose="02020603050405020304" pitchFamily="18" charset="0"/>
              </a:rPr>
              <a:t>:</a:t>
            </a:r>
          </a:p>
          <a:p>
            <a:pPr indent="0" algn="l">
              <a:lnSpc>
                <a:spcPct val="150000"/>
              </a:lnSpc>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Elaborate more about the  cognitive, psychological and behavioural components of anxiety</a:t>
            </a:r>
            <a:r>
              <a:rPr lang="en-PH"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indent="0" algn="l">
              <a:lnSpc>
                <a:spcPct val="150000"/>
              </a:lnSpc>
              <a:buFont typeface="Arial" panose="020B0604020202020204" pitchFamily="34" charset="0"/>
              <a:buNone/>
            </a:pPr>
            <a:r>
              <a:rPr lang="en-PH" altLang="en-US" dirty="0">
                <a:latin typeface="Times New Roman" panose="02020603050405020304" pitchFamily="18" charset="0"/>
                <a:cs typeface="Times New Roman" panose="02020603050405020304" pitchFamily="18" charset="0"/>
              </a:rPr>
              <a:t>T</a:t>
            </a:r>
            <a:r>
              <a:rPr lang="en-US" altLang="en-US" dirty="0">
                <a:latin typeface="Times New Roman" panose="02020603050405020304" pitchFamily="18" charset="0"/>
                <a:cs typeface="Times New Roman" panose="02020603050405020304" pitchFamily="18" charset="0"/>
              </a:rPr>
              <a:t>o psychoeducate her on cognitive distortions and negative automatic thoughts. </a:t>
            </a:r>
          </a:p>
          <a:p>
            <a:pPr indent="0" algn="l">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Homework was discussed </a:t>
            </a:r>
            <a:r>
              <a:rPr lang="en-PH" alt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p>
          <a:p>
            <a:pPr indent="0" algn="just">
              <a:lnSpc>
                <a:spcPct val="150000"/>
              </a:lnSpc>
              <a:buFont typeface="Arial" panose="020B0604020202020204" pitchFamily="34" charset="0"/>
            </a:pPr>
            <a:r>
              <a:rPr lang="en-US" altLang="en-US" dirty="0">
                <a:latin typeface="Times New Roman" panose="02020603050405020304" pitchFamily="18" charset="0"/>
                <a:cs typeface="Times New Roman" panose="02020603050405020304" pitchFamily="18" charset="0"/>
              </a:rPr>
              <a:t>Therapist evaluated homework, </a:t>
            </a:r>
            <a:r>
              <a:rPr lang="en-PH" altLang="en-US" dirty="0">
                <a:latin typeface="Times New Roman" panose="02020603050405020304" pitchFamily="18" charset="0"/>
                <a:cs typeface="Times New Roman" panose="02020603050405020304" pitchFamily="18" charset="0"/>
              </a:rPr>
              <a:t>patient now able to identify her triggers, followed thoughts and its consequences.</a:t>
            </a:r>
          </a:p>
          <a:p>
            <a:pPr indent="0" algn="just">
              <a:lnSpc>
                <a:spcPct val="150000"/>
              </a:lnSpc>
              <a:buFont typeface="Arial" panose="020B0604020202020204" pitchFamily="34" charset="0"/>
            </a:pPr>
            <a:r>
              <a:rPr lang="en-PH" altLang="en-US"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xplored more about the anxiety provoking situations</a:t>
            </a:r>
            <a:r>
              <a:rPr lang="en-PH" altLang="en-US" dirty="0">
                <a:latin typeface="Times New Roman" panose="02020603050405020304" pitchFamily="18" charset="0"/>
                <a:cs typeface="Times New Roman" panose="02020603050405020304" pitchFamily="18" charset="0"/>
              </a:rPr>
              <a:t> b</a:t>
            </a:r>
            <a:r>
              <a:rPr lang="en-US" altLang="en-US" dirty="0">
                <a:latin typeface="Times New Roman" panose="02020603050405020304" pitchFamily="18" charset="0"/>
                <a:cs typeface="Times New Roman" panose="02020603050405020304" pitchFamily="18" charset="0"/>
              </a:rPr>
              <a:t>y using Socratic</a:t>
            </a:r>
            <a:r>
              <a:rPr lang="en-PH" altLang="en-US" dirty="0">
                <a:latin typeface="Times New Roman" panose="02020603050405020304" pitchFamily="18" charset="0"/>
                <a:cs typeface="Times New Roman" panose="02020603050405020304" pitchFamily="18" charset="0"/>
              </a:rPr>
              <a:t> questioning related to his thought, emotions and physical discomfort.</a:t>
            </a:r>
            <a:r>
              <a:rPr lang="en-US" altLang="en-US" dirty="0">
                <a:latin typeface="Times New Roman" panose="02020603050405020304" pitchFamily="18" charset="0"/>
                <a:cs typeface="Times New Roman" panose="02020603050405020304" pitchFamily="18" charset="0"/>
              </a:rPr>
              <a:t> </a:t>
            </a:r>
            <a:r>
              <a:rPr lang="en-PH" altLang="en-US" dirty="0">
                <a:latin typeface="Times New Roman" panose="02020603050405020304" pitchFamily="18" charset="0"/>
                <a:cs typeface="Times New Roman" panose="02020603050405020304" pitchFamily="18" charset="0"/>
              </a:rPr>
              <a:t>Then </a:t>
            </a:r>
            <a:r>
              <a:rPr lang="en-US" altLang="en-US" dirty="0">
                <a:latin typeface="Times New Roman" panose="02020603050405020304" pitchFamily="18" charset="0"/>
                <a:cs typeface="Times New Roman" panose="02020603050405020304" pitchFamily="18" charset="0"/>
              </a:rPr>
              <a:t>the patient was</a:t>
            </a:r>
            <a:r>
              <a:rPr lang="en-US" altLang="en-US" b="1" dirty="0">
                <a:latin typeface="Times New Roman" panose="02020603050405020304" pitchFamily="18" charset="0"/>
                <a:cs typeface="Times New Roman" panose="02020603050405020304" pitchFamily="18" charset="0"/>
              </a:rPr>
              <a:t> psychoeducated</a:t>
            </a:r>
            <a:r>
              <a:rPr lang="en-US" altLang="en-US" dirty="0">
                <a:latin typeface="Times New Roman" panose="02020603050405020304" pitchFamily="18" charset="0"/>
                <a:cs typeface="Times New Roman" panose="02020603050405020304" pitchFamily="18" charset="0"/>
              </a:rPr>
              <a:t> on the nature of cognitive distortions and negative automatic thoughts. </a:t>
            </a:r>
            <a:r>
              <a:rPr lang="en-PH" altLang="en-US" dirty="0">
                <a:latin typeface="Times New Roman" panose="02020603050405020304" pitchFamily="18" charset="0"/>
                <a:cs typeface="Times New Roman" panose="02020603050405020304" pitchFamily="18" charset="0"/>
              </a:rPr>
              <a:t>Practice was given to identifying thoughts, related emotions and its intensity.</a:t>
            </a:r>
            <a:endParaRPr lang="en-IN" dirty="0">
              <a:latin typeface="Times New Roman" panose="02020603050405020304" pitchFamily="18" charset="0"/>
              <a:cs typeface="Times New Roman" panose="02020603050405020304" pitchFamily="18" charset="0"/>
            </a:endParaRPr>
          </a:p>
          <a:p>
            <a:pPr indent="0" algn="just">
              <a:lnSpc>
                <a:spcPct val="60000"/>
              </a:lnSpc>
              <a:buFont typeface="Arial" panose="020B0604020202020204" pitchFamily="34" charset="0"/>
              <a:buNone/>
            </a:pPr>
            <a:endParaRPr lang="en-IN" b="1" dirty="0">
              <a:latin typeface="Times New Roman" panose="02020603050405020304" pitchFamily="18" charset="0"/>
              <a:cs typeface="Times New Roman" panose="02020603050405020304" pitchFamily="18" charset="0"/>
            </a:endParaRPr>
          </a:p>
          <a:p>
            <a:pPr indent="0" algn="just">
              <a:lnSpc>
                <a:spcPct val="6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Homework</a:t>
            </a: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 1) Asked to name daily automatic thoughts, followed by its emotions and intensity (0-100%).</a:t>
            </a:r>
            <a:endParaRPr lang="en-IN" dirty="0">
              <a:latin typeface="Times New Roman" panose="02020603050405020304" pitchFamily="18" charset="0"/>
              <a:cs typeface="Times New Roman" panose="02020603050405020304" pitchFamily="18" charset="0"/>
            </a:endParaRPr>
          </a:p>
          <a:p>
            <a:pPr indent="0" algn="just">
              <a:lnSpc>
                <a:spcPct val="60000"/>
              </a:lnSpc>
              <a:buFont typeface="Arial" panose="020B0604020202020204" pitchFamily="34" charset="0"/>
              <a:buNone/>
            </a:pPr>
            <a:endParaRPr lang="en-IN" altLang="en-IN" dirty="0">
              <a:latin typeface="Times New Roman" panose="02020603050405020304" pitchFamily="18" charset="0"/>
              <a:cs typeface="Times New Roman" panose="02020603050405020304" pitchFamily="18" charset="0"/>
            </a:endParaRPr>
          </a:p>
          <a:p>
            <a:pPr indent="0" algn="just">
              <a:lnSpc>
                <a:spcPct val="60000"/>
              </a:lnSpc>
              <a:buFont typeface="Arial" panose="020B0604020202020204" pitchFamily="34" charset="0"/>
              <a:buNone/>
            </a:pP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                     2)  Daily  practicing of breathing excercises.                </a:t>
            </a:r>
            <a:r>
              <a:rPr lang="en-IN" dirty="0">
                <a:latin typeface="Times New Roman" panose="02020603050405020304" pitchFamily="18" charset="0"/>
                <a:cs typeface="Times New Roman" panose="02020603050405020304" pitchFamily="18" charset="0"/>
              </a:rPr>
              <a:t> </a:t>
            </a:r>
          </a:p>
          <a:p>
            <a:pPr indent="0" algn="just">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Pt Feedback: </a:t>
            </a:r>
            <a:r>
              <a:rPr lang="en-PH" altLang="en-IN" dirty="0">
                <a:latin typeface="Times New Roman" panose="02020603050405020304" pitchFamily="18" charset="0"/>
                <a:cs typeface="Times New Roman" panose="02020603050405020304" pitchFamily="18" charset="0"/>
              </a:rPr>
              <a:t>Pt said</a:t>
            </a:r>
            <a:r>
              <a:rPr lang="en-PH" altLang="en-IN" b="1" dirty="0">
                <a:latin typeface="Times New Roman" panose="02020603050405020304" pitchFamily="18" charset="0"/>
                <a:cs typeface="Times New Roman" panose="02020603050405020304" pitchFamily="18" charset="0"/>
              </a:rPr>
              <a:t> </a:t>
            </a:r>
            <a:r>
              <a:rPr lang="en-PH" altLang="en-US" b="1" dirty="0">
                <a:latin typeface="Times New Roman" panose="02020603050405020304" pitchFamily="18" charset="0"/>
                <a:cs typeface="Times New Roman" panose="02020603050405020304" pitchFamily="18" charset="0"/>
              </a:rPr>
              <a:t>“</a:t>
            </a:r>
            <a:r>
              <a:rPr lang="en-PH" altLang="en-US" dirty="0">
                <a:latin typeface="Times New Roman" panose="02020603050405020304" pitchFamily="18" charset="0"/>
                <a:cs typeface="Times New Roman" panose="02020603050405020304" pitchFamily="18" charset="0"/>
              </a:rPr>
              <a:t>S</a:t>
            </a:r>
            <a:r>
              <a:rPr lang="en-US" altLang="en-US" dirty="0">
                <a:latin typeface="Times New Roman" panose="02020603050405020304" pitchFamily="18" charset="0"/>
                <a:cs typeface="Times New Roman" panose="02020603050405020304" pitchFamily="18" charset="0"/>
              </a:rPr>
              <a:t>he got </a:t>
            </a:r>
            <a:r>
              <a:rPr lang="en-PH" altLang="en-US" dirty="0">
                <a:latin typeface="Times New Roman" panose="02020603050405020304" pitchFamily="18" charset="0"/>
                <a:cs typeface="Times New Roman" panose="02020603050405020304" pitchFamily="18" charset="0"/>
              </a:rPr>
              <a:t>clarity about her negative thoughts, also mentioned that its difficult to identify sometimes “ </a:t>
            </a:r>
            <a:endParaRPr lang="en-IN" b="1" dirty="0">
              <a:latin typeface="Times New Roman" panose="02020603050405020304" pitchFamily="18" charset="0"/>
              <a:cs typeface="Times New Roman" panose="02020603050405020304" pitchFamily="18" charset="0"/>
            </a:endParaRPr>
          </a:p>
          <a:p>
            <a:pPr indent="0" algn="just">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Plan for the next session:</a:t>
            </a:r>
            <a:r>
              <a:rPr lang="en-PH" alt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Identify, challenge and replace </a:t>
            </a:r>
            <a:r>
              <a:rPr lang="en-PH" altLang="en-US" dirty="0">
                <a:latin typeface="Times New Roman" panose="02020603050405020304" pitchFamily="18" charset="0"/>
                <a:cs typeface="Times New Roman" panose="02020603050405020304" pitchFamily="18" charset="0"/>
              </a:rPr>
              <a:t>negative thought </a:t>
            </a:r>
            <a:r>
              <a:rPr lang="en-US" altLang="en-US" dirty="0">
                <a:latin typeface="Times New Roman" panose="02020603050405020304" pitchFamily="18" charset="0"/>
                <a:cs typeface="Times New Roman" panose="02020603050405020304" pitchFamily="18" charset="0"/>
              </a:rPr>
              <a:t>.</a:t>
            </a:r>
          </a:p>
        </p:txBody>
      </p:sp>
      <p:sp>
        <p:nvSpPr>
          <p:cNvPr id="2" name="Title 22"/>
          <p:cNvSpPr txBox="1"/>
          <p:nvPr/>
        </p:nvSpPr>
        <p:spPr>
          <a:xfrm>
            <a:off x="278130" y="71120"/>
            <a:ext cx="2217420" cy="548005"/>
          </a:xfrm>
          <a:prstGeom prst="rect">
            <a:avLst/>
          </a:prstGeom>
        </p:spPr>
        <p:txBody>
          <a:bodyPr vert="horz" lIns="91440" tIns="45720" rIns="914400" bIns="45720" rtlCol="0" anchor="b">
            <a:norm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1800" b="1" dirty="0">
                <a:solidFill>
                  <a:schemeClr val="tx1"/>
                </a:solidFill>
                <a:highlight>
                  <a:srgbClr val="FFFF00"/>
                </a:highlight>
              </a:rPr>
              <a:t>Session </a:t>
            </a:r>
            <a:r>
              <a:rPr lang="en-PH" altLang="en-US" sz="1800" b="1" dirty="0">
                <a:solidFill>
                  <a:schemeClr val="tx1"/>
                </a:solidFill>
                <a:highlight>
                  <a:srgbClr val="FFFF00"/>
                </a:highlight>
              </a:rPr>
              <a:t>4</a:t>
            </a:r>
            <a:r>
              <a:rPr lang="en-US" sz="1800" b="1" dirty="0">
                <a:solidFill>
                  <a:schemeClr val="accent5">
                    <a:lumMod val="75000"/>
                  </a:schemeClr>
                </a:solidFill>
                <a:highlight>
                  <a:srgbClr val="FFFF00"/>
                </a:highlight>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276860" y="581025"/>
            <a:ext cx="11719560" cy="6087110"/>
          </a:xfrm>
          <a:prstGeom prst="rect">
            <a:avLst/>
          </a:prstGeom>
          <a:noFill/>
        </p:spPr>
        <p:txBody>
          <a:bodyPr wrap="square">
            <a:noAutofit/>
          </a:bodyPr>
          <a:lstStyle/>
          <a:p>
            <a:pPr algn="just"/>
            <a:r>
              <a:rPr lang="en-IN" b="1" dirty="0">
                <a:latin typeface="Times New Roman" panose="02020603050405020304" pitchFamily="18" charset="0"/>
                <a:cs typeface="Times New Roman" panose="02020603050405020304" pitchFamily="18" charset="0"/>
              </a:rPr>
              <a:t>Date</a:t>
            </a:r>
            <a:r>
              <a:rPr lang="en-IN" dirty="0">
                <a:latin typeface="Times New Roman" panose="02020603050405020304" pitchFamily="18" charset="0"/>
                <a:cs typeface="Times New Roman" panose="02020603050405020304" pitchFamily="18" charset="0"/>
              </a:rPr>
              <a:t>: </a:t>
            </a:r>
            <a:r>
              <a:rPr lang="en-US" altLang="en-IN" dirty="0">
                <a:latin typeface="Times New Roman" panose="02020603050405020304" pitchFamily="18" charset="0"/>
                <a:cs typeface="Times New Roman" panose="02020603050405020304" pitchFamily="18" charset="0"/>
              </a:rPr>
              <a:t>22</a:t>
            </a:r>
            <a:r>
              <a:rPr lang="en-US" altLang="en-IN" baseline="30000" dirty="0">
                <a:latin typeface="Times New Roman" panose="02020603050405020304" pitchFamily="18" charset="0"/>
                <a:cs typeface="Times New Roman" panose="02020603050405020304" pitchFamily="18" charset="0"/>
              </a:rPr>
              <a:t>nd</a:t>
            </a:r>
            <a:r>
              <a:rPr lang="en-US" altLang="en-IN" dirty="0">
                <a:latin typeface="Times New Roman" panose="02020603050405020304" pitchFamily="18" charset="0"/>
                <a:cs typeface="Times New Roman" panose="02020603050405020304" pitchFamily="18" charset="0"/>
              </a:rPr>
              <a:t> August 2026</a:t>
            </a:r>
            <a:r>
              <a:rPr lang="en-PH" altLang="en-IN"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Duration</a:t>
            </a:r>
            <a:r>
              <a:rPr lang="en-IN" dirty="0">
                <a:latin typeface="Times New Roman" panose="02020603050405020304" pitchFamily="18" charset="0"/>
                <a:cs typeface="Times New Roman" panose="02020603050405020304" pitchFamily="18" charset="0"/>
              </a:rPr>
              <a:t>: </a:t>
            </a:r>
            <a:r>
              <a:rPr lang="en-US" altLang="en-IN" dirty="0">
                <a:latin typeface="Times New Roman" panose="02020603050405020304" pitchFamily="18" charset="0"/>
                <a:cs typeface="Times New Roman" panose="02020603050405020304" pitchFamily="18" charset="0"/>
              </a:rPr>
              <a:t>1 hour</a:t>
            </a:r>
            <a:r>
              <a:rPr lang="en-PH" alt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indent="0" algn="just">
              <a:lnSpc>
                <a:spcPct val="150000"/>
              </a:lnSpc>
              <a:buFont typeface="Arial" panose="020B0604020202020204" pitchFamily="34" charset="0"/>
              <a:buNone/>
            </a:pPr>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brief check-in </a:t>
            </a:r>
            <a:r>
              <a:rPr lang="en-IN" dirty="0">
                <a:latin typeface="Times New Roman" panose="02020603050405020304" pitchFamily="18" charset="0"/>
                <a:cs typeface="Times New Roman" panose="02020603050405020304" pitchFamily="18" charset="0"/>
              </a:rPr>
              <a:t>was done of the P</a:t>
            </a:r>
            <a:r>
              <a:rPr lang="en-PH" altLang="en-IN" dirty="0">
                <a:latin typeface="Times New Roman" panose="02020603050405020304" pitchFamily="18" charset="0"/>
                <a:cs typeface="Times New Roman" panose="02020603050405020304" pitchFamily="18" charset="0"/>
              </a:rPr>
              <a:t>atient</a:t>
            </a:r>
            <a:r>
              <a:rPr lang="en-IN" dirty="0">
                <a:latin typeface="Times New Roman" panose="02020603050405020304" pitchFamily="18" charset="0"/>
                <a:cs typeface="Times New Roman" panose="02020603050405020304" pitchFamily="18" charset="0"/>
              </a:rPr>
              <a:t>s week and how she was doing. </a:t>
            </a:r>
          </a:p>
          <a:p>
            <a:pPr indent="0" algn="l">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Goals</a:t>
            </a:r>
            <a:r>
              <a:rPr lang="en-IN" dirty="0">
                <a:latin typeface="Times New Roman" panose="02020603050405020304" pitchFamily="18" charset="0"/>
                <a:cs typeface="Times New Roman" panose="02020603050405020304" pitchFamily="18" charset="0"/>
              </a:rPr>
              <a:t>:</a:t>
            </a:r>
            <a:r>
              <a:rPr lang="en-PH" altLang="en-IN"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Identify, challenge and replace negative thought</a:t>
            </a:r>
            <a:r>
              <a:rPr lang="en-PH" altLang="en-US" dirty="0">
                <a:latin typeface="Times New Roman" panose="02020603050405020304" pitchFamily="18" charset="0"/>
                <a:cs typeface="Times New Roman" panose="02020603050405020304" pitchFamily="18" charset="0"/>
              </a:rPr>
              <a:t>s</a:t>
            </a:r>
            <a:r>
              <a:rPr lang="en-US" altLang="en-US" dirty="0">
                <a:latin typeface="Times New Roman" panose="02020603050405020304" pitchFamily="18" charset="0"/>
                <a:cs typeface="Times New Roman" panose="02020603050405020304" pitchFamily="18" charset="0"/>
              </a:rPr>
              <a:t>.</a:t>
            </a:r>
          </a:p>
          <a:p>
            <a:pPr indent="0" algn="l">
              <a:lnSpc>
                <a:spcPct val="150000"/>
              </a:lnSpc>
              <a:buFont typeface="Arial" panose="020B0604020202020204" pitchFamily="34" charset="0"/>
              <a:buNone/>
            </a:pP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To make her understand the unrealistic expectations and causes </a:t>
            </a:r>
          </a:p>
          <a:p>
            <a:pPr indent="0" algn="l">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Homework was discussed </a:t>
            </a:r>
            <a:r>
              <a:rPr lang="en-PH" alt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p>
          <a:p>
            <a:pPr indent="0" algn="just">
              <a:lnSpc>
                <a:spcPct val="160000"/>
              </a:lnSpc>
              <a:buFont typeface="Arial" panose="020B0604020202020204" pitchFamily="34" charset="0"/>
            </a:pPr>
            <a:r>
              <a:rPr lang="en-US" altLang="en-US" dirty="0">
                <a:latin typeface="Times New Roman" panose="02020603050405020304" pitchFamily="18" charset="0"/>
                <a:cs typeface="Times New Roman" panose="02020603050405020304" pitchFamily="18" charset="0"/>
              </a:rPr>
              <a:t>Therapist evaluated homework, </a:t>
            </a:r>
            <a:r>
              <a:rPr lang="en-PH" altLang="en-US" dirty="0">
                <a:latin typeface="Times New Roman" panose="02020603050405020304" pitchFamily="18" charset="0"/>
                <a:cs typeface="Times New Roman" panose="02020603050405020304" pitchFamily="18" charset="0"/>
              </a:rPr>
              <a:t>patient </a:t>
            </a:r>
            <a:r>
              <a:rPr lang="en-US" altLang="en-US" dirty="0">
                <a:latin typeface="Times New Roman" panose="02020603050405020304" pitchFamily="18" charset="0"/>
                <a:cs typeface="Times New Roman" panose="02020603050405020304" pitchFamily="18" charset="0"/>
              </a:rPr>
              <a:t>could identify her Negative Automatic Thoughts related emotions and its intensity. </a:t>
            </a:r>
          </a:p>
          <a:p>
            <a:pPr indent="0" algn="just">
              <a:lnSpc>
                <a:spcPct val="140000"/>
              </a:lnSpc>
              <a:buFont typeface="Arial" panose="020B0604020202020204" pitchFamily="34" charset="0"/>
            </a:pPr>
            <a:r>
              <a:rPr lang="en-PH" altLang="en-US" dirty="0">
                <a:latin typeface="Times New Roman" panose="02020603050405020304" pitchFamily="18" charset="0"/>
                <a:cs typeface="Times New Roman" panose="02020603050405020304" pitchFamily="18" charset="0"/>
              </a:rPr>
              <a:t>Then </a:t>
            </a:r>
            <a:r>
              <a:rPr lang="en-US" altLang="en-US" dirty="0">
                <a:latin typeface="Times New Roman" panose="02020603050405020304" pitchFamily="18" charset="0"/>
                <a:cs typeface="Times New Roman" panose="02020603050405020304" pitchFamily="18" charset="0"/>
              </a:rPr>
              <a:t>guided the patient to discover new ways of thinking and behaving by asking a series of questions. This helped her to challenge her belief and expectations.</a:t>
            </a:r>
            <a:r>
              <a:rPr lang="en-PH" altLang="en-US" dirty="0">
                <a:latin typeface="Times New Roman" panose="02020603050405020304" pitchFamily="18" charset="0"/>
                <a:cs typeface="Times New Roman" panose="02020603050405020304" pitchFamily="18" charset="0"/>
              </a:rPr>
              <a:t> Psycho education on different cognitive distortions, and asked the pt to identify what kind of distortion she is using, for example, she reported that,</a:t>
            </a:r>
            <a:r>
              <a:rPr lang="en-US" altLang="en-US" dirty="0">
                <a:latin typeface="Times New Roman" panose="02020603050405020304" pitchFamily="18" charset="0"/>
                <a:cs typeface="Times New Roman" panose="02020603050405020304" pitchFamily="18" charset="0"/>
              </a:rPr>
              <a:t> I am afraid that when child makes big noise, people will think that we are mad (pagal). </a:t>
            </a:r>
            <a:r>
              <a:rPr lang="en-PH" altLang="en-US" dirty="0">
                <a:latin typeface="Times New Roman" panose="02020603050405020304" pitchFamily="18" charset="0"/>
                <a:cs typeface="Times New Roman" panose="02020603050405020304" pitchFamily="18" charset="0"/>
              </a:rPr>
              <a:t>Here pt understood that she is assuming others are “</a:t>
            </a:r>
            <a:r>
              <a:rPr lang="en-PH" altLang="en-US" b="1" dirty="0">
                <a:latin typeface="Times New Roman" panose="02020603050405020304" pitchFamily="18" charset="0"/>
                <a:cs typeface="Times New Roman" panose="02020603050405020304" pitchFamily="18" charset="0"/>
              </a:rPr>
              <a:t>thinking we are mad</a:t>
            </a:r>
            <a:r>
              <a:rPr lang="en-PH" altLang="en-US" dirty="0">
                <a:latin typeface="Times New Roman" panose="02020603050405020304" pitchFamily="18" charset="0"/>
                <a:cs typeface="Times New Roman" panose="02020603050405020304" pitchFamily="18" charset="0"/>
              </a:rPr>
              <a:t>”  and using mindreading (distortion).This kind of her cognitive distortion highly related to anxiety.</a:t>
            </a:r>
            <a:endParaRPr lang="en-US" altLang="en-US" dirty="0">
              <a:latin typeface="Times New Roman" panose="02020603050405020304" pitchFamily="18" charset="0"/>
              <a:cs typeface="Times New Roman" panose="02020603050405020304" pitchFamily="18" charset="0"/>
            </a:endParaRPr>
          </a:p>
          <a:p>
            <a:pPr indent="0" algn="just">
              <a:lnSpc>
                <a:spcPct val="14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Homework</a:t>
            </a: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 1) </a:t>
            </a:r>
            <a:r>
              <a:rPr lang="en-US" altLang="en-US" dirty="0">
                <a:latin typeface="Times New Roman" panose="02020603050405020304" pitchFamily="18" charset="0"/>
                <a:cs typeface="Times New Roman" panose="02020603050405020304" pitchFamily="18" charset="0"/>
              </a:rPr>
              <a:t>Identify, challenge and replace negative thought </a:t>
            </a:r>
            <a:r>
              <a:rPr lang="en-PH" altLang="en-US" dirty="0">
                <a:latin typeface="Times New Roman" panose="02020603050405020304" pitchFamily="18" charset="0"/>
                <a:cs typeface="Times New Roman" panose="02020603050405020304" pitchFamily="18" charset="0"/>
              </a:rPr>
              <a:t>using daily </a:t>
            </a:r>
            <a:r>
              <a:rPr lang="en-PH" altLang="en-IN" dirty="0">
                <a:latin typeface="Times New Roman" panose="02020603050405020304" pitchFamily="18" charset="0"/>
                <a:cs typeface="Times New Roman" panose="02020603050405020304" pitchFamily="18" charset="0"/>
              </a:rPr>
              <a:t>thought dairy </a:t>
            </a:r>
          </a:p>
          <a:p>
            <a:pPr indent="0" algn="just">
              <a:lnSpc>
                <a:spcPct val="140000"/>
              </a:lnSpc>
              <a:buFont typeface="Arial" panose="020B0604020202020204" pitchFamily="34" charset="0"/>
              <a:buNone/>
            </a:pP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                     2) Daily  practicing of breathing excercises.                </a:t>
            </a:r>
            <a:r>
              <a:rPr lang="en-IN" dirty="0">
                <a:latin typeface="Times New Roman" panose="02020603050405020304" pitchFamily="18" charset="0"/>
                <a:cs typeface="Times New Roman" panose="02020603050405020304" pitchFamily="18" charset="0"/>
              </a:rPr>
              <a:t> </a:t>
            </a:r>
          </a:p>
          <a:p>
            <a:pPr indent="0" algn="just">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Pt Feedback: </a:t>
            </a:r>
            <a:r>
              <a:rPr lang="en-PH" altLang="en-IN" dirty="0">
                <a:latin typeface="Times New Roman" panose="02020603050405020304" pitchFamily="18" charset="0"/>
                <a:cs typeface="Times New Roman" panose="02020603050405020304" pitchFamily="18" charset="0"/>
              </a:rPr>
              <a:t>Patient reported that now she understood whats going on her, able to monitor her thought.</a:t>
            </a:r>
            <a:r>
              <a:rPr lang="en-PH" alt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indent="0" algn="just">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Plan for the next session:</a:t>
            </a:r>
            <a:r>
              <a:rPr lang="en-PH" alt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C</a:t>
            </a:r>
            <a:r>
              <a:rPr lang="en-US" altLang="en-US" dirty="0">
                <a:latin typeface="Times New Roman" panose="02020603050405020304" pitchFamily="18" charset="0"/>
                <a:cs typeface="Times New Roman" panose="02020603050405020304" pitchFamily="18" charset="0"/>
              </a:rPr>
              <a:t>ontinuity of this session</a:t>
            </a:r>
            <a:r>
              <a:rPr lang="en-PH" altLang="en-US" dirty="0">
                <a:latin typeface="Times New Roman" panose="02020603050405020304" pitchFamily="18" charset="0"/>
                <a:cs typeface="Times New Roman" panose="02020603050405020304" pitchFamily="18" charset="0"/>
              </a:rPr>
              <a:t> &amp; </a:t>
            </a:r>
            <a:r>
              <a:rPr lang="en-US" altLang="en-US" dirty="0">
                <a:latin typeface="Times New Roman" panose="02020603050405020304" pitchFamily="18" charset="0"/>
                <a:cs typeface="Times New Roman" panose="02020603050405020304" pitchFamily="18" charset="0"/>
              </a:rPr>
              <a:t> Evaluation of thought dairy</a:t>
            </a:r>
          </a:p>
        </p:txBody>
      </p:sp>
      <p:sp>
        <p:nvSpPr>
          <p:cNvPr id="2" name="Title 22"/>
          <p:cNvSpPr txBox="1"/>
          <p:nvPr/>
        </p:nvSpPr>
        <p:spPr>
          <a:xfrm>
            <a:off x="341630" y="71120"/>
            <a:ext cx="2153920" cy="526415"/>
          </a:xfrm>
          <a:prstGeom prst="rect">
            <a:avLst/>
          </a:prstGeom>
        </p:spPr>
        <p:txBody>
          <a:bodyPr vert="horz" lIns="91440" tIns="45720" rIns="914400" bIns="45720" rtlCol="0" anchor="b">
            <a:norm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1800" b="1" dirty="0">
                <a:solidFill>
                  <a:schemeClr val="tx1"/>
                </a:solidFill>
                <a:highlight>
                  <a:srgbClr val="FFFF00"/>
                </a:highlight>
              </a:rPr>
              <a:t>Session </a:t>
            </a:r>
            <a:r>
              <a:rPr lang="en-PH" altLang="en-US" sz="1800" b="1" dirty="0">
                <a:solidFill>
                  <a:schemeClr val="tx1"/>
                </a:solidFill>
                <a:highlight>
                  <a:srgbClr val="FFFF00"/>
                </a:highlight>
              </a:rPr>
              <a:t>5</a:t>
            </a:r>
            <a:r>
              <a:rPr lang="en-US" sz="1800" b="1" dirty="0">
                <a:solidFill>
                  <a:schemeClr val="accent5">
                    <a:lumMod val="75000"/>
                  </a:schemeClr>
                </a:solidFill>
                <a:highlight>
                  <a:srgbClr val="FFFF00"/>
                </a:highlight>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382270" y="410210"/>
            <a:ext cx="11572240" cy="6014085"/>
          </a:xfrm>
          <a:prstGeom prst="rect">
            <a:avLst/>
          </a:prstGeom>
          <a:noFill/>
        </p:spPr>
        <p:txBody>
          <a:bodyPr wrap="square">
            <a:noAutofit/>
          </a:bodyPr>
          <a:lstStyle/>
          <a:p>
            <a:pPr algn="just"/>
            <a:r>
              <a:rPr lang="en-IN" b="1" dirty="0">
                <a:latin typeface="Times New Roman" panose="02020603050405020304" pitchFamily="18" charset="0"/>
                <a:cs typeface="Times New Roman" panose="02020603050405020304" pitchFamily="18" charset="0"/>
              </a:rPr>
              <a:t>Date</a:t>
            </a:r>
            <a:r>
              <a:rPr lang="en-IN" dirty="0">
                <a:latin typeface="Times New Roman" panose="02020603050405020304" pitchFamily="18" charset="0"/>
                <a:cs typeface="Times New Roman" panose="02020603050405020304" pitchFamily="18" charset="0"/>
              </a:rPr>
              <a:t>: </a:t>
            </a:r>
            <a:r>
              <a:rPr lang="en-US" altLang="en-IN" dirty="0">
                <a:latin typeface="Times New Roman" panose="02020603050405020304" pitchFamily="18" charset="0"/>
                <a:cs typeface="Times New Roman" panose="02020603050405020304" pitchFamily="18" charset="0"/>
              </a:rPr>
              <a:t>27th August 2026</a:t>
            </a:r>
            <a:r>
              <a:rPr lang="en-PH" altLang="en-IN"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Duration</a:t>
            </a:r>
            <a:r>
              <a:rPr lang="en-IN" dirty="0">
                <a:latin typeface="Times New Roman" panose="02020603050405020304" pitchFamily="18" charset="0"/>
                <a:cs typeface="Times New Roman" panose="02020603050405020304" pitchFamily="18" charset="0"/>
              </a:rPr>
              <a:t>: </a:t>
            </a:r>
            <a:r>
              <a:rPr lang="en-US" altLang="en-IN" dirty="0">
                <a:latin typeface="Times New Roman" panose="02020603050405020304" pitchFamily="18" charset="0"/>
                <a:cs typeface="Times New Roman" panose="02020603050405020304" pitchFamily="18" charset="0"/>
              </a:rPr>
              <a:t>1 hour</a:t>
            </a:r>
            <a:r>
              <a:rPr lang="en-PH" alt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indent="0" algn="just">
              <a:lnSpc>
                <a:spcPct val="150000"/>
              </a:lnSpc>
              <a:buFont typeface="Arial" panose="020B0604020202020204" pitchFamily="34" charset="0"/>
              <a:buNone/>
            </a:pPr>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brief check-in </a:t>
            </a:r>
            <a:r>
              <a:rPr lang="en-IN" dirty="0">
                <a:latin typeface="Times New Roman" panose="02020603050405020304" pitchFamily="18" charset="0"/>
                <a:cs typeface="Times New Roman" panose="02020603050405020304" pitchFamily="18" charset="0"/>
              </a:rPr>
              <a:t>was done of the P</a:t>
            </a:r>
            <a:r>
              <a:rPr lang="en-PH" altLang="en-IN" dirty="0">
                <a:latin typeface="Times New Roman" panose="02020603050405020304" pitchFamily="18" charset="0"/>
                <a:cs typeface="Times New Roman" panose="02020603050405020304" pitchFamily="18" charset="0"/>
              </a:rPr>
              <a:t>atient</a:t>
            </a:r>
            <a:r>
              <a:rPr lang="en-IN" dirty="0">
                <a:latin typeface="Times New Roman" panose="02020603050405020304" pitchFamily="18" charset="0"/>
                <a:cs typeface="Times New Roman" panose="02020603050405020304" pitchFamily="18" charset="0"/>
              </a:rPr>
              <a:t>s week and how she was doing. </a:t>
            </a:r>
          </a:p>
          <a:p>
            <a:pPr indent="0" algn="l">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Goals</a:t>
            </a:r>
            <a:r>
              <a:rPr lang="en-IN" dirty="0">
                <a:latin typeface="Times New Roman" panose="02020603050405020304" pitchFamily="18" charset="0"/>
                <a:cs typeface="Times New Roman" panose="02020603050405020304" pitchFamily="18" charset="0"/>
              </a:rPr>
              <a:t>:</a:t>
            </a:r>
            <a:r>
              <a:rPr lang="en-PH" altLang="en-IN" dirty="0">
                <a:latin typeface="Times New Roman" panose="02020603050405020304" pitchFamily="18" charset="0"/>
                <a:cs typeface="Times New Roman" panose="02020603050405020304" pitchFamily="18" charset="0"/>
              </a:rPr>
              <a:t> Evaluation of </a:t>
            </a:r>
            <a:r>
              <a:rPr lang="en-US" altLang="en-US" dirty="0">
                <a:latin typeface="Times New Roman" panose="02020603050405020304" pitchFamily="18" charset="0"/>
                <a:cs typeface="Times New Roman" panose="02020603050405020304" pitchFamily="18" charset="0"/>
              </a:rPr>
              <a:t> thought</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replacing biased fearful self-talk with positive realistic ways</a:t>
            </a:r>
            <a:r>
              <a:rPr lang="en-PH"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t>
            </a:r>
          </a:p>
          <a:p>
            <a:pPr indent="0" algn="l">
              <a:lnSpc>
                <a:spcPct val="150000"/>
              </a:lnSpc>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 </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To teach reframing negative thoughts by affirmation</a:t>
            </a:r>
            <a:r>
              <a:rPr lang="en-PH" altLang="en-US" dirty="0">
                <a:latin typeface="Times New Roman" panose="02020603050405020304" pitchFamily="18" charset="0"/>
                <a:cs typeface="Times New Roman" panose="02020603050405020304" pitchFamily="18" charset="0"/>
              </a:rPr>
              <a:t>           </a:t>
            </a:r>
          </a:p>
          <a:p>
            <a:pPr indent="0" algn="l">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Homework was discussed </a:t>
            </a:r>
            <a:r>
              <a:rPr lang="en-PH" alt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Therapist evaluated  </a:t>
            </a:r>
            <a:r>
              <a:rPr lang="en-PH" altLang="en-US" dirty="0">
                <a:latin typeface="Times New Roman" panose="02020603050405020304" pitchFamily="18" charset="0"/>
                <a:cs typeface="Times New Roman" panose="02020603050405020304" pitchFamily="18" charset="0"/>
              </a:rPr>
              <a:t>patient thought dairy and clarified her doubt .</a:t>
            </a:r>
            <a:endParaRPr lang="en-US" altLang="en-US" dirty="0">
              <a:latin typeface="Times New Roman" panose="02020603050405020304" pitchFamily="18" charset="0"/>
              <a:cs typeface="Times New Roman" panose="02020603050405020304" pitchFamily="18" charset="0"/>
            </a:endParaRPr>
          </a:p>
          <a:p>
            <a:pPr indent="0" algn="just">
              <a:lnSpc>
                <a:spcPct val="160000"/>
              </a:lnSpc>
              <a:buFont typeface="Arial" panose="020B0604020202020204" pitchFamily="34" charset="0"/>
            </a:pPr>
            <a:r>
              <a:rPr lang="en-US" altLang="en-US" dirty="0">
                <a:latin typeface="Times New Roman" panose="02020603050405020304" pitchFamily="18" charset="0"/>
                <a:cs typeface="Times New Roman" panose="02020603050405020304" pitchFamily="18" charset="0"/>
              </a:rPr>
              <a:t>This session </a:t>
            </a:r>
            <a:r>
              <a:rPr lang="en-PH" altLang="en-US" dirty="0">
                <a:latin typeface="Times New Roman" panose="02020603050405020304" pitchFamily="18" charset="0"/>
                <a:cs typeface="Times New Roman" panose="02020603050405020304" pitchFamily="18" charset="0"/>
              </a:rPr>
              <a:t>was</a:t>
            </a:r>
            <a:r>
              <a:rPr lang="en-US" altLang="en-US" dirty="0">
                <a:latin typeface="Times New Roman" panose="02020603050405020304" pitchFamily="18" charset="0"/>
                <a:cs typeface="Times New Roman" panose="02020603050405020304" pitchFamily="18" charset="0"/>
              </a:rPr>
              <a:t> the continuation of the previous session. </a:t>
            </a:r>
            <a:r>
              <a:rPr lang="en-PH" altLang="en-US" dirty="0">
                <a:latin typeface="Times New Roman" panose="02020603050405020304" pitchFamily="18" charset="0"/>
                <a:cs typeface="Times New Roman" panose="02020603050405020304" pitchFamily="18" charset="0"/>
              </a:rPr>
              <a:t>S</a:t>
            </a:r>
            <a:r>
              <a:rPr lang="en-US" altLang="en-US" dirty="0">
                <a:latin typeface="Times New Roman" panose="02020603050405020304" pitchFamily="18" charset="0"/>
                <a:cs typeface="Times New Roman" panose="02020603050405020304" pitchFamily="18" charset="0"/>
              </a:rPr>
              <a:t>ession focused more on to help the patient to identify and label what kind of distortion is affecting her. </a:t>
            </a:r>
            <a:r>
              <a:rPr lang="en-PH" altLang="en-US" dirty="0">
                <a:latin typeface="Times New Roman" panose="02020603050405020304" pitchFamily="18" charset="0"/>
                <a:cs typeface="Times New Roman" panose="02020603050405020304" pitchFamily="18" charset="0"/>
              </a:rPr>
              <a:t>Patient understood that,</a:t>
            </a:r>
            <a:r>
              <a:rPr lang="en-US" altLang="en-US" dirty="0">
                <a:latin typeface="Times New Roman" panose="02020603050405020304" pitchFamily="18" charset="0"/>
                <a:cs typeface="Times New Roman" panose="02020603050405020304" pitchFamily="18" charset="0"/>
              </a:rPr>
              <a:t> there is no evidence for </a:t>
            </a:r>
            <a:r>
              <a:rPr lang="en-PH" altLang="en-US" dirty="0">
                <a:latin typeface="Times New Roman" panose="02020603050405020304" pitchFamily="18" charset="0"/>
                <a:cs typeface="Times New Roman" panose="02020603050405020304" pitchFamily="18" charset="0"/>
              </a:rPr>
              <a:t>many of her </a:t>
            </a:r>
            <a:r>
              <a:rPr lang="en-US" altLang="en-US" dirty="0">
                <a:latin typeface="Times New Roman" panose="02020603050405020304" pitchFamily="18" charset="0"/>
                <a:cs typeface="Times New Roman" panose="02020603050405020304" pitchFamily="18" charset="0"/>
              </a:rPr>
              <a:t>belief, </a:t>
            </a:r>
            <a:r>
              <a:rPr lang="en-PH" altLang="en-US" dirty="0">
                <a:latin typeface="Times New Roman" panose="02020603050405020304" pitchFamily="18" charset="0"/>
                <a:cs typeface="Times New Roman" panose="02020603050405020304" pitchFamily="18" charset="0"/>
              </a:rPr>
              <a:t>and  </a:t>
            </a:r>
            <a:r>
              <a:rPr lang="en-US" altLang="en-US" dirty="0">
                <a:latin typeface="Times New Roman" panose="02020603050405020304" pitchFamily="18" charset="0"/>
                <a:cs typeface="Times New Roman" panose="02020603050405020304" pitchFamily="18" charset="0"/>
              </a:rPr>
              <a:t>realized that she is frequently using ‘mind reading’ and ‘all or nothing’ distortions. </a:t>
            </a:r>
          </a:p>
          <a:p>
            <a:pPr indent="0" algn="just">
              <a:lnSpc>
                <a:spcPct val="140000"/>
              </a:lnSpc>
              <a:buFont typeface="Arial" panose="020B0604020202020204" pitchFamily="34" charset="0"/>
            </a:pPr>
            <a:r>
              <a:rPr lang="en-IN" b="1" dirty="0">
                <a:latin typeface="Times New Roman" panose="02020603050405020304" pitchFamily="18" charset="0"/>
                <a:cs typeface="Times New Roman" panose="02020603050405020304" pitchFamily="18" charset="0"/>
              </a:rPr>
              <a:t>Homework</a:t>
            </a: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 1) Continue with</a:t>
            </a:r>
            <a:r>
              <a:rPr lang="en-PH" altLang="en-US" dirty="0">
                <a:latin typeface="Times New Roman" panose="02020603050405020304" pitchFamily="18" charset="0"/>
                <a:cs typeface="Times New Roman" panose="02020603050405020304" pitchFamily="18" charset="0"/>
              </a:rPr>
              <a:t> daily </a:t>
            </a:r>
            <a:r>
              <a:rPr lang="en-PH" altLang="en-IN" dirty="0">
                <a:latin typeface="Times New Roman" panose="02020603050405020304" pitchFamily="18" charset="0"/>
                <a:cs typeface="Times New Roman" panose="02020603050405020304" pitchFamily="18" charset="0"/>
              </a:rPr>
              <a:t>thought dairy </a:t>
            </a:r>
          </a:p>
          <a:p>
            <a:pPr indent="0" algn="just">
              <a:lnSpc>
                <a:spcPct val="140000"/>
              </a:lnSpc>
              <a:buFont typeface="Arial" panose="020B0604020202020204" pitchFamily="34" charset="0"/>
            </a:pPr>
            <a:endParaRPr lang="en-PH" altLang="en-IN" dirty="0">
              <a:latin typeface="Times New Roman" panose="02020603050405020304" pitchFamily="18" charset="0"/>
              <a:cs typeface="Times New Roman" panose="02020603050405020304" pitchFamily="18" charset="0"/>
            </a:endParaRPr>
          </a:p>
          <a:p>
            <a:pPr indent="0" algn="just">
              <a:lnSpc>
                <a:spcPct val="140000"/>
              </a:lnSpc>
              <a:buFont typeface="Arial" panose="020B0604020202020204" pitchFamily="34" charset="0"/>
            </a:pPr>
            <a:endParaRPr lang="en-PH" altLang="en-IN" dirty="0">
              <a:latin typeface="Times New Roman" panose="02020603050405020304" pitchFamily="18" charset="0"/>
              <a:cs typeface="Times New Roman" panose="02020603050405020304" pitchFamily="18" charset="0"/>
            </a:endParaRPr>
          </a:p>
          <a:p>
            <a:pPr indent="0" algn="just">
              <a:lnSpc>
                <a:spcPct val="140000"/>
              </a:lnSpc>
              <a:buFont typeface="Arial" panose="020B0604020202020204" pitchFamily="34" charset="0"/>
              <a:buNone/>
            </a:pP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                     </a:t>
            </a:r>
          </a:p>
          <a:p>
            <a:pPr indent="0" algn="just">
              <a:lnSpc>
                <a:spcPct val="140000"/>
              </a:lnSpc>
              <a:buFont typeface="Arial" panose="020B0604020202020204" pitchFamily="34" charset="0"/>
              <a:buNone/>
            </a:pPr>
            <a:endParaRPr lang="en-PH" altLang="en-IN" dirty="0">
              <a:latin typeface="Times New Roman" panose="02020603050405020304" pitchFamily="18" charset="0"/>
              <a:cs typeface="Times New Roman" panose="02020603050405020304" pitchFamily="18" charset="0"/>
            </a:endParaRPr>
          </a:p>
          <a:p>
            <a:pPr indent="0" algn="just">
              <a:lnSpc>
                <a:spcPct val="140000"/>
              </a:lnSpc>
              <a:buFont typeface="Arial" panose="020B0604020202020204" pitchFamily="34" charset="0"/>
              <a:buNone/>
            </a:pPr>
            <a:r>
              <a:rPr lang="en-PH" altLang="en-IN" dirty="0">
                <a:latin typeface="Times New Roman" panose="02020603050405020304" pitchFamily="18" charset="0"/>
                <a:cs typeface="Times New Roman" panose="02020603050405020304" pitchFamily="18" charset="0"/>
              </a:rPr>
              <a:t>                     2)  Asked to use</a:t>
            </a:r>
            <a:r>
              <a:rPr lang="en-US" altLang="en-US" dirty="0">
                <a:latin typeface="Times New Roman" panose="02020603050405020304" pitchFamily="18" charset="0"/>
                <a:cs typeface="Times New Roman" panose="02020603050405020304" pitchFamily="18" charset="0"/>
              </a:rPr>
              <a:t> positive statements</a:t>
            </a:r>
            <a:r>
              <a:rPr lang="en-PH" altLang="en-US" dirty="0">
                <a:latin typeface="Times New Roman" panose="02020603050405020304" pitchFamily="18" charset="0"/>
                <a:cs typeface="Times New Roman" panose="02020603050405020304" pitchFamily="18" charset="0"/>
              </a:rPr>
              <a:t>, mindful breathing excercise.</a:t>
            </a:r>
            <a:r>
              <a:rPr lang="en-PH" alt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a:t>
            </a:r>
          </a:p>
          <a:p>
            <a:pPr indent="0" algn="just">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Pt Feedback: </a:t>
            </a:r>
            <a:r>
              <a:rPr lang="en-US" altLang="en-US" dirty="0">
                <a:latin typeface="Times New Roman" panose="02020603050405020304" pitchFamily="18" charset="0"/>
                <a:cs typeface="Times New Roman" panose="02020603050405020304" pitchFamily="18" charset="0"/>
              </a:rPr>
              <a:t> </a:t>
            </a:r>
            <a:r>
              <a:rPr lang="en-PH" altLang="en-US" dirty="0">
                <a:latin typeface="Times New Roman" panose="02020603050405020304" pitchFamily="18" charset="0"/>
                <a:cs typeface="Times New Roman" panose="02020603050405020304" pitchFamily="18" charset="0"/>
              </a:rPr>
              <a:t>G</a:t>
            </a:r>
            <a:r>
              <a:rPr lang="en-US" altLang="en-US" dirty="0">
                <a:latin typeface="Times New Roman" panose="02020603050405020304" pitchFamily="18" charset="0"/>
                <a:cs typeface="Times New Roman" panose="02020603050405020304" pitchFamily="18" charset="0"/>
              </a:rPr>
              <a:t>ot clear idea of the core negative belief</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distortion</a:t>
            </a:r>
            <a:r>
              <a:rPr lang="en-PH" altLang="en-US" dirty="0">
                <a:latin typeface="Times New Roman" panose="02020603050405020304" pitchFamily="18" charset="0"/>
                <a:cs typeface="Times New Roman" panose="02020603050405020304" pitchFamily="18" charset="0"/>
              </a:rPr>
              <a:t>s </a:t>
            </a:r>
            <a:r>
              <a:rPr lang="en-US" altLang="en-US" dirty="0">
                <a:latin typeface="Times New Roman" panose="02020603050405020304" pitchFamily="18" charset="0"/>
                <a:cs typeface="Times New Roman" panose="02020603050405020304" pitchFamily="18" charset="0"/>
              </a:rPr>
              <a:t> and techniques to manage them. </a:t>
            </a:r>
          </a:p>
          <a:p>
            <a:pPr indent="0" algn="just">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Plan for the next session:</a:t>
            </a:r>
            <a:r>
              <a:rPr lang="en-PH" alt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Evaluation of thought dairy and psycho education about  JPMR practice </a:t>
            </a:r>
          </a:p>
        </p:txBody>
      </p:sp>
      <p:sp>
        <p:nvSpPr>
          <p:cNvPr id="2" name="Title 22"/>
          <p:cNvSpPr txBox="1"/>
          <p:nvPr/>
        </p:nvSpPr>
        <p:spPr>
          <a:xfrm>
            <a:off x="353060" y="71120"/>
            <a:ext cx="2142490" cy="377825"/>
          </a:xfrm>
          <a:prstGeom prst="rect">
            <a:avLst/>
          </a:prstGeom>
        </p:spPr>
        <p:txBody>
          <a:bodyPr vert="horz" lIns="91440" tIns="45720" rIns="914400" bIns="45720" rtlCol="0" anchor="b">
            <a:norm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1800" b="1" dirty="0">
                <a:solidFill>
                  <a:schemeClr val="tx1"/>
                </a:solidFill>
                <a:highlight>
                  <a:srgbClr val="FFFF00"/>
                </a:highlight>
              </a:rPr>
              <a:t>Session </a:t>
            </a:r>
            <a:r>
              <a:rPr lang="en-PH" altLang="en-US" sz="1800" b="1" dirty="0">
                <a:solidFill>
                  <a:schemeClr val="tx1"/>
                </a:solidFill>
                <a:highlight>
                  <a:srgbClr val="FFFF00"/>
                </a:highlight>
              </a:rPr>
              <a:t>6</a:t>
            </a:r>
            <a:r>
              <a:rPr lang="en-US" sz="1800" b="1" dirty="0">
                <a:solidFill>
                  <a:schemeClr val="accent5">
                    <a:lumMod val="75000"/>
                  </a:schemeClr>
                </a:solidFill>
                <a:highlight>
                  <a:srgbClr val="FFFF00"/>
                </a:highlight>
              </a:rPr>
              <a:t> </a:t>
            </a:r>
          </a:p>
        </p:txBody>
      </p:sp>
      <p:graphicFrame>
        <p:nvGraphicFramePr>
          <p:cNvPr id="4" name="Table 3"/>
          <p:cNvGraphicFramePr/>
          <p:nvPr>
            <p:custDataLst>
              <p:tags r:id="rId1"/>
            </p:custDataLst>
          </p:nvPr>
        </p:nvGraphicFramePr>
        <p:xfrm>
          <a:off x="41910" y="4187825"/>
          <a:ext cx="12095480" cy="1391285"/>
        </p:xfrm>
        <a:graphic>
          <a:graphicData uri="http://schemas.openxmlformats.org/drawingml/2006/table">
            <a:tbl>
              <a:tblPr firstRow="1" bandRow="1">
                <a:tableStyleId>{5FD0F851-EC5A-4D38-B0AD-8093EC10F338}</a:tableStyleId>
              </a:tblPr>
              <a:tblGrid>
                <a:gridCol w="141224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2273300">
                  <a:extLst>
                    <a:ext uri="{9D8B030D-6E8A-4147-A177-3AD203B41FA5}">
                      <a16:colId xmlns:a16="http://schemas.microsoft.com/office/drawing/2014/main" val="20002"/>
                    </a:ext>
                  </a:extLst>
                </a:gridCol>
                <a:gridCol w="2322830">
                  <a:extLst>
                    <a:ext uri="{9D8B030D-6E8A-4147-A177-3AD203B41FA5}">
                      <a16:colId xmlns:a16="http://schemas.microsoft.com/office/drawing/2014/main" val="20003"/>
                    </a:ext>
                  </a:extLst>
                </a:gridCol>
                <a:gridCol w="1328420">
                  <a:extLst>
                    <a:ext uri="{9D8B030D-6E8A-4147-A177-3AD203B41FA5}">
                      <a16:colId xmlns:a16="http://schemas.microsoft.com/office/drawing/2014/main" val="20004"/>
                    </a:ext>
                  </a:extLst>
                </a:gridCol>
                <a:gridCol w="3514090">
                  <a:extLst>
                    <a:ext uri="{9D8B030D-6E8A-4147-A177-3AD203B41FA5}">
                      <a16:colId xmlns:a16="http://schemas.microsoft.com/office/drawing/2014/main" val="20005"/>
                    </a:ext>
                  </a:extLst>
                </a:gridCol>
              </a:tblGrid>
              <a:tr h="582930">
                <a:tc>
                  <a:txBody>
                    <a:bodyPr/>
                    <a:lstStyle/>
                    <a:p>
                      <a:pPr>
                        <a:buNone/>
                      </a:pPr>
                      <a:r>
                        <a:rPr lang="en-PH" altLang="en-US"/>
                        <a:t>Date /time </a:t>
                      </a:r>
                    </a:p>
                  </a:txBody>
                  <a:tcPr/>
                </a:tc>
                <a:tc>
                  <a:txBody>
                    <a:bodyPr/>
                    <a:lstStyle/>
                    <a:p>
                      <a:pPr>
                        <a:buNone/>
                      </a:pPr>
                      <a:r>
                        <a:rPr lang="en-PH" altLang="en-US"/>
                        <a:t>situation</a:t>
                      </a:r>
                    </a:p>
                  </a:txBody>
                  <a:tcPr/>
                </a:tc>
                <a:tc>
                  <a:txBody>
                    <a:bodyPr/>
                    <a:lstStyle/>
                    <a:p>
                      <a:pPr>
                        <a:buNone/>
                      </a:pPr>
                      <a:r>
                        <a:rPr lang="en-PH" altLang="en-US"/>
                        <a:t>Automatic thought</a:t>
                      </a:r>
                    </a:p>
                  </a:txBody>
                  <a:tcPr/>
                </a:tc>
                <a:tc>
                  <a:txBody>
                    <a:bodyPr/>
                    <a:lstStyle/>
                    <a:p>
                      <a:pPr>
                        <a:buNone/>
                      </a:pPr>
                      <a:r>
                        <a:rPr lang="en-PH" altLang="en-US"/>
                        <a:t>Emotions (0-100%)</a:t>
                      </a:r>
                    </a:p>
                  </a:txBody>
                  <a:tcPr/>
                </a:tc>
                <a:tc>
                  <a:txBody>
                    <a:bodyPr/>
                    <a:lstStyle/>
                    <a:p>
                      <a:pPr>
                        <a:buNone/>
                      </a:pPr>
                      <a:r>
                        <a:rPr lang="en-PH" altLang="en-US"/>
                        <a:t>Distortion</a:t>
                      </a:r>
                    </a:p>
                  </a:txBody>
                  <a:tcPr/>
                </a:tc>
                <a:tc>
                  <a:txBody>
                    <a:bodyPr/>
                    <a:lstStyle/>
                    <a:p>
                      <a:pPr>
                        <a:buNone/>
                      </a:pPr>
                      <a:r>
                        <a:rPr lang="en-PH" altLang="en-US"/>
                        <a:t>Alternative thoughts  Emotion</a:t>
                      </a:r>
                    </a:p>
                  </a:txBody>
                  <a:tcPr/>
                </a:tc>
                <a:extLst>
                  <a:ext uri="{0D108BD9-81ED-4DB2-BD59-A6C34878D82A}">
                    <a16:rowId xmlns:a16="http://schemas.microsoft.com/office/drawing/2014/main" val="10000"/>
                  </a:ext>
                </a:extLst>
              </a:tr>
              <a:tr h="411480">
                <a:tc>
                  <a:txBody>
                    <a:bodyPr/>
                    <a:lstStyle/>
                    <a:p>
                      <a:pPr>
                        <a:buNone/>
                      </a:pPr>
                      <a:endParaRPr lang="en-US"/>
                    </a:p>
                  </a:txBody>
                  <a:tcPr/>
                </a:tc>
                <a:tc>
                  <a:txBody>
                    <a:bodyPr/>
                    <a:lstStyle/>
                    <a:p>
                      <a:pPr>
                        <a:buNone/>
                      </a:pPr>
                      <a:endParaRPr lang="en-US"/>
                    </a:p>
                  </a:txBody>
                  <a:tcPr/>
                </a:tc>
                <a:tc>
                  <a:txBody>
                    <a:bodyPr/>
                    <a:lstStyle/>
                    <a:p>
                      <a:pPr>
                        <a:buNone/>
                      </a:pPr>
                      <a:endParaRPr lang="en-US"/>
                    </a:p>
                  </a:txBody>
                  <a:tcPr/>
                </a:tc>
                <a:tc>
                  <a:txBody>
                    <a:bodyPr/>
                    <a:lstStyle/>
                    <a:p>
                      <a:pPr>
                        <a:buNone/>
                      </a:pPr>
                      <a:endParaRPr lang="en-US"/>
                    </a:p>
                  </a:txBody>
                  <a:tcPr/>
                </a:tc>
                <a:tc>
                  <a:txBody>
                    <a:bodyPr/>
                    <a:lstStyle/>
                    <a:p>
                      <a:pPr>
                        <a:buNone/>
                      </a:pPr>
                      <a:endParaRPr lang="en-US"/>
                    </a:p>
                  </a:txBody>
                  <a:tcPr/>
                </a:tc>
                <a:tc>
                  <a:txBody>
                    <a:bodyPr/>
                    <a:lstStyle/>
                    <a:p>
                      <a:pPr>
                        <a:buNone/>
                      </a:pPr>
                      <a:endParaRPr lang="en-US"/>
                    </a:p>
                  </a:txBody>
                  <a:tcPr/>
                </a:tc>
                <a:extLst>
                  <a:ext uri="{0D108BD9-81ED-4DB2-BD59-A6C34878D82A}">
                    <a16:rowId xmlns:a16="http://schemas.microsoft.com/office/drawing/2014/main" val="10001"/>
                  </a:ext>
                </a:extLst>
              </a:tr>
              <a:tr h="396875">
                <a:tc>
                  <a:txBody>
                    <a:bodyPr/>
                    <a:lstStyle/>
                    <a:p>
                      <a:pPr>
                        <a:buNone/>
                      </a:pPr>
                      <a:endParaRPr lang="en-US"/>
                    </a:p>
                  </a:txBody>
                  <a:tcPr/>
                </a:tc>
                <a:tc>
                  <a:txBody>
                    <a:bodyPr/>
                    <a:lstStyle/>
                    <a:p>
                      <a:pPr>
                        <a:buNone/>
                      </a:pPr>
                      <a:endParaRPr lang="en-US"/>
                    </a:p>
                  </a:txBody>
                  <a:tcPr/>
                </a:tc>
                <a:tc>
                  <a:txBody>
                    <a:bodyPr/>
                    <a:lstStyle/>
                    <a:p>
                      <a:pPr>
                        <a:buNone/>
                      </a:pPr>
                      <a:endParaRPr lang="en-US"/>
                    </a:p>
                  </a:txBody>
                  <a:tcPr/>
                </a:tc>
                <a:tc>
                  <a:txBody>
                    <a:bodyPr/>
                    <a:lstStyle/>
                    <a:p>
                      <a:pPr>
                        <a:buNone/>
                      </a:pPr>
                      <a:endParaRPr lang="en-US"/>
                    </a:p>
                  </a:txBody>
                  <a:tcPr/>
                </a:tc>
                <a:tc>
                  <a:txBody>
                    <a:bodyPr/>
                    <a:lstStyle/>
                    <a:p>
                      <a:pPr>
                        <a:buNone/>
                      </a:pPr>
                      <a:endParaRPr lang="en-US"/>
                    </a:p>
                  </a:txBody>
                  <a:tcPr/>
                </a:tc>
                <a:tc>
                  <a:txBody>
                    <a:bodyPr/>
                    <a:lstStyle/>
                    <a:p>
                      <a:pPr>
                        <a:buNone/>
                      </a:pPr>
                      <a:endParaRPr lang="en-US"/>
                    </a:p>
                  </a:txBody>
                  <a:tcPr/>
                </a:tc>
                <a:extLst>
                  <a:ext uri="{0D108BD9-81ED-4DB2-BD59-A6C34878D82A}">
                    <a16:rowId xmlns:a16="http://schemas.microsoft.com/office/drawing/2014/main" val="10002"/>
                  </a:ext>
                </a:extLst>
              </a:tr>
            </a:tbl>
          </a:graphicData>
        </a:graphic>
      </p:graphicFrame>
      <p:cxnSp>
        <p:nvCxnSpPr>
          <p:cNvPr id="5" name="Straight Connector 4"/>
          <p:cNvCxnSpPr/>
          <p:nvPr/>
        </p:nvCxnSpPr>
        <p:spPr>
          <a:xfrm flipH="1">
            <a:off x="1435735" y="4196080"/>
            <a:ext cx="15240" cy="1415415"/>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cxnSp>
        <p:nvCxnSpPr>
          <p:cNvPr id="6" name="Straight Connector 5"/>
          <p:cNvCxnSpPr/>
          <p:nvPr/>
        </p:nvCxnSpPr>
        <p:spPr>
          <a:xfrm>
            <a:off x="2724785" y="4194810"/>
            <a:ext cx="0" cy="1427480"/>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cxnSp>
        <p:nvCxnSpPr>
          <p:cNvPr id="7" name="Straight Connector 6"/>
          <p:cNvCxnSpPr/>
          <p:nvPr/>
        </p:nvCxnSpPr>
        <p:spPr>
          <a:xfrm>
            <a:off x="4953635" y="4206875"/>
            <a:ext cx="6985" cy="1404620"/>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cxnSp>
        <p:nvCxnSpPr>
          <p:cNvPr id="8" name="Straight Connector 7"/>
          <p:cNvCxnSpPr/>
          <p:nvPr/>
        </p:nvCxnSpPr>
        <p:spPr>
          <a:xfrm flipH="1">
            <a:off x="7235825" y="4194810"/>
            <a:ext cx="3810" cy="1390015"/>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cxnSp>
        <p:nvCxnSpPr>
          <p:cNvPr id="9" name="Straight Connector 8"/>
          <p:cNvCxnSpPr/>
          <p:nvPr/>
        </p:nvCxnSpPr>
        <p:spPr>
          <a:xfrm flipH="1">
            <a:off x="8613775" y="4194810"/>
            <a:ext cx="10160" cy="1384935"/>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cxnSp>
        <p:nvCxnSpPr>
          <p:cNvPr id="10" name="Straight Connector 9"/>
          <p:cNvCxnSpPr/>
          <p:nvPr/>
        </p:nvCxnSpPr>
        <p:spPr>
          <a:xfrm flipH="1">
            <a:off x="10959465" y="4173855"/>
            <a:ext cx="28575" cy="1368425"/>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382270" y="505460"/>
            <a:ext cx="11572240" cy="6195695"/>
          </a:xfrm>
          <a:prstGeom prst="rect">
            <a:avLst/>
          </a:prstGeom>
          <a:noFill/>
        </p:spPr>
        <p:txBody>
          <a:bodyPr wrap="square">
            <a:noAutofit/>
          </a:bodyPr>
          <a:lstStyle/>
          <a:p>
            <a:pPr algn="just"/>
            <a:r>
              <a:rPr lang="en-IN" b="1" dirty="0">
                <a:latin typeface="Times New Roman" panose="02020603050405020304" pitchFamily="18" charset="0"/>
                <a:cs typeface="Times New Roman" panose="02020603050405020304" pitchFamily="18" charset="0"/>
              </a:rPr>
              <a:t>Date</a:t>
            </a:r>
            <a:r>
              <a:rPr lang="en-IN" dirty="0">
                <a:latin typeface="Times New Roman" panose="02020603050405020304" pitchFamily="18" charset="0"/>
                <a:cs typeface="Times New Roman" panose="02020603050405020304" pitchFamily="18" charset="0"/>
              </a:rPr>
              <a:t>: </a:t>
            </a:r>
            <a:r>
              <a:rPr lang="en-US" altLang="en-IN" dirty="0">
                <a:latin typeface="Times New Roman" panose="02020603050405020304" pitchFamily="18" charset="0"/>
                <a:cs typeface="Times New Roman" panose="02020603050405020304" pitchFamily="18" charset="0"/>
              </a:rPr>
              <a:t>5</a:t>
            </a:r>
            <a:r>
              <a:rPr lang="en-US" altLang="en-IN" baseline="30000" dirty="0">
                <a:latin typeface="Times New Roman" panose="02020603050405020304" pitchFamily="18" charset="0"/>
                <a:cs typeface="Times New Roman" panose="02020603050405020304" pitchFamily="18" charset="0"/>
              </a:rPr>
              <a:t>th</a:t>
            </a:r>
            <a:r>
              <a:rPr lang="en-US" altLang="en-IN" dirty="0">
                <a:latin typeface="Times New Roman" panose="02020603050405020304" pitchFamily="18" charset="0"/>
                <a:cs typeface="Times New Roman" panose="02020603050405020304" pitchFamily="18" charset="0"/>
              </a:rPr>
              <a:t> September 2026</a:t>
            </a:r>
            <a:r>
              <a:rPr lang="en-PH" altLang="en-IN"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Duration</a:t>
            </a:r>
            <a:r>
              <a:rPr lang="en-IN" dirty="0">
                <a:latin typeface="Times New Roman" panose="02020603050405020304" pitchFamily="18" charset="0"/>
                <a:cs typeface="Times New Roman" panose="02020603050405020304" pitchFamily="18" charset="0"/>
              </a:rPr>
              <a:t>: </a:t>
            </a:r>
            <a:r>
              <a:rPr lang="en-US" altLang="en-IN" dirty="0">
                <a:latin typeface="Times New Roman" panose="02020603050405020304" pitchFamily="18" charset="0"/>
                <a:cs typeface="Times New Roman" panose="02020603050405020304" pitchFamily="18" charset="0"/>
              </a:rPr>
              <a:t>1 hour</a:t>
            </a:r>
            <a:r>
              <a:rPr lang="en-PH" alt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indent="0" algn="just">
              <a:lnSpc>
                <a:spcPct val="150000"/>
              </a:lnSpc>
              <a:buFont typeface="Arial" panose="020B0604020202020204" pitchFamily="34" charset="0"/>
              <a:buNone/>
            </a:pPr>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brief check-in </a:t>
            </a:r>
            <a:r>
              <a:rPr lang="en-IN" dirty="0">
                <a:latin typeface="Times New Roman" panose="02020603050405020304" pitchFamily="18" charset="0"/>
                <a:cs typeface="Times New Roman" panose="02020603050405020304" pitchFamily="18" charset="0"/>
              </a:rPr>
              <a:t>was done of the P</a:t>
            </a:r>
            <a:r>
              <a:rPr lang="en-PH" altLang="en-IN" dirty="0">
                <a:latin typeface="Times New Roman" panose="02020603050405020304" pitchFamily="18" charset="0"/>
                <a:cs typeface="Times New Roman" panose="02020603050405020304" pitchFamily="18" charset="0"/>
              </a:rPr>
              <a:t>atient</a:t>
            </a:r>
            <a:r>
              <a:rPr lang="en-IN" dirty="0">
                <a:latin typeface="Times New Roman" panose="02020603050405020304" pitchFamily="18" charset="0"/>
                <a:cs typeface="Times New Roman" panose="02020603050405020304" pitchFamily="18" charset="0"/>
              </a:rPr>
              <a:t>s week and how she was doing. </a:t>
            </a:r>
          </a:p>
          <a:p>
            <a:pPr indent="0" algn="l">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Goals</a:t>
            </a:r>
            <a:r>
              <a:rPr lang="en-IN" dirty="0">
                <a:latin typeface="Times New Roman" panose="02020603050405020304" pitchFamily="18" charset="0"/>
                <a:cs typeface="Times New Roman" panose="02020603050405020304" pitchFamily="18" charset="0"/>
              </a:rPr>
              <a:t>:</a:t>
            </a:r>
            <a:r>
              <a:rPr lang="en-PH" altLang="en-IN" dirty="0">
                <a:latin typeface="Times New Roman" panose="02020603050405020304" pitchFamily="18" charset="0"/>
                <a:cs typeface="Times New Roman" panose="02020603050405020304" pitchFamily="18" charset="0"/>
              </a:rPr>
              <a:t> Evaluation of </a:t>
            </a:r>
            <a:r>
              <a:rPr lang="en-US" altLang="en-US" dirty="0">
                <a:latin typeface="Times New Roman" panose="02020603050405020304" pitchFamily="18" charset="0"/>
                <a:cs typeface="Times New Roman" panose="02020603050405020304" pitchFamily="18" charset="0"/>
              </a:rPr>
              <a:t> thought</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r>
              <a:rPr lang="en-PH" altLang="en-US" dirty="0">
                <a:latin typeface="Times New Roman" panose="02020603050405020304" pitchFamily="18" charset="0"/>
                <a:cs typeface="Times New Roman" panose="02020603050405020304" pitchFamily="18" charset="0"/>
              </a:rPr>
              <a:t>          </a:t>
            </a:r>
          </a:p>
          <a:p>
            <a:pPr indent="0" algn="l">
              <a:lnSpc>
                <a:spcPct val="150000"/>
              </a:lnSpc>
              <a:buFont typeface="Arial" panose="020B0604020202020204" pitchFamily="34" charset="0"/>
              <a:buNone/>
            </a:pP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Implementation of Jacobson Progressive Muscal Relaxation (JPMR)</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to reducing physical tension</a:t>
            </a:r>
          </a:p>
          <a:p>
            <a:pPr indent="0" algn="l">
              <a:lnSpc>
                <a:spcPct val="150000"/>
              </a:lnSpc>
              <a:buFont typeface="Arial" panose="020B0604020202020204" pitchFamily="34" charset="0"/>
              <a:buNone/>
            </a:pP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To teach how to apply these skills in daily life</a:t>
            </a:r>
          </a:p>
          <a:p>
            <a:pPr indent="0" algn="just">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Homework was discussed </a:t>
            </a:r>
            <a:r>
              <a:rPr lang="en-PH" alt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After having initial evaluation of the previous</a:t>
            </a:r>
            <a:r>
              <a:rPr lang="en-PH" altLang="en-US" dirty="0">
                <a:latin typeface="Times New Roman" panose="02020603050405020304" pitchFamily="18" charset="0"/>
                <a:cs typeface="Times New Roman" panose="02020603050405020304" pitchFamily="18" charset="0"/>
              </a:rPr>
              <a:t> homework (thought dairy)</a:t>
            </a:r>
            <a:r>
              <a:rPr lang="en-US" altLang="en-US" dirty="0">
                <a:latin typeface="Times New Roman" panose="02020603050405020304" pitchFamily="18" charset="0"/>
                <a:cs typeface="Times New Roman" panose="02020603050405020304" pitchFamily="18" charset="0"/>
              </a:rPr>
              <a:t> session,  psycho-education </a:t>
            </a:r>
            <a:r>
              <a:rPr lang="en-PH" altLang="en-US" dirty="0">
                <a:latin typeface="Times New Roman" panose="02020603050405020304" pitchFamily="18" charset="0"/>
                <a:cs typeface="Times New Roman" panose="02020603050405020304" pitchFamily="18" charset="0"/>
              </a:rPr>
              <a:t>was provided </a:t>
            </a:r>
            <a:r>
              <a:rPr lang="en-US" altLang="en-US" dirty="0">
                <a:latin typeface="Times New Roman" panose="02020603050405020304" pitchFamily="18" charset="0"/>
                <a:cs typeface="Times New Roman" panose="02020603050405020304" pitchFamily="18" charset="0"/>
              </a:rPr>
              <a:t>on JPMR. </a:t>
            </a:r>
            <a:r>
              <a:rPr lang="en-PH" altLang="en-US" dirty="0">
                <a:latin typeface="Times New Roman" panose="02020603050405020304" pitchFamily="18" charset="0"/>
                <a:cs typeface="Times New Roman" panose="02020603050405020304" pitchFamily="18" charset="0"/>
              </a:rPr>
              <a:t>It</a:t>
            </a:r>
            <a:r>
              <a:rPr lang="en-US" altLang="en-US" dirty="0">
                <a:latin typeface="Times New Roman" panose="02020603050405020304" pitchFamily="18" charset="0"/>
                <a:cs typeface="Times New Roman" panose="02020603050405020304" pitchFamily="18" charset="0"/>
              </a:rPr>
              <a:t> is a treatment procedure for reducing anxiety symptoms. It involves systematically tightening and relaxing different muscles in the body which can lead to reduce physical and mental tension and improves the sleep and decreases the muscle tensions. </a:t>
            </a:r>
            <a:r>
              <a:rPr lang="en-PH" altLang="en-US" dirty="0">
                <a:latin typeface="Times New Roman" panose="02020603050405020304" pitchFamily="18" charset="0"/>
                <a:cs typeface="Times New Roman" panose="02020603050405020304" pitchFamily="18" charset="0"/>
              </a:rPr>
              <a:t>A</a:t>
            </a:r>
            <a:r>
              <a:rPr lang="en-US" altLang="en-US" dirty="0">
                <a:latin typeface="Times New Roman" panose="02020603050405020304" pitchFamily="18" charset="0"/>
                <a:cs typeface="Times New Roman" panose="02020603050405020304" pitchFamily="18" charset="0"/>
              </a:rPr>
              <a:t>fter providing psycho-education, the therapist guided the patient to practice JPMR in order to help her experience physical sensation of relaxation and to learn how to apply this technique in daily life. </a:t>
            </a:r>
            <a:endParaRPr lang="en-IN" b="1" dirty="0">
              <a:latin typeface="Times New Roman" panose="02020603050405020304" pitchFamily="18" charset="0"/>
              <a:cs typeface="Times New Roman" panose="02020603050405020304" pitchFamily="18" charset="0"/>
            </a:endParaRPr>
          </a:p>
          <a:p>
            <a:pPr indent="0" algn="just">
              <a:lnSpc>
                <a:spcPct val="140000"/>
              </a:lnSpc>
              <a:buFont typeface="Arial" panose="020B0604020202020204" pitchFamily="34" charset="0"/>
            </a:pPr>
            <a:r>
              <a:rPr lang="en-IN" b="1" dirty="0">
                <a:latin typeface="Times New Roman" panose="02020603050405020304" pitchFamily="18" charset="0"/>
                <a:cs typeface="Times New Roman" panose="02020603050405020304" pitchFamily="18" charset="0"/>
              </a:rPr>
              <a:t>Homework</a:t>
            </a: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:1) Continue with thought dairy. </a:t>
            </a:r>
          </a:p>
          <a:p>
            <a:pPr indent="0" algn="just">
              <a:lnSpc>
                <a:spcPct val="140000"/>
              </a:lnSpc>
              <a:buFont typeface="Arial" panose="020B0604020202020204" pitchFamily="34" charset="0"/>
            </a:pPr>
            <a:r>
              <a:rPr lang="en-PH" altLang="en-IN" dirty="0">
                <a:latin typeface="Times New Roman" panose="02020603050405020304" pitchFamily="18" charset="0"/>
                <a:cs typeface="Times New Roman" panose="02020603050405020304" pitchFamily="18" charset="0"/>
              </a:rPr>
              <a:t>                     2) practice JPMR daily.              </a:t>
            </a:r>
            <a:r>
              <a:rPr lang="en-IN" dirty="0">
                <a:latin typeface="Times New Roman" panose="02020603050405020304" pitchFamily="18" charset="0"/>
                <a:cs typeface="Times New Roman" panose="02020603050405020304" pitchFamily="18" charset="0"/>
              </a:rPr>
              <a:t> </a:t>
            </a:r>
          </a:p>
          <a:p>
            <a:pPr indent="0" algn="just">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Pt Feedback: </a:t>
            </a:r>
            <a:r>
              <a:rPr lang="en-US" altLang="en-US" dirty="0">
                <a:latin typeface="Times New Roman" panose="02020603050405020304" pitchFamily="18" charset="0"/>
                <a:cs typeface="Times New Roman" panose="02020603050405020304" pitchFamily="18" charset="0"/>
              </a:rPr>
              <a:t>Pt reported 70 % improvement in life. </a:t>
            </a:r>
            <a:r>
              <a:rPr lang="en-PH" altLang="en-US" dirty="0">
                <a:latin typeface="Times New Roman" panose="02020603050405020304" pitchFamily="18" charset="0"/>
                <a:cs typeface="Times New Roman" panose="02020603050405020304" pitchFamily="18" charset="0"/>
              </a:rPr>
              <a:t>D</a:t>
            </a:r>
            <a:r>
              <a:rPr lang="en-US" altLang="en-US" dirty="0">
                <a:latin typeface="Times New Roman" panose="02020603050405020304" pitchFamily="18" charset="0"/>
                <a:cs typeface="Times New Roman" panose="02020603050405020304" pitchFamily="18" charset="0"/>
              </a:rPr>
              <a:t>uring JPMR, when reached half way of the procedure, </a:t>
            </a:r>
            <a:r>
              <a:rPr lang="en-PH" altLang="en-US" dirty="0">
                <a:latin typeface="Times New Roman" panose="02020603050405020304" pitchFamily="18" charset="0"/>
                <a:cs typeface="Times New Roman" panose="02020603050405020304" pitchFamily="18" charset="0"/>
              </a:rPr>
              <a:t>pt</a:t>
            </a:r>
            <a:r>
              <a:rPr lang="en-US" altLang="en-US" dirty="0">
                <a:latin typeface="Times New Roman" panose="02020603050405020304" pitchFamily="18" charset="0"/>
                <a:cs typeface="Times New Roman" panose="02020603050405020304" pitchFamily="18" charset="0"/>
              </a:rPr>
              <a:t> started to sleep</a:t>
            </a:r>
            <a:r>
              <a:rPr lang="en-PH" altLang="en-US" dirty="0">
                <a:latin typeface="Times New Roman" panose="02020603050405020304" pitchFamily="18" charset="0"/>
                <a:cs typeface="Times New Roman" panose="02020603050405020304" pitchFamily="18" charset="0"/>
              </a:rPr>
              <a:t> and at the end she replied </a:t>
            </a:r>
            <a:r>
              <a:rPr lang="en-US" altLang="en-US" dirty="0">
                <a:latin typeface="Times New Roman" panose="02020603050405020304" pitchFamily="18" charset="0"/>
                <a:cs typeface="Times New Roman" panose="02020603050405020304" pitchFamily="18" charset="0"/>
              </a:rPr>
              <a:t> “ so relaxed, nice feeling”.</a:t>
            </a:r>
          </a:p>
          <a:p>
            <a:pPr indent="0" algn="just">
              <a:lnSpc>
                <a:spcPct val="150000"/>
              </a:lnSpc>
              <a:buFont typeface="Arial" panose="020B0604020202020204" pitchFamily="34" charset="0"/>
              <a:buNone/>
            </a:pPr>
            <a:r>
              <a:rPr lang="en-PH" altLang="en-US"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Plan for the next session:</a:t>
            </a:r>
            <a:r>
              <a:rPr lang="en-PH" altLang="en-US" dirty="0">
                <a:latin typeface="Times New Roman" panose="02020603050405020304" pitchFamily="18" charset="0"/>
                <a:cs typeface="Times New Roman" panose="02020603050405020304" pitchFamily="18" charset="0"/>
              </a:rPr>
              <a:t> P</a:t>
            </a:r>
            <a:r>
              <a:rPr lang="en-US" altLang="en-US" dirty="0">
                <a:latin typeface="Times New Roman" panose="02020603050405020304" pitchFamily="18" charset="0"/>
                <a:cs typeface="Times New Roman" panose="02020603050405020304" pitchFamily="18" charset="0"/>
              </a:rPr>
              <a:t>ractice of JPMR</a:t>
            </a:r>
            <a:r>
              <a:rPr lang="en-PH"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as </a:t>
            </a:r>
            <a:r>
              <a:rPr lang="en-PH" altLang="en-US" dirty="0">
                <a:latin typeface="Times New Roman" panose="02020603050405020304" pitchFamily="18" charset="0"/>
                <a:cs typeface="Times New Roman" panose="02020603050405020304" pitchFamily="18" charset="0"/>
              </a:rPr>
              <a:t>Pt</a:t>
            </a:r>
            <a:r>
              <a:rPr lang="en-US" altLang="en-US" dirty="0">
                <a:latin typeface="Times New Roman" panose="02020603050405020304" pitchFamily="18" charset="0"/>
                <a:cs typeface="Times New Roman" panose="02020603050405020304" pitchFamily="18" charset="0"/>
              </a:rPr>
              <a:t> requested to learn it perfectly and for the sake of self-administration</a:t>
            </a:r>
            <a:r>
              <a:rPr lang="en-PH" altLang="en-US" dirty="0">
                <a:latin typeface="Times New Roman" panose="02020603050405020304" pitchFamily="18" charset="0"/>
                <a:cs typeface="Times New Roman" panose="02020603050405020304" pitchFamily="18" charset="0"/>
              </a:rPr>
              <a:t>.</a:t>
            </a:r>
          </a:p>
        </p:txBody>
      </p:sp>
      <p:sp>
        <p:nvSpPr>
          <p:cNvPr id="2" name="Title 22"/>
          <p:cNvSpPr txBox="1"/>
          <p:nvPr/>
        </p:nvSpPr>
        <p:spPr>
          <a:xfrm>
            <a:off x="353060" y="71120"/>
            <a:ext cx="2142490" cy="377825"/>
          </a:xfrm>
          <a:prstGeom prst="rect">
            <a:avLst/>
          </a:prstGeom>
        </p:spPr>
        <p:txBody>
          <a:bodyPr vert="horz" lIns="91440" tIns="45720" rIns="914400" bIns="45720" rtlCol="0" anchor="b">
            <a:norm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1800" b="1" dirty="0">
                <a:solidFill>
                  <a:schemeClr val="tx1"/>
                </a:solidFill>
                <a:highlight>
                  <a:srgbClr val="FFFF00"/>
                </a:highlight>
              </a:rPr>
              <a:t>Session </a:t>
            </a:r>
            <a:r>
              <a:rPr lang="en-PH" altLang="en-US" sz="1800" b="1" dirty="0">
                <a:solidFill>
                  <a:schemeClr val="tx1"/>
                </a:solidFill>
                <a:highlight>
                  <a:srgbClr val="FFFF00"/>
                </a:highlight>
              </a:rPr>
              <a:t>7</a:t>
            </a:r>
            <a:r>
              <a:rPr lang="en-US" sz="1800" b="1" dirty="0">
                <a:solidFill>
                  <a:schemeClr val="accent5">
                    <a:lumMod val="75000"/>
                  </a:schemeClr>
                </a:solidFill>
                <a:highlight>
                  <a:srgbClr val="FFFF00"/>
                </a:highlight>
              </a:rPr>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382270" y="687070"/>
            <a:ext cx="11572240" cy="6014085"/>
          </a:xfrm>
          <a:prstGeom prst="rect">
            <a:avLst/>
          </a:prstGeom>
          <a:noFill/>
        </p:spPr>
        <p:txBody>
          <a:bodyPr wrap="square">
            <a:noAutofit/>
          </a:bodyPr>
          <a:lstStyle/>
          <a:p>
            <a:pPr algn="just">
              <a:lnSpc>
                <a:spcPct val="200000"/>
              </a:lnSpc>
            </a:pPr>
            <a:r>
              <a:rPr lang="en-IN" b="1" dirty="0">
                <a:latin typeface="Times New Roman" panose="02020603050405020304" pitchFamily="18" charset="0"/>
                <a:cs typeface="Times New Roman" panose="02020603050405020304" pitchFamily="18" charset="0"/>
              </a:rPr>
              <a:t>Date</a:t>
            </a:r>
            <a:r>
              <a:rPr lang="en-IN" dirty="0">
                <a:latin typeface="Times New Roman" panose="02020603050405020304" pitchFamily="18" charset="0"/>
                <a:cs typeface="Times New Roman" panose="02020603050405020304" pitchFamily="18" charset="0"/>
              </a:rPr>
              <a:t>: </a:t>
            </a:r>
            <a:r>
              <a:rPr lang="en-US" altLang="en-IN" dirty="0">
                <a:latin typeface="Times New Roman" panose="02020603050405020304" pitchFamily="18" charset="0"/>
                <a:cs typeface="Times New Roman" panose="02020603050405020304" pitchFamily="18" charset="0"/>
              </a:rPr>
              <a:t>10</a:t>
            </a:r>
            <a:r>
              <a:rPr lang="en-US" altLang="en-IN" baseline="30000" dirty="0">
                <a:latin typeface="Times New Roman" panose="02020603050405020304" pitchFamily="18" charset="0"/>
                <a:cs typeface="Times New Roman" panose="02020603050405020304" pitchFamily="18" charset="0"/>
              </a:rPr>
              <a:t>th</a:t>
            </a:r>
            <a:r>
              <a:rPr lang="en-US" altLang="en-IN" dirty="0">
                <a:latin typeface="Times New Roman" panose="02020603050405020304" pitchFamily="18" charset="0"/>
                <a:cs typeface="Times New Roman" panose="02020603050405020304" pitchFamily="18" charset="0"/>
              </a:rPr>
              <a:t> September 2026</a:t>
            </a:r>
            <a:r>
              <a:rPr lang="en-PH" altLang="en-IN"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Duration</a:t>
            </a:r>
            <a:r>
              <a:rPr lang="en-IN" dirty="0">
                <a:latin typeface="Times New Roman" panose="02020603050405020304" pitchFamily="18" charset="0"/>
                <a:cs typeface="Times New Roman" panose="02020603050405020304" pitchFamily="18" charset="0"/>
              </a:rPr>
              <a:t>: </a:t>
            </a:r>
            <a:r>
              <a:rPr lang="en-US" altLang="en-IN" dirty="0">
                <a:latin typeface="Times New Roman" panose="02020603050405020304" pitchFamily="18" charset="0"/>
                <a:cs typeface="Times New Roman" panose="02020603050405020304" pitchFamily="18" charset="0"/>
              </a:rPr>
              <a:t>1 hour</a:t>
            </a:r>
            <a:r>
              <a:rPr lang="en-PH" alt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indent="0" algn="just">
              <a:lnSpc>
                <a:spcPct val="200000"/>
              </a:lnSpc>
              <a:buFont typeface="Arial" panose="020B0604020202020204" pitchFamily="34" charset="0"/>
              <a:buNone/>
            </a:pPr>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brief check-in </a:t>
            </a:r>
            <a:r>
              <a:rPr lang="en-IN" dirty="0">
                <a:latin typeface="Times New Roman" panose="02020603050405020304" pitchFamily="18" charset="0"/>
                <a:cs typeface="Times New Roman" panose="02020603050405020304" pitchFamily="18" charset="0"/>
              </a:rPr>
              <a:t>was done of the P</a:t>
            </a:r>
            <a:r>
              <a:rPr lang="en-PH" altLang="en-IN" dirty="0">
                <a:latin typeface="Times New Roman" panose="02020603050405020304" pitchFamily="18" charset="0"/>
                <a:cs typeface="Times New Roman" panose="02020603050405020304" pitchFamily="18" charset="0"/>
              </a:rPr>
              <a:t>atient</a:t>
            </a:r>
            <a:r>
              <a:rPr lang="en-IN" dirty="0">
                <a:latin typeface="Times New Roman" panose="02020603050405020304" pitchFamily="18" charset="0"/>
                <a:cs typeface="Times New Roman" panose="02020603050405020304" pitchFamily="18" charset="0"/>
              </a:rPr>
              <a:t>s how she was doing. </a:t>
            </a:r>
          </a:p>
          <a:p>
            <a:pPr indent="0" algn="l">
              <a:lnSpc>
                <a:spcPct val="20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Goals</a:t>
            </a:r>
            <a:r>
              <a:rPr lang="en-IN" dirty="0">
                <a:latin typeface="Times New Roman" panose="02020603050405020304" pitchFamily="18" charset="0"/>
                <a:cs typeface="Times New Roman" panose="02020603050405020304" pitchFamily="18" charset="0"/>
              </a:rPr>
              <a:t>:</a:t>
            </a:r>
            <a:r>
              <a:rPr lang="en-PH" altLang="en-IN" dirty="0">
                <a:latin typeface="Times New Roman" panose="02020603050405020304" pitchFamily="18" charset="0"/>
                <a:cs typeface="Times New Roman" panose="02020603050405020304" pitchFamily="18" charset="0"/>
              </a:rPr>
              <a:t> </a:t>
            </a:r>
            <a:r>
              <a:rPr lang="en-PH" altLang="en-US" dirty="0">
                <a:latin typeface="Times New Roman" panose="02020603050405020304" pitchFamily="18" charset="0"/>
                <a:cs typeface="Times New Roman" panose="02020603050405020304" pitchFamily="18" charset="0"/>
              </a:rPr>
              <a:t>Practice </a:t>
            </a:r>
            <a:r>
              <a:rPr lang="en-US" altLang="en-US" dirty="0">
                <a:latin typeface="Times New Roman" panose="02020603050405020304" pitchFamily="18" charset="0"/>
                <a:cs typeface="Times New Roman" panose="02020603050405020304" pitchFamily="18" charset="0"/>
              </a:rPr>
              <a:t> of Jacobson Progressive Muscal Relaxation (JPMR)</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to reducing physical tension</a:t>
            </a:r>
          </a:p>
          <a:p>
            <a:pPr indent="0" algn="l">
              <a:lnSpc>
                <a:spcPct val="200000"/>
              </a:lnSpc>
              <a:buFont typeface="Arial" panose="020B0604020202020204" pitchFamily="34" charset="0"/>
              <a:buNone/>
            </a:pPr>
            <a:r>
              <a:rPr lang="en-PH" altLang="en-US" dirty="0">
                <a:latin typeface="Times New Roman" panose="02020603050405020304" pitchFamily="18" charset="0"/>
                <a:cs typeface="Times New Roman" panose="02020603050405020304" pitchFamily="18" charset="0"/>
              </a:rPr>
              <a:t>            Motivate </a:t>
            </a:r>
            <a:r>
              <a:rPr lang="en-US" altLang="en-US" dirty="0">
                <a:latin typeface="Times New Roman" panose="02020603050405020304" pitchFamily="18" charset="0"/>
                <a:cs typeface="Times New Roman" panose="02020603050405020304" pitchFamily="18" charset="0"/>
              </a:rPr>
              <a:t> to apply these skills in daily life</a:t>
            </a:r>
          </a:p>
          <a:p>
            <a:pPr indent="0" algn="just">
              <a:lnSpc>
                <a:spcPct val="20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Homework was discussed </a:t>
            </a:r>
            <a:r>
              <a:rPr lang="en-PH" alt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After having initial evaluation of the previous session,  therapist guided the patient to practice JPMR in order to help her experience physical sensation of relaxation and to learn how to apply this technique in daily life. </a:t>
            </a:r>
            <a:endParaRPr lang="en-IN" b="1" dirty="0">
              <a:latin typeface="Times New Roman" panose="02020603050405020304" pitchFamily="18" charset="0"/>
              <a:cs typeface="Times New Roman" panose="02020603050405020304" pitchFamily="18" charset="0"/>
            </a:endParaRPr>
          </a:p>
          <a:p>
            <a:pPr indent="0" algn="just">
              <a:lnSpc>
                <a:spcPct val="200000"/>
              </a:lnSpc>
              <a:buFont typeface="Arial" panose="020B0604020202020204" pitchFamily="34" charset="0"/>
            </a:pPr>
            <a:r>
              <a:rPr lang="en-IN" b="1" dirty="0">
                <a:latin typeface="Times New Roman" panose="02020603050405020304" pitchFamily="18" charset="0"/>
                <a:cs typeface="Times New Roman" panose="02020603050405020304" pitchFamily="18" charset="0"/>
              </a:rPr>
              <a:t>Homework</a:t>
            </a: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:1) Patient was asked to practice JPMR daily.              </a:t>
            </a:r>
            <a:r>
              <a:rPr lang="en-IN" dirty="0">
                <a:latin typeface="Times New Roman" panose="02020603050405020304" pitchFamily="18" charset="0"/>
                <a:cs typeface="Times New Roman" panose="02020603050405020304" pitchFamily="18" charset="0"/>
              </a:rPr>
              <a:t> </a:t>
            </a:r>
          </a:p>
          <a:p>
            <a:pPr indent="0" algn="just">
              <a:lnSpc>
                <a:spcPct val="20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Pt Feedback: </a:t>
            </a:r>
            <a:r>
              <a:rPr lang="en-US" altLang="en-US" dirty="0">
                <a:latin typeface="Times New Roman" panose="02020603050405020304" pitchFamily="18" charset="0"/>
                <a:cs typeface="Times New Roman" panose="02020603050405020304" pitchFamily="18" charset="0"/>
              </a:rPr>
              <a:t>Pt reported </a:t>
            </a:r>
            <a:r>
              <a:rPr lang="en-PH" altLang="en-US" dirty="0">
                <a:latin typeface="Times New Roman" panose="02020603050405020304" pitchFamily="18" charset="0"/>
                <a:cs typeface="Times New Roman" panose="02020603050405020304" pitchFamily="18" charset="0"/>
              </a:rPr>
              <a:t>that she got proper idea of how to practice </a:t>
            </a:r>
            <a:r>
              <a:rPr lang="en-US" altLang="en-US" dirty="0">
                <a:latin typeface="Times New Roman" panose="02020603050405020304" pitchFamily="18" charset="0"/>
                <a:cs typeface="Times New Roman" panose="02020603050405020304" pitchFamily="18" charset="0"/>
              </a:rPr>
              <a:t> JPMR, </a:t>
            </a:r>
            <a:r>
              <a:rPr lang="en-PH" altLang="en-US" dirty="0">
                <a:latin typeface="Times New Roman" panose="02020603050405020304" pitchFamily="18" charset="0"/>
                <a:cs typeface="Times New Roman" panose="02020603050405020304" pitchFamily="18" charset="0"/>
              </a:rPr>
              <a:t> and said </a:t>
            </a:r>
            <a:r>
              <a:rPr lang="en-US" altLang="en-US" dirty="0">
                <a:latin typeface="Times New Roman" panose="02020603050405020304" pitchFamily="18" charset="0"/>
                <a:cs typeface="Times New Roman" panose="02020603050405020304" pitchFamily="18" charset="0"/>
              </a:rPr>
              <a:t> “ </a:t>
            </a:r>
            <a:r>
              <a:rPr lang="en-PH" altLang="en-US" dirty="0">
                <a:latin typeface="Times New Roman" panose="02020603050405020304" pitchFamily="18" charset="0"/>
                <a:cs typeface="Times New Roman" panose="02020603050405020304" pitchFamily="18" charset="0"/>
              </a:rPr>
              <a:t>I feel so </a:t>
            </a:r>
            <a:r>
              <a:rPr lang="en-US" altLang="en-US" dirty="0">
                <a:latin typeface="Times New Roman" panose="02020603050405020304" pitchFamily="18" charset="0"/>
                <a:cs typeface="Times New Roman" panose="02020603050405020304" pitchFamily="18" charset="0"/>
              </a:rPr>
              <a:t> relaxed”.</a:t>
            </a:r>
            <a:r>
              <a:rPr lang="en-PH" altLang="en-US" dirty="0">
                <a:latin typeface="Times New Roman" panose="02020603050405020304" pitchFamily="18" charset="0"/>
                <a:cs typeface="Times New Roman" panose="02020603050405020304" pitchFamily="18" charset="0"/>
              </a:rPr>
              <a:t> She was motivated to practice JPMR daily</a:t>
            </a:r>
            <a:endParaRPr lang="en-US" altLang="en-US" dirty="0">
              <a:latin typeface="Times New Roman" panose="02020603050405020304" pitchFamily="18" charset="0"/>
              <a:cs typeface="Times New Roman" panose="02020603050405020304" pitchFamily="18" charset="0"/>
            </a:endParaRPr>
          </a:p>
          <a:p>
            <a:pPr indent="0" algn="just">
              <a:lnSpc>
                <a:spcPct val="200000"/>
              </a:lnSpc>
              <a:buFont typeface="Arial" panose="020B0604020202020204" pitchFamily="34" charset="0"/>
              <a:buNone/>
            </a:pPr>
            <a:r>
              <a:rPr lang="en-PH" altLang="en-US"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Plan for the next session:</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Identifying and reducing anxiety provoking situations by facing it.  </a:t>
            </a:r>
          </a:p>
          <a:p>
            <a:pPr indent="0" algn="just">
              <a:lnSpc>
                <a:spcPct val="200000"/>
              </a:lnSpc>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p:txBody>
      </p:sp>
      <p:sp>
        <p:nvSpPr>
          <p:cNvPr id="2" name="Title 22"/>
          <p:cNvSpPr txBox="1"/>
          <p:nvPr/>
        </p:nvSpPr>
        <p:spPr>
          <a:xfrm>
            <a:off x="385445" y="347980"/>
            <a:ext cx="2142490" cy="377825"/>
          </a:xfrm>
          <a:prstGeom prst="rect">
            <a:avLst/>
          </a:prstGeom>
        </p:spPr>
        <p:txBody>
          <a:bodyPr vert="horz" lIns="91440" tIns="45720" rIns="914400" bIns="45720" rtlCol="0" anchor="b">
            <a:norm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1800" b="1" dirty="0">
                <a:solidFill>
                  <a:schemeClr val="tx1"/>
                </a:solidFill>
                <a:highlight>
                  <a:srgbClr val="FFFF00"/>
                </a:highlight>
              </a:rPr>
              <a:t>Session </a:t>
            </a:r>
            <a:r>
              <a:rPr lang="en-PH" altLang="en-US" sz="1800" b="1" dirty="0">
                <a:solidFill>
                  <a:schemeClr val="tx1"/>
                </a:solidFill>
                <a:highlight>
                  <a:srgbClr val="FFFF00"/>
                </a:highlight>
              </a:rPr>
              <a:t>8</a:t>
            </a:r>
            <a:r>
              <a:rPr lang="en-US" sz="1800" b="1" dirty="0">
                <a:solidFill>
                  <a:schemeClr val="accent5">
                    <a:lumMod val="75000"/>
                  </a:schemeClr>
                </a:solidFill>
                <a:highlight>
                  <a:srgbClr val="FFFF00"/>
                </a:highlight>
              </a:rPr>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157480" y="451485"/>
            <a:ext cx="11796395" cy="6261735"/>
          </a:xfrm>
          <a:prstGeom prst="rect">
            <a:avLst/>
          </a:prstGeom>
          <a:noFill/>
        </p:spPr>
        <p:txBody>
          <a:bodyPr wrap="square">
            <a:noAutofit/>
          </a:bodyPr>
          <a:lstStyle/>
          <a:p>
            <a:pPr algn="just"/>
            <a:r>
              <a:rPr lang="en-IN" b="1" dirty="0">
                <a:latin typeface="Times New Roman" panose="02020603050405020304" pitchFamily="18" charset="0"/>
                <a:cs typeface="Times New Roman" panose="02020603050405020304" pitchFamily="18" charset="0"/>
              </a:rPr>
              <a:t>Date</a:t>
            </a:r>
            <a:r>
              <a:rPr lang="en-IN" dirty="0">
                <a:latin typeface="Times New Roman" panose="02020603050405020304" pitchFamily="18" charset="0"/>
                <a:cs typeface="Times New Roman" panose="02020603050405020304" pitchFamily="18" charset="0"/>
              </a:rPr>
              <a:t>: </a:t>
            </a:r>
            <a:r>
              <a:rPr lang="en-US" altLang="en-IN" dirty="0">
                <a:latin typeface="Times New Roman" panose="02020603050405020304" pitchFamily="18" charset="0"/>
                <a:cs typeface="Times New Roman" panose="02020603050405020304" pitchFamily="18" charset="0"/>
              </a:rPr>
              <a:t>15</a:t>
            </a:r>
            <a:r>
              <a:rPr lang="en-US" altLang="en-IN" baseline="30000" dirty="0">
                <a:latin typeface="Times New Roman" panose="02020603050405020304" pitchFamily="18" charset="0"/>
                <a:cs typeface="Times New Roman" panose="02020603050405020304" pitchFamily="18" charset="0"/>
              </a:rPr>
              <a:t>th</a:t>
            </a:r>
            <a:r>
              <a:rPr lang="en-US" altLang="en-IN" dirty="0">
                <a:latin typeface="Times New Roman" panose="02020603050405020304" pitchFamily="18" charset="0"/>
                <a:cs typeface="Times New Roman" panose="02020603050405020304" pitchFamily="18" charset="0"/>
              </a:rPr>
              <a:t> September 2026</a:t>
            </a:r>
            <a:r>
              <a:rPr lang="en-PH" altLang="en-IN"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Duration</a:t>
            </a:r>
            <a:r>
              <a:rPr lang="en-IN" dirty="0">
                <a:latin typeface="Times New Roman" panose="02020603050405020304" pitchFamily="18" charset="0"/>
                <a:cs typeface="Times New Roman" panose="02020603050405020304" pitchFamily="18" charset="0"/>
              </a:rPr>
              <a:t>: </a:t>
            </a:r>
            <a:r>
              <a:rPr lang="en-US" altLang="en-IN" dirty="0">
                <a:latin typeface="Times New Roman" panose="02020603050405020304" pitchFamily="18" charset="0"/>
                <a:cs typeface="Times New Roman" panose="02020603050405020304" pitchFamily="18" charset="0"/>
              </a:rPr>
              <a:t>1 hour</a:t>
            </a:r>
            <a:r>
              <a:rPr lang="en-PH" alt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indent="0" algn="just">
              <a:lnSpc>
                <a:spcPct val="150000"/>
              </a:lnSpc>
              <a:buFont typeface="Arial" panose="020B0604020202020204" pitchFamily="34" charset="0"/>
              <a:buNone/>
            </a:pPr>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brief check-in </a:t>
            </a:r>
            <a:r>
              <a:rPr lang="en-IN" dirty="0">
                <a:latin typeface="Times New Roman" panose="02020603050405020304" pitchFamily="18" charset="0"/>
                <a:cs typeface="Times New Roman" panose="02020603050405020304" pitchFamily="18" charset="0"/>
              </a:rPr>
              <a:t>was done of the P</a:t>
            </a:r>
            <a:r>
              <a:rPr lang="en-PH" altLang="en-IN" dirty="0">
                <a:latin typeface="Times New Roman" panose="02020603050405020304" pitchFamily="18" charset="0"/>
                <a:cs typeface="Times New Roman" panose="02020603050405020304" pitchFamily="18" charset="0"/>
              </a:rPr>
              <a:t>atient</a:t>
            </a:r>
            <a:r>
              <a:rPr lang="en-IN" dirty="0">
                <a:latin typeface="Times New Roman" panose="02020603050405020304" pitchFamily="18" charset="0"/>
                <a:cs typeface="Times New Roman" panose="02020603050405020304" pitchFamily="18" charset="0"/>
              </a:rPr>
              <a:t>s week and how she was doing. </a:t>
            </a:r>
          </a:p>
          <a:p>
            <a:pPr indent="0" algn="l">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Goals</a:t>
            </a:r>
            <a:r>
              <a:rPr lang="en-IN"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Helping to identify the anxiety provoking situations </a:t>
            </a:r>
            <a:r>
              <a:rPr lang="en-PH" altLang="en-US" dirty="0">
                <a:latin typeface="Times New Roman" panose="02020603050405020304" pitchFamily="18" charset="0"/>
                <a:cs typeface="Times New Roman" panose="02020603050405020304" pitchFamily="18" charset="0"/>
              </a:rPr>
              <a:t>and </a:t>
            </a:r>
            <a:r>
              <a:rPr lang="en-US" altLang="en-US" dirty="0">
                <a:latin typeface="Times New Roman" panose="02020603050405020304" pitchFamily="18" charset="0"/>
                <a:cs typeface="Times New Roman" panose="02020603050405020304" pitchFamily="18" charset="0"/>
              </a:rPr>
              <a:t>collaboratively build the fear hierarchy</a:t>
            </a:r>
            <a:r>
              <a:rPr lang="en-PH" altLang="en-US" dirty="0">
                <a:latin typeface="Times New Roman" panose="02020603050405020304" pitchFamily="18" charset="0"/>
                <a:cs typeface="Times New Roman" panose="02020603050405020304" pitchFamily="18" charset="0"/>
              </a:rPr>
              <a:t> .</a:t>
            </a:r>
            <a:endParaRPr lang="en-US" altLang="en-US" dirty="0">
              <a:latin typeface="Times New Roman" panose="02020603050405020304" pitchFamily="18" charset="0"/>
              <a:cs typeface="Times New Roman" panose="02020603050405020304" pitchFamily="18" charset="0"/>
            </a:endParaRPr>
          </a:p>
          <a:p>
            <a:pPr indent="0" algn="l">
              <a:lnSpc>
                <a:spcPct val="150000"/>
              </a:lnSpc>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 </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Identifying and reducing anxiety by facing it.  </a:t>
            </a:r>
          </a:p>
          <a:p>
            <a:pPr indent="0" algn="just">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Homework was discussed </a:t>
            </a:r>
            <a:r>
              <a:rPr lang="en-PH" alt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After initial rapport building, review of the previous session, and checking of homework, </a:t>
            </a:r>
            <a:r>
              <a:rPr lang="en-US" altLang="en-US" b="1" dirty="0">
                <a:latin typeface="Times New Roman" panose="02020603050405020304" pitchFamily="18" charset="0"/>
                <a:cs typeface="Times New Roman" panose="02020603050405020304" pitchFamily="18" charset="0"/>
              </a:rPr>
              <a:t>psychoeducation </a:t>
            </a:r>
            <a:r>
              <a:rPr lang="en-US" altLang="en-US" dirty="0">
                <a:latin typeface="Times New Roman" panose="02020603050405020304" pitchFamily="18" charset="0"/>
                <a:cs typeface="Times New Roman" panose="02020603050405020304" pitchFamily="18" charset="0"/>
              </a:rPr>
              <a:t>was provided on how, in Generalized Anxiety Disorder, individuals often experience anxiety in many different situations such as travelling, driving, or being in hospitals.The patient was informed that this occurs because the mind tends to overestimate danger and worry about possible threats</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not because these situations are unsafe, but because the brain has learned to associate uncertainty or lack of control with potential danger. When this pattern repeats, anxiety can spread to many areas of life. Following this discussion, the therapist and patient collaboratively developed a fear hierarchy focused on one preferred area of concern</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apprehension related to travelling by train</a:t>
            </a:r>
            <a:r>
              <a:rPr lang="en-PH" altLang="en-US" dirty="0">
                <a:latin typeface="Times New Roman" panose="02020603050405020304" pitchFamily="18" charset="0"/>
                <a:cs typeface="Times New Roman" panose="02020603050405020304" pitchFamily="18" charset="0"/>
              </a:rPr>
              <a:t> and </a:t>
            </a:r>
            <a:r>
              <a:rPr lang="en-US" altLang="en-US" dirty="0">
                <a:latin typeface="Times New Roman" panose="02020603050405020304" pitchFamily="18" charset="0"/>
                <a:cs typeface="Times New Roman" panose="02020603050405020304" pitchFamily="18" charset="0"/>
              </a:rPr>
              <a:t>used imagined exposure techniques during the session</a:t>
            </a:r>
            <a:r>
              <a:rPr lang="en-PH" altLang="en-US" dirty="0">
                <a:latin typeface="Times New Roman" panose="02020603050405020304" pitchFamily="18" charset="0"/>
                <a:cs typeface="Times New Roman" panose="02020603050405020304" pitchFamily="18" charset="0"/>
              </a:rPr>
              <a:t>. </a:t>
            </a:r>
          </a:p>
          <a:p>
            <a:pPr indent="0" algn="l">
              <a:lnSpc>
                <a:spcPct val="13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Homework</a:t>
            </a: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:1) Continue with JPMR </a:t>
            </a:r>
            <a:r>
              <a:rPr lang="en-US" altLang="en-US" dirty="0">
                <a:latin typeface="Times New Roman" panose="02020603050405020304" pitchFamily="18" charset="0"/>
                <a:cs typeface="Times New Roman" panose="02020603050405020304" pitchFamily="18" charset="0"/>
              </a:rPr>
              <a:t> daily, even when not anxious.</a:t>
            </a:r>
          </a:p>
          <a:p>
            <a:pPr indent="0" algn="l">
              <a:lnSpc>
                <a:spcPct val="130000"/>
              </a:lnSpc>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 </a:t>
            </a:r>
            <a:r>
              <a:rPr lang="en-PH" altLang="en-US" dirty="0">
                <a:latin typeface="Times New Roman" panose="02020603050405020304" pitchFamily="18" charset="0"/>
                <a:cs typeface="Times New Roman" panose="02020603050405020304" pitchFamily="18" charset="0"/>
              </a:rPr>
              <a:t>                     2)Try to expose herself mild anxiety</a:t>
            </a:r>
            <a:r>
              <a:rPr lang="en-PH" altLang="en-IN" dirty="0">
                <a:latin typeface="Times New Roman" panose="02020603050405020304" pitchFamily="18" charset="0"/>
                <a:cs typeface="Times New Roman" panose="02020603050405020304" pitchFamily="18" charset="0"/>
              </a:rPr>
              <a:t> provoking situation by using learned techniques .           </a:t>
            </a:r>
            <a:r>
              <a:rPr lang="en-IN" dirty="0">
                <a:latin typeface="Times New Roman" panose="02020603050405020304" pitchFamily="18" charset="0"/>
                <a:cs typeface="Times New Roman" panose="02020603050405020304" pitchFamily="18" charset="0"/>
              </a:rPr>
              <a:t> </a:t>
            </a:r>
          </a:p>
          <a:p>
            <a:pPr indent="0" algn="just">
              <a:lnSpc>
                <a:spcPct val="13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Pt Feedback: </a:t>
            </a:r>
            <a:r>
              <a:rPr lang="en-PH" altLang="en-IN" dirty="0">
                <a:latin typeface="Times New Roman" panose="02020603050405020304" pitchFamily="18" charset="0"/>
                <a:cs typeface="Times New Roman" panose="02020603050405020304" pitchFamily="18" charset="0"/>
              </a:rPr>
              <a:t>Patient stated now I understood how to manage physical discomfort in diferent situations.</a:t>
            </a:r>
            <a:endParaRPr lang="en-IN" dirty="0">
              <a:latin typeface="Times New Roman" panose="02020603050405020304" pitchFamily="18" charset="0"/>
              <a:cs typeface="Times New Roman" panose="02020603050405020304" pitchFamily="18" charset="0"/>
            </a:endParaRPr>
          </a:p>
          <a:p>
            <a:pPr indent="0" algn="just">
              <a:lnSpc>
                <a:spcPct val="13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Plan for the next session:</a:t>
            </a:r>
            <a:r>
              <a:rPr lang="en-PH" altLang="en-IN" b="1"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Evaluation and m</a:t>
            </a:r>
            <a:r>
              <a:rPr lang="en-US" altLang="en-US" dirty="0">
                <a:latin typeface="Times New Roman" panose="02020603050405020304" pitchFamily="18" charset="0"/>
                <a:cs typeface="Times New Roman" panose="02020603050405020304" pitchFamily="18" charset="0"/>
              </a:rPr>
              <a:t>otivation</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to perform the exposure tasks</a:t>
            </a:r>
          </a:p>
        </p:txBody>
      </p:sp>
      <p:sp>
        <p:nvSpPr>
          <p:cNvPr id="2" name="Title 22"/>
          <p:cNvSpPr txBox="1"/>
          <p:nvPr/>
        </p:nvSpPr>
        <p:spPr>
          <a:xfrm>
            <a:off x="204470" y="39370"/>
            <a:ext cx="2333625" cy="505460"/>
          </a:xfrm>
          <a:prstGeom prst="rect">
            <a:avLst/>
          </a:prstGeom>
        </p:spPr>
        <p:txBody>
          <a:bodyPr vert="horz" lIns="91440" tIns="45720" rIns="914400" bIns="45720" rtlCol="0" anchor="b">
            <a:norm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1800" b="1" dirty="0">
                <a:solidFill>
                  <a:schemeClr val="tx1"/>
                </a:solidFill>
                <a:highlight>
                  <a:srgbClr val="FFFF00"/>
                </a:highlight>
              </a:rPr>
              <a:t>Session </a:t>
            </a:r>
            <a:r>
              <a:rPr lang="en-PH" altLang="en-US" sz="1800" b="1" dirty="0">
                <a:solidFill>
                  <a:schemeClr val="tx1"/>
                </a:solidFill>
                <a:highlight>
                  <a:srgbClr val="FFFF00"/>
                </a:highlight>
              </a:rPr>
              <a:t>9</a:t>
            </a:r>
            <a:r>
              <a:rPr lang="en-US" sz="1800" b="1" dirty="0">
                <a:solidFill>
                  <a:schemeClr val="accent5">
                    <a:lumMod val="75000"/>
                  </a:schemeClr>
                </a:solidFill>
                <a:highlight>
                  <a:srgbClr val="FFFF00"/>
                </a:highlight>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381000" y="451485"/>
            <a:ext cx="11572875" cy="6261735"/>
          </a:xfrm>
          <a:prstGeom prst="rect">
            <a:avLst/>
          </a:prstGeom>
          <a:noFill/>
        </p:spPr>
        <p:txBody>
          <a:bodyPr wrap="square">
            <a:noAutofit/>
          </a:bodyPr>
          <a:lstStyle/>
          <a:p>
            <a:pPr algn="just"/>
            <a:r>
              <a:rPr lang="en-IN" b="1" dirty="0">
                <a:latin typeface="Times New Roman" panose="02020603050405020304" pitchFamily="18" charset="0"/>
                <a:cs typeface="Times New Roman" panose="02020603050405020304" pitchFamily="18" charset="0"/>
              </a:rPr>
              <a:t>Date</a:t>
            </a:r>
            <a:r>
              <a:rPr lang="en-IN" dirty="0">
                <a:latin typeface="Times New Roman" panose="02020603050405020304" pitchFamily="18" charset="0"/>
                <a:cs typeface="Times New Roman" panose="02020603050405020304" pitchFamily="18" charset="0"/>
              </a:rPr>
              <a:t>: </a:t>
            </a:r>
            <a:r>
              <a:rPr lang="en-US" altLang="en-IN" dirty="0">
                <a:latin typeface="Times New Roman" panose="02020603050405020304" pitchFamily="18" charset="0"/>
                <a:cs typeface="Times New Roman" panose="02020603050405020304" pitchFamily="18" charset="0"/>
              </a:rPr>
              <a:t>21</a:t>
            </a:r>
            <a:r>
              <a:rPr lang="en-US" altLang="en-IN" baseline="30000" dirty="0">
                <a:latin typeface="Times New Roman" panose="02020603050405020304" pitchFamily="18" charset="0"/>
                <a:cs typeface="Times New Roman" panose="02020603050405020304" pitchFamily="18" charset="0"/>
              </a:rPr>
              <a:t>st</a:t>
            </a:r>
            <a:r>
              <a:rPr lang="en-US" altLang="en-IN" dirty="0">
                <a:latin typeface="Times New Roman" panose="02020603050405020304" pitchFamily="18" charset="0"/>
                <a:cs typeface="Times New Roman" panose="02020603050405020304" pitchFamily="18" charset="0"/>
              </a:rPr>
              <a:t> September 2026</a:t>
            </a:r>
            <a:r>
              <a:rPr lang="en-PH" altLang="en-IN"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Duration</a:t>
            </a: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45</a:t>
            </a:r>
            <a:r>
              <a:rPr lang="en-IN" dirty="0">
                <a:latin typeface="Times New Roman" panose="02020603050405020304" pitchFamily="18" charset="0"/>
                <a:cs typeface="Times New Roman" panose="02020603050405020304" pitchFamily="18" charset="0"/>
              </a:rPr>
              <a:t> minutes</a:t>
            </a:r>
            <a:r>
              <a:rPr lang="en-PH" alt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indent="0" algn="just">
              <a:lnSpc>
                <a:spcPct val="150000"/>
              </a:lnSpc>
              <a:buFont typeface="Arial" panose="020B0604020202020204" pitchFamily="34" charset="0"/>
              <a:buNone/>
            </a:pPr>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brief check-in </a:t>
            </a:r>
            <a:r>
              <a:rPr lang="en-IN" dirty="0">
                <a:latin typeface="Times New Roman" panose="02020603050405020304" pitchFamily="18" charset="0"/>
                <a:cs typeface="Times New Roman" panose="02020603050405020304" pitchFamily="18" charset="0"/>
              </a:rPr>
              <a:t>was done of the P</a:t>
            </a:r>
            <a:r>
              <a:rPr lang="en-PH" altLang="en-IN" dirty="0">
                <a:latin typeface="Times New Roman" panose="02020603050405020304" pitchFamily="18" charset="0"/>
                <a:cs typeface="Times New Roman" panose="02020603050405020304" pitchFamily="18" charset="0"/>
              </a:rPr>
              <a:t>atient</a:t>
            </a:r>
            <a:r>
              <a:rPr lang="en-IN" dirty="0">
                <a:latin typeface="Times New Roman" panose="02020603050405020304" pitchFamily="18" charset="0"/>
                <a:cs typeface="Times New Roman" panose="02020603050405020304" pitchFamily="18" charset="0"/>
              </a:rPr>
              <a:t>s week and how she was doing. </a:t>
            </a:r>
          </a:p>
          <a:p>
            <a:pPr indent="0" algn="l">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Goals</a:t>
            </a:r>
            <a:r>
              <a:rPr lang="en-IN" dirty="0">
                <a:latin typeface="Times New Roman" panose="02020603050405020304" pitchFamily="18" charset="0"/>
                <a:cs typeface="Times New Roman" panose="02020603050405020304" pitchFamily="18" charset="0"/>
              </a:rPr>
              <a:t>:</a:t>
            </a:r>
            <a:r>
              <a:rPr lang="en-PH" altLang="en-IN" dirty="0">
                <a:latin typeface="Times New Roman" panose="02020603050405020304" pitchFamily="18" charset="0"/>
                <a:cs typeface="Times New Roman" panose="02020603050405020304" pitchFamily="18" charset="0"/>
              </a:rPr>
              <a:t> T</a:t>
            </a:r>
            <a:r>
              <a:rPr lang="en-US" altLang="en-US" dirty="0">
                <a:latin typeface="Times New Roman" panose="02020603050405020304" pitchFamily="18" charset="0"/>
                <a:cs typeface="Times New Roman" panose="02020603050405020304" pitchFamily="18" charset="0"/>
              </a:rPr>
              <a:t>o provide psychoeducation and motivation to face real-life situations rather than avoiding them.</a:t>
            </a:r>
          </a:p>
          <a:p>
            <a:pPr indent="0" algn="l">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Homework</a:t>
            </a:r>
            <a:r>
              <a:rPr lang="en-PH" altLang="en-IN" b="1" dirty="0">
                <a:latin typeface="Times New Roman" panose="02020603050405020304" pitchFamily="18" charset="0"/>
                <a:cs typeface="Times New Roman" panose="02020603050405020304" pitchFamily="18" charset="0"/>
              </a:rPr>
              <a:t> and </a:t>
            </a:r>
            <a:r>
              <a:rPr lang="en-US" altLang="en-US" b="1" dirty="0">
                <a:latin typeface="Times New Roman" panose="02020603050405020304" pitchFamily="18" charset="0"/>
                <a:cs typeface="Times New Roman" panose="02020603050405020304" pitchFamily="18" charset="0"/>
              </a:rPr>
              <a:t>Session summary:</a:t>
            </a:r>
          </a:p>
          <a:p>
            <a:pPr indent="0" algn="l">
              <a:lnSpc>
                <a:spcPct val="150000"/>
              </a:lnSpc>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After reviewing the previous session and checking the assigned homework, the patient was further psychoeducated on the importance of continuing exposure tasks instead of avoiding anxiety-provoking situations. The principle of habituation was explained that anxiety naturally decreases over time with repeated and prolonged exposure. Once the patient provided </a:t>
            </a:r>
            <a:r>
              <a:rPr lang="en-PH" altLang="en-US" dirty="0">
                <a:latin typeface="Times New Roman" panose="02020603050405020304" pitchFamily="18" charset="0"/>
                <a:cs typeface="Times New Roman" panose="02020603050405020304" pitchFamily="18" charset="0"/>
              </a:rPr>
              <a:t>acceptence</a:t>
            </a:r>
            <a:r>
              <a:rPr lang="en-US" altLang="en-US" dirty="0">
                <a:latin typeface="Times New Roman" panose="02020603050405020304" pitchFamily="18" charset="0"/>
                <a:cs typeface="Times New Roman" panose="02020603050405020304" pitchFamily="18" charset="0"/>
              </a:rPr>
              <a:t> to proceed with exposure therapy, the task and frequency were collaboratively planned as follows:</a:t>
            </a:r>
          </a:p>
          <a:p>
            <a:pPr indent="0" algn="l">
              <a:lnSpc>
                <a:spcPct val="150000"/>
              </a:lnSpc>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Task: Travelling with her husband by train for approximately 20 minutes.</a:t>
            </a:r>
          </a:p>
          <a:p>
            <a:pPr indent="0" algn="l">
              <a:lnSpc>
                <a:spcPct val="150000"/>
              </a:lnSpc>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Frequency: Once per week (moderately anxiety-provoking situation).</a:t>
            </a:r>
          </a:p>
          <a:p>
            <a:pPr indent="0" algn="l">
              <a:lnSpc>
                <a:spcPct val="150000"/>
              </a:lnSpc>
              <a:buFont typeface="Arial" panose="020B0604020202020204" pitchFamily="34" charset="0"/>
              <a:buNone/>
            </a:pPr>
            <a:r>
              <a:rPr lang="en-US" altLang="en-US" b="1" dirty="0">
                <a:latin typeface="Times New Roman" panose="02020603050405020304" pitchFamily="18" charset="0"/>
                <a:cs typeface="Times New Roman" panose="02020603050405020304" pitchFamily="18" charset="0"/>
              </a:rPr>
              <a:t>Homework :</a:t>
            </a:r>
            <a:r>
              <a:rPr lang="en-US" altLang="en-US" dirty="0">
                <a:latin typeface="Times New Roman" panose="02020603050405020304" pitchFamily="18" charset="0"/>
                <a:cs typeface="Times New Roman" panose="02020603050405020304" pitchFamily="18" charset="0"/>
              </a:rPr>
              <a:t>1) Continue with JPMR  daily</a:t>
            </a:r>
            <a:r>
              <a:rPr lang="en-PH"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t>
            </a:r>
          </a:p>
          <a:p>
            <a:pPr indent="0" algn="ctr">
              <a:lnSpc>
                <a:spcPct val="150000"/>
              </a:lnSpc>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 </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2)   </a:t>
            </a:r>
            <a:r>
              <a:rPr lang="en-PH" altLang="en-US" dirty="0">
                <a:latin typeface="Times New Roman" panose="02020603050405020304" pitchFamily="18" charset="0"/>
                <a:cs typeface="Times New Roman" panose="02020603050405020304" pitchFamily="18" charset="0"/>
              </a:rPr>
              <a:t>N</a:t>
            </a:r>
            <a:r>
              <a:rPr lang="en-US" altLang="en-US" dirty="0">
                <a:latin typeface="Times New Roman" panose="02020603050405020304" pitchFamily="18" charset="0"/>
                <a:cs typeface="Times New Roman" panose="02020603050405020304" pitchFamily="18" charset="0"/>
              </a:rPr>
              <a:t>ote down a) the assumptions and fears before exposure tasks, b) the kind of cognitive distortion </a:t>
            </a:r>
            <a:r>
              <a:rPr lang="en-PH"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c) what </a:t>
            </a:r>
            <a:r>
              <a:rPr lang="en-PH"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happened during the exposure and d) how  altered the distorted thought. </a:t>
            </a:r>
          </a:p>
          <a:p>
            <a:pPr indent="0" algn="l">
              <a:lnSpc>
                <a:spcPct val="150000"/>
              </a:lnSpc>
              <a:buFont typeface="Arial" panose="020B0604020202020204" pitchFamily="34" charset="0"/>
              <a:buNone/>
            </a:pPr>
            <a:r>
              <a:rPr lang="en-US" altLang="en-US" b="1" dirty="0">
                <a:latin typeface="Times New Roman" panose="02020603050405020304" pitchFamily="18" charset="0"/>
                <a:cs typeface="Times New Roman" panose="02020603050405020304" pitchFamily="18" charset="0"/>
              </a:rPr>
              <a:t>Pt feedback:</a:t>
            </a:r>
            <a:r>
              <a:rPr lang="en-US" altLang="en-US" dirty="0">
                <a:latin typeface="Times New Roman" panose="02020603050405020304" pitchFamily="18" charset="0"/>
                <a:cs typeface="Times New Roman" panose="02020603050405020304" pitchFamily="18" charset="0"/>
              </a:rPr>
              <a:t>  She stated </a:t>
            </a:r>
            <a:r>
              <a:rPr lang="en-PH" altLang="en-US" dirty="0">
                <a:latin typeface="Times New Roman" panose="02020603050405020304" pitchFamily="18" charset="0"/>
                <a:cs typeface="Times New Roman" panose="02020603050405020304" pitchFamily="18" charset="0"/>
              </a:rPr>
              <a:t>that, she understood the importance of </a:t>
            </a:r>
            <a:r>
              <a:rPr lang="en-US" altLang="en-US" dirty="0">
                <a:latin typeface="Times New Roman" panose="02020603050405020304" pitchFamily="18" charset="0"/>
                <a:cs typeface="Times New Roman" panose="02020603050405020304" pitchFamily="18" charset="0"/>
              </a:rPr>
              <a:t> exposure task </a:t>
            </a:r>
            <a:r>
              <a:rPr lang="en-PH" altLang="en-US" dirty="0">
                <a:latin typeface="Times New Roman" panose="02020603050405020304" pitchFamily="18" charset="0"/>
                <a:cs typeface="Times New Roman" panose="02020603050405020304" pitchFamily="18" charset="0"/>
              </a:rPr>
              <a:t>to overcome avoidence behaviour</a:t>
            </a:r>
            <a:endParaRPr lang="en-US" altLang="en-US" dirty="0">
              <a:latin typeface="Times New Roman" panose="02020603050405020304" pitchFamily="18" charset="0"/>
              <a:cs typeface="Times New Roman" panose="02020603050405020304" pitchFamily="18" charset="0"/>
            </a:endParaRPr>
          </a:p>
          <a:p>
            <a:pPr indent="0" algn="l">
              <a:lnSpc>
                <a:spcPct val="150000"/>
              </a:lnSpc>
              <a:buFont typeface="Arial" panose="020B0604020202020204" pitchFamily="34" charset="0"/>
              <a:buNone/>
            </a:pPr>
            <a:r>
              <a:rPr lang="en-US" altLang="en-US" b="1" dirty="0">
                <a:latin typeface="Times New Roman" panose="02020603050405020304" pitchFamily="18" charset="0"/>
                <a:cs typeface="Times New Roman" panose="02020603050405020304" pitchFamily="18" charset="0"/>
              </a:rPr>
              <a:t>Plan for the next session:</a:t>
            </a:r>
            <a:r>
              <a:rPr lang="en-US" altLang="en-US" dirty="0">
                <a:latin typeface="Times New Roman" panose="02020603050405020304" pitchFamily="18" charset="0"/>
                <a:cs typeface="Times New Roman" panose="02020603050405020304" pitchFamily="18" charset="0"/>
              </a:rPr>
              <a:t> </a:t>
            </a:r>
            <a:r>
              <a:rPr lang="en-PH" altLang="en-US" dirty="0">
                <a:latin typeface="Times New Roman" panose="02020603050405020304" pitchFamily="18" charset="0"/>
                <a:cs typeface="Times New Roman" panose="02020603050405020304" pitchFamily="18" charset="0"/>
              </a:rPr>
              <a:t>A</a:t>
            </a:r>
            <a:r>
              <a:rPr lang="en-US" altLang="en-US" dirty="0">
                <a:latin typeface="Times New Roman" panose="02020603050405020304" pitchFamily="18" charset="0"/>
                <a:cs typeface="Times New Roman" panose="02020603050405020304" pitchFamily="18" charset="0"/>
              </a:rPr>
              <a:t>ddress the task remaining on the fear hierarchy, </a:t>
            </a:r>
            <a:r>
              <a:rPr lang="en-PH" altLang="en-US" dirty="0">
                <a:latin typeface="Times New Roman" panose="02020603050405020304" pitchFamily="18" charset="0"/>
                <a:cs typeface="Times New Roman" panose="02020603050405020304" pitchFamily="18" charset="0"/>
              </a:rPr>
              <a:t>learn to </a:t>
            </a:r>
            <a:r>
              <a:rPr lang="en-US" altLang="en-US" dirty="0">
                <a:latin typeface="Times New Roman" panose="02020603050405020304" pitchFamily="18" charset="0"/>
                <a:cs typeface="Times New Roman" panose="02020603050405020304" pitchFamily="18" charset="0"/>
              </a:rPr>
              <a:t>being assertive. </a:t>
            </a:r>
          </a:p>
          <a:p>
            <a:pPr indent="0" algn="l">
              <a:lnSpc>
                <a:spcPct val="150000"/>
              </a:lnSpc>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 </a:t>
            </a:r>
          </a:p>
          <a:p>
            <a:pPr indent="0" algn="l">
              <a:lnSpc>
                <a:spcPct val="150000"/>
              </a:lnSpc>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pPr indent="0" algn="l">
              <a:lnSpc>
                <a:spcPct val="150000"/>
              </a:lnSpc>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pPr indent="0" algn="l">
              <a:lnSpc>
                <a:spcPct val="150000"/>
              </a:lnSpc>
              <a:buFont typeface="Arial" panose="020B0604020202020204" pitchFamily="34" charset="0"/>
              <a:buNone/>
            </a:pPr>
            <a:endParaRPr lang="en-US" altLang="en-US" b="1" dirty="0">
              <a:latin typeface="Times New Roman" panose="02020603050405020304" pitchFamily="18" charset="0"/>
              <a:cs typeface="Times New Roman" panose="02020603050405020304" pitchFamily="18" charset="0"/>
            </a:endParaRPr>
          </a:p>
          <a:p>
            <a:pPr indent="0" algn="l">
              <a:lnSpc>
                <a:spcPct val="150000"/>
              </a:lnSpc>
              <a:buFont typeface="Arial" panose="020B0604020202020204" pitchFamily="34" charset="0"/>
              <a:buNone/>
            </a:pPr>
            <a:endParaRPr lang="en-US" altLang="en-US" b="1" dirty="0">
              <a:latin typeface="Times New Roman" panose="02020603050405020304" pitchFamily="18" charset="0"/>
              <a:cs typeface="Times New Roman" panose="02020603050405020304" pitchFamily="18" charset="0"/>
            </a:endParaRPr>
          </a:p>
          <a:p>
            <a:pPr indent="0" algn="l">
              <a:lnSpc>
                <a:spcPct val="150000"/>
              </a:lnSpc>
              <a:buFont typeface="Arial" panose="020B0604020202020204" pitchFamily="34" charset="0"/>
              <a:buNone/>
            </a:pPr>
            <a:endParaRPr lang="en-US" altLang="en-US" b="1" dirty="0">
              <a:latin typeface="Times New Roman" panose="02020603050405020304" pitchFamily="18" charset="0"/>
              <a:cs typeface="Times New Roman" panose="02020603050405020304" pitchFamily="18" charset="0"/>
            </a:endParaRPr>
          </a:p>
          <a:p>
            <a:pPr indent="0" algn="l">
              <a:lnSpc>
                <a:spcPct val="150000"/>
              </a:lnSpc>
              <a:buFont typeface="Arial" panose="020B0604020202020204" pitchFamily="34" charset="0"/>
              <a:buNone/>
            </a:pPr>
            <a:endParaRPr lang="en-US" altLang="en-US" b="1" dirty="0">
              <a:latin typeface="Times New Roman" panose="02020603050405020304" pitchFamily="18" charset="0"/>
              <a:cs typeface="Times New Roman" panose="02020603050405020304" pitchFamily="18" charset="0"/>
            </a:endParaRPr>
          </a:p>
          <a:p>
            <a:pPr indent="0" algn="l">
              <a:lnSpc>
                <a:spcPct val="150000"/>
              </a:lnSpc>
              <a:buFont typeface="Arial" panose="020B0604020202020204" pitchFamily="34" charset="0"/>
              <a:buNone/>
            </a:pPr>
            <a:endParaRPr lang="en-US" altLang="en-US" b="1" dirty="0">
              <a:latin typeface="Times New Roman" panose="02020603050405020304" pitchFamily="18" charset="0"/>
              <a:cs typeface="Times New Roman" panose="02020603050405020304" pitchFamily="18" charset="0"/>
            </a:endParaRPr>
          </a:p>
          <a:p>
            <a:pPr indent="0" algn="l">
              <a:lnSpc>
                <a:spcPct val="150000"/>
              </a:lnSpc>
              <a:buFont typeface="Arial" panose="020B0604020202020204" pitchFamily="34" charset="0"/>
              <a:buNone/>
            </a:pPr>
            <a:endParaRPr lang="en-US" altLang="en-US" b="1" dirty="0">
              <a:latin typeface="Times New Roman" panose="02020603050405020304" pitchFamily="18" charset="0"/>
              <a:cs typeface="Times New Roman" panose="02020603050405020304" pitchFamily="18" charset="0"/>
            </a:endParaRPr>
          </a:p>
          <a:p>
            <a:pPr indent="0" algn="l">
              <a:lnSpc>
                <a:spcPct val="15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Homework</a:t>
            </a:r>
            <a:r>
              <a:rPr lang="en-IN" dirty="0">
                <a:latin typeface="Times New Roman" panose="02020603050405020304" pitchFamily="18" charset="0"/>
                <a:cs typeface="Times New Roman" panose="02020603050405020304" pitchFamily="18" charset="0"/>
              </a:rPr>
              <a:t> </a:t>
            </a:r>
            <a:r>
              <a:rPr lang="en-PH" altLang="en-IN" dirty="0">
                <a:latin typeface="Times New Roman" panose="02020603050405020304" pitchFamily="18" charset="0"/>
                <a:cs typeface="Times New Roman" panose="02020603050405020304" pitchFamily="18" charset="0"/>
              </a:rPr>
              <a:t>:1) Continue with JPMR </a:t>
            </a:r>
            <a:r>
              <a:rPr lang="en-US" altLang="en-US" dirty="0">
                <a:latin typeface="Times New Roman" panose="02020603050405020304" pitchFamily="18" charset="0"/>
                <a:cs typeface="Times New Roman" panose="02020603050405020304" pitchFamily="18" charset="0"/>
              </a:rPr>
              <a:t> daily, even when not anxious.</a:t>
            </a:r>
          </a:p>
          <a:p>
            <a:pPr indent="0" algn="l">
              <a:lnSpc>
                <a:spcPct val="130000"/>
              </a:lnSpc>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 </a:t>
            </a:r>
            <a:r>
              <a:rPr lang="en-PH" altLang="en-US" dirty="0">
                <a:latin typeface="Times New Roman" panose="02020603050405020304" pitchFamily="18" charset="0"/>
                <a:cs typeface="Times New Roman" panose="02020603050405020304" pitchFamily="18" charset="0"/>
              </a:rPr>
              <a:t>                     2)Try to expose herself anxiety </a:t>
            </a:r>
            <a:r>
              <a:rPr lang="en-PH" altLang="en-IN" dirty="0">
                <a:latin typeface="Times New Roman" panose="02020603050405020304" pitchFamily="18" charset="0"/>
                <a:cs typeface="Times New Roman" panose="02020603050405020304" pitchFamily="18" charset="0"/>
              </a:rPr>
              <a:t> provoking situation by using learned techniques .           </a:t>
            </a:r>
            <a:r>
              <a:rPr lang="en-IN" dirty="0">
                <a:latin typeface="Times New Roman" panose="02020603050405020304" pitchFamily="18" charset="0"/>
                <a:cs typeface="Times New Roman" panose="02020603050405020304" pitchFamily="18" charset="0"/>
              </a:rPr>
              <a:t> </a:t>
            </a:r>
          </a:p>
          <a:p>
            <a:pPr indent="0" algn="just">
              <a:lnSpc>
                <a:spcPct val="13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Pt Feedback: </a:t>
            </a:r>
            <a:r>
              <a:rPr lang="en-PH" altLang="en-IN" dirty="0">
                <a:latin typeface="Times New Roman" panose="02020603050405020304" pitchFamily="18" charset="0"/>
                <a:cs typeface="Times New Roman" panose="02020603050405020304" pitchFamily="18" charset="0"/>
              </a:rPr>
              <a:t>Patient stated now I understood how to manage physical discomfort in diferent situations.</a:t>
            </a:r>
            <a:endParaRPr lang="en-IN" dirty="0">
              <a:latin typeface="Times New Roman" panose="02020603050405020304" pitchFamily="18" charset="0"/>
              <a:cs typeface="Times New Roman" panose="02020603050405020304" pitchFamily="18" charset="0"/>
            </a:endParaRPr>
          </a:p>
          <a:p>
            <a:pPr indent="0" algn="just">
              <a:lnSpc>
                <a:spcPct val="100000"/>
              </a:lnSpc>
              <a:buFont typeface="Arial" panose="020B0604020202020204" pitchFamily="34" charset="0"/>
              <a:buNone/>
            </a:pPr>
            <a:r>
              <a:rPr lang="en-IN" b="1" dirty="0">
                <a:latin typeface="Times New Roman" panose="02020603050405020304" pitchFamily="18" charset="0"/>
                <a:cs typeface="Times New Roman" panose="02020603050405020304" pitchFamily="18" charset="0"/>
              </a:rPr>
              <a:t>Plan for the next session:</a:t>
            </a:r>
            <a:r>
              <a:rPr lang="en-PH" altLang="en-IN" dirty="0">
                <a:latin typeface="Times New Roman" panose="02020603050405020304" pitchFamily="18" charset="0"/>
                <a:cs typeface="Times New Roman" panose="02020603050405020304" pitchFamily="18" charset="0"/>
              </a:rPr>
              <a:t>L</a:t>
            </a:r>
            <a:r>
              <a:rPr lang="en-US" altLang="en-US" dirty="0">
                <a:latin typeface="Times New Roman" panose="02020603050405020304" pitchFamily="18" charset="0"/>
                <a:cs typeface="Times New Roman" panose="02020603050405020304" pitchFamily="18" charset="0"/>
              </a:rPr>
              <a:t>earn and implement problem solving strategies</a:t>
            </a:r>
            <a:r>
              <a:rPr lang="en-PH" altLang="en-US" dirty="0">
                <a:latin typeface="Times New Roman" panose="02020603050405020304" pitchFamily="18" charset="0"/>
                <a:cs typeface="Times New Roman" panose="02020603050405020304" pitchFamily="18" charset="0"/>
              </a:rPr>
              <a:t>.</a:t>
            </a:r>
          </a:p>
        </p:txBody>
      </p:sp>
      <p:sp>
        <p:nvSpPr>
          <p:cNvPr id="2" name="Title 22"/>
          <p:cNvSpPr txBox="1"/>
          <p:nvPr/>
        </p:nvSpPr>
        <p:spPr>
          <a:xfrm>
            <a:off x="204470" y="39370"/>
            <a:ext cx="2333625" cy="505460"/>
          </a:xfrm>
          <a:prstGeom prst="rect">
            <a:avLst/>
          </a:prstGeom>
        </p:spPr>
        <p:txBody>
          <a:bodyPr vert="horz" lIns="91440" tIns="45720" rIns="914400" bIns="45720" rtlCol="0" anchor="b">
            <a:normAutofit/>
          </a:bodyPr>
          <a:lstStyle>
            <a:lvl1pPr algn="l" defTabSz="914400" rtl="0" eaLnBrk="1" latinLnBrk="0" hangingPunct="1">
              <a:lnSpc>
                <a:spcPct val="90000"/>
              </a:lnSpc>
              <a:spcBef>
                <a:spcPct val="0"/>
              </a:spcBef>
              <a:buNone/>
              <a:defRPr sz="4800" kern="1200">
                <a:solidFill>
                  <a:schemeClr val="tx1">
                    <a:lumMod val="75000"/>
                    <a:lumOff val="25000"/>
                  </a:schemeClr>
                </a:solidFill>
                <a:latin typeface="+mj-lt"/>
                <a:ea typeface="+mj-ea"/>
                <a:cs typeface="+mj-cs"/>
              </a:defRPr>
            </a:lvl1pPr>
          </a:lstStyle>
          <a:p>
            <a:r>
              <a:rPr lang="en-US" sz="1800" b="1" dirty="0">
                <a:solidFill>
                  <a:schemeClr val="tx1"/>
                </a:solidFill>
                <a:highlight>
                  <a:srgbClr val="FFFF00"/>
                </a:highlight>
              </a:rPr>
              <a:t>Session </a:t>
            </a:r>
            <a:r>
              <a:rPr lang="en-PH" altLang="en-US" sz="1800" b="1" dirty="0">
                <a:solidFill>
                  <a:schemeClr val="tx1"/>
                </a:solidFill>
                <a:highlight>
                  <a:srgbClr val="FFFF00"/>
                </a:highlight>
              </a:rPr>
              <a:t>10</a:t>
            </a:r>
            <a:r>
              <a:rPr lang="en-US" sz="1800" b="1" dirty="0">
                <a:solidFill>
                  <a:schemeClr val="accent5">
                    <a:lumMod val="75000"/>
                  </a:schemeClr>
                </a:solidFill>
                <a:highlight>
                  <a:srgbClr val="FFFF00"/>
                </a:highlight>
              </a:rPr>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Future Sessions</a:t>
            </a:r>
          </a:p>
        </p:txBody>
      </p:sp>
      <p:sp>
        <p:nvSpPr>
          <p:cNvPr id="3" name="Slide Number Placeholder 2"/>
          <p:cNvSpPr>
            <a:spLocks noGrp="1"/>
          </p:cNvSpPr>
          <p:nvPr>
            <p:ph type="sldNum" sz="quarter" idx="12"/>
          </p:nvPr>
        </p:nvSpPr>
        <p:spPr/>
        <p:txBody>
          <a:bodyPr/>
          <a:lstStyle/>
          <a:p>
            <a:fld id="{B3561BA9-CDCF-4958-B8AB-66F3BF063E13}" type="slidenum">
              <a:rPr lang="en-US" smtClean="0"/>
              <a:pPr/>
              <a:t>42</a:t>
            </a:fld>
            <a:endParaRPr lang="en-US"/>
          </a:p>
        </p:txBody>
      </p:sp>
      <p:sp>
        <p:nvSpPr>
          <p:cNvPr id="4" name="Rectangle 3"/>
          <p:cNvSpPr/>
          <p:nvPr/>
        </p:nvSpPr>
        <p:spPr>
          <a:xfrm>
            <a:off x="491704" y="1163700"/>
            <a:ext cx="10325819" cy="1338828"/>
          </a:xfrm>
          <a:prstGeom prst="rect">
            <a:avLst/>
          </a:prstGeom>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Goals</a:t>
            </a:r>
            <a:r>
              <a:rPr lang="en-IN"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t>
            </a:r>
            <a:r>
              <a:rPr lang="en-PH" altLang="en-US" dirty="0">
                <a:latin typeface="Times New Roman" panose="02020603050405020304" pitchFamily="18" charset="0"/>
                <a:cs typeface="Times New Roman" panose="02020603050405020304" pitchFamily="18" charset="0"/>
              </a:rPr>
              <a:t>T</a:t>
            </a:r>
            <a:r>
              <a:rPr lang="en-US" altLang="en-US" dirty="0">
                <a:latin typeface="Times New Roman" panose="02020603050405020304" pitchFamily="18" charset="0"/>
                <a:cs typeface="Times New Roman" panose="02020603050405020304" pitchFamily="18" charset="0"/>
              </a:rPr>
              <a:t>o identify any external challenges</a:t>
            </a:r>
            <a:r>
              <a:rPr lang="en-PH" altLang="en-US" dirty="0">
                <a:latin typeface="Times New Roman" panose="02020603050405020304" pitchFamily="18" charset="0"/>
                <a:cs typeface="Times New Roman" panose="02020603050405020304" pitchFamily="18" charset="0"/>
              </a:rPr>
              <a:t> and assumptions </a:t>
            </a:r>
            <a:r>
              <a:rPr lang="en-US" altLang="en-US" dirty="0">
                <a:latin typeface="Times New Roman" panose="02020603050405020304" pitchFamily="18" charset="0"/>
                <a:cs typeface="Times New Roman" panose="02020603050405020304" pitchFamily="18" charset="0"/>
              </a:rPr>
              <a:t>that the patient experienced when trying to be assertive</a:t>
            </a:r>
            <a:r>
              <a:rPr lang="en-PH"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t>
            </a:r>
          </a:p>
          <a:p>
            <a:pPr>
              <a:lnSpc>
                <a:spcPct val="150000"/>
              </a:lnSpc>
              <a:buFont typeface="Wingdings" pitchFamily="2" charset="2"/>
              <a:buChar char="§"/>
            </a:pPr>
            <a:r>
              <a:rPr lang="en-PH" altLang="en-US" dirty="0">
                <a:latin typeface="Times New Roman" panose="02020603050405020304" pitchFamily="18" charset="0"/>
                <a:cs typeface="Times New Roman" panose="02020603050405020304" pitchFamily="18" charset="0"/>
              </a:rPr>
              <a:t>            Practice </a:t>
            </a:r>
            <a:r>
              <a:rPr lang="en-US" altLang="en-US" dirty="0">
                <a:latin typeface="Times New Roman" panose="02020603050405020304" pitchFamily="18" charset="0"/>
                <a:cs typeface="Times New Roman" panose="02020603050405020304" pitchFamily="18" charset="0"/>
              </a:rPr>
              <a:t> assertiveness in daily life  </a:t>
            </a:r>
          </a:p>
        </p:txBody>
      </p:sp>
      <p:sp>
        <p:nvSpPr>
          <p:cNvPr id="5" name="Rectangle 4"/>
          <p:cNvSpPr/>
          <p:nvPr/>
        </p:nvSpPr>
        <p:spPr>
          <a:xfrm>
            <a:off x="388188" y="2733469"/>
            <a:ext cx="10765767" cy="1338828"/>
          </a:xfrm>
          <a:prstGeom prst="rect">
            <a:avLst/>
          </a:prstGeom>
        </p:spPr>
        <p:txBody>
          <a:bodyPr wrap="square">
            <a:spAutoFit/>
          </a:bodyPr>
          <a:lstStyle/>
          <a:p>
            <a:pPr>
              <a:lnSpc>
                <a:spcPct val="150000"/>
              </a:lnSpc>
            </a:pPr>
            <a:r>
              <a:rPr lang="en-PH" altLang="en-US" dirty="0">
                <a:latin typeface="Times New Roman" panose="02020603050405020304" pitchFamily="18" charset="0"/>
                <a:cs typeface="Times New Roman" panose="02020603050405020304" pitchFamily="18" charset="0"/>
              </a:rPr>
              <a:t>	Then </a:t>
            </a:r>
            <a:r>
              <a:rPr lang="en-US" altLang="en-US" dirty="0">
                <a:latin typeface="Times New Roman" panose="02020603050405020304" pitchFamily="18" charset="0"/>
                <a:cs typeface="Times New Roman" panose="02020603050405020304" pitchFamily="18" charset="0"/>
              </a:rPr>
              <a:t>psychoeducation about different patterns of communication and how they were on a continuum</a:t>
            </a:r>
            <a:r>
              <a:rPr lang="en-PH" altLang="en-US" dirty="0">
                <a:latin typeface="Times New Roman" panose="02020603050405020304" pitchFamily="18" charset="0"/>
                <a:cs typeface="Times New Roman" panose="02020603050405020304" pitchFamily="18" charset="0"/>
              </a:rPr>
              <a:t>. That will </a:t>
            </a:r>
            <a:r>
              <a:rPr lang="en-US" altLang="en-US" dirty="0">
                <a:latin typeface="Times New Roman" panose="02020603050405020304" pitchFamily="18" charset="0"/>
                <a:cs typeface="Times New Roman" panose="02020603050405020304" pitchFamily="18" charset="0"/>
              </a:rPr>
              <a:t>explain where and how to use ‘I’ statements and ‘No’ example instead of getting angry and saying, ‘I am not comfortable to do that right now’.</a:t>
            </a:r>
            <a:endParaRPr lang="en-US" dirty="0"/>
          </a:p>
        </p:txBody>
      </p:sp>
      <p:sp>
        <p:nvSpPr>
          <p:cNvPr id="7" name="Rectangle 6"/>
          <p:cNvSpPr/>
          <p:nvPr/>
        </p:nvSpPr>
        <p:spPr>
          <a:xfrm>
            <a:off x="439947" y="4304581"/>
            <a:ext cx="10722634" cy="2123658"/>
          </a:xfrm>
          <a:prstGeom prst="rect">
            <a:avLst/>
          </a:prstGeom>
        </p:spPr>
        <p:txBody>
          <a:bodyPr wrap="squar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Termination Phase of Therapy (Planned and Ongoing)</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The termination phase of therapy has </a:t>
            </a:r>
            <a:r>
              <a:rPr lang="en-US" b="1" dirty="0">
                <a:latin typeface="Times New Roman" panose="02020603050405020304" pitchFamily="18" charset="0"/>
                <a:cs typeface="Times New Roman" panose="02020603050405020304" pitchFamily="18" charset="0"/>
              </a:rPr>
              <a:t>not yet been formally initiated</a:t>
            </a:r>
            <a:r>
              <a:rPr lang="en-US" dirty="0">
                <a:latin typeface="Times New Roman" panose="02020603050405020304" pitchFamily="18" charset="0"/>
                <a:cs typeface="Times New Roman" panose="02020603050405020304" pitchFamily="18" charset="0"/>
              </a:rPr>
              <a:t>, as the therapeutic process is currently ongoing. However, a gradual transition toward termination has been planned in a structured and clinically appropriate manner.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044460" y="685800"/>
            <a:ext cx="6337540" cy="5486400"/>
          </a:xfrm>
        </p:spPr>
        <p:txBody>
          <a:bodyPr/>
          <a:lstStyle/>
          <a:p>
            <a:pPr algn="ctr"/>
            <a:r>
              <a:rPr lang="en-US" sz="7200" b="1" dirty="0">
                <a:latin typeface="Times New Roman" pitchFamily="18" charset="0"/>
                <a:cs typeface="Times New Roman" pitchFamily="18" charset="0"/>
              </a:rPr>
              <a:t>THANK YOU</a:t>
            </a:r>
            <a:endParaRPr lang="en-IN" sz="7200" b="1" dirty="0">
              <a:latin typeface="Times New Roman" pitchFamily="18" charset="0"/>
              <a:cs typeface="Times New Roman" pitchFamily="18"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917*464"/>
  <p:tag name="TABLE_ENDDRAG_RECT" val="21*61*917*464"/>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952*110"/>
  <p:tag name="TABLE_ENDDRAG_RECT" val="3*329*952*110"/>
</p:tagLst>
</file>

<file path=ppt/theme/theme1.xml><?xml version="1.0" encoding="utf-8"?>
<a:theme xmlns:a="http://schemas.openxmlformats.org/drawingml/2006/main" name="1_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37CDA33-9251-49D0-A51A-7888AA3E0635}">
  <ds:schemaRefs/>
</ds:datastoreItem>
</file>

<file path=customXml/itemProps2.xml><?xml version="1.0" encoding="utf-8"?>
<ds:datastoreItem xmlns:ds="http://schemas.openxmlformats.org/officeDocument/2006/customXml" ds:itemID="{32E4FA29-61E2-42A6-9537-732ED628B68D}">
  <ds:schemaRefs/>
</ds:datastoreItem>
</file>

<file path=customXml/itemProps3.xml><?xml version="1.0" encoding="utf-8"?>
<ds:datastoreItem xmlns:ds="http://schemas.openxmlformats.org/officeDocument/2006/customXml" ds:itemID="{3F796806-D3A7-49C6-9335-B8A0B9307F8E}">
  <ds:schemaRefs/>
</ds:datastoreItem>
</file>

<file path=docProps/app.xml><?xml version="1.0" encoding="utf-8"?>
<Properties xmlns="http://schemas.openxmlformats.org/officeDocument/2006/extended-properties" xmlns:vt="http://schemas.openxmlformats.org/officeDocument/2006/docPropsVTypes">
  <Template>Light sales pitch presentation</Template>
  <TotalTime>8708</TotalTime>
  <Words>5866</Words>
  <Application>Microsoft Office PowerPoint</Application>
  <PresentationFormat>Widescreen</PresentationFormat>
  <Paragraphs>450</Paragraphs>
  <Slides>43</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Symbol</vt:lpstr>
      <vt:lpstr>Times New Roman</vt:lpstr>
      <vt:lpstr>Wingdings</vt:lpstr>
      <vt:lpstr>1_Blue Waves</vt:lpstr>
      <vt:lpstr>                CASE CONFERENCE  </vt:lpstr>
      <vt:lpstr>  SOCIO-DEMOGRAPHIC DATA:  OPD No.: 260219005                                 Date: 6/07/2026                                    DOB: 27/03/1996  Name: A.B                                                Gender: Female                                     Marital Status: Married  Religion: Hindu                                         Education: Grade 12                             Occupation: Housewife  Age: 30                                                      Socio-economic status : Middle socio-economic status   Mobile: 738935287                                   Address: Guna, MP  Informant: Relationship: Mother                               Duration of acquaintance: Since birth Reliable and Adequacy: The given information is reliable and adequate                         </vt:lpstr>
      <vt:lpstr>Chief Complaints</vt:lpstr>
      <vt:lpstr> Factors of Illnes  </vt:lpstr>
      <vt:lpstr>PowerPoint Presentation</vt:lpstr>
      <vt:lpstr>PowerPoint Presentation</vt:lpstr>
      <vt:lpstr>PowerPoint Presentation</vt:lpstr>
      <vt:lpstr>Treatment History</vt:lpstr>
      <vt:lpstr>PowerPoint Presentation</vt:lpstr>
      <vt:lpstr>FAMILY HISTORY</vt:lpstr>
      <vt:lpstr>PowerPoint Presentation</vt:lpstr>
      <vt:lpstr>PowerPoint Presentation</vt:lpstr>
      <vt:lpstr>PowerPoint Presentation</vt:lpstr>
      <vt:lpstr>PowerPoint Presentation</vt:lpstr>
      <vt:lpstr>Mental Status Examination</vt:lpstr>
      <vt:lpstr>Mental Status Examination</vt:lpstr>
      <vt:lpstr>Mental Status Examination</vt:lpstr>
      <vt:lpstr>Mental Status Examination</vt:lpstr>
      <vt:lpstr> Mental Status Examination </vt:lpstr>
      <vt:lpstr> Mental Status Examination </vt:lpstr>
      <vt:lpstr>Mental Status Examination</vt:lpstr>
      <vt:lpstr>PowerPoint Presentation</vt:lpstr>
      <vt:lpstr> Diagnostic Formulation </vt:lpstr>
      <vt:lpstr>Provisional Diagnosis  F41.1 – Generalized anxiety disorder</vt:lpstr>
      <vt:lpstr> Assessments and Results </vt:lpstr>
      <vt:lpstr> Assessments and Results </vt:lpstr>
      <vt:lpstr>Rorschach Inkblot Test (ROR)</vt:lpstr>
      <vt:lpstr> Therapeutic Formulation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Sessions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Conference</dc:title>
  <dc:creator>Krishna Sathian</dc:creator>
  <cp:lastModifiedBy>mahek kandya</cp:lastModifiedBy>
  <cp:revision>166</cp:revision>
  <dcterms:created xsi:type="dcterms:W3CDTF">2025-04-16T11:41:00Z</dcterms:created>
  <dcterms:modified xsi:type="dcterms:W3CDTF">2026-10-05T19:04:39Z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ICV">
    <vt:lpwstr>339E98E83A074D0EBD31277CF3A3B8D6_12</vt:lpwstr>
  </property>
  <property fmtid="{D5CDD505-2E9C-101B-9397-08002B2CF9AE}" pid="5" name="KSOProductBuildVer">
    <vt:lpwstr>1033-12.2.0.23196</vt:lpwstr>
  </property>
</Properties>
</file>