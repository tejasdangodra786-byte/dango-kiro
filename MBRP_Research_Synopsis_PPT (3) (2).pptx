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8C1984-1279-C281-9A2B-96B868C9D676}" v="694" dt="2026-07-14T08:13:12.2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Pre-Test (Both Groups)</c:v>
                </c:pt>
              </c:strCache>
            </c:strRef>
          </c:tx>
          <c:invertIfNegative val="1"/>
          <c:cat>
            <c:strRef>
              <c:f>Sheet1!$A$2:$A$4</c:f>
              <c:strCache>
                <c:ptCount val="3"/>
                <c:pt idx="0">
                  <c:v>Craving
(OCDUS)</c:v>
                </c:pt>
                <c:pt idx="1">
                  <c:v>Impulsivity
(BIS-11)</c:v>
                </c:pt>
                <c:pt idx="2">
                  <c:v>Mindfulness
(FFMQ)</c:v>
                </c:pt>
              </c:strCache>
            </c:strRef>
          </c:cat>
          <c:val>
            <c:numRef>
              <c:f>Sheet1!$B$2:$B$4</c:f>
              <c:numCache>
                <c:formatCode>General</c:formatCode>
                <c:ptCount val="3"/>
                <c:pt idx="0">
                  <c:v>35</c:v>
                </c:pt>
                <c:pt idx="1">
                  <c:v>72</c:v>
                </c:pt>
                <c:pt idx="2">
                  <c:v>95</c:v>
                </c:pt>
              </c:numCache>
            </c:numRef>
          </c:val>
          <c:extLst>
            <c:ext xmlns:c16="http://schemas.microsoft.com/office/drawing/2014/chart" uri="{C3380CC4-5D6E-409C-BE32-E72D297353CC}">
              <c16:uniqueId val="{00000000-1584-4D97-A559-4B56F0F21579}"/>
            </c:ext>
          </c:extLst>
        </c:ser>
        <c:ser>
          <c:idx val="1"/>
          <c:order val="1"/>
          <c:tx>
            <c:strRef>
              <c:f>Sheet1!$C$1</c:f>
              <c:strCache>
                <c:ptCount val="1"/>
                <c:pt idx="0">
                  <c:v>Post-Test: MBRP Group</c:v>
                </c:pt>
              </c:strCache>
            </c:strRef>
          </c:tx>
          <c:invertIfNegative val="1"/>
          <c:cat>
            <c:strRef>
              <c:f>Sheet1!$A$2:$A$4</c:f>
              <c:strCache>
                <c:ptCount val="3"/>
                <c:pt idx="0">
                  <c:v>Craving
(OCDUS)</c:v>
                </c:pt>
                <c:pt idx="1">
                  <c:v>Impulsivity
(BIS-11)</c:v>
                </c:pt>
                <c:pt idx="2">
                  <c:v>Mindfulness
(FFMQ)</c:v>
                </c:pt>
              </c:strCache>
            </c:strRef>
          </c:cat>
          <c:val>
            <c:numRef>
              <c:f>Sheet1!$C$2:$C$4</c:f>
              <c:numCache>
                <c:formatCode>General</c:formatCode>
                <c:ptCount val="3"/>
                <c:pt idx="0">
                  <c:v>18</c:v>
                </c:pt>
                <c:pt idx="1">
                  <c:v>55</c:v>
                </c:pt>
                <c:pt idx="2">
                  <c:v>130</c:v>
                </c:pt>
              </c:numCache>
            </c:numRef>
          </c:val>
          <c:extLst>
            <c:ext xmlns:c16="http://schemas.microsoft.com/office/drawing/2014/chart" uri="{C3380CC4-5D6E-409C-BE32-E72D297353CC}">
              <c16:uniqueId val="{00000001-1584-4D97-A559-4B56F0F21579}"/>
            </c:ext>
          </c:extLst>
        </c:ser>
        <c:ser>
          <c:idx val="2"/>
          <c:order val="2"/>
          <c:tx>
            <c:strRef>
              <c:f>Sheet1!$D$1</c:f>
              <c:strCache>
                <c:ptCount val="1"/>
                <c:pt idx="0">
                  <c:v>Post-Test: Control Group</c:v>
                </c:pt>
              </c:strCache>
            </c:strRef>
          </c:tx>
          <c:invertIfNegative val="1"/>
          <c:cat>
            <c:strRef>
              <c:f>Sheet1!$A$2:$A$4</c:f>
              <c:strCache>
                <c:ptCount val="3"/>
                <c:pt idx="0">
                  <c:v>Craving
(OCDUS)</c:v>
                </c:pt>
                <c:pt idx="1">
                  <c:v>Impulsivity
(BIS-11)</c:v>
                </c:pt>
                <c:pt idx="2">
                  <c:v>Mindfulness
(FFMQ)</c:v>
                </c:pt>
              </c:strCache>
            </c:strRef>
          </c:cat>
          <c:val>
            <c:numRef>
              <c:f>Sheet1!$D$2:$D$4</c:f>
              <c:numCache>
                <c:formatCode>General</c:formatCode>
                <c:ptCount val="3"/>
                <c:pt idx="0">
                  <c:v>28</c:v>
                </c:pt>
                <c:pt idx="1">
                  <c:v>65</c:v>
                </c:pt>
                <c:pt idx="2">
                  <c:v>105</c:v>
                </c:pt>
              </c:numCache>
            </c:numRef>
          </c:val>
          <c:extLst>
            <c:ext xmlns:c16="http://schemas.microsoft.com/office/drawing/2014/chart" uri="{C3380CC4-5D6E-409C-BE32-E72D297353CC}">
              <c16:uniqueId val="{00000002-1584-4D97-A559-4B56F0F2157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0"/>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MBRP Group - Mindfulness</c:v>
                </c:pt>
              </c:strCache>
            </c:strRef>
          </c:tx>
          <c:marker>
            <c:symbol val="none"/>
          </c:marker>
          <c:cat>
            <c:strRef>
              <c:f>Sheet1!$A$2:$A$3</c:f>
              <c:strCache>
                <c:ptCount val="2"/>
                <c:pt idx="0">
                  <c:v>Pre-Test</c:v>
                </c:pt>
                <c:pt idx="1">
                  <c:v>Post-Test</c:v>
                </c:pt>
              </c:strCache>
            </c:strRef>
          </c:cat>
          <c:val>
            <c:numRef>
              <c:f>Sheet1!$B$2:$B$3</c:f>
              <c:numCache>
                <c:formatCode>General</c:formatCode>
                <c:ptCount val="2"/>
                <c:pt idx="0">
                  <c:v>95</c:v>
                </c:pt>
                <c:pt idx="1">
                  <c:v>130</c:v>
                </c:pt>
              </c:numCache>
            </c:numRef>
          </c:val>
          <c:smooth val="0"/>
          <c:extLst>
            <c:ext xmlns:c16="http://schemas.microsoft.com/office/drawing/2014/chart" uri="{C3380CC4-5D6E-409C-BE32-E72D297353CC}">
              <c16:uniqueId val="{00000000-8FE7-40A8-9C4B-7432DCE92B15}"/>
            </c:ext>
          </c:extLst>
        </c:ser>
        <c:ser>
          <c:idx val="1"/>
          <c:order val="1"/>
          <c:tx>
            <c:strRef>
              <c:f>Sheet1!$C$1</c:f>
              <c:strCache>
                <c:ptCount val="1"/>
                <c:pt idx="0">
                  <c:v>Control Group - Mindfulness</c:v>
                </c:pt>
              </c:strCache>
            </c:strRef>
          </c:tx>
          <c:marker>
            <c:symbol val="none"/>
          </c:marker>
          <c:cat>
            <c:strRef>
              <c:f>Sheet1!$A$2:$A$3</c:f>
              <c:strCache>
                <c:ptCount val="2"/>
                <c:pt idx="0">
                  <c:v>Pre-Test</c:v>
                </c:pt>
                <c:pt idx="1">
                  <c:v>Post-Test</c:v>
                </c:pt>
              </c:strCache>
            </c:strRef>
          </c:cat>
          <c:val>
            <c:numRef>
              <c:f>Sheet1!$C$2:$C$3</c:f>
              <c:numCache>
                <c:formatCode>General</c:formatCode>
                <c:ptCount val="2"/>
                <c:pt idx="0">
                  <c:v>95</c:v>
                </c:pt>
                <c:pt idx="1">
                  <c:v>105</c:v>
                </c:pt>
              </c:numCache>
            </c:numRef>
          </c:val>
          <c:smooth val="0"/>
          <c:extLst>
            <c:ext xmlns:c16="http://schemas.microsoft.com/office/drawing/2014/chart" uri="{C3380CC4-5D6E-409C-BE32-E72D297353CC}">
              <c16:uniqueId val="{00000001-8FE7-40A8-9C4B-7432DCE92B15}"/>
            </c:ext>
          </c:extLst>
        </c:ser>
        <c:ser>
          <c:idx val="2"/>
          <c:order val="2"/>
          <c:tx>
            <c:strRef>
              <c:f>Sheet1!$D$1</c:f>
              <c:strCache>
                <c:ptCount val="1"/>
                <c:pt idx="0">
                  <c:v>MBRP Group - Craving</c:v>
                </c:pt>
              </c:strCache>
            </c:strRef>
          </c:tx>
          <c:marker>
            <c:symbol val="none"/>
          </c:marker>
          <c:cat>
            <c:strRef>
              <c:f>Sheet1!$A$2:$A$3</c:f>
              <c:strCache>
                <c:ptCount val="2"/>
                <c:pt idx="0">
                  <c:v>Pre-Test</c:v>
                </c:pt>
                <c:pt idx="1">
                  <c:v>Post-Test</c:v>
                </c:pt>
              </c:strCache>
            </c:strRef>
          </c:cat>
          <c:val>
            <c:numRef>
              <c:f>Sheet1!$D$2:$D$3</c:f>
              <c:numCache>
                <c:formatCode>General</c:formatCode>
                <c:ptCount val="2"/>
                <c:pt idx="0">
                  <c:v>35</c:v>
                </c:pt>
                <c:pt idx="1">
                  <c:v>18</c:v>
                </c:pt>
              </c:numCache>
            </c:numRef>
          </c:val>
          <c:smooth val="0"/>
          <c:extLst>
            <c:ext xmlns:c16="http://schemas.microsoft.com/office/drawing/2014/chart" uri="{C3380CC4-5D6E-409C-BE32-E72D297353CC}">
              <c16:uniqueId val="{00000002-8FE7-40A8-9C4B-7432DCE92B15}"/>
            </c:ext>
          </c:extLst>
        </c:ser>
        <c:ser>
          <c:idx val="3"/>
          <c:order val="3"/>
          <c:tx>
            <c:strRef>
              <c:f>Sheet1!$E$1</c:f>
              <c:strCache>
                <c:ptCount val="1"/>
                <c:pt idx="0">
                  <c:v>Control Group - Craving</c:v>
                </c:pt>
              </c:strCache>
            </c:strRef>
          </c:tx>
          <c:marker>
            <c:symbol val="none"/>
          </c:marker>
          <c:cat>
            <c:strRef>
              <c:f>Sheet1!$A$2:$A$3</c:f>
              <c:strCache>
                <c:ptCount val="2"/>
                <c:pt idx="0">
                  <c:v>Pre-Test</c:v>
                </c:pt>
                <c:pt idx="1">
                  <c:v>Post-Test</c:v>
                </c:pt>
              </c:strCache>
            </c:strRef>
          </c:cat>
          <c:val>
            <c:numRef>
              <c:f>Sheet1!$E$2:$E$3</c:f>
              <c:numCache>
                <c:formatCode>General</c:formatCode>
                <c:ptCount val="2"/>
                <c:pt idx="0">
                  <c:v>35</c:v>
                </c:pt>
                <c:pt idx="1">
                  <c:v>28</c:v>
                </c:pt>
              </c:numCache>
            </c:numRef>
          </c:val>
          <c:smooth val="0"/>
          <c:extLst>
            <c:ext xmlns:c16="http://schemas.microsoft.com/office/drawing/2014/chart" uri="{C3380CC4-5D6E-409C-BE32-E72D297353CC}">
              <c16:uniqueId val="{00000003-8FE7-40A8-9C4B-7432DCE92B15}"/>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457200"/>
            <a:ext cx="2286000" cy="2286000"/>
          </a:xfrm>
          <a:prstGeom prst="ellipse">
            <a:avLst/>
          </a:prstGeom>
          <a:solidFill>
            <a:srgbClr val="1B2A4A"/>
          </a:solidFill>
          <a:ln w="25400">
            <a:solidFill>
              <a:srgbClr val="007B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371600"/>
            <a:ext cx="8686800" cy="2287806"/>
          </a:xfrm>
          <a:prstGeom prst="rect">
            <a:avLst/>
          </a:prstGeom>
          <a:noFill/>
        </p:spPr>
        <p:txBody>
          <a:bodyPr wrap="square" lIns="91440" tIns="45720" rIns="91440" bIns="45720" anchor="t">
            <a:spAutoFit/>
          </a:bodyPr>
          <a:lstStyle/>
          <a:p>
            <a:pPr>
              <a:defRPr sz="2800" b="1">
                <a:solidFill>
                  <a:srgbClr val="FFFFFF"/>
                </a:solidFill>
              </a:defRPr>
            </a:pPr>
            <a:r>
              <a:t>Efficacy of Brief Mindfulness-Based</a:t>
            </a:r>
          </a:p>
          <a:p>
            <a:pPr>
              <a:defRPr sz="2800" b="1">
                <a:solidFill>
                  <a:srgbClr val="FFFFFF"/>
                </a:solidFill>
              </a:defRPr>
            </a:pPr>
            <a:r>
              <a:t>Relapse Prevention (MBRP) Intervention</a:t>
            </a:r>
            <a:r>
              <a:rPr lang="en-US" dirty="0"/>
              <a:t> </a:t>
            </a:r>
            <a:r>
              <a:rPr lang="en-US">
                <a:ea typeface="+mn-lt"/>
                <a:cs typeface="+mn-lt"/>
              </a:rPr>
              <a:t>on Craving, Impulsivity, and Mindfulness in Substance Dependent Patients</a:t>
            </a:r>
            <a:endParaRPr/>
          </a:p>
          <a:p>
            <a:pPr>
              <a:spcBef>
                <a:spcPts val="800"/>
              </a:spcBef>
              <a:defRPr sz="2400">
                <a:solidFill>
                  <a:srgbClr val="00A8A8"/>
                </a:solidFill>
              </a:defRPr>
            </a:pPr>
            <a:endParaRPr dirty="0">
              <a:ea typeface="Calibri"/>
              <a:cs typeface="Calibri"/>
            </a:endParaRPr>
          </a:p>
        </p:txBody>
      </p:sp>
      <p:sp>
        <p:nvSpPr>
          <p:cNvPr id="5" name="Rounded Rectangle 4"/>
          <p:cNvSpPr/>
          <p:nvPr/>
        </p:nvSpPr>
        <p:spPr>
          <a:xfrm>
            <a:off x="1097280" y="4206240"/>
            <a:ext cx="502920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defRPr sz="1400" b="1">
                <a:solidFill>
                  <a:srgbClr val="FFFFFF"/>
                </a:solidFill>
              </a:defRPr>
            </a:pPr>
            <a:r>
              <a:t>  MPhil Clinical Psychology Research Synopsis</a:t>
            </a:r>
            <a:endParaRPr lang="en-US">
              <a:ea typeface="Calibri"/>
              <a:cs typeface="Calibri"/>
            </a:endParaRPr>
          </a:p>
        </p:txBody>
      </p:sp>
      <p:sp>
        <p:nvSpPr>
          <p:cNvPr id="6" name="TextBox 5"/>
          <p:cNvSpPr txBox="1"/>
          <p:nvPr/>
        </p:nvSpPr>
        <p:spPr>
          <a:xfrm>
            <a:off x="1097280" y="5029200"/>
            <a:ext cx="8630183" cy="830997"/>
          </a:xfrm>
          <a:prstGeom prst="rect">
            <a:avLst/>
          </a:prstGeom>
          <a:noFill/>
        </p:spPr>
        <p:txBody>
          <a:bodyPr wrap="none" lIns="91440" tIns="45720" rIns="91440" bIns="45720" anchor="t">
            <a:spAutoFit/>
          </a:bodyPr>
          <a:lstStyle/>
          <a:p>
            <a:pPr>
              <a:defRPr sz="1200">
                <a:solidFill>
                  <a:srgbClr val="90A4AE"/>
                </a:solidFill>
              </a:defRPr>
            </a:pPr>
            <a:r>
              <a:rPr sz="1600" dirty="0"/>
              <a:t>Researcher:</a:t>
            </a:r>
            <a:r>
              <a:rPr lang="en-US" sz="1600" dirty="0"/>
              <a:t> Tejas </a:t>
            </a:r>
            <a:r>
              <a:rPr lang="en-US" sz="1600" dirty="0" err="1"/>
              <a:t>Dangodra</a:t>
            </a:r>
            <a:r>
              <a:rPr lang="en-US" sz="1600" dirty="0"/>
              <a:t>  </a:t>
            </a:r>
            <a:r>
              <a:rPr sz="1600" dirty="0"/>
              <a:t>|  Guide: </a:t>
            </a:r>
            <a:r>
              <a:rPr lang="en-US" sz="1600" dirty="0"/>
              <a:t>Dr. Himanshi Singh</a:t>
            </a:r>
            <a:endParaRPr lang="en-US" sz="1600">
              <a:ea typeface="Calibri"/>
              <a:cs typeface="Calibri"/>
            </a:endParaRPr>
          </a:p>
          <a:p>
            <a:pPr>
              <a:defRPr sz="1200">
                <a:solidFill>
                  <a:srgbClr val="90A4AE"/>
                </a:solidFill>
              </a:defRPr>
            </a:pPr>
            <a:r>
              <a:rPr sz="1600"/>
              <a:t>Department of Clinical Psychology</a:t>
            </a:r>
            <a:endParaRPr sz="1600" dirty="0">
              <a:ea typeface="Calibri"/>
              <a:cs typeface="Calibri"/>
            </a:endParaRPr>
          </a:p>
          <a:p>
            <a:pPr>
              <a:defRPr sz="1200">
                <a:solidFill>
                  <a:srgbClr val="E8B84A"/>
                </a:solidFill>
              </a:defRPr>
            </a:pPr>
            <a:r>
              <a:rPr sz="1600" dirty="0" err="1"/>
              <a:t>Man</a:t>
            </a:r>
            <a:r>
              <a:rPr sz="1600" dirty="0"/>
              <a:t> Nasha Mukti Kendra  | </a:t>
            </a:r>
            <a:r>
              <a:rPr lang="en-US" sz="1600" dirty="0">
                <a:ea typeface="+mn-lt"/>
                <a:cs typeface="+mn-lt"/>
              </a:rPr>
              <a:t>MAN COLLEGE of Special Education &amp; Psychological Studies</a:t>
            </a:r>
            <a:r>
              <a:rPr lang="en-US" sz="1600" dirty="0"/>
              <a:t> </a:t>
            </a:r>
            <a:r>
              <a:rPr sz="1600" dirty="0"/>
              <a:t> |  </a:t>
            </a:r>
            <a:r>
              <a:rPr lang="en-US" sz="1600" dirty="0"/>
              <a:t>2025-2027</a:t>
            </a:r>
            <a:endParaRPr sz="1600" dirty="0">
              <a:ea typeface="Calibri"/>
              <a:cs typeface="Calibri"/>
            </a:endParaRPr>
          </a:p>
        </p:txBody>
      </p:sp>
      <p:sp>
        <p:nvSpPr>
          <p:cNvPr id="7" name="Rectangle 6"/>
          <p:cNvSpPr/>
          <p:nvPr/>
        </p:nvSpPr>
        <p:spPr>
          <a:xfrm>
            <a:off x="0" y="672084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Man Samiti Guna | Guna">
            <a:extLst>
              <a:ext uri="{FF2B5EF4-FFF2-40B4-BE49-F238E27FC236}">
                <a16:creationId xmlns:a16="http://schemas.microsoft.com/office/drawing/2014/main" id="{F105DDC6-55FC-A095-0C9E-20E061CB4E4A}"/>
              </a:ext>
            </a:extLst>
          </p:cNvPr>
          <p:cNvPicPr>
            <a:picLocks noChangeAspect="1"/>
          </p:cNvPicPr>
          <p:nvPr/>
        </p:nvPicPr>
        <p:blipFill>
          <a:blip r:embed="rId2"/>
          <a:stretch>
            <a:fillRect/>
          </a:stretch>
        </p:blipFill>
        <p:spPr>
          <a:xfrm>
            <a:off x="9890579" y="742950"/>
            <a:ext cx="1714500" cy="17145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7137210" cy="707886"/>
          </a:xfrm>
          <a:prstGeom prst="rect">
            <a:avLst/>
          </a:prstGeom>
          <a:noFill/>
        </p:spPr>
        <p:txBody>
          <a:bodyPr wrap="none" lIns="91440" tIns="45720" rIns="91440" bIns="45720" anchor="t">
            <a:spAutoFit/>
          </a:bodyPr>
          <a:lstStyle/>
          <a:p>
            <a:pPr algn="l">
              <a:defRPr sz="2200" b="1">
                <a:solidFill>
                  <a:srgbClr val="FFFFFF"/>
                </a:solidFill>
              </a:defRPr>
            </a:pPr>
            <a:r>
              <a:rPr sz="4000"/>
              <a:t>Introduction &amp; Background (1/3)</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34440"/>
            <a:ext cx="6836936" cy="584775"/>
          </a:xfrm>
          <a:prstGeom prst="rect">
            <a:avLst/>
          </a:prstGeom>
          <a:noFill/>
        </p:spPr>
        <p:txBody>
          <a:bodyPr wrap="none" lIns="91440" tIns="45720" rIns="91440" bIns="45720" anchor="t">
            <a:spAutoFit/>
          </a:bodyPr>
          <a:lstStyle/>
          <a:p>
            <a:pPr>
              <a:defRPr sz="1300" b="1">
                <a:solidFill>
                  <a:srgbClr val="007B83"/>
                </a:solidFill>
              </a:defRPr>
            </a:pPr>
            <a:r>
              <a:rPr sz="3200"/>
              <a:t>Substance Dependence: Indian Context</a:t>
            </a:r>
            <a:endParaRPr lang="en-US" sz="3200">
              <a:ea typeface="Calibri"/>
              <a:cs typeface="Calibri"/>
            </a:endParaRPr>
          </a:p>
        </p:txBody>
      </p:sp>
      <p:sp>
        <p:nvSpPr>
          <p:cNvPr id="9" name="TextBox 8"/>
          <p:cNvSpPr txBox="1"/>
          <p:nvPr/>
        </p:nvSpPr>
        <p:spPr>
          <a:xfrm>
            <a:off x="702491" y="2264954"/>
            <a:ext cx="10789920" cy="2318583"/>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latin typeface="Book Antiqua"/>
              </a:rPr>
              <a:t>India faces a significant substance use crisis; MAGNITUDE study (2019) estimated ~3.1 crore individuals affected by substance use disorders</a:t>
            </a:r>
            <a:endParaRPr lang="en-US" sz="1600">
              <a:latin typeface="Book Antiqua"/>
              <a:ea typeface="Calibri"/>
              <a:cs typeface="Calibri"/>
            </a:endParaRPr>
          </a:p>
          <a:p>
            <a:pPr>
              <a:spcBef>
                <a:spcPts val="500"/>
              </a:spcBef>
              <a:defRPr sz="1300">
                <a:solidFill>
                  <a:srgbClr val="2C3E50"/>
                </a:solidFill>
              </a:defRPr>
            </a:pPr>
            <a:r>
              <a:rPr sz="1600">
                <a:latin typeface="Book Antiqua"/>
              </a:rPr>
              <a:t>Opioid dependence constitutes a major public health burden, particularly in Punjab, Rajasthan, Northeast India, and metropolitan areas</a:t>
            </a:r>
            <a:endParaRPr sz="1600">
              <a:latin typeface="Book Antiqua"/>
              <a:ea typeface="Calibri"/>
              <a:cs typeface="Calibri"/>
            </a:endParaRPr>
          </a:p>
          <a:p>
            <a:pPr>
              <a:spcBef>
                <a:spcPts val="500"/>
              </a:spcBef>
              <a:defRPr sz="1300">
                <a:solidFill>
                  <a:srgbClr val="2C3E50"/>
                </a:solidFill>
              </a:defRPr>
            </a:pPr>
            <a:r>
              <a:rPr sz="1600">
                <a:latin typeface="Book Antiqua"/>
              </a:rPr>
              <a:t>WHO estimates India accounts for ~25% of global opioid-related deaths in South-East Asia</a:t>
            </a:r>
            <a:endParaRPr sz="1600">
              <a:latin typeface="Book Antiqua"/>
              <a:ea typeface="Calibri"/>
              <a:cs typeface="Calibri"/>
            </a:endParaRPr>
          </a:p>
          <a:p>
            <a:pPr>
              <a:spcBef>
                <a:spcPts val="500"/>
              </a:spcBef>
              <a:defRPr sz="1300">
                <a:solidFill>
                  <a:srgbClr val="2C3E50"/>
                </a:solidFill>
              </a:defRPr>
            </a:pPr>
            <a:r>
              <a:rPr sz="1600">
                <a:latin typeface="Book Antiqua"/>
              </a:rPr>
              <a:t>Indian de-addiction centers, including Man Nasha Mukti Kendra, primarily offer pharmacotherapy (OST, naltrexone) with limited structured psychotherapy</a:t>
            </a:r>
            <a:endParaRPr sz="1600">
              <a:latin typeface="Book Antiqua"/>
              <a:ea typeface="Calibri"/>
              <a:cs typeface="Calibri"/>
            </a:endParaRPr>
          </a:p>
          <a:p>
            <a:pPr>
              <a:spcBef>
                <a:spcPts val="500"/>
              </a:spcBef>
              <a:defRPr sz="1300">
                <a:solidFill>
                  <a:srgbClr val="2C3E50"/>
                </a:solidFill>
              </a:defRPr>
            </a:pPr>
            <a:r>
              <a:rPr sz="1600">
                <a:latin typeface="Book Antiqua"/>
              </a:rPr>
              <a:t>Psychosocial interventions remain under-utilized despite evidence of superior combined treatment outcomes</a:t>
            </a:r>
            <a:endParaRPr sz="1600">
              <a:latin typeface="Book Antiqua"/>
              <a:ea typeface="Calibri"/>
              <a:cs typeface="Calibri"/>
            </a:endParaRPr>
          </a:p>
        </p:txBody>
      </p:sp>
      <p:sp>
        <p:nvSpPr>
          <p:cNvPr id="10" name="Rounded Rectangle 9"/>
          <p:cNvSpPr/>
          <p:nvPr/>
        </p:nvSpPr>
        <p:spPr>
          <a:xfrm>
            <a:off x="731520" y="5029200"/>
            <a:ext cx="10972800" cy="1280160"/>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bIns="45720" rtlCol="0" anchor="ctr"/>
          <a:lstStyle/>
          <a:p>
            <a:pPr algn="ctr">
              <a:defRPr sz="1000">
                <a:solidFill>
                  <a:srgbClr val="1B2A4A"/>
                </a:solidFill>
              </a:defRPr>
            </a:pPr>
            <a:r>
              <a:rPr sz="1400">
                <a:latin typeface="Book Antiqua"/>
              </a:rPr>
              <a:t>KEY ABBREVIATIONS: MBRP = Mindfulness-Based Relapse Prevention | TAU = Treatment As Usual | OCDUS = Obsessive Compulsive Drug Use Scale</a:t>
            </a:r>
            <a:endParaRPr lang="en-US" sz="1400">
              <a:latin typeface="Book Antiqua"/>
            </a:endParaRPr>
          </a:p>
          <a:p>
            <a:pPr>
              <a:defRPr sz="1000">
                <a:solidFill>
                  <a:srgbClr val="1B2A4A"/>
                </a:solidFill>
              </a:defRPr>
            </a:pPr>
            <a:r>
              <a:rPr sz="1400">
                <a:latin typeface="Book Antiqua"/>
              </a:rPr>
              <a:t>BIS-11 = Barratt Impulsiveness Scale | FFMQ = Five Facet Mindfulness Questionnaire | ASSIST = WHO Substance Screening Test</a:t>
            </a:r>
          </a:p>
          <a:p>
            <a:pPr>
              <a:defRPr sz="1000">
                <a:solidFill>
                  <a:srgbClr val="1B2A4A"/>
                </a:solidFill>
              </a:defRPr>
            </a:pPr>
            <a:r>
              <a:rPr sz="1400">
                <a:latin typeface="Book Antiqua"/>
              </a:rPr>
              <a:t>OST = Opioid Substitution Therapy | PFC = Prefrontal Cortex | ANCOVA = Analysis of Covariance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7137210" cy="707886"/>
          </a:xfrm>
          <a:prstGeom prst="rect">
            <a:avLst/>
          </a:prstGeom>
          <a:noFill/>
        </p:spPr>
        <p:txBody>
          <a:bodyPr wrap="none" lIns="91440" tIns="45720" rIns="91440" bIns="45720" anchor="t">
            <a:spAutoFit/>
          </a:bodyPr>
          <a:lstStyle/>
          <a:p>
            <a:pPr algn="l">
              <a:defRPr sz="2200" b="1">
                <a:solidFill>
                  <a:srgbClr val="FFFFFF"/>
                </a:solidFill>
              </a:defRPr>
            </a:pPr>
            <a:r>
              <a:rPr sz="4000"/>
              <a:t>Introduction &amp; Background (2/3)</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4720" y="1481183"/>
            <a:ext cx="5567550" cy="461665"/>
          </a:xfrm>
          <a:prstGeom prst="rect">
            <a:avLst/>
          </a:prstGeom>
          <a:noFill/>
        </p:spPr>
        <p:txBody>
          <a:bodyPr wrap="none" lIns="91440" tIns="45720" rIns="91440" bIns="45720" anchor="t">
            <a:spAutoFit/>
          </a:bodyPr>
          <a:lstStyle/>
          <a:p>
            <a:pPr>
              <a:defRPr sz="1300" b="1">
                <a:solidFill>
                  <a:srgbClr val="007B83"/>
                </a:solidFill>
              </a:defRPr>
            </a:pPr>
            <a:r>
              <a:rPr sz="2400">
                <a:latin typeface="Book Antiqua"/>
              </a:rPr>
              <a:t>The Relapse Problem in De-Addiction</a:t>
            </a:r>
            <a:endParaRPr lang="en-US" sz="2400">
              <a:latin typeface="Book Antiqua"/>
            </a:endParaRPr>
          </a:p>
        </p:txBody>
      </p:sp>
      <p:sp>
        <p:nvSpPr>
          <p:cNvPr id="11" name="TextBox 10">
            <a:extLst>
              <a:ext uri="{FF2B5EF4-FFF2-40B4-BE49-F238E27FC236}">
                <a16:creationId xmlns:a16="http://schemas.microsoft.com/office/drawing/2014/main" id="{4FF7248D-7EFC-A6C8-01E3-2CA0060A2E02}"/>
              </a:ext>
            </a:extLst>
          </p:cNvPr>
          <p:cNvSpPr txBox="1"/>
          <p:nvPr/>
        </p:nvSpPr>
        <p:spPr>
          <a:xfrm>
            <a:off x="937337" y="2238116"/>
            <a:ext cx="10319860" cy="23827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500"/>
              </a:spcBef>
            </a:pPr>
            <a:r>
              <a:rPr lang="en-US" sz="1600">
                <a:solidFill>
                  <a:srgbClr val="2C3E50"/>
                </a:solidFill>
                <a:latin typeface="Book Antiqua"/>
              </a:rPr>
              <a:t>Relapse rates in substance dependence range from 40-60% within first year post-treatment (NIDA, 2020)</a:t>
            </a:r>
            <a:endParaRPr lang="en-US" sz="1600">
              <a:latin typeface="Book Antiqua"/>
            </a:endParaRPr>
          </a:p>
          <a:p>
            <a:pPr>
              <a:spcBef>
                <a:spcPts val="500"/>
              </a:spcBef>
            </a:pPr>
            <a:r>
              <a:rPr lang="en-US" sz="1600">
                <a:solidFill>
                  <a:srgbClr val="2C3E50"/>
                </a:solidFill>
                <a:latin typeface="Book Antiqua"/>
              </a:rPr>
              <a:t>Indian studies report even higher relapse rates (~70-80%) in opioid dependence (Mattoo et al., 2009)</a:t>
            </a:r>
            <a:endParaRPr lang="en-US" sz="1600">
              <a:latin typeface="Book Antiqua"/>
            </a:endParaRPr>
          </a:p>
          <a:p>
            <a:pPr>
              <a:spcBef>
                <a:spcPts val="500"/>
              </a:spcBef>
            </a:pPr>
            <a:r>
              <a:rPr lang="en-US" sz="1600">
                <a:solidFill>
                  <a:srgbClr val="2C3E50"/>
                </a:solidFill>
                <a:latin typeface="Book Antiqua"/>
              </a:rPr>
              <a:t>Triggers for relapse: craving, negative affect, interpersonal conflict, environmental cues</a:t>
            </a:r>
            <a:endParaRPr lang="en-US" sz="1600">
              <a:latin typeface="Book Antiqua"/>
            </a:endParaRPr>
          </a:p>
          <a:p>
            <a:pPr>
              <a:spcBef>
                <a:spcPts val="500"/>
              </a:spcBef>
            </a:pPr>
            <a:r>
              <a:rPr lang="en-US" sz="1600">
                <a:solidFill>
                  <a:srgbClr val="2C3E50"/>
                </a:solidFill>
                <a:latin typeface="Book Antiqua"/>
              </a:rPr>
              <a:t>Traditional Relapse Prevention (Marlatt &amp; Gordon, 1985) has moderate efficacy but limited mindfulness integration</a:t>
            </a:r>
            <a:endParaRPr lang="en-US" sz="1600">
              <a:latin typeface="Book Antiqua"/>
            </a:endParaRPr>
          </a:p>
          <a:p>
            <a:pPr>
              <a:spcBef>
                <a:spcPts val="500"/>
              </a:spcBef>
            </a:pPr>
            <a:r>
              <a:rPr lang="en-US" sz="1600">
                <a:solidFill>
                  <a:srgbClr val="2C3E50"/>
                </a:solidFill>
                <a:latin typeface="Book Antiqua"/>
              </a:rPr>
              <a:t>Automatic cognitive-behavioral patterns perpetuate relapse cycles</a:t>
            </a:r>
            <a:endParaRPr lang="en-US" sz="1600">
              <a:latin typeface="Book Antiqua"/>
            </a:endParaRPr>
          </a:p>
          <a:p>
            <a:pPr>
              <a:spcBef>
                <a:spcPts val="500"/>
              </a:spcBef>
            </a:pPr>
            <a:r>
              <a:rPr lang="en-US" sz="1600">
                <a:solidFill>
                  <a:srgbClr val="2C3E50"/>
                </a:solidFill>
                <a:latin typeface="Book Antiqua"/>
              </a:rPr>
              <a:t>Brief interventions essential for Indian rehab settings (Man Nasha Mukti Kendra) with limited resources</a:t>
            </a:r>
            <a:endParaRPr lang="en-US" sz="1600">
              <a:latin typeface="Book Antiqua"/>
            </a:endParaRPr>
          </a:p>
          <a:p>
            <a:pPr algn="l"/>
            <a:endParaRPr lang="en-US" sz="1600" dirty="0">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6446445" cy="646331"/>
          </a:xfrm>
          <a:prstGeom prst="rect">
            <a:avLst/>
          </a:prstGeom>
          <a:noFill/>
        </p:spPr>
        <p:txBody>
          <a:bodyPr wrap="none" lIns="91440" tIns="45720" rIns="91440" bIns="45720" anchor="t">
            <a:spAutoFit/>
          </a:bodyPr>
          <a:lstStyle/>
          <a:p>
            <a:pPr algn="l">
              <a:defRPr sz="2200" b="1">
                <a:solidFill>
                  <a:srgbClr val="FFFFFF"/>
                </a:solidFill>
              </a:defRPr>
            </a:pPr>
            <a:r>
              <a:rPr sz="3600"/>
              <a:t>Introduction &amp; Background (3/3)</a:t>
            </a:r>
            <a:endParaRPr lang="en-US" sz="36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4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5863" y="1713411"/>
            <a:ext cx="5541645" cy="523220"/>
          </a:xfrm>
          <a:prstGeom prst="rect">
            <a:avLst/>
          </a:prstGeom>
          <a:noFill/>
        </p:spPr>
        <p:txBody>
          <a:bodyPr wrap="none" lIns="91440" tIns="45720" rIns="91440" bIns="45720" anchor="t">
            <a:spAutoFit/>
          </a:bodyPr>
          <a:lstStyle/>
          <a:p>
            <a:pPr>
              <a:defRPr sz="1300" b="1">
                <a:solidFill>
                  <a:srgbClr val="007B83"/>
                </a:solidFill>
              </a:defRPr>
            </a:pPr>
            <a:r>
              <a:rPr sz="2800"/>
              <a:t>Mindfulness in Addiction Treatment</a:t>
            </a:r>
            <a:endParaRPr lang="en-US" sz="2800">
              <a:ea typeface="Calibri"/>
              <a:cs typeface="Calibri"/>
            </a:endParaRPr>
          </a:p>
        </p:txBody>
      </p:sp>
      <p:sp>
        <p:nvSpPr>
          <p:cNvPr id="11" name="TextBox 10">
            <a:extLst>
              <a:ext uri="{FF2B5EF4-FFF2-40B4-BE49-F238E27FC236}">
                <a16:creationId xmlns:a16="http://schemas.microsoft.com/office/drawing/2014/main" id="{5CBEA937-8309-20BC-25A2-9A6F82921E74}"/>
              </a:ext>
            </a:extLst>
          </p:cNvPr>
          <p:cNvSpPr txBox="1"/>
          <p:nvPr/>
        </p:nvSpPr>
        <p:spPr>
          <a:xfrm>
            <a:off x="828480" y="2528402"/>
            <a:ext cx="10319860" cy="25109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500"/>
              </a:spcBef>
            </a:pPr>
            <a:r>
              <a:rPr lang="en-US" sz="1600">
                <a:solidFill>
                  <a:srgbClr val="2C3E50"/>
                </a:solidFill>
                <a:latin typeface="Calibri"/>
                <a:ea typeface="+mn-lt"/>
                <a:cs typeface="+mn-lt"/>
              </a:rPr>
              <a:t>Mindfulness: intentional, non-judgmental, present-moment awareness (Kabat-Zinn, 1990)</a:t>
            </a:r>
            <a:endParaRPr lang="en-US" sz="1600">
              <a:latin typeface="Calibri"/>
              <a:ea typeface="Calibri"/>
              <a:cs typeface="Calibri"/>
            </a:endParaRPr>
          </a:p>
          <a:p>
            <a:pPr>
              <a:spcBef>
                <a:spcPts val="500"/>
              </a:spcBef>
            </a:pPr>
            <a:r>
              <a:rPr lang="en-US" sz="1600">
                <a:solidFill>
                  <a:srgbClr val="2C3E50"/>
                </a:solidFill>
                <a:latin typeface="Calibri"/>
                <a:ea typeface="+mn-lt"/>
                <a:cs typeface="+mn-lt"/>
              </a:rPr>
              <a:t>MBRP developed by Bowen, Chawla, and Marlatt (2011): integrates MBSR + Cognitive-Behavioral RP</a:t>
            </a:r>
            <a:endParaRPr lang="en-US" sz="1600">
              <a:latin typeface="Calibri"/>
              <a:ea typeface="Calibri"/>
              <a:cs typeface="Calibri"/>
            </a:endParaRPr>
          </a:p>
          <a:p>
            <a:pPr>
              <a:spcBef>
                <a:spcPts val="500"/>
              </a:spcBef>
            </a:pPr>
            <a:r>
              <a:rPr lang="en-US" sz="1600">
                <a:solidFill>
                  <a:srgbClr val="2C3E50"/>
                </a:solidFill>
                <a:latin typeface="Calibri"/>
                <a:ea typeface="+mn-lt"/>
                <a:cs typeface="+mn-lt"/>
              </a:rPr>
              <a:t>Core mechanisms: decentering from craving, disrupting automatic reactivity, increasing distress tolerance</a:t>
            </a:r>
            <a:endParaRPr lang="en-US" sz="1600">
              <a:solidFill>
                <a:srgbClr val="000000"/>
              </a:solidFill>
              <a:latin typeface="Calibri"/>
              <a:ea typeface="+mn-lt"/>
              <a:cs typeface="+mn-lt"/>
            </a:endParaRPr>
          </a:p>
          <a:p>
            <a:pPr>
              <a:spcBef>
                <a:spcPts val="500"/>
              </a:spcBef>
            </a:pPr>
            <a:r>
              <a:rPr lang="en-US" sz="1600">
                <a:solidFill>
                  <a:srgbClr val="2C3E50"/>
                </a:solidFill>
                <a:latin typeface="Calibri"/>
                <a:ea typeface="+mn-lt"/>
                <a:cs typeface="+mn-lt"/>
              </a:rPr>
              <a:t>MBRP targets 'craving -&gt; use' automaticity by cultivating awareness of triggers</a:t>
            </a:r>
            <a:endParaRPr lang="en-US" sz="1600">
              <a:latin typeface="Calibri"/>
              <a:ea typeface="Calibri"/>
              <a:cs typeface="Calibri"/>
            </a:endParaRPr>
          </a:p>
          <a:p>
            <a:pPr>
              <a:spcBef>
                <a:spcPts val="500"/>
              </a:spcBef>
            </a:pPr>
            <a:r>
              <a:rPr lang="en-US" sz="1600">
                <a:solidFill>
                  <a:srgbClr val="2C3E50"/>
                </a:solidFill>
                <a:latin typeface="Calibri"/>
                <a:ea typeface="+mn-lt"/>
                <a:cs typeface="+mn-lt"/>
              </a:rPr>
              <a:t>Brief adaptations (6 sessions / 3 weeks) show promise for resource-limited </a:t>
            </a:r>
            <a:r>
              <a:rPr lang="en-US" sz="1600">
                <a:solidFill>
                  <a:srgbClr val="2C3E50"/>
                </a:solidFill>
                <a:latin typeface="Calibri"/>
                <a:ea typeface="Calibri"/>
                <a:cs typeface="Calibri"/>
              </a:rPr>
              <a:t>rehabilitation </a:t>
            </a:r>
            <a:r>
              <a:rPr lang="en-US" sz="1600">
                <a:solidFill>
                  <a:srgbClr val="2C3E50"/>
                </a:solidFill>
                <a:latin typeface="Calibri"/>
                <a:ea typeface="+mn-lt"/>
                <a:cs typeface="+mn-lt"/>
              </a:rPr>
              <a:t>settings</a:t>
            </a:r>
            <a:endParaRPr lang="en-US" sz="1600">
              <a:latin typeface="Calibri"/>
              <a:ea typeface="Calibri"/>
              <a:cs typeface="Calibri"/>
            </a:endParaRPr>
          </a:p>
          <a:p>
            <a:pPr>
              <a:spcBef>
                <a:spcPts val="500"/>
              </a:spcBef>
            </a:pPr>
            <a:r>
              <a:rPr lang="en-US" sz="1600">
                <a:solidFill>
                  <a:srgbClr val="2C3E50"/>
                </a:solidFill>
                <a:latin typeface="Calibri"/>
                <a:ea typeface="+mn-lt"/>
                <a:cs typeface="+mn-lt"/>
              </a:rPr>
              <a:t>Growing global evidence supports MBRP; Indian validation remains critically scarce</a:t>
            </a:r>
            <a:endParaRPr lang="en-US" sz="1600">
              <a:latin typeface="Calibri"/>
              <a:ea typeface="Calibri"/>
              <a:cs typeface="Calibri"/>
            </a:endParaRPr>
          </a:p>
          <a:p>
            <a:pPr>
              <a:spcBef>
                <a:spcPts val="500"/>
              </a:spcBef>
            </a:pPr>
            <a:r>
              <a:rPr lang="en-US" sz="1600">
                <a:solidFill>
                  <a:srgbClr val="2C3E50"/>
                </a:solidFill>
                <a:latin typeface="Calibri"/>
                <a:ea typeface="+mn-lt"/>
                <a:cs typeface="+mn-lt"/>
              </a:rPr>
              <a:t>Rationale: Brief MBRP can be feasibly implemented at Man Nasha Mukti Kendra</a:t>
            </a:r>
            <a:endParaRPr lang="en-US" sz="1600">
              <a:solidFill>
                <a:srgbClr val="000000"/>
              </a:solidFill>
              <a:latin typeface="Calibri"/>
              <a:ea typeface="+mn-lt"/>
              <a:cs typeface="+mn-lt"/>
            </a:endParaRPr>
          </a:p>
          <a:p>
            <a:pPr>
              <a:spcBef>
                <a:spcPts val="500"/>
              </a:spcBef>
            </a:pPr>
            <a:endParaRPr lang="en-US" sz="1600" dirty="0">
              <a:solidFill>
                <a:srgbClr val="2C3E50"/>
              </a:solidFill>
              <a:latin typeface="Book Antiqua"/>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 name="TextBox 4"/>
          <p:cNvSpPr txBox="1"/>
          <p:nvPr/>
        </p:nvSpPr>
        <p:spPr>
          <a:xfrm>
            <a:off x="548640" y="164592"/>
            <a:ext cx="4143763" cy="707886"/>
          </a:xfrm>
          <a:prstGeom prst="rect">
            <a:avLst/>
          </a:prstGeom>
          <a:noFill/>
        </p:spPr>
        <p:txBody>
          <a:bodyPr wrap="none" lIns="91440" tIns="45720" rIns="91440" bIns="45720" anchor="t">
            <a:spAutoFit/>
          </a:bodyPr>
          <a:lstStyle/>
          <a:p>
            <a:pPr algn="l">
              <a:defRPr sz="2200" b="1">
                <a:solidFill>
                  <a:srgbClr val="FFFFFF"/>
                </a:solidFill>
              </a:defRPr>
            </a:pPr>
            <a:r>
              <a:rPr sz="4000"/>
              <a:t>Variable 1: Craving</a:t>
            </a:r>
            <a:endParaRPr lang="en-US" sz="4000">
              <a:ea typeface="Calibri"/>
              <a:cs typeface="Calibri"/>
            </a:endParaRPr>
          </a:p>
        </p:txBody>
      </p:sp>
      <p:sp>
        <p:nvSpPr>
          <p:cNvPr id="6" name="TextBox 5"/>
          <p:cNvSpPr txBox="1"/>
          <p:nvPr/>
        </p:nvSpPr>
        <p:spPr>
          <a:xfrm>
            <a:off x="11309866" y="6492240"/>
            <a:ext cx="668774" cy="338554"/>
          </a:xfrm>
          <a:prstGeom prst="rect">
            <a:avLst/>
          </a:prstGeom>
          <a:noFill/>
        </p:spPr>
        <p:txBody>
          <a:bodyPr wrap="none">
            <a:spAutoFit/>
          </a:bodyPr>
          <a:lstStyle/>
          <a:p>
            <a:pPr algn="r">
              <a:defRPr sz="900">
                <a:solidFill>
                  <a:srgbClr val="90A4AE"/>
                </a:solidFill>
              </a:defRPr>
            </a:pPr>
            <a:r>
              <a:rPr sz="1600"/>
              <a:t>5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Rounded Rectangle 7"/>
          <p:cNvSpPr/>
          <p:nvPr/>
        </p:nvSpPr>
        <p:spPr>
          <a:xfrm>
            <a:off x="548640" y="1280160"/>
            <a:ext cx="5486400" cy="1371600"/>
          </a:xfrm>
          <a:prstGeom prst="roundRect">
            <a:avLst/>
          </a:prstGeom>
          <a:solidFill>
            <a:srgbClr val="FDEDEC"/>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DEFINITION</a:t>
            </a:r>
          </a:p>
          <a:p>
            <a:pPr>
              <a:defRPr sz="1100">
                <a:solidFill>
                  <a:srgbClr val="1A232F"/>
                </a:solidFill>
              </a:defRPr>
            </a:pPr>
            <a:r>
              <a:rPr sz="1600"/>
              <a:t>Clinical: Intense subjective urge to use a substance triggered by cues</a:t>
            </a:r>
          </a:p>
          <a:p>
            <a:pPr>
              <a:defRPr sz="1100">
                <a:solidFill>
                  <a:srgbClr val="1A232F"/>
                </a:solidFill>
              </a:defRPr>
            </a:pPr>
            <a:r>
              <a:rPr sz="1600"/>
              <a:t>Theoretical: Motivational state from incentive-sensitization</a:t>
            </a:r>
          </a:p>
          <a:p>
            <a:pPr>
              <a:defRPr sz="1100">
                <a:solidFill>
                  <a:srgbClr val="1A232F"/>
                </a:solidFill>
              </a:defRPr>
            </a:pPr>
            <a:r>
              <a:rPr sz="1600"/>
              <a:t>(Robinson &amp; Berridge, 1993)</a:t>
            </a:r>
          </a:p>
        </p:txBody>
      </p:sp>
      <p:sp>
        <p:nvSpPr>
          <p:cNvPr id="9" name="Rounded Rectangle 8"/>
          <p:cNvSpPr/>
          <p:nvPr/>
        </p:nvSpPr>
        <p:spPr>
          <a:xfrm>
            <a:off x="6217920" y="1280160"/>
            <a:ext cx="5486400" cy="1371600"/>
          </a:xfrm>
          <a:prstGeom prst="roundRect">
            <a:avLst/>
          </a:prstGeom>
          <a:solidFill>
            <a:srgbClr val="FDEDEC"/>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RELEVANCE IN SUBSTANCE DEPENDENCE</a:t>
            </a:r>
          </a:p>
          <a:p>
            <a:pPr>
              <a:defRPr sz="1100">
                <a:solidFill>
                  <a:srgbClr val="1A232F"/>
                </a:solidFill>
              </a:defRPr>
            </a:pPr>
            <a:r>
              <a:rPr sz="1600"/>
              <a:t>Primary predictor of relapse in opioid dependence</a:t>
            </a:r>
          </a:p>
          <a:p>
            <a:pPr>
              <a:defRPr sz="1100">
                <a:solidFill>
                  <a:srgbClr val="1A232F"/>
                </a:solidFill>
              </a:defRPr>
            </a:pPr>
            <a:r>
              <a:rPr sz="1600"/>
              <a:t>Mediates cue exposure -&gt; substance use behavior</a:t>
            </a:r>
          </a:p>
          <a:p>
            <a:pPr>
              <a:defRPr sz="1100">
                <a:solidFill>
                  <a:srgbClr val="1A232F"/>
                </a:solidFill>
              </a:defRPr>
            </a:pPr>
            <a:r>
              <a:rPr sz="1600"/>
              <a:t>Correlates with severity and treatment dropout</a:t>
            </a:r>
          </a:p>
        </p:txBody>
      </p:sp>
      <p:sp>
        <p:nvSpPr>
          <p:cNvPr id="10" name="Rounded Rectangle 9"/>
          <p:cNvSpPr/>
          <p:nvPr/>
        </p:nvSpPr>
        <p:spPr>
          <a:xfrm>
            <a:off x="548640" y="2834640"/>
            <a:ext cx="5486400" cy="1371600"/>
          </a:xfrm>
          <a:prstGeom prst="roundRect">
            <a:avLst/>
          </a:prstGeom>
          <a:solidFill>
            <a:srgbClr val="FAF0DB"/>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NEUROPSYCHOLOGICAL BASIS</a:t>
            </a:r>
          </a:p>
          <a:p>
            <a:pPr>
              <a:defRPr sz="1100">
                <a:solidFill>
                  <a:srgbClr val="1A232F"/>
                </a:solidFill>
              </a:defRPr>
            </a:pPr>
            <a:r>
              <a:rPr sz="1600"/>
              <a:t>Mesolimbic dopamine: VTA -&gt; Nucleus Accumbens</a:t>
            </a:r>
          </a:p>
          <a:p>
            <a:pPr>
              <a:defRPr sz="1100">
                <a:solidFill>
                  <a:srgbClr val="1A232F"/>
                </a:solidFill>
              </a:defRPr>
            </a:pPr>
            <a:r>
              <a:rPr sz="1600"/>
              <a:t>PFC hypoactivation during craving episodes</a:t>
            </a:r>
          </a:p>
          <a:p>
            <a:pPr>
              <a:defRPr sz="1100">
                <a:solidFill>
                  <a:srgbClr val="1A232F"/>
                </a:solidFill>
              </a:defRPr>
            </a:pPr>
            <a:r>
              <a:rPr sz="1600"/>
              <a:t>Conditioned cue-reward associations</a:t>
            </a:r>
          </a:p>
        </p:txBody>
      </p:sp>
      <p:sp>
        <p:nvSpPr>
          <p:cNvPr id="11" name="Rounded Rectangle 10"/>
          <p:cNvSpPr/>
          <p:nvPr/>
        </p:nvSpPr>
        <p:spPr>
          <a:xfrm>
            <a:off x="6217920" y="2834640"/>
            <a:ext cx="5486400" cy="201168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MBRP TECHNIQUES TARGETING CRAVING</a:t>
            </a:r>
          </a:p>
          <a:p>
            <a:pPr>
              <a:defRPr sz="1100">
                <a:solidFill>
                  <a:srgbClr val="1A232F"/>
                </a:solidFill>
              </a:defRPr>
            </a:pPr>
            <a:r>
              <a:rPr sz="1600"/>
              <a:t>- Urge Surfing: Observe craving as transient wave</a:t>
            </a:r>
          </a:p>
          <a:p>
            <a:pPr>
              <a:defRPr sz="1100">
                <a:solidFill>
                  <a:srgbClr val="1A232F"/>
                </a:solidFill>
              </a:defRPr>
            </a:pPr>
            <a:r>
              <a:rPr sz="1600"/>
              <a:t>- Mindfulness Exposure: Non-reactive awareness</a:t>
            </a:r>
          </a:p>
          <a:p>
            <a:pPr>
              <a:defRPr sz="1100">
                <a:solidFill>
                  <a:srgbClr val="1A232F"/>
                </a:solidFill>
              </a:defRPr>
            </a:pPr>
            <a:r>
              <a:rPr sz="1600"/>
              <a:t>- SOBER Space: Stop-Observe-Breathe-Expand-Respond</a:t>
            </a:r>
          </a:p>
          <a:p>
            <a:pPr>
              <a:defRPr sz="1100">
                <a:solidFill>
                  <a:srgbClr val="1A232F"/>
                </a:solidFill>
              </a:defRPr>
            </a:pPr>
            <a:r>
              <a:rPr sz="1600"/>
              <a:t>- Cognitive Decentering: 'I am having a craving'</a:t>
            </a:r>
          </a:p>
        </p:txBody>
      </p:sp>
      <p:sp>
        <p:nvSpPr>
          <p:cNvPr id="12" name="Wave 11"/>
          <p:cNvSpPr/>
          <p:nvPr/>
        </p:nvSpPr>
        <p:spPr>
          <a:xfrm>
            <a:off x="548640" y="4572000"/>
            <a:ext cx="2286000" cy="1097280"/>
          </a:xfrm>
          <a:prstGeom prst="wave">
            <a:avLst/>
          </a:prstGeom>
          <a:solidFill>
            <a:srgbClr val="00A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rPr sz="1600"/>
              <a:t>URGE</a:t>
            </a:r>
            <a:br>
              <a:rPr sz="1600"/>
            </a:br>
            <a:r>
              <a:rPr sz="1600"/>
              <a:t>SURFING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 name="TextBox 4"/>
          <p:cNvSpPr txBox="1"/>
          <p:nvPr/>
        </p:nvSpPr>
        <p:spPr>
          <a:xfrm>
            <a:off x="548640" y="164592"/>
            <a:ext cx="4920514" cy="707886"/>
          </a:xfrm>
          <a:prstGeom prst="rect">
            <a:avLst/>
          </a:prstGeom>
          <a:noFill/>
        </p:spPr>
        <p:txBody>
          <a:bodyPr wrap="none" lIns="91440" tIns="45720" rIns="91440" bIns="45720" anchor="t">
            <a:spAutoFit/>
          </a:bodyPr>
          <a:lstStyle/>
          <a:p>
            <a:pPr algn="l">
              <a:defRPr sz="2200" b="1">
                <a:solidFill>
                  <a:srgbClr val="FFFFFF"/>
                </a:solidFill>
              </a:defRPr>
            </a:pPr>
            <a:r>
              <a:rPr sz="4000"/>
              <a:t>Variable 2: Impulsivity</a:t>
            </a:r>
            <a:endParaRPr lang="en-US" sz="4000">
              <a:ea typeface="Calibri"/>
              <a:cs typeface="Calibri"/>
            </a:endParaRPr>
          </a:p>
        </p:txBody>
      </p:sp>
      <p:sp>
        <p:nvSpPr>
          <p:cNvPr id="6" name="TextBox 5"/>
          <p:cNvSpPr txBox="1"/>
          <p:nvPr/>
        </p:nvSpPr>
        <p:spPr>
          <a:xfrm>
            <a:off x="11309867" y="6492240"/>
            <a:ext cx="668773" cy="338554"/>
          </a:xfrm>
          <a:prstGeom prst="rect">
            <a:avLst/>
          </a:prstGeom>
          <a:noFill/>
        </p:spPr>
        <p:txBody>
          <a:bodyPr wrap="none">
            <a:spAutoFit/>
          </a:bodyPr>
          <a:lstStyle/>
          <a:p>
            <a:pPr algn="r">
              <a:defRPr sz="900">
                <a:solidFill>
                  <a:srgbClr val="90A4AE"/>
                </a:solidFill>
              </a:defRPr>
            </a:pPr>
            <a:r>
              <a:rPr sz="1600"/>
              <a:t>6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Rounded Rectangle 7"/>
          <p:cNvSpPr/>
          <p:nvPr/>
        </p:nvSpPr>
        <p:spPr>
          <a:xfrm>
            <a:off x="548640" y="1280160"/>
            <a:ext cx="5486400" cy="1371600"/>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DEFINITION</a:t>
            </a:r>
          </a:p>
          <a:p>
            <a:pPr>
              <a:defRPr sz="1100">
                <a:solidFill>
                  <a:srgbClr val="1A232F"/>
                </a:solidFill>
              </a:defRPr>
            </a:pPr>
            <a:r>
              <a:rPr sz="1600"/>
              <a:t>Clinical: Rapid, unplanned actions without considering</a:t>
            </a:r>
          </a:p>
          <a:p>
            <a:pPr>
              <a:defRPr sz="1100">
                <a:solidFill>
                  <a:srgbClr val="1A232F"/>
                </a:solidFill>
              </a:defRPr>
            </a:pPr>
            <a:r>
              <a:rPr sz="1600"/>
              <a:t>consequences (Moeller et al., 2001)</a:t>
            </a:r>
          </a:p>
          <a:p>
            <a:pPr>
              <a:defRPr sz="1100">
                <a:solidFill>
                  <a:srgbClr val="1A232F"/>
                </a:solidFill>
              </a:defRPr>
            </a:pPr>
            <a:r>
              <a:rPr sz="1600"/>
              <a:t>Theoretical: Motor + Attentional + Non-Planning (Patton et al., 1995)</a:t>
            </a:r>
          </a:p>
        </p:txBody>
      </p:sp>
      <p:sp>
        <p:nvSpPr>
          <p:cNvPr id="9" name="Rounded Rectangle 8"/>
          <p:cNvSpPr/>
          <p:nvPr/>
        </p:nvSpPr>
        <p:spPr>
          <a:xfrm>
            <a:off x="6217920" y="1280160"/>
            <a:ext cx="5486400" cy="1371600"/>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RELEVANCE IN SUBSTANCE DEPENDENCE</a:t>
            </a:r>
          </a:p>
          <a:p>
            <a:pPr>
              <a:defRPr sz="1100">
                <a:solidFill>
                  <a:srgbClr val="1A232F"/>
                </a:solidFill>
              </a:defRPr>
            </a:pPr>
            <a:r>
              <a:rPr sz="1600"/>
              <a:t>Higher trait impulsivity predicts relapse</a:t>
            </a:r>
          </a:p>
          <a:p>
            <a:pPr>
              <a:defRPr sz="1100">
                <a:solidFill>
                  <a:srgbClr val="1A232F"/>
                </a:solidFill>
              </a:defRPr>
            </a:pPr>
            <a:r>
              <a:rPr sz="1600"/>
              <a:t>Mediates craving-to-use behavior</a:t>
            </a:r>
          </a:p>
          <a:p>
            <a:pPr>
              <a:defRPr sz="1100">
                <a:solidFill>
                  <a:srgbClr val="1A232F"/>
                </a:solidFill>
              </a:defRPr>
            </a:pPr>
            <a:r>
              <a:rPr sz="1600"/>
              <a:t>Associated with treatment non-adherence &amp; dropout</a:t>
            </a:r>
          </a:p>
        </p:txBody>
      </p:sp>
      <p:sp>
        <p:nvSpPr>
          <p:cNvPr id="10" name="Rounded Rectangle 9"/>
          <p:cNvSpPr/>
          <p:nvPr/>
        </p:nvSpPr>
        <p:spPr>
          <a:xfrm>
            <a:off x="548640" y="2834640"/>
            <a:ext cx="5486400" cy="1371600"/>
          </a:xfrm>
          <a:prstGeom prst="roundRect">
            <a:avLst/>
          </a:prstGeom>
          <a:solidFill>
            <a:srgbClr val="FDEDEC"/>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NEUROPSYCHOLOGICAL BASIS</a:t>
            </a:r>
          </a:p>
          <a:p>
            <a:pPr>
              <a:defRPr sz="1100">
                <a:solidFill>
                  <a:srgbClr val="1A232F"/>
                </a:solidFill>
              </a:defRPr>
            </a:pPr>
            <a:r>
              <a:rPr sz="1600"/>
              <a:t>PFC dysfunction -&gt; impaired executive control</a:t>
            </a:r>
          </a:p>
          <a:p>
            <a:pPr>
              <a:defRPr sz="1100">
                <a:solidFill>
                  <a:srgbClr val="1A232F"/>
                </a:solidFill>
              </a:defRPr>
            </a:pPr>
            <a:r>
              <a:rPr sz="1600"/>
              <a:t>Reduced inhibitory control (Go/No-Go paradigms)</a:t>
            </a:r>
          </a:p>
          <a:p>
            <a:pPr>
              <a:defRPr sz="1100">
                <a:solidFill>
                  <a:srgbClr val="1A232F"/>
                </a:solidFill>
              </a:defRPr>
            </a:pPr>
            <a:r>
              <a:rPr sz="1600"/>
              <a:t>Impaired delay discounting; DLPFC hypoactivation</a:t>
            </a:r>
          </a:p>
        </p:txBody>
      </p:sp>
      <p:sp>
        <p:nvSpPr>
          <p:cNvPr id="11" name="Rounded Rectangle 10"/>
          <p:cNvSpPr/>
          <p:nvPr/>
        </p:nvSpPr>
        <p:spPr>
          <a:xfrm>
            <a:off x="6217920" y="2834640"/>
            <a:ext cx="5486400" cy="201168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MBRP TECHNIQUES TARGETING IMPULSIVITY</a:t>
            </a:r>
          </a:p>
          <a:p>
            <a:pPr>
              <a:defRPr sz="1100">
                <a:solidFill>
                  <a:srgbClr val="1A232F"/>
                </a:solidFill>
              </a:defRPr>
            </a:pPr>
            <a:r>
              <a:rPr sz="1600"/>
              <a:t>- Response Inhibition: Mindful pause before action</a:t>
            </a:r>
          </a:p>
          <a:p>
            <a:pPr>
              <a:defRPr sz="1100">
                <a:solidFill>
                  <a:srgbClr val="1A232F"/>
                </a:solidFill>
              </a:defRPr>
            </a:pPr>
            <a:r>
              <a:rPr sz="1600"/>
              <a:t>- Awareness Training: Notice impulse-action sequences</a:t>
            </a:r>
          </a:p>
          <a:p>
            <a:pPr>
              <a:defRPr sz="1100">
                <a:solidFill>
                  <a:srgbClr val="1A232F"/>
                </a:solidFill>
              </a:defRPr>
            </a:pPr>
            <a:r>
              <a:rPr sz="1600"/>
              <a:t>- Mindful Decision-Making: Space between stimulus &amp; response</a:t>
            </a:r>
          </a:p>
          <a:p>
            <a:pPr>
              <a:defRPr sz="1100">
                <a:solidFill>
                  <a:srgbClr val="1A232F"/>
                </a:solidFill>
              </a:defRPr>
            </a:pPr>
            <a:r>
              <a:rPr sz="1600"/>
              <a:t>- STOP: Stop-Take a breath-Observe-Proceed</a:t>
            </a:r>
          </a:p>
        </p:txBody>
      </p:sp>
      <p:sp>
        <p:nvSpPr>
          <p:cNvPr id="12" name="Octagon 11"/>
          <p:cNvSpPr/>
          <p:nvPr/>
        </p:nvSpPr>
        <p:spPr>
          <a:xfrm>
            <a:off x="731520" y="4572000"/>
            <a:ext cx="1645920" cy="1645920"/>
          </a:xfrm>
          <a:prstGeom prst="octagon">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rPr sz="1600"/>
              <a:t>STOP</a:t>
            </a:r>
            <a:br>
              <a:rPr sz="1600"/>
            </a:br>
            <a:r>
              <a:rPr sz="1600"/>
              <a:t>Technique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 name="TextBox 4"/>
          <p:cNvSpPr txBox="1"/>
          <p:nvPr/>
        </p:nvSpPr>
        <p:spPr>
          <a:xfrm>
            <a:off x="548640" y="164592"/>
            <a:ext cx="5202643" cy="707886"/>
          </a:xfrm>
          <a:prstGeom prst="rect">
            <a:avLst/>
          </a:prstGeom>
          <a:noFill/>
        </p:spPr>
        <p:txBody>
          <a:bodyPr wrap="none" lIns="91440" tIns="45720" rIns="91440" bIns="45720" anchor="t">
            <a:spAutoFit/>
          </a:bodyPr>
          <a:lstStyle/>
          <a:p>
            <a:pPr algn="l">
              <a:defRPr sz="2200" b="1">
                <a:solidFill>
                  <a:srgbClr val="FFFFFF"/>
                </a:solidFill>
              </a:defRPr>
            </a:pPr>
            <a:r>
              <a:rPr sz="4000"/>
              <a:t>Variable 3: Mindfulness</a:t>
            </a:r>
            <a:endParaRPr lang="en-US" sz="4000">
              <a:ea typeface="Calibri"/>
              <a:cs typeface="Calibri"/>
            </a:endParaRPr>
          </a:p>
        </p:txBody>
      </p:sp>
      <p:sp>
        <p:nvSpPr>
          <p:cNvPr id="6" name="TextBox 5"/>
          <p:cNvSpPr txBox="1"/>
          <p:nvPr/>
        </p:nvSpPr>
        <p:spPr>
          <a:xfrm>
            <a:off x="11309867" y="6492240"/>
            <a:ext cx="668773" cy="338554"/>
          </a:xfrm>
          <a:prstGeom prst="rect">
            <a:avLst/>
          </a:prstGeom>
          <a:noFill/>
        </p:spPr>
        <p:txBody>
          <a:bodyPr wrap="none">
            <a:spAutoFit/>
          </a:bodyPr>
          <a:lstStyle/>
          <a:p>
            <a:pPr algn="r">
              <a:defRPr sz="900">
                <a:solidFill>
                  <a:srgbClr val="90A4AE"/>
                </a:solidFill>
              </a:defRPr>
            </a:pPr>
            <a:r>
              <a:rPr sz="1600"/>
              <a:t>7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Rounded Rectangle 7"/>
          <p:cNvSpPr/>
          <p:nvPr/>
        </p:nvSpPr>
        <p:spPr>
          <a:xfrm>
            <a:off x="548640" y="1280160"/>
            <a:ext cx="5486400" cy="13716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DEFINITION</a:t>
            </a:r>
          </a:p>
          <a:p>
            <a:pPr>
              <a:defRPr sz="1100">
                <a:solidFill>
                  <a:srgbClr val="1A232F"/>
                </a:solidFill>
              </a:defRPr>
            </a:pPr>
            <a:r>
              <a:rPr sz="1600"/>
              <a:t>Clinical: Present-moment awareness with openness &amp; non-judgment</a:t>
            </a:r>
          </a:p>
          <a:p>
            <a:pPr>
              <a:defRPr sz="1100">
                <a:solidFill>
                  <a:srgbClr val="1A232F"/>
                </a:solidFill>
              </a:defRPr>
            </a:pPr>
            <a:r>
              <a:rPr sz="1600"/>
              <a:t>Theoretical: 5 facets - Observing, Describing, Acting with</a:t>
            </a:r>
          </a:p>
          <a:p>
            <a:pPr>
              <a:defRPr sz="1100">
                <a:solidFill>
                  <a:srgbClr val="1A232F"/>
                </a:solidFill>
              </a:defRPr>
            </a:pPr>
            <a:r>
              <a:rPr sz="1600"/>
              <a:t>Awareness, Non-Judging, Non-Reactivity (Baer et al., 2006)</a:t>
            </a:r>
          </a:p>
        </p:txBody>
      </p:sp>
      <p:sp>
        <p:nvSpPr>
          <p:cNvPr id="9" name="Rounded Rectangle 8"/>
          <p:cNvSpPr/>
          <p:nvPr/>
        </p:nvSpPr>
        <p:spPr>
          <a:xfrm>
            <a:off x="6217920" y="1280160"/>
            <a:ext cx="5486400" cy="13716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RELEVANCE IN SUBSTANCE DEPENDENCE</a:t>
            </a:r>
          </a:p>
          <a:p>
            <a:pPr>
              <a:defRPr sz="1100">
                <a:solidFill>
                  <a:srgbClr val="1A232F"/>
                </a:solidFill>
              </a:defRPr>
            </a:pPr>
            <a:r>
              <a:rPr sz="1600"/>
              <a:t>Substance users show significantly lower mindfulness</a:t>
            </a:r>
          </a:p>
          <a:p>
            <a:pPr>
              <a:defRPr sz="1100">
                <a:solidFill>
                  <a:srgbClr val="1A232F"/>
                </a:solidFill>
              </a:defRPr>
            </a:pPr>
            <a:r>
              <a:rPr sz="1600"/>
              <a:t>Acts as protective factor against relapse triggers</a:t>
            </a:r>
          </a:p>
          <a:p>
            <a:pPr>
              <a:defRPr sz="1100">
                <a:solidFill>
                  <a:srgbClr val="1A232F"/>
                </a:solidFill>
              </a:defRPr>
            </a:pPr>
            <a:r>
              <a:rPr sz="1600"/>
              <a:t>Improvements mediate MBRP treatment outcomes</a:t>
            </a:r>
          </a:p>
        </p:txBody>
      </p:sp>
      <p:sp>
        <p:nvSpPr>
          <p:cNvPr id="10" name="Rounded Rectangle 9"/>
          <p:cNvSpPr/>
          <p:nvPr/>
        </p:nvSpPr>
        <p:spPr>
          <a:xfrm>
            <a:off x="548640" y="2834640"/>
            <a:ext cx="5486400" cy="1371600"/>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NEUROPSYCHOLOGICAL BASIS</a:t>
            </a:r>
          </a:p>
          <a:p>
            <a:pPr>
              <a:defRPr sz="1100">
                <a:solidFill>
                  <a:srgbClr val="1A232F"/>
                </a:solidFill>
              </a:defRPr>
            </a:pPr>
            <a:r>
              <a:rPr sz="1600"/>
              <a:t>ACC activation -&gt; enhanced self-regulation</a:t>
            </a:r>
          </a:p>
          <a:p>
            <a:pPr>
              <a:defRPr sz="1100">
                <a:solidFill>
                  <a:srgbClr val="1A232F"/>
                </a:solidFill>
              </a:defRPr>
            </a:pPr>
            <a:r>
              <a:rPr sz="1600"/>
              <a:t>Insula -&gt; interoceptive awareness</a:t>
            </a:r>
          </a:p>
          <a:p>
            <a:pPr>
              <a:defRPr sz="1100">
                <a:solidFill>
                  <a:srgbClr val="1A232F"/>
                </a:solidFill>
              </a:defRPr>
            </a:pPr>
            <a:r>
              <a:rPr sz="1600"/>
              <a:t>PFC-amygdala connectivity -&gt; emotional regulation</a:t>
            </a:r>
          </a:p>
          <a:p>
            <a:pPr>
              <a:defRPr sz="1100">
                <a:solidFill>
                  <a:srgbClr val="1A232F"/>
                </a:solidFill>
              </a:defRPr>
            </a:pPr>
            <a:r>
              <a:rPr sz="1600"/>
              <a:t>DMN regulation -&gt; reduced rumination</a:t>
            </a:r>
          </a:p>
        </p:txBody>
      </p:sp>
      <p:sp>
        <p:nvSpPr>
          <p:cNvPr id="11" name="Rounded Rectangle 10"/>
          <p:cNvSpPr/>
          <p:nvPr/>
        </p:nvSpPr>
        <p:spPr>
          <a:xfrm>
            <a:off x="6217920" y="2834640"/>
            <a:ext cx="5486400" cy="2011680"/>
          </a:xfrm>
          <a:prstGeom prst="roundRect">
            <a:avLst/>
          </a:prstGeom>
          <a:solidFill>
            <a:srgbClr val="FAF0DB"/>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MBRP TECHNIQUES FOR MINDFULNESS</a:t>
            </a:r>
          </a:p>
          <a:p>
            <a:pPr>
              <a:defRPr sz="1100">
                <a:solidFill>
                  <a:srgbClr val="1A232F"/>
                </a:solidFill>
              </a:defRPr>
            </a:pPr>
            <a:r>
              <a:rPr sz="1600"/>
              <a:t>- Sitting Meditation: Focused attention on breath</a:t>
            </a:r>
          </a:p>
          <a:p>
            <a:pPr>
              <a:defRPr sz="1100">
                <a:solidFill>
                  <a:srgbClr val="1A232F"/>
                </a:solidFill>
              </a:defRPr>
            </a:pPr>
            <a:r>
              <a:rPr sz="1600"/>
              <a:t>- Body Scan: Non-judgmental bodily awareness</a:t>
            </a:r>
          </a:p>
          <a:p>
            <a:pPr>
              <a:defRPr sz="1100">
                <a:solidFill>
                  <a:srgbClr val="1A232F"/>
                </a:solidFill>
              </a:defRPr>
            </a:pPr>
            <a:r>
              <a:rPr sz="1600"/>
              <a:t>- Mindful Movement: Present-moment yoga/walking</a:t>
            </a:r>
          </a:p>
          <a:p>
            <a:pPr>
              <a:defRPr sz="1100">
                <a:solidFill>
                  <a:srgbClr val="1A232F"/>
                </a:solidFill>
              </a:defRPr>
            </a:pPr>
            <a:r>
              <a:rPr sz="1600"/>
              <a:t>- Non-Judgmental Awareness: Labeling without evaluation</a:t>
            </a:r>
          </a:p>
        </p:txBody>
      </p:sp>
      <p:sp>
        <p:nvSpPr>
          <p:cNvPr id="12" name="Oval 11"/>
          <p:cNvSpPr/>
          <p:nvPr/>
        </p:nvSpPr>
        <p:spPr>
          <a:xfrm>
            <a:off x="914400" y="4754880"/>
            <a:ext cx="1828800" cy="13716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rPr sz="1600"/>
              <a:t>MINDFUL</a:t>
            </a:r>
            <a:br>
              <a:rPr sz="1600"/>
            </a:br>
            <a:r>
              <a:rPr sz="1600"/>
              <a:t>AWARENESS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12028229" cy="707886"/>
          </a:xfrm>
          <a:prstGeom prst="rect">
            <a:avLst/>
          </a:prstGeom>
          <a:noFill/>
        </p:spPr>
        <p:txBody>
          <a:bodyPr wrap="none" lIns="91440" tIns="45720" rIns="91440" bIns="45720" anchor="t">
            <a:spAutoFit/>
          </a:bodyPr>
          <a:lstStyle/>
          <a:p>
            <a:pPr algn="l">
              <a:defRPr sz="2200" b="1">
                <a:solidFill>
                  <a:srgbClr val="FFFFFF"/>
                </a:solidFill>
              </a:defRPr>
            </a:pPr>
            <a:r>
              <a:rPr sz="4000"/>
              <a:t>Review of Literature (1/5) - MBRP &amp; Relapse Prevention</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8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34440"/>
            <a:ext cx="10972800" cy="4806444"/>
          </a:xfrm>
          <a:prstGeom prst="rect">
            <a:avLst/>
          </a:prstGeom>
          <a:noFill/>
        </p:spPr>
        <p:txBody>
          <a:bodyPr wrap="square" lIns="91440" tIns="45720" rIns="91440" bIns="45720" anchor="t">
            <a:spAutoFit/>
          </a:bodyPr>
          <a:lstStyle/>
          <a:p>
            <a:pPr>
              <a:spcBef>
                <a:spcPts val="800"/>
              </a:spcBef>
              <a:spcAft>
                <a:spcPts val="300"/>
              </a:spcAft>
              <a:defRPr sz="1100">
                <a:solidFill>
                  <a:srgbClr val="2C3E50"/>
                </a:solidFill>
              </a:defRPr>
            </a:pPr>
            <a:r>
              <a:rPr sz="1600"/>
              <a:t>Bowen et al. (2014) investigate the relative efficacy of Mindfulness-Based Relapse Prevention compared to standard Relapse Prevention and Treatment As Usual for substance use disorders in JAMA Psychiatry. The randomized clinical trial involved 286 participants who had completed initial treatment for substance use disorders. The study demonstrates that at 12-month follow-up, MBRP participants reported significantly fewer days of substance use and heavy drinking compared to both standard RP and TAU groups. The researchers highlight that while all three groups showed initial improvements, MBRP participants maintained superior long-term outcomes, suggesting that the cultivation of mindfulness skills provides a durable protective mechanism against relapse. The study establishes that MBRP's integration of present-moment awareness with traditional cognitive-behavioral relapse prevention strategies creates a synergistic therapeutic effect that addresses both the automatic reactivity underlying craving and the cognitive distortions that precipitate relapse.</a:t>
            </a:r>
            <a:endParaRPr lang="en-US" sz="1600">
              <a:ea typeface="Calibri"/>
              <a:cs typeface="Calibri"/>
            </a:endParaRPr>
          </a:p>
          <a:p>
            <a:pPr>
              <a:spcBef>
                <a:spcPts val="800"/>
              </a:spcBef>
              <a:spcAft>
                <a:spcPts val="300"/>
              </a:spcAft>
              <a:defRPr sz="1100">
                <a:solidFill>
                  <a:srgbClr val="2C3E50"/>
                </a:solidFill>
              </a:defRPr>
            </a:pPr>
            <a:endParaRPr sz="1600" dirty="0">
              <a:ea typeface="Calibri"/>
              <a:cs typeface="Calibri"/>
            </a:endParaRPr>
          </a:p>
          <a:p>
            <a:pPr>
              <a:spcBef>
                <a:spcPts val="800"/>
              </a:spcBef>
              <a:spcAft>
                <a:spcPts val="300"/>
              </a:spcAft>
              <a:defRPr sz="1100">
                <a:solidFill>
                  <a:srgbClr val="2C3E50"/>
                </a:solidFill>
              </a:defRPr>
            </a:pPr>
            <a:r>
              <a:rPr sz="1600"/>
              <a:t>Bowen and Marlatt (2009) examine the effects of brief mindfulness-based intervention on craving among substance users in Psychology of Addictive Behaviors. The study recruited incarcerated individuals with substance use histories and administered a brief urge surfing meditation intervention. Results demonstrated significant reductions in craving intensity and frequency in the mindfulness condition compared to controls. The authors propose that even brief exposure to mindfulness techniques can disrupt the automaticity of craving responses by introducing a meta-cognitive awareness layer between trigger and behavioral response. This study is particularly relevant to the present research as it validates the premise that abbreviated mindfulness interventions can produce meaningful clinical effects on craving, supporting the feasibility of brief MBRP protocols (6 sessions over 3 weeks) in settings like Man Nasha Mukti Kendra where extended programs are impractical.</a:t>
            </a:r>
            <a:endParaRPr sz="1600" dirty="0">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4983" y="237163"/>
            <a:ext cx="10944791" cy="584775"/>
          </a:xfrm>
          <a:prstGeom prst="rect">
            <a:avLst/>
          </a:prstGeom>
          <a:noFill/>
        </p:spPr>
        <p:txBody>
          <a:bodyPr wrap="none" lIns="91440" tIns="45720" rIns="91440" bIns="45720" anchor="t">
            <a:spAutoFit/>
          </a:bodyPr>
          <a:lstStyle/>
          <a:p>
            <a:pPr algn="l">
              <a:defRPr sz="2200" b="1">
                <a:solidFill>
                  <a:srgbClr val="FFFFFF"/>
                </a:solidFill>
              </a:defRPr>
            </a:pPr>
            <a:r>
              <a:rPr sz="3200"/>
              <a:t>Review of Literature (2/5) - Craving &amp; Mindfulness Mechanisms</a:t>
            </a:r>
            <a:endParaRPr lang="en-US" sz="32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9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34440"/>
            <a:ext cx="10972800" cy="4314001"/>
          </a:xfrm>
          <a:prstGeom prst="rect">
            <a:avLst/>
          </a:prstGeom>
          <a:noFill/>
        </p:spPr>
        <p:txBody>
          <a:bodyPr wrap="square" lIns="91440" tIns="45720" rIns="91440" bIns="45720" anchor="t">
            <a:spAutoFit/>
          </a:bodyPr>
          <a:lstStyle/>
          <a:p>
            <a:pPr>
              <a:spcBef>
                <a:spcPts val="800"/>
              </a:spcBef>
              <a:spcAft>
                <a:spcPts val="300"/>
              </a:spcAft>
              <a:defRPr sz="1100">
                <a:solidFill>
                  <a:srgbClr val="2C3E50"/>
                </a:solidFill>
              </a:defRPr>
            </a:pPr>
            <a:r>
              <a:rPr sz="1600"/>
              <a:t>Garland et al. (2014) explore how mindfulness training targets neurocognitive mechanisms of addiction at the attention-appraisal-emotion interface in Frontiers in Psychiatry. The study presents a theoretical and empirical framework demonstrating that Mindfulness-Oriented Recovery Enhancement (MORE) reduces opioid craving through three interconnected mechanisms: attentional reorientation away from drug-related cues, positive reappraisal of previously neutral stimuli to generate natural reward, and enhanced savoring of healthy pleasures. The researchers provide neuroimaging evidence showing that mindfulness practice modulates activity in prefrontal and limbic circuits associated with craving and emotional regulation. The study is significant because it elucidates the precise cognitive-neural pathways through which mindfulness reduces craving in opioid users, providing a mechanistic rationale for MBRP techniques such as urge surfing and mindful awareness of craving sensations.</a:t>
            </a:r>
            <a:endParaRPr lang="en-US" sz="1600">
              <a:ea typeface="Calibri"/>
              <a:cs typeface="Calibri"/>
            </a:endParaRPr>
          </a:p>
          <a:p>
            <a:pPr>
              <a:spcBef>
                <a:spcPts val="800"/>
              </a:spcBef>
              <a:spcAft>
                <a:spcPts val="300"/>
              </a:spcAft>
              <a:defRPr sz="1100">
                <a:solidFill>
                  <a:srgbClr val="2C3E50"/>
                </a:solidFill>
              </a:defRPr>
            </a:pPr>
            <a:endParaRPr sz="1600" dirty="0">
              <a:ea typeface="Calibri"/>
              <a:cs typeface="Calibri"/>
            </a:endParaRPr>
          </a:p>
          <a:p>
            <a:pPr>
              <a:spcBef>
                <a:spcPts val="800"/>
              </a:spcBef>
              <a:spcAft>
                <a:spcPts val="300"/>
              </a:spcAft>
              <a:defRPr sz="1100">
                <a:solidFill>
                  <a:srgbClr val="2C3E50"/>
                </a:solidFill>
              </a:defRPr>
            </a:pPr>
            <a:r>
              <a:rPr sz="1600"/>
              <a:t>Witkiewitz et al. (2013) investigate mindfulness-based relapse prevention effects on substance craving in Addictive Behaviors. The study conducted secondary analyses from a randomized controlled trial comparing MBRP to TAU among individuals in aftercare. Over a 4-month follow-up, MBRP participants demonstrated significantly lower craving levels, and importantly, the relationship between negative affect and subsequent craving was significantly attenuated in the MBRP group. The authors conclude that mindfulness practice weakens the affect-craving pathway by cultivating non-reactive awareness of emotional states, thereby preventing negative emotions from automatically triggering craving responses. This decoupling of affect and craving represents a critical therapeutic mechanism that distinguishes MBRP from traditional relapse prevention approaches.</a:t>
            </a:r>
            <a:endParaRPr sz="1600">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11621579" cy="707886"/>
          </a:xfrm>
          <a:prstGeom prst="rect">
            <a:avLst/>
          </a:prstGeom>
          <a:noFill/>
        </p:spPr>
        <p:txBody>
          <a:bodyPr wrap="none" lIns="91440" tIns="45720" rIns="91440" bIns="45720" anchor="t">
            <a:spAutoFit/>
          </a:bodyPr>
          <a:lstStyle/>
          <a:p>
            <a:pPr algn="l">
              <a:defRPr sz="2200" b="1">
                <a:solidFill>
                  <a:srgbClr val="FFFFFF"/>
                </a:solidFill>
              </a:defRPr>
            </a:pPr>
            <a:r>
              <a:rPr sz="4000"/>
              <a:t>Review of Literature (3/5) - Impulsivity &amp; Mindfulness</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10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34440"/>
            <a:ext cx="10972800" cy="4560223"/>
          </a:xfrm>
          <a:prstGeom prst="rect">
            <a:avLst/>
          </a:prstGeom>
          <a:noFill/>
        </p:spPr>
        <p:txBody>
          <a:bodyPr wrap="square" lIns="91440" tIns="45720" rIns="91440" bIns="45720" anchor="t">
            <a:spAutoFit/>
          </a:bodyPr>
          <a:lstStyle/>
          <a:p>
            <a:pPr>
              <a:spcBef>
                <a:spcPts val="800"/>
              </a:spcBef>
              <a:spcAft>
                <a:spcPts val="300"/>
              </a:spcAft>
              <a:defRPr sz="1100">
                <a:solidFill>
                  <a:srgbClr val="2C3E50"/>
                </a:solidFill>
              </a:defRPr>
            </a:pPr>
            <a:r>
              <a:rPr sz="1600"/>
              <a:t>Garland et al. (2016) examine the efficacy of Mindfulness-Oriented Recovery Enhancement versus CBT for co-occurring substance dependence, traumatic stress, and psychiatric disorders in the Journal of Consulting and Clinical Psychology. The study employed a randomized controlled design with substance-dependent adults exhibiting elevated impulsivity. Results demonstrated that the mindfulness-based intervention produced significant reductions in impulsivity scores as measured by the Barratt Impulsiveness Scale (BIS-11), particularly in the motor and attentional impulsivity subscales. The authors theorize that mindfulness meditation strengthens prefrontal cortical inhibitory mechanisms by repeatedly engaging participants in exercises requiring sustained attention, response monitoring, and deliberate non-reactivity. This enhanced top-down cognitive control translates into improved ability to inhibit prepotent impulsive responses, particularly in high-risk situations where automatic substance-seeking behavior would otherwise occur.</a:t>
            </a:r>
            <a:endParaRPr lang="en-US" sz="1600">
              <a:ea typeface="Calibri"/>
              <a:cs typeface="Calibri"/>
            </a:endParaRPr>
          </a:p>
          <a:p>
            <a:pPr>
              <a:spcBef>
                <a:spcPts val="800"/>
              </a:spcBef>
              <a:spcAft>
                <a:spcPts val="300"/>
              </a:spcAft>
              <a:defRPr sz="1100">
                <a:solidFill>
                  <a:srgbClr val="2C3E50"/>
                </a:solidFill>
              </a:defRPr>
            </a:pPr>
            <a:endParaRPr sz="1600" dirty="0">
              <a:ea typeface="Calibri"/>
              <a:cs typeface="Calibri"/>
            </a:endParaRPr>
          </a:p>
          <a:p>
            <a:pPr>
              <a:spcBef>
                <a:spcPts val="800"/>
              </a:spcBef>
              <a:spcAft>
                <a:spcPts val="300"/>
              </a:spcAft>
              <a:defRPr sz="1100">
                <a:solidFill>
                  <a:srgbClr val="2C3E50"/>
                </a:solidFill>
              </a:defRPr>
            </a:pPr>
            <a:r>
              <a:rPr sz="1600"/>
              <a:t>Murphy and MacKillop (2012) explore the interrelationships between impulsivity, mindfulness, and alcohol misuse in Psychopharmacology. Using a cross-sectional design with 340 participants, the researchers found that trait mindfulness was inversely associated with impulsive decision-making as measured by delay discounting tasks. Critically, mindfulness moderated the relationship between impulsivity and substance use problems, such that individuals with higher mindfulness showed weaker associations between impulsivity and alcohol-related consequences. The authors propose that mindfulness functions as a cognitive resource enabling impulsive individuals to override automatic behavioral tendencies through enhanced metacognitive awareness and response flexibility.</a:t>
            </a:r>
            <a:endParaRPr sz="1600">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669" y="171849"/>
            <a:ext cx="11283089" cy="646331"/>
          </a:xfrm>
          <a:prstGeom prst="rect">
            <a:avLst/>
          </a:prstGeom>
          <a:noFill/>
        </p:spPr>
        <p:txBody>
          <a:bodyPr wrap="none" lIns="91440" tIns="45720" rIns="91440" bIns="45720" anchor="t">
            <a:spAutoFit/>
          </a:bodyPr>
          <a:lstStyle/>
          <a:p>
            <a:pPr algn="l">
              <a:defRPr sz="2200" b="1">
                <a:solidFill>
                  <a:srgbClr val="FFFFFF"/>
                </a:solidFill>
              </a:defRPr>
            </a:pPr>
            <a:r>
              <a:rPr sz="3600"/>
              <a:t>Review of Literature (4/5) - Meta-Analyses &amp; Brief Models</a:t>
            </a:r>
            <a:endParaRPr lang="en-US" sz="36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11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34440"/>
            <a:ext cx="10972800" cy="4314001"/>
          </a:xfrm>
          <a:prstGeom prst="rect">
            <a:avLst/>
          </a:prstGeom>
          <a:noFill/>
        </p:spPr>
        <p:txBody>
          <a:bodyPr wrap="square" lIns="91440" tIns="45720" rIns="91440" bIns="45720" anchor="t">
            <a:spAutoFit/>
          </a:bodyPr>
          <a:lstStyle/>
          <a:p>
            <a:pPr>
              <a:spcBef>
                <a:spcPts val="800"/>
              </a:spcBef>
              <a:spcAft>
                <a:spcPts val="300"/>
              </a:spcAft>
              <a:defRPr sz="1100">
                <a:solidFill>
                  <a:srgbClr val="2C3E50"/>
                </a:solidFill>
              </a:defRPr>
            </a:pPr>
            <a:r>
              <a:rPr sz="1600"/>
              <a:t>Li et al. (2017) conduct a systematic review and meta-analysis of mindfulness treatment for substance misuse in the Journal of Substance Abuse Treatment, encompassing 42 randomized controlled trials. The meta-analytic findings reveal that mindfulness-based interventions produce significant effect sizes for reducing substance misuse (d = 0.33), craving (d = 0.68), and stress (d = 0.44) across diverse populations. The authors highlight that effect sizes for craving reduction are particularly robust, supporting the theoretical premise that mindfulness directly targets craving mechanisms through enhanced interoceptive awareness. Furthermore, the review identifies that interventions of shorter duration (4-8 sessions) demonstrated comparable efficacy to longer protocols when appropriately structured, providing empirical justification for the present study's brief 6-session MBRP adaptation.</a:t>
            </a:r>
            <a:endParaRPr lang="en-US" sz="1600">
              <a:ea typeface="Calibri"/>
              <a:cs typeface="Calibri"/>
            </a:endParaRPr>
          </a:p>
          <a:p>
            <a:pPr>
              <a:spcBef>
                <a:spcPts val="800"/>
              </a:spcBef>
              <a:spcAft>
                <a:spcPts val="300"/>
              </a:spcAft>
              <a:defRPr sz="1100">
                <a:solidFill>
                  <a:srgbClr val="2C3E50"/>
                </a:solidFill>
              </a:defRPr>
            </a:pPr>
            <a:endParaRPr sz="1600" dirty="0">
              <a:ea typeface="Calibri"/>
              <a:cs typeface="Calibri"/>
            </a:endParaRPr>
          </a:p>
          <a:p>
            <a:pPr>
              <a:spcBef>
                <a:spcPts val="800"/>
              </a:spcBef>
              <a:spcAft>
                <a:spcPts val="300"/>
              </a:spcAft>
              <a:defRPr sz="1100">
                <a:solidFill>
                  <a:srgbClr val="2C3E50"/>
                </a:solidFill>
              </a:defRPr>
            </a:pPr>
            <a:r>
              <a:rPr sz="1600"/>
              <a:t>Glasner-Edwards et al. (2017) examine a pilot randomized clinical trial of mindfulness-based relapse prevention for stimulant-dependent adults using an abbreviated 6-session protocol in the journal Mindfulness. The study demonstrates that a condensed mindfulness intervention is both feasible and effective in outpatient settings. Participants showed significant reductions in substance use frequency and craving intensity compared to the health education control. This study directly validates the brief intervention model proposed in the present research, demonstrating that 6-session MBRP protocols can be successfully implemented without substantial loss of efficacy, making them particularly appropriate for Indian rehabilitation settings like Man Nasha Mukti Kendra with typical admission durations of 4-6 weeks.</a:t>
            </a:r>
            <a:endParaRPr sz="1600">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11399659" cy="646331"/>
          </a:xfrm>
          <a:prstGeom prst="rect">
            <a:avLst/>
          </a:prstGeom>
          <a:noFill/>
        </p:spPr>
        <p:txBody>
          <a:bodyPr wrap="none" lIns="91440" tIns="45720" rIns="91440" bIns="45720" anchor="t">
            <a:spAutoFit/>
          </a:bodyPr>
          <a:lstStyle/>
          <a:p>
            <a:pPr algn="l">
              <a:defRPr sz="2200" b="1">
                <a:solidFill>
                  <a:srgbClr val="FFFFFF"/>
                </a:solidFill>
              </a:defRPr>
            </a:pPr>
            <a:r>
              <a:rPr sz="3600"/>
              <a:t>Review of Literature (5/5) - Indian Context &amp; Research Gap</a:t>
            </a:r>
            <a:endParaRPr lang="en-US" sz="36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12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234440"/>
            <a:ext cx="10972800" cy="4314001"/>
          </a:xfrm>
          <a:prstGeom prst="rect">
            <a:avLst/>
          </a:prstGeom>
          <a:noFill/>
        </p:spPr>
        <p:txBody>
          <a:bodyPr wrap="square" lIns="91440" tIns="45720" rIns="91440" bIns="45720" anchor="t">
            <a:spAutoFit/>
          </a:bodyPr>
          <a:lstStyle/>
          <a:p>
            <a:pPr>
              <a:spcBef>
                <a:spcPts val="800"/>
              </a:spcBef>
              <a:spcAft>
                <a:spcPts val="300"/>
              </a:spcAft>
              <a:defRPr sz="1100">
                <a:solidFill>
                  <a:srgbClr val="2C3E50"/>
                </a:solidFill>
              </a:defRPr>
            </a:pPr>
            <a:r>
              <a:rPr sz="1600"/>
              <a:t>Ghosh et al. (2018) conduct a comprehensive review of relapse in opioid dependence from an Indian perspective in the Indian Journal of Psychiatry. The study reports alarmingly high relapse rates exceeding 70% among opioid-dependent patients treated in North Indian de-addiction centers, with the majority occurring within three months post-discharge. The authors identify craving, peer influence, negative emotional states, and lack of structured psychological aftercare as primary relapse determinants. Significantly, the review highlights that Indian treatment facilities predominantly rely on pharmacological approaches with minimal integration of evidence-based psychological interventions. The authors advocate for development and validation of structured psychosocial protocols tailored to Indian treatment infrastructure and resource constraints. This directly establishes the clinical need for the present research.</a:t>
            </a:r>
            <a:endParaRPr lang="en-US" sz="1600">
              <a:ea typeface="Calibri"/>
              <a:cs typeface="Calibri"/>
            </a:endParaRPr>
          </a:p>
          <a:p>
            <a:pPr>
              <a:spcBef>
                <a:spcPts val="800"/>
              </a:spcBef>
              <a:spcAft>
                <a:spcPts val="300"/>
              </a:spcAft>
              <a:defRPr sz="1100">
                <a:solidFill>
                  <a:srgbClr val="2C3E50"/>
                </a:solidFill>
              </a:defRPr>
            </a:pPr>
            <a:endParaRPr sz="1600" dirty="0">
              <a:ea typeface="Calibri"/>
              <a:cs typeface="Calibri"/>
            </a:endParaRPr>
          </a:p>
          <a:p>
            <a:pPr>
              <a:spcBef>
                <a:spcPts val="800"/>
              </a:spcBef>
              <a:spcAft>
                <a:spcPts val="300"/>
              </a:spcAft>
              <a:defRPr sz="1100">
                <a:solidFill>
                  <a:srgbClr val="2C3E50"/>
                </a:solidFill>
              </a:defRPr>
            </a:pPr>
            <a:r>
              <a:rPr sz="1600"/>
              <a:t>Sarkar and Balhara (2016) highlight the underutilization of structured psychological interventions in Indian de-addiction settings, identifying barriers including limited trained personnel, absence of culturally validated protocols, and institutional emphasis on pharmacological management. Jain et al. (2013) provide preliminary evidence from a mindfulness-based intervention study with alcohol-dependent patients in India showing initial craving reductions. CRITICAL GAP: No published Indian RCT has tested Brief MBRP specifically in opioid-dependent populations, simultaneously assessing craving, impulsivity, and mindfulness as treatment outcomes. The present study addresses this gap as the first brief MBRP trial designed for Indian de-addiction center infrastructure like Man Nasha Mukti Kendra.</a:t>
            </a:r>
            <a:endParaRPr sz="1600">
              <a:ea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3077766" cy="707886"/>
          </a:xfrm>
          <a:prstGeom prst="rect">
            <a:avLst/>
          </a:prstGeom>
          <a:noFill/>
        </p:spPr>
        <p:txBody>
          <a:bodyPr wrap="none" lIns="91440" tIns="45720" rIns="91440" bIns="45720" anchor="t">
            <a:spAutoFit/>
          </a:bodyPr>
          <a:lstStyle/>
          <a:p>
            <a:pPr algn="l">
              <a:defRPr sz="2200" b="1">
                <a:solidFill>
                  <a:srgbClr val="FFFFFF"/>
                </a:solidFill>
              </a:defRPr>
            </a:pPr>
            <a:r>
              <a:rPr sz="4000"/>
              <a:t>Research Gap</a:t>
            </a:r>
            <a:endParaRPr lang="en-US" sz="4000">
              <a:ea typeface="Calibri"/>
              <a:cs typeface="Calibri"/>
            </a:endParaRPr>
          </a:p>
        </p:txBody>
      </p:sp>
      <p:sp>
        <p:nvSpPr>
          <p:cNvPr id="6" name="TextBox 5"/>
          <p:cNvSpPr txBox="1"/>
          <p:nvPr/>
        </p:nvSpPr>
        <p:spPr>
          <a:xfrm>
            <a:off x="11059799" y="6492240"/>
            <a:ext cx="918841" cy="400110"/>
          </a:xfrm>
          <a:prstGeom prst="rect">
            <a:avLst/>
          </a:prstGeom>
          <a:noFill/>
        </p:spPr>
        <p:txBody>
          <a:bodyPr wrap="none">
            <a:spAutoFit/>
          </a:bodyPr>
          <a:lstStyle/>
          <a:p>
            <a:pPr algn="r">
              <a:defRPr sz="900">
                <a:solidFill>
                  <a:srgbClr val="90A4AE"/>
                </a:solidFill>
              </a:defRPr>
            </a:pPr>
            <a:r>
              <a:rPr sz="2000"/>
              <a:t>13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Rectangle 7"/>
          <p:cNvSpPr/>
          <p:nvPr/>
        </p:nvSpPr>
        <p:spPr>
          <a:xfrm>
            <a:off x="640080" y="1371600"/>
            <a:ext cx="109728" cy="54864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1005840" y="1371600"/>
            <a:ext cx="10515600" cy="400110"/>
          </a:xfrm>
          <a:prstGeom prst="rect">
            <a:avLst/>
          </a:prstGeom>
          <a:noFill/>
        </p:spPr>
        <p:txBody>
          <a:bodyPr wrap="square">
            <a:spAutoFit/>
          </a:bodyPr>
          <a:lstStyle/>
          <a:p>
            <a:pPr>
              <a:defRPr sz="1300">
                <a:solidFill>
                  <a:srgbClr val="2C3E50"/>
                </a:solidFill>
              </a:defRPr>
            </a:pPr>
            <a:r>
              <a:rPr sz="2000"/>
              <a:t>No Indian RCT has tested MBRP (standard or brief) in opioid-dependent populations</a:t>
            </a:r>
          </a:p>
        </p:txBody>
      </p:sp>
      <p:sp>
        <p:nvSpPr>
          <p:cNvPr id="10" name="Rectangle 9"/>
          <p:cNvSpPr/>
          <p:nvPr/>
        </p:nvSpPr>
        <p:spPr>
          <a:xfrm>
            <a:off x="640080" y="2148840"/>
            <a:ext cx="109728" cy="5486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1005840" y="2148840"/>
            <a:ext cx="10515600" cy="400110"/>
          </a:xfrm>
          <a:prstGeom prst="rect">
            <a:avLst/>
          </a:prstGeom>
          <a:noFill/>
        </p:spPr>
        <p:txBody>
          <a:bodyPr wrap="square">
            <a:spAutoFit/>
          </a:bodyPr>
          <a:lstStyle/>
          <a:p>
            <a:pPr>
              <a:defRPr sz="1300">
                <a:solidFill>
                  <a:srgbClr val="2C3E50"/>
                </a:solidFill>
              </a:defRPr>
            </a:pPr>
            <a:r>
              <a:rPr sz="2000"/>
              <a:t>Most studies examine craving OR mindfulness alone; few assess all three variables simultaneously</a:t>
            </a:r>
          </a:p>
        </p:txBody>
      </p:sp>
      <p:sp>
        <p:nvSpPr>
          <p:cNvPr id="12" name="Rectangle 11"/>
          <p:cNvSpPr/>
          <p:nvPr/>
        </p:nvSpPr>
        <p:spPr>
          <a:xfrm>
            <a:off x="640080" y="2926080"/>
            <a:ext cx="109728" cy="5486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1005840" y="2926080"/>
            <a:ext cx="10515600" cy="400110"/>
          </a:xfrm>
          <a:prstGeom prst="rect">
            <a:avLst/>
          </a:prstGeom>
          <a:noFill/>
        </p:spPr>
        <p:txBody>
          <a:bodyPr wrap="square">
            <a:spAutoFit/>
          </a:bodyPr>
          <a:lstStyle/>
          <a:p>
            <a:pPr>
              <a:defRPr sz="1300">
                <a:solidFill>
                  <a:srgbClr val="2C3E50"/>
                </a:solidFill>
              </a:defRPr>
            </a:pPr>
            <a:r>
              <a:rPr sz="2000"/>
              <a:t>No brief MBRP (6 sessions) validated for Indian rehab settings like Man Nasha Mukti Kendra</a:t>
            </a:r>
          </a:p>
        </p:txBody>
      </p:sp>
      <p:sp>
        <p:nvSpPr>
          <p:cNvPr id="14" name="Rectangle 13"/>
          <p:cNvSpPr/>
          <p:nvPr/>
        </p:nvSpPr>
        <p:spPr>
          <a:xfrm>
            <a:off x="640080" y="3703320"/>
            <a:ext cx="109728" cy="548640"/>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5" name="TextBox 14"/>
          <p:cNvSpPr txBox="1"/>
          <p:nvPr/>
        </p:nvSpPr>
        <p:spPr>
          <a:xfrm>
            <a:off x="1005840" y="3703320"/>
            <a:ext cx="10515600" cy="400110"/>
          </a:xfrm>
          <a:prstGeom prst="rect">
            <a:avLst/>
          </a:prstGeom>
          <a:noFill/>
        </p:spPr>
        <p:txBody>
          <a:bodyPr wrap="square">
            <a:spAutoFit/>
          </a:bodyPr>
          <a:lstStyle/>
          <a:p>
            <a:pPr>
              <a:defRPr sz="1300">
                <a:solidFill>
                  <a:srgbClr val="2C3E50"/>
                </a:solidFill>
              </a:defRPr>
            </a:pPr>
            <a:r>
              <a:rPr sz="2000"/>
              <a:t>Indian treatment lacks integration of evidence-based psychological interventions alongside OST</a:t>
            </a:r>
          </a:p>
        </p:txBody>
      </p:sp>
      <p:sp>
        <p:nvSpPr>
          <p:cNvPr id="16" name="Rectangle 15"/>
          <p:cNvSpPr/>
          <p:nvPr/>
        </p:nvSpPr>
        <p:spPr>
          <a:xfrm>
            <a:off x="640080" y="4480560"/>
            <a:ext cx="109728" cy="548640"/>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7" name="TextBox 16"/>
          <p:cNvSpPr txBox="1"/>
          <p:nvPr/>
        </p:nvSpPr>
        <p:spPr>
          <a:xfrm>
            <a:off x="1005840" y="4480560"/>
            <a:ext cx="10515600" cy="400110"/>
          </a:xfrm>
          <a:prstGeom prst="rect">
            <a:avLst/>
          </a:prstGeom>
          <a:noFill/>
        </p:spPr>
        <p:txBody>
          <a:bodyPr wrap="square">
            <a:spAutoFit/>
          </a:bodyPr>
          <a:lstStyle/>
          <a:p>
            <a:pPr>
              <a:defRPr sz="1300">
                <a:solidFill>
                  <a:srgbClr val="2C3E50"/>
                </a:solidFill>
              </a:defRPr>
            </a:pPr>
            <a:r>
              <a:rPr sz="2000"/>
              <a:t>Global MBRP studies focus on alcohol/polysubstance; opioid-specific evidence is limited</a:t>
            </a:r>
          </a:p>
        </p:txBody>
      </p:sp>
      <p:sp>
        <p:nvSpPr>
          <p:cNvPr id="18" name="Rounded Rectangle 17"/>
          <p:cNvSpPr/>
          <p:nvPr/>
        </p:nvSpPr>
        <p:spPr>
          <a:xfrm>
            <a:off x="640080" y="5303520"/>
            <a:ext cx="10972800" cy="9144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007B83"/>
                </a:solidFill>
              </a:defRPr>
            </a:pPr>
            <a:r>
              <a:rPr sz="2000"/>
              <a:t>PRESENT STUDY ADDRESSES: First brief MBRP trial (6 sessions/3 weeks) in Indian opioid-dependent sample at Man Nasha Mukti Kendra</a:t>
            </a:r>
          </a:p>
          <a:p>
            <a:pPr>
              <a:defRPr sz="1200">
                <a:solidFill>
                  <a:srgbClr val="007B83"/>
                </a:solidFill>
              </a:defRPr>
            </a:pPr>
            <a:r>
              <a:rPr sz="2000"/>
              <a:t>assessing craving, impulsivity, and mindfulness simultaneously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3749744" cy="707886"/>
          </a:xfrm>
          <a:prstGeom prst="rect">
            <a:avLst/>
          </a:prstGeom>
          <a:noFill/>
        </p:spPr>
        <p:txBody>
          <a:bodyPr wrap="none" lIns="91440" tIns="45720" rIns="91440" bIns="45720" anchor="t">
            <a:spAutoFit/>
          </a:bodyPr>
          <a:lstStyle/>
          <a:p>
            <a:pPr algn="l">
              <a:defRPr sz="2200" b="1">
                <a:solidFill>
                  <a:srgbClr val="FFFFFF"/>
                </a:solidFill>
              </a:defRPr>
            </a:pPr>
            <a:r>
              <a:rPr sz="4000"/>
              <a:t>Aim of the Study</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14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371600" y="2286000"/>
            <a:ext cx="9418320" cy="22860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bIns="45720" rtlCol="0" anchor="ctr"/>
          <a:lstStyle/>
          <a:p>
            <a:pPr algn="ctr">
              <a:defRPr sz="1500" b="1">
                <a:solidFill>
                  <a:srgbClr val="1B2A4A"/>
                </a:solidFill>
              </a:defRPr>
            </a:pPr>
            <a:r>
              <a:rPr sz="2000"/>
              <a:t>To evaluate the efficacy of a Brief Mindfulness-Based Relapse Prevention</a:t>
            </a:r>
            <a:endParaRPr lang="en-US" sz="2000">
              <a:ea typeface="Calibri"/>
              <a:cs typeface="Calibri"/>
            </a:endParaRPr>
          </a:p>
          <a:p>
            <a:pPr>
              <a:defRPr sz="1400">
                <a:solidFill>
                  <a:srgbClr val="1B2A4A"/>
                </a:solidFill>
              </a:defRPr>
            </a:pPr>
            <a:r>
              <a:rPr sz="2000"/>
              <a:t>(MBRP) intervention (6 sessions over 3 weeks) in reducing craving and</a:t>
            </a:r>
            <a:endParaRPr sz="2000" dirty="0">
              <a:ea typeface="Calibri"/>
              <a:cs typeface="Calibri"/>
            </a:endParaRPr>
          </a:p>
          <a:p>
            <a:pPr>
              <a:defRPr sz="1400">
                <a:solidFill>
                  <a:srgbClr val="1B2A4A"/>
                </a:solidFill>
              </a:defRPr>
            </a:pPr>
            <a:r>
              <a:rPr sz="2000"/>
              <a:t>impulsivity, and enhancing mindfulness, among male substance-dependent</a:t>
            </a:r>
            <a:endParaRPr sz="2000" dirty="0">
              <a:ea typeface="Calibri"/>
              <a:cs typeface="Calibri"/>
            </a:endParaRPr>
          </a:p>
          <a:p>
            <a:pPr>
              <a:defRPr sz="1400">
                <a:solidFill>
                  <a:srgbClr val="1B2A4A"/>
                </a:solidFill>
              </a:defRPr>
            </a:pPr>
            <a:r>
              <a:rPr sz="2000"/>
              <a:t>patients at Man Nasha Mukti Kendra</a:t>
            </a:r>
            <a:endParaRPr sz="2000" dirty="0">
              <a:ea typeface="Calibri"/>
              <a:cs typeface="Calibri"/>
            </a:endParaRPr>
          </a:p>
          <a:p>
            <a:pPr>
              <a:defRPr sz="1400">
                <a:solidFill>
                  <a:srgbClr val="1B2A4A"/>
                </a:solidFill>
              </a:defRPr>
            </a:pPr>
            <a:endParaRPr sz="2000" dirty="0">
              <a:ea typeface="Calibri"/>
              <a:cs typeface="Calibri"/>
            </a:endParaRPr>
          </a:p>
          <a:p>
            <a:pPr>
              <a:defRPr sz="1400">
                <a:solidFill>
                  <a:srgbClr val="1B2A4A"/>
                </a:solidFill>
              </a:defRPr>
            </a:pPr>
            <a:r>
              <a:rPr sz="2000"/>
              <a:t>Comparing: Brief MBRP + TAU (Experimental) vs. Psychoeducation + TAU (Control)</a:t>
            </a:r>
            <a:endParaRPr sz="2000" dirty="0">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2416111" cy="707886"/>
          </a:xfrm>
          <a:prstGeom prst="rect">
            <a:avLst/>
          </a:prstGeom>
          <a:noFill/>
        </p:spPr>
        <p:txBody>
          <a:bodyPr wrap="none" lIns="91440" tIns="45720" rIns="91440" bIns="45720" anchor="t">
            <a:spAutoFit/>
          </a:bodyPr>
          <a:lstStyle/>
          <a:p>
            <a:pPr algn="l">
              <a:defRPr sz="2200" b="1">
                <a:solidFill>
                  <a:srgbClr val="FFFFFF"/>
                </a:solidFill>
              </a:defRPr>
            </a:pPr>
            <a:r>
              <a:rPr sz="4000"/>
              <a:t>Objectives</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15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2136482"/>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1. To assess and compare craving levels (pre vs. post) in Experimental (Brief MBRP + TAU) and Control (Psychoeducation + TAU) groups</a:t>
            </a:r>
            <a:endParaRPr lang="en-US" sz="1600">
              <a:ea typeface="Calibri"/>
              <a:cs typeface="Calibri"/>
            </a:endParaRPr>
          </a:p>
          <a:p>
            <a:pPr>
              <a:spcBef>
                <a:spcPts val="500"/>
              </a:spcBef>
              <a:defRPr sz="1300">
                <a:solidFill>
                  <a:srgbClr val="2C3E50"/>
                </a:solidFill>
              </a:defRPr>
            </a:pPr>
            <a:r>
              <a:rPr sz="1600"/>
              <a:t>2. To assess and compare impulsivity levels (pre vs. post) in both groups</a:t>
            </a:r>
            <a:endParaRPr sz="1600">
              <a:ea typeface="Calibri"/>
              <a:cs typeface="Calibri"/>
            </a:endParaRPr>
          </a:p>
          <a:p>
            <a:pPr>
              <a:spcBef>
                <a:spcPts val="500"/>
              </a:spcBef>
              <a:defRPr sz="1300">
                <a:solidFill>
                  <a:srgbClr val="2C3E50"/>
                </a:solidFill>
              </a:defRPr>
            </a:pPr>
            <a:r>
              <a:rPr sz="1600"/>
              <a:t>3. To assess and compare mindfulness levels (pre vs. post) in both groups</a:t>
            </a:r>
            <a:endParaRPr sz="1600">
              <a:ea typeface="Calibri"/>
              <a:cs typeface="Calibri"/>
            </a:endParaRPr>
          </a:p>
          <a:p>
            <a:pPr>
              <a:spcBef>
                <a:spcPts val="500"/>
              </a:spcBef>
              <a:defRPr sz="1300">
                <a:solidFill>
                  <a:srgbClr val="2C3E50"/>
                </a:solidFill>
              </a:defRPr>
            </a:pPr>
            <a:r>
              <a:rPr sz="1600"/>
              <a:t>4. To determine whether Brief MBRP + TAU is significantly more effective than Psychoeducation + TAU in reducing craving</a:t>
            </a:r>
            <a:endParaRPr sz="1600">
              <a:ea typeface="Calibri"/>
              <a:cs typeface="Calibri"/>
            </a:endParaRPr>
          </a:p>
          <a:p>
            <a:pPr>
              <a:spcBef>
                <a:spcPts val="500"/>
              </a:spcBef>
              <a:defRPr sz="1300">
                <a:solidFill>
                  <a:srgbClr val="2C3E50"/>
                </a:solidFill>
              </a:defRPr>
            </a:pPr>
            <a:r>
              <a:rPr sz="1600"/>
              <a:t>5. To determine whether Brief MBRP + TAU is significantly more effective than Psychoeducation + TAU in reducing impulsivity</a:t>
            </a:r>
            <a:endParaRPr sz="1600">
              <a:ea typeface="Calibri"/>
              <a:cs typeface="Calibri"/>
            </a:endParaRPr>
          </a:p>
          <a:p>
            <a:pPr>
              <a:spcBef>
                <a:spcPts val="500"/>
              </a:spcBef>
              <a:defRPr sz="1300">
                <a:solidFill>
                  <a:srgbClr val="2C3E50"/>
                </a:solidFill>
              </a:defRPr>
            </a:pPr>
            <a:r>
              <a:rPr sz="1600"/>
              <a:t>6. To determine whether Brief MBRP + TAU is significantly more effective than Psychoeducation + TAU in enhancing mindfulness</a:t>
            </a:r>
            <a:endParaRPr sz="1600">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10972800" cy="777240"/>
          </a:xfrm>
          <a:prstGeom prst="rect">
            <a:avLst/>
          </a:prstGeom>
          <a:noFill/>
        </p:spPr>
        <p:txBody>
          <a:bodyPr wrap="none">
            <a:spAutoFit/>
          </a:bodyPr>
          <a:lstStyle/>
          <a:p>
            <a:pPr algn="l">
              <a:defRPr sz="2200" b="1">
                <a:solidFill>
                  <a:srgbClr val="FFFFFF"/>
                </a:solidFill>
              </a:defRPr>
            </a:pPr>
            <a:r>
              <a:t>Hypotheses (Research &amp; Null)</a:t>
            </a: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16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80160"/>
            <a:ext cx="11064240" cy="22860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1B2A4A"/>
                </a:solidFill>
              </a:defRPr>
            </a:pPr>
            <a:r>
              <a:rPr sz="1600"/>
              <a:t>RESEARCH HYPOTHESES (Directional)</a:t>
            </a:r>
          </a:p>
          <a:p>
            <a:pPr>
              <a:defRPr sz="1200">
                <a:solidFill>
                  <a:srgbClr val="1B2A4A"/>
                </a:solidFill>
              </a:defRPr>
            </a:pPr>
            <a:r>
              <a:rPr sz="1600"/>
              <a:t>H1: Brief MBRP + TAU will show significantly GREATER REDUCTION in craving (OCDUS) than Psychoeducation + TAU</a:t>
            </a:r>
          </a:p>
          <a:p>
            <a:pPr>
              <a:defRPr sz="1200">
                <a:solidFill>
                  <a:srgbClr val="1B2A4A"/>
                </a:solidFill>
              </a:defRPr>
            </a:pPr>
            <a:r>
              <a:rPr sz="1600"/>
              <a:t>H2: Brief MBRP + TAU will show significantly GREATER REDUCTION in impulsivity (BIS-11) than Psychoeducation + TAU</a:t>
            </a:r>
          </a:p>
          <a:p>
            <a:pPr>
              <a:defRPr sz="1200">
                <a:solidFill>
                  <a:srgbClr val="1B2A4A"/>
                </a:solidFill>
              </a:defRPr>
            </a:pPr>
            <a:r>
              <a:rPr sz="1600"/>
              <a:t>H3: Brief MBRP + TAU will show significantly GREATER INCREASE in mindfulness (FFMQ) than Psychoeducation + TAU</a:t>
            </a:r>
          </a:p>
        </p:txBody>
      </p:sp>
      <p:sp>
        <p:nvSpPr>
          <p:cNvPr id="9" name="Rounded Rectangle 8"/>
          <p:cNvSpPr/>
          <p:nvPr/>
        </p:nvSpPr>
        <p:spPr>
          <a:xfrm>
            <a:off x="548640" y="3840480"/>
            <a:ext cx="11064240" cy="2286000"/>
          </a:xfrm>
          <a:prstGeom prst="roundRect">
            <a:avLst/>
          </a:prstGeom>
          <a:solidFill>
            <a:srgbClr val="FDEDEC"/>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1A232F"/>
                </a:solidFill>
              </a:defRPr>
            </a:pPr>
            <a:r>
              <a:rPr sz="1600"/>
              <a:t>NULL HYPOTHESES</a:t>
            </a:r>
          </a:p>
          <a:p>
            <a:pPr>
              <a:defRPr sz="1200">
                <a:solidFill>
                  <a:srgbClr val="1A232F"/>
                </a:solidFill>
              </a:defRPr>
            </a:pPr>
            <a:r>
              <a:rPr sz="1600"/>
              <a:t>H01: No significant difference in craving (OCDUS) between Experimental and Control groups pre-to-post</a:t>
            </a:r>
          </a:p>
          <a:p>
            <a:pPr>
              <a:defRPr sz="1200">
                <a:solidFill>
                  <a:srgbClr val="1A232F"/>
                </a:solidFill>
              </a:defRPr>
            </a:pPr>
            <a:r>
              <a:rPr sz="1600"/>
              <a:t>H02: No significant difference in impulsivity (BIS-11) between Experimental and Control groups pre-to-post</a:t>
            </a:r>
          </a:p>
          <a:p>
            <a:pPr>
              <a:defRPr sz="1200">
                <a:solidFill>
                  <a:srgbClr val="1A232F"/>
                </a:solidFill>
              </a:defRPr>
            </a:pPr>
            <a:r>
              <a:rPr sz="1600"/>
              <a:t>H03: No significant difference in mindfulness (FFMQ) between Experimental and Control groups pre-to-post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10715754" cy="707886"/>
          </a:xfrm>
          <a:prstGeom prst="rect">
            <a:avLst/>
          </a:prstGeom>
          <a:noFill/>
        </p:spPr>
        <p:txBody>
          <a:bodyPr wrap="none" lIns="91440" tIns="45720" rIns="91440" bIns="45720" anchor="t">
            <a:spAutoFit/>
          </a:bodyPr>
          <a:lstStyle/>
          <a:p>
            <a:pPr algn="l">
              <a:defRPr sz="2200" b="1">
                <a:solidFill>
                  <a:srgbClr val="FFFFFF"/>
                </a:solidFill>
              </a:defRPr>
            </a:pPr>
            <a:r>
              <a:rPr sz="4000"/>
              <a:t>Research Design: Pre-test Post-test Control Group</a:t>
            </a:r>
            <a:endParaRPr lang="en-US" sz="4000">
              <a:ea typeface="Calibri"/>
              <a:cs typeface="Calibri"/>
            </a:endParaRPr>
          </a:p>
        </p:txBody>
      </p:sp>
      <p:sp>
        <p:nvSpPr>
          <p:cNvPr id="6" name="TextBox 5"/>
          <p:cNvSpPr txBox="1"/>
          <p:nvPr/>
        </p:nvSpPr>
        <p:spPr>
          <a:xfrm>
            <a:off x="11205671" y="6492240"/>
            <a:ext cx="772969" cy="338554"/>
          </a:xfrm>
          <a:prstGeom prst="rect">
            <a:avLst/>
          </a:prstGeom>
          <a:noFill/>
        </p:spPr>
        <p:txBody>
          <a:bodyPr wrap="none">
            <a:spAutoFit/>
          </a:bodyPr>
          <a:lstStyle/>
          <a:p>
            <a:pPr algn="r">
              <a:defRPr sz="900">
                <a:solidFill>
                  <a:srgbClr val="90A4AE"/>
                </a:solidFill>
              </a:defRPr>
            </a:pPr>
            <a:r>
              <a:rPr sz="1600"/>
              <a:t>17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Rounded Rectangle 7"/>
          <p:cNvSpPr/>
          <p:nvPr/>
        </p:nvSpPr>
        <p:spPr>
          <a:xfrm>
            <a:off x="457200" y="1828800"/>
            <a:ext cx="1828800" cy="914400"/>
          </a:xfrm>
          <a:prstGeom prst="roundRect">
            <a:avLst/>
          </a:prstGeom>
          <a:solidFill>
            <a:srgbClr val="C98A1A"/>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1A232F"/>
                </a:solidFill>
              </a:defRPr>
            </a:pPr>
            <a:r>
              <a:rPr sz="1600"/>
              <a:t>RANDOMIZATION</a:t>
            </a:r>
          </a:p>
          <a:p>
            <a:pPr>
              <a:defRPr sz="1200">
                <a:solidFill>
                  <a:srgbClr val="1A232F"/>
                </a:solidFill>
              </a:defRPr>
            </a:pPr>
            <a:r>
              <a:rPr sz="1600"/>
              <a:t>(N = 60)</a:t>
            </a:r>
          </a:p>
        </p:txBody>
      </p:sp>
      <p:sp>
        <p:nvSpPr>
          <p:cNvPr id="9" name="Right Arrow 8"/>
          <p:cNvSpPr/>
          <p:nvPr/>
        </p:nvSpPr>
        <p:spPr>
          <a:xfrm>
            <a:off x="2377440" y="2011680"/>
            <a:ext cx="731520" cy="274320"/>
          </a:xfrm>
          <a:prstGeom prst="rightArrow">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Rounded Rectangle 9"/>
          <p:cNvSpPr/>
          <p:nvPr/>
        </p:nvSpPr>
        <p:spPr>
          <a:xfrm>
            <a:off x="3200400" y="1554480"/>
            <a:ext cx="2011680" cy="1371600"/>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100" b="1">
                <a:solidFill>
                  <a:srgbClr val="1B2A4A"/>
                </a:solidFill>
              </a:defRPr>
            </a:pPr>
            <a:r>
              <a:rPr sz="1600"/>
              <a:t>PRE-TEST (O1)</a:t>
            </a:r>
          </a:p>
          <a:p>
            <a:pPr>
              <a:defRPr sz="1000">
                <a:solidFill>
                  <a:srgbClr val="1B2A4A"/>
                </a:solidFill>
              </a:defRPr>
            </a:pPr>
            <a:r>
              <a:rPr sz="1600"/>
              <a:t>OCDUS</a:t>
            </a:r>
          </a:p>
          <a:p>
            <a:pPr>
              <a:defRPr sz="1000">
                <a:solidFill>
                  <a:srgbClr val="1B2A4A"/>
                </a:solidFill>
              </a:defRPr>
            </a:pPr>
            <a:r>
              <a:rPr sz="1600"/>
              <a:t>BIS-11</a:t>
            </a:r>
          </a:p>
          <a:p>
            <a:pPr>
              <a:defRPr sz="1000">
                <a:solidFill>
                  <a:srgbClr val="1B2A4A"/>
                </a:solidFill>
              </a:defRPr>
            </a:pPr>
            <a:r>
              <a:rPr sz="1600"/>
              <a:t>FFMQ</a:t>
            </a:r>
          </a:p>
          <a:p>
            <a:pPr>
              <a:defRPr sz="1000">
                <a:solidFill>
                  <a:srgbClr val="1B2A4A"/>
                </a:solidFill>
              </a:defRPr>
            </a:pPr>
            <a:r>
              <a:rPr sz="1600"/>
              <a:t>ASSIST</a:t>
            </a:r>
          </a:p>
        </p:txBody>
      </p:sp>
      <p:sp>
        <p:nvSpPr>
          <p:cNvPr id="11" name="Right Arrow 10"/>
          <p:cNvSpPr/>
          <p:nvPr/>
        </p:nvSpPr>
        <p:spPr>
          <a:xfrm>
            <a:off x="5303520" y="2011680"/>
            <a:ext cx="731520" cy="274320"/>
          </a:xfrm>
          <a:prstGeom prst="rightArrow">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Rounded Rectangle 11"/>
          <p:cNvSpPr/>
          <p:nvPr/>
        </p:nvSpPr>
        <p:spPr>
          <a:xfrm>
            <a:off x="6126480" y="1371600"/>
            <a:ext cx="2743200" cy="9144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100" b="1">
                <a:solidFill>
                  <a:srgbClr val="007B83"/>
                </a:solidFill>
              </a:defRPr>
            </a:pPr>
            <a:r>
              <a:rPr sz="1600"/>
              <a:t>X1: Brief MBRP + TAU</a:t>
            </a:r>
          </a:p>
          <a:p>
            <a:pPr>
              <a:defRPr sz="1000">
                <a:solidFill>
                  <a:srgbClr val="007B83"/>
                </a:solidFill>
              </a:defRPr>
            </a:pPr>
            <a:r>
              <a:rPr sz="1600"/>
              <a:t>6 sessions / 3 weeks</a:t>
            </a:r>
          </a:p>
        </p:txBody>
      </p:sp>
      <p:sp>
        <p:nvSpPr>
          <p:cNvPr id="13" name="Rounded Rectangle 12"/>
          <p:cNvSpPr/>
          <p:nvPr/>
        </p:nvSpPr>
        <p:spPr>
          <a:xfrm>
            <a:off x="6126480" y="2468880"/>
            <a:ext cx="2743200" cy="914400"/>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100" b="1">
                <a:solidFill>
                  <a:srgbClr val="F39C12"/>
                </a:solidFill>
              </a:defRPr>
            </a:pPr>
            <a:r>
              <a:rPr sz="1600"/>
              <a:t>X2: Psychoeducation + TAU</a:t>
            </a:r>
          </a:p>
          <a:p>
            <a:pPr>
              <a:defRPr sz="1000">
                <a:solidFill>
                  <a:srgbClr val="F39C12"/>
                </a:solidFill>
              </a:defRPr>
            </a:pPr>
            <a:r>
              <a:rPr sz="1600"/>
              <a:t>6 sessions / 3 weeks</a:t>
            </a:r>
          </a:p>
        </p:txBody>
      </p:sp>
      <p:sp>
        <p:nvSpPr>
          <p:cNvPr id="14" name="Right Arrow 13"/>
          <p:cNvSpPr/>
          <p:nvPr/>
        </p:nvSpPr>
        <p:spPr>
          <a:xfrm>
            <a:off x="8961120" y="2011680"/>
            <a:ext cx="731520" cy="274320"/>
          </a:xfrm>
          <a:prstGeom prst="rightArrow">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5" name="Rounded Rectangle 14"/>
          <p:cNvSpPr/>
          <p:nvPr/>
        </p:nvSpPr>
        <p:spPr>
          <a:xfrm>
            <a:off x="9784080" y="1554480"/>
            <a:ext cx="2011680" cy="1371600"/>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100" b="1">
                <a:solidFill>
                  <a:srgbClr val="1B2A4A"/>
                </a:solidFill>
              </a:defRPr>
            </a:pPr>
            <a:r>
              <a:rPr sz="1600"/>
              <a:t>POST-TEST (O2)</a:t>
            </a:r>
          </a:p>
          <a:p>
            <a:pPr>
              <a:defRPr sz="1000">
                <a:solidFill>
                  <a:srgbClr val="1B2A4A"/>
                </a:solidFill>
              </a:defRPr>
            </a:pPr>
            <a:r>
              <a:rPr sz="1600"/>
              <a:t>OCDUS</a:t>
            </a:r>
          </a:p>
          <a:p>
            <a:pPr>
              <a:defRPr sz="1000">
                <a:solidFill>
                  <a:srgbClr val="1B2A4A"/>
                </a:solidFill>
              </a:defRPr>
            </a:pPr>
            <a:r>
              <a:rPr sz="1600"/>
              <a:t>BIS-11</a:t>
            </a:r>
          </a:p>
          <a:p>
            <a:pPr>
              <a:defRPr sz="1000">
                <a:solidFill>
                  <a:srgbClr val="1B2A4A"/>
                </a:solidFill>
              </a:defRPr>
            </a:pPr>
            <a:r>
              <a:rPr sz="1600"/>
              <a:t>FFMQ</a:t>
            </a:r>
          </a:p>
        </p:txBody>
      </p:sp>
      <p:sp>
        <p:nvSpPr>
          <p:cNvPr id="16" name="TextBox 15"/>
          <p:cNvSpPr txBox="1"/>
          <p:nvPr/>
        </p:nvSpPr>
        <p:spPr>
          <a:xfrm>
            <a:off x="548640" y="4114800"/>
            <a:ext cx="10972800" cy="1323439"/>
          </a:xfrm>
          <a:prstGeom prst="rect">
            <a:avLst/>
          </a:prstGeom>
          <a:noFill/>
        </p:spPr>
        <p:txBody>
          <a:bodyPr wrap="square">
            <a:spAutoFit/>
          </a:bodyPr>
          <a:lstStyle/>
          <a:p>
            <a:pPr>
              <a:defRPr sz="1300" b="1">
                <a:solidFill>
                  <a:srgbClr val="007B83"/>
                </a:solidFill>
              </a:defRPr>
            </a:pPr>
            <a:r>
              <a:rPr sz="1600"/>
              <a:t>R   O1   X1   O2   --&gt;  Experimental Group (Brief MBRP + TAU)</a:t>
            </a:r>
          </a:p>
          <a:p>
            <a:pPr>
              <a:defRPr sz="1300" b="1">
                <a:solidFill>
                  <a:srgbClr val="F39C12"/>
                </a:solidFill>
              </a:defRPr>
            </a:pPr>
            <a:r>
              <a:rPr sz="1600"/>
              <a:t>R   O1   X2   O2   --&gt;  Control Group (Psychoeducation + TAU)</a:t>
            </a:r>
          </a:p>
          <a:p>
            <a:endParaRPr sz="1600"/>
          </a:p>
          <a:p>
            <a:pPr>
              <a:defRPr sz="1100">
                <a:solidFill>
                  <a:srgbClr val="90A4AE"/>
                </a:solidFill>
              </a:defRPr>
            </a:pPr>
            <a:r>
              <a:rPr sz="1600"/>
              <a:t>Features: True experimental design | Active control (attention-matched) | TAU continued for all | Setting: Man Nasha Mukti Kendra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6181629" cy="707886"/>
          </a:xfrm>
          <a:prstGeom prst="rect">
            <a:avLst/>
          </a:prstGeom>
          <a:noFill/>
        </p:spPr>
        <p:txBody>
          <a:bodyPr wrap="none" lIns="91440" tIns="45720" rIns="91440" bIns="45720" anchor="t">
            <a:spAutoFit/>
          </a:bodyPr>
          <a:lstStyle/>
          <a:p>
            <a:pPr algn="l">
              <a:defRPr sz="2200" b="1">
                <a:solidFill>
                  <a:srgbClr val="FFFFFF"/>
                </a:solidFill>
              </a:defRPr>
            </a:pPr>
            <a:r>
              <a:rPr sz="4000"/>
              <a:t>Sample &amp; Sampling Strategy</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18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80160"/>
            <a:ext cx="5029200" cy="1645920"/>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B2A4A"/>
                </a:solidFill>
              </a:defRPr>
            </a:pPr>
            <a:r>
              <a:rPr sz="1600"/>
              <a:t>STAGE 1: PURPOSIVE SELECTION</a:t>
            </a:r>
          </a:p>
          <a:p>
            <a:pPr>
              <a:defRPr sz="1100">
                <a:solidFill>
                  <a:srgbClr val="1B2A4A"/>
                </a:solidFill>
              </a:defRPr>
            </a:pPr>
            <a:r>
              <a:rPr sz="1600"/>
              <a:t>Eligible participants identified based on</a:t>
            </a:r>
          </a:p>
          <a:p>
            <a:pPr>
              <a:defRPr sz="1100">
                <a:solidFill>
                  <a:srgbClr val="1B2A4A"/>
                </a:solidFill>
              </a:defRPr>
            </a:pPr>
            <a:r>
              <a:rPr sz="1600"/>
              <a:t>inclusion/exclusion criteria from patients</a:t>
            </a:r>
          </a:p>
          <a:p>
            <a:pPr>
              <a:defRPr sz="1100">
                <a:solidFill>
                  <a:srgbClr val="1B2A4A"/>
                </a:solidFill>
              </a:defRPr>
            </a:pPr>
            <a:r>
              <a:rPr sz="1600"/>
              <a:t>admitted to Man Nasha Mukti Kendra</a:t>
            </a:r>
          </a:p>
        </p:txBody>
      </p:sp>
      <p:sp>
        <p:nvSpPr>
          <p:cNvPr id="9" name="Right Arrow 8"/>
          <p:cNvSpPr/>
          <p:nvPr/>
        </p:nvSpPr>
        <p:spPr>
          <a:xfrm>
            <a:off x="5669280" y="1828800"/>
            <a:ext cx="731520" cy="274320"/>
          </a:xfrm>
          <a:prstGeom prst="rightArrow">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92240" y="1280160"/>
            <a:ext cx="5029200" cy="164592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007B83"/>
                </a:solidFill>
              </a:defRPr>
            </a:pPr>
            <a:r>
              <a:rPr sz="1600"/>
              <a:t>STAGE 2: RANDOM ASSIGNMENT</a:t>
            </a:r>
          </a:p>
          <a:p>
            <a:pPr>
              <a:defRPr sz="1100">
                <a:solidFill>
                  <a:srgbClr val="007B83"/>
                </a:solidFill>
              </a:defRPr>
            </a:pPr>
            <a:r>
              <a:rPr sz="1600"/>
              <a:t>Computer-generated randomization</a:t>
            </a:r>
          </a:p>
          <a:p>
            <a:pPr>
              <a:defRPr sz="1100">
                <a:solidFill>
                  <a:srgbClr val="007B83"/>
                </a:solidFill>
              </a:defRPr>
            </a:pPr>
            <a:r>
              <a:rPr sz="1600"/>
              <a:t>allocating eligible participants to</a:t>
            </a:r>
          </a:p>
          <a:p>
            <a:pPr>
              <a:defRPr sz="1100">
                <a:solidFill>
                  <a:srgbClr val="007B83"/>
                </a:solidFill>
              </a:defRPr>
            </a:pPr>
            <a:r>
              <a:rPr sz="1600"/>
              <a:t>Experimental (n=30) or Control (n=30)</a:t>
            </a:r>
          </a:p>
        </p:txBody>
      </p:sp>
      <p:sp>
        <p:nvSpPr>
          <p:cNvPr id="11" name="Rounded Rectangle 10"/>
          <p:cNvSpPr/>
          <p:nvPr/>
        </p:nvSpPr>
        <p:spPr>
          <a:xfrm>
            <a:off x="548640" y="3291840"/>
            <a:ext cx="5486400" cy="1097280"/>
          </a:xfrm>
          <a:prstGeom prst="roundRect">
            <a:avLst/>
          </a:prstGeom>
          <a:solidFill>
            <a:srgbClr val="ECEFF1"/>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N = 60 (30 per group) | Recruit 70 (35/group) for attrition</a:t>
            </a:r>
          </a:p>
          <a:p>
            <a:pPr>
              <a:defRPr sz="1100">
                <a:solidFill>
                  <a:srgbClr val="1A232F"/>
                </a:solidFill>
              </a:defRPr>
            </a:pPr>
            <a:r>
              <a:rPr sz="1600"/>
              <a:t>Male | Age 18-50 | Opioid-dependent | Detoxified</a:t>
            </a:r>
          </a:p>
        </p:txBody>
      </p:sp>
      <p:sp>
        <p:nvSpPr>
          <p:cNvPr id="12" name="Rounded Rectangle 11"/>
          <p:cNvSpPr/>
          <p:nvPr/>
        </p:nvSpPr>
        <p:spPr>
          <a:xfrm>
            <a:off x="548640" y="4572000"/>
            <a:ext cx="11064240" cy="1645920"/>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JUSTIFICATION FOR MALE-ONLY SAMPLE</a:t>
            </a:r>
          </a:p>
          <a:p>
            <a:pPr>
              <a:defRPr sz="1100">
                <a:solidFill>
                  <a:srgbClr val="1A232F"/>
                </a:solidFill>
              </a:defRPr>
            </a:pPr>
            <a:r>
              <a:rPr sz="1600"/>
              <a:t>- Indian de-addiction centers (including Man Nasha Mukti Kendra) admit ~90-95% male patients</a:t>
            </a:r>
          </a:p>
          <a:p>
            <a:pPr>
              <a:defRPr sz="1100">
                <a:solidFill>
                  <a:srgbClr val="1A232F"/>
                </a:solidFill>
              </a:defRPr>
            </a:pPr>
            <a:r>
              <a:rPr sz="1600"/>
              <a:t>- MAGNITUDE study reports male:female ratio ~10:1 for opioid dependence in India</a:t>
            </a:r>
          </a:p>
          <a:p>
            <a:pPr>
              <a:defRPr sz="1100">
                <a:solidFill>
                  <a:srgbClr val="1A232F"/>
                </a:solidFill>
              </a:defRPr>
            </a:pPr>
            <a:r>
              <a:rPr sz="1600"/>
              <a:t>- Gender differences in craving, impulsivity, and mindfulness may confound results if mixed sample used</a:t>
            </a:r>
          </a:p>
          <a:p>
            <a:pPr>
              <a:defRPr sz="1100">
                <a:solidFill>
                  <a:srgbClr val="1A232F"/>
                </a:solidFill>
              </a:defRPr>
            </a:pPr>
            <a:r>
              <a:rPr sz="1600"/>
              <a:t>- Homogeneous sample strengthens internal validity for this initial efficacy trial</a:t>
            </a:r>
          </a:p>
          <a:p>
            <a:pPr>
              <a:defRPr sz="1100">
                <a:solidFill>
                  <a:srgbClr val="1A232F"/>
                </a:solidFill>
              </a:defRPr>
            </a:pPr>
            <a:r>
              <a:rPr sz="1600"/>
              <a:t>- Female-specific MBRP studies recommended as future direction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2140330" cy="338554"/>
          </a:xfrm>
          <a:prstGeom prst="rect">
            <a:avLst/>
          </a:prstGeom>
          <a:noFill/>
        </p:spPr>
        <p:txBody>
          <a:bodyPr wrap="none" lIns="91440" tIns="45720" rIns="91440" bIns="45720" anchor="t">
            <a:spAutoFit/>
          </a:bodyPr>
          <a:lstStyle/>
          <a:p>
            <a:pPr algn="l">
              <a:defRPr sz="2200" b="1">
                <a:solidFill>
                  <a:srgbClr val="FFFFFF"/>
                </a:solidFill>
              </a:defRPr>
            </a:pPr>
            <a:r>
              <a:rPr sz="1600"/>
              <a:t>Sample Size Estimation</a:t>
            </a:r>
            <a:endParaRPr lang="en-US" sz="16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19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286000" y="1371600"/>
            <a:ext cx="7589520" cy="914400"/>
          </a:xfrm>
          <a:prstGeom prst="roundRect">
            <a:avLst/>
          </a:prstGeom>
          <a:solidFill>
            <a:srgbClr val="1B2A4A"/>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700" b="1">
                <a:solidFill>
                  <a:srgbClr val="FFFFFF"/>
                </a:solidFill>
              </a:defRPr>
            </a:pPr>
            <a:r>
              <a:rPr sz="1600"/>
              <a:t>n = [(Za/2 + Zb)^2  x  2  x  sigma^2] / d^2</a:t>
            </a:r>
          </a:p>
        </p:txBody>
      </p:sp>
      <p:sp>
        <p:nvSpPr>
          <p:cNvPr id="9" name="Rounded Rectangle 8"/>
          <p:cNvSpPr/>
          <p:nvPr/>
        </p:nvSpPr>
        <p:spPr>
          <a:xfrm>
            <a:off x="548640" y="2560320"/>
            <a:ext cx="5486400" cy="1371600"/>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B2A4A"/>
                </a:solidFill>
              </a:defRPr>
            </a:pPr>
            <a:r>
              <a:rPr sz="1600"/>
              <a:t>PARAMETERS</a:t>
            </a:r>
          </a:p>
          <a:p>
            <a:pPr>
              <a:defRPr sz="1100">
                <a:solidFill>
                  <a:srgbClr val="1B2A4A"/>
                </a:solidFill>
              </a:defRPr>
            </a:pPr>
            <a:r>
              <a:rPr sz="1600"/>
              <a:t>Effect size (d) = 0.50 (medium)</a:t>
            </a:r>
          </a:p>
          <a:p>
            <a:pPr>
              <a:defRPr sz="1100">
                <a:solidFill>
                  <a:srgbClr val="1B2A4A"/>
                </a:solidFill>
              </a:defRPr>
            </a:pPr>
            <a:r>
              <a:rPr sz="1600"/>
              <a:t>Power (1-beta) = 0.80 -&gt; Zb = 0.84</a:t>
            </a:r>
          </a:p>
          <a:p>
            <a:pPr>
              <a:defRPr sz="1100">
                <a:solidFill>
                  <a:srgbClr val="1B2A4A"/>
                </a:solidFill>
              </a:defRPr>
            </a:pPr>
            <a:r>
              <a:rPr sz="1600"/>
              <a:t>Alpha = 0.05 (two-tailed) -&gt; Za/2 = 1.96</a:t>
            </a:r>
          </a:p>
        </p:txBody>
      </p:sp>
      <p:sp>
        <p:nvSpPr>
          <p:cNvPr id="10" name="Rounded Rectangle 9"/>
          <p:cNvSpPr/>
          <p:nvPr/>
        </p:nvSpPr>
        <p:spPr>
          <a:xfrm>
            <a:off x="6217920" y="2560320"/>
            <a:ext cx="5486400" cy="13716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007B83"/>
                </a:solidFill>
              </a:defRPr>
            </a:pPr>
            <a:r>
              <a:rPr sz="1600"/>
              <a:t>CALCULATION</a:t>
            </a:r>
          </a:p>
          <a:p>
            <a:pPr>
              <a:defRPr sz="1100">
                <a:solidFill>
                  <a:srgbClr val="007B83"/>
                </a:solidFill>
              </a:defRPr>
            </a:pPr>
            <a:r>
              <a:rPr sz="1600"/>
              <a:t>n = [(1.96 + 0.84)^2 x 2 x 1] / (0.50)^2</a:t>
            </a:r>
          </a:p>
          <a:p>
            <a:pPr>
              <a:defRPr sz="1100">
                <a:solidFill>
                  <a:srgbClr val="007B83"/>
                </a:solidFill>
              </a:defRPr>
            </a:pPr>
            <a:r>
              <a:rPr sz="1600"/>
              <a:t>n = [7.84 x 2] / 0.25 = 62.72</a:t>
            </a:r>
          </a:p>
          <a:p>
            <a:pPr>
              <a:defRPr sz="1100">
                <a:solidFill>
                  <a:srgbClr val="007B83"/>
                </a:solidFill>
              </a:defRPr>
            </a:pPr>
            <a:r>
              <a:rPr sz="1600"/>
              <a:t>n ~ 63 total (~32 per group)</a:t>
            </a:r>
          </a:p>
        </p:txBody>
      </p:sp>
      <p:sp>
        <p:nvSpPr>
          <p:cNvPr id="11" name="Rounded Rectangle 10"/>
          <p:cNvSpPr/>
          <p:nvPr/>
        </p:nvSpPr>
        <p:spPr>
          <a:xfrm>
            <a:off x="548640" y="4206240"/>
            <a:ext cx="11064240" cy="1645920"/>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FINAL DECISION: N = 60 (30 per group)</a:t>
            </a:r>
          </a:p>
          <a:p>
            <a:pPr>
              <a:defRPr sz="1100">
                <a:solidFill>
                  <a:srgbClr val="1A232F"/>
                </a:solidFill>
              </a:defRPr>
            </a:pPr>
            <a:r>
              <a:rPr sz="1600"/>
              <a:t>Justification: ANCOVA as primary analysis reduces required n | G*Power 3.1 verification: ANCOVA with 1 covariate -&gt; ~34/group</a:t>
            </a:r>
          </a:p>
          <a:p>
            <a:pPr>
              <a:defRPr sz="1100">
                <a:solidFill>
                  <a:srgbClr val="1A232F"/>
                </a:solidFill>
              </a:defRPr>
            </a:pPr>
            <a:r>
              <a:rPr sz="1600"/>
              <a:t>Recruit 70 total (35/group) to account for ~15% attrition in substance-dependent populations</a:t>
            </a:r>
          </a:p>
          <a:p>
            <a:pPr>
              <a:defRPr sz="1100">
                <a:solidFill>
                  <a:srgbClr val="1A232F"/>
                </a:solidFill>
              </a:defRPr>
            </a:pPr>
            <a:r>
              <a:rPr sz="1600"/>
              <a:t>Consistent with: Glasner-Edwards et al. (2017), Bowen &amp; Marlatt (2009)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3785139" cy="707886"/>
          </a:xfrm>
          <a:prstGeom prst="rect">
            <a:avLst/>
          </a:prstGeom>
          <a:noFill/>
        </p:spPr>
        <p:txBody>
          <a:bodyPr wrap="none" lIns="91440" tIns="45720" rIns="91440" bIns="45720" anchor="t">
            <a:spAutoFit/>
          </a:bodyPr>
          <a:lstStyle/>
          <a:p>
            <a:pPr algn="l">
              <a:defRPr sz="2200" b="1">
                <a:solidFill>
                  <a:srgbClr val="FFFFFF"/>
                </a:solidFill>
              </a:defRPr>
            </a:pPr>
            <a:r>
              <a:rPr sz="4000"/>
              <a:t>Inclusion Criteria</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20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2510944"/>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1. Diagnosis of Substance Dependence as per ICD-10 (F10-F19) / ICD-11 criteria</a:t>
            </a:r>
            <a:endParaRPr lang="en-US" sz="1600">
              <a:ea typeface="Calibri"/>
              <a:cs typeface="Calibri"/>
            </a:endParaRPr>
          </a:p>
          <a:p>
            <a:pPr>
              <a:spcBef>
                <a:spcPts val="500"/>
              </a:spcBef>
              <a:defRPr sz="1300">
                <a:solidFill>
                  <a:srgbClr val="2C3E50"/>
                </a:solidFill>
              </a:defRPr>
            </a:pPr>
            <a:r>
              <a:rPr sz="1600"/>
              <a:t>2. Primary substance: Opioids (heroin, pharmaceutical opioids); polysubstance with primary opioid dependence included</a:t>
            </a:r>
            <a:endParaRPr sz="1600">
              <a:ea typeface="Calibri"/>
              <a:cs typeface="Calibri"/>
            </a:endParaRPr>
          </a:p>
          <a:p>
            <a:pPr>
              <a:spcBef>
                <a:spcPts val="500"/>
              </a:spcBef>
              <a:defRPr sz="1300">
                <a:solidFill>
                  <a:srgbClr val="2C3E50"/>
                </a:solidFill>
              </a:defRPr>
            </a:pPr>
            <a:r>
              <a:rPr sz="1600"/>
              <a:t>3. Male participants aged 18-50 years</a:t>
            </a:r>
            <a:endParaRPr sz="1600">
              <a:ea typeface="Calibri"/>
              <a:cs typeface="Calibri"/>
            </a:endParaRPr>
          </a:p>
          <a:p>
            <a:pPr>
              <a:spcBef>
                <a:spcPts val="500"/>
              </a:spcBef>
              <a:defRPr sz="1300">
                <a:solidFill>
                  <a:srgbClr val="2C3E50"/>
                </a:solidFill>
              </a:defRPr>
            </a:pPr>
            <a:r>
              <a:rPr sz="1600"/>
              <a:t>4. Completed detoxification phase (minimum 7 days post-withdrawal)</a:t>
            </a:r>
            <a:endParaRPr sz="1600">
              <a:ea typeface="Calibri"/>
              <a:cs typeface="Calibri"/>
            </a:endParaRPr>
          </a:p>
          <a:p>
            <a:pPr>
              <a:spcBef>
                <a:spcPts val="500"/>
              </a:spcBef>
              <a:defRPr sz="1300">
                <a:solidFill>
                  <a:srgbClr val="2C3E50"/>
                </a:solidFill>
              </a:defRPr>
            </a:pPr>
            <a:r>
              <a:rPr sz="1600"/>
              <a:t>5. Currently admitted at Man Nasha Mukti Kendra</a:t>
            </a:r>
            <a:endParaRPr sz="1600">
              <a:ea typeface="Calibri"/>
              <a:cs typeface="Calibri"/>
            </a:endParaRPr>
          </a:p>
          <a:p>
            <a:pPr>
              <a:spcBef>
                <a:spcPts val="500"/>
              </a:spcBef>
              <a:defRPr sz="1300">
                <a:solidFill>
                  <a:srgbClr val="2C3E50"/>
                </a:solidFill>
              </a:defRPr>
            </a:pPr>
            <a:r>
              <a:rPr sz="1600"/>
              <a:t>6. Minimum education: 5th standard (ability to comprehend psychometric tools)</a:t>
            </a:r>
            <a:endParaRPr sz="1600">
              <a:ea typeface="Calibri"/>
              <a:cs typeface="Calibri"/>
            </a:endParaRPr>
          </a:p>
          <a:p>
            <a:pPr>
              <a:spcBef>
                <a:spcPts val="500"/>
              </a:spcBef>
              <a:defRPr sz="1300">
                <a:solidFill>
                  <a:srgbClr val="2C3E50"/>
                </a:solidFill>
              </a:defRPr>
            </a:pPr>
            <a:r>
              <a:rPr sz="1600"/>
              <a:t>7. Willingness to provide written informed consent</a:t>
            </a:r>
            <a:endParaRPr sz="1600">
              <a:ea typeface="Calibri"/>
              <a:cs typeface="Calibri"/>
            </a:endParaRPr>
          </a:p>
          <a:p>
            <a:pPr>
              <a:spcBef>
                <a:spcPts val="500"/>
              </a:spcBef>
              <a:defRPr sz="1300">
                <a:solidFill>
                  <a:srgbClr val="2C3E50"/>
                </a:solidFill>
              </a:defRPr>
            </a:pPr>
            <a:r>
              <a:rPr sz="1600"/>
              <a:t>8. Able to attend all 6 intervention sessions during 3-week period</a:t>
            </a:r>
            <a:endParaRPr sz="1600">
              <a:ea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3847079" cy="707886"/>
          </a:xfrm>
          <a:prstGeom prst="rect">
            <a:avLst/>
          </a:prstGeom>
          <a:noFill/>
        </p:spPr>
        <p:txBody>
          <a:bodyPr wrap="none" lIns="91440" tIns="45720" rIns="91440" bIns="45720" anchor="t">
            <a:spAutoFit/>
          </a:bodyPr>
          <a:lstStyle/>
          <a:p>
            <a:pPr algn="l">
              <a:defRPr sz="2200" b="1">
                <a:solidFill>
                  <a:srgbClr val="FFFFFF"/>
                </a:solidFill>
              </a:defRPr>
            </a:pPr>
            <a:r>
              <a:rPr sz="4000"/>
              <a:t>Exclusion Criteria</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21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2200602"/>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1. Severe psychiatric comorbidity: Psychotic disorders, Bipolar I, severe MDE with suicidality</a:t>
            </a:r>
            <a:endParaRPr lang="en-US" sz="1600">
              <a:ea typeface="Calibri"/>
              <a:cs typeface="Calibri"/>
            </a:endParaRPr>
          </a:p>
          <a:p>
            <a:pPr>
              <a:spcBef>
                <a:spcPts val="500"/>
              </a:spcBef>
              <a:defRPr sz="1300">
                <a:solidFill>
                  <a:srgbClr val="2C3E50"/>
                </a:solidFill>
              </a:defRPr>
            </a:pPr>
            <a:r>
              <a:rPr sz="1600"/>
              <a:t>2. Significant cognitive impairment (MMSE &lt; 24) or intellectual disability</a:t>
            </a:r>
            <a:endParaRPr sz="1600">
              <a:ea typeface="Calibri"/>
              <a:cs typeface="Calibri"/>
            </a:endParaRPr>
          </a:p>
          <a:p>
            <a:pPr>
              <a:spcBef>
                <a:spcPts val="500"/>
              </a:spcBef>
              <a:defRPr sz="1300">
                <a:solidFill>
                  <a:srgbClr val="2C3E50"/>
                </a:solidFill>
              </a:defRPr>
            </a:pPr>
            <a:r>
              <a:rPr sz="1600"/>
              <a:t>3. Active withdrawal symptoms (COWS score &gt; 12)</a:t>
            </a:r>
            <a:endParaRPr sz="1600">
              <a:ea typeface="Calibri"/>
              <a:cs typeface="Calibri"/>
            </a:endParaRPr>
          </a:p>
          <a:p>
            <a:pPr>
              <a:spcBef>
                <a:spcPts val="500"/>
              </a:spcBef>
              <a:defRPr sz="1300">
                <a:solidFill>
                  <a:srgbClr val="2C3E50"/>
                </a:solidFill>
              </a:defRPr>
            </a:pPr>
            <a:r>
              <a:rPr sz="1600"/>
              <a:t>4. History of traumatic brain injury with LOC &gt; 30 minutes</a:t>
            </a:r>
            <a:endParaRPr sz="1600">
              <a:ea typeface="Calibri"/>
              <a:cs typeface="Calibri"/>
            </a:endParaRPr>
          </a:p>
          <a:p>
            <a:pPr>
              <a:spcBef>
                <a:spcPts val="500"/>
              </a:spcBef>
              <a:defRPr sz="1300">
                <a:solidFill>
                  <a:srgbClr val="2C3E50"/>
                </a:solidFill>
              </a:defRPr>
            </a:pPr>
            <a:r>
              <a:rPr sz="1600"/>
              <a:t>5. Current participation in another structured psychological intervention study</a:t>
            </a:r>
            <a:endParaRPr sz="1600">
              <a:ea typeface="Calibri"/>
              <a:cs typeface="Calibri"/>
            </a:endParaRPr>
          </a:p>
          <a:p>
            <a:pPr>
              <a:spcBef>
                <a:spcPts val="500"/>
              </a:spcBef>
              <a:defRPr sz="1300">
                <a:solidFill>
                  <a:srgbClr val="2C3E50"/>
                </a:solidFill>
              </a:defRPr>
            </a:pPr>
            <a:r>
              <a:rPr sz="1600"/>
              <a:t>6. Medical instability requiring acute/intensive care</a:t>
            </a:r>
            <a:endParaRPr sz="1600">
              <a:ea typeface="Calibri"/>
              <a:cs typeface="Calibri"/>
            </a:endParaRPr>
          </a:p>
          <a:p>
            <a:pPr>
              <a:spcBef>
                <a:spcPts val="500"/>
              </a:spcBef>
              <a:defRPr sz="1300">
                <a:solidFill>
                  <a:srgbClr val="2C3E50"/>
                </a:solidFill>
              </a:defRPr>
            </a:pPr>
            <a:r>
              <a:rPr sz="1600"/>
              <a:t>7. History of prior formal mindfulness/meditation training exceeding 1 month</a:t>
            </a:r>
            <a:endParaRPr sz="1600">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965201" cy="338554"/>
          </a:xfrm>
          <a:prstGeom prst="rect">
            <a:avLst/>
          </a:prstGeom>
          <a:noFill/>
        </p:spPr>
        <p:txBody>
          <a:bodyPr wrap="none" lIns="91440" tIns="45720" rIns="91440" bIns="45720" anchor="t">
            <a:spAutoFit/>
          </a:bodyPr>
          <a:lstStyle/>
          <a:p>
            <a:pPr algn="l">
              <a:defRPr sz="2200" b="1">
                <a:solidFill>
                  <a:srgbClr val="FFFFFF"/>
                </a:solidFill>
              </a:defRPr>
            </a:pPr>
            <a:r>
              <a:rPr sz="1600"/>
              <a:t>Variables</a:t>
            </a:r>
            <a:endParaRPr lang="en-US" sz="16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22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80160"/>
            <a:ext cx="11064240" cy="118872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300" b="1">
                <a:solidFill>
                  <a:srgbClr val="1B2A4A"/>
                </a:solidFill>
              </a:defRPr>
            </a:pPr>
            <a:r>
              <a:rPr sz="1600"/>
              <a:t>INDEPENDENT VARIABLE (IV): Type of Intervention</a:t>
            </a:r>
          </a:p>
          <a:p>
            <a:pPr>
              <a:defRPr sz="1200">
                <a:solidFill>
                  <a:srgbClr val="1B2A4A"/>
                </a:solidFill>
              </a:defRPr>
            </a:pPr>
            <a:r>
              <a:rPr sz="1600"/>
              <a:t>Level 1: Brief MBRP + TAU (Experimental Group)  |  Level 2: Psychoeducation + TAU (Control Group)</a:t>
            </a:r>
          </a:p>
        </p:txBody>
      </p:sp>
      <p:sp>
        <p:nvSpPr>
          <p:cNvPr id="9" name="Rounded Rectangle 8"/>
          <p:cNvSpPr/>
          <p:nvPr/>
        </p:nvSpPr>
        <p:spPr>
          <a:xfrm>
            <a:off x="548640" y="2743200"/>
            <a:ext cx="3474720" cy="1371600"/>
          </a:xfrm>
          <a:prstGeom prst="roundRect">
            <a:avLst/>
          </a:prstGeom>
          <a:solidFill>
            <a:srgbClr val="FDEDEC"/>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E74C3C"/>
                </a:solidFill>
              </a:defRPr>
            </a:pPr>
            <a:r>
              <a:rPr sz="1600"/>
              <a:t>DV 1: CRAVING</a:t>
            </a:r>
          </a:p>
          <a:p>
            <a:pPr>
              <a:defRPr sz="1100">
                <a:solidFill>
                  <a:srgbClr val="E74C3C"/>
                </a:solidFill>
              </a:defRPr>
            </a:pPr>
            <a:r>
              <a:rPr sz="1600"/>
              <a:t>Measured by OCDUS</a:t>
            </a:r>
          </a:p>
          <a:p>
            <a:pPr>
              <a:defRPr sz="1100">
                <a:solidFill>
                  <a:srgbClr val="E74C3C"/>
                </a:solidFill>
              </a:defRPr>
            </a:pPr>
            <a:r>
              <a:rPr sz="1600"/>
              <a:t>(Obsessive Compulsive</a:t>
            </a:r>
          </a:p>
          <a:p>
            <a:pPr>
              <a:defRPr sz="1100">
                <a:solidFill>
                  <a:srgbClr val="E74C3C"/>
                </a:solidFill>
              </a:defRPr>
            </a:pPr>
            <a:r>
              <a:rPr sz="1600"/>
              <a:t>Drug Use Scale)</a:t>
            </a:r>
          </a:p>
        </p:txBody>
      </p:sp>
      <p:sp>
        <p:nvSpPr>
          <p:cNvPr id="10" name="Rounded Rectangle 9"/>
          <p:cNvSpPr/>
          <p:nvPr/>
        </p:nvSpPr>
        <p:spPr>
          <a:xfrm>
            <a:off x="4297680" y="2743200"/>
            <a:ext cx="3474720" cy="1371600"/>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F39C12"/>
                </a:solidFill>
              </a:defRPr>
            </a:pPr>
            <a:r>
              <a:rPr sz="1600"/>
              <a:t>DV 2: IMPULSIVITY</a:t>
            </a:r>
          </a:p>
          <a:p>
            <a:pPr>
              <a:defRPr sz="1100">
                <a:solidFill>
                  <a:srgbClr val="F39C12"/>
                </a:solidFill>
              </a:defRPr>
            </a:pPr>
            <a:r>
              <a:rPr sz="1600"/>
              <a:t>Measured by BIS-11</a:t>
            </a:r>
          </a:p>
          <a:p>
            <a:pPr>
              <a:defRPr sz="1100">
                <a:solidFill>
                  <a:srgbClr val="F39C12"/>
                </a:solidFill>
              </a:defRPr>
            </a:pPr>
            <a:r>
              <a:rPr sz="1600"/>
              <a:t>(Barratt Impulsiveness</a:t>
            </a:r>
          </a:p>
          <a:p>
            <a:pPr>
              <a:defRPr sz="1100">
                <a:solidFill>
                  <a:srgbClr val="F39C12"/>
                </a:solidFill>
              </a:defRPr>
            </a:pPr>
            <a:r>
              <a:rPr sz="1600"/>
              <a:t>Scale)</a:t>
            </a:r>
          </a:p>
        </p:txBody>
      </p:sp>
      <p:sp>
        <p:nvSpPr>
          <p:cNvPr id="11" name="Rounded Rectangle 10"/>
          <p:cNvSpPr/>
          <p:nvPr/>
        </p:nvSpPr>
        <p:spPr>
          <a:xfrm>
            <a:off x="8046720" y="2743200"/>
            <a:ext cx="3474720" cy="13716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27AE60"/>
                </a:solidFill>
              </a:defRPr>
            </a:pPr>
            <a:r>
              <a:rPr sz="1600"/>
              <a:t>DV 3: MINDFULNESS</a:t>
            </a:r>
          </a:p>
          <a:p>
            <a:pPr>
              <a:defRPr sz="1100">
                <a:solidFill>
                  <a:srgbClr val="27AE60"/>
                </a:solidFill>
              </a:defRPr>
            </a:pPr>
            <a:r>
              <a:rPr sz="1600"/>
              <a:t>Measured by FFMQ</a:t>
            </a:r>
          </a:p>
          <a:p>
            <a:pPr>
              <a:defRPr sz="1100">
                <a:solidFill>
                  <a:srgbClr val="27AE60"/>
                </a:solidFill>
              </a:defRPr>
            </a:pPr>
            <a:r>
              <a:rPr sz="1600"/>
              <a:t>(Five Facet Mindfulness</a:t>
            </a:r>
          </a:p>
          <a:p>
            <a:pPr>
              <a:defRPr sz="1100">
                <a:solidFill>
                  <a:srgbClr val="27AE60"/>
                </a:solidFill>
              </a:defRPr>
            </a:pPr>
            <a:r>
              <a:rPr sz="1600"/>
              <a:t>Questionnaire)</a:t>
            </a:r>
          </a:p>
        </p:txBody>
      </p:sp>
      <p:sp>
        <p:nvSpPr>
          <p:cNvPr id="12" name="Rounded Rectangle 11"/>
          <p:cNvSpPr/>
          <p:nvPr/>
        </p:nvSpPr>
        <p:spPr>
          <a:xfrm>
            <a:off x="548640" y="4389120"/>
            <a:ext cx="11064240" cy="914400"/>
          </a:xfrm>
          <a:prstGeom prst="roundRect">
            <a:avLst/>
          </a:prstGeom>
          <a:solidFill>
            <a:srgbClr val="ECEFF1"/>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2C3E50"/>
                </a:solidFill>
              </a:defRPr>
            </a:pPr>
            <a:r>
              <a:rPr sz="1600"/>
              <a:t>CONTROLLED VARIABLES: Age, education, duration of use, severity (ASSIST baseline), TAU components constant, session duration equalized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9310177" cy="707886"/>
          </a:xfrm>
          <a:prstGeom prst="rect">
            <a:avLst/>
          </a:prstGeom>
          <a:noFill/>
        </p:spPr>
        <p:txBody>
          <a:bodyPr wrap="none" lIns="91440" tIns="45720" rIns="91440" bIns="45720" anchor="t">
            <a:spAutoFit/>
          </a:bodyPr>
          <a:lstStyle/>
          <a:p>
            <a:pPr algn="l">
              <a:defRPr sz="2200" b="1">
                <a:solidFill>
                  <a:srgbClr val="FFFFFF"/>
                </a:solidFill>
              </a:defRPr>
            </a:pPr>
            <a:r>
              <a:rPr sz="4000"/>
              <a:t>Tools: Mindfulness &amp; Impulsivity Measures</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23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2821285"/>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1. FIVE FACET MINDFULNESS QUESTIONNAIRE (FFMQ) - Baer et al. (2006)</a:t>
            </a:r>
            <a:endParaRPr lang="en-US" sz="1600">
              <a:ea typeface="Calibri"/>
              <a:cs typeface="Calibri"/>
            </a:endParaRPr>
          </a:p>
          <a:p>
            <a:pPr>
              <a:spcBef>
                <a:spcPts val="500"/>
              </a:spcBef>
              <a:defRPr sz="1300">
                <a:solidFill>
                  <a:srgbClr val="2C3E50"/>
                </a:solidFill>
              </a:defRPr>
            </a:pPr>
            <a:r>
              <a:rPr sz="1600"/>
              <a:t>   39 items | 5 facets: Observing, Describing, Acting with Awareness, Non-Judging, Non-Reactivity</a:t>
            </a:r>
            <a:endParaRPr sz="1600">
              <a:ea typeface="Calibri"/>
              <a:cs typeface="Calibri"/>
            </a:endParaRPr>
          </a:p>
          <a:p>
            <a:pPr>
              <a:spcBef>
                <a:spcPts val="500"/>
              </a:spcBef>
              <a:defRPr sz="1300">
                <a:solidFill>
                  <a:srgbClr val="2C3E50"/>
                </a:solidFill>
              </a:defRPr>
            </a:pPr>
            <a:r>
              <a:rPr sz="1600"/>
              <a:t>   5-point Likert (1-5) | Higher = greater mindfulness</a:t>
            </a:r>
            <a:endParaRPr sz="1600">
              <a:ea typeface="Calibri"/>
              <a:cs typeface="Calibri"/>
            </a:endParaRPr>
          </a:p>
          <a:p>
            <a:pPr>
              <a:spcBef>
                <a:spcPts val="500"/>
              </a:spcBef>
              <a:defRPr sz="1300">
                <a:solidFill>
                  <a:srgbClr val="2C3E50"/>
                </a:solidFill>
              </a:defRPr>
            </a:pPr>
            <a:r>
              <a:rPr sz="1600"/>
              <a:t>   Reliability: alpha = 0.75-0.91 | Validity: Convergent + sensitive to intervention | Hindi adaptation available</a:t>
            </a:r>
            <a:endParaRPr sz="1600">
              <a:ea typeface="Calibri"/>
              <a:cs typeface="Calibri"/>
            </a:endParaRPr>
          </a:p>
          <a:p>
            <a:pPr>
              <a:spcBef>
                <a:spcPts val="500"/>
              </a:spcBef>
              <a:defRPr sz="1300">
                <a:solidFill>
                  <a:srgbClr val="2C3E50"/>
                </a:solidFill>
              </a:defRPr>
            </a:pPr>
            <a:endParaRPr sz="1600" dirty="0">
              <a:ea typeface="Calibri"/>
              <a:cs typeface="Calibri"/>
            </a:endParaRPr>
          </a:p>
          <a:p>
            <a:pPr>
              <a:spcBef>
                <a:spcPts val="500"/>
              </a:spcBef>
              <a:defRPr sz="1300">
                <a:solidFill>
                  <a:srgbClr val="2C3E50"/>
                </a:solidFill>
              </a:defRPr>
            </a:pPr>
            <a:r>
              <a:rPr sz="1600"/>
              <a:t>2. BARRATT IMPULSIVENESS SCALE (BIS-11) - Patton et al. (1995)</a:t>
            </a:r>
            <a:endParaRPr sz="1600">
              <a:ea typeface="Calibri"/>
              <a:cs typeface="Calibri"/>
            </a:endParaRPr>
          </a:p>
          <a:p>
            <a:pPr>
              <a:spcBef>
                <a:spcPts val="500"/>
              </a:spcBef>
              <a:defRPr sz="1300">
                <a:solidFill>
                  <a:srgbClr val="2C3E50"/>
                </a:solidFill>
              </a:defRPr>
            </a:pPr>
            <a:r>
              <a:rPr sz="1600"/>
              <a:t>   30 items | 3 factors: Attentional, Motor, Non-Planning Impulsivity</a:t>
            </a:r>
            <a:endParaRPr sz="1600">
              <a:ea typeface="Calibri"/>
              <a:cs typeface="Calibri"/>
            </a:endParaRPr>
          </a:p>
          <a:p>
            <a:pPr>
              <a:spcBef>
                <a:spcPts val="500"/>
              </a:spcBef>
              <a:defRPr sz="1300">
                <a:solidFill>
                  <a:srgbClr val="2C3E50"/>
                </a:solidFill>
              </a:defRPr>
            </a:pPr>
            <a:r>
              <a:rPr sz="1600"/>
              <a:t>   4-point scale (1-4) | Higher = greater impulsivity</a:t>
            </a:r>
            <a:endParaRPr sz="1600">
              <a:ea typeface="Calibri"/>
              <a:cs typeface="Calibri"/>
            </a:endParaRPr>
          </a:p>
          <a:p>
            <a:pPr>
              <a:spcBef>
                <a:spcPts val="500"/>
              </a:spcBef>
              <a:defRPr sz="1300">
                <a:solidFill>
                  <a:srgbClr val="2C3E50"/>
                </a:solidFill>
              </a:defRPr>
            </a:pPr>
            <a:r>
              <a:rPr sz="1600"/>
              <a:t>   Reliability: alpha = 0.79-0.83; test-retest r = 0.83 | Discriminates SUD from controls | Hindi validated</a:t>
            </a:r>
            <a:endParaRPr sz="1600">
              <a:ea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7644785" cy="707886"/>
          </a:xfrm>
          <a:prstGeom prst="rect">
            <a:avLst/>
          </a:prstGeom>
          <a:noFill/>
        </p:spPr>
        <p:txBody>
          <a:bodyPr wrap="none" lIns="91440" tIns="45720" rIns="91440" bIns="45720" anchor="t">
            <a:spAutoFit/>
          </a:bodyPr>
          <a:lstStyle/>
          <a:p>
            <a:pPr algn="l">
              <a:defRPr sz="2200" b="1">
                <a:solidFill>
                  <a:srgbClr val="FFFFFF"/>
                </a:solidFill>
              </a:defRPr>
            </a:pPr>
            <a:r>
              <a:rPr sz="4000"/>
              <a:t>Tools: Craving Assessment - OCDUS</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24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3067506"/>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OBSESSIVE COMPULSIVE DRUG USE SCALE (OCDUS) - Franken et al. (2002)</a:t>
            </a:r>
            <a:endParaRPr lang="en-US" sz="1600">
              <a:ea typeface="Calibri"/>
              <a:cs typeface="Calibri"/>
            </a:endParaRPr>
          </a:p>
          <a:p>
            <a:pPr>
              <a:spcBef>
                <a:spcPts val="500"/>
              </a:spcBef>
              <a:defRPr sz="1300">
                <a:solidFill>
                  <a:srgbClr val="2C3E50"/>
                </a:solidFill>
              </a:defRPr>
            </a:pPr>
            <a:endParaRPr sz="1600" dirty="0">
              <a:ea typeface="Calibri"/>
              <a:cs typeface="Calibri"/>
            </a:endParaRPr>
          </a:p>
          <a:p>
            <a:pPr>
              <a:spcBef>
                <a:spcPts val="500"/>
              </a:spcBef>
              <a:defRPr sz="1300">
                <a:solidFill>
                  <a:srgbClr val="2C3E50"/>
                </a:solidFill>
              </a:defRPr>
            </a:pPr>
            <a:r>
              <a:rPr sz="1600"/>
              <a:t>Description: 12-item self-report measuring obsessive thoughts about drug use and compulsive urges</a:t>
            </a:r>
            <a:endParaRPr sz="1600">
              <a:ea typeface="Calibri"/>
              <a:cs typeface="Calibri"/>
            </a:endParaRPr>
          </a:p>
          <a:p>
            <a:pPr>
              <a:spcBef>
                <a:spcPts val="500"/>
              </a:spcBef>
              <a:defRPr sz="1300">
                <a:solidFill>
                  <a:srgbClr val="2C3E50"/>
                </a:solidFill>
              </a:defRPr>
            </a:pPr>
            <a:r>
              <a:rPr sz="1600"/>
              <a:t>Scoring: 5-point scale (0-4) | Total range: 0-48 | Higher = greater craving</a:t>
            </a:r>
            <a:endParaRPr sz="1600">
              <a:ea typeface="Calibri"/>
              <a:cs typeface="Calibri"/>
            </a:endParaRPr>
          </a:p>
          <a:p>
            <a:pPr>
              <a:spcBef>
                <a:spcPts val="500"/>
              </a:spcBef>
              <a:defRPr sz="1300">
                <a:solidFill>
                  <a:srgbClr val="2C3E50"/>
                </a:solidFill>
              </a:defRPr>
            </a:pPr>
            <a:r>
              <a:rPr sz="1600"/>
              <a:t>Subscales: (1) Obsessive thoughts/interference, (2) Desire/control, (3) Resistance to thoughts</a:t>
            </a:r>
            <a:endParaRPr sz="1600">
              <a:ea typeface="Calibri"/>
              <a:cs typeface="Calibri"/>
            </a:endParaRPr>
          </a:p>
          <a:p>
            <a:pPr>
              <a:spcBef>
                <a:spcPts val="500"/>
              </a:spcBef>
              <a:defRPr sz="1300">
                <a:solidFill>
                  <a:srgbClr val="2C3E50"/>
                </a:solidFill>
              </a:defRPr>
            </a:pPr>
            <a:r>
              <a:rPr sz="1600"/>
              <a:t>Reliability: Internal consistency alpha = 0.86-0.90; test-retest r = 0.78</a:t>
            </a:r>
            <a:endParaRPr sz="1600">
              <a:ea typeface="Calibri"/>
              <a:cs typeface="Calibri"/>
            </a:endParaRPr>
          </a:p>
          <a:p>
            <a:pPr>
              <a:spcBef>
                <a:spcPts val="500"/>
              </a:spcBef>
              <a:defRPr sz="1300">
                <a:solidFill>
                  <a:srgbClr val="2C3E50"/>
                </a:solidFill>
              </a:defRPr>
            </a:pPr>
            <a:r>
              <a:rPr sz="1600"/>
              <a:t>Validity: Convergent with VAS craving (r = 0.55-0.67); predicts relapse; sensitive to treatment changes</a:t>
            </a:r>
            <a:endParaRPr sz="1600">
              <a:ea typeface="Calibri"/>
              <a:cs typeface="Calibri"/>
            </a:endParaRPr>
          </a:p>
          <a:p>
            <a:pPr>
              <a:spcBef>
                <a:spcPts val="500"/>
              </a:spcBef>
              <a:defRPr sz="1300">
                <a:solidFill>
                  <a:srgbClr val="2C3E50"/>
                </a:solidFill>
              </a:defRPr>
            </a:pPr>
            <a:r>
              <a:rPr sz="1600"/>
              <a:t>Indian Usability: Applicable to Indian SUD populations; adaptable for Hindi; brief (5 min); suitable for pre-post</a:t>
            </a:r>
            <a:endParaRPr sz="1600">
              <a:ea typeface="Calibri"/>
              <a:cs typeface="Calibri"/>
            </a:endParaRPr>
          </a:p>
          <a:p>
            <a:pPr>
              <a:spcBef>
                <a:spcPts val="500"/>
              </a:spcBef>
              <a:defRPr sz="1300">
                <a:solidFill>
                  <a:srgbClr val="2C3E50"/>
                </a:solidFill>
              </a:defRPr>
            </a:pPr>
            <a:r>
              <a:rPr sz="1600"/>
              <a:t>Justification: Captures both cognitive (obsessive) and behavioral (compulsive) craving dimensions; applicable across substances including opioids</a:t>
            </a:r>
            <a:endParaRPr sz="1600">
              <a:ea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10948703" cy="707886"/>
          </a:xfrm>
          <a:prstGeom prst="rect">
            <a:avLst/>
          </a:prstGeom>
          <a:noFill/>
        </p:spPr>
        <p:txBody>
          <a:bodyPr wrap="none" lIns="91440" tIns="45720" rIns="91440" bIns="45720" anchor="t">
            <a:spAutoFit/>
          </a:bodyPr>
          <a:lstStyle/>
          <a:p>
            <a:pPr algn="l">
              <a:defRPr sz="2200" b="1">
                <a:solidFill>
                  <a:srgbClr val="FFFFFF"/>
                </a:solidFill>
              </a:defRPr>
            </a:pPr>
            <a:r>
              <a:rPr sz="4000"/>
              <a:t>Tools: Severity Assessment - ASSIST (Pre-Test Only)</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25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2821285"/>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ALCOHOL, SMOKING AND SUBSTANCE INVOLVEMENT SCREENING TEST (ASSIST) - WHO (2002)</a:t>
            </a:r>
            <a:endParaRPr lang="en-US" sz="1600">
              <a:ea typeface="Calibri"/>
              <a:cs typeface="Calibri"/>
            </a:endParaRPr>
          </a:p>
          <a:p>
            <a:pPr>
              <a:spcBef>
                <a:spcPts val="500"/>
              </a:spcBef>
              <a:defRPr sz="1300">
                <a:solidFill>
                  <a:srgbClr val="2C3E50"/>
                </a:solidFill>
              </a:defRPr>
            </a:pPr>
            <a:endParaRPr sz="1600" dirty="0">
              <a:ea typeface="Calibri"/>
              <a:cs typeface="Calibri"/>
            </a:endParaRPr>
          </a:p>
          <a:p>
            <a:pPr>
              <a:spcBef>
                <a:spcPts val="500"/>
              </a:spcBef>
              <a:defRPr sz="1300">
                <a:solidFill>
                  <a:srgbClr val="2C3E50"/>
                </a:solidFill>
              </a:defRPr>
            </a:pPr>
            <a:r>
              <a:rPr sz="1600"/>
              <a:t>Description: 8-item screening for risk level across 10 substance categories</a:t>
            </a:r>
            <a:endParaRPr sz="1600">
              <a:ea typeface="Calibri"/>
              <a:cs typeface="Calibri"/>
            </a:endParaRPr>
          </a:p>
          <a:p>
            <a:pPr>
              <a:spcBef>
                <a:spcPts val="500"/>
              </a:spcBef>
              <a:defRPr sz="1300">
                <a:solidFill>
                  <a:srgbClr val="2C3E50"/>
                </a:solidFill>
              </a:defRPr>
            </a:pPr>
            <a:r>
              <a:rPr sz="1600"/>
              <a:t>Scoring: Substance-specific risk -&gt; Low (0-3), Moderate (4-26), High (27+)</a:t>
            </a:r>
            <a:endParaRPr sz="1600">
              <a:ea typeface="Calibri"/>
              <a:cs typeface="Calibri"/>
            </a:endParaRPr>
          </a:p>
          <a:p>
            <a:pPr>
              <a:spcBef>
                <a:spcPts val="500"/>
              </a:spcBef>
              <a:defRPr sz="1300">
                <a:solidFill>
                  <a:srgbClr val="2C3E50"/>
                </a:solidFill>
              </a:defRPr>
            </a:pPr>
            <a:r>
              <a:rPr sz="1600"/>
              <a:t>Reliability: Test-retest r = 0.58-0.90; alpha = 0.77-0.94</a:t>
            </a:r>
            <a:endParaRPr sz="1600">
              <a:ea typeface="Calibri"/>
              <a:cs typeface="Calibri"/>
            </a:endParaRPr>
          </a:p>
          <a:p>
            <a:pPr>
              <a:spcBef>
                <a:spcPts val="500"/>
              </a:spcBef>
              <a:defRPr sz="1300">
                <a:solidFill>
                  <a:srgbClr val="2C3E50"/>
                </a:solidFill>
              </a:defRPr>
            </a:pPr>
            <a:r>
              <a:rPr sz="1600"/>
              <a:t>Validity: Sensitivity = 0.80, Specificity = 0.71 for substance dependence</a:t>
            </a:r>
            <a:endParaRPr sz="1600">
              <a:ea typeface="Calibri"/>
              <a:cs typeface="Calibri"/>
            </a:endParaRPr>
          </a:p>
          <a:p>
            <a:pPr>
              <a:spcBef>
                <a:spcPts val="500"/>
              </a:spcBef>
              <a:defRPr sz="1300">
                <a:solidFill>
                  <a:srgbClr val="2C3E50"/>
                </a:solidFill>
              </a:defRPr>
            </a:pPr>
            <a:r>
              <a:rPr sz="1600"/>
              <a:t>Indian: WHO-validated; Hindi version available; used in NDDTC studies; 5-10 min</a:t>
            </a:r>
            <a:endParaRPr sz="1600">
              <a:ea typeface="Calibri"/>
              <a:cs typeface="Calibri"/>
            </a:endParaRPr>
          </a:p>
          <a:p>
            <a:pPr>
              <a:spcBef>
                <a:spcPts val="500"/>
              </a:spcBef>
              <a:defRPr sz="1300">
                <a:solidFill>
                  <a:srgbClr val="2C3E50"/>
                </a:solidFill>
              </a:defRPr>
            </a:pPr>
            <a:r>
              <a:rPr sz="1600"/>
              <a:t>PURPOSE: Used at PRE-TEST ONLY to establish baseline severity and ensure group equivalence</a:t>
            </a:r>
            <a:endParaRPr sz="1600">
              <a:ea typeface="Calibri"/>
              <a:cs typeface="Calibri"/>
            </a:endParaRPr>
          </a:p>
          <a:p>
            <a:pPr>
              <a:spcBef>
                <a:spcPts val="500"/>
              </a:spcBef>
              <a:defRPr sz="1300">
                <a:solidFill>
                  <a:srgbClr val="2C3E50"/>
                </a:solidFill>
              </a:defRPr>
            </a:pPr>
            <a:r>
              <a:rPr sz="1600"/>
              <a:t>NOT used as an outcome measure</a:t>
            </a:r>
            <a:endParaRPr sz="1600">
              <a:ea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11766811" cy="707886"/>
          </a:xfrm>
          <a:prstGeom prst="rect">
            <a:avLst/>
          </a:prstGeom>
          <a:noFill/>
        </p:spPr>
        <p:txBody>
          <a:bodyPr wrap="none" lIns="91440" tIns="45720" rIns="91440" bIns="45720" anchor="t">
            <a:spAutoFit/>
          </a:bodyPr>
          <a:lstStyle/>
          <a:p>
            <a:pPr algn="l">
              <a:defRPr sz="2200" b="1">
                <a:solidFill>
                  <a:srgbClr val="FFFFFF"/>
                </a:solidFill>
              </a:defRPr>
            </a:pPr>
            <a:r>
              <a:rPr sz="4000"/>
              <a:t>Procedure: Research Flow at Man Nasha Mukti Kendra</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26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74320" y="1371600"/>
            <a:ext cx="1554480" cy="2505165"/>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000" b="1">
                <a:solidFill>
                  <a:srgbClr val="1A232F"/>
                </a:solidFill>
              </a:defRPr>
            </a:pPr>
            <a:r>
              <a:rPr sz="1600"/>
              <a:t>STEP 1: SCREENING</a:t>
            </a:r>
          </a:p>
          <a:p>
            <a:pPr>
              <a:defRPr sz="900">
                <a:solidFill>
                  <a:srgbClr val="1A232F"/>
                </a:solidFill>
              </a:defRPr>
            </a:pPr>
            <a:r>
              <a:rPr sz="1600"/>
              <a:t>Identify eligible male patients</a:t>
            </a:r>
          </a:p>
          <a:p>
            <a:pPr>
              <a:defRPr sz="900">
                <a:solidFill>
                  <a:srgbClr val="1A232F"/>
                </a:solidFill>
              </a:defRPr>
            </a:pPr>
            <a:r>
              <a:rPr sz="1600"/>
              <a:t>(ICD-10, detoxified, criteria met)</a:t>
            </a:r>
          </a:p>
        </p:txBody>
      </p:sp>
      <p:sp>
        <p:nvSpPr>
          <p:cNvPr id="9" name="Right Arrow 8"/>
          <p:cNvSpPr/>
          <p:nvPr/>
        </p:nvSpPr>
        <p:spPr>
          <a:xfrm>
            <a:off x="1874520" y="2194560"/>
            <a:ext cx="274320" cy="286657"/>
          </a:xfrm>
          <a:prstGeom prst="rightArrow">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Rounded Rectangle 9"/>
          <p:cNvSpPr/>
          <p:nvPr/>
        </p:nvSpPr>
        <p:spPr>
          <a:xfrm>
            <a:off x="1920240" y="1371600"/>
            <a:ext cx="1554480" cy="2505165"/>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000" b="1">
                <a:solidFill>
                  <a:srgbClr val="1A232F"/>
                </a:solidFill>
              </a:defRPr>
            </a:pPr>
            <a:r>
              <a:rPr sz="1600"/>
              <a:t>STEP 2: CONSENT</a:t>
            </a:r>
          </a:p>
          <a:p>
            <a:pPr>
              <a:defRPr sz="900">
                <a:solidFill>
                  <a:srgbClr val="1A232F"/>
                </a:solidFill>
              </a:defRPr>
            </a:pPr>
            <a:r>
              <a:rPr sz="1600"/>
              <a:t>Informed consent in Hindi</a:t>
            </a:r>
          </a:p>
          <a:p>
            <a:pPr>
              <a:defRPr sz="900">
                <a:solidFill>
                  <a:srgbClr val="1A232F"/>
                </a:solidFill>
              </a:defRPr>
            </a:pPr>
            <a:r>
              <a:rPr sz="1600"/>
              <a:t>(purpose, procedures, rights)</a:t>
            </a:r>
          </a:p>
        </p:txBody>
      </p:sp>
      <p:sp>
        <p:nvSpPr>
          <p:cNvPr id="11" name="Right Arrow 10"/>
          <p:cNvSpPr/>
          <p:nvPr/>
        </p:nvSpPr>
        <p:spPr>
          <a:xfrm>
            <a:off x="3520440" y="2194560"/>
            <a:ext cx="274320" cy="286657"/>
          </a:xfrm>
          <a:prstGeom prst="rightArrow">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Rounded Rectangle 11"/>
          <p:cNvSpPr/>
          <p:nvPr/>
        </p:nvSpPr>
        <p:spPr>
          <a:xfrm>
            <a:off x="3566160" y="1371600"/>
            <a:ext cx="1554480" cy="2505165"/>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000" b="1">
                <a:solidFill>
                  <a:srgbClr val="1A232F"/>
                </a:solidFill>
              </a:defRPr>
            </a:pPr>
            <a:r>
              <a:rPr sz="1600"/>
              <a:t>STEP 3: PRE-TEST</a:t>
            </a:r>
          </a:p>
          <a:p>
            <a:pPr>
              <a:defRPr sz="900">
                <a:solidFill>
                  <a:srgbClr val="1A232F"/>
                </a:solidFill>
              </a:defRPr>
            </a:pPr>
            <a:r>
              <a:rPr sz="1600"/>
              <a:t>Administer: ASSIST + OCDUS</a:t>
            </a:r>
          </a:p>
          <a:p>
            <a:pPr>
              <a:defRPr sz="900">
                <a:solidFill>
                  <a:srgbClr val="1A232F"/>
                </a:solidFill>
              </a:defRPr>
            </a:pPr>
            <a:r>
              <a:rPr sz="1600"/>
              <a:t>+ BIS-11 + FFMQ</a:t>
            </a:r>
          </a:p>
        </p:txBody>
      </p:sp>
      <p:sp>
        <p:nvSpPr>
          <p:cNvPr id="13" name="Right Arrow 12"/>
          <p:cNvSpPr/>
          <p:nvPr/>
        </p:nvSpPr>
        <p:spPr>
          <a:xfrm>
            <a:off x="5166360" y="2194560"/>
            <a:ext cx="274320" cy="286657"/>
          </a:xfrm>
          <a:prstGeom prst="rightArrow">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Rounded Rectangle 13"/>
          <p:cNvSpPr/>
          <p:nvPr/>
        </p:nvSpPr>
        <p:spPr>
          <a:xfrm>
            <a:off x="5212080" y="1371600"/>
            <a:ext cx="1554480" cy="2505165"/>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000" b="1">
                <a:solidFill>
                  <a:srgbClr val="1A232F"/>
                </a:solidFill>
              </a:defRPr>
            </a:pPr>
            <a:r>
              <a:rPr sz="1600"/>
              <a:t>STEP 4: RANDOMIZE</a:t>
            </a:r>
          </a:p>
          <a:p>
            <a:pPr>
              <a:defRPr sz="900">
                <a:solidFill>
                  <a:srgbClr val="1A232F"/>
                </a:solidFill>
              </a:defRPr>
            </a:pPr>
            <a:r>
              <a:rPr sz="1600"/>
              <a:t>Computer-generated allocation</a:t>
            </a:r>
          </a:p>
          <a:p>
            <a:pPr>
              <a:defRPr sz="900">
                <a:solidFill>
                  <a:srgbClr val="1A232F"/>
                </a:solidFill>
              </a:defRPr>
            </a:pPr>
            <a:r>
              <a:rPr sz="1600"/>
              <a:t>-&gt; Experimental vs. Control</a:t>
            </a:r>
          </a:p>
        </p:txBody>
      </p:sp>
      <p:sp>
        <p:nvSpPr>
          <p:cNvPr id="15" name="Right Arrow 14"/>
          <p:cNvSpPr/>
          <p:nvPr/>
        </p:nvSpPr>
        <p:spPr>
          <a:xfrm>
            <a:off x="6812280" y="2194560"/>
            <a:ext cx="274320" cy="286657"/>
          </a:xfrm>
          <a:prstGeom prst="rightArrow">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Rounded Rectangle 15"/>
          <p:cNvSpPr/>
          <p:nvPr/>
        </p:nvSpPr>
        <p:spPr>
          <a:xfrm>
            <a:off x="6858000" y="1371600"/>
            <a:ext cx="1554480" cy="2505165"/>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bIns="45720" rtlCol="0" anchor="ctr"/>
          <a:lstStyle/>
          <a:p>
            <a:pPr algn="ctr">
              <a:defRPr sz="1000" b="1">
                <a:solidFill>
                  <a:srgbClr val="1A232F"/>
                </a:solidFill>
              </a:defRPr>
            </a:pPr>
            <a:r>
              <a:rPr sz="1600"/>
              <a:t>STEP 5: INTERVENTION</a:t>
            </a:r>
          </a:p>
          <a:p>
            <a:pPr>
              <a:defRPr sz="900">
                <a:solidFill>
                  <a:srgbClr val="1A232F"/>
                </a:solidFill>
              </a:defRPr>
            </a:pPr>
            <a:r>
              <a:rPr sz="1600" dirty="0"/>
              <a:t>MBRP </a:t>
            </a:r>
            <a:r>
              <a:rPr sz="1600"/>
              <a:t>(</a:t>
            </a:r>
            <a:r>
              <a:rPr lang="en-US" sz="1600"/>
              <a:t>6x45min</a:t>
            </a:r>
            <a:r>
              <a:rPr sz="1600"/>
              <a:t>, </a:t>
            </a:r>
            <a:r>
              <a:rPr sz="1600" dirty="0"/>
              <a:t>3wks) OR</a:t>
            </a:r>
            <a:endParaRPr sz="1600" dirty="0">
              <a:ea typeface="Calibri"/>
              <a:cs typeface="Calibri"/>
            </a:endParaRPr>
          </a:p>
          <a:p>
            <a:pPr>
              <a:defRPr sz="900">
                <a:solidFill>
                  <a:srgbClr val="1A232F"/>
                </a:solidFill>
              </a:defRPr>
            </a:pPr>
            <a:r>
              <a:rPr sz="1600" dirty="0"/>
              <a:t>Psychoeducation </a:t>
            </a:r>
            <a:r>
              <a:rPr sz="1600"/>
              <a:t>(</a:t>
            </a:r>
            <a:r>
              <a:rPr lang="en-US" sz="1600"/>
              <a:t>6x45min</a:t>
            </a:r>
            <a:r>
              <a:rPr sz="1600"/>
              <a:t>, </a:t>
            </a:r>
            <a:r>
              <a:rPr sz="1600" dirty="0"/>
              <a:t>3wks)</a:t>
            </a:r>
            <a:endParaRPr sz="1600" dirty="0">
              <a:ea typeface="Calibri"/>
              <a:cs typeface="Calibri"/>
            </a:endParaRPr>
          </a:p>
        </p:txBody>
      </p:sp>
      <p:sp>
        <p:nvSpPr>
          <p:cNvPr id="17" name="Right Arrow 16"/>
          <p:cNvSpPr/>
          <p:nvPr/>
        </p:nvSpPr>
        <p:spPr>
          <a:xfrm>
            <a:off x="8458200" y="2194560"/>
            <a:ext cx="274320" cy="286657"/>
          </a:xfrm>
          <a:prstGeom prst="rightArrow">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Rounded Rectangle 17"/>
          <p:cNvSpPr/>
          <p:nvPr/>
        </p:nvSpPr>
        <p:spPr>
          <a:xfrm>
            <a:off x="8503920" y="1371600"/>
            <a:ext cx="1554480" cy="2505165"/>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000" b="1">
                <a:solidFill>
                  <a:srgbClr val="1A232F"/>
                </a:solidFill>
              </a:defRPr>
            </a:pPr>
            <a:r>
              <a:rPr sz="1600"/>
              <a:t>STEP 6: POST-TEST</a:t>
            </a:r>
          </a:p>
          <a:p>
            <a:pPr>
              <a:defRPr sz="900">
                <a:solidFill>
                  <a:srgbClr val="1A232F"/>
                </a:solidFill>
              </a:defRPr>
            </a:pPr>
            <a:r>
              <a:rPr sz="1600"/>
              <a:t>Administer: OCDUS + BIS-11</a:t>
            </a:r>
          </a:p>
          <a:p>
            <a:pPr>
              <a:defRPr sz="900">
                <a:solidFill>
                  <a:srgbClr val="1A232F"/>
                </a:solidFill>
              </a:defRPr>
            </a:pPr>
            <a:r>
              <a:rPr sz="1600"/>
              <a:t>+ FFMQ (within 1 week)</a:t>
            </a:r>
          </a:p>
        </p:txBody>
      </p:sp>
      <p:sp>
        <p:nvSpPr>
          <p:cNvPr id="19" name="Right Arrow 18"/>
          <p:cNvSpPr/>
          <p:nvPr/>
        </p:nvSpPr>
        <p:spPr>
          <a:xfrm>
            <a:off x="10104120" y="2194560"/>
            <a:ext cx="274320" cy="286657"/>
          </a:xfrm>
          <a:prstGeom prst="rightArrow">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0" name="Rounded Rectangle 19"/>
          <p:cNvSpPr/>
          <p:nvPr/>
        </p:nvSpPr>
        <p:spPr>
          <a:xfrm>
            <a:off x="10149840" y="1371600"/>
            <a:ext cx="1554480" cy="2505165"/>
          </a:xfrm>
          <a:prstGeom prst="roundRect">
            <a:avLst/>
          </a:prstGeom>
          <a:solidFill>
            <a:srgbClr val="ECEFF1"/>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000" b="1">
                <a:solidFill>
                  <a:srgbClr val="1A232F"/>
                </a:solidFill>
              </a:defRPr>
            </a:pPr>
            <a:r>
              <a:rPr sz="1600"/>
              <a:t>STEP 7: ANALYSIS</a:t>
            </a:r>
          </a:p>
          <a:p>
            <a:pPr>
              <a:defRPr sz="900">
                <a:solidFill>
                  <a:srgbClr val="1A232F"/>
                </a:solidFill>
              </a:defRPr>
            </a:pPr>
            <a:r>
              <a:rPr sz="1600"/>
              <a:t>Data compilation &amp;</a:t>
            </a:r>
          </a:p>
          <a:p>
            <a:pPr>
              <a:defRPr sz="900">
                <a:solidFill>
                  <a:srgbClr val="1A232F"/>
                </a:solidFill>
              </a:defRPr>
            </a:pPr>
            <a:r>
              <a:rPr sz="1600"/>
              <a:t>statistical analysis</a:t>
            </a:r>
          </a:p>
        </p:txBody>
      </p:sp>
      <p:sp>
        <p:nvSpPr>
          <p:cNvPr id="21" name="TextBox 20"/>
          <p:cNvSpPr txBox="1"/>
          <p:nvPr/>
        </p:nvSpPr>
        <p:spPr>
          <a:xfrm>
            <a:off x="410754" y="4180114"/>
            <a:ext cx="10972800" cy="584775"/>
          </a:xfrm>
          <a:prstGeom prst="rect">
            <a:avLst/>
          </a:prstGeom>
          <a:noFill/>
        </p:spPr>
        <p:txBody>
          <a:bodyPr wrap="square">
            <a:spAutoFit/>
          </a:bodyPr>
          <a:lstStyle/>
          <a:p>
            <a:pPr>
              <a:defRPr sz="1100">
                <a:solidFill>
                  <a:srgbClr val="90A4AE"/>
                </a:solidFill>
              </a:defRPr>
            </a:pPr>
            <a:r>
              <a:rPr sz="1600"/>
              <a:t>Both groups receive TAU (pharmacotherapy, routine counseling) throughout | Assessments by blinded RA | Intervention by MPhil Clinical Psychologist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11690957" cy="707886"/>
          </a:xfrm>
          <a:prstGeom prst="rect">
            <a:avLst/>
          </a:prstGeom>
          <a:noFill/>
        </p:spPr>
        <p:txBody>
          <a:bodyPr wrap="none" lIns="91440" tIns="45720" rIns="91440" bIns="45720" anchor="t">
            <a:spAutoFit/>
          </a:bodyPr>
          <a:lstStyle/>
          <a:p>
            <a:pPr algn="l">
              <a:defRPr sz="2200" b="1">
                <a:solidFill>
                  <a:srgbClr val="FFFFFF"/>
                </a:solidFill>
              </a:defRPr>
            </a:pPr>
            <a:r>
              <a:rPr sz="4000"/>
              <a:t>Intervention: Brief MBRP (6 Sessions / 3 Weeks) + TAU</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27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3657600" cy="18288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S1: Introduction &amp; Autopilot</a:t>
            </a:r>
          </a:p>
          <a:p>
            <a:pPr>
              <a:defRPr sz="1100">
                <a:solidFill>
                  <a:srgbClr val="1A232F"/>
                </a:solidFill>
              </a:defRPr>
            </a:pPr>
            <a:endParaRPr sz="1600"/>
          </a:p>
          <a:p>
            <a:pPr>
              <a:defRPr sz="1100">
                <a:solidFill>
                  <a:srgbClr val="1A232F"/>
                </a:solidFill>
              </a:defRPr>
            </a:pPr>
            <a:r>
              <a:rPr sz="1600"/>
              <a:t>Raisin exercise; automatic patterns</a:t>
            </a:r>
          </a:p>
        </p:txBody>
      </p:sp>
      <p:sp>
        <p:nvSpPr>
          <p:cNvPr id="9" name="Rounded Rectangle 8"/>
          <p:cNvSpPr/>
          <p:nvPr/>
        </p:nvSpPr>
        <p:spPr>
          <a:xfrm>
            <a:off x="4297680" y="1280160"/>
            <a:ext cx="3657600" cy="18288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S2: Triggers &amp; Body Scan</a:t>
            </a:r>
          </a:p>
          <a:p>
            <a:pPr>
              <a:defRPr sz="1100">
                <a:solidFill>
                  <a:srgbClr val="1A232F"/>
                </a:solidFill>
              </a:defRPr>
            </a:pPr>
            <a:endParaRPr sz="1600"/>
          </a:p>
          <a:p>
            <a:pPr>
              <a:defRPr sz="1100">
                <a:solidFill>
                  <a:srgbClr val="1A232F"/>
                </a:solidFill>
              </a:defRPr>
            </a:pPr>
            <a:r>
              <a:rPr sz="1600"/>
              <a:t>Body scan; personal trigger mapping</a:t>
            </a:r>
          </a:p>
        </p:txBody>
      </p:sp>
      <p:sp>
        <p:nvSpPr>
          <p:cNvPr id="10" name="Rounded Rectangle 9"/>
          <p:cNvSpPr/>
          <p:nvPr/>
        </p:nvSpPr>
        <p:spPr>
          <a:xfrm>
            <a:off x="8138160" y="1280160"/>
            <a:ext cx="3657600" cy="18288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S3: Daily Mindfulness &amp; SOBER</a:t>
            </a:r>
          </a:p>
          <a:p>
            <a:pPr>
              <a:defRPr sz="1100">
                <a:solidFill>
                  <a:srgbClr val="1A232F"/>
                </a:solidFill>
              </a:defRPr>
            </a:pPr>
            <a:endParaRPr sz="1600"/>
          </a:p>
          <a:p>
            <a:pPr>
              <a:defRPr sz="1100">
                <a:solidFill>
                  <a:srgbClr val="1A232F"/>
                </a:solidFill>
              </a:defRPr>
            </a:pPr>
            <a:r>
              <a:rPr sz="1600"/>
              <a:t>Breath meditation; SOBER space</a:t>
            </a:r>
          </a:p>
        </p:txBody>
      </p:sp>
      <p:sp>
        <p:nvSpPr>
          <p:cNvPr id="11" name="Rounded Rectangle 10"/>
          <p:cNvSpPr/>
          <p:nvPr/>
        </p:nvSpPr>
        <p:spPr>
          <a:xfrm>
            <a:off x="457200" y="3566160"/>
            <a:ext cx="3657600" cy="18288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S4: Urge Surfing &amp; High-Risk</a:t>
            </a:r>
          </a:p>
          <a:p>
            <a:pPr>
              <a:defRPr sz="1100">
                <a:solidFill>
                  <a:srgbClr val="1A232F"/>
                </a:solidFill>
              </a:defRPr>
            </a:pPr>
            <a:endParaRPr sz="1600"/>
          </a:p>
          <a:p>
            <a:pPr>
              <a:defRPr sz="1100">
                <a:solidFill>
                  <a:srgbClr val="1A232F"/>
                </a:solidFill>
              </a:defRPr>
            </a:pPr>
            <a:r>
              <a:rPr sz="1600"/>
              <a:t>Urge surfing; decentering</a:t>
            </a:r>
          </a:p>
        </p:txBody>
      </p:sp>
      <p:sp>
        <p:nvSpPr>
          <p:cNvPr id="12" name="Rounded Rectangle 11"/>
          <p:cNvSpPr/>
          <p:nvPr/>
        </p:nvSpPr>
        <p:spPr>
          <a:xfrm>
            <a:off x="4297680" y="3566160"/>
            <a:ext cx="3657600" cy="18288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S5: Acceptance &amp; Non-Judgment</a:t>
            </a:r>
          </a:p>
          <a:p>
            <a:pPr>
              <a:defRPr sz="1100">
                <a:solidFill>
                  <a:srgbClr val="1A232F"/>
                </a:solidFill>
              </a:defRPr>
            </a:pPr>
            <a:endParaRPr sz="1600"/>
          </a:p>
          <a:p>
            <a:pPr>
              <a:defRPr sz="1100">
                <a:solidFill>
                  <a:srgbClr val="1A232F"/>
                </a:solidFill>
              </a:defRPr>
            </a:pPr>
            <a:r>
              <a:rPr sz="1600"/>
              <a:t>Non-reactive awareness; skillful action</a:t>
            </a:r>
          </a:p>
        </p:txBody>
      </p:sp>
      <p:sp>
        <p:nvSpPr>
          <p:cNvPr id="13" name="Rounded Rectangle 12"/>
          <p:cNvSpPr/>
          <p:nvPr/>
        </p:nvSpPr>
        <p:spPr>
          <a:xfrm>
            <a:off x="8138160" y="3566160"/>
            <a:ext cx="3657600" cy="18288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S6: Integration &amp; Maintenance</a:t>
            </a:r>
          </a:p>
          <a:p>
            <a:pPr>
              <a:defRPr sz="1100">
                <a:solidFill>
                  <a:srgbClr val="1A232F"/>
                </a:solidFill>
              </a:defRPr>
            </a:pPr>
            <a:endParaRPr sz="1600"/>
          </a:p>
          <a:p>
            <a:pPr>
              <a:defRPr sz="1100">
                <a:solidFill>
                  <a:srgbClr val="1A232F"/>
                </a:solidFill>
              </a:defRPr>
            </a:pPr>
            <a:r>
              <a:rPr sz="1600"/>
              <a:t>Loving-kindness; relapse prevention plan</a:t>
            </a:r>
          </a:p>
        </p:txBody>
      </p:sp>
      <p:sp>
        <p:nvSpPr>
          <p:cNvPr id="14" name="TextBox 13"/>
          <p:cNvSpPr txBox="1"/>
          <p:nvPr/>
        </p:nvSpPr>
        <p:spPr>
          <a:xfrm>
            <a:off x="548640" y="6035040"/>
            <a:ext cx="9103454" cy="338554"/>
          </a:xfrm>
          <a:prstGeom prst="rect">
            <a:avLst/>
          </a:prstGeom>
          <a:noFill/>
        </p:spPr>
        <p:txBody>
          <a:bodyPr wrap="none" lIns="91440" tIns="45720" rIns="91440" bIns="45720" anchor="t">
            <a:spAutoFit/>
          </a:bodyPr>
          <a:lstStyle/>
          <a:p>
            <a:pPr>
              <a:defRPr sz="1100">
                <a:solidFill>
                  <a:srgbClr val="90A4AE"/>
                </a:solidFill>
              </a:defRPr>
            </a:pPr>
            <a:r>
              <a:rPr sz="1600"/>
              <a:t>Delivery: Twice weekly | </a:t>
            </a:r>
            <a:r>
              <a:rPr lang="en-US" sz="1600"/>
              <a:t>45 </a:t>
            </a:r>
            <a:r>
              <a:rPr sz="1600"/>
              <a:t>min/session | Group (6-8 participants) | Hindi audio meditations | Practice logs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12859802" cy="707886"/>
          </a:xfrm>
          <a:prstGeom prst="rect">
            <a:avLst/>
          </a:prstGeom>
          <a:noFill/>
        </p:spPr>
        <p:txBody>
          <a:bodyPr wrap="none" lIns="91440" tIns="45720" rIns="91440" bIns="45720" anchor="t">
            <a:spAutoFit/>
          </a:bodyPr>
          <a:lstStyle/>
          <a:p>
            <a:pPr algn="l">
              <a:defRPr sz="2200" b="1">
                <a:solidFill>
                  <a:srgbClr val="FFFFFF"/>
                </a:solidFill>
              </a:defRPr>
            </a:pPr>
            <a:r>
              <a:rPr sz="4000"/>
              <a:t>Intervention: Psychoeducation (6 Sessions / 3 Weeks) + TAU</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28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1280160"/>
            <a:ext cx="3657600" cy="1828800"/>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S1: Understanding Addiction</a:t>
            </a:r>
          </a:p>
          <a:p>
            <a:pPr>
              <a:defRPr sz="1100">
                <a:solidFill>
                  <a:srgbClr val="1A232F"/>
                </a:solidFill>
              </a:defRPr>
            </a:pPr>
            <a:endParaRPr sz="1600"/>
          </a:p>
          <a:p>
            <a:pPr>
              <a:defRPr sz="1100">
                <a:solidFill>
                  <a:srgbClr val="1A232F"/>
                </a:solidFill>
              </a:defRPr>
            </a:pPr>
            <a:r>
              <a:rPr sz="1600"/>
              <a:t>Disease model; brain changes</a:t>
            </a:r>
          </a:p>
        </p:txBody>
      </p:sp>
      <p:sp>
        <p:nvSpPr>
          <p:cNvPr id="9" name="Rounded Rectangle 8"/>
          <p:cNvSpPr/>
          <p:nvPr/>
        </p:nvSpPr>
        <p:spPr>
          <a:xfrm>
            <a:off x="4297680" y="1280160"/>
            <a:ext cx="3657600" cy="1828800"/>
          </a:xfrm>
          <a:prstGeom prst="roundRect">
            <a:avLst/>
          </a:prstGeom>
          <a:solidFill>
            <a:srgbClr val="FAF0DB"/>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S2: Effects of Opioids</a:t>
            </a:r>
          </a:p>
          <a:p>
            <a:pPr>
              <a:defRPr sz="1100">
                <a:solidFill>
                  <a:srgbClr val="1A232F"/>
                </a:solidFill>
              </a:defRPr>
            </a:pPr>
            <a:endParaRPr sz="1600"/>
          </a:p>
          <a:p>
            <a:pPr>
              <a:defRPr sz="1100">
                <a:solidFill>
                  <a:srgbClr val="1A232F"/>
                </a:solidFill>
              </a:defRPr>
            </a:pPr>
            <a:r>
              <a:rPr sz="1600"/>
              <a:t>Physical &amp; psychological consequences</a:t>
            </a:r>
          </a:p>
        </p:txBody>
      </p:sp>
      <p:sp>
        <p:nvSpPr>
          <p:cNvPr id="10" name="Rounded Rectangle 9"/>
          <p:cNvSpPr/>
          <p:nvPr/>
        </p:nvSpPr>
        <p:spPr>
          <a:xfrm>
            <a:off x="8138160" y="1280160"/>
            <a:ext cx="3657600" cy="1828800"/>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S3: Understanding Relapse</a:t>
            </a:r>
          </a:p>
          <a:p>
            <a:pPr>
              <a:defRPr sz="1100">
                <a:solidFill>
                  <a:srgbClr val="1A232F"/>
                </a:solidFill>
              </a:defRPr>
            </a:pPr>
            <a:endParaRPr sz="1600"/>
          </a:p>
          <a:p>
            <a:pPr>
              <a:defRPr sz="1100">
                <a:solidFill>
                  <a:srgbClr val="1A232F"/>
                </a:solidFill>
              </a:defRPr>
            </a:pPr>
            <a:r>
              <a:rPr sz="1600"/>
              <a:t>Warning signs; high-risk situations</a:t>
            </a:r>
          </a:p>
        </p:txBody>
      </p:sp>
      <p:sp>
        <p:nvSpPr>
          <p:cNvPr id="11" name="Rounded Rectangle 10"/>
          <p:cNvSpPr/>
          <p:nvPr/>
        </p:nvSpPr>
        <p:spPr>
          <a:xfrm>
            <a:off x="457200" y="3566160"/>
            <a:ext cx="3657600" cy="1828800"/>
          </a:xfrm>
          <a:prstGeom prst="roundRect">
            <a:avLst/>
          </a:prstGeom>
          <a:solidFill>
            <a:srgbClr val="FAF0DB"/>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S4: Health &amp; Nutrition</a:t>
            </a:r>
          </a:p>
          <a:p>
            <a:pPr>
              <a:defRPr sz="1100">
                <a:solidFill>
                  <a:srgbClr val="1A232F"/>
                </a:solidFill>
              </a:defRPr>
            </a:pPr>
            <a:endParaRPr sz="1600"/>
          </a:p>
          <a:p>
            <a:pPr>
              <a:defRPr sz="1100">
                <a:solidFill>
                  <a:srgbClr val="1A232F"/>
                </a:solidFill>
              </a:defRPr>
            </a:pPr>
            <a:r>
              <a:rPr sz="1600"/>
              <a:t>Physical recovery; sleep hygiene</a:t>
            </a:r>
          </a:p>
        </p:txBody>
      </p:sp>
      <p:sp>
        <p:nvSpPr>
          <p:cNvPr id="12" name="Rounded Rectangle 11"/>
          <p:cNvSpPr/>
          <p:nvPr/>
        </p:nvSpPr>
        <p:spPr>
          <a:xfrm>
            <a:off x="4297680" y="3566160"/>
            <a:ext cx="3657600" cy="1828800"/>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S5: Social Consequences</a:t>
            </a:r>
          </a:p>
          <a:p>
            <a:pPr>
              <a:defRPr sz="1100">
                <a:solidFill>
                  <a:srgbClr val="1A232F"/>
                </a:solidFill>
              </a:defRPr>
            </a:pPr>
            <a:endParaRPr sz="1600"/>
          </a:p>
          <a:p>
            <a:pPr>
              <a:defRPr sz="1100">
                <a:solidFill>
                  <a:srgbClr val="1A232F"/>
                </a:solidFill>
              </a:defRPr>
            </a:pPr>
            <a:r>
              <a:rPr sz="1600"/>
              <a:t>Family; legal; stigma; rehabilitation</a:t>
            </a:r>
          </a:p>
        </p:txBody>
      </p:sp>
      <p:sp>
        <p:nvSpPr>
          <p:cNvPr id="13" name="Rounded Rectangle 12"/>
          <p:cNvSpPr/>
          <p:nvPr/>
        </p:nvSpPr>
        <p:spPr>
          <a:xfrm>
            <a:off x="8138160" y="3566160"/>
            <a:ext cx="3657600" cy="1828800"/>
          </a:xfrm>
          <a:prstGeom prst="roundRect">
            <a:avLst/>
          </a:prstGeom>
          <a:solidFill>
            <a:srgbClr val="FAF0DB"/>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S6: Motivation &amp; Goals</a:t>
            </a:r>
          </a:p>
          <a:p>
            <a:pPr>
              <a:defRPr sz="1100">
                <a:solidFill>
                  <a:srgbClr val="1A232F"/>
                </a:solidFill>
              </a:defRPr>
            </a:pPr>
            <a:endParaRPr sz="1600"/>
          </a:p>
          <a:p>
            <a:pPr>
              <a:defRPr sz="1100">
                <a:solidFill>
                  <a:srgbClr val="1A232F"/>
                </a:solidFill>
              </a:defRPr>
            </a:pPr>
            <a:r>
              <a:rPr sz="1600"/>
              <a:t>Stages of change; recovery planning</a:t>
            </a:r>
          </a:p>
        </p:txBody>
      </p:sp>
      <p:sp>
        <p:nvSpPr>
          <p:cNvPr id="14" name="TextBox 13"/>
          <p:cNvSpPr txBox="1"/>
          <p:nvPr/>
        </p:nvSpPr>
        <p:spPr>
          <a:xfrm>
            <a:off x="548640" y="6035040"/>
            <a:ext cx="10030695" cy="338554"/>
          </a:xfrm>
          <a:prstGeom prst="rect">
            <a:avLst/>
          </a:prstGeom>
          <a:noFill/>
        </p:spPr>
        <p:txBody>
          <a:bodyPr wrap="none">
            <a:spAutoFit/>
          </a:bodyPr>
          <a:lstStyle/>
          <a:p>
            <a:pPr>
              <a:defRPr sz="1100">
                <a:solidFill>
                  <a:srgbClr val="90A4AE"/>
                </a:solidFill>
              </a:defRPr>
            </a:pPr>
            <a:r>
              <a:rPr sz="1600"/>
              <a:t>Active control: Matched for time, format, attention | NO mindfulness component | Handouts + visual aids + discussion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3042628" cy="707886"/>
          </a:xfrm>
          <a:prstGeom prst="rect">
            <a:avLst/>
          </a:prstGeom>
          <a:noFill/>
        </p:spPr>
        <p:txBody>
          <a:bodyPr wrap="none" lIns="91440" tIns="45720" rIns="91440" bIns="45720" anchor="t">
            <a:spAutoFit/>
          </a:bodyPr>
          <a:lstStyle/>
          <a:p>
            <a:pPr algn="l">
              <a:defRPr sz="2200" b="1">
                <a:solidFill>
                  <a:srgbClr val="FFFFFF"/>
                </a:solidFill>
              </a:defRPr>
            </a:pPr>
            <a:r>
              <a:rPr sz="4000"/>
              <a:t>Data Analysis</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29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80160"/>
            <a:ext cx="5303520" cy="1828800"/>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B2A4A"/>
                </a:solidFill>
              </a:defRPr>
            </a:pPr>
            <a:r>
              <a:rPr sz="1600"/>
              <a:t>STATISTICAL TESTS</a:t>
            </a:r>
          </a:p>
          <a:p>
            <a:pPr>
              <a:defRPr sz="1100">
                <a:solidFill>
                  <a:srgbClr val="1B2A4A"/>
                </a:solidFill>
              </a:defRPr>
            </a:pPr>
            <a:r>
              <a:rPr sz="1600"/>
              <a:t>Descriptive: Mean, SD, frequencies</a:t>
            </a:r>
          </a:p>
          <a:p>
            <a:pPr>
              <a:defRPr sz="1100">
                <a:solidFill>
                  <a:srgbClr val="1B2A4A"/>
                </a:solidFill>
              </a:defRPr>
            </a:pPr>
            <a:r>
              <a:rPr sz="1600"/>
              <a:t>Normality: Shapiro-Wilk test</a:t>
            </a:r>
          </a:p>
          <a:p>
            <a:pPr>
              <a:defRPr sz="1100">
                <a:solidFill>
                  <a:srgbClr val="1B2A4A"/>
                </a:solidFill>
              </a:defRPr>
            </a:pPr>
            <a:r>
              <a:rPr sz="1600"/>
              <a:t>Within-group: Paired t-test / Wilcoxon</a:t>
            </a:r>
          </a:p>
          <a:p>
            <a:pPr>
              <a:defRPr sz="1100">
                <a:solidFill>
                  <a:srgbClr val="1B2A4A"/>
                </a:solidFill>
              </a:defRPr>
            </a:pPr>
            <a:r>
              <a:rPr sz="1600"/>
              <a:t>Between-group: Independent t-test / Mann-Whitney</a:t>
            </a:r>
          </a:p>
          <a:p>
            <a:pPr>
              <a:defRPr sz="1100">
                <a:solidFill>
                  <a:srgbClr val="1B2A4A"/>
                </a:solidFill>
              </a:defRPr>
            </a:pPr>
            <a:r>
              <a:rPr sz="1600"/>
              <a:t>Primary: ANCOVA | Effect size: Partial eta^2, Cohen's d</a:t>
            </a:r>
          </a:p>
          <a:p>
            <a:pPr>
              <a:defRPr sz="1100">
                <a:solidFill>
                  <a:srgbClr val="1B2A4A"/>
                </a:solidFill>
              </a:defRPr>
            </a:pPr>
            <a:r>
              <a:rPr sz="1600"/>
              <a:t>Alpha = 0.05 (two-tailed) | Software: SPSS 26.0</a:t>
            </a:r>
          </a:p>
        </p:txBody>
      </p:sp>
      <p:sp>
        <p:nvSpPr>
          <p:cNvPr id="9" name="Rounded Rectangle 8"/>
          <p:cNvSpPr/>
          <p:nvPr/>
        </p:nvSpPr>
        <p:spPr>
          <a:xfrm>
            <a:off x="6035040" y="1280160"/>
            <a:ext cx="5577840" cy="3200400"/>
          </a:xfrm>
          <a:prstGeom prst="roundRect">
            <a:avLst/>
          </a:prstGeom>
          <a:solidFill>
            <a:srgbClr val="E8F8F5"/>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DETAILED ANCOVA JUSTIFICATION</a:t>
            </a:r>
          </a:p>
          <a:p>
            <a:pPr>
              <a:defRPr sz="1100">
                <a:solidFill>
                  <a:srgbClr val="1A232F"/>
                </a:solidFill>
              </a:defRPr>
            </a:pPr>
            <a:endParaRPr sz="1600"/>
          </a:p>
          <a:p>
            <a:pPr>
              <a:defRPr sz="1100">
                <a:solidFill>
                  <a:srgbClr val="1A232F"/>
                </a:solidFill>
              </a:defRPr>
            </a:pPr>
            <a:r>
              <a:rPr sz="1600"/>
              <a:t>(a) Controls for pre-existing baseline differences</a:t>
            </a:r>
          </a:p>
          <a:p>
            <a:pPr>
              <a:defRPr sz="1100">
                <a:solidFill>
                  <a:srgbClr val="1A232F"/>
                </a:solidFill>
              </a:defRPr>
            </a:pPr>
            <a:r>
              <a:rPr sz="1600"/>
              <a:t>     between groups even after randomization</a:t>
            </a:r>
          </a:p>
          <a:p>
            <a:pPr>
              <a:defRPr sz="1100">
                <a:solidFill>
                  <a:srgbClr val="1A232F"/>
                </a:solidFill>
              </a:defRPr>
            </a:pPr>
            <a:r>
              <a:rPr sz="1600"/>
              <a:t>(b) Increases statistical power by reducing</a:t>
            </a:r>
          </a:p>
          <a:p>
            <a:pPr>
              <a:defRPr sz="1100">
                <a:solidFill>
                  <a:srgbClr val="1A232F"/>
                </a:solidFill>
              </a:defRPr>
            </a:pPr>
            <a:r>
              <a:rPr sz="1600"/>
              <a:t>     within-group error variance</a:t>
            </a:r>
          </a:p>
          <a:p>
            <a:pPr>
              <a:defRPr sz="1100">
                <a:solidFill>
                  <a:srgbClr val="1A232F"/>
                </a:solidFill>
              </a:defRPr>
            </a:pPr>
            <a:r>
              <a:rPr sz="1600"/>
              <a:t>(c) Provides more precise treatment effect estimate</a:t>
            </a:r>
          </a:p>
          <a:p>
            <a:pPr>
              <a:defRPr sz="1100">
                <a:solidFill>
                  <a:srgbClr val="1A232F"/>
                </a:solidFill>
              </a:defRPr>
            </a:pPr>
            <a:r>
              <a:rPr sz="1600"/>
              <a:t>     by adjusting post-test means for baseline</a:t>
            </a:r>
          </a:p>
          <a:p>
            <a:pPr>
              <a:defRPr sz="1100">
                <a:solidFill>
                  <a:srgbClr val="1A232F"/>
                </a:solidFill>
              </a:defRPr>
            </a:pPr>
            <a:r>
              <a:rPr sz="1600"/>
              <a:t>(d) Reduces required sample size compared to</a:t>
            </a:r>
          </a:p>
          <a:p>
            <a:pPr>
              <a:defRPr sz="1100">
                <a:solidFill>
                  <a:srgbClr val="1A232F"/>
                </a:solidFill>
              </a:defRPr>
            </a:pPr>
            <a:r>
              <a:rPr sz="1600"/>
              <a:t>     independent t-test (critical for clinical populations)</a:t>
            </a:r>
          </a:p>
          <a:p>
            <a:pPr>
              <a:defRPr sz="1100">
                <a:solidFill>
                  <a:srgbClr val="1A232F"/>
                </a:solidFill>
              </a:defRPr>
            </a:pPr>
            <a:r>
              <a:rPr sz="1600"/>
              <a:t>(e) Recommended for pre-post designs by</a:t>
            </a:r>
          </a:p>
          <a:p>
            <a:pPr>
              <a:defRPr sz="1100">
                <a:solidFill>
                  <a:srgbClr val="1A232F"/>
                </a:solidFill>
              </a:defRPr>
            </a:pPr>
            <a:r>
              <a:rPr sz="1600"/>
              <a:t>     Tabachnick &amp; Fidell (2013) and Field (2018)</a:t>
            </a:r>
          </a:p>
        </p:txBody>
      </p:sp>
      <p:sp>
        <p:nvSpPr>
          <p:cNvPr id="10" name="Rounded Rectangle 9"/>
          <p:cNvSpPr/>
          <p:nvPr/>
        </p:nvSpPr>
        <p:spPr>
          <a:xfrm>
            <a:off x="548640" y="3383280"/>
            <a:ext cx="5303520" cy="1371600"/>
          </a:xfrm>
          <a:prstGeom prst="roundRect">
            <a:avLst/>
          </a:prstGeom>
          <a:solidFill>
            <a:srgbClr val="FEF9E7"/>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defRPr sz="1200" b="1">
                <a:solidFill>
                  <a:srgbClr val="1A232F"/>
                </a:solidFill>
              </a:defRPr>
            </a:pPr>
            <a:r>
              <a:rPr sz="1600"/>
              <a:t>ANCOVA MODEL</a:t>
            </a:r>
          </a:p>
          <a:p>
            <a:pPr>
              <a:defRPr sz="1100">
                <a:solidFill>
                  <a:srgbClr val="1A232F"/>
                </a:solidFill>
              </a:defRPr>
            </a:pPr>
            <a:r>
              <a:rPr sz="1600"/>
              <a:t>DV: Post-test scores (OCDUS / BIS-11 / FFMQ)</a:t>
            </a:r>
          </a:p>
          <a:p>
            <a:pPr>
              <a:defRPr sz="1100">
                <a:solidFill>
                  <a:srgbClr val="1A232F"/>
                </a:solidFill>
              </a:defRPr>
            </a:pPr>
            <a:r>
              <a:rPr sz="1600"/>
              <a:t>IV: Group (Experimental vs. Control)</a:t>
            </a:r>
          </a:p>
          <a:p>
            <a:pPr>
              <a:defRPr sz="1100">
                <a:solidFill>
                  <a:srgbClr val="1A232F"/>
                </a:solidFill>
              </a:defRPr>
            </a:pPr>
            <a:r>
              <a:rPr sz="1600"/>
              <a:t>Covariate: Pre-test scores (same measure)</a:t>
            </a:r>
          </a:p>
          <a:p>
            <a:pPr>
              <a:defRPr sz="1100">
                <a:solidFill>
                  <a:srgbClr val="1A232F"/>
                </a:solidFill>
              </a:defRPr>
            </a:pPr>
            <a:r>
              <a:rPr sz="1600"/>
              <a:t>ITT: Last Observation Carried Forward (LOCF)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4883773" cy="707886"/>
          </a:xfrm>
          <a:prstGeom prst="rect">
            <a:avLst/>
          </a:prstGeom>
          <a:noFill/>
        </p:spPr>
        <p:txBody>
          <a:bodyPr wrap="none" lIns="91440" tIns="45720" rIns="91440" bIns="45720" anchor="t">
            <a:spAutoFit/>
          </a:bodyPr>
          <a:lstStyle/>
          <a:p>
            <a:pPr algn="l">
              <a:defRPr sz="2200" b="1">
                <a:solidFill>
                  <a:srgbClr val="FFFFFF"/>
                </a:solidFill>
              </a:defRPr>
            </a:pPr>
            <a:r>
              <a:rPr sz="4000"/>
              <a:t>Ethical Considerations</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30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2200602"/>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Informed Consent: Written consent in Hindi; participants fully informed of purpose, procedures, duration, risks, benefits</a:t>
            </a:r>
            <a:endParaRPr lang="en-US" sz="1600">
              <a:ea typeface="Calibri"/>
              <a:cs typeface="Calibri"/>
            </a:endParaRPr>
          </a:p>
          <a:p>
            <a:pPr>
              <a:spcBef>
                <a:spcPts val="500"/>
              </a:spcBef>
              <a:defRPr sz="1300">
                <a:solidFill>
                  <a:srgbClr val="2C3E50"/>
                </a:solidFill>
              </a:defRPr>
            </a:pPr>
            <a:r>
              <a:rPr sz="1600"/>
              <a:t>Voluntary Participation: Right to withdraw anytime without penalty or impact on treatment at Man Nasha Mukti Kendra</a:t>
            </a:r>
            <a:endParaRPr sz="1600">
              <a:ea typeface="Calibri"/>
              <a:cs typeface="Calibri"/>
            </a:endParaRPr>
          </a:p>
          <a:p>
            <a:pPr>
              <a:spcBef>
                <a:spcPts val="500"/>
              </a:spcBef>
              <a:defRPr sz="1300">
                <a:solidFill>
                  <a:srgbClr val="2C3E50"/>
                </a:solidFill>
              </a:defRPr>
            </a:pPr>
            <a:r>
              <a:rPr sz="1600"/>
              <a:t>Confidentiality: Data coded with participant IDs; no identifying information in publications; secure storage</a:t>
            </a:r>
            <a:endParaRPr sz="1600">
              <a:ea typeface="Calibri"/>
              <a:cs typeface="Calibri"/>
            </a:endParaRPr>
          </a:p>
          <a:p>
            <a:pPr>
              <a:spcBef>
                <a:spcPts val="500"/>
              </a:spcBef>
              <a:defRPr sz="1300">
                <a:solidFill>
                  <a:srgbClr val="2C3E50"/>
                </a:solidFill>
              </a:defRPr>
            </a:pPr>
            <a:r>
              <a:rPr sz="1600"/>
              <a:t>Non-Maleficence: Control receives active psychoeducation (not waitlist); TAU continued for all</a:t>
            </a:r>
            <a:endParaRPr sz="1600">
              <a:ea typeface="Calibri"/>
              <a:cs typeface="Calibri"/>
            </a:endParaRPr>
          </a:p>
          <a:p>
            <a:pPr>
              <a:spcBef>
                <a:spcPts val="500"/>
              </a:spcBef>
              <a:defRPr sz="1300">
                <a:solidFill>
                  <a:srgbClr val="2C3E50"/>
                </a:solidFill>
              </a:defRPr>
            </a:pPr>
            <a:r>
              <a:rPr sz="1600"/>
              <a:t>Institutional Approval: Ethical clearance from IEC prior to data collection</a:t>
            </a:r>
            <a:endParaRPr sz="1600">
              <a:ea typeface="Calibri"/>
              <a:cs typeface="Calibri"/>
            </a:endParaRPr>
          </a:p>
          <a:p>
            <a:pPr>
              <a:spcBef>
                <a:spcPts val="500"/>
              </a:spcBef>
              <a:defRPr sz="1300">
                <a:solidFill>
                  <a:srgbClr val="2C3E50"/>
                </a:solidFill>
              </a:defRPr>
            </a:pPr>
            <a:r>
              <a:rPr sz="1600"/>
              <a:t>Debriefing: Control group offered brief MBRP orientation post-study</a:t>
            </a:r>
            <a:endParaRPr sz="1600">
              <a:ea typeface="Calibri"/>
              <a:cs typeface="Calibri"/>
            </a:endParaRPr>
          </a:p>
          <a:p>
            <a:pPr>
              <a:spcBef>
                <a:spcPts val="500"/>
              </a:spcBef>
              <a:defRPr sz="1300">
                <a:solidFill>
                  <a:srgbClr val="2C3E50"/>
                </a:solidFill>
              </a:defRPr>
            </a:pPr>
            <a:r>
              <a:rPr sz="1600"/>
              <a:t>Compliance: ICMR (2017) National Ethical Guidelines for Biomedical and Health Research</a:t>
            </a:r>
            <a:endParaRPr sz="1600">
              <a:ea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4946226" cy="707886"/>
          </a:xfrm>
          <a:prstGeom prst="rect">
            <a:avLst/>
          </a:prstGeom>
          <a:noFill/>
        </p:spPr>
        <p:txBody>
          <a:bodyPr wrap="none" lIns="91440" tIns="45720" rIns="91440" bIns="45720" anchor="t">
            <a:spAutoFit/>
          </a:bodyPr>
          <a:lstStyle/>
          <a:p>
            <a:pPr algn="l">
              <a:defRPr sz="2200" b="1">
                <a:solidFill>
                  <a:srgbClr val="FFFFFF"/>
                </a:solidFill>
              </a:defRPr>
            </a:pPr>
            <a:r>
              <a:rPr sz="4000"/>
              <a:t>Expected Results (1/2)</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31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Chart 7"/>
          <p:cNvGraphicFramePr>
            <a:graphicFrameLocks noGrp="1"/>
          </p:cNvGraphicFramePr>
          <p:nvPr/>
        </p:nvGraphicFramePr>
        <p:xfrm>
          <a:off x="548640" y="1280160"/>
          <a:ext cx="6400800" cy="502920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7132320" y="1371600"/>
            <a:ext cx="4572000" cy="3293209"/>
          </a:xfrm>
          <a:prstGeom prst="rect">
            <a:avLst/>
          </a:prstGeom>
          <a:noFill/>
        </p:spPr>
        <p:txBody>
          <a:bodyPr wrap="square" lIns="91440" tIns="45720" rIns="91440" bIns="45720" anchor="t">
            <a:spAutoFit/>
          </a:bodyPr>
          <a:lstStyle/>
          <a:p>
            <a:pPr>
              <a:defRPr sz="1100" b="1">
                <a:solidFill>
                  <a:srgbClr val="007B83"/>
                </a:solidFill>
              </a:defRPr>
            </a:pPr>
            <a:r>
              <a:rPr sz="1600"/>
              <a:t>CRAVING (OCDUS):</a:t>
            </a:r>
            <a:endParaRPr lang="en-US" sz="1600">
              <a:ea typeface="Calibri"/>
              <a:cs typeface="Calibri"/>
            </a:endParaRPr>
          </a:p>
          <a:p>
            <a:pPr>
              <a:defRPr sz="1100">
                <a:solidFill>
                  <a:srgbClr val="2C3E50"/>
                </a:solidFill>
              </a:defRPr>
            </a:pPr>
            <a:r>
              <a:rPr sz="1600"/>
              <a:t>Significant REDUCTION expected in</a:t>
            </a:r>
            <a:endParaRPr sz="1600">
              <a:ea typeface="Calibri"/>
              <a:cs typeface="Calibri"/>
            </a:endParaRPr>
          </a:p>
          <a:p>
            <a:pPr>
              <a:defRPr sz="1100">
                <a:solidFill>
                  <a:srgbClr val="2C3E50"/>
                </a:solidFill>
              </a:defRPr>
            </a:pPr>
            <a:r>
              <a:rPr sz="1600"/>
              <a:t>MBRP group vs. Control</a:t>
            </a:r>
            <a:endParaRPr sz="1600">
              <a:ea typeface="Calibri"/>
              <a:cs typeface="Calibri"/>
            </a:endParaRPr>
          </a:p>
          <a:p>
            <a:pPr>
              <a:defRPr sz="1100">
                <a:solidFill>
                  <a:srgbClr val="2C3E50"/>
                </a:solidFill>
              </a:defRPr>
            </a:pPr>
            <a:r>
              <a:rPr sz="1600"/>
              <a:t>Effect: d = 0.50-0.80</a:t>
            </a:r>
            <a:endParaRPr sz="1600">
              <a:ea typeface="Calibri"/>
              <a:cs typeface="Calibri"/>
            </a:endParaRPr>
          </a:p>
          <a:p>
            <a:pPr>
              <a:defRPr sz="1100">
                <a:solidFill>
                  <a:srgbClr val="2C3E50"/>
                </a:solidFill>
              </a:defRPr>
            </a:pPr>
            <a:r>
              <a:rPr sz="1600"/>
              <a:t>Mechanism: Urge surfing disrupts</a:t>
            </a:r>
            <a:endParaRPr sz="1600">
              <a:ea typeface="Calibri"/>
              <a:cs typeface="Calibri"/>
            </a:endParaRPr>
          </a:p>
          <a:p>
            <a:pPr>
              <a:defRPr sz="1100">
                <a:solidFill>
                  <a:srgbClr val="2C3E50"/>
                </a:solidFill>
              </a:defRPr>
            </a:pPr>
            <a:r>
              <a:rPr sz="1600"/>
              <a:t>automatic craving-use cycle</a:t>
            </a:r>
            <a:endParaRPr sz="1600">
              <a:ea typeface="Calibri"/>
              <a:cs typeface="Calibri"/>
            </a:endParaRPr>
          </a:p>
          <a:p>
            <a:pPr>
              <a:defRPr sz="1100">
                <a:solidFill>
                  <a:srgbClr val="2C3E50"/>
                </a:solidFill>
              </a:defRPr>
            </a:pPr>
            <a:endParaRPr sz="1600" dirty="0">
              <a:ea typeface="Calibri"/>
              <a:cs typeface="Calibri"/>
            </a:endParaRPr>
          </a:p>
          <a:p>
            <a:pPr>
              <a:defRPr sz="1100" b="1">
                <a:solidFill>
                  <a:srgbClr val="007B83"/>
                </a:solidFill>
              </a:defRPr>
            </a:pPr>
            <a:r>
              <a:rPr sz="1600"/>
              <a:t>IMPULSIVITY (BIS-11):</a:t>
            </a:r>
            <a:endParaRPr sz="1600">
              <a:ea typeface="Calibri"/>
              <a:cs typeface="Calibri"/>
            </a:endParaRPr>
          </a:p>
          <a:p>
            <a:pPr>
              <a:defRPr sz="1100">
                <a:solidFill>
                  <a:srgbClr val="2C3E50"/>
                </a:solidFill>
              </a:defRPr>
            </a:pPr>
            <a:r>
              <a:rPr sz="1600"/>
              <a:t>Significant REDUCTION expected</a:t>
            </a:r>
            <a:endParaRPr sz="1600">
              <a:ea typeface="Calibri"/>
              <a:cs typeface="Calibri"/>
            </a:endParaRPr>
          </a:p>
          <a:p>
            <a:pPr>
              <a:defRPr sz="1100">
                <a:solidFill>
                  <a:srgbClr val="2C3E50"/>
                </a:solidFill>
              </a:defRPr>
            </a:pPr>
            <a:r>
              <a:rPr sz="1600"/>
              <a:t>(Motor + Attentional subscales)</a:t>
            </a:r>
            <a:endParaRPr sz="1600">
              <a:ea typeface="Calibri"/>
              <a:cs typeface="Calibri"/>
            </a:endParaRPr>
          </a:p>
          <a:p>
            <a:pPr>
              <a:defRPr sz="1100">
                <a:solidFill>
                  <a:srgbClr val="2C3E50"/>
                </a:solidFill>
              </a:defRPr>
            </a:pPr>
            <a:r>
              <a:rPr sz="1600"/>
              <a:t>Effect: d = 0.40-0.60</a:t>
            </a:r>
            <a:endParaRPr sz="1600">
              <a:ea typeface="Calibri"/>
              <a:cs typeface="Calibri"/>
            </a:endParaRPr>
          </a:p>
          <a:p>
            <a:pPr>
              <a:defRPr sz="1100">
                <a:solidFill>
                  <a:srgbClr val="2C3E50"/>
                </a:solidFill>
              </a:defRPr>
            </a:pPr>
            <a:r>
              <a:rPr sz="1600"/>
              <a:t>Mechanism: Mindfulness strengthens</a:t>
            </a:r>
            <a:endParaRPr sz="1600">
              <a:ea typeface="Calibri"/>
              <a:cs typeface="Calibri"/>
            </a:endParaRPr>
          </a:p>
          <a:p>
            <a:pPr>
              <a:defRPr sz="1100">
                <a:solidFill>
                  <a:srgbClr val="2C3E50"/>
                </a:solidFill>
              </a:defRPr>
            </a:pPr>
            <a:r>
              <a:rPr sz="1600"/>
              <a:t>prefrontal inhibitory control</a:t>
            </a:r>
            <a:endParaRPr sz="1600">
              <a:ea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4946226" cy="707886"/>
          </a:xfrm>
          <a:prstGeom prst="rect">
            <a:avLst/>
          </a:prstGeom>
          <a:noFill/>
        </p:spPr>
        <p:txBody>
          <a:bodyPr wrap="none" lIns="91440" tIns="45720" rIns="91440" bIns="45720" anchor="t">
            <a:spAutoFit/>
          </a:bodyPr>
          <a:lstStyle/>
          <a:p>
            <a:pPr algn="l">
              <a:defRPr sz="2200" b="1">
                <a:solidFill>
                  <a:srgbClr val="FFFFFF"/>
                </a:solidFill>
              </a:defRPr>
            </a:pPr>
            <a:r>
              <a:rPr sz="4000"/>
              <a:t>Expected Results (2/2)</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32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Chart 7"/>
          <p:cNvGraphicFramePr>
            <a:graphicFrameLocks noGrp="1"/>
          </p:cNvGraphicFramePr>
          <p:nvPr/>
        </p:nvGraphicFramePr>
        <p:xfrm>
          <a:off x="548640" y="1280160"/>
          <a:ext cx="5943600" cy="411480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6766560" y="1371600"/>
            <a:ext cx="5029200" cy="4031873"/>
          </a:xfrm>
          <a:prstGeom prst="rect">
            <a:avLst/>
          </a:prstGeom>
          <a:noFill/>
        </p:spPr>
        <p:txBody>
          <a:bodyPr wrap="square" lIns="91440" tIns="45720" rIns="91440" bIns="45720" anchor="t">
            <a:spAutoFit/>
          </a:bodyPr>
          <a:lstStyle/>
          <a:p>
            <a:pPr>
              <a:defRPr sz="1100" b="1">
                <a:solidFill>
                  <a:srgbClr val="007B83"/>
                </a:solidFill>
              </a:defRPr>
            </a:pPr>
            <a:r>
              <a:rPr sz="1600"/>
              <a:t>MINDFULNESS (FFMQ):</a:t>
            </a:r>
            <a:endParaRPr lang="en-US" sz="1600">
              <a:ea typeface="Calibri"/>
              <a:cs typeface="Calibri"/>
            </a:endParaRPr>
          </a:p>
          <a:p>
            <a:pPr>
              <a:defRPr sz="1100">
                <a:solidFill>
                  <a:srgbClr val="2C3E50"/>
                </a:solidFill>
              </a:defRPr>
            </a:pPr>
            <a:r>
              <a:rPr sz="1600"/>
              <a:t>Significant INCREASE expected in</a:t>
            </a:r>
            <a:endParaRPr sz="1600">
              <a:ea typeface="Calibri"/>
              <a:cs typeface="Calibri"/>
            </a:endParaRPr>
          </a:p>
          <a:p>
            <a:pPr>
              <a:defRPr sz="1100">
                <a:solidFill>
                  <a:srgbClr val="2C3E50"/>
                </a:solidFill>
              </a:defRPr>
            </a:pPr>
            <a:r>
              <a:rPr sz="1600"/>
              <a:t>MBRP group (Acting with Awareness</a:t>
            </a:r>
            <a:endParaRPr sz="1600">
              <a:ea typeface="Calibri"/>
              <a:cs typeface="Calibri"/>
            </a:endParaRPr>
          </a:p>
          <a:p>
            <a:pPr>
              <a:defRPr sz="1100">
                <a:solidFill>
                  <a:srgbClr val="2C3E50"/>
                </a:solidFill>
              </a:defRPr>
            </a:pPr>
            <a:r>
              <a:rPr sz="1600"/>
              <a:t>&amp; Non-Reactivity facets)</a:t>
            </a:r>
            <a:endParaRPr sz="1600">
              <a:ea typeface="Calibri"/>
              <a:cs typeface="Calibri"/>
            </a:endParaRPr>
          </a:p>
          <a:p>
            <a:pPr>
              <a:defRPr sz="1100">
                <a:solidFill>
                  <a:srgbClr val="2C3E50"/>
                </a:solidFill>
              </a:defRPr>
            </a:pPr>
            <a:r>
              <a:rPr sz="1600"/>
              <a:t>Effect: d = 0.50-0.70</a:t>
            </a:r>
            <a:endParaRPr sz="1600">
              <a:ea typeface="Calibri"/>
              <a:cs typeface="Calibri"/>
            </a:endParaRPr>
          </a:p>
          <a:p>
            <a:pPr>
              <a:defRPr sz="1100">
                <a:solidFill>
                  <a:srgbClr val="2C3E50"/>
                </a:solidFill>
              </a:defRPr>
            </a:pPr>
            <a:r>
              <a:rPr sz="1600"/>
              <a:t>Mechanism: Structured meditation</a:t>
            </a:r>
            <a:endParaRPr sz="1600">
              <a:ea typeface="Calibri"/>
              <a:cs typeface="Calibri"/>
            </a:endParaRPr>
          </a:p>
          <a:p>
            <a:pPr>
              <a:defRPr sz="1100">
                <a:solidFill>
                  <a:srgbClr val="2C3E50"/>
                </a:solidFill>
              </a:defRPr>
            </a:pPr>
            <a:r>
              <a:rPr sz="1600"/>
              <a:t>cultivates dispositional mindfulness</a:t>
            </a:r>
            <a:endParaRPr sz="1600">
              <a:ea typeface="Calibri"/>
              <a:cs typeface="Calibri"/>
            </a:endParaRPr>
          </a:p>
          <a:p>
            <a:pPr>
              <a:defRPr sz="1100">
                <a:solidFill>
                  <a:srgbClr val="2C3E50"/>
                </a:solidFill>
              </a:defRPr>
            </a:pPr>
            <a:endParaRPr sz="1600" dirty="0">
              <a:ea typeface="Calibri"/>
              <a:cs typeface="Calibri"/>
            </a:endParaRPr>
          </a:p>
          <a:p>
            <a:pPr>
              <a:defRPr sz="1100" b="1">
                <a:solidFill>
                  <a:srgbClr val="007B83"/>
                </a:solidFill>
              </a:defRPr>
            </a:pPr>
            <a:r>
              <a:rPr sz="1600"/>
              <a:t>OVERALL PATTERN:</a:t>
            </a:r>
            <a:endParaRPr sz="1600">
              <a:ea typeface="Calibri"/>
              <a:cs typeface="Calibri"/>
            </a:endParaRPr>
          </a:p>
          <a:p>
            <a:pPr>
              <a:defRPr sz="1100">
                <a:solidFill>
                  <a:srgbClr val="2C3E50"/>
                </a:solidFill>
              </a:defRPr>
            </a:pPr>
            <a:r>
              <a:rPr sz="1600"/>
              <a:t>Brief MBRP + TAU demonstrates</a:t>
            </a:r>
            <a:endParaRPr sz="1600">
              <a:ea typeface="Calibri"/>
              <a:cs typeface="Calibri"/>
            </a:endParaRPr>
          </a:p>
          <a:p>
            <a:pPr>
              <a:defRPr sz="1100">
                <a:solidFill>
                  <a:srgbClr val="2C3E50"/>
                </a:solidFill>
              </a:defRPr>
            </a:pPr>
            <a:r>
              <a:rPr sz="1600"/>
              <a:t>superiority across all 3 DVs</a:t>
            </a:r>
            <a:endParaRPr sz="1600">
              <a:ea typeface="Calibri"/>
              <a:cs typeface="Calibri"/>
            </a:endParaRPr>
          </a:p>
          <a:p>
            <a:pPr>
              <a:defRPr sz="1100">
                <a:solidFill>
                  <a:srgbClr val="2C3E50"/>
                </a:solidFill>
              </a:defRPr>
            </a:pPr>
            <a:r>
              <a:rPr sz="1600"/>
              <a:t>Null hypotheses (H01, H02, H03)</a:t>
            </a:r>
            <a:endParaRPr sz="1600">
              <a:ea typeface="Calibri"/>
              <a:cs typeface="Calibri"/>
            </a:endParaRPr>
          </a:p>
          <a:p>
            <a:pPr>
              <a:defRPr sz="1100">
                <a:solidFill>
                  <a:srgbClr val="2C3E50"/>
                </a:solidFill>
              </a:defRPr>
            </a:pPr>
            <a:r>
              <a:rPr sz="1600"/>
              <a:t>expected to be REJECTED</a:t>
            </a:r>
            <a:endParaRPr sz="1600">
              <a:ea typeface="Calibri"/>
              <a:cs typeface="Calibri"/>
            </a:endParaRPr>
          </a:p>
          <a:p>
            <a:pPr>
              <a:defRPr sz="1100">
                <a:solidFill>
                  <a:srgbClr val="2C3E50"/>
                </a:solidFill>
              </a:defRPr>
            </a:pPr>
            <a:endParaRPr sz="1600" dirty="0">
              <a:ea typeface="Calibri"/>
              <a:cs typeface="Calibri"/>
            </a:endParaRPr>
          </a:p>
          <a:p>
            <a:pPr>
              <a:defRPr sz="1100">
                <a:solidFill>
                  <a:srgbClr val="2C3E50"/>
                </a:solidFill>
              </a:defRPr>
            </a:pPr>
            <a:r>
              <a:rPr sz="1600"/>
              <a:t>Supports feasibility of 6-session</a:t>
            </a:r>
            <a:endParaRPr sz="1600">
              <a:ea typeface="Calibri"/>
              <a:cs typeface="Calibri"/>
            </a:endParaRPr>
          </a:p>
          <a:p>
            <a:pPr>
              <a:defRPr sz="1100">
                <a:solidFill>
                  <a:srgbClr val="2C3E50"/>
                </a:solidFill>
              </a:defRPr>
            </a:pPr>
            <a:r>
              <a:rPr sz="1600"/>
              <a:t>MBRP at Man Nasha Mukti Kendra</a:t>
            </a:r>
            <a:endParaRPr sz="1600">
              <a:ea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4421852" cy="707886"/>
          </a:xfrm>
          <a:prstGeom prst="rect">
            <a:avLst/>
          </a:prstGeom>
          <a:noFill/>
        </p:spPr>
        <p:txBody>
          <a:bodyPr wrap="none" lIns="91440" tIns="45720" rIns="91440" bIns="45720" anchor="t">
            <a:spAutoFit/>
          </a:bodyPr>
          <a:lstStyle/>
          <a:p>
            <a:pPr algn="l">
              <a:defRPr sz="2200" b="1">
                <a:solidFill>
                  <a:srgbClr val="FFFFFF"/>
                </a:solidFill>
              </a:defRPr>
            </a:pPr>
            <a:r>
              <a:rPr sz="4000"/>
              <a:t>Clinical Implications</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33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1890261"/>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Validates a brief MBRP model (6 sessions/3 weeks) feasible for Indian de-addiction settings</a:t>
            </a:r>
            <a:endParaRPr lang="en-US" sz="1600">
              <a:ea typeface="Calibri"/>
              <a:cs typeface="Calibri"/>
            </a:endParaRPr>
          </a:p>
          <a:p>
            <a:pPr>
              <a:spcBef>
                <a:spcPts val="500"/>
              </a:spcBef>
              <a:defRPr sz="1300">
                <a:solidFill>
                  <a:srgbClr val="2C3E50"/>
                </a:solidFill>
              </a:defRPr>
            </a:pPr>
            <a:r>
              <a:rPr sz="1600"/>
              <a:t>Provides evidence-based psychological intervention to complement pharmacotherapy (OST, naltrexone)</a:t>
            </a:r>
            <a:endParaRPr sz="1600">
              <a:ea typeface="Calibri"/>
              <a:cs typeface="Calibri"/>
            </a:endParaRPr>
          </a:p>
          <a:p>
            <a:pPr>
              <a:spcBef>
                <a:spcPts val="500"/>
              </a:spcBef>
              <a:defRPr sz="1300">
                <a:solidFill>
                  <a:srgbClr val="2C3E50"/>
                </a:solidFill>
              </a:defRPr>
            </a:pPr>
            <a:r>
              <a:rPr sz="1600"/>
              <a:t>Demonstrates mindfulness-based approaches are culturally compatible with Indian populations</a:t>
            </a:r>
            <a:endParaRPr sz="1600">
              <a:ea typeface="Calibri"/>
              <a:cs typeface="Calibri"/>
            </a:endParaRPr>
          </a:p>
          <a:p>
            <a:pPr>
              <a:spcBef>
                <a:spcPts val="500"/>
              </a:spcBef>
              <a:defRPr sz="1300">
                <a:solidFill>
                  <a:srgbClr val="2C3E50"/>
                </a:solidFill>
              </a:defRPr>
            </a:pPr>
            <a:r>
              <a:rPr sz="1600"/>
              <a:t>Addresses multiple relapse risk factors simultaneously through single integrated protocol</a:t>
            </a:r>
            <a:endParaRPr sz="1600">
              <a:ea typeface="Calibri"/>
              <a:cs typeface="Calibri"/>
            </a:endParaRPr>
          </a:p>
          <a:p>
            <a:pPr>
              <a:spcBef>
                <a:spcPts val="500"/>
              </a:spcBef>
              <a:defRPr sz="1300">
                <a:solidFill>
                  <a:srgbClr val="2C3E50"/>
                </a:solidFill>
              </a:defRPr>
            </a:pPr>
            <a:r>
              <a:rPr sz="1600"/>
              <a:t>Supports task-shifting: Brief MBRP deliverable by MPhil-trained Clinical Psychologists</a:t>
            </a:r>
            <a:endParaRPr sz="1600">
              <a:ea typeface="Calibri"/>
              <a:cs typeface="Calibri"/>
            </a:endParaRPr>
          </a:p>
          <a:p>
            <a:pPr>
              <a:spcBef>
                <a:spcPts val="500"/>
              </a:spcBef>
              <a:defRPr sz="1300">
                <a:solidFill>
                  <a:srgbClr val="2C3E50"/>
                </a:solidFill>
              </a:defRPr>
            </a:pPr>
            <a:endParaRPr sz="1600" dirty="0">
              <a:ea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2553776" cy="707886"/>
          </a:xfrm>
          <a:prstGeom prst="rect">
            <a:avLst/>
          </a:prstGeom>
          <a:noFill/>
        </p:spPr>
        <p:txBody>
          <a:bodyPr wrap="none" lIns="91440" tIns="45720" rIns="91440" bIns="45720" anchor="t">
            <a:spAutoFit/>
          </a:bodyPr>
          <a:lstStyle/>
          <a:p>
            <a:pPr algn="l">
              <a:defRPr sz="2200" b="1">
                <a:solidFill>
                  <a:srgbClr val="FFFFFF"/>
                </a:solidFill>
              </a:defRPr>
            </a:pPr>
            <a:r>
              <a:rPr sz="4000"/>
              <a:t>Limitations</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34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2200602"/>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Male-only sample from single center (Man Nasha Mukti Kendra) limits generalizability</a:t>
            </a:r>
            <a:endParaRPr lang="en-US" sz="1600">
              <a:ea typeface="Calibri"/>
              <a:cs typeface="Calibri"/>
            </a:endParaRPr>
          </a:p>
          <a:p>
            <a:pPr>
              <a:spcBef>
                <a:spcPts val="500"/>
              </a:spcBef>
              <a:defRPr sz="1300">
                <a:solidFill>
                  <a:srgbClr val="2C3E50"/>
                </a:solidFill>
              </a:defRPr>
            </a:pPr>
            <a:r>
              <a:rPr sz="1600"/>
              <a:t>Short-term assessment: Post-test immediately after 3-week intervention; no follow-up</a:t>
            </a:r>
            <a:endParaRPr sz="1600">
              <a:ea typeface="Calibri"/>
              <a:cs typeface="Calibri"/>
            </a:endParaRPr>
          </a:p>
          <a:p>
            <a:pPr>
              <a:spcBef>
                <a:spcPts val="500"/>
              </a:spcBef>
              <a:defRPr sz="1300">
                <a:solidFill>
                  <a:srgbClr val="2C3E50"/>
                </a:solidFill>
              </a:defRPr>
            </a:pPr>
            <a:r>
              <a:rPr sz="1600"/>
              <a:t>Self-report measures (OCDUS, BIS-11, FFMQ) susceptible to social desirability bias</a:t>
            </a:r>
            <a:endParaRPr sz="1600">
              <a:ea typeface="Calibri"/>
              <a:cs typeface="Calibri"/>
            </a:endParaRPr>
          </a:p>
          <a:p>
            <a:pPr>
              <a:spcBef>
                <a:spcPts val="500"/>
              </a:spcBef>
              <a:defRPr sz="1300">
                <a:solidFill>
                  <a:srgbClr val="2C3E50"/>
                </a:solidFill>
              </a:defRPr>
            </a:pPr>
            <a:r>
              <a:rPr sz="1600"/>
              <a:t>No biological markers: Craving measured subjectively without physiological corroboration</a:t>
            </a:r>
            <a:endParaRPr sz="1600">
              <a:ea typeface="Calibri"/>
              <a:cs typeface="Calibri"/>
            </a:endParaRPr>
          </a:p>
          <a:p>
            <a:pPr>
              <a:spcBef>
                <a:spcPts val="500"/>
              </a:spcBef>
              <a:defRPr sz="1300">
                <a:solidFill>
                  <a:srgbClr val="2C3E50"/>
                </a:solidFill>
              </a:defRPr>
            </a:pPr>
            <a:r>
              <a:rPr sz="1600"/>
              <a:t>Therapist effects: Single therapist delivery may introduce confounds</a:t>
            </a:r>
            <a:endParaRPr sz="1600">
              <a:ea typeface="Calibri"/>
              <a:cs typeface="Calibri"/>
            </a:endParaRPr>
          </a:p>
          <a:p>
            <a:pPr>
              <a:spcBef>
                <a:spcPts val="500"/>
              </a:spcBef>
              <a:defRPr sz="1300">
                <a:solidFill>
                  <a:srgbClr val="2C3E50"/>
                </a:solidFill>
              </a:defRPr>
            </a:pPr>
            <a:r>
              <a:rPr sz="1600"/>
              <a:t>Attention-matched control does not fully account for specific mindfulness mechanisms</a:t>
            </a:r>
            <a:endParaRPr sz="1600">
              <a:ea typeface="Calibri"/>
              <a:cs typeface="Calibri"/>
            </a:endParaRPr>
          </a:p>
          <a:p>
            <a:pPr>
              <a:spcBef>
                <a:spcPts val="500"/>
              </a:spcBef>
              <a:defRPr sz="1300">
                <a:solidFill>
                  <a:srgbClr val="2C3E50"/>
                </a:solidFill>
              </a:defRPr>
            </a:pPr>
            <a:r>
              <a:rPr sz="1600"/>
              <a:t>Potential attrition despite over-recruitment planning</a:t>
            </a:r>
            <a:endParaRPr sz="1600">
              <a:ea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3861635" cy="707886"/>
          </a:xfrm>
          <a:prstGeom prst="rect">
            <a:avLst/>
          </a:prstGeom>
          <a:noFill/>
        </p:spPr>
        <p:txBody>
          <a:bodyPr wrap="none" lIns="91440" tIns="45720" rIns="91440" bIns="45720" anchor="t">
            <a:spAutoFit/>
          </a:bodyPr>
          <a:lstStyle/>
          <a:p>
            <a:pPr algn="l">
              <a:defRPr sz="2200" b="1">
                <a:solidFill>
                  <a:srgbClr val="FFFFFF"/>
                </a:solidFill>
              </a:defRPr>
            </a:pPr>
            <a:r>
              <a:rPr sz="4000"/>
              <a:t>Future Directions</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35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2510944"/>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3-month and 6-month follow-up assessments for sustained MBRP effects</a:t>
            </a:r>
            <a:endParaRPr lang="en-US" sz="1600">
              <a:ea typeface="Calibri"/>
              <a:cs typeface="Calibri"/>
            </a:endParaRPr>
          </a:p>
          <a:p>
            <a:pPr>
              <a:spcBef>
                <a:spcPts val="500"/>
              </a:spcBef>
              <a:defRPr sz="1300">
                <a:solidFill>
                  <a:srgbClr val="2C3E50"/>
                </a:solidFill>
              </a:defRPr>
            </a:pPr>
            <a:r>
              <a:rPr sz="1600"/>
              <a:t>Multi-site RCTs across multiple Indian de-addiction centers</a:t>
            </a:r>
            <a:endParaRPr sz="1600">
              <a:ea typeface="Calibri"/>
              <a:cs typeface="Calibri"/>
            </a:endParaRPr>
          </a:p>
          <a:p>
            <a:pPr>
              <a:spcBef>
                <a:spcPts val="500"/>
              </a:spcBef>
              <a:defRPr sz="1300">
                <a:solidFill>
                  <a:srgbClr val="2C3E50"/>
                </a:solidFill>
              </a:defRPr>
            </a:pPr>
            <a:r>
              <a:rPr sz="1600"/>
              <a:t>Include female participants to examine gender-specific effects</a:t>
            </a:r>
            <a:endParaRPr sz="1600">
              <a:ea typeface="Calibri"/>
              <a:cs typeface="Calibri"/>
            </a:endParaRPr>
          </a:p>
          <a:p>
            <a:pPr>
              <a:spcBef>
                <a:spcPts val="500"/>
              </a:spcBef>
              <a:defRPr sz="1300">
                <a:solidFill>
                  <a:srgbClr val="2C3E50"/>
                </a:solidFill>
              </a:defRPr>
            </a:pPr>
            <a:r>
              <a:rPr sz="1600"/>
              <a:t>Neuroimaging (fMRI/EEG) to examine neural mechanisms of MBRP</a:t>
            </a:r>
            <a:endParaRPr sz="1600">
              <a:ea typeface="Calibri"/>
              <a:cs typeface="Calibri"/>
            </a:endParaRPr>
          </a:p>
          <a:p>
            <a:pPr>
              <a:spcBef>
                <a:spcPts val="500"/>
              </a:spcBef>
              <a:defRPr sz="1300">
                <a:solidFill>
                  <a:srgbClr val="2C3E50"/>
                </a:solidFill>
              </a:defRPr>
            </a:pPr>
            <a:r>
              <a:rPr sz="1600"/>
              <a:t>Dose-response analysis: Compare 4 vs. 6 vs. 8 sessions for optimal dosage</a:t>
            </a:r>
            <a:endParaRPr sz="1600">
              <a:ea typeface="Calibri"/>
              <a:cs typeface="Calibri"/>
            </a:endParaRPr>
          </a:p>
          <a:p>
            <a:pPr>
              <a:spcBef>
                <a:spcPts val="500"/>
              </a:spcBef>
              <a:defRPr sz="1300">
                <a:solidFill>
                  <a:srgbClr val="2C3E50"/>
                </a:solidFill>
              </a:defRPr>
            </a:pPr>
            <a:r>
              <a:rPr sz="1600"/>
              <a:t>Mediator analysis: Test whether mindfulness mediates craving/impulsivity reduction</a:t>
            </a:r>
            <a:endParaRPr sz="1600">
              <a:ea typeface="Calibri"/>
              <a:cs typeface="Calibri"/>
            </a:endParaRPr>
          </a:p>
          <a:p>
            <a:pPr>
              <a:spcBef>
                <a:spcPts val="500"/>
              </a:spcBef>
              <a:defRPr sz="1300">
                <a:solidFill>
                  <a:srgbClr val="2C3E50"/>
                </a:solidFill>
              </a:defRPr>
            </a:pPr>
            <a:r>
              <a:rPr sz="1600"/>
              <a:t>Technology-assisted: App-based/digital MBRP for post-discharge and rural access</a:t>
            </a:r>
            <a:endParaRPr sz="1600">
              <a:ea typeface="Calibri"/>
              <a:cs typeface="Calibri"/>
            </a:endParaRPr>
          </a:p>
          <a:p>
            <a:pPr>
              <a:spcBef>
                <a:spcPts val="500"/>
              </a:spcBef>
              <a:defRPr sz="1300">
                <a:solidFill>
                  <a:srgbClr val="2C3E50"/>
                </a:solidFill>
              </a:defRPr>
            </a:pPr>
            <a:r>
              <a:rPr sz="1600"/>
              <a:t>Comparative effectiveness: MBRP vs. CBT vs. ACT in Indian samples</a:t>
            </a:r>
            <a:endParaRPr sz="1600">
              <a:ea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2217915" cy="707886"/>
          </a:xfrm>
          <a:prstGeom prst="rect">
            <a:avLst/>
          </a:prstGeom>
          <a:noFill/>
        </p:spPr>
        <p:txBody>
          <a:bodyPr wrap="none" lIns="91440" tIns="45720" rIns="91440" bIns="45720" anchor="t">
            <a:spAutoFit/>
          </a:bodyPr>
          <a:lstStyle/>
          <a:p>
            <a:pPr algn="l">
              <a:defRPr sz="2200" b="1">
                <a:solidFill>
                  <a:srgbClr val="FFFFFF"/>
                </a:solidFill>
              </a:defRPr>
            </a:pPr>
            <a:r>
              <a:rPr sz="4000"/>
              <a:t>Summary</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36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280160"/>
            <a:ext cx="11064240" cy="5029200"/>
          </a:xfrm>
          <a:prstGeom prst="roundRect">
            <a:avLst/>
          </a:prstGeom>
          <a:solidFill>
            <a:srgbClr val="D6EAF8"/>
          </a:solidFill>
          <a:ln w="6350">
            <a:solidFill>
              <a:srgbClr val="BDC3C7"/>
            </a:solidFill>
          </a:ln>
        </p:spPr>
        <p:style>
          <a:lnRef idx="1">
            <a:schemeClr val="accent1"/>
          </a:lnRef>
          <a:fillRef idx="3">
            <a:schemeClr val="accent1"/>
          </a:fillRef>
          <a:effectRef idx="2">
            <a:schemeClr val="accent1"/>
          </a:effectRef>
          <a:fontRef idx="minor">
            <a:schemeClr val="lt1"/>
          </a:fontRef>
        </p:style>
        <p:txBody>
          <a:bodyPr wrap="square" lIns="137160" tIns="91440" rIns="137160" bIns="45720" rtlCol="0" anchor="ctr"/>
          <a:lstStyle/>
          <a:p>
            <a:pPr algn="ctr">
              <a:defRPr sz="1300" b="1">
                <a:solidFill>
                  <a:srgbClr val="1B2A4A"/>
                </a:solidFill>
              </a:defRPr>
            </a:pPr>
            <a:r>
              <a:t>STUDY SUMMARY</a:t>
            </a:r>
            <a:endParaRPr lang="en-US">
              <a:ea typeface="Calibri"/>
              <a:cs typeface="Calibri"/>
            </a:endParaRPr>
          </a:p>
          <a:p>
            <a:pPr>
              <a:defRPr sz="1200">
                <a:solidFill>
                  <a:srgbClr val="1B2A4A"/>
                </a:solidFill>
              </a:defRPr>
            </a:pPr>
            <a:endParaRPr dirty="0">
              <a:ea typeface="Calibri"/>
              <a:cs typeface="Calibri"/>
            </a:endParaRPr>
          </a:p>
          <a:p>
            <a:pPr>
              <a:defRPr sz="1200">
                <a:solidFill>
                  <a:srgbClr val="1B2A4A"/>
                </a:solidFill>
              </a:defRPr>
            </a:pPr>
            <a:r>
              <a:t>Design: Pre-test Post-test Control Group Experimental Design</a:t>
            </a:r>
            <a:endParaRPr dirty="0">
              <a:ea typeface="Calibri"/>
              <a:cs typeface="Calibri"/>
            </a:endParaRPr>
          </a:p>
          <a:p>
            <a:pPr>
              <a:defRPr sz="1200">
                <a:solidFill>
                  <a:srgbClr val="1B2A4A"/>
                </a:solidFill>
              </a:defRPr>
            </a:pPr>
            <a:r>
              <a:rPr dirty="0"/>
              <a:t>Setting: </a:t>
            </a:r>
            <a:r>
              <a:rPr dirty="0" err="1"/>
              <a:t>Man</a:t>
            </a:r>
            <a:r>
              <a:rPr dirty="0"/>
              <a:t> Nasha Mukti Kendra | Population: Male opioid-dependent patients (N=60)</a:t>
            </a:r>
            <a:endParaRPr dirty="0">
              <a:ea typeface="Calibri"/>
              <a:cs typeface="Calibri"/>
            </a:endParaRPr>
          </a:p>
          <a:p>
            <a:pPr>
              <a:defRPr sz="1200">
                <a:solidFill>
                  <a:srgbClr val="1B2A4A"/>
                </a:solidFill>
              </a:defRPr>
            </a:pPr>
            <a:r>
              <a:t>Experimental: Brief MBRP (6 sessions / 3 weeks) + TAU | Control: Psychoeducation + TAU</a:t>
            </a:r>
            <a:endParaRPr dirty="0">
              <a:ea typeface="Calibri"/>
              <a:cs typeface="Calibri"/>
            </a:endParaRPr>
          </a:p>
          <a:p>
            <a:pPr>
              <a:defRPr sz="1200">
                <a:solidFill>
                  <a:srgbClr val="1B2A4A"/>
                </a:solidFill>
              </a:defRPr>
            </a:pPr>
            <a:r>
              <a:t>DVs: Craving (OCDUS) + Impulsivity (BIS-11) + Mindfulness (FFMQ)</a:t>
            </a:r>
            <a:endParaRPr dirty="0">
              <a:ea typeface="Calibri"/>
              <a:cs typeface="Calibri"/>
            </a:endParaRPr>
          </a:p>
          <a:p>
            <a:pPr>
              <a:defRPr sz="1200">
                <a:solidFill>
                  <a:srgbClr val="1B2A4A"/>
                </a:solidFill>
              </a:defRPr>
            </a:pPr>
            <a:r>
              <a:t>Sampling: Two-stage (Purposive selection -&gt; Computer-generated random assignment)</a:t>
            </a:r>
            <a:endParaRPr dirty="0">
              <a:ea typeface="Calibri"/>
              <a:cs typeface="Calibri"/>
            </a:endParaRPr>
          </a:p>
          <a:p>
            <a:pPr>
              <a:defRPr sz="1200">
                <a:solidFill>
                  <a:srgbClr val="1B2A4A"/>
                </a:solidFill>
              </a:defRPr>
            </a:pPr>
            <a:r>
              <a:t>Primary Analysis: ANCOVA controlling for pre-test scores as covariates</a:t>
            </a:r>
            <a:endParaRPr dirty="0">
              <a:ea typeface="Calibri"/>
              <a:cs typeface="Calibri"/>
            </a:endParaRPr>
          </a:p>
          <a:p>
            <a:pPr>
              <a:defRPr sz="1200">
                <a:solidFill>
                  <a:srgbClr val="1B2A4A"/>
                </a:solidFill>
              </a:defRPr>
            </a:pPr>
            <a:r>
              <a:t>Hypothesis: Brief MBRP expected to show significantly greater reduction in craving/impulsivity</a:t>
            </a:r>
            <a:endParaRPr dirty="0">
              <a:ea typeface="Calibri"/>
              <a:cs typeface="Calibri"/>
            </a:endParaRPr>
          </a:p>
          <a:p>
            <a:pPr>
              <a:defRPr sz="1200">
                <a:solidFill>
                  <a:srgbClr val="1B2A4A"/>
                </a:solidFill>
              </a:defRPr>
            </a:pPr>
            <a:r>
              <a:t>and greater enhancement of mindfulness compared to psychoeducation</a:t>
            </a:r>
            <a:endParaRPr dirty="0">
              <a:ea typeface="Calibri"/>
              <a:cs typeface="Calibri"/>
            </a:endParaRPr>
          </a:p>
          <a:p>
            <a:pPr>
              <a:defRPr sz="1200">
                <a:solidFill>
                  <a:srgbClr val="1B2A4A"/>
                </a:solidFill>
              </a:defRPr>
            </a:pPr>
            <a:endParaRPr dirty="0">
              <a:ea typeface="Calibri"/>
              <a:cs typeface="Calibri"/>
            </a:endParaRPr>
          </a:p>
          <a:p>
            <a:pPr>
              <a:defRPr sz="1200">
                <a:solidFill>
                  <a:srgbClr val="1B2A4A"/>
                </a:solidFill>
              </a:defRPr>
            </a:pPr>
            <a:r>
              <a:t>SIGNIFICANCE: First brief MBRP trial in Indian opioid-dependent sample addressing</a:t>
            </a:r>
            <a:endParaRPr dirty="0">
              <a:ea typeface="Calibri"/>
              <a:cs typeface="Calibri"/>
            </a:endParaRPr>
          </a:p>
          <a:p>
            <a:pPr>
              <a:defRPr sz="1200">
                <a:solidFill>
                  <a:srgbClr val="1B2A4A"/>
                </a:solidFill>
              </a:defRPr>
            </a:pPr>
            <a:r>
              <a:t>critical research gap in evidence-based psychological interventions for de-addiction</a:t>
            </a:r>
            <a:endParaRPr dirty="0">
              <a:ea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2507418" cy="707886"/>
          </a:xfrm>
          <a:prstGeom prst="rect">
            <a:avLst/>
          </a:prstGeom>
          <a:noFill/>
        </p:spPr>
        <p:txBody>
          <a:bodyPr wrap="none" lIns="91440" tIns="45720" rIns="91440" bIns="45720" anchor="t">
            <a:spAutoFit/>
          </a:bodyPr>
          <a:lstStyle/>
          <a:p>
            <a:pPr algn="l">
              <a:defRPr sz="2200" b="1">
                <a:solidFill>
                  <a:srgbClr val="FFFFFF"/>
                </a:solidFill>
              </a:defRPr>
            </a:pPr>
            <a:r>
              <a:rPr sz="4000"/>
              <a:t>Conclusion</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37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2939266"/>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Substance dependence (particularly opioid) represents a significant public health crisis in India with relapse rates &gt;70%</a:t>
            </a:r>
            <a:endParaRPr lang="en-US" sz="1600">
              <a:ea typeface="Calibri"/>
              <a:cs typeface="Calibri"/>
            </a:endParaRPr>
          </a:p>
          <a:p>
            <a:pPr>
              <a:spcBef>
                <a:spcPts val="500"/>
              </a:spcBef>
              <a:defRPr sz="1300">
                <a:solidFill>
                  <a:srgbClr val="2C3E50"/>
                </a:solidFill>
              </a:defRPr>
            </a:pPr>
            <a:r>
              <a:rPr sz="1600"/>
              <a:t>Current treatment at Indian de-addiction centers relies heavily on pharmacotherapy with limited evidence-based psychological interventions</a:t>
            </a:r>
            <a:endParaRPr sz="1600">
              <a:ea typeface="Calibri"/>
              <a:cs typeface="Calibri"/>
            </a:endParaRPr>
          </a:p>
          <a:p>
            <a:pPr>
              <a:spcBef>
                <a:spcPts val="500"/>
              </a:spcBef>
              <a:defRPr sz="1300">
                <a:solidFill>
                  <a:srgbClr val="2C3E50"/>
                </a:solidFill>
              </a:defRPr>
            </a:pPr>
            <a:r>
              <a:rPr sz="1600"/>
              <a:t>MBRP offers a theoretically grounded approach targeting craving (urge surfing), impulsivity (mindful pause), and mindfulness enhancement simultaneously</a:t>
            </a:r>
            <a:endParaRPr sz="1600">
              <a:ea typeface="Calibri"/>
              <a:cs typeface="Calibri"/>
            </a:endParaRPr>
          </a:p>
          <a:p>
            <a:pPr>
              <a:spcBef>
                <a:spcPts val="500"/>
              </a:spcBef>
              <a:defRPr sz="1300">
                <a:solidFill>
                  <a:srgbClr val="2C3E50"/>
                </a:solidFill>
              </a:defRPr>
            </a:pPr>
            <a:r>
              <a:rPr sz="1600"/>
              <a:t>A brief 6-session MBRP protocol is clinically practical, culturally appropriate, and feasible at Man Nasha Mukti Kendra</a:t>
            </a:r>
            <a:endParaRPr sz="1600">
              <a:ea typeface="Calibri"/>
              <a:cs typeface="Calibri"/>
            </a:endParaRPr>
          </a:p>
          <a:p>
            <a:pPr>
              <a:spcBef>
                <a:spcPts val="500"/>
              </a:spcBef>
              <a:defRPr sz="1300">
                <a:solidFill>
                  <a:srgbClr val="2C3E50"/>
                </a:solidFill>
              </a:defRPr>
            </a:pPr>
            <a:r>
              <a:rPr sz="1600"/>
              <a:t>If supported, Brief MBRP can be integrated into standard de-addiction care as a cost-effective, replicable intervention</a:t>
            </a:r>
            <a:endParaRPr sz="1600">
              <a:ea typeface="Calibri"/>
              <a:cs typeface="Calibri"/>
            </a:endParaRPr>
          </a:p>
          <a:p>
            <a:pPr>
              <a:spcBef>
                <a:spcPts val="500"/>
              </a:spcBef>
              <a:defRPr sz="1300">
                <a:solidFill>
                  <a:srgbClr val="2C3E50"/>
                </a:solidFill>
              </a:defRPr>
            </a:pPr>
            <a:r>
              <a:rPr sz="1600"/>
              <a:t>This study contributes to evidence for mindfulness-based interventions in addiction while addressing Indian clinical psychology practice needs</a:t>
            </a:r>
            <a:endParaRPr sz="1600">
              <a:ea typeface="Calibri"/>
              <a:cs typeface="Calibri"/>
            </a:endParaRPr>
          </a:p>
          <a:p>
            <a:pPr>
              <a:spcBef>
                <a:spcPts val="500"/>
              </a:spcBef>
              <a:defRPr sz="1300">
                <a:solidFill>
                  <a:srgbClr val="2C3E50"/>
                </a:solidFill>
              </a:defRPr>
            </a:pPr>
            <a:r>
              <a:rPr sz="1600"/>
              <a:t>Results will inform RCI-recognized training, national treatment policy, and relapse burden reduction</a:t>
            </a:r>
            <a:endParaRPr sz="1600">
              <a:ea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3696397" cy="707886"/>
          </a:xfrm>
          <a:prstGeom prst="rect">
            <a:avLst/>
          </a:prstGeom>
          <a:noFill/>
        </p:spPr>
        <p:txBody>
          <a:bodyPr wrap="none" lIns="91440" tIns="45720" rIns="91440" bIns="45720" anchor="t">
            <a:spAutoFit/>
          </a:bodyPr>
          <a:lstStyle/>
          <a:p>
            <a:pPr algn="l">
              <a:defRPr sz="2200" b="1">
                <a:solidFill>
                  <a:srgbClr val="FFFFFF"/>
                </a:solidFill>
              </a:defRPr>
            </a:pPr>
            <a:r>
              <a:rPr sz="4000"/>
              <a:t>References (1/4)</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38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3121367"/>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Baer, R. A., Smith, G. T., Hopkins, J., Krietemeyer, J., &amp; Toney, L. (2006). Using self-report assessment methods to explore facets of mindfulness. Assessment, 13(1), 27-45.</a:t>
            </a:r>
            <a:endParaRPr lang="en-US" sz="1600" dirty="0">
              <a:ea typeface="Calibri"/>
              <a:cs typeface="Calibri"/>
            </a:endParaRPr>
          </a:p>
          <a:p>
            <a:pPr>
              <a:spcBef>
                <a:spcPts val="500"/>
              </a:spcBef>
              <a:defRPr sz="1300">
                <a:solidFill>
                  <a:srgbClr val="2C3E50"/>
                </a:solidFill>
              </a:defRPr>
            </a:pPr>
            <a:r>
              <a:rPr sz="1600"/>
              <a:t>Bowen, S., Chawla, N., &amp; Marlatt, G. A. (2011). Mindfulness-based relapse prevention for addictive behaviors: A clinician's guide. Guilford Press.</a:t>
            </a:r>
            <a:endParaRPr sz="1600" dirty="0">
              <a:ea typeface="Calibri"/>
              <a:cs typeface="Calibri"/>
            </a:endParaRPr>
          </a:p>
          <a:p>
            <a:pPr>
              <a:spcBef>
                <a:spcPts val="500"/>
              </a:spcBef>
              <a:defRPr sz="1300">
                <a:solidFill>
                  <a:srgbClr val="2C3E50"/>
                </a:solidFill>
              </a:defRPr>
            </a:pPr>
            <a:r>
              <a:rPr sz="1600"/>
              <a:t>Bowen, S., &amp; Marlatt, G. A. (2009). Surfing the urge: Brief mindfulness-based intervention. Psychology of Addictive Behaviors, 23(4), 666-671.</a:t>
            </a:r>
            <a:endParaRPr sz="1600" dirty="0">
              <a:ea typeface="Calibri"/>
              <a:cs typeface="Calibri"/>
            </a:endParaRPr>
          </a:p>
          <a:p>
            <a:pPr>
              <a:spcBef>
                <a:spcPts val="500"/>
              </a:spcBef>
              <a:defRPr sz="1300">
                <a:solidFill>
                  <a:srgbClr val="2C3E50"/>
                </a:solidFill>
              </a:defRPr>
            </a:pPr>
            <a:r>
              <a:rPr sz="1600" dirty="0"/>
              <a:t>Bowen, S., </a:t>
            </a:r>
            <a:r>
              <a:rPr sz="1600" dirty="0" err="1"/>
              <a:t>Witkiewitz</a:t>
            </a:r>
            <a:r>
              <a:rPr sz="1600" dirty="0"/>
              <a:t>, K., </a:t>
            </a:r>
            <a:r>
              <a:rPr sz="1600" dirty="0" err="1"/>
              <a:t>Clifasefi</a:t>
            </a:r>
            <a:r>
              <a:rPr sz="1600" dirty="0"/>
              <a:t>, S. L., et al. (2014). Relative efficacy of MBRP, standard RP, and TAU. JAMA Psychiatry, 71(5), 547-556.</a:t>
            </a:r>
            <a:endParaRPr sz="1600" dirty="0">
              <a:ea typeface="Calibri"/>
              <a:cs typeface="Calibri"/>
            </a:endParaRPr>
          </a:p>
          <a:p>
            <a:pPr>
              <a:spcBef>
                <a:spcPts val="500"/>
              </a:spcBef>
              <a:defRPr sz="1300">
                <a:solidFill>
                  <a:srgbClr val="2C3E50"/>
                </a:solidFill>
              </a:defRPr>
            </a:pPr>
            <a:r>
              <a:rPr sz="1600" dirty="0"/>
              <a:t>Brewer, J. A., Mallik, S., </a:t>
            </a:r>
            <a:r>
              <a:rPr sz="1600" dirty="0" err="1"/>
              <a:t>Babuscio</a:t>
            </a:r>
            <a:r>
              <a:rPr sz="1600" dirty="0"/>
              <a:t>, T. A., et al. (2011). Mindfulness training for smoking cessation. Drug and Alcohol Dependence, 119(1-2), 72-80.</a:t>
            </a:r>
            <a:endParaRPr sz="1600" dirty="0">
              <a:ea typeface="Calibri"/>
              <a:cs typeface="Calibri"/>
            </a:endParaRPr>
          </a:p>
          <a:p>
            <a:pPr>
              <a:spcBef>
                <a:spcPts val="500"/>
              </a:spcBef>
              <a:defRPr sz="1300">
                <a:solidFill>
                  <a:srgbClr val="2C3E50"/>
                </a:solidFill>
              </a:defRPr>
            </a:pPr>
            <a:r>
              <a:rPr sz="1600" dirty="0"/>
              <a:t>Chiesa, A., &amp; </a:t>
            </a:r>
            <a:r>
              <a:rPr sz="1600" dirty="0" err="1"/>
              <a:t>Serretti</a:t>
            </a:r>
            <a:r>
              <a:rPr sz="1600" dirty="0"/>
              <a:t>, A. (2014). Are MBIs effective for substance use disorders? Substance Use &amp; Misuse, 49(5), 492-512.</a:t>
            </a:r>
            <a:endParaRPr sz="1600" dirty="0">
              <a:ea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3696397" cy="707886"/>
          </a:xfrm>
          <a:prstGeom prst="rect">
            <a:avLst/>
          </a:prstGeom>
          <a:noFill/>
        </p:spPr>
        <p:txBody>
          <a:bodyPr wrap="none" lIns="91440" tIns="45720" rIns="91440" bIns="45720" anchor="t">
            <a:spAutoFit/>
          </a:bodyPr>
          <a:lstStyle/>
          <a:p>
            <a:pPr algn="l">
              <a:defRPr sz="2200" b="1">
                <a:solidFill>
                  <a:srgbClr val="FFFFFF"/>
                </a:solidFill>
              </a:defRPr>
            </a:pPr>
            <a:r>
              <a:rPr sz="4000"/>
              <a:t>References (2/4)</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39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3367589"/>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dirty="0"/>
              <a:t>Franken, I. H. A., Hendriks, V. M., &amp; van den Brink, W. (2002). New instruments to measure impulsivity and compulsivity. </a:t>
            </a:r>
            <a:r>
              <a:rPr sz="1600" dirty="0" err="1"/>
              <a:t>Psychiatrie</a:t>
            </a:r>
            <a:r>
              <a:rPr sz="1600" dirty="0"/>
              <a:t> </a:t>
            </a:r>
            <a:r>
              <a:rPr sz="1600" dirty="0" err="1"/>
              <a:t>en</a:t>
            </a:r>
            <a:r>
              <a:rPr sz="1600" dirty="0"/>
              <a:t> </a:t>
            </a:r>
            <a:r>
              <a:rPr sz="1600" dirty="0" err="1"/>
              <a:t>Neurobiologie</a:t>
            </a:r>
            <a:r>
              <a:rPr sz="1600" dirty="0"/>
              <a:t>, 1, 10-14.</a:t>
            </a:r>
            <a:endParaRPr lang="en-US" sz="1600" dirty="0">
              <a:ea typeface="Calibri"/>
              <a:cs typeface="Calibri"/>
            </a:endParaRPr>
          </a:p>
          <a:p>
            <a:pPr>
              <a:spcBef>
                <a:spcPts val="500"/>
              </a:spcBef>
              <a:defRPr sz="1300">
                <a:solidFill>
                  <a:srgbClr val="2C3E50"/>
                </a:solidFill>
              </a:defRPr>
            </a:pPr>
            <a:r>
              <a:rPr sz="1600"/>
              <a:t>Garland, E. L., Froeliger, B., &amp; Howard, M. O. (2014). Mindfulness targets neurocognitive mechanisms of addiction. Frontiers in Psychiatry, 4, 173.</a:t>
            </a:r>
            <a:endParaRPr sz="1600" dirty="0">
              <a:ea typeface="Calibri"/>
              <a:cs typeface="Calibri"/>
            </a:endParaRPr>
          </a:p>
          <a:p>
            <a:pPr>
              <a:spcBef>
                <a:spcPts val="500"/>
              </a:spcBef>
              <a:defRPr sz="1300">
                <a:solidFill>
                  <a:srgbClr val="2C3E50"/>
                </a:solidFill>
              </a:defRPr>
            </a:pPr>
            <a:r>
              <a:rPr sz="1600" dirty="0"/>
              <a:t>Garland, E. L., </a:t>
            </a:r>
            <a:r>
              <a:rPr sz="1600" dirty="0" err="1"/>
              <a:t>Manusov</a:t>
            </a:r>
            <a:r>
              <a:rPr sz="1600" dirty="0"/>
              <a:t>, E. G., Froeliger, B., et al. (2014). MORE for chronic pain and opioid misuse. J. Consulting and Clinical Psychology, 82(3), 448-459.</a:t>
            </a:r>
            <a:endParaRPr sz="1600" dirty="0">
              <a:ea typeface="Calibri"/>
              <a:cs typeface="Calibri"/>
            </a:endParaRPr>
          </a:p>
          <a:p>
            <a:pPr>
              <a:spcBef>
                <a:spcPts val="500"/>
              </a:spcBef>
              <a:defRPr sz="1300">
                <a:solidFill>
                  <a:srgbClr val="2C3E50"/>
                </a:solidFill>
              </a:defRPr>
            </a:pPr>
            <a:r>
              <a:rPr sz="1600" dirty="0"/>
              <a:t>Garland, E. L., Roberts-Lewis, A., </a:t>
            </a:r>
            <a:r>
              <a:rPr sz="1600" dirty="0" err="1"/>
              <a:t>Tronnier</a:t>
            </a:r>
            <a:r>
              <a:rPr sz="1600" dirty="0"/>
              <a:t>, C. D., et al. (2016). MORE vs. CBT for co-occurring SUDs. J. Consulting and Clinical Psychology, 84(4), 281-293.</a:t>
            </a:r>
            <a:endParaRPr sz="1600" dirty="0">
              <a:ea typeface="Calibri"/>
              <a:cs typeface="Calibri"/>
            </a:endParaRPr>
          </a:p>
          <a:p>
            <a:pPr>
              <a:spcBef>
                <a:spcPts val="500"/>
              </a:spcBef>
              <a:defRPr sz="1300">
                <a:solidFill>
                  <a:srgbClr val="2C3E50"/>
                </a:solidFill>
              </a:defRPr>
            </a:pPr>
            <a:r>
              <a:rPr sz="1600"/>
              <a:t>Ghosh, A., Basu, D., &amp; Avasthi, A. (2018). Relapse in opioid dependence: Indian perspective. Indian Journal of Psychiatry, 60(Suppl 4), S469-S476.</a:t>
            </a:r>
            <a:endParaRPr sz="1600" dirty="0">
              <a:ea typeface="Calibri"/>
              <a:cs typeface="Calibri"/>
            </a:endParaRPr>
          </a:p>
          <a:p>
            <a:pPr>
              <a:spcBef>
                <a:spcPts val="500"/>
              </a:spcBef>
              <a:defRPr sz="1300">
                <a:solidFill>
                  <a:srgbClr val="2C3E50"/>
                </a:solidFill>
              </a:defRPr>
            </a:pPr>
            <a:r>
              <a:rPr sz="1600"/>
              <a:t>Glasner-Edwards, S., Mooney, L. J., Ang, A., et al. (2017). MBRP for stimulant dependent adults: Pilot RCT. Mindfulness, 8(1), 126-135.</a:t>
            </a:r>
            <a:endParaRPr sz="1600" dirty="0">
              <a:ea typeface="Calibri"/>
              <a:cs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3696397" cy="707886"/>
          </a:xfrm>
          <a:prstGeom prst="rect">
            <a:avLst/>
          </a:prstGeom>
          <a:noFill/>
        </p:spPr>
        <p:txBody>
          <a:bodyPr wrap="none" lIns="91440" tIns="45720" rIns="91440" bIns="45720" anchor="t">
            <a:spAutoFit/>
          </a:bodyPr>
          <a:lstStyle/>
          <a:p>
            <a:pPr algn="l">
              <a:defRPr sz="2200" b="1">
                <a:solidFill>
                  <a:srgbClr val="FFFFFF"/>
                </a:solidFill>
              </a:defRPr>
            </a:pPr>
            <a:r>
              <a:rPr sz="4000"/>
              <a:t>References (3/4)</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40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2693045"/>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dirty="0"/>
              <a:t>Grant, S., </a:t>
            </a:r>
            <a:r>
              <a:rPr sz="1600" dirty="0" err="1"/>
              <a:t>Colaiaco</a:t>
            </a:r>
            <a:r>
              <a:rPr sz="1600" dirty="0"/>
              <a:t>, B., Motala, A., et al. (2017). MBRP for SUDs: Meta-analysis. J. Addiction Medicine, 11(5), 386-396.</a:t>
            </a:r>
            <a:endParaRPr lang="en-US" sz="1600" dirty="0">
              <a:ea typeface="Calibri"/>
              <a:cs typeface="Calibri"/>
            </a:endParaRPr>
          </a:p>
          <a:p>
            <a:pPr>
              <a:spcBef>
                <a:spcPts val="500"/>
              </a:spcBef>
              <a:defRPr sz="1300">
                <a:solidFill>
                  <a:srgbClr val="2C3E50"/>
                </a:solidFill>
              </a:defRPr>
            </a:pPr>
            <a:r>
              <a:rPr sz="1600"/>
              <a:t>Humeniuk, R., Ali, R., Babor, T. F., et al. (2008). Validation of ASSIST. Addiction, 103(6), 1039-1047.</a:t>
            </a:r>
            <a:endParaRPr sz="1600" dirty="0">
              <a:ea typeface="Calibri"/>
              <a:cs typeface="Calibri"/>
            </a:endParaRPr>
          </a:p>
          <a:p>
            <a:pPr>
              <a:spcBef>
                <a:spcPts val="500"/>
              </a:spcBef>
              <a:defRPr sz="1300">
                <a:solidFill>
                  <a:srgbClr val="2C3E50"/>
                </a:solidFill>
              </a:defRPr>
            </a:pPr>
            <a:r>
              <a:rPr sz="1600"/>
              <a:t>Jain, R., Majumder, P., &amp; Gupta, T. (2013). Indian Journal of Psychiatry, 55(Suppl 1), S86-S92.</a:t>
            </a:r>
            <a:endParaRPr sz="1600" dirty="0">
              <a:ea typeface="Calibri"/>
              <a:cs typeface="Calibri"/>
            </a:endParaRPr>
          </a:p>
          <a:p>
            <a:pPr>
              <a:spcBef>
                <a:spcPts val="500"/>
              </a:spcBef>
              <a:defRPr sz="1300">
                <a:solidFill>
                  <a:srgbClr val="2C3E50"/>
                </a:solidFill>
              </a:defRPr>
            </a:pPr>
            <a:r>
              <a:rPr sz="1600"/>
              <a:t>Kabat-Zinn, J. (1990). Full catastrophe living. Delacorte Press.</a:t>
            </a:r>
            <a:endParaRPr sz="1600" dirty="0">
              <a:ea typeface="Calibri"/>
              <a:cs typeface="Calibri"/>
            </a:endParaRPr>
          </a:p>
          <a:p>
            <a:pPr>
              <a:spcBef>
                <a:spcPts val="500"/>
              </a:spcBef>
              <a:defRPr sz="1300">
                <a:solidFill>
                  <a:srgbClr val="2C3E50"/>
                </a:solidFill>
              </a:defRPr>
            </a:pPr>
            <a:r>
              <a:rPr sz="1600" dirty="0" err="1"/>
              <a:t>Karyadi</a:t>
            </a:r>
            <a:r>
              <a:rPr sz="1600" dirty="0"/>
              <a:t>, K. A., </a:t>
            </a:r>
            <a:r>
              <a:rPr sz="1600" dirty="0" err="1"/>
              <a:t>VanderVeen</a:t>
            </a:r>
            <a:r>
              <a:rPr sz="1600" dirty="0"/>
              <a:t>, J. D., &amp; Cyders, M. A. (2014). Trait mindfulness and substance use: Meta-analysis. Drug and Alcohol Dependence, 143, 1-10.</a:t>
            </a:r>
            <a:endParaRPr sz="1600" dirty="0">
              <a:ea typeface="Calibri"/>
              <a:cs typeface="Calibri"/>
            </a:endParaRPr>
          </a:p>
          <a:p>
            <a:pPr>
              <a:spcBef>
                <a:spcPts val="500"/>
              </a:spcBef>
              <a:defRPr sz="1300">
                <a:solidFill>
                  <a:srgbClr val="2C3E50"/>
                </a:solidFill>
              </a:defRPr>
            </a:pPr>
            <a:r>
              <a:rPr sz="1600"/>
              <a:t>Li, W., Howard, M. O., Garland, E. L., et al. (2017). Mindfulness for substance misuse: Meta-analysis. J. Substance Abuse Treatment, 75, 62-96.</a:t>
            </a:r>
            <a:endParaRPr sz="1600" dirty="0">
              <a:ea typeface="Calibri"/>
              <a:cs typeface="Calibri"/>
            </a:endParaRPr>
          </a:p>
          <a:p>
            <a:pPr>
              <a:spcBef>
                <a:spcPts val="500"/>
              </a:spcBef>
              <a:defRPr sz="1300">
                <a:solidFill>
                  <a:srgbClr val="2C3E50"/>
                </a:solidFill>
              </a:defRPr>
            </a:pPr>
            <a:r>
              <a:rPr sz="1600"/>
              <a:t>Marlatt, G. A., &amp; Gordon, J. R. (1985). Relapse prevention. Guilford Press.</a:t>
            </a:r>
            <a:endParaRPr sz="1600" dirty="0">
              <a:ea typeface="Calibri"/>
              <a:cs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p:cNvSpPr/>
          <p:nvPr/>
        </p:nvSpPr>
        <p:spPr>
          <a:xfrm>
            <a:off x="0" y="0"/>
            <a:ext cx="137160"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51560"/>
            <a:ext cx="12191695" cy="54864"/>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3696397" cy="707886"/>
          </a:xfrm>
          <a:prstGeom prst="rect">
            <a:avLst/>
          </a:prstGeom>
          <a:noFill/>
        </p:spPr>
        <p:txBody>
          <a:bodyPr wrap="none" lIns="91440" tIns="45720" rIns="91440" bIns="45720" anchor="t">
            <a:spAutoFit/>
          </a:bodyPr>
          <a:lstStyle/>
          <a:p>
            <a:pPr algn="l">
              <a:defRPr sz="2200" b="1">
                <a:solidFill>
                  <a:srgbClr val="FFFFFF"/>
                </a:solidFill>
              </a:defRPr>
            </a:pPr>
            <a:r>
              <a:rPr sz="4000"/>
              <a:t>References (4/4)</a:t>
            </a:r>
            <a:endParaRPr lang="en-US" sz="4000">
              <a:ea typeface="Calibri"/>
              <a:cs typeface="Calibri"/>
            </a:endParaRPr>
          </a:p>
        </p:txBody>
      </p:sp>
      <p:sp>
        <p:nvSpPr>
          <p:cNvPr id="6" name="TextBox 5"/>
          <p:cNvSpPr txBox="1"/>
          <p:nvPr/>
        </p:nvSpPr>
        <p:spPr>
          <a:xfrm>
            <a:off x="10789920" y="6492240"/>
            <a:ext cx="1188720" cy="320040"/>
          </a:xfrm>
          <a:prstGeom prst="rect">
            <a:avLst/>
          </a:prstGeom>
          <a:noFill/>
        </p:spPr>
        <p:txBody>
          <a:bodyPr wrap="none">
            <a:spAutoFit/>
          </a:bodyPr>
          <a:lstStyle/>
          <a:p>
            <a:pPr algn="r">
              <a:defRPr sz="900">
                <a:solidFill>
                  <a:srgbClr val="90A4AE"/>
                </a:solidFill>
              </a:defRPr>
            </a:pPr>
            <a:r>
              <a:t>41 / 42</a:t>
            </a:r>
          </a:p>
        </p:txBody>
      </p:sp>
      <p:sp>
        <p:nvSpPr>
          <p:cNvPr id="7" name="Rectangle 6"/>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280160"/>
            <a:ext cx="10789920" cy="3688189"/>
          </a:xfrm>
          <a:prstGeom prst="rect">
            <a:avLst/>
          </a:prstGeom>
          <a:noFill/>
        </p:spPr>
        <p:txBody>
          <a:bodyPr wrap="square" lIns="91440" tIns="45720" rIns="91440" bIns="45720" anchor="t">
            <a:spAutoFit/>
          </a:bodyPr>
          <a:lstStyle/>
          <a:p>
            <a:pPr>
              <a:spcBef>
                <a:spcPts val="500"/>
              </a:spcBef>
              <a:defRPr sz="1300">
                <a:solidFill>
                  <a:srgbClr val="2C3E50"/>
                </a:solidFill>
              </a:defRPr>
            </a:pPr>
            <a:r>
              <a:rPr sz="1600"/>
              <a:t>Mattoo, S. K., Chakrabarti, S., &amp; Anjaiah, M. (2009). Psychosocial factors in relapse. Indian J. Medical Research, 130(6), 702-708.</a:t>
            </a:r>
            <a:endParaRPr lang="en-US" sz="1600" dirty="0">
              <a:ea typeface="Calibri"/>
              <a:cs typeface="Calibri"/>
            </a:endParaRPr>
          </a:p>
          <a:p>
            <a:pPr>
              <a:spcBef>
                <a:spcPts val="500"/>
              </a:spcBef>
              <a:defRPr sz="1300">
                <a:solidFill>
                  <a:srgbClr val="2C3E50"/>
                </a:solidFill>
              </a:defRPr>
            </a:pPr>
            <a:r>
              <a:rPr sz="1600"/>
              <a:t>Ministry of Social Justice &amp; Empowerment. (2019). Magnitude of substance use in India. Government of India.</a:t>
            </a:r>
            <a:endParaRPr sz="1600" dirty="0">
              <a:ea typeface="Calibri"/>
              <a:cs typeface="Calibri"/>
            </a:endParaRPr>
          </a:p>
          <a:p>
            <a:pPr>
              <a:spcBef>
                <a:spcPts val="500"/>
              </a:spcBef>
              <a:defRPr sz="1300">
                <a:solidFill>
                  <a:srgbClr val="2C3E50"/>
                </a:solidFill>
              </a:defRPr>
            </a:pPr>
            <a:r>
              <a:rPr sz="1600"/>
              <a:t>Moeller, F. G., Barratt, E. S., Dougherty, D. M., et al. (2001). Psychiatric aspects of impulsivity. Am. J. Psychiatry, 158(11), 1783-1793.</a:t>
            </a:r>
            <a:endParaRPr sz="1600" dirty="0">
              <a:ea typeface="Calibri"/>
              <a:cs typeface="Calibri"/>
            </a:endParaRPr>
          </a:p>
          <a:p>
            <a:pPr>
              <a:spcBef>
                <a:spcPts val="500"/>
              </a:spcBef>
              <a:defRPr sz="1300">
                <a:solidFill>
                  <a:srgbClr val="2C3E50"/>
                </a:solidFill>
              </a:defRPr>
            </a:pPr>
            <a:r>
              <a:rPr sz="1600"/>
              <a:t>Murphy, C., &amp; MacKillop, J. (2012). Impulsivity, mindfulness, and alcohol misuse. Psychopharmacology, 219(2), 527-536.</a:t>
            </a:r>
            <a:endParaRPr sz="1600" dirty="0">
              <a:ea typeface="Calibri"/>
              <a:cs typeface="Calibri"/>
            </a:endParaRPr>
          </a:p>
          <a:p>
            <a:pPr>
              <a:spcBef>
                <a:spcPts val="500"/>
              </a:spcBef>
              <a:defRPr sz="1300">
                <a:solidFill>
                  <a:srgbClr val="2C3E50"/>
                </a:solidFill>
              </a:defRPr>
            </a:pPr>
            <a:r>
              <a:rPr sz="1600"/>
              <a:t>NIDA. (2020). Drugs, brains, and behavior: The science of addiction.</a:t>
            </a:r>
            <a:endParaRPr sz="1600" dirty="0">
              <a:ea typeface="Calibri"/>
              <a:cs typeface="Calibri"/>
            </a:endParaRPr>
          </a:p>
          <a:p>
            <a:pPr>
              <a:spcBef>
                <a:spcPts val="500"/>
              </a:spcBef>
              <a:defRPr sz="1300">
                <a:solidFill>
                  <a:srgbClr val="2C3E50"/>
                </a:solidFill>
              </a:defRPr>
            </a:pPr>
            <a:r>
              <a:rPr sz="1600"/>
              <a:t>Patton, J. H., Stanford, M. S., &amp; Barratt, E. S. (1995). Factor structure of BIS. J. Clinical Psychology, 51(6), 768-774.</a:t>
            </a:r>
            <a:endParaRPr sz="1600" dirty="0">
              <a:ea typeface="Calibri"/>
              <a:cs typeface="Calibri"/>
            </a:endParaRPr>
          </a:p>
          <a:p>
            <a:pPr>
              <a:spcBef>
                <a:spcPts val="500"/>
              </a:spcBef>
              <a:defRPr sz="1300">
                <a:solidFill>
                  <a:srgbClr val="2C3E50"/>
                </a:solidFill>
              </a:defRPr>
            </a:pPr>
            <a:r>
              <a:rPr sz="1600"/>
              <a:t>Robinson, T. E., &amp; Berridge, K. C. (1993). Neural basis of drug craving. Brain Research Reviews, 18(3), 247-291.</a:t>
            </a:r>
            <a:endParaRPr sz="1600" dirty="0">
              <a:ea typeface="Calibri"/>
              <a:cs typeface="Calibri"/>
            </a:endParaRPr>
          </a:p>
          <a:p>
            <a:pPr>
              <a:spcBef>
                <a:spcPts val="500"/>
              </a:spcBef>
              <a:defRPr sz="1300">
                <a:solidFill>
                  <a:srgbClr val="2C3E50"/>
                </a:solidFill>
              </a:defRPr>
            </a:pPr>
            <a:r>
              <a:rPr sz="1600"/>
              <a:t>Sarkar, S., &amp; Balhara, Y. P. S. (2016). Indian Journal of Psychiatry, 58(3), 290-295.</a:t>
            </a:r>
            <a:endParaRPr sz="1600" dirty="0">
              <a:ea typeface="Calibri"/>
              <a:cs typeface="Calibri"/>
            </a:endParaRPr>
          </a:p>
          <a:p>
            <a:pPr>
              <a:spcBef>
                <a:spcPts val="500"/>
              </a:spcBef>
              <a:defRPr sz="1300">
                <a:solidFill>
                  <a:srgbClr val="2C3E50"/>
                </a:solidFill>
              </a:defRPr>
            </a:pPr>
            <a:r>
              <a:rPr sz="1600"/>
              <a:t>Tabachnick, B. G., &amp; Fidell, L. S. (2013). Using multivariate statistics (6th ed.). Pearson.</a:t>
            </a:r>
            <a:endParaRPr sz="1600" dirty="0">
              <a:ea typeface="Calibri"/>
              <a:cs typeface="Calibri"/>
            </a:endParaRPr>
          </a:p>
          <a:p>
            <a:pPr>
              <a:spcBef>
                <a:spcPts val="500"/>
              </a:spcBef>
              <a:defRPr sz="1300">
                <a:solidFill>
                  <a:srgbClr val="2C3E50"/>
                </a:solidFill>
              </a:defRPr>
            </a:pPr>
            <a:r>
              <a:rPr sz="1600"/>
              <a:t>WHO ASSIST Working Group. (2002). ASSIST development. Addiction, 97(9), 1183-1194.</a:t>
            </a:r>
            <a:endParaRPr sz="1600" dirty="0">
              <a:ea typeface="Calibri"/>
              <a:cs typeface="Calibri"/>
            </a:endParaRPr>
          </a:p>
          <a:p>
            <a:pPr>
              <a:spcBef>
                <a:spcPts val="500"/>
              </a:spcBef>
              <a:defRPr sz="1300">
                <a:solidFill>
                  <a:srgbClr val="2C3E50"/>
                </a:solidFill>
              </a:defRPr>
            </a:pPr>
            <a:r>
              <a:rPr sz="1600" dirty="0" err="1"/>
              <a:t>Witkiewitz</a:t>
            </a:r>
            <a:r>
              <a:rPr sz="1600" dirty="0"/>
              <a:t>, K., Bowen, S., Douglas, H., &amp; Hsu, S. H. (2013). MBRP for craving. Addictive Behaviors, 38(2), 1563-1571.</a:t>
            </a:r>
            <a:endParaRPr sz="1600" dirty="0">
              <a:ea typeface="Calibri"/>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8686800" y="4114800"/>
            <a:ext cx="3200400" cy="3200400"/>
          </a:xfrm>
          <a:prstGeom prst="ellipse">
            <a:avLst/>
          </a:prstGeom>
          <a:solidFill>
            <a:srgbClr val="1B2A4A"/>
          </a:solidFill>
          <a:ln w="25400">
            <a:solidFill>
              <a:srgbClr val="007B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57200" y="-457200"/>
            <a:ext cx="2286000" cy="2286000"/>
          </a:xfrm>
          <a:prstGeom prst="ellipse">
            <a:avLst/>
          </a:prstGeom>
          <a:solidFill>
            <a:srgbClr val="1B2A4A"/>
          </a:solidFill>
          <a:ln w="19050">
            <a:solidFill>
              <a:srgbClr val="C98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01694" y="2256971"/>
            <a:ext cx="3588611" cy="2333972"/>
          </a:xfrm>
          <a:prstGeom prst="rect">
            <a:avLst/>
          </a:prstGeom>
          <a:noFill/>
        </p:spPr>
        <p:txBody>
          <a:bodyPr wrap="none" lIns="91440" tIns="45720" rIns="91440" bIns="45720" anchor="t">
            <a:spAutoFit/>
          </a:bodyPr>
          <a:lstStyle/>
          <a:p>
            <a:pPr algn="ctr">
              <a:defRPr sz="4400" b="1">
                <a:solidFill>
                  <a:srgbClr val="FFFFFF"/>
                </a:solidFill>
              </a:defRPr>
            </a:pPr>
            <a:r>
              <a:rPr sz="6000"/>
              <a:t>Thank You</a:t>
            </a:r>
            <a:endParaRPr lang="en-US" sz="6000">
              <a:ea typeface="Calibri"/>
              <a:cs typeface="Calibri"/>
            </a:endParaRPr>
          </a:p>
          <a:p>
            <a:pPr algn="ctr">
              <a:spcBef>
                <a:spcPts val="2000"/>
              </a:spcBef>
              <a:defRPr sz="1800">
                <a:solidFill>
                  <a:srgbClr val="00A8A8"/>
                </a:solidFill>
              </a:defRPr>
            </a:pPr>
            <a:r>
              <a:rPr sz="2800"/>
              <a:t>Questions &amp; Discussion</a:t>
            </a:r>
            <a:endParaRPr sz="2800">
              <a:ea typeface="Calibri"/>
              <a:cs typeface="Calibri"/>
            </a:endParaRPr>
          </a:p>
          <a:p>
            <a:endParaRPr sz="2800" dirty="0">
              <a:ea typeface="Calibri"/>
              <a:cs typeface="Calibri"/>
            </a:endParaRPr>
          </a:p>
          <a:p>
            <a:pPr algn="ctr">
              <a:defRPr sz="1300">
                <a:solidFill>
                  <a:srgbClr val="90A4AE"/>
                </a:solidFill>
              </a:defRPr>
            </a:pPr>
            <a:endParaRPr dirty="0">
              <a:ea typeface="Calibri"/>
              <a:cs typeface="Calibri"/>
            </a:endParaRPr>
          </a:p>
        </p:txBody>
      </p:sp>
      <p:sp>
        <p:nvSpPr>
          <p:cNvPr id="5" name="Rectangle 4"/>
          <p:cNvSpPr/>
          <p:nvPr/>
        </p:nvSpPr>
        <p:spPr>
          <a:xfrm>
            <a:off x="0" y="6583680"/>
            <a:ext cx="12191695" cy="73152"/>
          </a:xfrm>
          <a:prstGeom prst="rect">
            <a:avLst/>
          </a:prstGeom>
          <a:solidFill>
            <a:srgbClr val="C9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183</cp:revision>
  <dcterms:created xsi:type="dcterms:W3CDTF">2013-01-27T09:14:16Z</dcterms:created>
  <dcterms:modified xsi:type="dcterms:W3CDTF">2026-07-18T06:06:28Z</dcterms:modified>
  <cp:category/>
</cp:coreProperties>
</file>