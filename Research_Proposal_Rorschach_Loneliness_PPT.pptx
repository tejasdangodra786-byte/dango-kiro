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Rorschach Indices of the Cognitive Triad</a:t>
            </a:r>
          </a:p>
          <a:p>
            <a:pPr algn="ctr">
              <a:defRPr sz="2800">
                <a:solidFill>
                  <a:srgbClr val="2E86AB"/>
                </a:solidFill>
              </a:defRPr>
            </a:pPr>
            <a:r>
              <a:t>(Processing, Mediation, and Ideation)</a:t>
            </a:r>
          </a:p>
          <a:p>
            <a:pPr algn="ctr">
              <a:defRPr sz="3200" b="1">
                <a:solidFill>
                  <a:srgbClr val="FFFFFF"/>
                </a:solidFill>
              </a:defRPr>
            </a:pPr>
            <a:r>
              <a:t>as Predictors of Subjective Loneliness</a:t>
            </a:r>
          </a:p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in Patients with Schizophrenia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7548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D4A537"/>
                </a:solidFill>
              </a:defRPr>
            </a:pPr>
            <a:r>
              <a:t>MPhil Clinical Psychology Research Proposal</a:t>
            </a:r>
          </a:p>
          <a:p>
            <a:br/>
            <a:pPr algn="ctr">
              <a:defRPr sz="1400">
                <a:solidFill>
                  <a:srgbClr val="BBCCDD"/>
                </a:solidFill>
              </a:defRPr>
            </a:pPr>
            <a:r>
              <a:t>Candidate: [Your Name]  |  Guide: [Guide Name]</a:t>
            </a:r>
          </a:p>
          <a:p>
            <a:pPr algn="ctr">
              <a:defRPr sz="1400">
                <a:solidFill>
                  <a:srgbClr val="BBCCDD"/>
                </a:solidFill>
              </a:defRPr>
            </a:pPr>
            <a:r>
              <a:t>[Institution Name]  |  2026-2027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2743200" cy="635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* Schizophrenia affects 0.3-0.7% of the global population with pervasive cognitive,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social, and functional impairments that persist despite pharmacological treatment.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* Loneliness -- the painful gap between desired and actual social connection --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is one of the most neglected yet devastating experiences in schizophrenia.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* Meta-analysis (2018): Significant positive relationship between loneliness &amp; psychosis.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Loneliness linked to hospitalization, cognitive decline, and mortality (Green et al., 2023).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* The Cognitive Model of Loneliness (Cacioppo &amp; Hawkley, 2009) proposes that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loneliness arises from HOW one processes and perceives the social world --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not merely from being objectively alone.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* The Rorschach Cognitive Triad (Processing -&gt; Mediation -&gt; Ideation) captures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EXACTLY these cognitive operations through a performance-based assessment.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D4A537"/>
                </a:solidFill>
              </a:defRPr>
            </a:pPr>
            <a:r>
              <a:t>The Problem: Why Are Patients With Schizophrenia Lonely?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22860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POOR PROCESSING</a:t>
            </a:r>
          </a:p>
          <a:p>
            <a:pPr algn="ctr">
              <a:defRPr sz="1300">
                <a:solidFill>
                  <a:srgbClr val="FFFFFF"/>
                </a:solidFill>
              </a:defRPr>
            </a:pPr>
            <a:r>
              <a:t>They scan their social</a:t>
            </a:r>
            <a:br/>
            <a:r>
              <a:t>world hastily or</a:t>
            </a:r>
            <a:br/>
            <a:r>
              <a:t>oversimplistically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645920"/>
            <a:ext cx="3474720" cy="2286000"/>
          </a:xfrm>
          <a:prstGeom prst="roundRect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173736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MISPERCEPTION</a:t>
            </a:r>
          </a:p>
          <a:p>
            <a:pPr algn="ctr">
              <a:defRPr sz="1300">
                <a:solidFill>
                  <a:srgbClr val="FFFFFF"/>
                </a:solidFill>
              </a:defRPr>
            </a:pPr>
            <a:r>
              <a:t>They misread neutral</a:t>
            </a:r>
            <a:br/>
            <a:r>
              <a:t>social cues as</a:t>
            </a:r>
            <a:br/>
            <a:r>
              <a:t>threatening/rejecting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1645920"/>
            <a:ext cx="3474720" cy="228600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173736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DISTORTED THINKING</a:t>
            </a:r>
          </a:p>
          <a:p>
            <a:pPr algn="ctr">
              <a:defRPr sz="1300">
                <a:solidFill>
                  <a:srgbClr val="FFFFFF"/>
                </a:solidFill>
              </a:defRPr>
            </a:pPr>
            <a:r>
              <a:t>They reason about</a:t>
            </a:r>
            <a:br/>
            <a:r>
              <a:t>relationships in</a:t>
            </a:r>
            <a:br/>
            <a:r>
              <a:t>illogical ways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23360" y="2560320"/>
            <a:ext cx="548640" cy="365760"/>
          </a:xfrm>
          <a:prstGeom prst="rightArrow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863840" y="2560320"/>
            <a:ext cx="548640" cy="365760"/>
          </a:xfrm>
          <a:prstGeom prst="rightArrow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00400" y="4389120"/>
            <a:ext cx="5486400" cy="1097280"/>
          </a:xfrm>
          <a:prstGeom prst="roundRect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448056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RESULT: Profound Subjective Loneliness</a:t>
            </a:r>
          </a:p>
          <a:p>
            <a:pPr algn="ctr">
              <a:defRPr sz="1300" i="1">
                <a:solidFill>
                  <a:srgbClr val="FFFFFF"/>
                </a:solidFill>
              </a:defRPr>
            </a:pPr>
            <a:r>
              <a:t>"I am surrounded by people but feel utterly alone"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669280" y="3931920"/>
            <a:ext cx="457200" cy="457200"/>
          </a:xfrm>
          <a:prstGeom prst="downArrow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7607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BBCCDD"/>
                </a:solidFill>
              </a:defRPr>
            </a:pPr>
            <a:r>
              <a:t>The Rorschach Cognitive Triad measures ALL THREE steps in a single 30-min assessment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Review of Literature: Key Findings (2016-2026)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2743200" cy="635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1. Michalska da Rocha et al. (2018) - Meta-analysis: Significant positive relationship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between loneliness and psychosis. Called for cognitive mechanism research.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2. Thibaudeau et al. (2023) - Loneliness linked to impaired mentalizing &amp; emotion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recognition ONLY in patients with social-cognitive deficits.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3. Hajduk et al. (2023) - Social Threat Bias directly predicts loneliness in SCZ.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Misperception of neutral as threatening -&gt; withdrawal -&gt; loneliness.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4. Green et al. (2023) - 'Social homeostasis' model: Cognitive-perceptual impairment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is the primary mechanism of chronic social disconnection in SMI.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5. Ilonen et al. (2012) - Rorschach psychological complexity predicted functional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capacity (r=.30-.35) BEYOND neurocognition &amp; symptoms in schizophrenia.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6. Singh et al. (2021) - Rorschach cognitive variables correlate with psychopathology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in Indian schizophrenia sample. No loneliness outcome examined.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Review of Literature: Additional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2743200" cy="635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7. Hsu et al. (2024) - Longitudinal: Social isolation -&gt; poor language &amp; memory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in schizophrenia inpatients (2-year follow-up, N=166).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8. Wang et al. (2026) - Loneliness directly associated with cognitive impairment;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sleep quality and anxiety mediate the pathway.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9. Regev et al. (2024) - Patients with high social exclusion were 4.24x more likely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to have cognitive impairment vs. low exclusion group.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10. Jo et al. (2024) - Rorschach ideation variables (DV2, D score) differentiate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 Kraepelinian vs. DSM schizophrenia severity.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11. Lin et al. (2022) - UCLA Loneliness Scale V3 validated in schizophrenia.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12. Kimoto et al. (2016) - Rorschach mediation (X-%, XA%) distinctively impaired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 in schizophrenia vs. ASD: stronger perception distortions.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Research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286000" cy="63500"/>
          </a:xfrm>
          <a:prstGeom prst="rect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1371600"/>
            <a:ext cx="411480" cy="411480"/>
          </a:xfrm>
          <a:prstGeom prst="ellipse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970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37160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A1A2E"/>
                </a:solidFill>
              </a:defRPr>
            </a:pPr>
            <a:r>
              <a:t>No study globally has linked Rorschach cognitive triad to loneliness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194560"/>
            <a:ext cx="411480" cy="411480"/>
          </a:xfrm>
          <a:prstGeom prst="ellipse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21996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19456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A1A2E"/>
                </a:solidFill>
              </a:defRPr>
            </a:pPr>
            <a:r>
              <a:t>Existing loneliness research uses computerized tasks unavailable in India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017520"/>
            <a:ext cx="411480" cy="411480"/>
          </a:xfrm>
          <a:prstGeom prst="ellipse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04292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01752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A1A2E"/>
                </a:solidFill>
              </a:defRPr>
            </a:pPr>
            <a:r>
              <a:t>Nobody has tested WHICH cognitive step predicts loneliness most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840480"/>
            <a:ext cx="411480" cy="411480"/>
          </a:xfrm>
          <a:prstGeom prst="ellipse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8658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8404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A1A2E"/>
                </a:solidFill>
              </a:defRPr>
            </a:pPr>
            <a:r>
              <a:t>No Indian data on loneliness &amp; its cognitive correlates in schizophrenia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663440"/>
            <a:ext cx="411480" cy="411480"/>
          </a:xfrm>
          <a:prstGeom prst="ellipse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68884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66344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A1A2E"/>
                </a:solidFill>
              </a:defRPr>
            </a:pPr>
            <a:r>
              <a:t>Rorschach cognition studied for functioning but NEVER for subjective experience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5486400"/>
            <a:ext cx="411480" cy="411480"/>
          </a:xfrm>
          <a:prstGeom prst="ellipse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55118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48640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A1A2E"/>
                </a:solidFill>
              </a:defRPr>
            </a:pPr>
            <a:r>
              <a:t>Ilonen (2012) used R-PAS, not Exner CS taught in Indian MPhil programs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Rationale of the Study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2743200" cy="635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1. CLINICAL URGENCY: Loneliness predicts hospitalization, suicide risk,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cognitive decline &amp; mortality in schizophrenia (Green et al., 2023; Yen et al., 2023)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2. THEORETICAL BASIS: Cognitive Model of Loneliness (Cacioppo &amp; Hawkley, 2009)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establishes that misperception of social environment CAUSES loneliness.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3. PERFECT TOOL MATCH: Rorschach Cognitive Triad measures exactly the cognitive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operations (processing, perception accuracy, reasoning) implicated in loneliness.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4. PRACTICAL ADVANTAGE: Single 30-min projective assessment replaces multi-hour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neuropsych batteries; available in every clinical psychology department in India.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5. INTERVENTION IMPLICATION: Identifying WHICH cognitive step predicts loneliness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enables targeted cognitive remediation planning for lonely patients.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Aim &amp; Objectives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2286000" cy="635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10972800" cy="10972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AIM: To examine whether Rorschach indices of the Cognitive Triad (Processing,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Mediation, Ideation) predict subjective loneliness in patients with schizophrenia.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A1A2E"/>
                </a:solidFill>
              </a:defRPr>
            </a:pPr>
            <a:r>
              <a:t>O1: Assess Rorschach Cognitive Triad profile of schizophrenia patients</a:t>
            </a:r>
          </a:p>
          <a:p>
            <a:pPr>
              <a:spcAft>
                <a:spcPts val="800"/>
              </a:spcAft>
              <a:defRPr sz="1400">
                <a:solidFill>
                  <a:srgbClr val="1A1A2E"/>
                </a:solidFill>
              </a:defRPr>
            </a:pPr>
            <a:r>
              <a:t>O2: Assess level of subjective loneliness using UCLA Loneliness Scale V3</a:t>
            </a:r>
          </a:p>
          <a:p>
            <a:pPr>
              <a:spcAft>
                <a:spcPts val="800"/>
              </a:spcAft>
              <a:defRPr sz="1400">
                <a:solidFill>
                  <a:srgbClr val="1A1A2E"/>
                </a:solidFill>
              </a:defRPr>
            </a:pPr>
            <a:r>
              <a:t>O3: Examine correlation between Processing variables &amp; loneliness</a:t>
            </a:r>
          </a:p>
          <a:p>
            <a:pPr>
              <a:spcAft>
                <a:spcPts val="800"/>
              </a:spcAft>
              <a:defRPr sz="1400">
                <a:solidFill>
                  <a:srgbClr val="1A1A2E"/>
                </a:solidFill>
              </a:defRPr>
            </a:pPr>
            <a:r>
              <a:t>O4: Examine correlation between Mediation variables &amp; loneliness</a:t>
            </a:r>
          </a:p>
          <a:p>
            <a:pPr>
              <a:spcAft>
                <a:spcPts val="800"/>
              </a:spcAft>
              <a:defRPr sz="1400">
                <a:solidFill>
                  <a:srgbClr val="1A1A2E"/>
                </a:solidFill>
              </a:defRPr>
            </a:pPr>
            <a:r>
              <a:t>O5: Examine correlation between Ideation variables &amp; loneliness</a:t>
            </a:r>
          </a:p>
          <a:p>
            <a:pPr>
              <a:spcAft>
                <a:spcPts val="800"/>
              </a:spcAft>
              <a:defRPr sz="1400">
                <a:solidFill>
                  <a:srgbClr val="1A1A2E"/>
                </a:solidFill>
              </a:defRPr>
            </a:pPr>
            <a:r>
              <a:t>O6: Determine which cluster is the STRONGEST predictor after controlling PANSS-N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Hypotheses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2743200" cy="635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H1: Higher Processing efficiency (normal Zd, higher DQ+) will predict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 LESS loneliness -- patients who process efficiently connect better.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H2: Greater Mediation distortion (higher X-%, lower XA%) will predict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 MORE loneliness -- patients who misperceive reality feel more isolated.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H3: Greater Ideation disturbance (higher WSum6, more M-) will predict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 MORE loneliness -- disorganized thinking impairs social connection.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H4: Cognitive Triad variables will predict loneliness ABOVE AND BEYOND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 negative symptoms (PANSS-N) -- showing unique predictive value.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H5: The MEDIATION cluster (reality testing) will be the STRONGEST predictor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 of loneliness -- because misperception most directly disrupts connection.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2286000" cy="635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2651760" cy="22860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2286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Research Design</a:t>
            </a:r>
          </a:p>
          <a:p>
            <a:br/>
            <a:pPr algn="ctr">
              <a:defRPr sz="1200">
                <a:solidFill>
                  <a:srgbClr val="FFFFFF"/>
                </a:solidFill>
              </a:defRPr>
            </a:pPr>
            <a:r>
              <a:t>Cross-sectional</a:t>
            </a:r>
            <a:br/>
            <a:r>
              <a:t>Correlational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371600"/>
            <a:ext cx="2651760" cy="22860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463040"/>
            <a:ext cx="2286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Sample</a:t>
            </a:r>
          </a:p>
          <a:p>
            <a:br/>
            <a:pPr algn="ctr">
              <a:defRPr sz="1200">
                <a:solidFill>
                  <a:srgbClr val="FFFFFF"/>
                </a:solidFill>
              </a:defRPr>
            </a:pPr>
            <a:r>
              <a:t>N = 40-45</a:t>
            </a:r>
            <a:br/>
            <a:r>
              <a:t>Schizophrenia (ICD-10/11)</a:t>
            </a:r>
            <a:br/>
            <a:r>
              <a:t>Clinically stable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371600"/>
            <a:ext cx="2651760" cy="228600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463040"/>
            <a:ext cx="2286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Sampling</a:t>
            </a:r>
          </a:p>
          <a:p>
            <a:br/>
            <a:pPr algn="ctr">
              <a:defRPr sz="1200">
                <a:solidFill>
                  <a:srgbClr val="FFFFFF"/>
                </a:solidFill>
              </a:defRPr>
            </a:pPr>
            <a:r>
              <a:t>Purposive</a:t>
            </a:r>
            <a:br/>
            <a:r>
              <a:t>Psychiatry OPD</a:t>
            </a:r>
            <a:br/>
            <a:r>
              <a:t>Follow-up clinic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371600"/>
            <a:ext cx="2651760" cy="2286000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0" y="1463040"/>
            <a:ext cx="2286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Duration</a:t>
            </a:r>
          </a:p>
          <a:p>
            <a:br/>
            <a:pPr algn="ctr">
              <a:defRPr sz="1200">
                <a:solidFill>
                  <a:srgbClr val="FFFFFF"/>
                </a:solidFill>
              </a:defRPr>
            </a:pPr>
            <a:r>
              <a:t>4-5 months</a:t>
            </a:r>
            <a:br/>
            <a:r>
              <a:t>Data collection</a:t>
            </a:r>
            <a:br/>
            <a:r>
              <a:t>+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3192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7AE60"/>
                </a:solidFill>
              </a:defRPr>
            </a:pPr>
            <a:r>
              <a:t>Inclusion: Schizophrenia F20.x | Age 18-55 | Stable meds 8+ wks | PANSS &lt;80 | R&gt;=14</a:t>
            </a:r>
          </a:p>
          <a:p>
            <a:pPr>
              <a:defRPr sz="1300" b="1">
                <a:solidFill>
                  <a:srgbClr val="E84D4D"/>
                </a:solidFill>
              </a:defRPr>
            </a:pPr>
            <a:r>
              <a:t>Exclusion: Active substance use | ID (IQ&lt;70) | Organic brain | ECT &lt;3 months | Acute episode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Tools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2286000" cy="635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30352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E86AB"/>
                </a:solidFill>
              </a:defRPr>
            </a:pPr>
            <a:r>
              <a:t>Rorschach Inkblot Test (Exner CS)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</a:defRPr>
            </a:pPr>
            <a:r>
              <a:t>* 10 inkblot cards, standard admin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</a:defRPr>
            </a:pPr>
            <a:r>
              <a:t>* Processing: Zf, Zd, DQ+, DQv, W:D:Dd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</a:defRPr>
            </a:pPr>
            <a:r>
              <a:t>* Mediation: XA%, WDA%, X-%, X+%, Xu%, P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</a:defRPr>
            </a:pPr>
            <a:r>
              <a:t>* Ideation: WSum6, Lv2, Ma:Mp, a:p, M quality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</a:defRPr>
            </a:pPr>
            <a:r>
              <a:t>* Inter-rater kappa: .85-.97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</a:defRPr>
            </a:pPr>
            <a:r>
              <a:t>* Indian norms: Dubey (2011)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</a:defRPr>
            </a:pPr>
            <a:r>
              <a:t>* Administration: 30-40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84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46304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84D4D"/>
                </a:solidFill>
              </a:defRPr>
            </a:pPr>
            <a:r>
              <a:t>UCLA Loneliness Scale V3 + PANSS-N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</a:defRPr>
            </a:pPr>
            <a:r>
              <a:t>UCLA Loneliness Scale (Russell, 1996):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</a:defRPr>
            </a:pPr>
            <a:r>
              <a:t>* 20 items, 4-point Likert (20-80)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</a:defRPr>
            </a:pPr>
            <a:r>
              <a:t>* Alpha: .89-.94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</a:defRPr>
            </a:pPr>
            <a:r>
              <a:t>* Validated in SCZ (Lin et al., 2022)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</a:defRPr>
            </a:pPr>
            <a:r>
              <a:t>* Indian validation: Suri et al. (2020)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</a:defRPr>
            </a:pPr>
            <a:r>
              <a:t>PANSS-N (Kay et al., 1987):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</a:defRPr>
            </a:pPr>
            <a:r>
              <a:t>* 7-item Negative Subscale (covariate)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</a:defRPr>
            </a:pPr>
            <a:r>
              <a:t>* ICC: .83-.87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D4A537"/>
                </a:solidFill>
              </a:defRPr>
            </a:pPr>
            <a:r>
              <a:t>Conceptual Model: How Cognitive Triad Predicts Loneliness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097280"/>
            <a:ext cx="3200400" cy="164592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2834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PROCESSING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t>Zd, Zf, DQ+</a:t>
            </a:r>
            <a:br/>
            <a:r>
              <a:t>DQv, W:D:Dd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097280"/>
            <a:ext cx="3200400" cy="1645920"/>
          </a:xfrm>
          <a:prstGeom prst="roundRect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1188720"/>
            <a:ext cx="2834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MEDIATION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t>XA%, WDA%</a:t>
            </a:r>
            <a:br/>
            <a:r>
              <a:t>X-%, 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097280"/>
            <a:ext cx="3200400" cy="164592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1188720"/>
            <a:ext cx="2834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IDEATION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t>WSum6, Lv2</a:t>
            </a:r>
            <a:br/>
            <a:r>
              <a:t>Ma:Mp, M quality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286000" y="2834640"/>
            <a:ext cx="457200" cy="548640"/>
          </a:xfrm>
          <a:prstGeom prst="downArrow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own Arrow 10"/>
          <p:cNvSpPr/>
          <p:nvPr/>
        </p:nvSpPr>
        <p:spPr>
          <a:xfrm>
            <a:off x="5943600" y="2834640"/>
            <a:ext cx="457200" cy="548640"/>
          </a:xfrm>
          <a:prstGeom prst="downArrow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own Arrow 11"/>
          <p:cNvSpPr/>
          <p:nvPr/>
        </p:nvSpPr>
        <p:spPr>
          <a:xfrm>
            <a:off x="9601200" y="2834640"/>
            <a:ext cx="457200" cy="548640"/>
          </a:xfrm>
          <a:prstGeom prst="downArrow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00400" y="3566160"/>
            <a:ext cx="5486400" cy="1188720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365760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B2A4A"/>
                </a:solidFill>
              </a:defRPr>
            </a:pPr>
            <a:r>
              <a:t>SUBJECTIVE LONELINESS</a:t>
            </a:r>
          </a:p>
          <a:p>
            <a:pPr algn="ctr">
              <a:defRPr sz="1300">
                <a:solidFill>
                  <a:srgbClr val="1B2A4A"/>
                </a:solidFill>
              </a:defRPr>
            </a:pPr>
            <a:r>
              <a:t>(UCLA Loneliness Scale V3)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5120640"/>
            <a:ext cx="3657600" cy="822960"/>
          </a:xfrm>
          <a:prstGeom prst="roundRect">
            <a:avLst/>
          </a:prstGeom>
          <a:solidFill>
            <a:srgbClr val="555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521208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Controlled for: PANSS-N (Negative Sx)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Data Analysis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2743200" cy="635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Step 1: Descriptive Statistics (Mean, SD, frequencies for all variables)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Step 2: Normality Testing (Shapiro-Wilk) -&gt; parametric vs. non-parametric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Step 3: Inter-Rater Reliability (Cohen's Kappa/ICC on 20% of protocols)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Step 4: Bivariate Correlations (Pearson/Spearman)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     Each Rorschach variable x UCLA Loneliness Score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Step 5: HIERARCHICAL MULTIPLE REGRESSION (Primary Analysis)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     Block 1: PANSS-N (covariate)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     Block 2: Processing composite (Zd, DQ+, Lambda)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     Block 3: Mediation composite (XA%, X-%, P)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     Block 4: Ideation composite (WSum6, M quality)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        DV: UCLA Loneliness Score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Key Output: Delta-R-squared at each step -&gt; which cluster adds most power?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Clinical Significance &amp; Contribution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2286000" cy="635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1280160"/>
            <a:ext cx="457200" cy="45720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1280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E86AB"/>
                </a:solidFill>
              </a:defRPr>
            </a:pPr>
            <a:r>
              <a:t>First study GLOBALLY</a:t>
            </a:r>
          </a:p>
          <a:p>
            <a:pPr>
              <a:defRPr sz="1400">
                <a:solidFill>
                  <a:srgbClr val="1A1A2E"/>
                </a:solidFill>
              </a:defRPr>
            </a:pPr>
            <a:r>
              <a:t>linking Rorschach cognitive triad to loneliness in any population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331720"/>
            <a:ext cx="457200" cy="4572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3317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7AE60"/>
                </a:solidFill>
              </a:defRPr>
            </a:pPr>
            <a:r>
              <a:t>Identifies cognitive TARGETS</a:t>
            </a:r>
          </a:p>
          <a:p>
            <a:pPr>
              <a:defRPr sz="1400">
                <a:solidFill>
                  <a:srgbClr val="1A1A2E"/>
                </a:solidFill>
              </a:defRPr>
            </a:pPr>
            <a:r>
              <a:t>for loneliness intervention in schizophrenia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83279"/>
            <a:ext cx="457200" cy="45720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3383279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C5CE7"/>
                </a:solidFill>
              </a:defRPr>
            </a:pPr>
            <a:r>
              <a:t>Performance-based assessment</a:t>
            </a:r>
          </a:p>
          <a:p>
            <a:pPr>
              <a:defRPr sz="1400">
                <a:solidFill>
                  <a:srgbClr val="1A1A2E"/>
                </a:solidFill>
              </a:defRPr>
            </a:pPr>
            <a:r>
              <a:t>that cannot be faked (unlike self-report)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4434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4A537"/>
                </a:solidFill>
              </a:defRPr>
            </a:pPr>
            <a:r>
              <a:t>Practical for Indian settings</a:t>
            </a:r>
          </a:p>
          <a:p>
            <a:pPr>
              <a:defRPr sz="1400">
                <a:solidFill>
                  <a:srgbClr val="1A1A2E"/>
                </a:solidFill>
              </a:defRPr>
            </a:pPr>
            <a:r>
              <a:t>single test, 30 min, universally available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486400"/>
            <a:ext cx="457200" cy="457200"/>
          </a:xfrm>
          <a:prstGeom prst="ellipse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54864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84D4D"/>
                </a:solidFill>
              </a:defRPr>
            </a:pPr>
            <a:r>
              <a:t>Informs rehabilitation</a:t>
            </a:r>
          </a:p>
          <a:p>
            <a:pPr>
              <a:defRPr sz="1400">
                <a:solidFill>
                  <a:srgbClr val="1A1A2E"/>
                </a:solidFill>
              </a:defRPr>
            </a:pPr>
            <a:r>
              <a:t>which cognitive step to prioritize in cognitive remediation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555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Key 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2743200" cy="63500"/>
          </a:xfrm>
          <a:prstGeom prst="rect">
            <a:avLst/>
          </a:prstGeom>
          <a:solidFill>
            <a:srgbClr val="555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* Cacioppo, J.T. &amp; Hawkley, L.C. (2009). Trends in Cognitive Sciences, 13(10), 447-454.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* Exner, J.E. (2003). The Rorschach: A Comprehensive System (4th ed.). Wiley.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* Green, M.F. et al. (2023). Schizophrenia Bulletin, 49(5), 1112-1126.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* Hajduk, M. et al. (2023). Schizophrenia Research, 256, 38-46.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* Ilonen, T. et al. (2012). Psychological Assessment, 25(1), 253-263.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* Lin, C.Y. et al. (2022). Int J Environ Res Public Health, 19(14), 8443.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* Michalska da Rocha, B. et al. (2018). Schizophrenia Bulletin, 44(1), 114-125.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* Russell, D.W. (1996). J Personality Assessment, 66(1), 20-40.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* Singh, G. et al. (2021). Indian J Psychiatric Nursing, 30(1), 49-55.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* Thibaudeau, E. et al. (2023). Schizophrenia Research, 256, 29-37.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* Wang, X. et al. (2026). European Archives of Psychiatry &amp; Clinical Neuroscience.</a:t>
            </a:r>
          </a:p>
          <a:p>
            <a:pPr>
              <a:spcAft>
                <a:spcPts val="1000"/>
              </a:spcAft>
              <a:defRPr sz="1600">
                <a:solidFill>
                  <a:srgbClr val="1A1A2E"/>
                </a:solidFill>
              </a:defRPr>
            </a:pPr>
            <a:r>
              <a:t>* Yen, C.F. et al. (2023). npj Schizophrenia, 9, Article 40.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D4A537"/>
                </a:solidFill>
              </a:defRPr>
            </a:pPr>
            <a:r>
              <a:t>Thank You</a:t>
            </a:r>
          </a:p>
          <a:p>
            <a:br/>
            <a:pPr algn="ctr">
              <a:defRPr sz="2200">
                <a:solidFill>
                  <a:srgbClr val="FFFFFF"/>
                </a:solidFill>
              </a:defRPr>
            </a:pPr>
            <a:r>
              <a:t>Questions &amp; Suggestions Welcome</a:t>
            </a:r>
          </a:p>
          <a:p>
            <a:br/>
            <a:br/>
            <a:pPr algn="ctr">
              <a:defRPr sz="1600">
                <a:solidFill>
                  <a:srgbClr val="BBCCDD"/>
                </a:solidFill>
              </a:defRPr>
            </a:pPr>
            <a:r>
              <a:t>[Candidate Name]</a:t>
            </a:r>
          </a:p>
          <a:p>
            <a:pPr algn="ctr">
              <a:defRPr sz="1400">
                <a:solidFill>
                  <a:srgbClr val="BBCCDD"/>
                </a:solidFill>
              </a:defRPr>
            </a:pPr>
            <a:r>
              <a:t>MPhil Clinical Psychology | [Institution] | 2026-2027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