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14400"/>
            <a:ext cx="73152" cy="50292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097280"/>
            <a:ext cx="10058400" cy="4114800"/>
          </a:xfrm>
          <a:prstGeom prst="rect">
            <a:avLst/>
          </a:prstGeom>
          <a:noFill/>
        </p:spPr>
        <p:txBody>
          <a:bodyPr wrap="square">
            <a:spAutoFit/>
          </a:bodyPr>
          <a:lstStyle/>
          <a:p>
            <a:pPr algn="l">
              <a:spcAft>
                <a:spcPts val="600"/>
              </a:spcAft>
              <a:defRPr sz="3800" b="1">
                <a:solidFill>
                  <a:srgbClr val="FFFFFF"/>
                </a:solidFill>
              </a:defRPr>
            </a:pPr>
            <a:r>
              <a:t>Rorschach Indices of the Cognitive Triad</a:t>
            </a:r>
          </a:p>
          <a:p>
            <a:pPr algn="l">
              <a:spcAft>
                <a:spcPts val="600"/>
              </a:spcAft>
              <a:defRPr sz="2600" b="0">
                <a:solidFill>
                  <a:srgbClr val="1B6B93"/>
                </a:solidFill>
              </a:defRPr>
            </a:pPr>
            <a:r>
              <a:t>(Processing, Mediation, and Ideation)</a:t>
            </a:r>
          </a:p>
          <a:p>
            <a:pPr algn="l">
              <a:spcAft>
                <a:spcPts val="600"/>
              </a:spcAft>
              <a:defRPr sz="1200" b="0">
                <a:solidFill>
                  <a:srgbClr val="1C1C2E"/>
                </a:solidFill>
              </a:defRPr>
            </a:pPr>
          </a:p>
          <a:p>
            <a:pPr algn="l">
              <a:spcAft>
                <a:spcPts val="600"/>
              </a:spcAft>
              <a:defRPr sz="3400" b="1">
                <a:solidFill>
                  <a:srgbClr val="FFFFFF"/>
                </a:solidFill>
              </a:defRPr>
            </a:pPr>
            <a:r>
              <a:t>as Predictors of Subjective Loneliness</a:t>
            </a:r>
          </a:p>
          <a:p>
            <a:pPr algn="l">
              <a:spcAft>
                <a:spcPts val="600"/>
              </a:spcAft>
              <a:defRPr sz="3400" b="1">
                <a:solidFill>
                  <a:srgbClr val="FFFFFF"/>
                </a:solidFill>
              </a:defRPr>
            </a:pPr>
            <a:r>
              <a:t>in Patients with Schizophrenia</a:t>
            </a:r>
          </a:p>
          <a:p>
            <a:pPr algn="l">
              <a:spcAft>
                <a:spcPts val="600"/>
              </a:spcAft>
              <a:defRPr sz="2000" b="0">
                <a:solidFill>
                  <a:srgbClr val="1C1C2E"/>
                </a:solidFill>
              </a:defRPr>
            </a:pPr>
          </a:p>
          <a:p>
            <a:pPr algn="l">
              <a:spcAft>
                <a:spcPts val="600"/>
              </a:spcAft>
              <a:defRPr sz="1600" b="0">
                <a:solidFill>
                  <a:srgbClr val="C89B2B"/>
                </a:solidFill>
              </a:defRPr>
            </a:pPr>
            <a:r>
              <a:t>MPhil Clinical Psychology — Research Proposal Presentation</a:t>
            </a:r>
          </a:p>
        </p:txBody>
      </p:sp>
      <p:sp>
        <p:nvSpPr>
          <p:cNvPr id="7" name="TextBox 6"/>
          <p:cNvSpPr txBox="1"/>
          <p:nvPr/>
        </p:nvSpPr>
        <p:spPr>
          <a:xfrm>
            <a:off x="1097280" y="5486400"/>
            <a:ext cx="10058400" cy="1097280"/>
          </a:xfrm>
          <a:prstGeom prst="rect">
            <a:avLst/>
          </a:prstGeom>
          <a:noFill/>
        </p:spPr>
        <p:txBody>
          <a:bodyPr wrap="square">
            <a:spAutoFit/>
          </a:bodyPr>
          <a:lstStyle/>
          <a:p>
            <a:pPr algn="l">
              <a:spcAft>
                <a:spcPts val="600"/>
              </a:spcAft>
              <a:defRPr sz="1300" b="0">
                <a:solidFill>
                  <a:srgbClr val="AABBCC"/>
                </a:solidFill>
              </a:defRPr>
            </a:pPr>
            <a:r>
              <a:t>Candidate: [Your Name]    |    Guide: [Guide Name, Designation]</a:t>
            </a:r>
          </a:p>
          <a:p>
            <a:pPr algn="l">
              <a:spcAft>
                <a:spcPts val="600"/>
              </a:spcAft>
              <a:defRPr sz="1300" b="0">
                <a:solidFill>
                  <a:srgbClr val="AABBCC"/>
                </a:solidFill>
              </a:defRPr>
            </a:pPr>
            <a:r>
              <a:t>[Institution Name]    |    Department of Clinical Psychology    |    2026-2027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lgn="l">
              <a:spcAft>
                <a:spcPts val="600"/>
              </a:spcAft>
              <a:defRPr sz="2600" b="1">
                <a:solidFill>
                  <a:srgbClr val="0D1B2A"/>
                </a:solidFill>
              </a:defRPr>
            </a:pPr>
            <a:r>
              <a:t>Introduction: The Problem of Loneliness in Schizophrenia</a:t>
            </a:r>
          </a:p>
        </p:txBody>
      </p:sp>
      <p:sp>
        <p:nvSpPr>
          <p:cNvPr id="6" name="Rectangle 5"/>
          <p:cNvSpPr/>
          <p:nvPr/>
        </p:nvSpPr>
        <p:spPr>
          <a:xfrm>
            <a:off x="548640" y="914400"/>
            <a:ext cx="3657600" cy="50800"/>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188720"/>
            <a:ext cx="11155680" cy="5303520"/>
          </a:xfrm>
          <a:prstGeom prst="rect">
            <a:avLst/>
          </a:prstGeom>
          <a:noFill/>
        </p:spPr>
        <p:txBody>
          <a:bodyPr wrap="square">
            <a:spAutoFit/>
          </a:bodyPr>
          <a:lstStyle/>
          <a:p>
            <a:pPr algn="l">
              <a:spcAft>
                <a:spcPts val="800"/>
              </a:spcAft>
              <a:defRPr sz="1800" b="1">
                <a:solidFill>
                  <a:srgbClr val="1B6B93"/>
                </a:solidFill>
              </a:defRPr>
            </a:pPr>
            <a:r>
              <a:t>Schizophrenia &amp; The Loneliness Paradox:</a:t>
            </a:r>
          </a:p>
          <a:p>
            <a:pPr algn="l">
              <a:spcAft>
                <a:spcPts val="1200"/>
              </a:spcAft>
              <a:defRPr sz="1400" b="0">
                <a:solidFill>
                  <a:srgbClr val="1C1C2E"/>
                </a:solidFill>
              </a:defRPr>
            </a:pPr>
            <a:r>
              <a:t>Schizophrenia affects 0.3-0.7% of the global population (APA, 2013). While antipsychotics effectively manage hallucinations and delusions, social and functional impairments remain largely treatment-resistant. Among these, subjective loneliness — defined as the painful discrepancy between desired and actual social connection — is one of the most pervasive yet clinically neglected experiences. Critically, loneliness is NOT the same as social isolation: a patient can be surrounded by family yet feel profoundly alone.</a:t>
            </a:r>
          </a:p>
          <a:p>
            <a:pPr algn="l">
              <a:spcAft>
                <a:spcPts val="800"/>
              </a:spcAft>
              <a:defRPr sz="1800" b="1">
                <a:solidFill>
                  <a:srgbClr val="1B6B93"/>
                </a:solidFill>
              </a:defRPr>
            </a:pPr>
            <a:r>
              <a:t>Clinical Significance — Why Loneliness Matters:</a:t>
            </a:r>
          </a:p>
          <a:p>
            <a:pPr algn="l">
              <a:spcAft>
                <a:spcPts val="1200"/>
              </a:spcAft>
              <a:defRPr sz="1400" b="0">
                <a:solidFill>
                  <a:srgbClr val="1C1C2E"/>
                </a:solidFill>
              </a:defRPr>
            </a:pPr>
            <a:r>
              <a:t>Meta-analysis (Michalska da Rocha et al., 2018): Robust positive relationship between loneliness and psychotic symptoms across multiple studies. Loneliness in schizophrenia is now linked to: (a) increased psychiatric re-hospitalization (Fortuna et al., 2020), (b) elevated suicide risk — loneliness significantly predicts suicidal ideation even after controlling for depression (Yen et al., 2023), (c) accelerated cognitive decline (Wang et al., 2026), (d) increased all-cause mortality (Green et al., 2023). The WHO Commission on Social Connection (2023) has declared loneliness a global public health priority. A 2024 Indian scoping review identified loneliness as an 'emerging public mental health predicament' in the country.</a:t>
            </a:r>
          </a:p>
          <a:p>
            <a:pPr algn="l">
              <a:spcAft>
                <a:spcPts val="400"/>
              </a:spcAft>
              <a:defRPr sz="1500" b="1">
                <a:solidFill>
                  <a:srgbClr val="C0392B"/>
                </a:solidFill>
              </a:defRPr>
            </a:pPr>
            <a:r>
              <a:t>The Question: If loneliness is this destructive, what CAUSES it in schizophrenia? Can we identify its cognitive roots?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5B2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0972800" cy="731520"/>
          </a:xfrm>
          <a:prstGeom prst="rect">
            <a:avLst/>
          </a:prstGeom>
          <a:noFill/>
        </p:spPr>
        <p:txBody>
          <a:bodyPr wrap="square">
            <a:spAutoFit/>
          </a:bodyPr>
          <a:lstStyle/>
          <a:p>
            <a:pPr algn="l">
              <a:spcAft>
                <a:spcPts val="600"/>
              </a:spcAft>
              <a:defRPr sz="2600" b="1">
                <a:solidFill>
                  <a:srgbClr val="0D1B2A"/>
                </a:solidFill>
              </a:defRPr>
            </a:pPr>
            <a:r>
              <a:t>Theoretical Foundation: The Cognitive Model of Loneliness</a:t>
            </a:r>
          </a:p>
        </p:txBody>
      </p:sp>
      <p:sp>
        <p:nvSpPr>
          <p:cNvPr id="5" name="Rectangle 4"/>
          <p:cNvSpPr/>
          <p:nvPr/>
        </p:nvSpPr>
        <p:spPr>
          <a:xfrm>
            <a:off x="548640" y="914400"/>
            <a:ext cx="3657600" cy="50800"/>
          </a:xfrm>
          <a:prstGeom prst="rect">
            <a:avLst/>
          </a:prstGeom>
          <a:solidFill>
            <a:srgbClr val="5B2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11155680" cy="5303520"/>
          </a:xfrm>
          <a:prstGeom prst="rect">
            <a:avLst/>
          </a:prstGeom>
          <a:noFill/>
        </p:spPr>
        <p:txBody>
          <a:bodyPr wrap="square">
            <a:spAutoFit/>
          </a:bodyPr>
          <a:lstStyle/>
          <a:p>
            <a:pPr algn="l">
              <a:spcAft>
                <a:spcPts val="800"/>
              </a:spcAft>
              <a:defRPr sz="1700" b="1">
                <a:solidFill>
                  <a:srgbClr val="5B2C8C"/>
                </a:solidFill>
              </a:defRPr>
            </a:pPr>
            <a:r>
              <a:t>Cacioppo &amp; Hawkley (2009) — Cognitive Model of Loneliness:</a:t>
            </a:r>
          </a:p>
          <a:p>
            <a:pPr algn="l">
              <a:spcAft>
                <a:spcPts val="1000"/>
              </a:spcAft>
              <a:defRPr sz="1400" b="0">
                <a:solidFill>
                  <a:srgbClr val="1C1C2E"/>
                </a:solidFill>
              </a:defRPr>
            </a:pPr>
            <a:r>
              <a:t>Loneliness is NOT simply the absence of social contact. It is a COGNITIVE-PERCEPTUAL phenomenon arising from how the individual processes, perceives, and interprets their social environment. The model proposes a self-reinforcing cycle:</a:t>
            </a:r>
          </a:p>
          <a:p>
            <a:pPr algn="l">
              <a:spcAft>
                <a:spcPts val="400"/>
              </a:spcAft>
              <a:defRPr sz="1400" b="0">
                <a:solidFill>
                  <a:srgbClr val="1C1C2E"/>
                </a:solidFill>
              </a:defRPr>
            </a:pPr>
            <a:r>
              <a:t>    Step 1: Impaired PROCESSING of social environment (hypervigilant or careless scanning)</a:t>
            </a:r>
          </a:p>
          <a:p>
            <a:pPr algn="l">
              <a:spcAft>
                <a:spcPts val="400"/>
              </a:spcAft>
              <a:defRPr sz="1400" b="0">
                <a:solidFill>
                  <a:srgbClr val="1C1C2E"/>
                </a:solidFill>
              </a:defRPr>
            </a:pPr>
            <a:r>
              <a:t>    Step 2: MISPERCEPTION of neutral social cues as threatening or rejecting</a:t>
            </a:r>
          </a:p>
          <a:p>
            <a:pPr algn="l">
              <a:spcAft>
                <a:spcPts val="400"/>
              </a:spcAft>
              <a:defRPr sz="1400" b="0">
                <a:solidFill>
                  <a:srgbClr val="1C1C2E"/>
                </a:solidFill>
              </a:defRPr>
            </a:pPr>
            <a:r>
              <a:t>    Step 3: Distorted REASONING about others' intentions ('they don't want me')</a:t>
            </a:r>
          </a:p>
          <a:p>
            <a:pPr algn="l">
              <a:spcAft>
                <a:spcPts val="400"/>
              </a:spcAft>
              <a:defRPr sz="1400" b="0">
                <a:solidFill>
                  <a:srgbClr val="1C1C2E"/>
                </a:solidFill>
              </a:defRPr>
            </a:pPr>
            <a:r>
              <a:t>    Step 4: WITHDRAWAL from social situations to avoid perceived threat</a:t>
            </a:r>
          </a:p>
          <a:p>
            <a:pPr algn="l">
              <a:spcAft>
                <a:spcPts val="1200"/>
              </a:spcAft>
              <a:defRPr sz="1400" b="0">
                <a:solidFill>
                  <a:srgbClr val="1C1C2E"/>
                </a:solidFill>
              </a:defRPr>
            </a:pPr>
            <a:r>
              <a:t>    Step 5: Withdrawal CONFIRMS and DEEPENS loneliness (vicious cycle)</a:t>
            </a:r>
          </a:p>
          <a:p>
            <a:pPr algn="l">
              <a:spcAft>
                <a:spcPts val="800"/>
              </a:spcAft>
              <a:defRPr sz="1700" b="1">
                <a:solidFill>
                  <a:srgbClr val="5B2C8C"/>
                </a:solidFill>
              </a:defRPr>
            </a:pPr>
            <a:r>
              <a:t>Application to Schizophrenia (Michalska da Rocha et al., 2018; Green et al., 2023):</a:t>
            </a:r>
          </a:p>
          <a:p>
            <a:pPr algn="l">
              <a:spcAft>
                <a:spcPts val="1000"/>
              </a:spcAft>
              <a:defRPr sz="1400" b="0">
                <a:solidFill>
                  <a:srgbClr val="1C1C2E"/>
                </a:solidFill>
              </a:defRPr>
            </a:pPr>
            <a:r>
              <a:t>In schizophrenia, where cognitive impairment in perception, processing speed, and reasoning is a CARDINAL FEATURE of the disorder, this cognitive pathway to loneliness is substantially magnified. The cognitive deficits characteristic of schizophrenia (perceptual distortion, disorganized thinking, impaired scanning) map directly onto the cognitive mechanisms that the loneliness model identifies as causal. This raises a testable prediction: the MORE impaired a patient's cognitive processing is, the MORE lonely they should feel.</a:t>
            </a:r>
          </a:p>
          <a:p>
            <a:pPr algn="l">
              <a:spcAft>
                <a:spcPts val="400"/>
              </a:spcAft>
              <a:defRPr sz="1500" b="1">
                <a:solidFill>
                  <a:srgbClr val="C0392B"/>
                </a:solidFill>
              </a:defRPr>
            </a:pPr>
            <a:r>
              <a:t>Key Insight: The Rorschach Cognitive Triad (Processing → Mediation → Ideation) measures EXACTLY these three sequential cognitive steps.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spAutoFit/>
          </a:bodyPr>
          <a:lstStyle/>
          <a:p>
            <a:pPr algn="l">
              <a:spcAft>
                <a:spcPts val="600"/>
              </a:spcAft>
              <a:defRPr sz="2400" b="1">
                <a:solidFill>
                  <a:srgbClr val="C89B2B"/>
                </a:solidFill>
              </a:defRPr>
            </a:pPr>
            <a:r>
              <a:t>The Rorschach Cognitive Triad (Exner, 2003) — A Sequential Model</a:t>
            </a:r>
          </a:p>
        </p:txBody>
      </p:sp>
      <p:sp>
        <p:nvSpPr>
          <p:cNvPr id="5" name="Rounded Rectangle 4"/>
          <p:cNvSpPr/>
          <p:nvPr/>
        </p:nvSpPr>
        <p:spPr>
          <a:xfrm>
            <a:off x="365760" y="1097280"/>
            <a:ext cx="3657600" cy="5303520"/>
          </a:xfrm>
          <a:prstGeom prst="round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3291840" cy="5120640"/>
          </a:xfrm>
          <a:prstGeom prst="rect">
            <a:avLst/>
          </a:prstGeom>
          <a:noFill/>
        </p:spPr>
        <p:txBody>
          <a:bodyPr wrap="square">
            <a:spAutoFit/>
          </a:bodyPr>
          <a:lstStyle/>
          <a:p>
            <a:pPr algn="ctr">
              <a:spcAft>
                <a:spcPts val="600"/>
              </a:spcAft>
              <a:defRPr sz="1600" b="1">
                <a:solidFill>
                  <a:srgbClr val="FFFFFF"/>
                </a:solidFill>
              </a:defRPr>
            </a:pPr>
            <a:r>
              <a:t>STEP 1: PROCESSING</a:t>
            </a:r>
          </a:p>
          <a:p>
            <a:pPr algn="ctr">
              <a:spcAft>
                <a:spcPts val="1000"/>
              </a:spcAft>
              <a:defRPr sz="1300" b="1">
                <a:solidFill>
                  <a:srgbClr val="C89B2B"/>
                </a:solidFill>
              </a:defRPr>
            </a:pPr>
            <a:r>
              <a:t>"How do I SCAN my world?"</a:t>
            </a:r>
          </a:p>
          <a:p>
            <a:pPr algn="l">
              <a:spcAft>
                <a:spcPts val="400"/>
              </a:spcAft>
              <a:defRPr sz="1200" b="1">
                <a:solidFill>
                  <a:srgbClr val="FFFFFF"/>
                </a:solidFill>
              </a:defRPr>
            </a:pPr>
            <a:r>
              <a:t>What it measures:</a:t>
            </a:r>
          </a:p>
          <a:p>
            <a:pPr algn="l">
              <a:spcAft>
                <a:spcPts val="800"/>
              </a:spcAft>
              <a:defRPr sz="1100" b="0">
                <a:solidFill>
                  <a:srgbClr val="FFFFFF"/>
                </a:solidFill>
              </a:defRPr>
            </a:pPr>
            <a:r>
              <a:t>How the person organizes and scans the stimulus field — the quality of INPUT entering the cognitive system.</a:t>
            </a:r>
          </a:p>
          <a:p>
            <a:pPr algn="l">
              <a:spcAft>
                <a:spcPts val="400"/>
              </a:spcAft>
              <a:defRPr sz="1200" b="1">
                <a:solidFill>
                  <a:srgbClr val="FFFFFF"/>
                </a:solidFill>
              </a:defRPr>
            </a:pPr>
            <a:r>
              <a:t>Key Variables:</a:t>
            </a:r>
          </a:p>
          <a:p>
            <a:pPr algn="l">
              <a:spcAft>
                <a:spcPts val="200"/>
              </a:spcAft>
              <a:defRPr sz="1100" b="0">
                <a:solidFill>
                  <a:srgbClr val="FFFFFF"/>
                </a:solidFill>
              </a:defRPr>
            </a:pPr>
            <a:r>
              <a:t>Zf = Processing effort/motivation</a:t>
            </a:r>
          </a:p>
          <a:p>
            <a:pPr algn="l">
              <a:spcAft>
                <a:spcPts val="200"/>
              </a:spcAft>
              <a:defRPr sz="1100" b="0">
                <a:solidFill>
                  <a:srgbClr val="FFFFFF"/>
                </a:solidFill>
              </a:defRPr>
            </a:pPr>
            <a:r>
              <a:t>Zd = Scanning efficiency (+3=over-incorporative, -3=under-incorporative/hasty)</a:t>
            </a:r>
          </a:p>
          <a:p>
            <a:pPr algn="l">
              <a:spcAft>
                <a:spcPts val="200"/>
              </a:spcAft>
              <a:defRPr sz="1100" b="0">
                <a:solidFill>
                  <a:srgbClr val="FFFFFF"/>
                </a:solidFill>
              </a:defRPr>
            </a:pPr>
            <a:r>
              <a:t>DQ+ = Cognitive complexity (synthesis capacity)</a:t>
            </a:r>
          </a:p>
          <a:p>
            <a:pPr algn="l">
              <a:spcAft>
                <a:spcPts val="200"/>
              </a:spcAft>
              <a:defRPr sz="1100" b="0">
                <a:solidFill>
                  <a:srgbClr val="FFFFFF"/>
                </a:solidFill>
              </a:defRPr>
            </a:pPr>
            <a:r>
              <a:t>DQv = Vague/impressionistic processing</a:t>
            </a:r>
          </a:p>
          <a:p>
            <a:pPr algn="l">
              <a:spcAft>
                <a:spcPts val="800"/>
              </a:spcAft>
              <a:defRPr sz="1100" b="0">
                <a:solidFill>
                  <a:srgbClr val="FFFFFF"/>
                </a:solidFill>
              </a:defRPr>
            </a:pPr>
            <a:r>
              <a:t>W:D:Dd = Attentional distribution</a:t>
            </a:r>
          </a:p>
          <a:p>
            <a:pPr algn="l">
              <a:spcAft>
                <a:spcPts val="400"/>
              </a:spcAft>
              <a:defRPr sz="1200" b="1">
                <a:solidFill>
                  <a:srgbClr val="C89B2B"/>
                </a:solidFill>
              </a:defRPr>
            </a:pPr>
            <a:r>
              <a:t>In Schizophrenia:</a:t>
            </a:r>
          </a:p>
          <a:p>
            <a:pPr algn="l">
              <a:spcAft>
                <a:spcPts val="600"/>
              </a:spcAft>
              <a:defRPr sz="1100" b="0">
                <a:solidFill>
                  <a:srgbClr val="FFFFFF"/>
                </a:solidFill>
              </a:defRPr>
            </a:pPr>
            <a:r>
              <a:t>Patients often show extreme Zd (hasty scanning), low DQ+ (cannot synthesize), elevated DQv (vague thinking).</a:t>
            </a:r>
          </a:p>
          <a:p>
            <a:pPr algn="l">
              <a:spcAft>
                <a:spcPts val="400"/>
              </a:spcAft>
              <a:defRPr sz="1200" b="1">
                <a:solidFill>
                  <a:srgbClr val="C89B2B"/>
                </a:solidFill>
              </a:defRPr>
            </a:pPr>
            <a:r>
              <a:t>Link to Loneliness:</a:t>
            </a:r>
          </a:p>
          <a:p>
            <a:pPr algn="l">
              <a:spcAft>
                <a:spcPts val="600"/>
              </a:spcAft>
              <a:defRPr sz="1100" b="0">
                <a:solidFill>
                  <a:srgbClr val="FFFFFF"/>
                </a:solidFill>
              </a:defRPr>
            </a:pPr>
            <a:r>
              <a:t>If you scan the social world carelessly, you MISS connection opportunities.</a:t>
            </a:r>
          </a:p>
        </p:txBody>
      </p:sp>
      <p:sp>
        <p:nvSpPr>
          <p:cNvPr id="7" name="Rounded Rectangle 6"/>
          <p:cNvSpPr/>
          <p:nvPr/>
        </p:nvSpPr>
        <p:spPr>
          <a:xfrm>
            <a:off x="4206240" y="1097280"/>
            <a:ext cx="3657600" cy="53035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188720"/>
            <a:ext cx="3291840" cy="5120640"/>
          </a:xfrm>
          <a:prstGeom prst="rect">
            <a:avLst/>
          </a:prstGeom>
          <a:noFill/>
        </p:spPr>
        <p:txBody>
          <a:bodyPr wrap="square">
            <a:spAutoFit/>
          </a:bodyPr>
          <a:lstStyle/>
          <a:p>
            <a:pPr algn="ctr">
              <a:spcAft>
                <a:spcPts val="600"/>
              </a:spcAft>
              <a:defRPr sz="1600" b="1">
                <a:solidFill>
                  <a:srgbClr val="FFFFFF"/>
                </a:solidFill>
              </a:defRPr>
            </a:pPr>
            <a:r>
              <a:t>STEP 2: MEDIATION</a:t>
            </a:r>
          </a:p>
          <a:p>
            <a:pPr algn="ctr">
              <a:spcAft>
                <a:spcPts val="1000"/>
              </a:spcAft>
              <a:defRPr sz="1300" b="1">
                <a:solidFill>
                  <a:srgbClr val="C89B2B"/>
                </a:solidFill>
              </a:defRPr>
            </a:pPr>
            <a:r>
              <a:t>"How ACCURATELY do I perceive?"</a:t>
            </a:r>
          </a:p>
          <a:p>
            <a:pPr algn="l">
              <a:spcAft>
                <a:spcPts val="400"/>
              </a:spcAft>
              <a:defRPr sz="1200" b="1">
                <a:solidFill>
                  <a:srgbClr val="FFFFFF"/>
                </a:solidFill>
              </a:defRPr>
            </a:pPr>
            <a:r>
              <a:t>What it measures:</a:t>
            </a:r>
          </a:p>
          <a:p>
            <a:pPr algn="l">
              <a:spcAft>
                <a:spcPts val="800"/>
              </a:spcAft>
              <a:defRPr sz="1100" b="0">
                <a:solidFill>
                  <a:srgbClr val="FFFFFF"/>
                </a:solidFill>
              </a:defRPr>
            </a:pPr>
            <a:r>
              <a:t>How accurately the person TRANSLATES perceptual input — the fidelity of reality testing.</a:t>
            </a:r>
          </a:p>
          <a:p>
            <a:pPr algn="l">
              <a:spcAft>
                <a:spcPts val="400"/>
              </a:spcAft>
              <a:defRPr sz="1200" b="1">
                <a:solidFill>
                  <a:srgbClr val="FFFFFF"/>
                </a:solidFill>
              </a:defRPr>
            </a:pPr>
            <a:r>
              <a:t>Key Variables:</a:t>
            </a:r>
          </a:p>
          <a:p>
            <a:pPr algn="l">
              <a:spcAft>
                <a:spcPts val="200"/>
              </a:spcAft>
              <a:defRPr sz="1100" b="0">
                <a:solidFill>
                  <a:srgbClr val="FFFFFF"/>
                </a:solidFill>
              </a:defRPr>
            </a:pPr>
            <a:r>
              <a:t>XA% = Overall reality testing adequacy</a:t>
            </a:r>
          </a:p>
          <a:p>
            <a:pPr algn="l">
              <a:spcAft>
                <a:spcPts val="200"/>
              </a:spcAft>
              <a:defRPr sz="1100" b="0">
                <a:solidFill>
                  <a:srgbClr val="FFFFFF"/>
                </a:solidFill>
              </a:defRPr>
            </a:pPr>
            <a:r>
              <a:t>WDA% = Reality testing for obvious stimuli</a:t>
            </a:r>
          </a:p>
          <a:p>
            <a:pPr algn="l">
              <a:spcAft>
                <a:spcPts val="200"/>
              </a:spcAft>
              <a:defRPr sz="1100" b="0">
                <a:solidFill>
                  <a:srgbClr val="FFFFFF"/>
                </a:solidFill>
              </a:defRPr>
            </a:pPr>
            <a:r>
              <a:t>X-% = Frequency of outright MISPERCEPTION</a:t>
            </a:r>
          </a:p>
          <a:p>
            <a:pPr algn="l">
              <a:spcAft>
                <a:spcPts val="200"/>
              </a:spcAft>
              <a:defRPr sz="1100" b="0">
                <a:solidFill>
                  <a:srgbClr val="FFFFFF"/>
                </a:solidFill>
              </a:defRPr>
            </a:pPr>
            <a:r>
              <a:t>P = Popular responses (seeing the obvious)</a:t>
            </a:r>
          </a:p>
          <a:p>
            <a:pPr algn="l">
              <a:spcAft>
                <a:spcPts val="800"/>
              </a:spcAft>
              <a:defRPr sz="1100" b="0">
                <a:solidFill>
                  <a:srgbClr val="FFFFFF"/>
                </a:solidFill>
              </a:defRPr>
            </a:pPr>
            <a:r>
              <a:t>X+% = Perceptual conventionality</a:t>
            </a:r>
          </a:p>
          <a:p>
            <a:pPr algn="l">
              <a:spcAft>
                <a:spcPts val="400"/>
              </a:spcAft>
              <a:defRPr sz="1200" b="1">
                <a:solidFill>
                  <a:srgbClr val="C89B2B"/>
                </a:solidFill>
              </a:defRPr>
            </a:pPr>
            <a:r>
              <a:t>In Schizophrenia:</a:t>
            </a:r>
          </a:p>
          <a:p>
            <a:pPr algn="l">
              <a:spcAft>
                <a:spcPts val="600"/>
              </a:spcAft>
              <a:defRPr sz="1100" b="0">
                <a:solidFill>
                  <a:srgbClr val="FFFFFF"/>
                </a:solidFill>
              </a:defRPr>
            </a:pPr>
            <a:r>
              <a:t>Markedly elevated X-% (&gt;29%), low XA% (&lt;70%), low P. Pervasive misperception.</a:t>
            </a:r>
          </a:p>
          <a:p>
            <a:pPr algn="l">
              <a:spcAft>
                <a:spcPts val="400"/>
              </a:spcAft>
              <a:defRPr sz="1200" b="1">
                <a:solidFill>
                  <a:srgbClr val="C89B2B"/>
                </a:solidFill>
              </a:defRPr>
            </a:pPr>
            <a:r>
              <a:t>Link to Loneliness:</a:t>
            </a:r>
          </a:p>
          <a:p>
            <a:pPr algn="l">
              <a:spcAft>
                <a:spcPts val="600"/>
              </a:spcAft>
              <a:defRPr sz="1100" b="0">
                <a:solidFill>
                  <a:srgbClr val="FFFFFF"/>
                </a:solidFill>
              </a:defRPr>
            </a:pPr>
            <a:r>
              <a:t>If you MISREAD people's faces and intentions, you feel rejected when you are not.</a:t>
            </a:r>
          </a:p>
        </p:txBody>
      </p:sp>
      <p:sp>
        <p:nvSpPr>
          <p:cNvPr id="9" name="Rounded Rectangle 8"/>
          <p:cNvSpPr/>
          <p:nvPr/>
        </p:nvSpPr>
        <p:spPr>
          <a:xfrm>
            <a:off x="8046720" y="1097280"/>
            <a:ext cx="3657600" cy="5303520"/>
          </a:xfrm>
          <a:prstGeom prst="roundRect">
            <a:avLst/>
          </a:prstGeom>
          <a:solidFill>
            <a:srgbClr val="5B2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188720"/>
            <a:ext cx="3291840" cy="5120640"/>
          </a:xfrm>
          <a:prstGeom prst="rect">
            <a:avLst/>
          </a:prstGeom>
          <a:noFill/>
        </p:spPr>
        <p:txBody>
          <a:bodyPr wrap="square">
            <a:spAutoFit/>
          </a:bodyPr>
          <a:lstStyle/>
          <a:p>
            <a:pPr algn="ctr">
              <a:spcAft>
                <a:spcPts val="600"/>
              </a:spcAft>
              <a:defRPr sz="1600" b="1">
                <a:solidFill>
                  <a:srgbClr val="FFFFFF"/>
                </a:solidFill>
              </a:defRPr>
            </a:pPr>
            <a:r>
              <a:t>STEP 3: IDEATION</a:t>
            </a:r>
          </a:p>
          <a:p>
            <a:pPr algn="ctr">
              <a:spcAft>
                <a:spcPts val="1000"/>
              </a:spcAft>
              <a:defRPr sz="1300" b="1">
                <a:solidFill>
                  <a:srgbClr val="C89B2B"/>
                </a:solidFill>
              </a:defRPr>
            </a:pPr>
            <a:r>
              <a:t>"How LOGICALLY do I think?"</a:t>
            </a:r>
          </a:p>
          <a:p>
            <a:pPr algn="l">
              <a:spcAft>
                <a:spcPts val="400"/>
              </a:spcAft>
              <a:defRPr sz="1200" b="1">
                <a:solidFill>
                  <a:srgbClr val="FFFFFF"/>
                </a:solidFill>
              </a:defRPr>
            </a:pPr>
            <a:r>
              <a:t>What it measures:</a:t>
            </a:r>
          </a:p>
          <a:p>
            <a:pPr algn="l">
              <a:spcAft>
                <a:spcPts val="800"/>
              </a:spcAft>
              <a:defRPr sz="1100" b="0">
                <a:solidFill>
                  <a:srgbClr val="FFFFFF"/>
                </a:solidFill>
              </a:defRPr>
            </a:pPr>
            <a:r>
              <a:t>The quality of reasoning and conceptualization — whether thinking is organized, logical, and reality-based.</a:t>
            </a:r>
          </a:p>
          <a:p>
            <a:pPr algn="l">
              <a:spcAft>
                <a:spcPts val="400"/>
              </a:spcAft>
              <a:defRPr sz="1200" b="1">
                <a:solidFill>
                  <a:srgbClr val="FFFFFF"/>
                </a:solidFill>
              </a:defRPr>
            </a:pPr>
            <a:r>
              <a:t>Key Variables:</a:t>
            </a:r>
          </a:p>
          <a:p>
            <a:pPr algn="l">
              <a:spcAft>
                <a:spcPts val="200"/>
              </a:spcAft>
              <a:defRPr sz="1100" b="0">
                <a:solidFill>
                  <a:srgbClr val="FFFFFF"/>
                </a:solidFill>
              </a:defRPr>
            </a:pPr>
            <a:r>
              <a:t>WSum6 = Formal thought disorder composite</a:t>
            </a:r>
          </a:p>
          <a:p>
            <a:pPr algn="l">
              <a:spcAft>
                <a:spcPts val="200"/>
              </a:spcAft>
              <a:defRPr sz="1100" b="0">
                <a:solidFill>
                  <a:srgbClr val="FFFFFF"/>
                </a:solidFill>
              </a:defRPr>
            </a:pPr>
            <a:r>
              <a:t>Level 2 = Severe/bizarre thought slippage</a:t>
            </a:r>
          </a:p>
          <a:p>
            <a:pPr algn="l">
              <a:spcAft>
                <a:spcPts val="200"/>
              </a:spcAft>
              <a:defRPr sz="1100" b="0">
                <a:solidFill>
                  <a:srgbClr val="FFFFFF"/>
                </a:solidFill>
              </a:defRPr>
            </a:pPr>
            <a:r>
              <a:t>M quality = Reasoning about PEOPLE</a:t>
            </a:r>
          </a:p>
          <a:p>
            <a:pPr algn="l">
              <a:spcAft>
                <a:spcPts val="200"/>
              </a:spcAft>
              <a:defRPr sz="1100" b="0">
                <a:solidFill>
                  <a:srgbClr val="FFFFFF"/>
                </a:solidFill>
              </a:defRPr>
            </a:pPr>
            <a:r>
              <a:t>Ma:Mp = Active vs passive thinking</a:t>
            </a:r>
          </a:p>
          <a:p>
            <a:pPr algn="l">
              <a:spcAft>
                <a:spcPts val="800"/>
              </a:spcAft>
              <a:defRPr sz="1100" b="0">
                <a:solidFill>
                  <a:srgbClr val="FFFFFF"/>
                </a:solidFill>
              </a:defRPr>
            </a:pPr>
            <a:r>
              <a:t>a:p = Cognitive flexibility/rigidity</a:t>
            </a:r>
          </a:p>
          <a:p>
            <a:pPr algn="l">
              <a:spcAft>
                <a:spcPts val="400"/>
              </a:spcAft>
              <a:defRPr sz="1200" b="1">
                <a:solidFill>
                  <a:srgbClr val="C89B2B"/>
                </a:solidFill>
              </a:defRPr>
            </a:pPr>
            <a:r>
              <a:t>In Schizophrenia:</a:t>
            </a:r>
          </a:p>
          <a:p>
            <a:pPr algn="l">
              <a:spcAft>
                <a:spcPts val="600"/>
              </a:spcAft>
              <a:defRPr sz="1100" b="0">
                <a:solidFill>
                  <a:srgbClr val="FFFFFF"/>
                </a:solidFill>
              </a:defRPr>
            </a:pPr>
            <a:r>
              <a:t>Elevated WSum6, Level 2 present, M- (distorted person-reasoning), passive Mp.</a:t>
            </a:r>
          </a:p>
          <a:p>
            <a:pPr algn="l">
              <a:spcAft>
                <a:spcPts val="400"/>
              </a:spcAft>
              <a:defRPr sz="1200" b="1">
                <a:solidFill>
                  <a:srgbClr val="C89B2B"/>
                </a:solidFill>
              </a:defRPr>
            </a:pPr>
            <a:r>
              <a:t>Link to Loneliness:</a:t>
            </a:r>
          </a:p>
          <a:p>
            <a:pPr algn="l">
              <a:spcAft>
                <a:spcPts val="600"/>
              </a:spcAft>
              <a:defRPr sz="1100" b="0">
                <a:solidFill>
                  <a:srgbClr val="FFFFFF"/>
                </a:solidFill>
              </a:defRPr>
            </a:pPr>
            <a:r>
              <a:t>If you REASON about people illogically, your conclusions about relationships are wrong.</a:t>
            </a:r>
          </a:p>
        </p:txBody>
      </p:sp>
      <p:sp>
        <p:nvSpPr>
          <p:cNvPr id="11" name="Right Arrow 10"/>
          <p:cNvSpPr/>
          <p:nvPr/>
        </p:nvSpPr>
        <p:spPr>
          <a:xfrm>
            <a:off x="3977639" y="3474720"/>
            <a:ext cx="274320" cy="365760"/>
          </a:xfrm>
          <a:prstGeom prst="rightArrow">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7818120" y="3474720"/>
            <a:ext cx="274320" cy="365760"/>
          </a:xfrm>
          <a:prstGeom prst="rightArrow">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
            <a:ext cx="10972800" cy="640080"/>
          </a:xfrm>
          <a:prstGeom prst="rect">
            <a:avLst/>
          </a:prstGeom>
          <a:noFill/>
        </p:spPr>
        <p:txBody>
          <a:bodyPr wrap="square">
            <a:spAutoFit/>
          </a:bodyPr>
          <a:lstStyle/>
          <a:p>
            <a:pPr algn="l">
              <a:spcAft>
                <a:spcPts val="600"/>
              </a:spcAft>
              <a:defRPr sz="2400" b="1">
                <a:solidFill>
                  <a:srgbClr val="0D1B2A"/>
                </a:solidFill>
              </a:defRPr>
            </a:pPr>
            <a:r>
              <a:t>Review of Literature I: Loneliness in Schizophrenia — Prevalence &amp; Impact</a:t>
            </a:r>
          </a:p>
        </p:txBody>
      </p:sp>
      <p:sp>
        <p:nvSpPr>
          <p:cNvPr id="6" name="Rectangle 5"/>
          <p:cNvSpPr/>
          <p:nvPr/>
        </p:nvSpPr>
        <p:spPr>
          <a:xfrm>
            <a:off x="548640" y="822960"/>
            <a:ext cx="4572000" cy="508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05840"/>
            <a:ext cx="11247120" cy="5577840"/>
          </a:xfrm>
          <a:prstGeom prst="rect">
            <a:avLst/>
          </a:prstGeom>
          <a:noFill/>
        </p:spPr>
        <p:txBody>
          <a:bodyPr wrap="square">
            <a:spAutoFit/>
          </a:bodyPr>
          <a:lstStyle/>
          <a:p>
            <a:pPr algn="l">
              <a:spcAft>
                <a:spcPts val="400"/>
              </a:spcAft>
              <a:defRPr sz="1400" b="1">
                <a:solidFill>
                  <a:srgbClr val="1B6B93"/>
                </a:solidFill>
              </a:defRPr>
            </a:pPr>
            <a:r>
              <a:t>1. Michalska da Rocha et al. (2018) — Schizophrenia Bulletin, 44(1), 114-125</a:t>
            </a:r>
          </a:p>
          <a:p>
            <a:pPr algn="l">
              <a:spcAft>
                <a:spcPts val="1200"/>
              </a:spcAft>
              <a:defRPr sz="1200" b="0">
                <a:solidFill>
                  <a:srgbClr val="1C1C2E"/>
                </a:solidFill>
              </a:defRPr>
            </a:pPr>
            <a:r>
              <a:t>   Landmark meta-analysis pooling all available studies on loneliness in psychotic disorders. Found a statistically significant positive relationship between loneliness and psychotic symptoms. Patients with psychosis consistently reported higher loneliness than general population. Loneliness was associated with positive symptoms, negative symptoms, depression, reduced QoL, and lower social functioning. CRITICAL GAP IDENTIFIED: the cognitive MECHANISMS driving this relationship remained unknown. Authors explicitly called for research into cognitive-perceptual factors explaining heightened loneliness — making the present study a direct response.</a:t>
            </a:r>
          </a:p>
          <a:p>
            <a:pPr algn="l">
              <a:spcAft>
                <a:spcPts val="400"/>
              </a:spcAft>
              <a:defRPr sz="1400" b="1">
                <a:solidFill>
                  <a:srgbClr val="1B6B93"/>
                </a:solidFill>
              </a:defRPr>
            </a:pPr>
            <a:r>
              <a:t>2. Green, Catalano, Engel &amp; Horan (2023) — Schizophrenia Bulletin, 49(5), 1112-1126</a:t>
            </a:r>
          </a:p>
          <a:p>
            <a:pPr algn="l">
              <a:spcAft>
                <a:spcPts val="1200"/>
              </a:spcAft>
              <a:defRPr sz="1200" b="0">
                <a:solidFill>
                  <a:srgbClr val="1C1C2E"/>
                </a:solidFill>
              </a:defRPr>
            </a:pPr>
            <a:r>
              <a:t>   Proposed the 'social homeostasis' model synthesizing evolutionary loneliness theory with cognitive neuroscience of serious mental illness. Key argument: loneliness in SMI is driven by impairments in the cognitive processing of social information — including perception, interpretation, and reasoning about social stimuli. Chronic loneliness heightens social threat sensitivity and alters brain networks supporting social cognition. The paper explicitly identifies cognitive-perceptual processing deficits as the PRIMARY MECHANISM through which social disconnection becomes chronic and entrenched in schizophrenia.</a:t>
            </a:r>
          </a:p>
          <a:p>
            <a:pPr algn="l">
              <a:spcAft>
                <a:spcPts val="400"/>
              </a:spcAft>
              <a:defRPr sz="1400" b="1">
                <a:solidFill>
                  <a:srgbClr val="1B6B93"/>
                </a:solidFill>
              </a:defRPr>
            </a:pPr>
            <a:r>
              <a:t>3. Yen, Lin et al. (2023) — npj Schizophrenia, 9, Article 40</a:t>
            </a:r>
          </a:p>
          <a:p>
            <a:pPr algn="l">
              <a:spcAft>
                <a:spcPts val="1200"/>
              </a:spcAft>
              <a:defRPr sz="1200" b="0">
                <a:solidFill>
                  <a:srgbClr val="1C1C2E"/>
                </a:solidFill>
              </a:defRPr>
            </a:pPr>
            <a:r>
              <a:t>   Cross-sectional study of 300 participants (267 schizophrenia, 33 schizoaffective). Loneliness was significantly associated with increased SUICIDE RISK and depression severity, even after controlling for demographics. Self-esteem moderated the loneliness-depression pathway; perceived friend support moderated the loneliness-suicide pathway. Establishes loneliness as a variable with LIFE-THREATENING consequences — not merely an uncomfortable feeling but a clinical priority requiring identification of its predictors.</a:t>
            </a:r>
          </a:p>
          <a:p>
            <a:pPr algn="l">
              <a:spcAft>
                <a:spcPts val="400"/>
              </a:spcAft>
              <a:defRPr sz="1400" b="1">
                <a:solidFill>
                  <a:srgbClr val="1B6B93"/>
                </a:solidFill>
              </a:defRPr>
            </a:pPr>
            <a:r>
              <a:t>4. Fortuna et al. (2020) — Social Psychiatry &amp; Psychiatric Epidemiology, 55, 1421-1428</a:t>
            </a:r>
          </a:p>
          <a:p>
            <a:pPr algn="l">
              <a:spcAft>
                <a:spcPts val="400"/>
              </a:spcAft>
              <a:defRPr sz="1200" b="0">
                <a:solidFill>
                  <a:srgbClr val="1C1C2E"/>
                </a:solidFill>
              </a:defRPr>
            </a:pPr>
            <a:r>
              <a:t>   Established that loneliness in SMI is independently associated with physical health conditions and higher psychiatric hospitalization rates. Lonely patients with schizophrenia had significantly more emergency department visits and inpatient admissions, representing both a human cost and an enormous healthcare burden that justifies urgent research into modifiable cognitive predictors.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5B2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400" b="1">
                <a:solidFill>
                  <a:srgbClr val="0D1B2A"/>
                </a:solidFill>
              </a:defRPr>
            </a:pPr>
            <a:r>
              <a:t>Review of Literature II: Cognitive-Perceptual Correlates of Loneliness</a:t>
            </a:r>
          </a:p>
        </p:txBody>
      </p:sp>
      <p:sp>
        <p:nvSpPr>
          <p:cNvPr id="5" name="Rectangle 4"/>
          <p:cNvSpPr/>
          <p:nvPr/>
        </p:nvSpPr>
        <p:spPr>
          <a:xfrm>
            <a:off x="548640" y="822960"/>
            <a:ext cx="4572000" cy="50800"/>
          </a:xfrm>
          <a:prstGeom prst="rect">
            <a:avLst/>
          </a:prstGeom>
          <a:solidFill>
            <a:srgbClr val="5B2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1247120" cy="5577840"/>
          </a:xfrm>
          <a:prstGeom prst="rect">
            <a:avLst/>
          </a:prstGeom>
          <a:noFill/>
        </p:spPr>
        <p:txBody>
          <a:bodyPr wrap="square">
            <a:spAutoFit/>
          </a:bodyPr>
          <a:lstStyle/>
          <a:p>
            <a:pPr algn="l">
              <a:spcAft>
                <a:spcPts val="400"/>
              </a:spcAft>
              <a:defRPr sz="1400" b="1">
                <a:solidFill>
                  <a:srgbClr val="5B2C8C"/>
                </a:solidFill>
              </a:defRPr>
            </a:pPr>
            <a:r>
              <a:t>5. Thibaudeau et al. (2023) — Schizophrenia Research, 256, 29-37</a:t>
            </a:r>
          </a:p>
          <a:p>
            <a:pPr algn="l">
              <a:spcAft>
                <a:spcPts val="1200"/>
              </a:spcAft>
              <a:defRPr sz="1200" b="0">
                <a:solidFill>
                  <a:srgbClr val="1C1C2E"/>
                </a:solidFill>
              </a:defRPr>
            </a:pPr>
            <a:r>
              <a:t>   Examined loneliness and social cognitive abilities in 87 schizophrenia-spectrum patients vs. controls. Used Latent Class Analysis to identify patient subgroups. KEY FINDING: In patients with impaired social cognition (deficits in mentalizing and emotion recognition), loneliness was SIGNIFICANTLY AND NEGATIVELY associated with these cognitive abilities. In patients with intact social cognition, NO association existed. This demonstrates that cognitive-perceptual impairment is a SPECIFIC MECHANISM driving loneliness in a SUBGROUP of patients — and that identifying this subgroup through cognitive assessment (e.g., Rorschach) could enable targeted intervention.</a:t>
            </a:r>
          </a:p>
          <a:p>
            <a:pPr algn="l">
              <a:spcAft>
                <a:spcPts val="400"/>
              </a:spcAft>
              <a:defRPr sz="1400" b="1">
                <a:solidFill>
                  <a:srgbClr val="5B2C8C"/>
                </a:solidFill>
              </a:defRPr>
            </a:pPr>
            <a:r>
              <a:t>6. Hajduk, Harvey, Penn &amp; Pinkham (2023) — Schizophrenia Research, 256, 38-46</a:t>
            </a:r>
          </a:p>
          <a:p>
            <a:pPr algn="l">
              <a:spcAft>
                <a:spcPts val="1200"/>
              </a:spcAft>
              <a:defRPr sz="1200" b="0">
                <a:solidFill>
                  <a:srgbClr val="1C1C2E"/>
                </a:solidFill>
              </a:defRPr>
            </a:pPr>
            <a:r>
              <a:t>   Used structural equation modeling in schizophrenia patients. SOCIAL THREAT BIAS — the tendency to misperceive neutral social stimuli as threatening — was DIRECTLY linked to increased loneliness AND indirectly through decreased social connection. Negative symptoms were directly linked to loneliness; affective symptoms operated through threat bias. Authors recommended that social threat bias should be a treatment target for loneliness. CRITICAL LINK TO PRESENT STUDY: The Rorschach Mediation cluster (X-%, XA%, FQ-) measures PRECISELY this construct — the tendency to misperceive and distort perceptual input. If computerized threat bias predicts loneliness, Rorschach perceptual distortion should similarly predict it.</a:t>
            </a:r>
          </a:p>
          <a:p>
            <a:pPr algn="l">
              <a:spcAft>
                <a:spcPts val="400"/>
              </a:spcAft>
              <a:defRPr sz="1400" b="1">
                <a:solidFill>
                  <a:srgbClr val="5B2C8C"/>
                </a:solidFill>
              </a:defRPr>
            </a:pPr>
            <a:r>
              <a:t>7. Jaya, Hempel &amp; Lincoln (2024) — Schizophrenia Research, 269, 118-125</a:t>
            </a:r>
          </a:p>
          <a:p>
            <a:pPr algn="l">
              <a:spcAft>
                <a:spcPts val="1200"/>
              </a:spcAft>
              <a:defRPr sz="1200" b="0">
                <a:solidFill>
                  <a:srgbClr val="1C1C2E"/>
                </a:solidFill>
              </a:defRPr>
            </a:pPr>
            <a:r>
              <a:t>   Tested whether Selective Attention to Threat (ATB) and External Attribution Bias (EAB) mediated the loneliness-psychosis link. Confirmed biased cognition plays a key causal role. Attention to threat partially mediated the relationship. RELEVANCE: The Rorschach Processing cluster (Zd) measures scanning efficiency — whether a person hastily scans or excessively scans their environment. This is the projective equivalent of selective attention bias. The present study tests whether scanning pattern (Zd) predicts loneliness.</a:t>
            </a:r>
          </a:p>
          <a:p>
            <a:pPr algn="l">
              <a:spcAft>
                <a:spcPts val="400"/>
              </a:spcAft>
              <a:defRPr sz="1400" b="1">
                <a:solidFill>
                  <a:srgbClr val="5B2C8C"/>
                </a:solidFill>
              </a:defRPr>
            </a:pPr>
            <a:r>
              <a:t>8. Wang, Chen &amp; Liu (2026) — European Archives of Psychiatry &amp; Clinical Neuroscience</a:t>
            </a:r>
          </a:p>
          <a:p>
            <a:pPr algn="l">
              <a:spcAft>
                <a:spcPts val="400"/>
              </a:spcAft>
              <a:defRPr sz="1200" b="0">
                <a:solidFill>
                  <a:srgbClr val="1C1C2E"/>
                </a:solidFill>
              </a:defRPr>
            </a:pPr>
            <a:r>
              <a:t>   Most recent study: loneliness DIRECTLY associated with cognitive impairment in schizophrenia, with sleep quality and anxiety as mediating pathways. Confirms bidirectional relationship: cognitive impairment may cause loneliness, and loneliness may worsen cognition. Present study examines the first direction.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E8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400" b="1">
                <a:solidFill>
                  <a:srgbClr val="0D1B2A"/>
                </a:solidFill>
              </a:defRPr>
            </a:pPr>
            <a:r>
              <a:t>Review of Literature III: Rorschach Cognitive Assessment in Schizophrenia</a:t>
            </a:r>
          </a:p>
        </p:txBody>
      </p:sp>
      <p:sp>
        <p:nvSpPr>
          <p:cNvPr id="5" name="Rectangle 4"/>
          <p:cNvSpPr/>
          <p:nvPr/>
        </p:nvSpPr>
        <p:spPr>
          <a:xfrm>
            <a:off x="548640" y="822960"/>
            <a:ext cx="4572000" cy="50800"/>
          </a:xfrm>
          <a:prstGeom prst="rect">
            <a:avLst/>
          </a:prstGeom>
          <a:solidFill>
            <a:srgbClr val="1E8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1247120" cy="5577840"/>
          </a:xfrm>
          <a:prstGeom prst="rect">
            <a:avLst/>
          </a:prstGeom>
          <a:noFill/>
        </p:spPr>
        <p:txBody>
          <a:bodyPr wrap="square">
            <a:spAutoFit/>
          </a:bodyPr>
          <a:lstStyle/>
          <a:p>
            <a:pPr algn="l">
              <a:spcAft>
                <a:spcPts val="400"/>
              </a:spcAft>
              <a:defRPr sz="1400" b="1">
                <a:solidFill>
                  <a:srgbClr val="1E8C4E"/>
                </a:solidFill>
              </a:defRPr>
            </a:pPr>
            <a:r>
              <a:t>9. Ilonen, Leinonen, Wallin &amp; Wahlberg (2012) — Psychological Assessment, 25(1), 253-263</a:t>
            </a:r>
          </a:p>
          <a:p>
            <a:pPr algn="l">
              <a:spcAft>
                <a:spcPts val="1200"/>
              </a:spcAft>
              <a:defRPr sz="1200" b="0">
                <a:solidFill>
                  <a:srgbClr val="1C1C2E"/>
                </a:solidFill>
              </a:defRPr>
            </a:pPr>
            <a:r>
              <a:t>   SEMINAL STUDY: Examined Rorschach cognitive variables (psychological complexity, thought disorder, interpersonal representations) in 72 outpatients with schizophrenia (mean age 51.2). Psychological complexity — a Rorschach composite reflecting capacity for problem-solving and organizing surroundings — correlated with functional capacity (r=.30) and social skills capacity (r=.34). In multiple regression, Rorschach complexity predicted functioning (B=0.23, p=0.02) and social skills (B=0.35, p&lt;0.01) AFTER controlling for neurocognition and psychopathology. LANDMARK CONCLUSION: The Rorschach captures cognitive dimensions that predict real-world outcomes ABOVE AND BEYOND standard neuropsychological tests. Present study extends this to loneliness as outcome.</a:t>
            </a:r>
          </a:p>
          <a:p>
            <a:pPr algn="l">
              <a:spcAft>
                <a:spcPts val="400"/>
              </a:spcAft>
              <a:defRPr sz="1400" b="1">
                <a:solidFill>
                  <a:srgbClr val="1E8C4E"/>
                </a:solidFill>
              </a:defRPr>
            </a:pPr>
            <a:r>
              <a:t>10. Singh, Shukla &amp; Mishra (2021) — Indian J Psychiatric Nursing, 30(1), 49-55</a:t>
            </a:r>
          </a:p>
          <a:p>
            <a:pPr algn="l">
              <a:spcAft>
                <a:spcPts val="1200"/>
              </a:spcAft>
              <a:defRPr sz="1200" b="0">
                <a:solidFill>
                  <a:srgbClr val="1C1C2E"/>
                </a:solidFill>
              </a:defRPr>
            </a:pPr>
            <a:r>
              <a:t>   Indian study examining Rorschach structural profiles and their correlation with psychopathology (PANSS) in schizophrenia patients. Confirmed that Rorschach provides specific knowledge about coping style, emotional processing, stress management, mediation (reality testing), ideation (thought quality), self-perception, and interpersonal relationships. Rorschach variables significantly correlated with PANSS severity. ESTABLISHES: Rorschach cognitive variables are clinically relevant in Indian schizophrenia populations. GAP: Did NOT examine relationship with subjective experiential outcomes like loneliness.</a:t>
            </a:r>
          </a:p>
          <a:p>
            <a:pPr algn="l">
              <a:spcAft>
                <a:spcPts val="400"/>
              </a:spcAft>
              <a:defRPr sz="1400" b="1">
                <a:solidFill>
                  <a:srgbClr val="1E8C4E"/>
                </a:solidFill>
              </a:defRPr>
            </a:pPr>
            <a:r>
              <a:t>11. Kimoto et al. (2016) — Neuropsychiatric Disease &amp; Treatment, 12, 2403-2410</a:t>
            </a:r>
          </a:p>
          <a:p>
            <a:pPr algn="l">
              <a:spcAft>
                <a:spcPts val="1200"/>
              </a:spcAft>
              <a:defRPr sz="1200" b="0">
                <a:solidFill>
                  <a:srgbClr val="1C1C2E"/>
                </a:solidFill>
              </a:defRPr>
            </a:pPr>
            <a:r>
              <a:t>   Compared Rorschach profiles between schizophrenia and autism spectrum disorder in young adults. Schizophrenia showed significantly higher FQ- (perceptual distortion) and DQo (cognitively simple responses). Confirmed that Rorschach mediation variables (X-%, XA%) are DISTINCTIVELY impaired in schizophrenia — stronger perception distortions and simpler recognition. Present study builds on this by testing whether this distinctive perceptual distortion predicts the SUBJECTIVE EXPERIENCE of loneliness.</a:t>
            </a:r>
          </a:p>
          <a:p>
            <a:pPr algn="l">
              <a:spcAft>
                <a:spcPts val="400"/>
              </a:spcAft>
              <a:defRPr sz="1400" b="1">
                <a:solidFill>
                  <a:srgbClr val="1E8C4E"/>
                </a:solidFill>
              </a:defRPr>
            </a:pPr>
            <a:r>
              <a:t>12. Jo, Lee, Lee &amp; Joo (2024) — Science Progress, 107(3)</a:t>
            </a:r>
          </a:p>
          <a:p>
            <a:pPr algn="l">
              <a:spcAft>
                <a:spcPts val="400"/>
              </a:spcAft>
              <a:defRPr sz="1200" b="0">
                <a:solidFill>
                  <a:srgbClr val="1C1C2E"/>
                </a:solidFill>
              </a:defRPr>
            </a:pPr>
            <a:r>
              <a:t>   Compared Rorschach patterns between Kraepelinian (severe) vs. DSM-defined schizophrenia. Kraepelinian patients showed significantly increased DV2 scores (severe thought disorder) and decreased D scores. Demonstrates that Rorschach ideation variables (special scores) are SENSITIVE TO SEVERITY GRADIENTS within schizophrenia — supporting their use as continuous predictors of loneliness degree.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400" b="1">
                <a:solidFill>
                  <a:srgbClr val="0D1B2A"/>
                </a:solidFill>
              </a:defRPr>
            </a:pPr>
            <a:r>
              <a:t>Review of Literature IV: Additional Supporting Evidence</a:t>
            </a:r>
          </a:p>
        </p:txBody>
      </p:sp>
      <p:sp>
        <p:nvSpPr>
          <p:cNvPr id="5" name="Rectangle 4"/>
          <p:cNvSpPr/>
          <p:nvPr/>
        </p:nvSpPr>
        <p:spPr>
          <a:xfrm>
            <a:off x="548640" y="822960"/>
            <a:ext cx="4572000" cy="50800"/>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1247120" cy="5486400"/>
          </a:xfrm>
          <a:prstGeom prst="rect">
            <a:avLst/>
          </a:prstGeom>
          <a:noFill/>
        </p:spPr>
        <p:txBody>
          <a:bodyPr wrap="square">
            <a:spAutoFit/>
          </a:bodyPr>
          <a:lstStyle/>
          <a:p>
            <a:pPr algn="l">
              <a:spcAft>
                <a:spcPts val="400"/>
              </a:spcAft>
              <a:defRPr sz="1400" b="1">
                <a:solidFill>
                  <a:srgbClr val="C89B2B"/>
                </a:solidFill>
              </a:defRPr>
            </a:pPr>
            <a:r>
              <a:t>13. Hsu, Huang &amp; Lin (2024) — Schizophrenia Research, 266, 171-178</a:t>
            </a:r>
          </a:p>
          <a:p>
            <a:pPr algn="l">
              <a:spcAft>
                <a:spcPts val="1200"/>
              </a:spcAft>
              <a:defRPr sz="1200" b="0">
                <a:solidFill>
                  <a:srgbClr val="1C1C2E"/>
                </a:solidFill>
              </a:defRPr>
            </a:pPr>
            <a:r>
              <a:t>   Longitudinal study (2019-2021, N=166 inpatients). Social isolation significantly related to poor language abilities (B=-0.17, p=0.013) and delayed recall (B=-0.15, p=0.023). First study establishing longitudinal, directional link between social disconnection and cognitive decline in schizophrenia. Demonstrates that cognitive impairment and social isolation are BIDIRECTIONALLY related — present study examines whether specific cognitive processes (processing/mediation/ideation) are differentially associated with the SUBJECTIVE experience of aloneness.</a:t>
            </a:r>
          </a:p>
          <a:p>
            <a:pPr algn="l">
              <a:spcAft>
                <a:spcPts val="400"/>
              </a:spcAft>
              <a:defRPr sz="1400" b="1">
                <a:solidFill>
                  <a:srgbClr val="C89B2B"/>
                </a:solidFill>
              </a:defRPr>
            </a:pPr>
            <a:r>
              <a:t>14. Stain, Galletly, Clark et al. (2016) — Psychiatry Research, 235, 170-176</a:t>
            </a:r>
          </a:p>
          <a:p>
            <a:pPr algn="l">
              <a:spcAft>
                <a:spcPts val="1200"/>
              </a:spcAft>
              <a:defRPr sz="1200" b="0">
                <a:solidFill>
                  <a:srgbClr val="1C1C2E"/>
                </a:solidFill>
              </a:defRPr>
            </a:pPr>
            <a:r>
              <a:t>   Assessed loneliness (UCLA-R) in 87 non-depressed schizophrenia/schizoaffective patients vs. 58 controls. Patients reported significantly greater loneliness. Loneliness was associated with impaired social cognition and identified as risk factor for broad-based morbidity even after controlling for demographics. However, SPECIFIC cognitive processes driving loneliness were NOT examined — present study fills this gap using Rorschach Cognitive Triad.</a:t>
            </a:r>
          </a:p>
          <a:p>
            <a:pPr algn="l">
              <a:spcAft>
                <a:spcPts val="400"/>
              </a:spcAft>
              <a:defRPr sz="1400" b="1">
                <a:solidFill>
                  <a:srgbClr val="C89B2B"/>
                </a:solidFill>
              </a:defRPr>
            </a:pPr>
            <a:r>
              <a:t>15. Regev et al. (2024) — Schizophrenia Research, 270, 215-223</a:t>
            </a:r>
          </a:p>
          <a:p>
            <a:pPr algn="l">
              <a:spcAft>
                <a:spcPts val="1200"/>
              </a:spcAft>
              <a:defRPr sz="1200" b="0">
                <a:solidFill>
                  <a:srgbClr val="1C1C2E"/>
                </a:solidFill>
              </a:defRPr>
            </a:pPr>
            <a:r>
              <a:t>   Patients with HIGH social exclusion were 4.24 times more likely to have cognitive impairment than those with LOW exclusion. Verbal learning was the cognitive function most related to exclusion domains. Establishes dose-response relationship: MORE cognitive impairment = MORE disconnection. Present study extends this using performance-based projective assessment (Rorschach) rather than neuropsychological tests.</a:t>
            </a:r>
          </a:p>
          <a:p>
            <a:pPr algn="l">
              <a:spcAft>
                <a:spcPts val="400"/>
              </a:spcAft>
              <a:defRPr sz="1400" b="1">
                <a:solidFill>
                  <a:srgbClr val="C89B2B"/>
                </a:solidFill>
              </a:defRPr>
            </a:pPr>
            <a:r>
              <a:t>16. Lin, Yen et al. (2022) — Int J Environ Res Public Health, 19(14), 8443</a:t>
            </a:r>
          </a:p>
          <a:p>
            <a:pPr algn="l">
              <a:spcAft>
                <a:spcPts val="400"/>
              </a:spcAft>
              <a:defRPr sz="1200" b="0">
                <a:solidFill>
                  <a:srgbClr val="1C1C2E"/>
                </a:solidFill>
              </a:defRPr>
            </a:pPr>
            <a:r>
              <a:t>   Evaluated psychometric properties of three UCLA Loneliness Scale versions SPECIFICALLY in schizophrenia/schizoaffective populations. All versions showed acceptable properties; Version 3 performed best overall. Confirmed self-reported loneliness CAN be reliably measured in psychotic populations — addressing the common objection that these patients cannot validly self-report. Supports use of UCLA-LS V3 in present study.</a:t>
            </a:r>
          </a:p>
          <a:p>
            <a:pPr algn="l">
              <a:spcAft>
                <a:spcPts val="400"/>
              </a:spcAft>
              <a:defRPr sz="1400" b="1">
                <a:solidFill>
                  <a:srgbClr val="C89B2B"/>
                </a:solidFill>
              </a:defRPr>
            </a:pPr>
            <a:r>
              <a:t>17. Sharma, Narang &amp; Kumar (2023) — Asian J Psychiatry, 88, 103742 [INDIAN]</a:t>
            </a:r>
          </a:p>
          <a:p>
            <a:pPr algn="l">
              <a:spcAft>
                <a:spcPts val="400"/>
              </a:spcAft>
              <a:defRPr sz="1200" b="0">
                <a:solidFill>
                  <a:srgbClr val="1C1C2E"/>
                </a:solidFill>
              </a:defRPr>
            </a:pPr>
            <a:r>
              <a:t>   Indian cross-sectional study finding cognitive deficits affect functioning MORE than positive/negative symptoms. Called for research linking cognitive assessment to clinically meaningful outcomes in India. Present study directly responds to this call.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C0392B"/>
                </a:solidFill>
              </a:defRPr>
            </a:pPr>
            <a:r>
              <a:t>Research Gap: What Remains Unknown</a:t>
            </a:r>
          </a:p>
        </p:txBody>
      </p:sp>
      <p:sp>
        <p:nvSpPr>
          <p:cNvPr id="5" name="TextBox 4"/>
          <p:cNvSpPr txBox="1"/>
          <p:nvPr/>
        </p:nvSpPr>
        <p:spPr>
          <a:xfrm>
            <a:off x="457200" y="914400"/>
            <a:ext cx="11247120" cy="5669280"/>
          </a:xfrm>
          <a:prstGeom prst="rect">
            <a:avLst/>
          </a:prstGeom>
          <a:noFill/>
        </p:spPr>
        <p:txBody>
          <a:bodyPr wrap="square">
            <a:spAutoFit/>
          </a:bodyPr>
          <a:lstStyle/>
          <a:p>
            <a:pPr algn="l">
              <a:spcAft>
                <a:spcPts val="200"/>
              </a:spcAft>
              <a:defRPr sz="1300" b="1">
                <a:solidFill>
                  <a:srgbClr val="C0392B"/>
                </a:solidFill>
              </a:defRPr>
            </a:pPr>
            <a:r>
              <a:t>GAP 1:</a:t>
            </a:r>
          </a:p>
          <a:p>
            <a:pPr algn="l">
              <a:spcAft>
                <a:spcPts val="1000"/>
              </a:spcAft>
              <a:defRPr sz="1200" b="0">
                <a:solidFill>
                  <a:srgbClr val="FFFFFF"/>
                </a:solidFill>
              </a:defRPr>
            </a:pPr>
            <a:r>
              <a:t>  NO study globally has examined whether Rorschach cognitive triad variables (processing, mediation, ideation) predict subjective loneliness in ANY psychiatric population. The Rorschach-loneliness connection is entirely unexplored territory.</a:t>
            </a:r>
          </a:p>
          <a:p>
            <a:pPr algn="l">
              <a:spcAft>
                <a:spcPts val="200"/>
              </a:spcAft>
              <a:defRPr sz="1300" b="1">
                <a:solidFill>
                  <a:srgbClr val="C0392B"/>
                </a:solidFill>
              </a:defRPr>
            </a:pPr>
            <a:r>
              <a:t>GAP 2:</a:t>
            </a:r>
          </a:p>
          <a:p>
            <a:pPr algn="l">
              <a:spcAft>
                <a:spcPts val="1000"/>
              </a:spcAft>
              <a:defRPr sz="1200" b="0">
                <a:solidFill>
                  <a:srgbClr val="FFFFFF"/>
                </a:solidFill>
              </a:defRPr>
            </a:pPr>
            <a:r>
              <a:t>  Existing loneliness research in schizophrenia relies exclusively on computerized social cognition tasks (TASIT, ER-40, Hinting Task) that are UNAVAILABLE in most Indian clinical settings. The Rorschach — universally available in Indian MPhil programs — has never been tested as a loneliness predictor.</a:t>
            </a:r>
          </a:p>
          <a:p>
            <a:pPr algn="l">
              <a:spcAft>
                <a:spcPts val="200"/>
              </a:spcAft>
              <a:defRPr sz="1300" b="1">
                <a:solidFill>
                  <a:srgbClr val="C0392B"/>
                </a:solidFill>
              </a:defRPr>
            </a:pPr>
            <a:r>
              <a:t>GAP 3:</a:t>
            </a:r>
          </a:p>
          <a:p>
            <a:pPr algn="l">
              <a:spcAft>
                <a:spcPts val="1000"/>
              </a:spcAft>
              <a:defRPr sz="1200" b="0">
                <a:solidFill>
                  <a:srgbClr val="FFFFFF"/>
                </a:solidFill>
              </a:defRPr>
            </a:pPr>
            <a:r>
              <a:t>  Hajduk et al. (2023) showed computerized 'social threat bias' predicts loneliness. The Rorschach Mediation cluster (X-%, XA%) is the projective EQUIVALENT of threat bias measurement — but nobody has tested this equivalence.</a:t>
            </a:r>
          </a:p>
          <a:p>
            <a:pPr algn="l">
              <a:spcAft>
                <a:spcPts val="200"/>
              </a:spcAft>
              <a:defRPr sz="1300" b="1">
                <a:solidFill>
                  <a:srgbClr val="C0392B"/>
                </a:solidFill>
              </a:defRPr>
            </a:pPr>
            <a:r>
              <a:t>GAP 4:</a:t>
            </a:r>
          </a:p>
          <a:p>
            <a:pPr algn="l">
              <a:spcAft>
                <a:spcPts val="1000"/>
              </a:spcAft>
              <a:defRPr sz="1200" b="0">
                <a:solidFill>
                  <a:srgbClr val="FFFFFF"/>
                </a:solidFill>
              </a:defRPr>
            </a:pPr>
            <a:r>
              <a:t>  Ilonen et al. (2012) showed Rorschach cognition predicts FUNCTIONAL CAPACITY — but functional capacity ('can the patient work?') is NOT the same as subjective loneliness ('does the patient feel alone?'). These are distinct outcomes requiring separate investigation.</a:t>
            </a:r>
          </a:p>
          <a:p>
            <a:pPr algn="l">
              <a:spcAft>
                <a:spcPts val="200"/>
              </a:spcAft>
              <a:defRPr sz="1300" b="1">
                <a:solidFill>
                  <a:srgbClr val="C0392B"/>
                </a:solidFill>
              </a:defRPr>
            </a:pPr>
            <a:r>
              <a:t>GAP 5:</a:t>
            </a:r>
          </a:p>
          <a:p>
            <a:pPr algn="l">
              <a:spcAft>
                <a:spcPts val="1000"/>
              </a:spcAft>
              <a:defRPr sz="1200" b="0">
                <a:solidFill>
                  <a:srgbClr val="FFFFFF"/>
                </a:solidFill>
              </a:defRPr>
            </a:pPr>
            <a:r>
              <a:t>  The question of WHICH cognitive step (processing vs. mediation vs. ideation) most strongly predicts loneliness is completely unanswered — yet this specificity is ESSENTIAL for targeted cognitive remediation planning.</a:t>
            </a:r>
          </a:p>
          <a:p>
            <a:pPr algn="l">
              <a:spcAft>
                <a:spcPts val="200"/>
              </a:spcAft>
              <a:defRPr sz="1300" b="1">
                <a:solidFill>
                  <a:srgbClr val="C0392B"/>
                </a:solidFill>
              </a:defRPr>
            </a:pPr>
            <a:r>
              <a:t>GAP 6:</a:t>
            </a:r>
          </a:p>
          <a:p>
            <a:pPr algn="l">
              <a:spcAft>
                <a:spcPts val="1000"/>
              </a:spcAft>
              <a:defRPr sz="1200" b="0">
                <a:solidFill>
                  <a:srgbClr val="FFFFFF"/>
                </a:solidFill>
              </a:defRPr>
            </a:pPr>
            <a:r>
              <a:t>  NO Indian study has examined either (a) Rorschach cognitive variables in relation to any outcome beyond symptom severity, OR (b) loneliness and its cognitive correlates in Indian schizophrenia populations.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E8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1E8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0D1B2A"/>
                </a:solidFill>
              </a:defRPr>
            </a:pPr>
            <a:r>
              <a:t>Rationale of the Study: Why This Research is Necessary</a:t>
            </a:r>
          </a:p>
        </p:txBody>
      </p:sp>
      <p:sp>
        <p:nvSpPr>
          <p:cNvPr id="6" name="Rectangle 5"/>
          <p:cNvSpPr/>
          <p:nvPr/>
        </p:nvSpPr>
        <p:spPr>
          <a:xfrm>
            <a:off x="548640" y="822960"/>
            <a:ext cx="3657600" cy="50800"/>
          </a:xfrm>
          <a:prstGeom prst="rect">
            <a:avLst/>
          </a:prstGeom>
          <a:solidFill>
            <a:srgbClr val="1E8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05840"/>
            <a:ext cx="11247120" cy="5486400"/>
          </a:xfrm>
          <a:prstGeom prst="rect">
            <a:avLst/>
          </a:prstGeom>
          <a:noFill/>
        </p:spPr>
        <p:txBody>
          <a:bodyPr wrap="square">
            <a:spAutoFit/>
          </a:bodyPr>
          <a:lstStyle/>
          <a:p>
            <a:pPr algn="l">
              <a:spcAft>
                <a:spcPts val="400"/>
              </a:spcAft>
              <a:defRPr sz="1600" b="1">
                <a:solidFill>
                  <a:srgbClr val="1E8C4E"/>
                </a:solidFill>
              </a:defRPr>
            </a:pPr>
            <a:r>
              <a:t>FIRST — Clinical Urgency:</a:t>
            </a:r>
          </a:p>
          <a:p>
            <a:pPr algn="l">
              <a:spcAft>
                <a:spcPts val="1200"/>
              </a:spcAft>
              <a:defRPr sz="1300" b="0">
                <a:solidFill>
                  <a:srgbClr val="1C1C2E"/>
                </a:solidFill>
              </a:defRPr>
            </a:pPr>
            <a:r>
              <a:t>Loneliness in schizophrenia is no longer a 'soft' or peripheral concern. It is an independent clinical variable associated with psychiatric hospitalization (Fortuna, 2020), suicide risk (Yen, 2023), accelerated cognitive decline (Wang, 2026), and all-cause mortality (Green, 2023). Identifying modifiable predictors of loneliness is clinically urgent.</a:t>
            </a:r>
          </a:p>
          <a:p>
            <a:pPr algn="l">
              <a:spcAft>
                <a:spcPts val="400"/>
              </a:spcAft>
              <a:defRPr sz="1600" b="1">
                <a:solidFill>
                  <a:srgbClr val="1E8C4E"/>
                </a:solidFill>
              </a:defRPr>
            </a:pPr>
            <a:r>
              <a:t>SECOND — Theoretical Precision:</a:t>
            </a:r>
          </a:p>
          <a:p>
            <a:pPr algn="l">
              <a:spcAft>
                <a:spcPts val="1200"/>
              </a:spcAft>
              <a:defRPr sz="1300" b="0">
                <a:solidFill>
                  <a:srgbClr val="1C1C2E"/>
                </a:solidFill>
              </a:defRPr>
            </a:pPr>
            <a:r>
              <a:t>The Cognitive Model of Loneliness (Cacioppo &amp; Hawkley, 2009), now applied to psychosis (Michalska da Rocha, 2018; Green, 2023), establishes that loneliness arises from cognitive-perceptual disturbances — specifically, impaired scanning, misperception of social stimuli, and distorted reasoning. The Rorschach Cognitive Triad (Processing → Mediation → Ideation) measures EXACTLY these sequential operations. The theoretical fit is not approximate — it is precise.</a:t>
            </a:r>
          </a:p>
          <a:p>
            <a:pPr algn="l">
              <a:spcAft>
                <a:spcPts val="400"/>
              </a:spcAft>
              <a:defRPr sz="1600" b="1">
                <a:solidFill>
                  <a:srgbClr val="1E8C4E"/>
                </a:solidFill>
              </a:defRPr>
            </a:pPr>
            <a:r>
              <a:t>THIRD — Methodological Advantage of Projective Assessment:</a:t>
            </a:r>
          </a:p>
          <a:p>
            <a:pPr algn="l">
              <a:spcAft>
                <a:spcPts val="1200"/>
              </a:spcAft>
              <a:defRPr sz="1300" b="0">
                <a:solidFill>
                  <a:srgbClr val="1C1C2E"/>
                </a:solidFill>
              </a:defRPr>
            </a:pPr>
            <a:r>
              <a:t>The Rorschach offers critical advantages over neuropsychological testing in psychotic populations: (a) cannot be faked or manipulated (50-80% of patients lack insight — self-report is unreliable), (b) measures cognitive PROCESS not just product, (c) ecologically valid (ambiguous stimuli simulate real-world social ambiguity), (d) no floor effects, (e) single 30-min administration yields all predictor variables simultaneously.</a:t>
            </a:r>
          </a:p>
          <a:p>
            <a:pPr algn="l">
              <a:spcAft>
                <a:spcPts val="400"/>
              </a:spcAft>
              <a:defRPr sz="1600" b="1">
                <a:solidFill>
                  <a:srgbClr val="1E8C4E"/>
                </a:solidFill>
              </a:defRPr>
            </a:pPr>
            <a:r>
              <a:t>FOURTH — Practical Clinical Utility:</a:t>
            </a:r>
          </a:p>
          <a:p>
            <a:pPr algn="l">
              <a:spcAft>
                <a:spcPts val="400"/>
              </a:spcAft>
              <a:defRPr sz="1300" b="0">
                <a:solidFill>
                  <a:srgbClr val="1C1C2E"/>
                </a:solidFill>
              </a:defRPr>
            </a:pPr>
            <a:r>
              <a:t>If we identify WHICH cognitive step most strongly predicts loneliness, it directly informs individualized rehabilitation: Should we train perceptual accuracy? Scanning efficiency? Logical reasoning? This enables TARGETED cognitive remediation for lonely patients — a priority identified in Indian clinical practice guidelines (IPS,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0D1B2A"/>
                </a:solidFill>
              </a:defRPr>
            </a:pPr>
            <a:r>
              <a:t>Aim &amp; Objectives</a:t>
            </a:r>
          </a:p>
        </p:txBody>
      </p:sp>
      <p:sp>
        <p:nvSpPr>
          <p:cNvPr id="5" name="Rectangle 4"/>
          <p:cNvSpPr/>
          <p:nvPr/>
        </p:nvSpPr>
        <p:spPr>
          <a:xfrm>
            <a:off x="548640" y="822960"/>
            <a:ext cx="2743200" cy="508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097280"/>
            <a:ext cx="11247120" cy="1280160"/>
          </a:xfrm>
          <a:prstGeom prst="round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188720"/>
            <a:ext cx="10789920" cy="1097280"/>
          </a:xfrm>
          <a:prstGeom prst="rect">
            <a:avLst/>
          </a:prstGeom>
          <a:noFill/>
        </p:spPr>
        <p:txBody>
          <a:bodyPr wrap="square">
            <a:spAutoFit/>
          </a:bodyPr>
          <a:lstStyle/>
          <a:p>
            <a:pPr algn="l">
              <a:spcAft>
                <a:spcPts val="400"/>
              </a:spcAft>
              <a:defRPr sz="1600" b="1">
                <a:solidFill>
                  <a:srgbClr val="C89B2B"/>
                </a:solidFill>
              </a:defRPr>
            </a:pPr>
            <a:r>
              <a:t>AIM:</a:t>
            </a:r>
          </a:p>
          <a:p>
            <a:pPr algn="l">
              <a:spcAft>
                <a:spcPts val="400"/>
              </a:spcAft>
              <a:defRPr sz="1400" b="0">
                <a:solidFill>
                  <a:srgbClr val="FFFFFF"/>
                </a:solidFill>
              </a:defRPr>
            </a:pPr>
            <a:r>
              <a:t>To examine whether Rorschach indices of the Cognitive Triad (Information Processing, Cognitive Mediation, and Ideation) predict subjective loneliness in clinically stable patients with schizophrenia, after controlling for negative symptom severity.</a:t>
            </a:r>
          </a:p>
        </p:txBody>
      </p:sp>
      <p:sp>
        <p:nvSpPr>
          <p:cNvPr id="8" name="TextBox 7"/>
          <p:cNvSpPr txBox="1"/>
          <p:nvPr/>
        </p:nvSpPr>
        <p:spPr>
          <a:xfrm>
            <a:off x="457200" y="2651760"/>
            <a:ext cx="11247120" cy="3931920"/>
          </a:xfrm>
          <a:prstGeom prst="rect">
            <a:avLst/>
          </a:prstGeom>
          <a:noFill/>
        </p:spPr>
        <p:txBody>
          <a:bodyPr wrap="square">
            <a:spAutoFit/>
          </a:bodyPr>
          <a:lstStyle/>
          <a:p>
            <a:pPr algn="l">
              <a:spcAft>
                <a:spcPts val="800"/>
              </a:spcAft>
              <a:defRPr sz="1600" b="1">
                <a:solidFill>
                  <a:srgbClr val="1B6B93"/>
                </a:solidFill>
              </a:defRPr>
            </a:pPr>
            <a:r>
              <a:t>OBJECTIVES:</a:t>
            </a:r>
          </a:p>
          <a:p>
            <a:pPr algn="l">
              <a:spcAft>
                <a:spcPts val="800"/>
              </a:spcAft>
              <a:defRPr sz="1300" b="0">
                <a:solidFill>
                  <a:srgbClr val="1C1C2E"/>
                </a:solidFill>
              </a:defRPr>
            </a:pPr>
            <a:r>
              <a:t>O1: To assess the Rorschach Cognitive Triad profile (Processing, Mediation, and Ideation cluster variables) of clinically stable patients with schizophrenia.</a:t>
            </a:r>
          </a:p>
          <a:p>
            <a:pPr algn="l">
              <a:spcAft>
                <a:spcPts val="800"/>
              </a:spcAft>
              <a:defRPr sz="1300" b="0">
                <a:solidFill>
                  <a:srgbClr val="1C1C2E"/>
                </a:solidFill>
              </a:defRPr>
            </a:pPr>
            <a:r>
              <a:t>O2: To assess the level of subjective loneliness in these patients using the UCLA Loneliness Scale Version 3.</a:t>
            </a:r>
          </a:p>
          <a:p>
            <a:pPr algn="l">
              <a:spcAft>
                <a:spcPts val="800"/>
              </a:spcAft>
              <a:defRPr sz="1300" b="0">
                <a:solidFill>
                  <a:srgbClr val="1C1C2E"/>
                </a:solidFill>
              </a:defRPr>
            </a:pPr>
            <a:r>
              <a:t>O3: To examine correlations between Rorschach PROCESSING variables (Zf, Zd, DQ+, DQv, W:D:Dd) and UCLA Loneliness scores.</a:t>
            </a:r>
          </a:p>
          <a:p>
            <a:pPr algn="l">
              <a:spcAft>
                <a:spcPts val="800"/>
              </a:spcAft>
              <a:defRPr sz="1300" b="0">
                <a:solidFill>
                  <a:srgbClr val="1C1C2E"/>
                </a:solidFill>
              </a:defRPr>
            </a:pPr>
            <a:r>
              <a:t>O4: To examine correlations between Rorschach MEDIATION variables (XA%, WDA%, X-%, X+%, Xu%, P) and UCLA Loneliness scores.</a:t>
            </a:r>
          </a:p>
          <a:p>
            <a:pPr algn="l">
              <a:spcAft>
                <a:spcPts val="800"/>
              </a:spcAft>
              <a:defRPr sz="1300" b="0">
                <a:solidFill>
                  <a:srgbClr val="1C1C2E"/>
                </a:solidFill>
              </a:defRPr>
            </a:pPr>
            <a:r>
              <a:t>O5: To examine correlations between Rorschach IDEATION variables (WSum6, Level 2, Ma:Mp, a:p, M quality) and UCLA Loneliness scores.</a:t>
            </a:r>
          </a:p>
          <a:p>
            <a:pPr algn="l">
              <a:spcAft>
                <a:spcPts val="800"/>
              </a:spcAft>
              <a:defRPr sz="1300" b="0">
                <a:solidFill>
                  <a:srgbClr val="1C1C2E"/>
                </a:solidFill>
              </a:defRPr>
            </a:pPr>
            <a:r>
              <a:t>O6: To determine which cluster of the Cognitive Triad is the STRONGEST predictor of loneliness after controlling for PANSS Negative Subscale score.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0D1B2A"/>
                </a:solidFill>
              </a:defRPr>
            </a:pPr>
            <a:r>
              <a:t>Hypotheses</a:t>
            </a:r>
          </a:p>
        </p:txBody>
      </p:sp>
      <p:sp>
        <p:nvSpPr>
          <p:cNvPr id="5" name="Rectangle 4"/>
          <p:cNvSpPr/>
          <p:nvPr/>
        </p:nvSpPr>
        <p:spPr>
          <a:xfrm>
            <a:off x="548640" y="822960"/>
            <a:ext cx="2743200" cy="50800"/>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247120" cy="5486400"/>
          </a:xfrm>
          <a:prstGeom prst="rect">
            <a:avLst/>
          </a:prstGeom>
          <a:noFill/>
        </p:spPr>
        <p:txBody>
          <a:bodyPr wrap="square">
            <a:spAutoFit/>
          </a:bodyPr>
          <a:lstStyle/>
          <a:p>
            <a:pPr algn="l">
              <a:spcAft>
                <a:spcPts val="200"/>
              </a:spcAft>
              <a:defRPr sz="1400" b="1">
                <a:solidFill>
                  <a:srgbClr val="1B6B93"/>
                </a:solidFill>
              </a:defRPr>
            </a:pPr>
            <a:r>
              <a:t>H1 (Processing):</a:t>
            </a:r>
          </a:p>
          <a:p>
            <a:pPr algn="l">
              <a:spcAft>
                <a:spcPts val="1200"/>
              </a:spcAft>
              <a:defRPr sz="1200" b="0">
                <a:solidFill>
                  <a:srgbClr val="1C1C2E"/>
                </a:solidFill>
              </a:defRPr>
            </a:pPr>
            <a:r>
              <a:t>   There will be a significant negative correlation between Rorschach Processing efficiency (normal-range Zd, higher DQ+, lower DQv) and subjective loneliness scores. Patients who process their environment more efficiently and with greater cognitive complexity will report LESS loneliness — because efficient processing enables detection of social connection opportunities.</a:t>
            </a:r>
          </a:p>
          <a:p>
            <a:pPr algn="l">
              <a:spcAft>
                <a:spcPts val="200"/>
              </a:spcAft>
              <a:defRPr sz="1400" b="1">
                <a:solidFill>
                  <a:srgbClr val="C0392B"/>
                </a:solidFill>
              </a:defRPr>
            </a:pPr>
            <a:r>
              <a:t>H2 (Mediation):</a:t>
            </a:r>
          </a:p>
          <a:p>
            <a:pPr algn="l">
              <a:spcAft>
                <a:spcPts val="1200"/>
              </a:spcAft>
              <a:defRPr sz="1200" b="0">
                <a:solidFill>
                  <a:srgbClr val="1C1C2E"/>
                </a:solidFill>
              </a:defRPr>
            </a:pPr>
            <a:r>
              <a:t>   There will be a significant positive correlation between Rorschach Mediation distortion (higher X-%, lower XA%, fewer Populars) and subjective loneliness scores. Patients who more severely MISPERCEIVE reality will report GREATER loneliness — because persistent misperception of social cues as threatening or rejecting drives withdrawal and felt isolation.</a:t>
            </a:r>
          </a:p>
          <a:p>
            <a:pPr algn="l">
              <a:spcAft>
                <a:spcPts val="200"/>
              </a:spcAft>
              <a:defRPr sz="1400" b="1">
                <a:solidFill>
                  <a:srgbClr val="5B2C8C"/>
                </a:solidFill>
              </a:defRPr>
            </a:pPr>
            <a:r>
              <a:t>H3 (Ideation):</a:t>
            </a:r>
          </a:p>
          <a:p>
            <a:pPr algn="l">
              <a:spcAft>
                <a:spcPts val="1200"/>
              </a:spcAft>
              <a:defRPr sz="1200" b="0">
                <a:solidFill>
                  <a:srgbClr val="1C1C2E"/>
                </a:solidFill>
              </a:defRPr>
            </a:pPr>
            <a:r>
              <a:t>   There will be a significant positive correlation between Rorschach Ideation disturbance (higher WSum6, more M-, elevated passive Mp) and subjective loneliness scores. Patients with more disordered or passive thinking will report GREATER loneliness — because illogical reasoning about relationships produces faulty conclusions that prevent connection.</a:t>
            </a:r>
          </a:p>
          <a:p>
            <a:pPr algn="l">
              <a:spcAft>
                <a:spcPts val="200"/>
              </a:spcAft>
              <a:defRPr sz="1400" b="1">
                <a:solidFill>
                  <a:srgbClr val="1E8C4E"/>
                </a:solidFill>
              </a:defRPr>
            </a:pPr>
            <a:r>
              <a:t>H4 (Incremental Validity):</a:t>
            </a:r>
          </a:p>
          <a:p>
            <a:pPr algn="l">
              <a:spcAft>
                <a:spcPts val="1200"/>
              </a:spcAft>
              <a:defRPr sz="1200" b="0">
                <a:solidFill>
                  <a:srgbClr val="1C1C2E"/>
                </a:solidFill>
              </a:defRPr>
            </a:pPr>
            <a:r>
              <a:t>   The Rorschach Cognitive Triad variables will significantly predict subjective loneliness ABOVE AND BEYOND the contribution of negative symptoms (PANSS-N) — demonstrating that cognitive-perceptual processing explains loneliness beyond what negative symptom overlap accounts for.</a:t>
            </a:r>
          </a:p>
          <a:p>
            <a:pPr algn="l">
              <a:spcAft>
                <a:spcPts val="200"/>
              </a:spcAft>
              <a:defRPr sz="1400" b="1">
                <a:solidFill>
                  <a:srgbClr val="C89B2B"/>
                </a:solidFill>
              </a:defRPr>
            </a:pPr>
            <a:r>
              <a:t>H5 (Specificity):</a:t>
            </a:r>
          </a:p>
          <a:p>
            <a:pPr algn="l">
              <a:spcAft>
                <a:spcPts val="1200"/>
              </a:spcAft>
              <a:defRPr sz="1200" b="0">
                <a:solidFill>
                  <a:srgbClr val="1C1C2E"/>
                </a:solidFill>
              </a:defRPr>
            </a:pPr>
            <a:r>
              <a:t>   The MEDIATION cluster (reality testing / perceptual accuracy) will emerge as the strongest predictor of loneliness among the three clusters — because misperception of social reality is the most immediate and direct cognitive barrier to feeling connected.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0D1B2A"/>
                </a:solidFill>
              </a:defRPr>
            </a:pPr>
            <a:r>
              <a:t>Methodology: Research Design, Sample &amp; Criteria</a:t>
            </a:r>
          </a:p>
        </p:txBody>
      </p:sp>
      <p:sp>
        <p:nvSpPr>
          <p:cNvPr id="6" name="Rectangle 5"/>
          <p:cNvSpPr/>
          <p:nvPr/>
        </p:nvSpPr>
        <p:spPr>
          <a:xfrm>
            <a:off x="548640" y="822960"/>
            <a:ext cx="3657600" cy="508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05840"/>
            <a:ext cx="5303520" cy="5486400"/>
          </a:xfrm>
          <a:prstGeom prst="rect">
            <a:avLst/>
          </a:prstGeom>
          <a:noFill/>
        </p:spPr>
        <p:txBody>
          <a:bodyPr wrap="square">
            <a:spAutoFit/>
          </a:bodyPr>
          <a:lstStyle/>
          <a:p>
            <a:pPr algn="l">
              <a:spcAft>
                <a:spcPts val="600"/>
              </a:spcAft>
              <a:defRPr sz="1600" b="1">
                <a:solidFill>
                  <a:srgbClr val="C0392B"/>
                </a:solidFill>
              </a:defRPr>
            </a:pPr>
            <a:r>
              <a:t>RESEARCH DESIGN:</a:t>
            </a:r>
          </a:p>
          <a:p>
            <a:pPr algn="l">
              <a:spcAft>
                <a:spcPts val="400"/>
              </a:spcAft>
              <a:defRPr sz="1300" b="0">
                <a:solidFill>
                  <a:srgbClr val="1C1C2E"/>
                </a:solidFill>
              </a:defRPr>
            </a:pPr>
            <a:r>
              <a:t>Cross-sectional, correlational design.</a:t>
            </a:r>
          </a:p>
          <a:p>
            <a:pPr algn="l">
              <a:spcAft>
                <a:spcPts val="1400"/>
              </a:spcAft>
              <a:defRPr sz="1300" b="0">
                <a:solidFill>
                  <a:srgbClr val="1C1C2E"/>
                </a:solidFill>
              </a:defRPr>
            </a:pPr>
            <a:r>
              <a:t>Single-point assessment of Rorschach cognitive variables (IVs) and UCLA Loneliness score (DV) with PANSS-N as covariate.</a:t>
            </a:r>
          </a:p>
          <a:p>
            <a:pPr algn="l">
              <a:spcAft>
                <a:spcPts val="600"/>
              </a:spcAft>
              <a:defRPr sz="1600" b="1">
                <a:solidFill>
                  <a:srgbClr val="C0392B"/>
                </a:solidFill>
              </a:defRPr>
            </a:pPr>
            <a:r>
              <a:t>SAMPLE:</a:t>
            </a:r>
          </a:p>
          <a:p>
            <a:pPr algn="l">
              <a:spcAft>
                <a:spcPts val="400"/>
              </a:spcAft>
              <a:defRPr sz="1300" b="1">
                <a:solidFill>
                  <a:srgbClr val="1C1C2E"/>
                </a:solidFill>
              </a:defRPr>
            </a:pPr>
            <a:r>
              <a:t>N = 40-45 patients with schizophrenia</a:t>
            </a:r>
          </a:p>
          <a:p>
            <a:pPr algn="l">
              <a:spcAft>
                <a:spcPts val="400"/>
              </a:spcAft>
              <a:defRPr sz="1300" b="0">
                <a:solidFill>
                  <a:srgbClr val="1C1C2E"/>
                </a:solidFill>
              </a:defRPr>
            </a:pPr>
            <a:r>
              <a:t>Sampling: Purposive, from Psychiatry OPD / follow-up clinic</a:t>
            </a:r>
          </a:p>
          <a:p>
            <a:pPr algn="l">
              <a:spcAft>
                <a:spcPts val="400"/>
              </a:spcAft>
              <a:defRPr sz="1300" b="0">
                <a:solidFill>
                  <a:srgbClr val="1C1C2E"/>
                </a:solidFill>
              </a:defRPr>
            </a:pPr>
            <a:r>
              <a:t>Justification (G*Power 3.1): Based on published effect sizes r=.25-.35 (Thibaudeau, 2023; Ilonen, 2012); f-squared=0.10-0.15 (small-medium); alpha=.05; power=.80; predictors=4 --&gt; Required N = 38-45.</a:t>
            </a:r>
          </a:p>
          <a:p>
            <a:pPr algn="l">
              <a:spcAft>
                <a:spcPts val="400"/>
              </a:spcAft>
              <a:defRPr sz="1300" b="0">
                <a:solidFill>
                  <a:srgbClr val="1C1C2E"/>
                </a:solidFill>
              </a:defRPr>
            </a:pPr>
            <a:r>
              <a:t>Feasibility: 40 clinically stable schizophrenia patients from a single OPD register within 3-4 months (3-4 patients/week).</a:t>
            </a:r>
          </a:p>
        </p:txBody>
      </p:sp>
      <p:sp>
        <p:nvSpPr>
          <p:cNvPr id="8" name="TextBox 7"/>
          <p:cNvSpPr txBox="1"/>
          <p:nvPr/>
        </p:nvSpPr>
        <p:spPr>
          <a:xfrm>
            <a:off x="6217920" y="1005840"/>
            <a:ext cx="5486400" cy="5486400"/>
          </a:xfrm>
          <a:prstGeom prst="rect">
            <a:avLst/>
          </a:prstGeom>
          <a:noFill/>
        </p:spPr>
        <p:txBody>
          <a:bodyPr wrap="square">
            <a:spAutoFit/>
          </a:bodyPr>
          <a:lstStyle/>
          <a:p>
            <a:pPr algn="l">
              <a:spcAft>
                <a:spcPts val="600"/>
              </a:spcAft>
              <a:defRPr sz="1500" b="1">
                <a:solidFill>
                  <a:srgbClr val="1E8C4E"/>
                </a:solidFill>
              </a:defRPr>
            </a:pPr>
            <a:r>
              <a:t>INCLUSION CRITERIA:</a:t>
            </a:r>
          </a:p>
          <a:p>
            <a:pPr algn="l">
              <a:spcAft>
                <a:spcPts val="500"/>
              </a:spcAft>
              <a:defRPr sz="1200" b="0">
                <a:solidFill>
                  <a:srgbClr val="1C1C2E"/>
                </a:solidFill>
              </a:defRPr>
            </a:pPr>
            <a:r>
              <a:t>1. Diagnosis: Schizophrenia (F20.x, ICD-10/11) confirmed by consultant psychiatrist</a:t>
            </a:r>
          </a:p>
          <a:p>
            <a:pPr algn="l">
              <a:spcAft>
                <a:spcPts val="500"/>
              </a:spcAft>
              <a:defRPr sz="1200" b="0">
                <a:solidFill>
                  <a:srgbClr val="1C1C2E"/>
                </a:solidFill>
              </a:defRPr>
            </a:pPr>
            <a:r>
              <a:t>2. Age: 18-55 years, both sexes</a:t>
            </a:r>
          </a:p>
          <a:p>
            <a:pPr algn="l">
              <a:spcAft>
                <a:spcPts val="500"/>
              </a:spcAft>
              <a:defRPr sz="1200" b="0">
                <a:solidFill>
                  <a:srgbClr val="1C1C2E"/>
                </a:solidFill>
              </a:defRPr>
            </a:pPr>
            <a:r>
              <a:t>3. Clinical stability: Same antipsychotic regimen for minimum 8 weeks</a:t>
            </a:r>
          </a:p>
          <a:p>
            <a:pPr algn="l">
              <a:spcAft>
                <a:spcPts val="500"/>
              </a:spcAft>
              <a:defRPr sz="1200" b="0">
                <a:solidFill>
                  <a:srgbClr val="1C1C2E"/>
                </a:solidFill>
              </a:defRPr>
            </a:pPr>
            <a:r>
              <a:t>4. PANSS total &lt; 80 (partial/full remission)</a:t>
            </a:r>
          </a:p>
          <a:p>
            <a:pPr algn="l">
              <a:spcAft>
                <a:spcPts val="500"/>
              </a:spcAft>
              <a:defRPr sz="1200" b="0">
                <a:solidFill>
                  <a:srgbClr val="1C1C2E"/>
                </a:solidFill>
              </a:defRPr>
            </a:pPr>
            <a:r>
              <a:t>5. Minimum literacy to comprehend UCLA-LS items (read aloud if needed)</a:t>
            </a:r>
          </a:p>
          <a:p>
            <a:pPr algn="l">
              <a:spcAft>
                <a:spcPts val="500"/>
              </a:spcAft>
              <a:defRPr sz="1200" b="0">
                <a:solidFill>
                  <a:srgbClr val="1C1C2E"/>
                </a:solidFill>
              </a:defRPr>
            </a:pPr>
            <a:r>
              <a:t>6. Valid Rorschach protocol: R &gt;= 14 responses (per Exner guidelines)</a:t>
            </a:r>
          </a:p>
          <a:p>
            <a:pPr algn="l">
              <a:spcAft>
                <a:spcPts val="500"/>
              </a:spcAft>
              <a:defRPr sz="1200" b="0">
                <a:solidFill>
                  <a:srgbClr val="1C1C2E"/>
                </a:solidFill>
              </a:defRPr>
            </a:pPr>
            <a:r>
              <a:t>7. Informed written consent (+ guardian where applicable)</a:t>
            </a:r>
          </a:p>
          <a:p>
            <a:pPr algn="l">
              <a:spcAft>
                <a:spcPts val="400"/>
              </a:spcAft>
              <a:defRPr sz="800" b="0">
                <a:solidFill>
                  <a:srgbClr val="1C1C2E"/>
                </a:solidFill>
              </a:defRPr>
            </a:pPr>
          </a:p>
          <a:p>
            <a:pPr algn="l">
              <a:spcAft>
                <a:spcPts val="600"/>
              </a:spcAft>
              <a:defRPr sz="1500" b="1">
                <a:solidFill>
                  <a:srgbClr val="C0392B"/>
                </a:solidFill>
              </a:defRPr>
            </a:pPr>
            <a:r>
              <a:t>EXCLUSION CRITERIA:</a:t>
            </a:r>
          </a:p>
          <a:p>
            <a:pPr algn="l">
              <a:spcAft>
                <a:spcPts val="500"/>
              </a:spcAft>
              <a:defRPr sz="1200" b="0">
                <a:solidFill>
                  <a:srgbClr val="1C1C2E"/>
                </a:solidFill>
              </a:defRPr>
            </a:pPr>
            <a:r>
              <a:t>1. Active substance use disorder (past 3 months)</a:t>
            </a:r>
          </a:p>
          <a:p>
            <a:pPr algn="l">
              <a:spcAft>
                <a:spcPts val="500"/>
              </a:spcAft>
              <a:defRPr sz="1200" b="0">
                <a:solidFill>
                  <a:srgbClr val="1C1C2E"/>
                </a:solidFill>
              </a:defRPr>
            </a:pPr>
            <a:r>
              <a:t>2. Intellectual disability (IQ &lt; 70)</a:t>
            </a:r>
          </a:p>
          <a:p>
            <a:pPr algn="l">
              <a:spcAft>
                <a:spcPts val="500"/>
              </a:spcAft>
              <a:defRPr sz="1200" b="0">
                <a:solidFill>
                  <a:srgbClr val="1C1C2E"/>
                </a:solidFill>
              </a:defRPr>
            </a:pPr>
            <a:r>
              <a:t>3. Organic brain syndrome / neurological disorder</a:t>
            </a:r>
          </a:p>
          <a:p>
            <a:pPr algn="l">
              <a:spcAft>
                <a:spcPts val="500"/>
              </a:spcAft>
              <a:defRPr sz="1200" b="0">
                <a:solidFill>
                  <a:srgbClr val="1C1C2E"/>
                </a:solidFill>
              </a:defRPr>
            </a:pPr>
            <a:r>
              <a:t>4. ECT received in past 3 months</a:t>
            </a:r>
          </a:p>
          <a:p>
            <a:pPr algn="l">
              <a:spcAft>
                <a:spcPts val="500"/>
              </a:spcAft>
              <a:defRPr sz="1200" b="0">
                <a:solidFill>
                  <a:srgbClr val="1C1C2E"/>
                </a:solidFill>
              </a:defRPr>
            </a:pPr>
            <a:r>
              <a:t>5. Acute psychotic exacerbation at time of assessment</a:t>
            </a:r>
          </a:p>
          <a:p>
            <a:pPr algn="l">
              <a:spcAft>
                <a:spcPts val="500"/>
              </a:spcAft>
              <a:defRPr sz="1200" b="0">
                <a:solidFill>
                  <a:srgbClr val="1C1C2E"/>
                </a:solidFill>
              </a:defRPr>
            </a:pPr>
            <a:r>
              <a:t>6. Comorbid Major Depressive Episode (PANSS G6 &gt; 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0D1B2A"/>
                </a:solidFill>
              </a:defRPr>
            </a:pPr>
            <a:r>
              <a:t>Tools &amp; Measures</a:t>
            </a:r>
          </a:p>
        </p:txBody>
      </p:sp>
      <p:sp>
        <p:nvSpPr>
          <p:cNvPr id="5" name="Rectangle 4"/>
          <p:cNvSpPr/>
          <p:nvPr/>
        </p:nvSpPr>
        <p:spPr>
          <a:xfrm>
            <a:off x="548640" y="822960"/>
            <a:ext cx="2743200" cy="508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1247120" cy="5669280"/>
          </a:xfrm>
          <a:prstGeom prst="rect">
            <a:avLst/>
          </a:prstGeom>
          <a:noFill/>
        </p:spPr>
        <p:txBody>
          <a:bodyPr wrap="square">
            <a:spAutoFit/>
          </a:bodyPr>
          <a:lstStyle/>
          <a:p>
            <a:pPr algn="l">
              <a:spcAft>
                <a:spcPts val="400"/>
              </a:spcAft>
              <a:defRPr sz="1500" b="1">
                <a:solidFill>
                  <a:srgbClr val="1B6B93"/>
                </a:solidFill>
              </a:defRPr>
            </a:pPr>
            <a:r>
              <a:t>TOOL 1: Rorschach Inkblot Test — Exner Comprehensive System (Exner, 2003)</a:t>
            </a:r>
          </a:p>
          <a:p>
            <a:pPr algn="l">
              <a:spcAft>
                <a:spcPts val="1400"/>
              </a:spcAft>
              <a:defRPr sz="1200" b="0">
                <a:solidFill>
                  <a:srgbClr val="1C1C2E"/>
                </a:solidFill>
              </a:defRPr>
            </a:pPr>
            <a:r>
              <a:t>10 bilaterally symmetrical inkblot cards administered under standard conditions (Response Phase + Inquiry Phase). Variables extracted from the Cognitive Triad: PROCESSING (Zf, Zd, DQ+, DQv, W:D:Dd), MEDIATION (XA%, WDA%, X-%, X+%, Xu%, P), IDEATION (WSum6, Level 2, Ma:Mp, a:p, M quality). Psychometrics: Inter-rater kappa = .85-.97 for location, .80-.90 for determinants, .85+ for form quality (Meyer et al., 2002). Indian norms available (Dubey, 2011). Administration time: 30-40 minutes. Inter-rater reliability established on 20% of protocols by independent scorer.</a:t>
            </a:r>
          </a:p>
          <a:p>
            <a:pPr algn="l">
              <a:spcAft>
                <a:spcPts val="400"/>
              </a:spcAft>
              <a:defRPr sz="1500" b="1">
                <a:solidFill>
                  <a:srgbClr val="1B6B93"/>
                </a:solidFill>
              </a:defRPr>
            </a:pPr>
            <a:r>
              <a:t>TOOL 2: UCLA Loneliness Scale — Version 3 (Russell, 1996)</a:t>
            </a:r>
          </a:p>
          <a:p>
            <a:pPr algn="l">
              <a:spcAft>
                <a:spcPts val="1400"/>
              </a:spcAft>
              <a:defRPr sz="1200" b="0">
                <a:solidFill>
                  <a:srgbClr val="1C1C2E"/>
                </a:solidFill>
              </a:defRPr>
            </a:pPr>
            <a:r>
              <a:t>20-item self-report scale measuring subjective loneliness on 4-point Likert (1=Never to 4=Always). Total range: 20-80 (higher = lonelier). Internal consistency: alpha = .89-.94. Test-retest ICC = .73 over 12 months. Validated SPECIFICALLY in schizophrenia populations (Lin et al., 2022 — all three versions acceptable; V3 best). Indian psychometric properties established (Suri et al., 2020 — strong reliability in Indian samples). Can be administered in Hindi translation or read aloud. Administration: 5-8 minutes.</a:t>
            </a:r>
          </a:p>
          <a:p>
            <a:pPr algn="l">
              <a:spcAft>
                <a:spcPts val="400"/>
              </a:spcAft>
              <a:defRPr sz="1500" b="1">
                <a:solidFill>
                  <a:srgbClr val="1B6B93"/>
                </a:solidFill>
              </a:defRPr>
            </a:pPr>
            <a:r>
              <a:t>TOOL 3: PANSS — Negative Subscale (Kay, Fiszbein &amp; Opler, 1987)</a:t>
            </a:r>
          </a:p>
          <a:p>
            <a:pPr algn="l">
              <a:spcAft>
                <a:spcPts val="1400"/>
              </a:spcAft>
              <a:defRPr sz="1200" b="0">
                <a:solidFill>
                  <a:srgbClr val="1C1C2E"/>
                </a:solidFill>
              </a:defRPr>
            </a:pPr>
            <a:r>
              <a:t>7-item clinician-rated scale (blunted affect, emotional withdrawal, poor rapport, passive social withdrawal, difficulty in abstract thinking, lack of spontaneity, stereotyped thinking). Serves as COVARIATE to control for overlap between negative symptoms and loneliness. Also provides PANSS total to confirm inclusion criterion (total &lt; 80). ICC = .83-.87; alpha = .73. Widely validated in Indian research. Administration: 30 minutes (semi-structured interview).</a:t>
            </a:r>
          </a:p>
          <a:p>
            <a:pPr algn="l">
              <a:spcAft>
                <a:spcPts val="400"/>
              </a:spcAft>
              <a:defRPr sz="1500" b="1">
                <a:solidFill>
                  <a:srgbClr val="1B6B93"/>
                </a:solidFill>
              </a:defRPr>
            </a:pPr>
            <a:r>
              <a:t>TOOL 4: Sociodemographic &amp; Clinical Data Sheet (researcher-designed)</a:t>
            </a:r>
          </a:p>
          <a:p>
            <a:pPr algn="l">
              <a:spcAft>
                <a:spcPts val="400"/>
              </a:spcAft>
              <a:defRPr sz="1200" b="0">
                <a:solidFill>
                  <a:srgbClr val="1C1C2E"/>
                </a:solidFill>
              </a:defRPr>
            </a:pPr>
            <a:r>
              <a:t>Age, sex, education, marital status, occupation, residence, duration of illness, number of episodes, current antipsychotic and dose (chlorpromazine equivalent), duration of medication stability.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5B2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5B2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0D1B2A"/>
                </a:solidFill>
              </a:defRPr>
            </a:pPr>
            <a:r>
              <a:t>Data Analysis Plan</a:t>
            </a:r>
          </a:p>
        </p:txBody>
      </p:sp>
      <p:sp>
        <p:nvSpPr>
          <p:cNvPr id="6" name="Rectangle 5"/>
          <p:cNvSpPr/>
          <p:nvPr/>
        </p:nvSpPr>
        <p:spPr>
          <a:xfrm>
            <a:off x="548640" y="822960"/>
            <a:ext cx="2743200" cy="50800"/>
          </a:xfrm>
          <a:prstGeom prst="rect">
            <a:avLst/>
          </a:prstGeom>
          <a:solidFill>
            <a:srgbClr val="5B2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05840"/>
            <a:ext cx="11247120" cy="5486400"/>
          </a:xfrm>
          <a:prstGeom prst="rect">
            <a:avLst/>
          </a:prstGeom>
          <a:noFill/>
        </p:spPr>
        <p:txBody>
          <a:bodyPr wrap="square">
            <a:spAutoFit/>
          </a:bodyPr>
          <a:lstStyle/>
          <a:p>
            <a:pPr algn="l">
              <a:spcAft>
                <a:spcPts val="400"/>
              </a:spcAft>
              <a:defRPr sz="1500" b="1">
                <a:solidFill>
                  <a:srgbClr val="5B2C8C"/>
                </a:solidFill>
              </a:defRPr>
            </a:pPr>
            <a:r>
              <a:t>STEP 1 — Descriptive Statistics:</a:t>
            </a:r>
          </a:p>
          <a:p>
            <a:pPr algn="l">
              <a:spcAft>
                <a:spcPts val="1000"/>
              </a:spcAft>
              <a:defRPr sz="1200" b="0">
                <a:solidFill>
                  <a:srgbClr val="1C1C2E"/>
                </a:solidFill>
              </a:defRPr>
            </a:pPr>
            <a:r>
              <a:t>Mean, SD, frequencies, and range for all sociodemographic, clinical (PANSS), Rorschach cognitive triad variables, and UCLA Loneliness scores. This characterizes the sample and identifies distributional properties.</a:t>
            </a:r>
          </a:p>
          <a:p>
            <a:pPr algn="l">
              <a:spcAft>
                <a:spcPts val="400"/>
              </a:spcAft>
              <a:defRPr sz="1500" b="1">
                <a:solidFill>
                  <a:srgbClr val="5B2C8C"/>
                </a:solidFill>
              </a:defRPr>
            </a:pPr>
            <a:r>
              <a:t>STEP 2 — Normality &amp; Reliability:</a:t>
            </a:r>
          </a:p>
          <a:p>
            <a:pPr algn="l">
              <a:spcAft>
                <a:spcPts val="1000"/>
              </a:spcAft>
              <a:defRPr sz="1200" b="0">
                <a:solidFill>
                  <a:srgbClr val="1C1C2E"/>
                </a:solidFill>
              </a:defRPr>
            </a:pPr>
            <a:r>
              <a:t>Shapiro-Wilk test for normality → determines parametric vs. non-parametric pathway. Inter-rater reliability (Cohen's Kappa / ICC) computed on 20% of Rorschach protocols (n=8-9) rescored by independent trained scorer. Expected kappa &gt; .80 based on published Exner CS reliability.</a:t>
            </a:r>
          </a:p>
          <a:p>
            <a:pPr algn="l">
              <a:spcAft>
                <a:spcPts val="400"/>
              </a:spcAft>
              <a:defRPr sz="1500" b="1">
                <a:solidFill>
                  <a:srgbClr val="5B2C8C"/>
                </a:solidFill>
              </a:defRPr>
            </a:pPr>
            <a:r>
              <a:t>STEP 3 — Bivariate Correlations:</a:t>
            </a:r>
          </a:p>
          <a:p>
            <a:pPr algn="l">
              <a:spcAft>
                <a:spcPts val="1000"/>
              </a:spcAft>
              <a:defRPr sz="1200" b="0">
                <a:solidFill>
                  <a:srgbClr val="1C1C2E"/>
                </a:solidFill>
              </a:defRPr>
            </a:pPr>
            <a:r>
              <a:t>Pearson's r (or Spearman's rho if non-normal) between EACH individual Rorschach cognitive variable and UCLA Loneliness total score. This identifies which specific variables show significant zero-order relationships with loneliness before entering the multivariate model.</a:t>
            </a:r>
          </a:p>
          <a:p>
            <a:pPr algn="l">
              <a:spcAft>
                <a:spcPts val="400"/>
              </a:spcAft>
              <a:defRPr sz="1500" b="1">
                <a:solidFill>
                  <a:srgbClr val="5B2C8C"/>
                </a:solidFill>
              </a:defRPr>
            </a:pPr>
            <a:r>
              <a:t>STEP 4 — PRIMARY ANALYSIS: Hierarchical Multiple Regression:</a:t>
            </a:r>
          </a:p>
          <a:p>
            <a:pPr algn="l">
              <a:spcAft>
                <a:spcPts val="400"/>
              </a:spcAft>
              <a:defRPr sz="1300" b="1">
                <a:solidFill>
                  <a:srgbClr val="1C1C2E"/>
                </a:solidFill>
              </a:defRPr>
            </a:pPr>
            <a:r>
              <a:t>DV: UCLA Loneliness Score (continuous, 20-80)</a:t>
            </a:r>
          </a:p>
          <a:p>
            <a:pPr algn="l">
              <a:spcAft>
                <a:spcPts val="400"/>
              </a:spcAft>
              <a:defRPr sz="1200" b="0">
                <a:solidFill>
                  <a:srgbClr val="1C1C2E"/>
                </a:solidFill>
              </a:defRPr>
            </a:pPr>
            <a:r>
              <a:t>  Block 1 (Covariate): PANSS Negative Subscale score — controls for overlap between negative symptoms (social withdrawal, blunted affect) and loneliness. Reports R-squared for symptoms alone.</a:t>
            </a:r>
          </a:p>
          <a:p>
            <a:pPr algn="l">
              <a:spcAft>
                <a:spcPts val="400"/>
              </a:spcAft>
              <a:defRPr sz="1200" b="0">
                <a:solidFill>
                  <a:srgbClr val="1C1C2E"/>
                </a:solidFill>
              </a:defRPr>
            </a:pPr>
            <a:r>
              <a:t>  Block 2 (Processing): Zd (efficiency), DQ+ (complexity), Lambda (simplification). Reports DELTA R-squared — how much ADDITIONAL variance in loneliness does Processing explain beyond symptoms?</a:t>
            </a:r>
          </a:p>
          <a:p>
            <a:pPr algn="l">
              <a:spcAft>
                <a:spcPts val="400"/>
              </a:spcAft>
              <a:defRPr sz="1200" b="0">
                <a:solidFill>
                  <a:srgbClr val="1C1C2E"/>
                </a:solidFill>
              </a:defRPr>
            </a:pPr>
            <a:r>
              <a:t>  Block 3 (Mediation): XA% (adequacy), X-% (distortion), P (conventionality). Reports DELTA R-squared — does reality testing add further prediction?</a:t>
            </a:r>
          </a:p>
          <a:p>
            <a:pPr algn="l">
              <a:spcAft>
                <a:spcPts val="800"/>
              </a:spcAft>
              <a:defRPr sz="1200" b="0">
                <a:solidFill>
                  <a:srgbClr val="1C1C2E"/>
                </a:solidFill>
              </a:defRPr>
            </a:pPr>
            <a:r>
              <a:t>  Block 4 (Ideation): WSum6 (thought disorder), M quality composite. Reports DELTA R-squared — does thinking quality add still more?</a:t>
            </a:r>
          </a:p>
          <a:p>
            <a:pPr algn="l">
              <a:spcAft>
                <a:spcPts val="400"/>
              </a:spcAft>
              <a:defRPr sz="1300" b="1">
                <a:solidFill>
                  <a:srgbClr val="C0392B"/>
                </a:solidFill>
              </a:defRPr>
            </a:pPr>
            <a:r>
              <a:t>KEY OUTPUT: Which block produces the LARGEST significant Delta-R-squared? That cluster is the strongest cognitive predictor of loneliness. Software: SPSS 26 / JASP. Alpha: p &lt; .05 (two-tailed).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C89B2B"/>
                </a:solidFill>
              </a:defRPr>
            </a:pPr>
            <a:r>
              <a:t>Clinical Significance &amp; Expected Contribution</a:t>
            </a:r>
          </a:p>
        </p:txBody>
      </p:sp>
      <p:sp>
        <p:nvSpPr>
          <p:cNvPr id="5" name="TextBox 4"/>
          <p:cNvSpPr txBox="1"/>
          <p:nvPr/>
        </p:nvSpPr>
        <p:spPr>
          <a:xfrm>
            <a:off x="457200" y="914400"/>
            <a:ext cx="11247120" cy="5669280"/>
          </a:xfrm>
          <a:prstGeom prst="rect">
            <a:avLst/>
          </a:prstGeom>
          <a:noFill/>
        </p:spPr>
        <p:txBody>
          <a:bodyPr wrap="square">
            <a:spAutoFit/>
          </a:bodyPr>
          <a:lstStyle/>
          <a:p>
            <a:pPr algn="l">
              <a:spcAft>
                <a:spcPts val="400"/>
              </a:spcAft>
              <a:defRPr sz="1400" b="1">
                <a:solidFill>
                  <a:srgbClr val="1B6B93"/>
                </a:solidFill>
              </a:defRPr>
            </a:pPr>
            <a:r>
              <a:t>1. FIRST STUDY GLOBALLY linking Rorschach cognitive triad to loneliness in any population.</a:t>
            </a:r>
          </a:p>
          <a:p>
            <a:pPr algn="l">
              <a:spcAft>
                <a:spcPts val="1200"/>
              </a:spcAft>
              <a:defRPr sz="1300" b="0">
                <a:solidFill>
                  <a:srgbClr val="FFFFFF"/>
                </a:solidFill>
              </a:defRPr>
            </a:pPr>
            <a:r>
              <a:t>   This is not a replication or extension — it opens an entirely new line of inquiry at the intersection of projective assessment and loneliness research in psychosis.</a:t>
            </a:r>
          </a:p>
          <a:p>
            <a:pPr algn="l">
              <a:spcAft>
                <a:spcPts val="400"/>
              </a:spcAft>
              <a:defRPr sz="1400" b="1">
                <a:solidFill>
                  <a:srgbClr val="1E8C4E"/>
                </a:solidFill>
              </a:defRPr>
            </a:pPr>
            <a:r>
              <a:t>2. IDENTIFIES COGNITIVE TARGETS for loneliness intervention.</a:t>
            </a:r>
          </a:p>
          <a:p>
            <a:pPr algn="l">
              <a:spcAft>
                <a:spcPts val="1200"/>
              </a:spcAft>
              <a:defRPr sz="1300" b="0">
                <a:solidFill>
                  <a:srgbClr val="FFFFFF"/>
                </a:solidFill>
              </a:defRPr>
            </a:pPr>
            <a:r>
              <a:t>   If Mediation (perceptual distortion) emerges as the strongest predictor, treatment should prioritize social perception training and reality testing. If Processing (scanning) dominates, attention training is indicated. If Ideation (thought disorder), metacognitive therapy is the target. This enables INDIVIDUALIZED rehabilitation.</a:t>
            </a:r>
          </a:p>
          <a:p>
            <a:pPr algn="l">
              <a:spcAft>
                <a:spcPts val="400"/>
              </a:spcAft>
              <a:defRPr sz="1400" b="1">
                <a:solidFill>
                  <a:srgbClr val="5B2C8C"/>
                </a:solidFill>
              </a:defRPr>
            </a:pPr>
            <a:r>
              <a:t>3. PERFORMANCE-BASED assessment that CANNOT be faked.</a:t>
            </a:r>
          </a:p>
          <a:p>
            <a:pPr algn="l">
              <a:spcAft>
                <a:spcPts val="1200"/>
              </a:spcAft>
              <a:defRPr sz="1300" b="0">
                <a:solidFill>
                  <a:srgbClr val="FFFFFF"/>
                </a:solidFill>
              </a:defRPr>
            </a:pPr>
            <a:r>
              <a:t>   Unlike self-report cognition measures (unreliable in 50-80% of patients who lack insight), the Rorschach captures implicit cognitive processes the patient cannot deliberately manipulate. Combined with self-reported loneliness, this multi-method approach is the gold standard.</a:t>
            </a:r>
          </a:p>
          <a:p>
            <a:pPr algn="l">
              <a:spcAft>
                <a:spcPts val="400"/>
              </a:spcAft>
              <a:defRPr sz="1400" b="1">
                <a:solidFill>
                  <a:srgbClr val="C89B2B"/>
                </a:solidFill>
              </a:defRPr>
            </a:pPr>
            <a:r>
              <a:t>4. PRACTICAL for Indian clinical settings.</a:t>
            </a:r>
          </a:p>
          <a:p>
            <a:pPr algn="l">
              <a:spcAft>
                <a:spcPts val="1200"/>
              </a:spcAft>
              <a:defRPr sz="1300" b="0">
                <a:solidFill>
                  <a:srgbClr val="FFFFFF"/>
                </a:solidFill>
              </a:defRPr>
            </a:pPr>
            <a:r>
              <a:t>   A single 30-minute Rorschach administration replaces a multi-hour neuropsych battery. Available in EVERY clinical psychology department. No computerized equipment needed. If validated as a loneliness predictor, it becomes a feasible screening tool in Indian DMHP settings.</a:t>
            </a:r>
          </a:p>
          <a:p>
            <a:pPr algn="l">
              <a:spcAft>
                <a:spcPts val="400"/>
              </a:spcAft>
              <a:defRPr sz="1400" b="1">
                <a:solidFill>
                  <a:srgbClr val="C0392B"/>
                </a:solidFill>
              </a:defRPr>
            </a:pPr>
            <a:r>
              <a:t>5. ADDRESSES a clinical priority endorsed by WHO (2023) and Indian clinical guidelines (IPS, 2024).</a:t>
            </a:r>
          </a:p>
          <a:p>
            <a:pPr algn="l">
              <a:spcAft>
                <a:spcPts val="400"/>
              </a:spcAft>
              <a:defRPr sz="1300" b="0">
                <a:solidFill>
                  <a:srgbClr val="FFFFFF"/>
                </a:solidFill>
              </a:defRPr>
            </a:pPr>
            <a:r>
              <a:t>   Loneliness assessment and intervention are now recommended as part of comprehensive schizophrenia care. This study provides the assessment TOOL and the cognitive MODEL to implement that recommendation.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spAutoFit/>
          </a:bodyPr>
          <a:lstStyle/>
          <a:p>
            <a:pPr algn="l">
              <a:spcAft>
                <a:spcPts val="600"/>
              </a:spcAft>
              <a:defRPr sz="2600" b="1">
                <a:solidFill>
                  <a:srgbClr val="0D1B2A"/>
                </a:solidFill>
              </a:defRPr>
            </a:pPr>
            <a:r>
              <a:t>Key References</a:t>
            </a:r>
          </a:p>
        </p:txBody>
      </p:sp>
      <p:sp>
        <p:nvSpPr>
          <p:cNvPr id="5" name="Rectangle 4"/>
          <p:cNvSpPr/>
          <p:nvPr/>
        </p:nvSpPr>
        <p:spPr>
          <a:xfrm>
            <a:off x="548640" y="822960"/>
            <a:ext cx="2743200" cy="50800"/>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05840"/>
            <a:ext cx="11247120" cy="5669280"/>
          </a:xfrm>
          <a:prstGeom prst="rect">
            <a:avLst/>
          </a:prstGeom>
          <a:noFill/>
        </p:spPr>
        <p:txBody>
          <a:bodyPr wrap="square">
            <a:spAutoFit/>
          </a:bodyPr>
          <a:lstStyle/>
          <a:p>
            <a:pPr algn="l">
              <a:spcAft>
                <a:spcPts val="500"/>
              </a:spcAft>
              <a:defRPr sz="1100" b="0">
                <a:solidFill>
                  <a:srgbClr val="1C1C2E"/>
                </a:solidFill>
              </a:defRPr>
            </a:pPr>
            <a:r>
              <a:t>Cacioppo, J.T. &amp; Hawkley, L.C. (2009). Perceived social isolation and cognition. Trends in Cognitive Sciences, 13(10), 447-454.</a:t>
            </a:r>
          </a:p>
          <a:p>
            <a:pPr algn="l">
              <a:spcAft>
                <a:spcPts val="500"/>
              </a:spcAft>
              <a:defRPr sz="1100" b="0">
                <a:solidFill>
                  <a:srgbClr val="1C1C2E"/>
                </a:solidFill>
              </a:defRPr>
            </a:pPr>
            <a:r>
              <a:t>Exner, J.E. (2003). The Rorschach: A Comprehensive System (4th ed.). Wiley.</a:t>
            </a:r>
          </a:p>
          <a:p>
            <a:pPr algn="l">
              <a:spcAft>
                <a:spcPts val="500"/>
              </a:spcAft>
              <a:defRPr sz="1100" b="0">
                <a:solidFill>
                  <a:srgbClr val="1C1C2E"/>
                </a:solidFill>
              </a:defRPr>
            </a:pPr>
            <a:r>
              <a:t>Fortuna, K.L. et al. (2020). Loneliness and physical health in SMI. Social Psychiatry &amp; Psychiatric Epidemiology, 55, 1421-1428.</a:t>
            </a:r>
          </a:p>
          <a:p>
            <a:pPr algn="l">
              <a:spcAft>
                <a:spcPts val="500"/>
              </a:spcAft>
              <a:defRPr sz="1100" b="0">
                <a:solidFill>
                  <a:srgbClr val="1C1C2E"/>
                </a:solidFill>
              </a:defRPr>
            </a:pPr>
            <a:r>
              <a:t>Green, M.F. et al. (2023). Social withdrawal, loneliness, and health in schizophrenia. Schizophrenia Bulletin, 49(5), 1112-1126.</a:t>
            </a:r>
          </a:p>
          <a:p>
            <a:pPr algn="l">
              <a:spcAft>
                <a:spcPts val="500"/>
              </a:spcAft>
              <a:defRPr sz="1100" b="0">
                <a:solidFill>
                  <a:srgbClr val="1C1C2E"/>
                </a:solidFill>
              </a:defRPr>
            </a:pPr>
            <a:r>
              <a:t>Hajduk, M. et al. (2023). Social cognitive bias increases loneliness in schizophrenia. Schizophrenia Research, 256, 38-46.</a:t>
            </a:r>
          </a:p>
          <a:p>
            <a:pPr algn="l">
              <a:spcAft>
                <a:spcPts val="500"/>
              </a:spcAft>
              <a:defRPr sz="1100" b="0">
                <a:solidFill>
                  <a:srgbClr val="1C1C2E"/>
                </a:solidFill>
              </a:defRPr>
            </a:pPr>
            <a:r>
              <a:t>Hsu, Y.C. et al. (2024). Social isolation and cognitive function in schizophrenia. Schizophrenia Research, 266, 171-178.</a:t>
            </a:r>
          </a:p>
          <a:p>
            <a:pPr algn="l">
              <a:spcAft>
                <a:spcPts val="500"/>
              </a:spcAft>
              <a:defRPr sz="1100" b="0">
                <a:solidFill>
                  <a:srgbClr val="1C1C2E"/>
                </a:solidFill>
              </a:defRPr>
            </a:pPr>
            <a:r>
              <a:t>Ilonen, T. et al. (2012). Rorschach measures of cognition relate to functioning in schizophrenia. Psychological Assessment, 25(1), 253-263.</a:t>
            </a:r>
          </a:p>
          <a:p>
            <a:pPr algn="l">
              <a:spcAft>
                <a:spcPts val="500"/>
              </a:spcAft>
              <a:defRPr sz="1100" b="0">
                <a:solidFill>
                  <a:srgbClr val="1C1C2E"/>
                </a:solidFill>
              </a:defRPr>
            </a:pPr>
            <a:r>
              <a:t>Jaya, E.S. et al. (2024). Selective attention to threat mediates loneliness-psychosis link. Schizophrenia Research, 269, 118-125.</a:t>
            </a:r>
          </a:p>
          <a:p>
            <a:pPr algn="l">
              <a:spcAft>
                <a:spcPts val="500"/>
              </a:spcAft>
              <a:defRPr sz="1100" b="0">
                <a:solidFill>
                  <a:srgbClr val="1C1C2E"/>
                </a:solidFill>
              </a:defRPr>
            </a:pPr>
            <a:r>
              <a:t>Kay, S.R. et al. (1987). The PANSS for schizophrenia. Schizophrenia Bulletin, 13(2), 261-276.</a:t>
            </a:r>
          </a:p>
          <a:p>
            <a:pPr algn="l">
              <a:spcAft>
                <a:spcPts val="500"/>
              </a:spcAft>
              <a:defRPr sz="1100" b="0">
                <a:solidFill>
                  <a:srgbClr val="1C1C2E"/>
                </a:solidFill>
              </a:defRPr>
            </a:pPr>
            <a:r>
              <a:t>Lin, C.Y. et al. (2022). UCLA Loneliness Scale validation in schizophrenia. Int J Environ Res Public Health, 19(14), 8443.</a:t>
            </a:r>
          </a:p>
          <a:p>
            <a:pPr algn="l">
              <a:spcAft>
                <a:spcPts val="500"/>
              </a:spcAft>
              <a:defRPr sz="1100" b="0">
                <a:solidFill>
                  <a:srgbClr val="1C1C2E"/>
                </a:solidFill>
              </a:defRPr>
            </a:pPr>
            <a:r>
              <a:t>Michalska da Rocha, B. et al. (2018). Loneliness in psychosis: Meta-analytical review. Schizophrenia Bulletin, 44(1), 114-125.</a:t>
            </a:r>
          </a:p>
          <a:p>
            <a:pPr algn="l">
              <a:spcAft>
                <a:spcPts val="500"/>
              </a:spcAft>
              <a:defRPr sz="1100" b="0">
                <a:solidFill>
                  <a:srgbClr val="1C1C2E"/>
                </a:solidFill>
              </a:defRPr>
            </a:pPr>
            <a:r>
              <a:t>Russell, D.W. (1996). UCLA Loneliness Scale (Version 3). J Personality Assessment, 66(1), 20-40.</a:t>
            </a:r>
          </a:p>
          <a:p>
            <a:pPr algn="l">
              <a:spcAft>
                <a:spcPts val="500"/>
              </a:spcAft>
              <a:defRPr sz="1100" b="0">
                <a:solidFill>
                  <a:srgbClr val="1C1C2E"/>
                </a:solidFill>
              </a:defRPr>
            </a:pPr>
            <a:r>
              <a:t>Singh, G. et al. (2021). Rorschach and psychopathology in schizophrenia. Indian J Psychiatric Nursing, 30(1), 49-55.</a:t>
            </a:r>
          </a:p>
          <a:p>
            <a:pPr algn="l">
              <a:spcAft>
                <a:spcPts val="500"/>
              </a:spcAft>
              <a:defRPr sz="1100" b="0">
                <a:solidFill>
                  <a:srgbClr val="1C1C2E"/>
                </a:solidFill>
              </a:defRPr>
            </a:pPr>
            <a:r>
              <a:t>Thibaudeau, E. et al. (2023). Loneliness linked to mentalizing deficits in schizophrenia. Schizophrenia Research, 256, 29-37.</a:t>
            </a:r>
          </a:p>
          <a:p>
            <a:pPr algn="l">
              <a:spcAft>
                <a:spcPts val="500"/>
              </a:spcAft>
              <a:defRPr sz="1100" b="0">
                <a:solidFill>
                  <a:srgbClr val="1C1C2E"/>
                </a:solidFill>
              </a:defRPr>
            </a:pPr>
            <a:r>
              <a:t>Wang, X. et al. (2026). Loneliness and cognitive impairment in schizophrenia. European Archives of Psychiatry &amp; Clinical Neuroscience.</a:t>
            </a:r>
          </a:p>
          <a:p>
            <a:pPr algn="l">
              <a:spcAft>
                <a:spcPts val="500"/>
              </a:spcAft>
              <a:defRPr sz="1100" b="0">
                <a:solidFill>
                  <a:srgbClr val="1C1C2E"/>
                </a:solidFill>
              </a:defRPr>
            </a:pPr>
            <a:r>
              <a:t>Yen, C.F. et al. (2023). Loneliness, suicide risk and depression in schizophrenia. npj Schizophrenia, 9, Article 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C89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828800"/>
            <a:ext cx="73152" cy="3200400"/>
          </a:xfrm>
          <a:prstGeom prst="rect">
            <a:avLst/>
          </a:prstGeom>
          <a:solidFill>
            <a:srgbClr val="1B6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011680"/>
            <a:ext cx="9144000" cy="3657600"/>
          </a:xfrm>
          <a:prstGeom prst="rect">
            <a:avLst/>
          </a:prstGeom>
          <a:noFill/>
        </p:spPr>
        <p:txBody>
          <a:bodyPr wrap="square">
            <a:spAutoFit/>
          </a:bodyPr>
          <a:lstStyle/>
          <a:p>
            <a:pPr algn="l">
              <a:spcAft>
                <a:spcPts val="2000"/>
              </a:spcAft>
              <a:defRPr sz="4800" b="1">
                <a:solidFill>
                  <a:srgbClr val="C89B2B"/>
                </a:solidFill>
              </a:defRPr>
            </a:pPr>
            <a:r>
              <a:t>Thank You</a:t>
            </a:r>
          </a:p>
          <a:p>
            <a:pPr algn="l">
              <a:spcAft>
                <a:spcPts val="200"/>
              </a:spcAft>
              <a:defRPr sz="1600" b="0">
                <a:solidFill>
                  <a:srgbClr val="FFFFFF"/>
                </a:solidFill>
              </a:defRPr>
            </a:pPr>
            <a:r>
              <a:t>"The deepest suffering of a patient with schizophrenia is not</a:t>
            </a:r>
          </a:p>
          <a:p>
            <a:pPr algn="l">
              <a:spcAft>
                <a:spcPts val="3000"/>
              </a:spcAft>
              <a:defRPr sz="1600" b="1">
                <a:solidFill>
                  <a:srgbClr val="FFFFFF"/>
                </a:solidFill>
              </a:defRPr>
            </a:pPr>
            <a:r>
              <a:t>the voice they hear — it is the silence around them."</a:t>
            </a:r>
          </a:p>
          <a:p>
            <a:pPr algn="l">
              <a:spcAft>
                <a:spcPts val="3000"/>
              </a:spcAft>
              <a:defRPr sz="1800" b="0">
                <a:solidFill>
                  <a:srgbClr val="1B6B93"/>
                </a:solidFill>
              </a:defRPr>
            </a:pPr>
            <a:r>
              <a:t>Questions, Suggestions &amp; Discussion Welcome</a:t>
            </a:r>
          </a:p>
          <a:p>
            <a:pPr algn="l">
              <a:spcAft>
                <a:spcPts val="400"/>
              </a:spcAft>
              <a:defRPr sz="1400" b="0">
                <a:solidFill>
                  <a:srgbClr val="AABBCC"/>
                </a:solidFill>
              </a:defRPr>
            </a:pPr>
            <a:r>
              <a:t>[Candidate Name]</a:t>
            </a:r>
          </a:p>
          <a:p>
            <a:pPr algn="l">
              <a:spcAft>
                <a:spcPts val="600"/>
              </a:spcAft>
              <a:defRPr sz="1300" b="0">
                <a:solidFill>
                  <a:srgbClr val="AABBCC"/>
                </a:solidFill>
              </a:defRPr>
            </a:pPr>
            <a:r>
              <a:t>MPhil Clinical Psychology | [Institution] |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