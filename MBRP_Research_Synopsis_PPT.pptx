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Efficacy of Brief Mindfulness-Based Relapse Prevention (MBRP) Intervention</a:t>
            </a:r>
            <a:br/>
            <a:r>
              <a:t>on Craving, Impulsivity, and Mindfulness</a:t>
            </a:r>
            <a:br/>
            <a:r>
              <a:t>in Substance Dependent Patients</a:t>
            </a:r>
          </a:p>
          <a:p>
            <a:pPr algn="ctr">
              <a:spcBef>
                <a:spcPts val="2000"/>
              </a:spcBef>
              <a:defRPr sz="1600">
                <a:solidFill>
                  <a:srgbClr val="D4A537"/>
                </a:solidFill>
              </a:defRPr>
            </a:pPr>
            <a:r>
              <a:t>MPhil Clinical Psychology Research Synopsis</a:t>
            </a:r>
          </a:p>
          <a:p>
            <a:br/>
            <a:pPr algn="ctr">
              <a:spcBef>
                <a:spcPts val="3000"/>
              </a:spcBef>
              <a:defRPr sz="1400">
                <a:solidFill>
                  <a:srgbClr val="FFFFFF"/>
                </a:solidFill>
              </a:defRPr>
            </a:pPr>
            <a:r>
              <a:t>Researcher: [Researcher Name]</a:t>
            </a:r>
            <a:br/>
            <a:r>
              <a:t>Guide: [Supervisor Name]</a:t>
            </a:r>
            <a:br/>
            <a:r>
              <a:t>Department: Clinical Psychology</a:t>
            </a:r>
            <a:br/>
            <a:r>
              <a:t>Institution: [University/Institute Name]</a:t>
            </a:r>
            <a:br/>
            <a:r>
              <a:t>Year: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SLIDE 2: Introduction &amp; Background (1/3)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C5F8A"/>
                </a:solidFill>
              </a:defRPr>
            </a:pPr>
            <a:r>
              <a:t>Substance Dependence: Indian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India faces a significant substance use crisis; MAGNITUDE study (2019) estimated ~3.1 crore individuals affected by substance use disorders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Opioid dependence constitutes a major public health burden, particularly in Punjab, Rajasthan, Northeast India, and metropolitan areas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WHO estimates India accounts for ~25% of global opioid-related deaths in South-East Asia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Economic burden includes lost productivity, healthcare costs, and family dysfunction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National Drug Dependence Treatment Centre (NDDTC) reports increasing treatment-seeking among opioid users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Indian de-addiction centers primarily offer pharmacotherapy (OST, naltrexone) with limited structured psychotherapy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Psychosocial interventions remain under-utilized despite evidence of superior combined treatment outcomes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SLIDE 3: Introduction &amp; Background (2/3)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C5F8A"/>
                </a:solidFill>
              </a:defRPr>
            </a:pPr>
            <a:r>
              <a:t>The Relapse Problem in De-Addiction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Relapse rates in substance dependence range from 40-60% within first year post-treatment (NIDA, 2020)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Indian studies report even higher relapse rates (~70-80%) in opioid dependence (Mattoo et al., 2009)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Triggers for relapse: craving, negative affect, interpersonal conflict, environmental cues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Traditional relapse prevention (Marlatt &amp; Gordon, 1985) has moderate efficacy but limited mindfulness integration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Automatic cognitive-behavioral patterns (e.g., 'apparently irrelevant decisions') perpetuate relapse cycles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Need for interventions addressing both cognitive automaticity and emotional dysregulation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Brief interventions essential for Indian rehab settings with limited resources and high patient turnover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SLIDE 4: Introduction &amp; Background (3/3)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C5F8A"/>
                </a:solidFill>
              </a:defRPr>
            </a:pPr>
            <a:r>
              <a:t>Mindfulness in Addiction Treatment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Mindfulness: intentional, non-judgmental, present-moment awareness (Kabat-Zinn, 1990)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Mindfulness-Based Relapse Prevention (MBRP) developed by Bowen, Chawla, &amp; Marlatt (2011)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Integrates Mindfulness-Based Stress Reduction (MBSR) + Cognitive-Behavioral Relapse Prevention (RP)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Core mechanisms: decentering from craving, disrupting automatic reactivity, increasing distress tolerance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MBRP targets the 'craving to use' automaticity by cultivating awareness of triggers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Brief adaptations (6-8 sessions) show promise for resource-limited settings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Growing global evidence supports MBRP; however, Indian validation remains scarce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SLIDE 5: Variable 1 - Craving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88136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DEFINITION: Intense subjective urge to use a substance, triggered by internal/external cues; motivational state from incentive-sensitization (Robinson &amp; Berridge, 1993)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RELEVANCE: Primary predictor of relapse in opioid dependence; mediates cue exposure and use behavior; correlates with severity and treatment dropout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NEUROPSYCHOLOGICAL BASIS: Mesolimbic dopamine pathway (VTA -&gt; Nucleus Accumbens); PFC hypoactivation; conditioned cue-reward associations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TECHNIQUE - Urge Surfing: Observing craving as a transient wave without acting on it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TECHNIQUE - Mindfulness Exposure: Non-reactive awareness of craving sensations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TECHNIQUE - SOBER Breathing Space: Pause-observe-redirect during craving triggers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TECHNIQUE - Cognitive Decentering: 'I am having a craving' vs. 'I need the drug'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SLIDE 6: Variable 2 - Impulsivity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88136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DEFINITION: Tendency toward rapid, unplanned actions without adequate consideration of consequences (Moeller et al., 2001); multi-dimensional: motor, attentional, non-planning (Patton et al., 1995)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RELEVANCE: Higher trait impulsivity predicts initiation, escalation, and relapse; mediates craving-to-use behavior; associated with treatment non-adherence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NEUROPSYCHOLOGICAL BASIS: PFC dysfunction -&gt; impaired executive control; reduced inhibitory control (Go/No-Go); impaired delay discounting; DLPFC hypoactivation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TECHNIQUE - Response Inhibition Training: Mindful pause before automatic behavioral responses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TECHNIQUE - Awareness Training: Noticing impulse-action sequences without engagement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TECHNIQUE - Mindful Decision-Making: Creating space between stimulus and response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TECHNIQUE - STOP Technique: Stop-Take a breath-Observe-Proceed mindfully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SLIDE 7: Variable 3 - Mindfulness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88136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DEFINITION: Capacity to attend to present-moment experience with openness, curiosity, and non-judgment; 5 facets: Observing, Describing, Acting with Awareness, Non-Judging, Non-Reactivity (Baer et al., 2006)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RELEVANCE: Substance-dependent individuals show significantly lower dispositional mindfulness; acts as protective factor against relapse; improvements mediate treatment outcomes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NEUROPSYCHOLOGICAL BASIS: ACC activation -&gt; enhanced self-regulation; Insula -&gt; interoceptive awareness; PFC-amygdala connectivity -&gt; emotional regulation; DMN regulation -&gt; reduced rumination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TECHNIQUE - Sitting Meditation: Focused attention on breath, body sensations, thoughts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TECHNIQUE - Body Scan: Systematic non-judgmental awareness of bodily states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TECHNIQUE - Mindful Movement: Gentle yoga/walking with present-moment focus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TECHNIQUE - Non-Judgmental Awareness: Labeling experiences without evaluation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SLIDE 8: Review of Literature (1/7) - MBRP Foundational Studies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88136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Bowen, Chawla, &amp; Marlatt (2011) developed original MBRP as 8-session aftercare integrating mindfulness + cognitive-behavioral relapse prevention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Bowen, Witkiewitz, et al. (2014) RCT (N=286): MBRP showed significantly fewer substance use days at 12-month follow-up vs. RP and TAU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Witkiewitz &amp; Bowen (2010) demonstrated MBRP reduced relationship between depressive symptoms and craving; mindfulness mediates affect-craving pathways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Bowen &amp; Marlatt (2009) found brief mindfulness meditation reduced craving among incarcerated substance users vs. controls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Zgierska et al. (2009) systematic review: mindfulness meditation is a promising adjunct in substance use disorder treatment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SLIDE 9: Review of Literature (2/7) - Craving Studies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88136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Witkiewitz, Bowen, Douglas, &amp; Hsu (2013): MBRP participants showed significant reductions in craving intensity vs. TAU over 4-month follow-up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Garland, Froeliger, &amp; Howard (2014): Mindfulness-Oriented Recovery Enhancement (MORE) reduced opioid craving through enhanced positive reappraisal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Garland, Manusov, et al. (2014): Mindfulness training associated with reduced craving and decreased neural reactivity to drug cues in opioid patients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Brewer, Mallik, et al. (2011): Mindfulness training (vs. CBT) resulted in greater craving reductions in cigarette smokers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Hsu, Collins, &amp; Marlatt (2013): Urge surfing effectively reduced craving intensity and frequency in alcohol-dependent outpatients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SLIDE 10: Review of Literature (3/7) - Impulsivity Studies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88136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Garland, Roberts-Lewis, et al. (2016): Mindfulness-based intervention reduced BIS-11 impulsivity scores significantly in substance-dependent adults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Murphy &amp; MacKillop (2012): Trait mindfulness inversely associated with impulsive decision-making (delay discounting) in alcohol users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Korponay, Dentico, et al. (2019): Long-term meditators exhibited lower impulsivity and greater prefrontal cortical thickness vs. controls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Alfonso, Caracuel, et al. (2011): Combined mindfulness-inhibitory control training reduced impulsive responding in polysubstance users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Peters, Erisman, et al. (2011): Brief mindfulness induction reduced impulsive responses on behavioral tasks among high-impulsivity individuals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SLIDE 11: Review of Literature (4/7) - Mindfulness &amp; Substance 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88136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Karyadi, VanderVeen, &amp; Cyders (2014) meta-analysis: significant negative association between mindfulness and substance use (r = -0.21), craving, and problems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Li, Howard, Garland, et al. (2017) meta-analysis of 42 RCTs: MBIs reduced substance misuse (d=0.33), craving (d=0.68), and stress (d=0.44)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Chiesa &amp; Serretti (2014) reviewed 24 studies: MBIs show moderate efficacy for reducing substance use and craving across substances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Bowen, Witkiewitz, Dillworth, &amp; Marlatt (2007): MBRP increased acceptance and acting with awareness (FFMQ facets) in post-treatment users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Grant, Colaiaco, et al. (2017) Cochrane-level review: moderate-quality evidence supporting MBIs for substance use disorders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SLIDE 12: Review of Literature (5/7) - Brief Interventions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88136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Glasner-Edwards, Mooney, et al. (2017): Abbreviated 6-session mindfulness intervention feasible and effective in reducing stimulant use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Davis, Goldberg, et al. (2014): Brief 4-week mindfulness training reduced cigarette consumption and craving among smokers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Shorey, Elmquist, et al. (2017): Brief (single-session + booster) mindfulness intervention reduced substance craving in residential treatment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Roos, Bowen, &amp; Witkiewitz (2017): Even brief daily 15-min meditation mediated MBRP effects on craving and substance use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Rationale: Indian rehabilitation settings typically have 4-8 week admission, necessitating condensed evidence-based protocols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SLIDE 13: Review of Literature (6/7) - Indian Studies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88136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Sarkar &amp; Balhara (2016): Highlighted underutilization of structured psychological interventions in Indian de-addiction settings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Murthy (2016): Indian de-addiction centers predominantly use pharmacotherapy with limited psychosocial integration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Ghosh, Basu, &amp; Avasthi (2018): Relapse rates &gt;70% among opioid-dependent patients in North Indian treatment centers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Jain, Majumder, &amp; Gupta (2013): Preliminary mindfulness-based intervention study in alcohol-dependent patients (India) showed craving reductions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CRITICAL NOTE: No published Indian RCT on Brief MBRP for opioid dependence identified - establishes critical research gap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SLIDE 14: Review of Literature (7/7) - Summary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88136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MBRP &amp; Relapse: Fewer substance use days at 12-month follow-up | Evidence: RCT (Bowen et al., 2014)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Craving: MBRP reduces craving intensity via urge surfing | Evidence: Multiple RCTs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Impulsivity: Mindfulness inversely associated with impulsive responding | Evidence: Correlational + RCT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Mindfulness: Significant improvement in FFMQ scores post-MBRP | Evidence: Pre-post + RCT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Brief Models: 4-8 session protocols feasible and effective | Evidence: Emerging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Indian Context: Extremely limited MBRP research; high relapse burden | Evidence: Gap identified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SLIDE 15: Research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88136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Lack of Indian MBRP studies: No published RCT has tested MBRP (standard or brief) in Indian opioid-dependent populations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Limited combined variable assessment: Most studies examine craving OR mindfulness in isolation; few assess craving + impulsivity + mindfulness simultaneously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Absence of brief protocol validation: Indian rehab settings need 6-8 session models but none empirically validated in this context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Overreliance on pharmacotherapy: Indian treatment lacks integration of structured evidence-based psychological interventions alongside OST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Population specificity: Global MBRP studies focus on alcohol/polysubstance; opioid-specific MBRP evidence is limited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Cultural adaptation need: Mindfulness requires culturally congruent adaptation for Indian populations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PRESENT STUDY: First brief MBRP trial in Indian opioid-dependent sample assessing craving, impulsivity, and mindfulness simultaneously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SLIDE 16: Aim of the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88136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To evaluate the efficacy of a Brief Mindfulness-Based Relapse Prevention (MBRP) intervention in reducing craving and impulsivity, and enhancing mindfulness, among substance-dependent patients in an Indian de-addiction setting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Specifically: To compare outcomes between Brief MBRP + TAU (Experimental) and Psychoeducation + TAU (Control) on three dependent variables measured pre- and post-intervention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SLIDE 17: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88136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1. To assess and compare craving levels (pre vs. post) in Experimental (Brief MBRP + TAU) and Control (Psychoeducation + TAU) groups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2. To assess and compare impulsivity levels (pre vs. post) in both groups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3. To assess and compare mindfulness levels (pre vs. post) in both groups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4. To determine whether Brief MBRP + TAU is significantly more effective than Psychoeducation + TAU in reducing craving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5. To determine whether Brief MBRP + TAU is significantly more effective than Psychoeducation + TAU in reducing impulsivity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6. To determine whether Brief MBRP + TAU is significantly more effective than Psychoeducation + TAU in enhancing mindfulness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SLIDE 18: Hypotheses (Directional)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88136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H1: Participants receiving Brief MBRP + TAU will show significantly GREATER REDUCTION in craving scores (HCQ) compared to Psychoeducation + TAU, from pre-test to post-test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H2: Participants receiving Brief MBRP + TAU will show significantly GREATER REDUCTION in impulsivity scores (BIS-11) compared to Psychoeducation + TAU, from pre-test to post-test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H3: Participants receiving Brief MBRP + TAU will show significantly GREATER INCREASE in mindfulness scores (FFMQ) compared to Psychoeducation + TAU, from pre-test to post-test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SLIDE 19: Research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C5F8A"/>
                </a:solidFill>
              </a:defRPr>
            </a:pPr>
            <a:r>
              <a:t>Pre-test Post-test Control Group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Design: Pre-test Post-test Control Group Experimental Design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R   O1   X1   O2   -&gt;  Experimental Group (Brief MBRP + TAU)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R   O1   X2   O2   -&gt;  Control Group (Psychoeducation + TAU)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R = Random assignment | O1 = Pre-test (FFMQ, BIS-11, HCQ, ASSIST) | X1 = Brief MBRP | X2 = Psychoeducation | O2 = Post-test (FFMQ, BIS-11, HCQ)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Features: True experimental design with randomization; Active control (Psychoeducation) for attention/contact effects; TAU maintained in both groups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SLIDE 20: Sample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88136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Population: Substance-dependent patients (primarily opioid users) admitted to de-addiction/rehabilitation centers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Sampling Method: Purposive sampling followed by random allocation to groups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Sample Size: N = 60 (30 per group)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Setting: Government/private de-addiction centers in India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Recruitment: Consecutive admissions meeting inclusion criteria over 6-8 months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Attrition Consideration: Recruit N = 70 (35 per group) to account for ~15% dropout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SLIDE 21: Sample Size Estimation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88136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Formula: n = [(Za/2 + Zb)^2 x 2s^2] / d^2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Parameters: Effect size (d) = 0.50 (medium; Li et al., 2017 meta-analysis: d = 0.33-0.68) | Power (1-b) = 0.80 -&gt; Zb = 0.84 | Alpha = 0.05 (two-tailed) -&gt; Za/2 = 1.96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Calculation: n = [(1.96 + 0.84)^2 x 2 x 1] / (0.50)^2 = [7.84 x 2] / 0.25 = 15.68 / 0.25 = 62.72 ~ 63 total (~32 per group)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G*Power Verification: Independent t-test (two-tailed): d=0.50, a=0.05, power=0.80 -&gt; n=64 total; ANCOVA with 1 covariate -&gt; n=34 per group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FINAL DECISION: N = 60 (30 per group) - justified by ANCOVA as primary analysis (reduces required n)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Recruit 70 total (35/group) to account for attrition (~15%)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Consistent with similar studies: Bowen et al. (2009), Glasner-Edwards et al. (2017)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SLIDE 22: Inclusion Criteria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88136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1. Diagnosis of Substance Dependence as per ICD-10 (F10-F19) / ICD-11 criteria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2. Primary substance: Opioids (heroin, pharmaceutical opioids); polysubstance users with primary opioid dependence included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3. Age: 18-50 years (male participants)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4. Completed detoxification phase (minimum 7 days post-withdrawal)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5. Currently admitted in de-addiction/rehabilitation center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6. Minimum education: 5th standard (ability to comprehend psychometric tools)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7. Willingness to provide written informed consent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8. Able to attend all intervention sessions during admission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SLIDE 23: Exclusion Criteria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88136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1. Severe psychiatric comorbidity: Psychotic disorders, Bipolar I with psychotic features, severe MDE with suicidality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2. Significant cognitive impairment (MMSE &lt; 24) or intellectual disability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3. Active withdrawal symptoms (COWS score &gt; 12)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4. History of traumatic brain injury with LOC &gt; 30 minutes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5. Current participation in another structured psychological intervention study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6. Medical instability requiring acute care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7. History of prior formal mindfulness/meditation training (&gt; 1 month)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SLIDE 24: Variables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88136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INDEPENDENT VARIABLE (IV):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  Type of Intervention: Level 1 = Brief MBRP + TAU (Experimental) | Level 2 = Psychoeducation + TAU (Control)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DEPENDENT VARIABLES (DVs):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  1. Craving - measured by Heroin Craving Questionnaire (HCQ)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  2. Impulsivity - measured by Barratt Impulsiveness Scale (BIS-11)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  3. Mindfulness - measured by Five Facet Mindfulness Questionnaire (FFMQ)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CONTROLLED VARIABLES: Age, education, duration of substance use, severity (ASSIST baseline), TAU components constant, session duration/frequency equalized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SLIDE 25: Tools - Mindfulness &amp; Impulsivity Measures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88136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1. FIVE FACET MINDFULNESS QUESTIONNAIRE (FFMQ) - Baer et al. (2006)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   39 items | 5 facets: Observing, Describing, Acting with Awareness, Non-Judging, Non-Reactivity | 5-point Likert | Higher = greater mindfulness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   Reliability: a = 0.75-0.91 across facets | Validity: Convergent + discriminant established | Indian: Hindi adaptation available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2. BARRATT IMPULSIVENESS SCALE (BIS-11) - Patton, Stanford, &amp; Barratt (1995)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   30 items | 3 factors: Attentional, Motor, Non-Planning Impulsivity | 4-point scale | Higher = greater impulsivity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   Reliability: a = 0.79-0.83; test-retest r = 0.83 | Validity: Discriminates substance users from controls | Indian: Hindi version validated (Mathew et al., 2014)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SLIDE 26: Tools - Craving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88136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CRAVING SCALE OPTIONS COMPARISON: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  Heroin Craving Questionnaire (HCQ): 45-item (brief: 14-item), opioid-specific, multidimensional | HIGHLY SUITABLE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  Obsessive Compulsive Drug Use Scale (OCDUS): 12-item, obsessive thoughts + compulsive urges | Moderate (generic)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  Visual Analog Scale (VAS): Single-item 0-100mm rating | Limited (unidimensional)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RECOMMENDED: HCQ-Brief (14 items) - Tiffany, Fields, Singleton, et al. (2000)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  Assesses: desire to use, intention, anticipation of positive outcome, relief from withdrawal, lack of control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  Scoring: 7-point Likert | Reliability: a = 0.87-0.93 | Validity: Convergent with VAS, sensitive to intervention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  JUSTIFICATION: Substance-specific measurement preferred for opioid-dependent populations (EMCDDA guidelines)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SLIDE 27: Tools - Severity Assessment (Pre-Test Only)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88136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SEVERITY SCALE OPTIONS: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  ASSIST (WHO): 8-item, risk level for 10 substance categories | BEST CHOICE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  DAST-20: 20-item, drug abuse screening (yes/no) | Good but less comprehensive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  AUDIT: 10-item, alcohol-specific | Only if alcohol subgroup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RECOMMENDED: ASSIST - WHO ASSIST Working Group (2002); Humeniuk et al.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  Scoring: Substance-specific risk: Low (0-3), Moderate (4-26), High (27+)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  Reliability: Test-retest r = 0.58-0.90; a = 0.77-0.94 | Validity: Sensitivity 0.80, Specificity 0.71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  Indian: WHO-validated; Hindi version available; NDDTC studies; culturally appropriate; 5-10 min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  PURPOSE: Used at PRE-TEST ONLY to establish baseline severity and ensure group equivalence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SLIDE 28: Procedure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C5F8A"/>
                </a:solidFill>
              </a:defRPr>
            </a:pPr>
            <a:r>
              <a:t>Stepwise Research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Step 1: SCREENING - Identify eligible patients (ICD-10 diagnosis, detoxified, consent-capable)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Step 2: INFORMED CONSENT - Explain study purpose, procedures, confidentiality, right to withdraw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Step 3: PRE-TEST ASSESSMENT - Administer: ASSIST + HCQ + BIS-11 + FFMQ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Step 4: RANDOM ALLOCATION - Computer-generated randomization -&gt; Experimental vs. Control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Step 5: INTERVENTION DELIVERY - Experimental: Brief MBRP (8 sessions x 60 min x 4 weeks) | Control: Psychoeducation (8 sessions x 60 min x 4 weeks)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Step 6: POST-TEST ASSESSMENT - Administer: HCQ + BIS-11 + FFMQ (within 1 week of completion)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Step 7: DATA COMPILATION &amp; ANALYSIS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Both groups receive TAU throughout | Assessments by blinded research assistant | Intervention by trained MPhil Clinical Psychologist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SLIDE 29: Intervention Plan - Experimental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C5F8A"/>
                </a:solidFill>
              </a:defRPr>
            </a:pPr>
            <a:r>
              <a:t>Brief MBRP (8 Sessions) + TAU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BRIEF MBRP PROTOCOL: 8 Sessions x 60 min x 4 weeks (Twice weekly)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Session 1: Introduction to MBRP &amp; Autopilot - Raisin exercise; identifying automatic patterns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Session 2: Awareness of Triggers - Body scan meditation; mapping personal triggers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Session 3: Mindfulness in Daily Life - Sitting meditation (breath); SOBER breathing space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Session 4: Mindfulness in High-Risk Situations - Urge surfing; role-play; cognitive decentering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Session 5: Acceptance &amp; Skillful Action - Non-judgmental awareness; mindful decision-making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Session 6: Seeing Thoughts as Thoughts - 'Thoughts are not facts'; mountain meditation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Session 7: Self-Care &amp; Lifestyle Balance - Loving-kindness; activity scheduling; warning signs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Session 8: Social Support &amp; Maintenance - Review; relapse prevention plan; practice commitment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SLIDE 30: Intervention Plan - Control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C5F8A"/>
                </a:solidFill>
              </a:defRPr>
            </a:pPr>
            <a:r>
              <a:t>Psychoeducation (8 Sessions) + TAU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PSYCHOEDUCATION PROTOCOL: 8 Sessions x 60 min x 4 weeks (Twice weekly)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Session 1: Understanding Addiction - Nature of dependence; brain changes; disease model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Session 2: Effects of Opioids - Short/long-term physical and psychological consequences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Session 3: Understanding Relapse - Relapse process; warning signs; high-risk situations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Session 4: Coping with Cravings - General strategies (distraction, social support); NO mindfulness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Session 5: Health &amp; Nutrition - Physical recovery; nutrition; sleep hygiene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Session 6: Social Consequences - Family impact; legal issues; stigma; rehabilitation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Session 7: Motivation &amp; Goal Setting - Stages of change; personal goals; motivation enhancement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Session 8: Lifestyle Changes &amp; Summary - Long-term planning; support systems; review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NOTE: Matched for contact time, group format, therapist attention to control non-specific factors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SLIDE 31: Data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88136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Descriptive Statistics: Mean, SD, frequency, percentages for sociodemographic and clinical variables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Normality Testing: Shapiro-Wilk test for distribution of outcome variables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Within-Group: Paired samples t-test (pre vs. post within each group); Wilcoxon for non-normal data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Between-Group: Independent samples t-test (post-test between groups); Mann-Whitney U for non-normal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PRIMARY ANALYSIS: ANCOVA - Post-test scores as DV, Group as IV, Pre-test scores as covariate (controls baseline differences, increases power)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Effect Size: Cohen's d for between-group differences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Significance Level: alpha = 0.05 (two-tailed) | Software: SPSS 26.0 / JASP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Intent-to-Treat (ITT): Last Observation Carried Forward (LOCF) for dropouts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SLIDE 32: Ethical Considerations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88136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Informed Consent: Written consent in Hindi/regional language; participants informed of purpose, procedures, risks, benefits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Voluntary Participation: Right to withdraw at any time without penalty or impact on ongoing treatment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Confidentiality: Data coded with participant IDs; no identifying information in publications; secure storage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Non-Maleficence: No harmful procedures; control receives active psychoeducation (not waitlist); TAU continued for all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Institutional Approval: Ethical clearance from Institutional Ethics Committee (IEC) prior to data collection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Debriefing: Control group offered MBRP orientation post-study if desired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Compliance: ICMR (2017) National Ethical Guidelines for Biomedical and Health Research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SLIDE 33: Expected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88136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CRAVING (HCQ):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  Significant REDUCTION in craving scores in Experimental group vs. Control group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  Mechanism: Urge surfing and mindfulness exposure reduce automatic craving reactivity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IMPULSIVITY (BIS-11):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  Significant REDUCTION in impulsivity (Motor + Attentional subscales) in Experimental group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  Mechanism: Mindfulness enhances prefrontal inhibitory control and response awareness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MINDFULNESS (FFMQ):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  Significant INCREASE in mindfulness (Acting with Awareness + Non-Reactivity) in Experimental group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  Mechanism: Structured meditation practice cultivates dispositional mindfulness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SLIDE 34: Clinical Implications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88136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Validates a brief, structured MBRP model feasible for Indian de-addiction settings with time-limited admissions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Provides evidence-based psychological intervention to complement existing pharmacotherapy (OST, naltrexone)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Demonstrates mindfulness-based approaches are culturally compatible with Indian populations (meditative traditions)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Addresses multiple relapse risk factors simultaneously (craving + impulsivity + mindfulness) via single protocol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Supports task-shifting: Brief MBRP can be delivered by MPhil-trained Clinical Psychologists in resource-limited settings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Informs treatment policy at national level (NIMHANS, NDDTC, State Mental Health Authorities)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Contributes to RCI-recognized intervention repertoire for clinical psychology training in India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SLIDE 35: 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88136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Sample specificity: Male opioid-dependent patients from single center; limits generalizability to females, other substances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Short-term assessment: Post-test immediately after intervention; no long-term follow-up for maintenance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Self-report measures: HCQ, BIS-11, FFMQ susceptible to social desirability and limited insight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No biological markers: Craving measured subjectively; no physiological/neuroimaging corroboration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Therapist effects: Single therapist delivery may introduce therapist-specific confounds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Attention control: Psychoeducation controls for contact but not specific mindfulness mechanisms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Attrition: Substance-dependent population may have higher dropout rates despite planning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SLIDE 36: Future Directions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88136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Follow-up studies: 3-month and 6-month assessments for sustained MBRP effects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Multi-site RCTs: Replicate across multiple Indian de-addiction centers for generalizability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Female participants: Include female substance-dependent patients for gender-specific effects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Neuroimaging integration: fMRI/EEG to examine neural mechanisms of MBRP on craving circuits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Dose-response analysis: Compare 6 vs. 8 vs. full 8-week MBRP for optimal dosage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Mediator analysis: Examine whether mindfulness improvement mediates craving/impulsivity reduction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Technology-assisted delivery: App-based/digital MBRP for post-discharge and rural access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Comparative effectiveness: MBRP vs. CBT vs. ACT vs. Contingency Management in Indian samples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SLIDE 37: References (1/4)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88136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Alfonso, J. P., Caracuel, A., Delgado-Pastor, L. C., &amp; Verdejo-Garcia, A. (2011). Drug and Alcohol Dependence, 117(1), 78-81.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Baer, R. A., Smith, G. T., Hopkins, J., Krietemeyer, J., &amp; Toney, L. (2006). Assessment, 13(1), 27-45.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Bowen, S., Chawla, N., &amp; Marlatt, G. A. (2011). Mindfulness-based relapse prevention for addictive behaviors. Guilford Press.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Bowen, S., &amp; Marlatt, G. A. (2009). Psychology of Addictive Behaviors, 23(4), 666-671.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Bowen, S., Witkiewitz, K., Clifasefi, S. L., et al. (2014). JAMA Psychiatry, 71(5), 547-556.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Bowen, S., Witkiewitz, K., Dillworth, T. M., &amp; Marlatt, G. A. (2007). Addictive Behaviors, 32(10), 2324-2328.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Brewer, J. A., Mallik, S., Babuscio, T. A., et al. (2011). Drug and Alcohol Dependence, 119(1-2), 72-80.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SLIDE 38: References (2/4)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88136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Chiesa, A., &amp; Serretti, A. (2014). Substance Use &amp; Misuse, 49(5), 492-512.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Davis, J. M., Goldberg, S. B., Anderson, M. C., et al. (2014). Substance Use &amp; Misuse, 49(5), 571-585.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Garland, E. L., Froeliger, B., &amp; Howard, M. O. (2014). Frontiers in Psychiatry, 4, 173.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Garland, E. L., Manusov, E. G., Froeliger, B., et al. (2014). J. Consulting and Clinical Psychology, 82(3), 448-459.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Garland, E. L., Roberts-Lewis, A., Tronnier, C. D., et al. (2016). J. Consulting and Clinical Psychology, 84(4), 281-293.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Ghosh, A., Basu, D., &amp; Avasthi, A. (2018). Indian Journal of Psychiatry, 60(Suppl 4), S469-S476.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Glasner-Edwards, S., Mooney, L. J., Ang, A., et al. (2017). Mindfulness, 8(1), 126-135.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Grant, S., Colaiaco, B., Motala, A., et al. (2017). J. Addiction Medicine, 11(5), 386-396.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SLIDE 39: References (3/4)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88136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Hsu, S. H., Collins, S. E., &amp; Marlatt, G. A. (2013). Addictive Behaviors, 38(3), 1852-1858.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Humeniuk, R., Ali, R., Babor, T. F., et al. (2008). Addiction, 103(6), 1039-1047.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Jain, R., Majumder, P., &amp; Gupta, T. (2013). Indian Journal of Psychiatry, 55(Suppl 1), S86-S92.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Kabat-Zinn, J. (1990). Full catastrophe living. Delacorte Press.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Karyadi, K. A., VanderVeen, J. D., &amp; Cyders, M. A. (2014). Drug and Alcohol Dependence, 143, 1-10.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Korponay, C., Dentico, D., Kral, T. R. A., et al. (2019). Scientific Reports, 9(1), 11963.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Li, W., Howard, M. O., Garland, E. L., et al. (2017). J. Substance Abuse Treatment, 75, 62-96.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Marlatt, G. A., &amp; Gordon, J. R. (1985). Relapse prevention. Guilford Press.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SLIDE 40: References (4/4)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88136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Mattoo, S. K., Chakrabarti, S., &amp; Anjaiah, M. (2009). Indian J. Medical Research, 130(6), 702-708.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Moeller, F. G., Barratt, E. S., Dougherty, D. M., et al. (2001). Am. J. Psychiatry, 158(11), 1783-1793.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Murphy, C., &amp; MacKillop, J. (2012). Psychopharmacology, 219(2), 527-536.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NIDA (2020). Drugs, brains, and behavior: The science of addiction. NIDA.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Patton, J. H., Stanford, M. S., &amp; Barratt, E. S. (1995). J. Clinical Psychology, 51(6), 768-774.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Peters, J. R., Erisman, S. M., Upton, B. T., et al. (2011). Mindfulness, 2(4), 228-235.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Robinson, T. E., &amp; Berridge, K. C. (1993). Brain Research Reviews, 18(3), 247-291.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Roos, C. R., Bowen, S., &amp; Witkiewitz, K. (2017). J. Consulting and Clinical Psychology, 85(11), 1041-1051.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Sarkar, S., &amp; Balhara, Y. P. S. (2016). Indian J. Endocrinology and Metabolism, 20(4), 527-533.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Shorey, R. C., et al. (2017). Substance Use &amp; Misuse, 52(11), 1400-1410.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Tiffany, S. T., et al. (2000). Development of heroin craving questionnaire. Unpublished.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WHO ASSIST Working Group (2002). Addiction, 97(9), 1183-1194.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Witkiewitz, K., &amp; Bowen, S. (2010). J. Consulting and Clinical Psychology, 78(3), 362-374.</a:t>
            </a:r>
          </a:p>
          <a:p>
            <a:pPr>
              <a:spcBef>
                <a:spcPts val="800"/>
              </a:spcBef>
              <a:defRPr sz="1400">
                <a:solidFill>
                  <a:srgbClr val="2D2D44"/>
                </a:solidFill>
              </a:defRPr>
            </a:pPr>
            <a:r>
              <a:t>Zgierska, A., et al. (2009). Substance Abuse, 30(4), 266-294.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