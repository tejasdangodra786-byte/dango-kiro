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914400" y="1097280"/>
            <a:ext cx="10332720" cy="2286000"/>
          </a:xfrm>
          <a:prstGeom prst="rect">
            <a:avLst/>
          </a:prstGeom>
          <a:noFill/>
        </p:spPr>
        <p:txBody>
          <a:bodyPr wrap="square">
            <a:spAutoFit/>
          </a:bodyPr>
          <a:lstStyle/>
          <a:p>
            <a:pPr algn="ctr">
              <a:defRPr sz="2600" b="1">
                <a:solidFill>
                  <a:srgbClr val="FFFFFF"/>
                </a:solidFill>
              </a:defRPr>
            </a:pPr>
            <a:r>
              <a:t>Efficacy of Brief Mindfulness-Based Relapse Prevention (MBRP) Intervention</a:t>
            </a:r>
            <a:br/>
            <a:r>
              <a:t>on Craving, Impulsivity, and Mindfulness</a:t>
            </a:r>
            <a:br/>
            <a:r>
              <a:t>in Substance Dependent Patients</a:t>
            </a:r>
          </a:p>
          <a:p>
            <a:pPr algn="ctr">
              <a:spcBef>
                <a:spcPts val="2000"/>
              </a:spcBef>
              <a:defRPr sz="1600">
                <a:solidFill>
                  <a:srgbClr val="D4A537"/>
                </a:solidFill>
              </a:defRPr>
            </a:pPr>
            <a:r>
              <a:t>MPhil Clinical Psychology Research Synopsis</a:t>
            </a:r>
          </a:p>
          <a:p>
            <a:br/>
            <a:pPr algn="ctr">
              <a:spcBef>
                <a:spcPts val="3000"/>
              </a:spcBef>
              <a:defRPr sz="1400">
                <a:solidFill>
                  <a:srgbClr val="FFFFFF"/>
                </a:solidFill>
              </a:defRPr>
            </a:pPr>
            <a:r>
              <a:t>Researcher: [Researcher Name]</a:t>
            </a:r>
            <a:br/>
            <a:r>
              <a:t>Guide: [Supervisor Name]</a:t>
            </a:r>
            <a:br/>
            <a:r>
              <a:t>Department: Clinical Psychology</a:t>
            </a:r>
            <a:br/>
            <a:r>
              <a:t>Institution: [University/Institute Name]</a:t>
            </a:r>
            <a:br/>
            <a:r>
              <a:t>Year: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Introduction &amp; Background (1/3)</a:t>
            </a:r>
          </a:p>
        </p:txBody>
      </p:sp>
      <p:sp>
        <p:nvSpPr>
          <p:cNvPr id="4" name="TextBox 3"/>
          <p:cNvSpPr txBox="1"/>
          <p:nvPr/>
        </p:nvSpPr>
        <p:spPr>
          <a:xfrm>
            <a:off x="640080" y="1097280"/>
            <a:ext cx="10881360" cy="457200"/>
          </a:xfrm>
          <a:prstGeom prst="rect">
            <a:avLst/>
          </a:prstGeom>
          <a:noFill/>
        </p:spPr>
        <p:txBody>
          <a:bodyPr wrap="none">
            <a:spAutoFit/>
          </a:bodyPr>
          <a:lstStyle/>
          <a:p>
            <a:pPr>
              <a:defRPr sz="1400" b="1">
                <a:solidFill>
                  <a:srgbClr val="2C5F8A"/>
                </a:solidFill>
              </a:defRPr>
            </a:pPr>
            <a:r>
              <a:t>Substance Dependence: Indian Context</a:t>
            </a:r>
          </a:p>
        </p:txBody>
      </p:sp>
      <p:sp>
        <p:nvSpPr>
          <p:cNvPr id="5" name="TextBox 4"/>
          <p:cNvSpPr txBox="1"/>
          <p:nvPr/>
        </p:nvSpPr>
        <p:spPr>
          <a:xfrm>
            <a:off x="640080" y="1554480"/>
            <a:ext cx="10881360" cy="5029200"/>
          </a:xfrm>
          <a:prstGeom prst="rect">
            <a:avLst/>
          </a:prstGeom>
          <a:noFill/>
        </p:spPr>
        <p:txBody>
          <a:bodyPr wrap="square">
            <a:spAutoFit/>
          </a:bodyPr>
          <a:lstStyle/>
          <a:p>
            <a:pPr>
              <a:spcBef>
                <a:spcPts val="600"/>
              </a:spcBef>
              <a:defRPr sz="1300">
                <a:solidFill>
                  <a:srgbClr val="2D2D44"/>
                </a:solidFill>
              </a:defRPr>
            </a:pPr>
            <a:r>
              <a:t>India faces a significant substance use crisis; MAGNITUDE study (2019) estimated ~3.1 crore individuals affected by substance use disorders</a:t>
            </a:r>
          </a:p>
          <a:p>
            <a:pPr>
              <a:spcBef>
                <a:spcPts val="600"/>
              </a:spcBef>
              <a:defRPr sz="1300">
                <a:solidFill>
                  <a:srgbClr val="2D2D44"/>
                </a:solidFill>
              </a:defRPr>
            </a:pPr>
            <a:r>
              <a:t>Opioid dependence constitutes a major public health burden, particularly in Punjab, Rajasthan, Northeast India, and metropolitan areas</a:t>
            </a:r>
          </a:p>
          <a:p>
            <a:pPr>
              <a:spcBef>
                <a:spcPts val="600"/>
              </a:spcBef>
              <a:defRPr sz="1300">
                <a:solidFill>
                  <a:srgbClr val="2D2D44"/>
                </a:solidFill>
              </a:defRPr>
            </a:pPr>
            <a:r>
              <a:t>WHO estimates India accounts for ~25% of global opioid-related deaths in South-East Asia</a:t>
            </a:r>
          </a:p>
          <a:p>
            <a:pPr>
              <a:spcBef>
                <a:spcPts val="600"/>
              </a:spcBef>
              <a:defRPr sz="1300">
                <a:solidFill>
                  <a:srgbClr val="2D2D44"/>
                </a:solidFill>
              </a:defRPr>
            </a:pPr>
            <a:r>
              <a:t>Economic burden includes lost productivity, healthcare costs, and family dysfunction</a:t>
            </a:r>
          </a:p>
          <a:p>
            <a:pPr>
              <a:spcBef>
                <a:spcPts val="600"/>
              </a:spcBef>
              <a:defRPr sz="1300">
                <a:solidFill>
                  <a:srgbClr val="2D2D44"/>
                </a:solidFill>
              </a:defRPr>
            </a:pPr>
            <a:r>
              <a:t>National Drug Dependence Treatment Centre (NDDTC) reports increasing treatment-seeking among opioid users</a:t>
            </a:r>
          </a:p>
          <a:p>
            <a:pPr>
              <a:spcBef>
                <a:spcPts val="600"/>
              </a:spcBef>
              <a:defRPr sz="1300">
                <a:solidFill>
                  <a:srgbClr val="2D2D44"/>
                </a:solidFill>
              </a:defRPr>
            </a:pPr>
            <a:r>
              <a:t>Indian de-addiction centers primarily offer pharmacotherapy (OST, naltrexone) with limited structured psychotherapy</a:t>
            </a:r>
          </a:p>
          <a:p>
            <a:pPr>
              <a:spcBef>
                <a:spcPts val="600"/>
              </a:spcBef>
              <a:defRPr sz="1300">
                <a:solidFill>
                  <a:srgbClr val="2D2D44"/>
                </a:solidFill>
              </a:defRPr>
            </a:pPr>
            <a:r>
              <a:t>Psychosocial interventions remain under-utilized despite evidence of superior combined treatment outcomes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Introduction &amp; Background (2/3)</a:t>
            </a:r>
          </a:p>
        </p:txBody>
      </p:sp>
      <p:sp>
        <p:nvSpPr>
          <p:cNvPr id="4" name="TextBox 3"/>
          <p:cNvSpPr txBox="1"/>
          <p:nvPr/>
        </p:nvSpPr>
        <p:spPr>
          <a:xfrm>
            <a:off x="640080" y="1097280"/>
            <a:ext cx="10881360" cy="457200"/>
          </a:xfrm>
          <a:prstGeom prst="rect">
            <a:avLst/>
          </a:prstGeom>
          <a:noFill/>
        </p:spPr>
        <p:txBody>
          <a:bodyPr wrap="none">
            <a:spAutoFit/>
          </a:bodyPr>
          <a:lstStyle/>
          <a:p>
            <a:pPr>
              <a:defRPr sz="1400" b="1">
                <a:solidFill>
                  <a:srgbClr val="2C5F8A"/>
                </a:solidFill>
              </a:defRPr>
            </a:pPr>
            <a:r>
              <a:t>The Relapse Problem in De-Addiction</a:t>
            </a:r>
          </a:p>
        </p:txBody>
      </p:sp>
      <p:sp>
        <p:nvSpPr>
          <p:cNvPr id="5" name="TextBox 4"/>
          <p:cNvSpPr txBox="1"/>
          <p:nvPr/>
        </p:nvSpPr>
        <p:spPr>
          <a:xfrm>
            <a:off x="640080" y="1554480"/>
            <a:ext cx="10881360" cy="5029200"/>
          </a:xfrm>
          <a:prstGeom prst="rect">
            <a:avLst/>
          </a:prstGeom>
          <a:noFill/>
        </p:spPr>
        <p:txBody>
          <a:bodyPr wrap="square">
            <a:spAutoFit/>
          </a:bodyPr>
          <a:lstStyle/>
          <a:p>
            <a:pPr>
              <a:spcBef>
                <a:spcPts val="600"/>
              </a:spcBef>
              <a:defRPr sz="1300">
                <a:solidFill>
                  <a:srgbClr val="2D2D44"/>
                </a:solidFill>
              </a:defRPr>
            </a:pPr>
            <a:r>
              <a:t>Relapse rates in substance dependence range from 40-60% within first year post-treatment (NIDA, 2020)</a:t>
            </a:r>
          </a:p>
          <a:p>
            <a:pPr>
              <a:spcBef>
                <a:spcPts val="600"/>
              </a:spcBef>
              <a:defRPr sz="1300">
                <a:solidFill>
                  <a:srgbClr val="2D2D44"/>
                </a:solidFill>
              </a:defRPr>
            </a:pPr>
            <a:r>
              <a:t>Indian studies report even higher relapse rates (~70-80%) in opioid dependence (Mattoo et al., 2009)</a:t>
            </a:r>
          </a:p>
          <a:p>
            <a:pPr>
              <a:spcBef>
                <a:spcPts val="600"/>
              </a:spcBef>
              <a:defRPr sz="1300">
                <a:solidFill>
                  <a:srgbClr val="2D2D44"/>
                </a:solidFill>
              </a:defRPr>
            </a:pPr>
            <a:r>
              <a:t>Triggers for relapse: craving, negative affect, interpersonal conflict, environmental cues</a:t>
            </a:r>
          </a:p>
          <a:p>
            <a:pPr>
              <a:spcBef>
                <a:spcPts val="600"/>
              </a:spcBef>
              <a:defRPr sz="1300">
                <a:solidFill>
                  <a:srgbClr val="2D2D44"/>
                </a:solidFill>
              </a:defRPr>
            </a:pPr>
            <a:r>
              <a:t>Traditional relapse prevention (Marlatt &amp; Gordon, 1985) has moderate efficacy but limited mindfulness integration</a:t>
            </a:r>
          </a:p>
          <a:p>
            <a:pPr>
              <a:spcBef>
                <a:spcPts val="600"/>
              </a:spcBef>
              <a:defRPr sz="1300">
                <a:solidFill>
                  <a:srgbClr val="2D2D44"/>
                </a:solidFill>
              </a:defRPr>
            </a:pPr>
            <a:r>
              <a:t>Automatic cognitive-behavioral patterns perpetuate relapse cycles</a:t>
            </a:r>
          </a:p>
          <a:p>
            <a:pPr>
              <a:spcBef>
                <a:spcPts val="600"/>
              </a:spcBef>
              <a:defRPr sz="1300">
                <a:solidFill>
                  <a:srgbClr val="2D2D44"/>
                </a:solidFill>
              </a:defRPr>
            </a:pPr>
            <a:r>
              <a:t>Need for interventions addressing both cognitive automaticity and emotional dysregulation</a:t>
            </a:r>
          </a:p>
          <a:p>
            <a:pPr>
              <a:spcBef>
                <a:spcPts val="600"/>
              </a:spcBef>
              <a:defRPr sz="1300">
                <a:solidFill>
                  <a:srgbClr val="2D2D44"/>
                </a:solidFill>
              </a:defRPr>
            </a:pPr>
            <a:r>
              <a:t>Brief interventions essential for Indian rehab settings with limited resources and high patient turnover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Introduction &amp; Background (3/3)</a:t>
            </a:r>
          </a:p>
        </p:txBody>
      </p:sp>
      <p:sp>
        <p:nvSpPr>
          <p:cNvPr id="4" name="TextBox 3"/>
          <p:cNvSpPr txBox="1"/>
          <p:nvPr/>
        </p:nvSpPr>
        <p:spPr>
          <a:xfrm>
            <a:off x="640080" y="1097280"/>
            <a:ext cx="10881360" cy="457200"/>
          </a:xfrm>
          <a:prstGeom prst="rect">
            <a:avLst/>
          </a:prstGeom>
          <a:noFill/>
        </p:spPr>
        <p:txBody>
          <a:bodyPr wrap="none">
            <a:spAutoFit/>
          </a:bodyPr>
          <a:lstStyle/>
          <a:p>
            <a:pPr>
              <a:defRPr sz="1400" b="1">
                <a:solidFill>
                  <a:srgbClr val="2C5F8A"/>
                </a:solidFill>
              </a:defRPr>
            </a:pPr>
            <a:r>
              <a:t>Mindfulness in Addiction Treatment</a:t>
            </a:r>
          </a:p>
        </p:txBody>
      </p:sp>
      <p:sp>
        <p:nvSpPr>
          <p:cNvPr id="5" name="TextBox 4"/>
          <p:cNvSpPr txBox="1"/>
          <p:nvPr/>
        </p:nvSpPr>
        <p:spPr>
          <a:xfrm>
            <a:off x="640080" y="1554480"/>
            <a:ext cx="10881360" cy="5029200"/>
          </a:xfrm>
          <a:prstGeom prst="rect">
            <a:avLst/>
          </a:prstGeom>
          <a:noFill/>
        </p:spPr>
        <p:txBody>
          <a:bodyPr wrap="square">
            <a:spAutoFit/>
          </a:bodyPr>
          <a:lstStyle/>
          <a:p>
            <a:pPr>
              <a:spcBef>
                <a:spcPts val="600"/>
              </a:spcBef>
              <a:defRPr sz="1300">
                <a:solidFill>
                  <a:srgbClr val="2D2D44"/>
                </a:solidFill>
              </a:defRPr>
            </a:pPr>
            <a:r>
              <a:t>Mindfulness: intentional, non-judgmental, present-moment awareness (Kabat-Zinn, 1990)</a:t>
            </a:r>
          </a:p>
          <a:p>
            <a:pPr>
              <a:spcBef>
                <a:spcPts val="600"/>
              </a:spcBef>
              <a:defRPr sz="1300">
                <a:solidFill>
                  <a:srgbClr val="2D2D44"/>
                </a:solidFill>
              </a:defRPr>
            </a:pPr>
            <a:r>
              <a:t>Mindfulness-Based Relapse Prevention (MBRP) developed by Bowen, Chawla, &amp; Marlatt (2011)</a:t>
            </a:r>
          </a:p>
          <a:p>
            <a:pPr>
              <a:spcBef>
                <a:spcPts val="600"/>
              </a:spcBef>
              <a:defRPr sz="1300">
                <a:solidFill>
                  <a:srgbClr val="2D2D44"/>
                </a:solidFill>
              </a:defRPr>
            </a:pPr>
            <a:r>
              <a:t>Integrates Mindfulness-Based Stress Reduction (MBSR) + Cognitive-Behavioral Relapse Prevention (RP)</a:t>
            </a:r>
          </a:p>
          <a:p>
            <a:pPr>
              <a:spcBef>
                <a:spcPts val="600"/>
              </a:spcBef>
              <a:defRPr sz="1300">
                <a:solidFill>
                  <a:srgbClr val="2D2D44"/>
                </a:solidFill>
              </a:defRPr>
            </a:pPr>
            <a:r>
              <a:t>Core mechanisms: decentering from craving, disrupting automatic reactivity, increasing distress tolerance</a:t>
            </a:r>
          </a:p>
          <a:p>
            <a:pPr>
              <a:spcBef>
                <a:spcPts val="600"/>
              </a:spcBef>
              <a:defRPr sz="1300">
                <a:solidFill>
                  <a:srgbClr val="2D2D44"/>
                </a:solidFill>
              </a:defRPr>
            </a:pPr>
            <a:r>
              <a:t>MBRP targets the 'craving to use' automaticity by cultivating awareness of triggers</a:t>
            </a:r>
          </a:p>
          <a:p>
            <a:pPr>
              <a:spcBef>
                <a:spcPts val="600"/>
              </a:spcBef>
              <a:defRPr sz="1300">
                <a:solidFill>
                  <a:srgbClr val="2D2D44"/>
                </a:solidFill>
              </a:defRPr>
            </a:pPr>
            <a:r>
              <a:t>Brief adaptations (6-8 sessions) show promise for resource-limited settings</a:t>
            </a:r>
          </a:p>
          <a:p>
            <a:pPr>
              <a:spcBef>
                <a:spcPts val="600"/>
              </a:spcBef>
              <a:defRPr sz="1300">
                <a:solidFill>
                  <a:srgbClr val="2D2D44"/>
                </a:solidFill>
              </a:defRPr>
            </a:pPr>
            <a:r>
              <a:t>Growing global evidence supports MBRP; however, Indian validation remains scarce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Variable 1: Craving</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DEFINITION: Intense subjective urge to use a substance triggered by internal/external cues; a motivational state arising from incentive-sensitization (Robinson &amp; Berridge, 1993) and conditioned reinforcement</a:t>
            </a:r>
          </a:p>
          <a:p>
            <a:pPr>
              <a:spcBef>
                <a:spcPts val="600"/>
              </a:spcBef>
              <a:defRPr sz="1300">
                <a:solidFill>
                  <a:srgbClr val="2D2D44"/>
                </a:solidFill>
              </a:defRPr>
            </a:pPr>
            <a:r>
              <a:t>RELEVANCE: Primary predictor of relapse in opioid dependence; mediates relationship between cue exposure and use behavior; intensity correlates with severity and treatment dropout</a:t>
            </a:r>
          </a:p>
          <a:p>
            <a:pPr>
              <a:spcBef>
                <a:spcPts val="600"/>
              </a:spcBef>
              <a:defRPr sz="1300">
                <a:solidFill>
                  <a:srgbClr val="2D2D44"/>
                </a:solidFill>
              </a:defRPr>
            </a:pPr>
            <a:r>
              <a:t>NEUROPSYCHOLOGICAL BASIS: Mesolimbic dopamine pathway activation (VTA -&gt; Nucleus Accumbens); PFC hypoactivation during craving episodes; conditioned cue-reward associations; dysregulated stress-reward interaction</a:t>
            </a:r>
          </a:p>
          <a:p>
            <a:pPr>
              <a:spcBef>
                <a:spcPts val="600"/>
              </a:spcBef>
              <a:defRPr sz="1300">
                <a:solidFill>
                  <a:srgbClr val="2D2D44"/>
                </a:solidFill>
              </a:defRPr>
            </a:pPr>
            <a:r>
              <a:t>TECHNIQUE - Urge Surfing: Observing craving as a transient wave without acting on it</a:t>
            </a:r>
          </a:p>
          <a:p>
            <a:pPr>
              <a:spcBef>
                <a:spcPts val="600"/>
              </a:spcBef>
              <a:defRPr sz="1300">
                <a:solidFill>
                  <a:srgbClr val="2D2D44"/>
                </a:solidFill>
              </a:defRPr>
            </a:pPr>
            <a:r>
              <a:t>TECHNIQUE - Mindfulness Exposure: Non-reactive awareness of craving sensations</a:t>
            </a:r>
          </a:p>
          <a:p>
            <a:pPr>
              <a:spcBef>
                <a:spcPts val="600"/>
              </a:spcBef>
              <a:defRPr sz="1300">
                <a:solidFill>
                  <a:srgbClr val="2D2D44"/>
                </a:solidFill>
              </a:defRPr>
            </a:pPr>
            <a:r>
              <a:t>TECHNIQUE - SOBER Breathing Space: Pause-observe-redirect during craving triggers</a:t>
            </a:r>
          </a:p>
          <a:p>
            <a:pPr>
              <a:spcBef>
                <a:spcPts val="600"/>
              </a:spcBef>
              <a:defRPr sz="1300">
                <a:solidFill>
                  <a:srgbClr val="2D2D44"/>
                </a:solidFill>
              </a:defRPr>
            </a:pPr>
            <a:r>
              <a:t>TECHNIQUE - Cognitive Decentering: 'I am having a craving' vs. 'I need the drug'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Variable 2: Impulsivity</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DEFINITION: Tendency toward rapid, unplanned actions without adequate consideration of consequences (Moeller et al., 2001); multi-dimensional: motor, attentional, non-planning impulsivity (Patton et al., 1995)</a:t>
            </a:r>
          </a:p>
          <a:p>
            <a:pPr>
              <a:spcBef>
                <a:spcPts val="600"/>
              </a:spcBef>
              <a:defRPr sz="1300">
                <a:solidFill>
                  <a:srgbClr val="2D2D44"/>
                </a:solidFill>
              </a:defRPr>
            </a:pPr>
            <a:r>
              <a:t>RELEVANCE: Higher trait impulsivity predicts initiation, escalation, and relapse; mediates craving-to-use behavior; associated with treatment non-adherence and premature dropout</a:t>
            </a:r>
          </a:p>
          <a:p>
            <a:pPr>
              <a:spcBef>
                <a:spcPts val="600"/>
              </a:spcBef>
              <a:defRPr sz="1300">
                <a:solidFill>
                  <a:srgbClr val="2D2D44"/>
                </a:solidFill>
              </a:defRPr>
            </a:pPr>
            <a:r>
              <a:t>NEUROPSYCHOLOGICAL BASIS: Prefrontal cortex dysfunction -&gt; impaired executive control; reduced inhibitory control (Go/No-Go); impaired delay discounting; dorsolateral PFC hypoactivation</a:t>
            </a:r>
          </a:p>
          <a:p>
            <a:pPr>
              <a:spcBef>
                <a:spcPts val="600"/>
              </a:spcBef>
              <a:defRPr sz="1300">
                <a:solidFill>
                  <a:srgbClr val="2D2D44"/>
                </a:solidFill>
              </a:defRPr>
            </a:pPr>
            <a:r>
              <a:t>TECHNIQUE - Response Inhibition Training: Mindful pause before automatic behavioral responses</a:t>
            </a:r>
          </a:p>
          <a:p>
            <a:pPr>
              <a:spcBef>
                <a:spcPts val="600"/>
              </a:spcBef>
              <a:defRPr sz="1300">
                <a:solidFill>
                  <a:srgbClr val="2D2D44"/>
                </a:solidFill>
              </a:defRPr>
            </a:pPr>
            <a:r>
              <a:t>TECHNIQUE - Awareness Training: Noticing impulse-action sequences without engagement</a:t>
            </a:r>
          </a:p>
          <a:p>
            <a:pPr>
              <a:spcBef>
                <a:spcPts val="600"/>
              </a:spcBef>
              <a:defRPr sz="1300">
                <a:solidFill>
                  <a:srgbClr val="2D2D44"/>
                </a:solidFill>
              </a:defRPr>
            </a:pPr>
            <a:r>
              <a:t>TECHNIQUE - Mindful Decision-Making: Creating space between stimulus and response</a:t>
            </a:r>
          </a:p>
          <a:p>
            <a:pPr>
              <a:spcBef>
                <a:spcPts val="600"/>
              </a:spcBef>
              <a:defRPr sz="1300">
                <a:solidFill>
                  <a:srgbClr val="2D2D44"/>
                </a:solidFill>
              </a:defRPr>
            </a:pPr>
            <a:r>
              <a:t>TECHNIQUE - STOP Technique: Stop-Take a breath-Observe-Proceed mindfully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Variable 3: Mindfulness</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DEFINITION: Capacity to attend to present-moment experience with openness, curiosity, non-judgment; 5 facets: Observing, Describing, Acting with Awareness, Non-Judging, Non-Reactivity (Baer et al., 2006)</a:t>
            </a:r>
          </a:p>
          <a:p>
            <a:pPr>
              <a:spcBef>
                <a:spcPts val="600"/>
              </a:spcBef>
              <a:defRPr sz="1300">
                <a:solidFill>
                  <a:srgbClr val="2D2D44"/>
                </a:solidFill>
              </a:defRPr>
            </a:pPr>
            <a:r>
              <a:t>RELEVANCE: Substance-dependent individuals show significantly lower dispositional mindfulness; acts as protective factor against relapse; improvements mediate treatment outcomes in MBRP studies</a:t>
            </a:r>
          </a:p>
          <a:p>
            <a:pPr>
              <a:spcBef>
                <a:spcPts val="600"/>
              </a:spcBef>
              <a:defRPr sz="1300">
                <a:solidFill>
                  <a:srgbClr val="2D2D44"/>
                </a:solidFill>
              </a:defRPr>
            </a:pPr>
            <a:r>
              <a:t>NEUROPSYCHOLOGICAL BASIS: ACC activation -&gt; enhanced self-regulation; Insula -&gt; interoceptive awareness; PFC-amygdala connectivity -&gt; emotional regulation; DMN regulation -&gt; reduced rumination</a:t>
            </a:r>
          </a:p>
          <a:p>
            <a:pPr>
              <a:spcBef>
                <a:spcPts val="600"/>
              </a:spcBef>
              <a:defRPr sz="1300">
                <a:solidFill>
                  <a:srgbClr val="2D2D44"/>
                </a:solidFill>
              </a:defRPr>
            </a:pPr>
            <a:r>
              <a:t>TECHNIQUE - Sitting Meditation: Focused attention on breath, body sensations, thoughts</a:t>
            </a:r>
          </a:p>
          <a:p>
            <a:pPr>
              <a:spcBef>
                <a:spcPts val="600"/>
              </a:spcBef>
              <a:defRPr sz="1300">
                <a:solidFill>
                  <a:srgbClr val="2D2D44"/>
                </a:solidFill>
              </a:defRPr>
            </a:pPr>
            <a:r>
              <a:t>TECHNIQUE - Body Scan: Systematic non-judgmental awareness of bodily states</a:t>
            </a:r>
          </a:p>
          <a:p>
            <a:pPr>
              <a:spcBef>
                <a:spcPts val="600"/>
              </a:spcBef>
              <a:defRPr sz="1300">
                <a:solidFill>
                  <a:srgbClr val="2D2D44"/>
                </a:solidFill>
              </a:defRPr>
            </a:pPr>
            <a:r>
              <a:t>TECHNIQUE - Mindful Movement: Gentle yoga/walking with present-moment focus</a:t>
            </a:r>
          </a:p>
          <a:p>
            <a:pPr>
              <a:spcBef>
                <a:spcPts val="600"/>
              </a:spcBef>
              <a:defRPr sz="1300">
                <a:solidFill>
                  <a:srgbClr val="2D2D44"/>
                </a:solidFill>
              </a:defRPr>
            </a:pPr>
            <a:r>
              <a:t>TECHNIQUE - Non-Judgmental Awareness: Labeling experiences without evaluation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000" b="1">
                <a:solidFill>
                  <a:srgbClr val="FFFFFF"/>
                </a:solidFill>
              </a:defRPr>
            </a:pPr>
            <a:r>
              <a:t>Review of Literature (1/5) - MBRP &amp; Relapse Prevention</a:t>
            </a:r>
          </a:p>
        </p:txBody>
      </p:sp>
      <p:sp>
        <p:nvSpPr>
          <p:cNvPr id="4" name="TextBox 3"/>
          <p:cNvSpPr txBox="1"/>
          <p:nvPr/>
        </p:nvSpPr>
        <p:spPr>
          <a:xfrm>
            <a:off x="548640" y="1143000"/>
            <a:ext cx="11064240" cy="5486400"/>
          </a:xfrm>
          <a:prstGeom prst="rect">
            <a:avLst/>
          </a:prstGeom>
          <a:noFill/>
        </p:spPr>
        <p:txBody>
          <a:bodyPr wrap="square">
            <a:spAutoFit/>
          </a:bodyPr>
          <a:lstStyle/>
          <a:p>
            <a:pPr>
              <a:spcBef>
                <a:spcPts val="1200"/>
              </a:spcBef>
              <a:spcAft>
                <a:spcPts val="600"/>
              </a:spcAft>
              <a:defRPr sz="1200">
                <a:solidFill>
                  <a:srgbClr val="2D2D44"/>
                </a:solidFill>
              </a:defRPr>
            </a:pPr>
            <a:r>
              <a:t>Bowen, Witkiewitz, Clifasefi, Grow, Chawla, Hsu, Carroll, Harrop, Collins, Lustyk, and Larimer (2014) investigate the relative efficacy of Mindfulness-Based Relapse Prevention compared to standard Relapse Prevention and Treatment As Usual for substance use disorders in JAMA Psychiatry. The randomized clinical trial involved 286 participants who had completed initial treatment for substance use disorders. The study demonstrates that at 12-month follow-up, MBRP participants reported significantly fewer days of substance use and heavy drinking compared to both standard RP and TAU groups. The researchers highlight that while all three groups showed initial improvements, MBRP participants maintained superior long-term outcomes, suggesting that the cultivation of mindfulness skills provides a durable protective mechanism against relapse. The study establishes that MBRP's integration of present-moment awareness with traditional cognitive-behavioral relapse prevention strategies creates a synergistic therapeutic effect that addresses both the automatic reactivity underlying craving and the cognitive distortions that precipitate relapse. These findings provide foundational evidence for MBRP as a gold-standard psychosocial intervention in substance use disorder aftercare.</a:t>
            </a:r>
          </a:p>
          <a:p>
            <a:pPr>
              <a:spcBef>
                <a:spcPts val="1200"/>
              </a:spcBef>
              <a:spcAft>
                <a:spcPts val="600"/>
              </a:spcAft>
              <a:defRPr sz="1200">
                <a:solidFill>
                  <a:srgbClr val="2D2D44"/>
                </a:solidFill>
              </a:defRPr>
            </a:pPr>
          </a:p>
          <a:p>
            <a:pPr>
              <a:spcBef>
                <a:spcPts val="1200"/>
              </a:spcBef>
              <a:spcAft>
                <a:spcPts val="600"/>
              </a:spcAft>
              <a:defRPr sz="1200">
                <a:solidFill>
                  <a:srgbClr val="2D2D44"/>
                </a:solidFill>
              </a:defRPr>
            </a:pPr>
            <a:r>
              <a:t>Bowen and Marlatt (2009) examine the effects of brief mindfulness-based intervention on craving among substance users in Psychology of Addictive Behaviors. The study recruited incarcerated individuals with substance use histories and administered a brief urge surfing meditation intervention. Results demonstrated significant reductions in craving intensity and frequency in the mindfulness condition compared to controls. The authors propose that even brief exposure to mindfulness techniques can disrupt the automaticity of craving responses by introducing a meta-cognitive awareness layer between trigger and behavioral response. This study is particularly relevant to the present research as it validates the premise that abbreviated mindfulness interventions can produce meaningful clinical effects on craving, supporting the feasibility of brief MBRP protocols in settings where extended treatment programs are impractical.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000" b="1">
                <a:solidFill>
                  <a:srgbClr val="FFFFFF"/>
                </a:solidFill>
              </a:defRPr>
            </a:pPr>
            <a:r>
              <a:t>Review of Literature (2/5) - Craving &amp; Mindfulness Mechanisms</a:t>
            </a:r>
          </a:p>
        </p:txBody>
      </p:sp>
      <p:sp>
        <p:nvSpPr>
          <p:cNvPr id="4" name="TextBox 3"/>
          <p:cNvSpPr txBox="1"/>
          <p:nvPr/>
        </p:nvSpPr>
        <p:spPr>
          <a:xfrm>
            <a:off x="548640" y="1143000"/>
            <a:ext cx="11064240" cy="5486400"/>
          </a:xfrm>
          <a:prstGeom prst="rect">
            <a:avLst/>
          </a:prstGeom>
          <a:noFill/>
        </p:spPr>
        <p:txBody>
          <a:bodyPr wrap="square">
            <a:spAutoFit/>
          </a:bodyPr>
          <a:lstStyle/>
          <a:p>
            <a:pPr>
              <a:spcBef>
                <a:spcPts val="1200"/>
              </a:spcBef>
              <a:spcAft>
                <a:spcPts val="600"/>
              </a:spcAft>
              <a:defRPr sz="1200">
                <a:solidFill>
                  <a:srgbClr val="2D2D44"/>
                </a:solidFill>
              </a:defRPr>
            </a:pPr>
            <a:r>
              <a:t>Garland, Froeliger, and Howard (2014) explore how mindfulness training targets neurocognitive mechanisms of addiction at the attention-appraisal-emotion interface in Frontiers in Psychiatry. The study presents a theoretical and empirical framework demonstrating that Mindfulness-Oriented Recovery Enhancement (MORE) reduces opioid craving through three interconnected mechanisms: attentional reorientation away from drug-related cues, positive reappraisal of previously neutral stimuli to generate natural reward, and enhanced savoring of healthy pleasures. The researchers provide neuroimaging evidence showing that mindfulness practice modulates activity in prefrontal and limbic circuits associated with craving and emotional regulation. The study is significant because it elucidates the precise cognitive-neural pathways through which mindfulness reduces craving in opioid users specifically, providing a mechanistic rationale for why MBRP techniques such as urge surfing and mindful awareness of craving sensations can reduce the subjective intensity and behavioral impact of craving episodes in substance-dependent patients.</a:t>
            </a:r>
          </a:p>
          <a:p>
            <a:pPr>
              <a:spcBef>
                <a:spcPts val="1200"/>
              </a:spcBef>
              <a:spcAft>
                <a:spcPts val="600"/>
              </a:spcAft>
              <a:defRPr sz="1200">
                <a:solidFill>
                  <a:srgbClr val="2D2D44"/>
                </a:solidFill>
              </a:defRPr>
            </a:pPr>
          </a:p>
          <a:p>
            <a:pPr>
              <a:spcBef>
                <a:spcPts val="1200"/>
              </a:spcBef>
              <a:spcAft>
                <a:spcPts val="600"/>
              </a:spcAft>
              <a:defRPr sz="1200">
                <a:solidFill>
                  <a:srgbClr val="2D2D44"/>
                </a:solidFill>
              </a:defRPr>
            </a:pPr>
            <a:r>
              <a:t>Witkiewitz, Bowen, Douglas, and Hsu (2013) investigate mindfulness-based relapse prevention effects on substance craving in Addictive Behaviors. The study conducted secondary analyses of data from a randomized controlled trial comparing MBRP to TAU among individuals in aftercare following substance use disorder treatment. Over a 4-month follow-up period, MBRP participants demonstrated significantly lower craving levels compared to TAU participants, and importantly, the relationship between negative affect and subsequent craving was significantly attenuated in the MBRP group. The authors conclude that mindfulness practice weakens the affect-craving pathway by cultivating non-reactive awareness of emotional states, thereby preventing negative emotions from automatically triggering craving responses. This decoupling of affect and craving represents a critical therapeutic mechanism that distinguishes MBRP from traditional relapse prevention approaches that primarily rely on cognitive restructuring and behavioral avoidance strategies.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000" b="1">
                <a:solidFill>
                  <a:srgbClr val="FFFFFF"/>
                </a:solidFill>
              </a:defRPr>
            </a:pPr>
            <a:r>
              <a:t>Review of Literature (3/5) - Impulsivity &amp; Mindfulness</a:t>
            </a:r>
          </a:p>
        </p:txBody>
      </p:sp>
      <p:sp>
        <p:nvSpPr>
          <p:cNvPr id="4" name="TextBox 3"/>
          <p:cNvSpPr txBox="1"/>
          <p:nvPr/>
        </p:nvSpPr>
        <p:spPr>
          <a:xfrm>
            <a:off x="548640" y="1143000"/>
            <a:ext cx="11064240" cy="5486400"/>
          </a:xfrm>
          <a:prstGeom prst="rect">
            <a:avLst/>
          </a:prstGeom>
          <a:noFill/>
        </p:spPr>
        <p:txBody>
          <a:bodyPr wrap="square">
            <a:spAutoFit/>
          </a:bodyPr>
          <a:lstStyle/>
          <a:p>
            <a:pPr>
              <a:spcBef>
                <a:spcPts val="1200"/>
              </a:spcBef>
              <a:spcAft>
                <a:spcPts val="600"/>
              </a:spcAft>
              <a:defRPr sz="1200">
                <a:solidFill>
                  <a:srgbClr val="2D2D44"/>
                </a:solidFill>
              </a:defRPr>
            </a:pPr>
            <a:r>
              <a:t>Garland, Roberts-Lewis, Tronnier, Graves, and Kelley (2016) examine the efficacy of Mindfulness-Oriented Recovery Enhancement versus CBT for co-occurring substance dependence, traumatic stress, and psychiatric disorders in the Journal of Consulting and Clinical Psychology. The study employed a randomized controlled design with substance-dependent adults exhibiting elevated impulsivity. Results demonstrated that the mindfulness-based intervention produced significant reductions in impulsivity scores as measured by the Barratt Impulsiveness Scale (BIS-11), particularly in the motor and attentional impulsivity subscales. The authors theorize that mindfulness meditation strengthens prefrontal cortical inhibitory mechanisms by repeatedly engaging participants in exercises requiring sustained attention, response monitoring, and deliberate non-reactivity. This enhanced top-down cognitive control translates into improved ability to inhibit prepotent impulsive responses in daily life, particularly in high-risk situations where automatic substance-seeking behavior would otherwise occur. The clinical implication is that MBRP can address impulsivity as a transdiagnostic risk factor for relapse, not merely as a stable trait but as a modifiable behavioral pattern amenable to mindfulness-based intervention.</a:t>
            </a:r>
          </a:p>
          <a:p>
            <a:pPr>
              <a:spcBef>
                <a:spcPts val="1200"/>
              </a:spcBef>
              <a:spcAft>
                <a:spcPts val="600"/>
              </a:spcAft>
              <a:defRPr sz="1200">
                <a:solidFill>
                  <a:srgbClr val="2D2D44"/>
                </a:solidFill>
              </a:defRPr>
            </a:pPr>
          </a:p>
          <a:p>
            <a:pPr>
              <a:spcBef>
                <a:spcPts val="1200"/>
              </a:spcBef>
              <a:spcAft>
                <a:spcPts val="600"/>
              </a:spcAft>
              <a:defRPr sz="1200">
                <a:solidFill>
                  <a:srgbClr val="2D2D44"/>
                </a:solidFill>
              </a:defRPr>
            </a:pPr>
            <a:r>
              <a:t>Murphy and MacKillop (2012) explore the interrelationships between impulsivity, mindfulness, and alcohol misuse in Psychopharmacology. The study investigates whether dispositional mindfulness buffers against the effects of trait impulsivity on problematic substance use. Using a cross-sectional design with 340 participants, the researchers found that trait mindfulness was inversely associated with impulsive decision-making as measured by delay discounting tasks. Critically, mindfulness moderated the relationship between impulsivity and substance use problems, such that individuals with higher mindfulness showed weaker associations between impulsivity and alcohol-related consequences. The authors propose that mindfulness functions as a cognitive resource that enables impulsive individuals to override automatic behavioral tendencies through enhanced metacognitive awareness and response flexibility. These findings support the inclusion of impulsivity as a dependent variable in MBRP research and suggest that mindfulness enhancement may serve as a mechanism through which impulsive responding is attenuated in substance-dependent populations.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000" b="1">
                <a:solidFill>
                  <a:srgbClr val="FFFFFF"/>
                </a:solidFill>
              </a:defRPr>
            </a:pPr>
            <a:r>
              <a:t>Review of Literature (4/5) - Meta-Analyses &amp; Brief Models</a:t>
            </a:r>
          </a:p>
        </p:txBody>
      </p:sp>
      <p:sp>
        <p:nvSpPr>
          <p:cNvPr id="4" name="TextBox 3"/>
          <p:cNvSpPr txBox="1"/>
          <p:nvPr/>
        </p:nvSpPr>
        <p:spPr>
          <a:xfrm>
            <a:off x="548640" y="1143000"/>
            <a:ext cx="11064240" cy="5486400"/>
          </a:xfrm>
          <a:prstGeom prst="rect">
            <a:avLst/>
          </a:prstGeom>
          <a:noFill/>
        </p:spPr>
        <p:txBody>
          <a:bodyPr wrap="square">
            <a:spAutoFit/>
          </a:bodyPr>
          <a:lstStyle/>
          <a:p>
            <a:pPr>
              <a:spcBef>
                <a:spcPts val="1200"/>
              </a:spcBef>
              <a:spcAft>
                <a:spcPts val="600"/>
              </a:spcAft>
              <a:defRPr sz="1200">
                <a:solidFill>
                  <a:srgbClr val="2D2D44"/>
                </a:solidFill>
              </a:defRPr>
            </a:pPr>
            <a:r>
              <a:t>Li, Howard, Garland, McGovern, and Lazar (2017) conduct a systematic review and meta-analysis of mindfulness treatment for substance misuse in the Journal of Substance Abuse Treatment, encompassing 42 randomized controlled trials. The meta-analytic findings reveal that mindfulness-based interventions produce significant effect sizes for reducing substance misuse (d = 0.33), craving (d = 0.68), and stress (d = 0.44) across diverse substance use populations and treatment contexts. The authors highlight that effect sizes for craving reduction are particularly robust, supporting the theoretical premise that mindfulness directly targets craving mechanisms through enhanced interoceptive awareness and non-reactive observation of urge states. Furthermore, the review identifies that interventions of shorter duration (4-8 sessions) demonstrated comparable efficacy to longer protocols when appropriately structured, providing empirical justification for brief MBRP adaptations. The review concludes that mindfulness-based interventions represent a viable evidence-based treatment approach with medium-to-large effects on the primary mechanisms of relapse, supporting their integration into standard substance use disorder treatment protocols.</a:t>
            </a:r>
          </a:p>
          <a:p>
            <a:pPr>
              <a:spcBef>
                <a:spcPts val="1200"/>
              </a:spcBef>
              <a:spcAft>
                <a:spcPts val="600"/>
              </a:spcAft>
              <a:defRPr sz="1200">
                <a:solidFill>
                  <a:srgbClr val="2D2D44"/>
                </a:solidFill>
              </a:defRPr>
            </a:pPr>
          </a:p>
          <a:p>
            <a:pPr>
              <a:spcBef>
                <a:spcPts val="1200"/>
              </a:spcBef>
              <a:spcAft>
                <a:spcPts val="600"/>
              </a:spcAft>
              <a:defRPr sz="1200">
                <a:solidFill>
                  <a:srgbClr val="2D2D44"/>
                </a:solidFill>
              </a:defRPr>
            </a:pPr>
            <a:r>
              <a:t>Glasner-Edwards, Mooney, Ang, Garneau, Hartwell, Brecht, and Rawson (2017) examine a pilot randomized clinical trial of mindfulness-based relapse prevention for stimulant-dependent adults using an abbreviated 6-session protocol in the journal Mindfulness. The study demonstrates that a condensed mindfulness intervention is both feasible and effective in outpatient substance use treatment settings. Participants in the brief MBRP condition showed significant reductions in substance use frequency and craving intensity compared to the health education control group. The authors emphasize that the abbreviated format maintained the core therapeutic elements of standard MBRP (body scan, sitting meditation, urge surfing, mindful movement) while condensing psychoeducational components. This study is directly relevant to the present research as it validates the brief intervention model proposed here, demonstrating that 6-8 session MBRP protocols can be successfully implemented without substantial loss of therapeutic efficacy, making them particularly appropriate for Indian rehabilitation settings with 4-8 week typical admission durations.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000" b="1">
                <a:solidFill>
                  <a:srgbClr val="FFFFFF"/>
                </a:solidFill>
              </a:defRPr>
            </a:pPr>
            <a:r>
              <a:t>Review of Literature (5/5) - Indian Context &amp; Research Gap</a:t>
            </a:r>
          </a:p>
        </p:txBody>
      </p:sp>
      <p:sp>
        <p:nvSpPr>
          <p:cNvPr id="4" name="TextBox 3"/>
          <p:cNvSpPr txBox="1"/>
          <p:nvPr/>
        </p:nvSpPr>
        <p:spPr>
          <a:xfrm>
            <a:off x="548640" y="1143000"/>
            <a:ext cx="11064240" cy="5486400"/>
          </a:xfrm>
          <a:prstGeom prst="rect">
            <a:avLst/>
          </a:prstGeom>
          <a:noFill/>
        </p:spPr>
        <p:txBody>
          <a:bodyPr wrap="square">
            <a:spAutoFit/>
          </a:bodyPr>
          <a:lstStyle/>
          <a:p>
            <a:pPr>
              <a:spcBef>
                <a:spcPts val="1200"/>
              </a:spcBef>
              <a:spcAft>
                <a:spcPts val="600"/>
              </a:spcAft>
              <a:defRPr sz="1200">
                <a:solidFill>
                  <a:srgbClr val="2D2D44"/>
                </a:solidFill>
              </a:defRPr>
            </a:pPr>
            <a:r>
              <a:t>Ghosh, Basu, and Avasthi (2018) conduct a comprehensive review of relapse in opioid dependence from an Indian perspective in the Indian Journal of Psychiatry. The study reports alarmingly high relapse rates exceeding 70% among opioid-dependent patients treated in North Indian de-addiction centers, with the majority of relapses occurring within the first three months post-discharge. The authors identify craving, peer influence, negative emotional states, and lack of structured psychological aftercare as primary relapse determinants in the Indian context. Significantly, the review highlights that Indian treatment facilities predominantly rely on pharmacological approaches (opioid substitution therapy, naltrexone maintenance) with minimal integration of evidence-based psychological interventions. The authors advocate strongly for the development and validation of structured psychosocial intervention protocols tailored to Indian treatment infrastructure, patient characteristics, and resource constraints. This study directly establishes the clinical need for the present research by documenting both the high relapse burden and the psychosocial treatment gap in Indian de-addiction settings.</a:t>
            </a:r>
          </a:p>
          <a:p>
            <a:pPr>
              <a:spcBef>
                <a:spcPts val="1200"/>
              </a:spcBef>
              <a:spcAft>
                <a:spcPts val="600"/>
              </a:spcAft>
              <a:defRPr sz="1200">
                <a:solidFill>
                  <a:srgbClr val="2D2D44"/>
                </a:solidFill>
              </a:defRPr>
            </a:pPr>
          </a:p>
          <a:p>
            <a:pPr>
              <a:spcBef>
                <a:spcPts val="1200"/>
              </a:spcBef>
              <a:spcAft>
                <a:spcPts val="600"/>
              </a:spcAft>
              <a:defRPr sz="1200">
                <a:solidFill>
                  <a:srgbClr val="2D2D44"/>
                </a:solidFill>
              </a:defRPr>
            </a:pPr>
            <a:r>
              <a:t>Sarkar and Balhara (2016) examine the underutilization of structured psychological interventions in Indian de-addiction settings. The authors note that despite international evidence supporting the integration of psychosocial treatments alongside pharmacotherapy, Indian rehabilitation centers continue to operate with minimal structured psychological programming. The study identifies barriers including limited trained personnel, absence of culturally validated intervention protocols, short admission durations, and institutional emphasis on pharmacological management. Jain, Majumder, and Gupta (2013) provide preliminary evidence from a mindfulness-based intervention study with alcohol-dependent patients in India, demonstrating initial reductions in craving, but no systematic MBRP trial has been conducted with Indian opioid-dependent populations. CRITICAL GAP: No published Indian RCT has tested Brief MBRP specifically in opioid-dependent populations, simultaneously assessing craving, impulsivity, and mindfulness as treatment outcomes. The present study addresses this gap as the first brief MBRP trial designed for Indian de-addiction center infrastructure.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Research Gap</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No published RCT has tested MBRP (standard or brief) specifically in Indian opioid-dependent populations</a:t>
            </a:r>
          </a:p>
          <a:p>
            <a:pPr>
              <a:spcBef>
                <a:spcPts val="600"/>
              </a:spcBef>
              <a:defRPr sz="1300">
                <a:solidFill>
                  <a:srgbClr val="2D2D44"/>
                </a:solidFill>
              </a:defRPr>
            </a:pPr>
            <a:r>
              <a:t>Most studies examine craving OR mindfulness in isolation; few simultaneously assess craving + impulsivity + mindfulness as treatment outcomes</a:t>
            </a:r>
          </a:p>
          <a:p>
            <a:pPr>
              <a:spcBef>
                <a:spcPts val="600"/>
              </a:spcBef>
              <a:defRPr sz="1300">
                <a:solidFill>
                  <a:srgbClr val="2D2D44"/>
                </a:solidFill>
              </a:defRPr>
            </a:pPr>
            <a:r>
              <a:t>Indian rehab settings require condensed 6-8 session interventions but no brief MBRP model has been empirically validated in this context</a:t>
            </a:r>
          </a:p>
          <a:p>
            <a:pPr>
              <a:spcBef>
                <a:spcPts val="600"/>
              </a:spcBef>
              <a:defRPr sz="1300">
                <a:solidFill>
                  <a:srgbClr val="2D2D44"/>
                </a:solidFill>
              </a:defRPr>
            </a:pPr>
            <a:r>
              <a:t>Indian treatment landscape lacks integration of structured evidence-based psychological interventions alongside pharmacotherapy</a:t>
            </a:r>
          </a:p>
          <a:p>
            <a:pPr>
              <a:spcBef>
                <a:spcPts val="600"/>
              </a:spcBef>
              <a:defRPr sz="1300">
                <a:solidFill>
                  <a:srgbClr val="2D2D44"/>
                </a:solidFill>
              </a:defRPr>
            </a:pPr>
            <a:r>
              <a:t>Global MBRP studies focus on alcohol/polysubstance users; opioid-specific MBRP evidence is limited</a:t>
            </a:r>
          </a:p>
          <a:p>
            <a:pPr>
              <a:spcBef>
                <a:spcPts val="600"/>
              </a:spcBef>
              <a:defRPr sz="1300">
                <a:solidFill>
                  <a:srgbClr val="2D2D44"/>
                </a:solidFill>
              </a:defRPr>
            </a:pPr>
            <a:r>
              <a:t>Mindfulness practices require culturally congruent adaptation for Indian populations</a:t>
            </a:r>
          </a:p>
          <a:p>
            <a:pPr>
              <a:spcBef>
                <a:spcPts val="600"/>
              </a:spcBef>
              <a:defRPr sz="1300">
                <a:solidFill>
                  <a:srgbClr val="2D2D44"/>
                </a:solidFill>
              </a:defRPr>
            </a:pPr>
            <a:r>
              <a:t>PRESENT STUDY: First brief MBRP trial in Indian opioid-dependent sample assessing craving, impulsivity, and mindfulness simultaneously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Aim of the Study</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To evaluate the efficacy of a Brief Mindfulness-Based Relapse Prevention (MBRP) intervention in reducing craving and impulsivity, and enhancing mindfulness, among substance-dependent patients in an Indian de-addiction setting</a:t>
            </a:r>
          </a:p>
          <a:p>
            <a:pPr>
              <a:spcBef>
                <a:spcPts val="600"/>
              </a:spcBef>
              <a:defRPr sz="1300">
                <a:solidFill>
                  <a:srgbClr val="2D2D44"/>
                </a:solidFill>
              </a:defRPr>
            </a:pPr>
          </a:p>
          <a:p>
            <a:pPr>
              <a:spcBef>
                <a:spcPts val="600"/>
              </a:spcBef>
              <a:defRPr sz="1300">
                <a:solidFill>
                  <a:srgbClr val="2D2D44"/>
                </a:solidFill>
              </a:defRPr>
            </a:pPr>
            <a:r>
              <a:t>Specifically: To compare outcomes between Brief MBRP + TAU (Experimental) and Psychoeducation + TAU (Control) on three dependent variables measured pre- and post-intervention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Objectives</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1. To assess and compare craving levels (pre vs. post) in Experimental (Brief MBRP + TAU) and Control (Psychoeducation + TAU) groups</a:t>
            </a:r>
          </a:p>
          <a:p>
            <a:pPr>
              <a:spcBef>
                <a:spcPts val="600"/>
              </a:spcBef>
              <a:defRPr sz="1300">
                <a:solidFill>
                  <a:srgbClr val="2D2D44"/>
                </a:solidFill>
              </a:defRPr>
            </a:pPr>
            <a:r>
              <a:t>2. To assess and compare impulsivity levels (pre vs. post) in both groups</a:t>
            </a:r>
          </a:p>
          <a:p>
            <a:pPr>
              <a:spcBef>
                <a:spcPts val="600"/>
              </a:spcBef>
              <a:defRPr sz="1300">
                <a:solidFill>
                  <a:srgbClr val="2D2D44"/>
                </a:solidFill>
              </a:defRPr>
            </a:pPr>
            <a:r>
              <a:t>3. To assess and compare mindfulness levels (pre vs. post) in both groups</a:t>
            </a:r>
          </a:p>
          <a:p>
            <a:pPr>
              <a:spcBef>
                <a:spcPts val="600"/>
              </a:spcBef>
              <a:defRPr sz="1300">
                <a:solidFill>
                  <a:srgbClr val="2D2D44"/>
                </a:solidFill>
              </a:defRPr>
            </a:pPr>
            <a:r>
              <a:t>4. To determine whether Brief MBRP + TAU is significantly more effective than Psychoeducation + TAU in reducing craving</a:t>
            </a:r>
          </a:p>
          <a:p>
            <a:pPr>
              <a:spcBef>
                <a:spcPts val="600"/>
              </a:spcBef>
              <a:defRPr sz="1300">
                <a:solidFill>
                  <a:srgbClr val="2D2D44"/>
                </a:solidFill>
              </a:defRPr>
            </a:pPr>
            <a:r>
              <a:t>5. To determine whether Brief MBRP + TAU is significantly more effective than Psychoeducation + TAU in reducing impulsivity</a:t>
            </a:r>
          </a:p>
          <a:p>
            <a:pPr>
              <a:spcBef>
                <a:spcPts val="600"/>
              </a:spcBef>
              <a:defRPr sz="1300">
                <a:solidFill>
                  <a:srgbClr val="2D2D44"/>
                </a:solidFill>
              </a:defRPr>
            </a:pPr>
            <a:r>
              <a:t>6. To determine whether Brief MBRP + TAU is significantly more effective than Psychoeducation + TAU in enhancing mindfulness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Hypotheses (Directional)</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H1: Participants receiving Brief MBRP + TAU will show significantly GREATER REDUCTION in craving scores (HCQ) compared to Psychoeducation + TAU, from pre-test to post-test</a:t>
            </a:r>
          </a:p>
          <a:p>
            <a:pPr>
              <a:spcBef>
                <a:spcPts val="600"/>
              </a:spcBef>
              <a:defRPr sz="1300">
                <a:solidFill>
                  <a:srgbClr val="2D2D44"/>
                </a:solidFill>
              </a:defRPr>
            </a:pPr>
          </a:p>
          <a:p>
            <a:pPr>
              <a:spcBef>
                <a:spcPts val="600"/>
              </a:spcBef>
              <a:defRPr sz="1300">
                <a:solidFill>
                  <a:srgbClr val="2D2D44"/>
                </a:solidFill>
              </a:defRPr>
            </a:pPr>
            <a:r>
              <a:t>H2: Participants receiving Brief MBRP + TAU will show significantly GREATER REDUCTION in impulsivity scores (BIS-11) compared to Psychoeducation + TAU, from pre-test to post-test</a:t>
            </a:r>
          </a:p>
          <a:p>
            <a:pPr>
              <a:spcBef>
                <a:spcPts val="600"/>
              </a:spcBef>
              <a:defRPr sz="1300">
                <a:solidFill>
                  <a:srgbClr val="2D2D44"/>
                </a:solidFill>
              </a:defRPr>
            </a:pPr>
          </a:p>
          <a:p>
            <a:pPr>
              <a:spcBef>
                <a:spcPts val="600"/>
              </a:spcBef>
              <a:defRPr sz="1300">
                <a:solidFill>
                  <a:srgbClr val="2D2D44"/>
                </a:solidFill>
              </a:defRPr>
            </a:pPr>
            <a:r>
              <a:t>H3: Participants receiving Brief MBRP + TAU will show significantly GREATER INCREASE in mindfulness scores (FFMQ) compared to Psychoeducation + TAU, from pre-test to post-test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Research Design</a:t>
            </a:r>
          </a:p>
        </p:txBody>
      </p:sp>
      <p:sp>
        <p:nvSpPr>
          <p:cNvPr id="4" name="TextBox 3"/>
          <p:cNvSpPr txBox="1"/>
          <p:nvPr/>
        </p:nvSpPr>
        <p:spPr>
          <a:xfrm>
            <a:off x="640080" y="1097280"/>
            <a:ext cx="10881360" cy="457200"/>
          </a:xfrm>
          <a:prstGeom prst="rect">
            <a:avLst/>
          </a:prstGeom>
          <a:noFill/>
        </p:spPr>
        <p:txBody>
          <a:bodyPr wrap="none">
            <a:spAutoFit/>
          </a:bodyPr>
          <a:lstStyle/>
          <a:p>
            <a:pPr>
              <a:defRPr sz="1400" b="1">
                <a:solidFill>
                  <a:srgbClr val="2C5F8A"/>
                </a:solidFill>
              </a:defRPr>
            </a:pPr>
            <a:r>
              <a:t>Pre-test Post-test Control Group Design</a:t>
            </a:r>
          </a:p>
        </p:txBody>
      </p:sp>
      <p:sp>
        <p:nvSpPr>
          <p:cNvPr id="5" name="TextBox 4"/>
          <p:cNvSpPr txBox="1"/>
          <p:nvPr/>
        </p:nvSpPr>
        <p:spPr>
          <a:xfrm>
            <a:off x="640080" y="1554480"/>
            <a:ext cx="10881360" cy="5029200"/>
          </a:xfrm>
          <a:prstGeom prst="rect">
            <a:avLst/>
          </a:prstGeom>
          <a:noFill/>
        </p:spPr>
        <p:txBody>
          <a:bodyPr wrap="square">
            <a:spAutoFit/>
          </a:bodyPr>
          <a:lstStyle/>
          <a:p>
            <a:pPr>
              <a:spcBef>
                <a:spcPts val="600"/>
              </a:spcBef>
              <a:defRPr sz="1300">
                <a:solidFill>
                  <a:srgbClr val="2D2D44"/>
                </a:solidFill>
              </a:defRPr>
            </a:pPr>
            <a:r>
              <a:t>Design: Pre-test Post-test Control Group Experimental Design</a:t>
            </a:r>
          </a:p>
          <a:p>
            <a:pPr>
              <a:spcBef>
                <a:spcPts val="600"/>
              </a:spcBef>
              <a:defRPr sz="1300">
                <a:solidFill>
                  <a:srgbClr val="2D2D44"/>
                </a:solidFill>
              </a:defRPr>
            </a:pPr>
          </a:p>
          <a:p>
            <a:pPr>
              <a:spcBef>
                <a:spcPts val="600"/>
              </a:spcBef>
              <a:defRPr sz="1300">
                <a:solidFill>
                  <a:srgbClr val="2D2D44"/>
                </a:solidFill>
              </a:defRPr>
            </a:pPr>
            <a:r>
              <a:t>R   O1   X1   O2   --&gt;  Experimental Group (Brief MBRP + TAU)</a:t>
            </a:r>
          </a:p>
          <a:p>
            <a:pPr>
              <a:spcBef>
                <a:spcPts val="600"/>
              </a:spcBef>
              <a:defRPr sz="1300">
                <a:solidFill>
                  <a:srgbClr val="2D2D44"/>
                </a:solidFill>
              </a:defRPr>
            </a:pPr>
            <a:r>
              <a:t>R   O1   X2   O2   --&gt;  Control Group (Psychoeducation + TAU)</a:t>
            </a:r>
          </a:p>
          <a:p>
            <a:pPr>
              <a:spcBef>
                <a:spcPts val="600"/>
              </a:spcBef>
              <a:defRPr sz="1300">
                <a:solidFill>
                  <a:srgbClr val="2D2D44"/>
                </a:solidFill>
              </a:defRPr>
            </a:pPr>
          </a:p>
          <a:p>
            <a:pPr>
              <a:spcBef>
                <a:spcPts val="600"/>
              </a:spcBef>
              <a:defRPr sz="1300">
                <a:solidFill>
                  <a:srgbClr val="2D2D44"/>
                </a:solidFill>
              </a:defRPr>
            </a:pPr>
            <a:r>
              <a:t>R = Random assignment | O1 = Pre-test (FFMQ, BIS-11, HCQ, ASSIST)</a:t>
            </a:r>
          </a:p>
          <a:p>
            <a:pPr>
              <a:spcBef>
                <a:spcPts val="600"/>
              </a:spcBef>
              <a:defRPr sz="1300">
                <a:solidFill>
                  <a:srgbClr val="2D2D44"/>
                </a:solidFill>
              </a:defRPr>
            </a:pPr>
            <a:r>
              <a:t>X1 = Brief MBRP (8 sessions) | X2 = Psychoeducation (8 sessions)</a:t>
            </a:r>
          </a:p>
          <a:p>
            <a:pPr>
              <a:spcBef>
                <a:spcPts val="600"/>
              </a:spcBef>
              <a:defRPr sz="1300">
                <a:solidFill>
                  <a:srgbClr val="2D2D44"/>
                </a:solidFill>
              </a:defRPr>
            </a:pPr>
            <a:r>
              <a:t>O2 = Post-test (FFMQ, BIS-11, HCQ)</a:t>
            </a:r>
          </a:p>
          <a:p>
            <a:pPr>
              <a:spcBef>
                <a:spcPts val="600"/>
              </a:spcBef>
              <a:defRPr sz="1300">
                <a:solidFill>
                  <a:srgbClr val="2D2D44"/>
                </a:solidFill>
              </a:defRPr>
            </a:pPr>
          </a:p>
          <a:p>
            <a:pPr>
              <a:spcBef>
                <a:spcPts val="600"/>
              </a:spcBef>
              <a:defRPr sz="1300">
                <a:solidFill>
                  <a:srgbClr val="2D2D44"/>
                </a:solidFill>
              </a:defRPr>
            </a:pPr>
            <a:r>
              <a:t>Features: True experimental design with randomization; Active control for attention effects; TAU maintained in both groups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Sample</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Population: Substance-dependent patients (primarily opioid users) admitted to de-addiction centers</a:t>
            </a:r>
          </a:p>
          <a:p>
            <a:pPr>
              <a:spcBef>
                <a:spcPts val="600"/>
              </a:spcBef>
              <a:defRPr sz="1300">
                <a:solidFill>
                  <a:srgbClr val="2D2D44"/>
                </a:solidFill>
              </a:defRPr>
            </a:pPr>
            <a:r>
              <a:t>Sampling Method: Purposive sampling followed by random allocation to groups</a:t>
            </a:r>
          </a:p>
          <a:p>
            <a:pPr>
              <a:spcBef>
                <a:spcPts val="600"/>
              </a:spcBef>
              <a:defRPr sz="1300">
                <a:solidFill>
                  <a:srgbClr val="2D2D44"/>
                </a:solidFill>
              </a:defRPr>
            </a:pPr>
            <a:r>
              <a:t>Sample Size: N = 60 (30 per group)</a:t>
            </a:r>
          </a:p>
          <a:p>
            <a:pPr>
              <a:spcBef>
                <a:spcPts val="600"/>
              </a:spcBef>
              <a:defRPr sz="1300">
                <a:solidFill>
                  <a:srgbClr val="2D2D44"/>
                </a:solidFill>
              </a:defRPr>
            </a:pPr>
            <a:r>
              <a:t>Setting: Government/private de-addiction centers in India</a:t>
            </a:r>
          </a:p>
          <a:p>
            <a:pPr>
              <a:spcBef>
                <a:spcPts val="600"/>
              </a:spcBef>
              <a:defRPr sz="1300">
                <a:solidFill>
                  <a:srgbClr val="2D2D44"/>
                </a:solidFill>
              </a:defRPr>
            </a:pPr>
            <a:r>
              <a:t>Recruitment: Consecutive admissions meeting inclusion criteria over 6-8 months</a:t>
            </a:r>
          </a:p>
          <a:p>
            <a:pPr>
              <a:spcBef>
                <a:spcPts val="600"/>
              </a:spcBef>
              <a:defRPr sz="1300">
                <a:solidFill>
                  <a:srgbClr val="2D2D44"/>
                </a:solidFill>
              </a:defRPr>
            </a:pPr>
            <a:r>
              <a:t>Attrition Consideration: Recruit N = 70 (35 per group) to account for ~15% dropout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Sample Size Estimation</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Formula: n = [(Za/2 + Zb)^2 x 2 x sigma^2] / d^2</a:t>
            </a:r>
          </a:p>
          <a:p>
            <a:pPr>
              <a:spcBef>
                <a:spcPts val="600"/>
              </a:spcBef>
              <a:defRPr sz="1300">
                <a:solidFill>
                  <a:srgbClr val="2D2D44"/>
                </a:solidFill>
              </a:defRPr>
            </a:pPr>
            <a:r>
              <a:t>Parameters: Effect size (d) = 0.50 (medium; Li et al., 2017: d = 0.33-0.68) | Power = 0.80 -&gt; Zb = 0.84 | Alpha = 0.05 -&gt; Za/2 = 1.96</a:t>
            </a:r>
          </a:p>
          <a:p>
            <a:pPr>
              <a:spcBef>
                <a:spcPts val="600"/>
              </a:spcBef>
              <a:defRPr sz="1300">
                <a:solidFill>
                  <a:srgbClr val="2D2D44"/>
                </a:solidFill>
              </a:defRPr>
            </a:pPr>
            <a:r>
              <a:t>Calculation: n = [(1.96 + 0.84)^2 x 2 x 1] / (0.50)^2 = [7.84 x 2] / 0.25 = 62.72 ~ 63 total (~32/group)</a:t>
            </a:r>
          </a:p>
          <a:p>
            <a:pPr>
              <a:spcBef>
                <a:spcPts val="600"/>
              </a:spcBef>
              <a:defRPr sz="1300">
                <a:solidFill>
                  <a:srgbClr val="2D2D44"/>
                </a:solidFill>
              </a:defRPr>
            </a:pPr>
            <a:r>
              <a:t>G*Power Verification: Independent t-test: d=0.50, a=0.05, power=0.80 -&gt; n=64 total; ANCOVA with covariate -&gt; n=34/group</a:t>
            </a:r>
          </a:p>
          <a:p>
            <a:pPr>
              <a:spcBef>
                <a:spcPts val="600"/>
              </a:spcBef>
              <a:defRPr sz="1300">
                <a:solidFill>
                  <a:srgbClr val="2D2D44"/>
                </a:solidFill>
              </a:defRPr>
            </a:pPr>
            <a:r>
              <a:t>FINAL DECISION: N = 60 (30 per group) - justified by ANCOVA as primary analysis</a:t>
            </a:r>
          </a:p>
          <a:p>
            <a:pPr>
              <a:spcBef>
                <a:spcPts val="600"/>
              </a:spcBef>
              <a:defRPr sz="1300">
                <a:solidFill>
                  <a:srgbClr val="2D2D44"/>
                </a:solidFill>
              </a:defRPr>
            </a:pPr>
            <a:r>
              <a:t>Recruit 70 total (35/group) to account for ~15% attrition</a:t>
            </a:r>
          </a:p>
          <a:p>
            <a:pPr>
              <a:spcBef>
                <a:spcPts val="600"/>
              </a:spcBef>
              <a:defRPr sz="1300">
                <a:solidFill>
                  <a:srgbClr val="2D2D44"/>
                </a:solidFill>
              </a:defRPr>
            </a:pPr>
            <a:r>
              <a:t>Consistent with: Bowen et al. (2009), Glasner-Edwards et al. (2017)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Inclusion Criteria</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1. Diagnosis of Substance Dependence as per ICD-10 (F10-F19) / ICD-11 criteria</a:t>
            </a:r>
          </a:p>
          <a:p>
            <a:pPr>
              <a:spcBef>
                <a:spcPts val="600"/>
              </a:spcBef>
              <a:defRPr sz="1300">
                <a:solidFill>
                  <a:srgbClr val="2D2D44"/>
                </a:solidFill>
              </a:defRPr>
            </a:pPr>
            <a:r>
              <a:t>2. Primary substance: Opioids (heroin, pharmaceutical opioids); polysubstance with primary opioid dependence included</a:t>
            </a:r>
          </a:p>
          <a:p>
            <a:pPr>
              <a:spcBef>
                <a:spcPts val="600"/>
              </a:spcBef>
              <a:defRPr sz="1300">
                <a:solidFill>
                  <a:srgbClr val="2D2D44"/>
                </a:solidFill>
              </a:defRPr>
            </a:pPr>
            <a:r>
              <a:t>3. Age: 18-50 years (male participants)</a:t>
            </a:r>
          </a:p>
          <a:p>
            <a:pPr>
              <a:spcBef>
                <a:spcPts val="600"/>
              </a:spcBef>
              <a:defRPr sz="1300">
                <a:solidFill>
                  <a:srgbClr val="2D2D44"/>
                </a:solidFill>
              </a:defRPr>
            </a:pPr>
            <a:r>
              <a:t>4. Completed detoxification phase (minimum 7 days post-withdrawal)</a:t>
            </a:r>
          </a:p>
          <a:p>
            <a:pPr>
              <a:spcBef>
                <a:spcPts val="600"/>
              </a:spcBef>
              <a:defRPr sz="1300">
                <a:solidFill>
                  <a:srgbClr val="2D2D44"/>
                </a:solidFill>
              </a:defRPr>
            </a:pPr>
            <a:r>
              <a:t>5. Currently admitted in de-addiction/rehabilitation center</a:t>
            </a:r>
          </a:p>
          <a:p>
            <a:pPr>
              <a:spcBef>
                <a:spcPts val="600"/>
              </a:spcBef>
              <a:defRPr sz="1300">
                <a:solidFill>
                  <a:srgbClr val="2D2D44"/>
                </a:solidFill>
              </a:defRPr>
            </a:pPr>
            <a:r>
              <a:t>6. Minimum education: 5th standard (ability to comprehend psychometric tools)</a:t>
            </a:r>
          </a:p>
          <a:p>
            <a:pPr>
              <a:spcBef>
                <a:spcPts val="600"/>
              </a:spcBef>
              <a:defRPr sz="1300">
                <a:solidFill>
                  <a:srgbClr val="2D2D44"/>
                </a:solidFill>
              </a:defRPr>
            </a:pPr>
            <a:r>
              <a:t>7. Willingness to provide written informed consent</a:t>
            </a:r>
          </a:p>
          <a:p>
            <a:pPr>
              <a:spcBef>
                <a:spcPts val="600"/>
              </a:spcBef>
              <a:defRPr sz="1300">
                <a:solidFill>
                  <a:srgbClr val="2D2D44"/>
                </a:solidFill>
              </a:defRPr>
            </a:pPr>
            <a:r>
              <a:t>8. Able to attend all intervention sessions during admission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Exclusion Criteria</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1. Severe psychiatric comorbidity: Psychotic disorders, Bipolar I with psychotic features, severe MDE with suicidality</a:t>
            </a:r>
          </a:p>
          <a:p>
            <a:pPr>
              <a:spcBef>
                <a:spcPts val="600"/>
              </a:spcBef>
              <a:defRPr sz="1300">
                <a:solidFill>
                  <a:srgbClr val="2D2D44"/>
                </a:solidFill>
              </a:defRPr>
            </a:pPr>
            <a:r>
              <a:t>2. Significant cognitive impairment (MMSE &lt; 24) or intellectual disability</a:t>
            </a:r>
          </a:p>
          <a:p>
            <a:pPr>
              <a:spcBef>
                <a:spcPts val="600"/>
              </a:spcBef>
              <a:defRPr sz="1300">
                <a:solidFill>
                  <a:srgbClr val="2D2D44"/>
                </a:solidFill>
              </a:defRPr>
            </a:pPr>
            <a:r>
              <a:t>3. Active withdrawal symptoms (COWS score &gt; 12)</a:t>
            </a:r>
          </a:p>
          <a:p>
            <a:pPr>
              <a:spcBef>
                <a:spcPts val="600"/>
              </a:spcBef>
              <a:defRPr sz="1300">
                <a:solidFill>
                  <a:srgbClr val="2D2D44"/>
                </a:solidFill>
              </a:defRPr>
            </a:pPr>
            <a:r>
              <a:t>4. History of traumatic brain injury with LOC &gt; 30 minutes</a:t>
            </a:r>
          </a:p>
          <a:p>
            <a:pPr>
              <a:spcBef>
                <a:spcPts val="600"/>
              </a:spcBef>
              <a:defRPr sz="1300">
                <a:solidFill>
                  <a:srgbClr val="2D2D44"/>
                </a:solidFill>
              </a:defRPr>
            </a:pPr>
            <a:r>
              <a:t>5. Current participation in another structured psychological intervention study</a:t>
            </a:r>
          </a:p>
          <a:p>
            <a:pPr>
              <a:spcBef>
                <a:spcPts val="600"/>
              </a:spcBef>
              <a:defRPr sz="1300">
                <a:solidFill>
                  <a:srgbClr val="2D2D44"/>
                </a:solidFill>
              </a:defRPr>
            </a:pPr>
            <a:r>
              <a:t>6. Medical instability requiring acute care</a:t>
            </a:r>
          </a:p>
          <a:p>
            <a:pPr>
              <a:spcBef>
                <a:spcPts val="600"/>
              </a:spcBef>
              <a:defRPr sz="1300">
                <a:solidFill>
                  <a:srgbClr val="2D2D44"/>
                </a:solidFill>
              </a:defRPr>
            </a:pPr>
            <a:r>
              <a:t>7. History of prior formal mindfulness/meditation training (&gt; 1 month)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Variables</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INDEPENDENT VARIABLE (IV):</a:t>
            </a:r>
          </a:p>
          <a:p>
            <a:pPr>
              <a:spcBef>
                <a:spcPts val="600"/>
              </a:spcBef>
              <a:defRPr sz="1300">
                <a:solidFill>
                  <a:srgbClr val="2D2D44"/>
                </a:solidFill>
              </a:defRPr>
            </a:pPr>
            <a:r>
              <a:t>  Type of Intervention: Level 1 = Brief MBRP + TAU (Experimental) | Level 2 = Psychoeducation + TAU (Control)</a:t>
            </a:r>
          </a:p>
          <a:p>
            <a:pPr>
              <a:spcBef>
                <a:spcPts val="600"/>
              </a:spcBef>
              <a:defRPr sz="1300">
                <a:solidFill>
                  <a:srgbClr val="2D2D44"/>
                </a:solidFill>
              </a:defRPr>
            </a:pPr>
          </a:p>
          <a:p>
            <a:pPr>
              <a:spcBef>
                <a:spcPts val="600"/>
              </a:spcBef>
              <a:defRPr sz="1300">
                <a:solidFill>
                  <a:srgbClr val="2D2D44"/>
                </a:solidFill>
              </a:defRPr>
            </a:pPr>
            <a:r>
              <a:t>DEPENDENT VARIABLES (DVs):</a:t>
            </a:r>
          </a:p>
          <a:p>
            <a:pPr>
              <a:spcBef>
                <a:spcPts val="600"/>
              </a:spcBef>
              <a:defRPr sz="1300">
                <a:solidFill>
                  <a:srgbClr val="2D2D44"/>
                </a:solidFill>
              </a:defRPr>
            </a:pPr>
            <a:r>
              <a:t>  1. Craving - measured by Heroin Craving Questionnaire (HCQ)</a:t>
            </a:r>
          </a:p>
          <a:p>
            <a:pPr>
              <a:spcBef>
                <a:spcPts val="600"/>
              </a:spcBef>
              <a:defRPr sz="1300">
                <a:solidFill>
                  <a:srgbClr val="2D2D44"/>
                </a:solidFill>
              </a:defRPr>
            </a:pPr>
            <a:r>
              <a:t>  2. Impulsivity - measured by Barratt Impulsiveness Scale (BIS-11)</a:t>
            </a:r>
          </a:p>
          <a:p>
            <a:pPr>
              <a:spcBef>
                <a:spcPts val="600"/>
              </a:spcBef>
              <a:defRPr sz="1300">
                <a:solidFill>
                  <a:srgbClr val="2D2D44"/>
                </a:solidFill>
              </a:defRPr>
            </a:pPr>
            <a:r>
              <a:t>  3. Mindfulness - measured by Five Facet Mindfulness Questionnaire (FFMQ)</a:t>
            </a:r>
          </a:p>
          <a:p>
            <a:pPr>
              <a:spcBef>
                <a:spcPts val="600"/>
              </a:spcBef>
              <a:defRPr sz="1300">
                <a:solidFill>
                  <a:srgbClr val="2D2D44"/>
                </a:solidFill>
              </a:defRPr>
            </a:pPr>
          </a:p>
          <a:p>
            <a:pPr>
              <a:spcBef>
                <a:spcPts val="600"/>
              </a:spcBef>
              <a:defRPr sz="1300">
                <a:solidFill>
                  <a:srgbClr val="2D2D44"/>
                </a:solidFill>
              </a:defRPr>
            </a:pPr>
            <a:r>
              <a:t>CONTROLLED VARIABLES: Age, education, duration of use, severity (ASSIST), TAU constant, session duration equalized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Tools: Mindfulness &amp; Impulsivity Measures</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1. FIVE FACET MINDFULNESS QUESTIONNAIRE (FFMQ) - Baer et al. (2006)</a:t>
            </a:r>
          </a:p>
          <a:p>
            <a:pPr>
              <a:spcBef>
                <a:spcPts val="600"/>
              </a:spcBef>
              <a:defRPr sz="1300">
                <a:solidFill>
                  <a:srgbClr val="2D2D44"/>
                </a:solidFill>
              </a:defRPr>
            </a:pPr>
            <a:r>
              <a:t>   39 items | 5 facets: Observing, Describing, Acting with Awareness, Non-Judging, Non-Reactivity</a:t>
            </a:r>
          </a:p>
          <a:p>
            <a:pPr>
              <a:spcBef>
                <a:spcPts val="600"/>
              </a:spcBef>
              <a:defRPr sz="1300">
                <a:solidFill>
                  <a:srgbClr val="2D2D44"/>
                </a:solidFill>
              </a:defRPr>
            </a:pPr>
            <a:r>
              <a:t>   5-point Likert (1-5) | Higher = greater mindfulness | Reliability: a = 0.75-0.91 | Hindi adaptation available</a:t>
            </a:r>
          </a:p>
          <a:p>
            <a:pPr>
              <a:spcBef>
                <a:spcPts val="600"/>
              </a:spcBef>
              <a:defRPr sz="1300">
                <a:solidFill>
                  <a:srgbClr val="2D2D44"/>
                </a:solidFill>
              </a:defRPr>
            </a:pPr>
          </a:p>
          <a:p>
            <a:pPr>
              <a:spcBef>
                <a:spcPts val="600"/>
              </a:spcBef>
              <a:defRPr sz="1300">
                <a:solidFill>
                  <a:srgbClr val="2D2D44"/>
                </a:solidFill>
              </a:defRPr>
            </a:pPr>
            <a:r>
              <a:t>2. BARRATT IMPULSIVENESS SCALE (BIS-11) - Patton, Stanford, &amp; Barratt (1995)</a:t>
            </a:r>
          </a:p>
          <a:p>
            <a:pPr>
              <a:spcBef>
                <a:spcPts val="600"/>
              </a:spcBef>
              <a:defRPr sz="1300">
                <a:solidFill>
                  <a:srgbClr val="2D2D44"/>
                </a:solidFill>
              </a:defRPr>
            </a:pPr>
            <a:r>
              <a:t>   30 items | 3 factors: Attentional, Motor, Non-Planning Impulsivity</a:t>
            </a:r>
          </a:p>
          <a:p>
            <a:pPr>
              <a:spcBef>
                <a:spcPts val="600"/>
              </a:spcBef>
              <a:defRPr sz="1300">
                <a:solidFill>
                  <a:srgbClr val="2D2D44"/>
                </a:solidFill>
              </a:defRPr>
            </a:pPr>
            <a:r>
              <a:t>   4-point scale (1-4) | Higher = greater impulsivity | Reliability: a = 0.79-0.83; test-retest r = 0.83</a:t>
            </a:r>
          </a:p>
          <a:p>
            <a:pPr>
              <a:spcBef>
                <a:spcPts val="600"/>
              </a:spcBef>
              <a:defRPr sz="1300">
                <a:solidFill>
                  <a:srgbClr val="2D2D44"/>
                </a:solidFill>
              </a:defRPr>
            </a:pPr>
            <a:r>
              <a:t>   Discriminates substance users from controls | Hindi version validated (Mathew et al., 2014)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Tools: Craving Assessment</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OPTIONS: HCQ (opioid-specific, 14-item) | OCDUS (generic, 12-item) | VAS (single-item 0-100mm)</a:t>
            </a:r>
          </a:p>
          <a:p>
            <a:pPr>
              <a:spcBef>
                <a:spcPts val="600"/>
              </a:spcBef>
              <a:defRPr sz="1300">
                <a:solidFill>
                  <a:srgbClr val="2D2D44"/>
                </a:solidFill>
              </a:defRPr>
            </a:pPr>
          </a:p>
          <a:p>
            <a:pPr>
              <a:spcBef>
                <a:spcPts val="600"/>
              </a:spcBef>
              <a:defRPr sz="1300">
                <a:solidFill>
                  <a:srgbClr val="2D2D44"/>
                </a:solidFill>
              </a:defRPr>
            </a:pPr>
            <a:r>
              <a:t>RECOMMENDED: HEROIN CRAVING QUESTIONNAIRE (HCQ-Brief, 14 items) - Tiffany et al. (2000)</a:t>
            </a:r>
          </a:p>
          <a:p>
            <a:pPr>
              <a:spcBef>
                <a:spcPts val="600"/>
              </a:spcBef>
              <a:defRPr sz="1300">
                <a:solidFill>
                  <a:srgbClr val="2D2D44"/>
                </a:solidFill>
              </a:defRPr>
            </a:pPr>
            <a:r>
              <a:t>   Assesses: desire to use, intention, anticipation of positive outcome, relief from withdrawal, lack of control</a:t>
            </a:r>
          </a:p>
          <a:p>
            <a:pPr>
              <a:spcBef>
                <a:spcPts val="600"/>
              </a:spcBef>
              <a:defRPr sz="1300">
                <a:solidFill>
                  <a:srgbClr val="2D2D44"/>
                </a:solidFill>
              </a:defRPr>
            </a:pPr>
            <a:r>
              <a:t>   Scoring: 7-point Likert | Reliability: a = 0.87-0.93</a:t>
            </a:r>
          </a:p>
          <a:p>
            <a:pPr>
              <a:spcBef>
                <a:spcPts val="600"/>
              </a:spcBef>
              <a:defRPr sz="1300">
                <a:solidFill>
                  <a:srgbClr val="2D2D44"/>
                </a:solidFill>
              </a:defRPr>
            </a:pPr>
            <a:r>
              <a:t>   Validity: Convergent with VAS; sensitive to intervention effects</a:t>
            </a:r>
          </a:p>
          <a:p>
            <a:pPr>
              <a:spcBef>
                <a:spcPts val="600"/>
              </a:spcBef>
              <a:defRPr sz="1300">
                <a:solidFill>
                  <a:srgbClr val="2D2D44"/>
                </a:solidFill>
              </a:defRPr>
            </a:pPr>
            <a:r>
              <a:t>   Indian usability: Applicable to Indian opioid users; translation feasible</a:t>
            </a:r>
          </a:p>
          <a:p>
            <a:pPr>
              <a:spcBef>
                <a:spcPts val="600"/>
              </a:spcBef>
              <a:defRPr sz="1300">
                <a:solidFill>
                  <a:srgbClr val="2D2D44"/>
                </a:solidFill>
              </a:defRPr>
            </a:pPr>
            <a:r>
              <a:t>   JUSTIFICATION: Substance-specific measurement preferred for opioid populations (EMCDDA guidelines)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Tools: Severity Assessment (Pre-Test Only)</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OPTIONS: ASSIST-WHO (multi-substance, 8-item) | DAST-20 (drug-specific) | AUDIT (alcohol-specific)</a:t>
            </a:r>
          </a:p>
          <a:p>
            <a:pPr>
              <a:spcBef>
                <a:spcPts val="600"/>
              </a:spcBef>
              <a:defRPr sz="1300">
                <a:solidFill>
                  <a:srgbClr val="2D2D44"/>
                </a:solidFill>
              </a:defRPr>
            </a:pPr>
          </a:p>
          <a:p>
            <a:pPr>
              <a:spcBef>
                <a:spcPts val="600"/>
              </a:spcBef>
              <a:defRPr sz="1300">
                <a:solidFill>
                  <a:srgbClr val="2D2D44"/>
                </a:solidFill>
              </a:defRPr>
            </a:pPr>
            <a:r>
              <a:t>RECOMMENDED: ASSIST - WHO ASSIST Working Group (2002); Humeniuk et al.</a:t>
            </a:r>
          </a:p>
          <a:p>
            <a:pPr>
              <a:spcBef>
                <a:spcPts val="600"/>
              </a:spcBef>
              <a:defRPr sz="1300">
                <a:solidFill>
                  <a:srgbClr val="2D2D44"/>
                </a:solidFill>
              </a:defRPr>
            </a:pPr>
            <a:r>
              <a:t>   8-item screening | 10 substance categories | Risk levels: Low (0-3), Moderate (4-26), High (27+)</a:t>
            </a:r>
          </a:p>
          <a:p>
            <a:pPr>
              <a:spcBef>
                <a:spcPts val="600"/>
              </a:spcBef>
              <a:defRPr sz="1300">
                <a:solidFill>
                  <a:srgbClr val="2D2D44"/>
                </a:solidFill>
              </a:defRPr>
            </a:pPr>
            <a:r>
              <a:t>   Reliability: Test-retest r = 0.58-0.90; a = 0.77-0.94</a:t>
            </a:r>
          </a:p>
          <a:p>
            <a:pPr>
              <a:spcBef>
                <a:spcPts val="600"/>
              </a:spcBef>
              <a:defRPr sz="1300">
                <a:solidFill>
                  <a:srgbClr val="2D2D44"/>
                </a:solidFill>
              </a:defRPr>
            </a:pPr>
            <a:r>
              <a:t>   Validity: Sensitivity 0.80, Specificity 0.71 for substance dependence</a:t>
            </a:r>
          </a:p>
          <a:p>
            <a:pPr>
              <a:spcBef>
                <a:spcPts val="600"/>
              </a:spcBef>
              <a:defRPr sz="1300">
                <a:solidFill>
                  <a:srgbClr val="2D2D44"/>
                </a:solidFill>
              </a:defRPr>
            </a:pPr>
            <a:r>
              <a:t>   Indian: WHO-validated; Hindi version available; used in NDDTC studies; 5-10 min administration</a:t>
            </a:r>
          </a:p>
          <a:p>
            <a:pPr>
              <a:spcBef>
                <a:spcPts val="600"/>
              </a:spcBef>
              <a:defRPr sz="1300">
                <a:solidFill>
                  <a:srgbClr val="2D2D44"/>
                </a:solidFill>
              </a:defRPr>
            </a:pPr>
            <a:r>
              <a:t>   PURPOSE: Used at PRE-TEST ONLY for baseline severity and group equivalence (NOT an outcome measure)</a:t>
            </a:r>
          </a:p>
          <a:p>
            <a:pPr>
              <a:spcBef>
                <a:spcPts val="600"/>
              </a:spcBef>
              <a:defRPr sz="1300">
                <a:solidFill>
                  <a:srgbClr val="2D2D44"/>
                </a:solidFill>
              </a:defRPr>
            </a:pPr>
            <a:r>
              <a:t>   JUSTIFICATION: Multi-substance coverage captures polysubstance patterns; WHO credibility; free to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Procedure</a:t>
            </a:r>
          </a:p>
        </p:txBody>
      </p:sp>
      <p:sp>
        <p:nvSpPr>
          <p:cNvPr id="4" name="TextBox 3"/>
          <p:cNvSpPr txBox="1"/>
          <p:nvPr/>
        </p:nvSpPr>
        <p:spPr>
          <a:xfrm>
            <a:off x="640080" y="1097280"/>
            <a:ext cx="10881360" cy="457200"/>
          </a:xfrm>
          <a:prstGeom prst="rect">
            <a:avLst/>
          </a:prstGeom>
          <a:noFill/>
        </p:spPr>
        <p:txBody>
          <a:bodyPr wrap="none">
            <a:spAutoFit/>
          </a:bodyPr>
          <a:lstStyle/>
          <a:p>
            <a:pPr>
              <a:defRPr sz="1400" b="1">
                <a:solidFill>
                  <a:srgbClr val="2C5F8A"/>
                </a:solidFill>
              </a:defRPr>
            </a:pPr>
            <a:r>
              <a:t>Stepwise Research Flow</a:t>
            </a:r>
          </a:p>
        </p:txBody>
      </p:sp>
      <p:sp>
        <p:nvSpPr>
          <p:cNvPr id="5" name="TextBox 4"/>
          <p:cNvSpPr txBox="1"/>
          <p:nvPr/>
        </p:nvSpPr>
        <p:spPr>
          <a:xfrm>
            <a:off x="640080" y="1554480"/>
            <a:ext cx="10881360" cy="5029200"/>
          </a:xfrm>
          <a:prstGeom prst="rect">
            <a:avLst/>
          </a:prstGeom>
          <a:noFill/>
        </p:spPr>
        <p:txBody>
          <a:bodyPr wrap="square">
            <a:spAutoFit/>
          </a:bodyPr>
          <a:lstStyle/>
          <a:p>
            <a:pPr>
              <a:spcBef>
                <a:spcPts val="600"/>
              </a:spcBef>
              <a:defRPr sz="1300">
                <a:solidFill>
                  <a:srgbClr val="2D2D44"/>
                </a:solidFill>
              </a:defRPr>
            </a:pPr>
            <a:r>
              <a:t>Step 1: SCREENING - Identify eligible patients (ICD-10 diagnosis, detoxified, consent-capable)</a:t>
            </a:r>
          </a:p>
          <a:p>
            <a:pPr>
              <a:spcBef>
                <a:spcPts val="600"/>
              </a:spcBef>
              <a:defRPr sz="1300">
                <a:solidFill>
                  <a:srgbClr val="2D2D44"/>
                </a:solidFill>
              </a:defRPr>
            </a:pPr>
            <a:r>
              <a:t>Step 2: INFORMED CONSENT - Explain purpose, procedures, confidentiality, right to withdraw</a:t>
            </a:r>
          </a:p>
          <a:p>
            <a:pPr>
              <a:spcBef>
                <a:spcPts val="600"/>
              </a:spcBef>
              <a:defRPr sz="1300">
                <a:solidFill>
                  <a:srgbClr val="2D2D44"/>
                </a:solidFill>
              </a:defRPr>
            </a:pPr>
            <a:r>
              <a:t>Step 3: PRE-TEST - Administer ASSIST + HCQ + BIS-11 + FFMQ</a:t>
            </a:r>
          </a:p>
          <a:p>
            <a:pPr>
              <a:spcBef>
                <a:spcPts val="600"/>
              </a:spcBef>
              <a:defRPr sz="1300">
                <a:solidFill>
                  <a:srgbClr val="2D2D44"/>
                </a:solidFill>
              </a:defRPr>
            </a:pPr>
            <a:r>
              <a:t>Step 4: RANDOM ALLOCATION - Computer-generated randomization -&gt; Experimental vs. Control</a:t>
            </a:r>
          </a:p>
          <a:p>
            <a:pPr>
              <a:spcBef>
                <a:spcPts val="600"/>
              </a:spcBef>
              <a:defRPr sz="1300">
                <a:solidFill>
                  <a:srgbClr val="2D2D44"/>
                </a:solidFill>
              </a:defRPr>
            </a:pPr>
            <a:r>
              <a:t>Step 5: INTERVENTION - Experimental: Brief MBRP (8 x 60 min, 4 weeks) | Control: Psychoeducation (8 x 60 min, 4 weeks)</a:t>
            </a:r>
          </a:p>
          <a:p>
            <a:pPr>
              <a:spcBef>
                <a:spcPts val="600"/>
              </a:spcBef>
              <a:defRPr sz="1300">
                <a:solidFill>
                  <a:srgbClr val="2D2D44"/>
                </a:solidFill>
              </a:defRPr>
            </a:pPr>
            <a:r>
              <a:t>Step 6: POST-TEST - Administer HCQ + BIS-11 + FFMQ (within 1 week of completion)</a:t>
            </a:r>
          </a:p>
          <a:p>
            <a:pPr>
              <a:spcBef>
                <a:spcPts val="600"/>
              </a:spcBef>
              <a:defRPr sz="1300">
                <a:solidFill>
                  <a:srgbClr val="2D2D44"/>
                </a:solidFill>
              </a:defRPr>
            </a:pPr>
            <a:r>
              <a:t>Step 7: DATA COMPILATION &amp; ANALYSIS</a:t>
            </a:r>
          </a:p>
          <a:p>
            <a:pPr>
              <a:spcBef>
                <a:spcPts val="600"/>
              </a:spcBef>
              <a:defRPr sz="1300">
                <a:solidFill>
                  <a:srgbClr val="2D2D44"/>
                </a:solidFill>
              </a:defRPr>
            </a:pPr>
            <a:r>
              <a:t>NOTE: Both groups receive TAU throughout | Assessments by blinded RA | Intervention by MPhil Clinical Psychologist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Intervention Plan: Experimental Group (Brief MBRP + TAU)</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8 Sessions x 60 min x 4 weeks (Twice weekly) | Group format (6-8 participants)</a:t>
            </a:r>
          </a:p>
          <a:p>
            <a:pPr>
              <a:spcBef>
                <a:spcPts val="600"/>
              </a:spcBef>
              <a:defRPr sz="1300">
                <a:solidFill>
                  <a:srgbClr val="2D2D44"/>
                </a:solidFill>
              </a:defRPr>
            </a:pPr>
            <a:r>
              <a:t>S1: Introduction to MBRP &amp; Autopilot - Raisin exercise; identifying automatic patterns</a:t>
            </a:r>
          </a:p>
          <a:p>
            <a:pPr>
              <a:spcBef>
                <a:spcPts val="600"/>
              </a:spcBef>
              <a:defRPr sz="1300">
                <a:solidFill>
                  <a:srgbClr val="2D2D44"/>
                </a:solidFill>
              </a:defRPr>
            </a:pPr>
            <a:r>
              <a:t>S2: Awareness of Triggers - Body scan meditation; mapping personal triggers</a:t>
            </a:r>
          </a:p>
          <a:p>
            <a:pPr>
              <a:spcBef>
                <a:spcPts val="600"/>
              </a:spcBef>
              <a:defRPr sz="1300">
                <a:solidFill>
                  <a:srgbClr val="2D2D44"/>
                </a:solidFill>
              </a:defRPr>
            </a:pPr>
            <a:r>
              <a:t>S3: Mindfulness in Daily Life - Sitting meditation (breath); SOBER breathing space</a:t>
            </a:r>
          </a:p>
          <a:p>
            <a:pPr>
              <a:spcBef>
                <a:spcPts val="600"/>
              </a:spcBef>
              <a:defRPr sz="1300">
                <a:solidFill>
                  <a:srgbClr val="2D2D44"/>
                </a:solidFill>
              </a:defRPr>
            </a:pPr>
            <a:r>
              <a:t>S4: Mindfulness in High-Risk Situations - Urge surfing; role-play; cognitive decentering</a:t>
            </a:r>
          </a:p>
          <a:p>
            <a:pPr>
              <a:spcBef>
                <a:spcPts val="600"/>
              </a:spcBef>
              <a:defRPr sz="1300">
                <a:solidFill>
                  <a:srgbClr val="2D2D44"/>
                </a:solidFill>
              </a:defRPr>
            </a:pPr>
            <a:r>
              <a:t>S5: Acceptance &amp; Skillful Action - Non-judgmental awareness; mindful decision-making</a:t>
            </a:r>
          </a:p>
          <a:p>
            <a:pPr>
              <a:spcBef>
                <a:spcPts val="600"/>
              </a:spcBef>
              <a:defRPr sz="1300">
                <a:solidFill>
                  <a:srgbClr val="2D2D44"/>
                </a:solidFill>
              </a:defRPr>
            </a:pPr>
            <a:r>
              <a:t>S6: Seeing Thoughts as Thoughts - 'Thoughts are not facts'; mountain meditation</a:t>
            </a:r>
          </a:p>
          <a:p>
            <a:pPr>
              <a:spcBef>
                <a:spcPts val="600"/>
              </a:spcBef>
              <a:defRPr sz="1300">
                <a:solidFill>
                  <a:srgbClr val="2D2D44"/>
                </a:solidFill>
              </a:defRPr>
            </a:pPr>
            <a:r>
              <a:t>S7: Self-Care &amp; Lifestyle Balance - Loving-kindness; activity scheduling; warning signs</a:t>
            </a:r>
          </a:p>
          <a:p>
            <a:pPr>
              <a:spcBef>
                <a:spcPts val="600"/>
              </a:spcBef>
              <a:defRPr sz="1300">
                <a:solidFill>
                  <a:srgbClr val="2D2D44"/>
                </a:solidFill>
              </a:defRPr>
            </a:pPr>
            <a:r>
              <a:t>S8: Social Support &amp; Maintenance - Review practices; relapse prevention plan; practice commitment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Intervention Plan: Control Group (Psychoeducation + TAU)</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8 Sessions x 60 min x 4 weeks (Twice weekly) | Group format (6-8 participants)</a:t>
            </a:r>
          </a:p>
          <a:p>
            <a:pPr>
              <a:spcBef>
                <a:spcPts val="600"/>
              </a:spcBef>
              <a:defRPr sz="1300">
                <a:solidFill>
                  <a:srgbClr val="2D2D44"/>
                </a:solidFill>
              </a:defRPr>
            </a:pPr>
            <a:r>
              <a:t>S1: Understanding Addiction - Nature of dependence; brain changes; disease model</a:t>
            </a:r>
          </a:p>
          <a:p>
            <a:pPr>
              <a:spcBef>
                <a:spcPts val="600"/>
              </a:spcBef>
              <a:defRPr sz="1300">
                <a:solidFill>
                  <a:srgbClr val="2D2D44"/>
                </a:solidFill>
              </a:defRPr>
            </a:pPr>
            <a:r>
              <a:t>S2: Effects of Opioids - Short/long-term physical and psychological consequences</a:t>
            </a:r>
          </a:p>
          <a:p>
            <a:pPr>
              <a:spcBef>
                <a:spcPts val="600"/>
              </a:spcBef>
              <a:defRPr sz="1300">
                <a:solidFill>
                  <a:srgbClr val="2D2D44"/>
                </a:solidFill>
              </a:defRPr>
            </a:pPr>
            <a:r>
              <a:t>S3: Understanding Relapse - Relapse process; warning signs; high-risk situations</a:t>
            </a:r>
          </a:p>
          <a:p>
            <a:pPr>
              <a:spcBef>
                <a:spcPts val="600"/>
              </a:spcBef>
              <a:defRPr sz="1300">
                <a:solidFill>
                  <a:srgbClr val="2D2D44"/>
                </a:solidFill>
              </a:defRPr>
            </a:pPr>
            <a:r>
              <a:t>S4: Coping with Cravings - General strategies (distraction, social support); NO mindfulness</a:t>
            </a:r>
          </a:p>
          <a:p>
            <a:pPr>
              <a:spcBef>
                <a:spcPts val="600"/>
              </a:spcBef>
              <a:defRPr sz="1300">
                <a:solidFill>
                  <a:srgbClr val="2D2D44"/>
                </a:solidFill>
              </a:defRPr>
            </a:pPr>
            <a:r>
              <a:t>S5: Health &amp; Nutrition - Physical recovery; nutrition; sleep hygiene</a:t>
            </a:r>
          </a:p>
          <a:p>
            <a:pPr>
              <a:spcBef>
                <a:spcPts val="600"/>
              </a:spcBef>
              <a:defRPr sz="1300">
                <a:solidFill>
                  <a:srgbClr val="2D2D44"/>
                </a:solidFill>
              </a:defRPr>
            </a:pPr>
            <a:r>
              <a:t>S6: Social Consequences - Family impact; legal issues; stigma; rehabilitation</a:t>
            </a:r>
          </a:p>
          <a:p>
            <a:pPr>
              <a:spcBef>
                <a:spcPts val="600"/>
              </a:spcBef>
              <a:defRPr sz="1300">
                <a:solidFill>
                  <a:srgbClr val="2D2D44"/>
                </a:solidFill>
              </a:defRPr>
            </a:pPr>
            <a:r>
              <a:t>S7: Motivation &amp; Goal Setting - Stages of change; personal goals; motivation enhancement</a:t>
            </a:r>
          </a:p>
          <a:p>
            <a:pPr>
              <a:spcBef>
                <a:spcPts val="600"/>
              </a:spcBef>
              <a:defRPr sz="1300">
                <a:solidFill>
                  <a:srgbClr val="2D2D44"/>
                </a:solidFill>
              </a:defRPr>
            </a:pPr>
            <a:r>
              <a:t>S8: Lifestyle Changes &amp; Summary - Long-term planning; support systems; review</a:t>
            </a:r>
          </a:p>
          <a:p>
            <a:pPr>
              <a:spcBef>
                <a:spcPts val="600"/>
              </a:spcBef>
              <a:defRPr sz="1300">
                <a:solidFill>
                  <a:srgbClr val="2D2D44"/>
                </a:solidFill>
              </a:defRPr>
            </a:pPr>
            <a:r>
              <a:t>NOTE: Matched for contact time, format, and attention to control non-specific factors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Data Analysis</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Descriptive Statistics: Mean, SD, frequency, percentages for sociodemographic and clinical variables</a:t>
            </a:r>
          </a:p>
          <a:p>
            <a:pPr>
              <a:spcBef>
                <a:spcPts val="600"/>
              </a:spcBef>
              <a:defRPr sz="1300">
                <a:solidFill>
                  <a:srgbClr val="2D2D44"/>
                </a:solidFill>
              </a:defRPr>
            </a:pPr>
            <a:r>
              <a:t>Normality Testing: Shapiro-Wilk test for distribution of outcome variables</a:t>
            </a:r>
          </a:p>
          <a:p>
            <a:pPr>
              <a:spcBef>
                <a:spcPts val="600"/>
              </a:spcBef>
              <a:defRPr sz="1300">
                <a:solidFill>
                  <a:srgbClr val="2D2D44"/>
                </a:solidFill>
              </a:defRPr>
            </a:pPr>
            <a:r>
              <a:t>Within-Group: Paired samples t-test (pre vs. post); Wilcoxon Signed-Rank for non-normal data</a:t>
            </a:r>
          </a:p>
          <a:p>
            <a:pPr>
              <a:spcBef>
                <a:spcPts val="600"/>
              </a:spcBef>
              <a:defRPr sz="1300">
                <a:solidFill>
                  <a:srgbClr val="2D2D44"/>
                </a:solidFill>
              </a:defRPr>
            </a:pPr>
            <a:r>
              <a:t>Between-Group: Independent samples t-test (post-test); Mann-Whitney U for non-normal data</a:t>
            </a:r>
          </a:p>
          <a:p>
            <a:pPr>
              <a:spcBef>
                <a:spcPts val="600"/>
              </a:spcBef>
              <a:defRPr sz="1300">
                <a:solidFill>
                  <a:srgbClr val="2D2D44"/>
                </a:solidFill>
              </a:defRPr>
            </a:pPr>
            <a:r>
              <a:t>PRIMARY: ANCOVA with post-test as DV, Group as IV, pre-test as covariate (controls baseline, increases power)</a:t>
            </a:r>
          </a:p>
          <a:p>
            <a:pPr>
              <a:spcBef>
                <a:spcPts val="600"/>
              </a:spcBef>
              <a:defRPr sz="1300">
                <a:solidFill>
                  <a:srgbClr val="2D2D44"/>
                </a:solidFill>
              </a:defRPr>
            </a:pPr>
            <a:r>
              <a:t>Effect Size: Cohen's d for between-group differences</a:t>
            </a:r>
          </a:p>
          <a:p>
            <a:pPr>
              <a:spcBef>
                <a:spcPts val="600"/>
              </a:spcBef>
              <a:defRPr sz="1300">
                <a:solidFill>
                  <a:srgbClr val="2D2D44"/>
                </a:solidFill>
              </a:defRPr>
            </a:pPr>
            <a:r>
              <a:t>Significance Level: alpha = 0.05 (two-tailed) | Software: SPSS 26.0 / JASP</a:t>
            </a:r>
          </a:p>
          <a:p>
            <a:pPr>
              <a:spcBef>
                <a:spcPts val="600"/>
              </a:spcBef>
              <a:defRPr sz="1300">
                <a:solidFill>
                  <a:srgbClr val="2D2D44"/>
                </a:solidFill>
              </a:defRPr>
            </a:pPr>
            <a:r>
              <a:t>ITT Analysis: Last Observation Carried Forward (LOCF) for dropouts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Ethical Considerations</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Informed Consent: Written consent in Hindi/regional language; participants informed of purpose, procedures, risks, benefits</a:t>
            </a:r>
          </a:p>
          <a:p>
            <a:pPr>
              <a:spcBef>
                <a:spcPts val="600"/>
              </a:spcBef>
              <a:defRPr sz="1300">
                <a:solidFill>
                  <a:srgbClr val="2D2D44"/>
                </a:solidFill>
              </a:defRPr>
            </a:pPr>
            <a:r>
              <a:t>Voluntary Participation: Right to withdraw at any time without penalty or impact on treatment</a:t>
            </a:r>
          </a:p>
          <a:p>
            <a:pPr>
              <a:spcBef>
                <a:spcPts val="600"/>
              </a:spcBef>
              <a:defRPr sz="1300">
                <a:solidFill>
                  <a:srgbClr val="2D2D44"/>
                </a:solidFill>
              </a:defRPr>
            </a:pPr>
            <a:r>
              <a:t>Confidentiality: Data coded with IDs; no identifying information in publications; secure storage</a:t>
            </a:r>
          </a:p>
          <a:p>
            <a:pPr>
              <a:spcBef>
                <a:spcPts val="600"/>
              </a:spcBef>
              <a:defRPr sz="1300">
                <a:solidFill>
                  <a:srgbClr val="2D2D44"/>
                </a:solidFill>
              </a:defRPr>
            </a:pPr>
            <a:r>
              <a:t>Non-Maleficence: Control receives active psychoeducation (not waitlist); TAU continued for all</a:t>
            </a:r>
          </a:p>
          <a:p>
            <a:pPr>
              <a:spcBef>
                <a:spcPts val="600"/>
              </a:spcBef>
              <a:defRPr sz="1300">
                <a:solidFill>
                  <a:srgbClr val="2D2D44"/>
                </a:solidFill>
              </a:defRPr>
            </a:pPr>
            <a:r>
              <a:t>Institutional Approval: Ethical clearance from Institutional Ethics Committee (IEC) prior to study</a:t>
            </a:r>
          </a:p>
          <a:p>
            <a:pPr>
              <a:spcBef>
                <a:spcPts val="600"/>
              </a:spcBef>
              <a:defRPr sz="1300">
                <a:solidFill>
                  <a:srgbClr val="2D2D44"/>
                </a:solidFill>
              </a:defRPr>
            </a:pPr>
            <a:r>
              <a:t>Debriefing: Control group offered MBRP orientation post-study if desired</a:t>
            </a:r>
          </a:p>
          <a:p>
            <a:pPr>
              <a:spcBef>
                <a:spcPts val="600"/>
              </a:spcBef>
              <a:defRPr sz="1300">
                <a:solidFill>
                  <a:srgbClr val="2D2D44"/>
                </a:solidFill>
              </a:defRPr>
            </a:pPr>
            <a:r>
              <a:t>Compliance: ICMR (2017) National Ethical Guidelines for Biomedical and Health Research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Expected Results</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CRAVING (HCQ):</a:t>
            </a:r>
          </a:p>
          <a:p>
            <a:pPr>
              <a:spcBef>
                <a:spcPts val="600"/>
              </a:spcBef>
              <a:defRPr sz="1300">
                <a:solidFill>
                  <a:srgbClr val="2D2D44"/>
                </a:solidFill>
              </a:defRPr>
            </a:pPr>
            <a:r>
              <a:t>  Significant REDUCTION in Experimental group vs. Control | Mechanism: Urge surfing reduces automatic craving reactivity</a:t>
            </a:r>
          </a:p>
          <a:p>
            <a:pPr>
              <a:spcBef>
                <a:spcPts val="600"/>
              </a:spcBef>
              <a:defRPr sz="1300">
                <a:solidFill>
                  <a:srgbClr val="2D2D44"/>
                </a:solidFill>
              </a:defRPr>
            </a:pPr>
          </a:p>
          <a:p>
            <a:pPr>
              <a:spcBef>
                <a:spcPts val="600"/>
              </a:spcBef>
              <a:defRPr sz="1300">
                <a:solidFill>
                  <a:srgbClr val="2D2D44"/>
                </a:solidFill>
              </a:defRPr>
            </a:pPr>
            <a:r>
              <a:t>IMPULSIVITY (BIS-11):</a:t>
            </a:r>
          </a:p>
          <a:p>
            <a:pPr>
              <a:spcBef>
                <a:spcPts val="600"/>
              </a:spcBef>
              <a:defRPr sz="1300">
                <a:solidFill>
                  <a:srgbClr val="2D2D44"/>
                </a:solidFill>
              </a:defRPr>
            </a:pPr>
            <a:r>
              <a:t>  Significant REDUCTION (Motor + Attentional) in Experimental group | Mechanism: Mindfulness enhances prefrontal inhibitory control</a:t>
            </a:r>
          </a:p>
          <a:p>
            <a:pPr>
              <a:spcBef>
                <a:spcPts val="600"/>
              </a:spcBef>
              <a:defRPr sz="1300">
                <a:solidFill>
                  <a:srgbClr val="2D2D44"/>
                </a:solidFill>
              </a:defRPr>
            </a:pPr>
          </a:p>
          <a:p>
            <a:pPr>
              <a:spcBef>
                <a:spcPts val="600"/>
              </a:spcBef>
              <a:defRPr sz="1300">
                <a:solidFill>
                  <a:srgbClr val="2D2D44"/>
                </a:solidFill>
              </a:defRPr>
            </a:pPr>
            <a:r>
              <a:t>MINDFULNESS (FFMQ):</a:t>
            </a:r>
          </a:p>
          <a:p>
            <a:pPr>
              <a:spcBef>
                <a:spcPts val="600"/>
              </a:spcBef>
              <a:defRPr sz="1300">
                <a:solidFill>
                  <a:srgbClr val="2D2D44"/>
                </a:solidFill>
              </a:defRPr>
            </a:pPr>
            <a:r>
              <a:t>  Significant INCREASE (Acting with Awareness + Non-Reactivity) in Experimental group | Mechanism: Structured meditation cultivates mindfulness</a:t>
            </a:r>
          </a:p>
          <a:p>
            <a:pPr>
              <a:spcBef>
                <a:spcPts val="600"/>
              </a:spcBef>
              <a:defRPr sz="1300">
                <a:solidFill>
                  <a:srgbClr val="2D2D44"/>
                </a:solidFill>
              </a:defRPr>
            </a:pPr>
          </a:p>
          <a:p>
            <a:pPr>
              <a:spcBef>
                <a:spcPts val="600"/>
              </a:spcBef>
              <a:defRPr sz="1300">
                <a:solidFill>
                  <a:srgbClr val="2D2D44"/>
                </a:solidFill>
              </a:defRPr>
            </a:pPr>
            <a:r>
              <a:t>Overall: Brief MBRP + TAU expected to demonstrate superior outcomes across all three DVs vs. Psychoeducation + TAU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Clinical Implications</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Validates a brief, structured MBRP model feasible for Indian de-addiction settings with time-limited admissions</a:t>
            </a:r>
          </a:p>
          <a:p>
            <a:pPr>
              <a:spcBef>
                <a:spcPts val="600"/>
              </a:spcBef>
              <a:defRPr sz="1300">
                <a:solidFill>
                  <a:srgbClr val="2D2D44"/>
                </a:solidFill>
              </a:defRPr>
            </a:pPr>
            <a:r>
              <a:t>Provides evidence-based psychological intervention to complement pharmacotherapy (OST, naltrexone)</a:t>
            </a:r>
          </a:p>
          <a:p>
            <a:pPr>
              <a:spcBef>
                <a:spcPts val="600"/>
              </a:spcBef>
              <a:defRPr sz="1300">
                <a:solidFill>
                  <a:srgbClr val="2D2D44"/>
                </a:solidFill>
              </a:defRPr>
            </a:pPr>
            <a:r>
              <a:t>Demonstrates mindfulness-based approaches are culturally compatible with Indian populations</a:t>
            </a:r>
          </a:p>
          <a:p>
            <a:pPr>
              <a:spcBef>
                <a:spcPts val="600"/>
              </a:spcBef>
              <a:defRPr sz="1300">
                <a:solidFill>
                  <a:srgbClr val="2D2D44"/>
                </a:solidFill>
              </a:defRPr>
            </a:pPr>
            <a:r>
              <a:t>Addresses multiple relapse risk factors simultaneously through single integrated protocol</a:t>
            </a:r>
          </a:p>
          <a:p>
            <a:pPr>
              <a:spcBef>
                <a:spcPts val="600"/>
              </a:spcBef>
              <a:defRPr sz="1300">
                <a:solidFill>
                  <a:srgbClr val="2D2D44"/>
                </a:solidFill>
              </a:defRPr>
            </a:pPr>
            <a:r>
              <a:t>Supports task-shifting: Brief MBRP deliverable by MPhil-trained Clinical Psychologists</a:t>
            </a:r>
          </a:p>
          <a:p>
            <a:pPr>
              <a:spcBef>
                <a:spcPts val="600"/>
              </a:spcBef>
              <a:defRPr sz="1300">
                <a:solidFill>
                  <a:srgbClr val="2D2D44"/>
                </a:solidFill>
              </a:defRPr>
            </a:pPr>
            <a:r>
              <a:t>Informs national treatment policy (NIMHANS, NDDTC, State Mental Health Authorities)</a:t>
            </a:r>
          </a:p>
          <a:p>
            <a:pPr>
              <a:spcBef>
                <a:spcPts val="600"/>
              </a:spcBef>
              <a:defRPr sz="1300">
                <a:solidFill>
                  <a:srgbClr val="2D2D44"/>
                </a:solidFill>
              </a:defRPr>
            </a:pPr>
            <a:r>
              <a:t>Contributes to RCI-recognized intervention repertoire for clinical psychology practice in India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Limitations</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Sample specificity: Male opioid-dependent patients from single center; limits generalizability</a:t>
            </a:r>
          </a:p>
          <a:p>
            <a:pPr>
              <a:spcBef>
                <a:spcPts val="600"/>
              </a:spcBef>
              <a:defRPr sz="1300">
                <a:solidFill>
                  <a:srgbClr val="2D2D44"/>
                </a:solidFill>
              </a:defRPr>
            </a:pPr>
            <a:r>
              <a:t>Short-term assessment: Post-test immediately after intervention; no long-term follow-up</a:t>
            </a:r>
          </a:p>
          <a:p>
            <a:pPr>
              <a:spcBef>
                <a:spcPts val="600"/>
              </a:spcBef>
              <a:defRPr sz="1300">
                <a:solidFill>
                  <a:srgbClr val="2D2D44"/>
                </a:solidFill>
              </a:defRPr>
            </a:pPr>
            <a:r>
              <a:t>Self-report measures: HCQ, BIS-11, FFMQ susceptible to social desirability bias</a:t>
            </a:r>
          </a:p>
          <a:p>
            <a:pPr>
              <a:spcBef>
                <a:spcPts val="600"/>
              </a:spcBef>
              <a:defRPr sz="1300">
                <a:solidFill>
                  <a:srgbClr val="2D2D44"/>
                </a:solidFill>
              </a:defRPr>
            </a:pPr>
            <a:r>
              <a:t>No biological markers: Craving measured subjectively; no physiological corroboration</a:t>
            </a:r>
          </a:p>
          <a:p>
            <a:pPr>
              <a:spcBef>
                <a:spcPts val="600"/>
              </a:spcBef>
              <a:defRPr sz="1300">
                <a:solidFill>
                  <a:srgbClr val="2D2D44"/>
                </a:solidFill>
              </a:defRPr>
            </a:pPr>
            <a:r>
              <a:t>Therapist effects: Single therapist delivery may introduce confounds</a:t>
            </a:r>
          </a:p>
          <a:p>
            <a:pPr>
              <a:spcBef>
                <a:spcPts val="600"/>
              </a:spcBef>
              <a:defRPr sz="1300">
                <a:solidFill>
                  <a:srgbClr val="2D2D44"/>
                </a:solidFill>
              </a:defRPr>
            </a:pPr>
            <a:r>
              <a:t>Attention control: Psychoeducation controls for contact but not specific mindfulness mechanisms</a:t>
            </a:r>
          </a:p>
          <a:p>
            <a:pPr>
              <a:spcBef>
                <a:spcPts val="600"/>
              </a:spcBef>
              <a:defRPr sz="1300">
                <a:solidFill>
                  <a:srgbClr val="2D2D44"/>
                </a:solidFill>
              </a:defRPr>
            </a:pPr>
            <a:r>
              <a:t>Attrition: Substance-dependent population may show higher dropout rates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Future Directions</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Follow-up: 3-month and 6-month assessments for sustained MBRP effects</a:t>
            </a:r>
          </a:p>
          <a:p>
            <a:pPr>
              <a:spcBef>
                <a:spcPts val="600"/>
              </a:spcBef>
              <a:defRPr sz="1300">
                <a:solidFill>
                  <a:srgbClr val="2D2D44"/>
                </a:solidFill>
              </a:defRPr>
            </a:pPr>
            <a:r>
              <a:t>Multi-site RCTs across multiple Indian de-addiction centers for generalizability</a:t>
            </a:r>
          </a:p>
          <a:p>
            <a:pPr>
              <a:spcBef>
                <a:spcPts val="600"/>
              </a:spcBef>
              <a:defRPr sz="1300">
                <a:solidFill>
                  <a:srgbClr val="2D2D44"/>
                </a:solidFill>
              </a:defRPr>
            </a:pPr>
            <a:r>
              <a:t>Include female participants to examine gender-specific effects</a:t>
            </a:r>
          </a:p>
          <a:p>
            <a:pPr>
              <a:spcBef>
                <a:spcPts val="600"/>
              </a:spcBef>
              <a:defRPr sz="1300">
                <a:solidFill>
                  <a:srgbClr val="2D2D44"/>
                </a:solidFill>
              </a:defRPr>
            </a:pPr>
            <a:r>
              <a:t>Neuroimaging (fMRI/EEG) to examine neural mechanisms of MBRP on craving circuits</a:t>
            </a:r>
          </a:p>
          <a:p>
            <a:pPr>
              <a:spcBef>
                <a:spcPts val="600"/>
              </a:spcBef>
              <a:defRPr sz="1300">
                <a:solidFill>
                  <a:srgbClr val="2D2D44"/>
                </a:solidFill>
              </a:defRPr>
            </a:pPr>
            <a:r>
              <a:t>Dose-response: Compare 6 vs. 8 vs. full 8-week MBRP for optimal dosage</a:t>
            </a:r>
          </a:p>
          <a:p>
            <a:pPr>
              <a:spcBef>
                <a:spcPts val="600"/>
              </a:spcBef>
              <a:defRPr sz="1300">
                <a:solidFill>
                  <a:srgbClr val="2D2D44"/>
                </a:solidFill>
              </a:defRPr>
            </a:pPr>
            <a:r>
              <a:t>Mediator analysis: Whether mindfulness mediates craving/impulsivity reduction</a:t>
            </a:r>
          </a:p>
          <a:p>
            <a:pPr>
              <a:spcBef>
                <a:spcPts val="600"/>
              </a:spcBef>
              <a:defRPr sz="1300">
                <a:solidFill>
                  <a:srgbClr val="2D2D44"/>
                </a:solidFill>
              </a:defRPr>
            </a:pPr>
            <a:r>
              <a:t>Technology-assisted: App-based/digital MBRP for post-discharge and rural access</a:t>
            </a:r>
          </a:p>
          <a:p>
            <a:pPr>
              <a:spcBef>
                <a:spcPts val="600"/>
              </a:spcBef>
              <a:defRPr sz="1300">
                <a:solidFill>
                  <a:srgbClr val="2D2D44"/>
                </a:solidFill>
              </a:defRPr>
            </a:pPr>
            <a:r>
              <a:t>Comparative effectiveness: MBRP vs. CBT vs. ACT in Indian samples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References (1/4)</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Baer, R. A., Smith, G. T., Hopkins, J., Krietemeyer, J., &amp; Toney, L. (2006). Using self-report assessment methods to explore facets of mindfulness. Assessment, 13(1), 27-45.</a:t>
            </a:r>
          </a:p>
          <a:p>
            <a:pPr>
              <a:spcBef>
                <a:spcPts val="600"/>
              </a:spcBef>
              <a:defRPr sz="1300">
                <a:solidFill>
                  <a:srgbClr val="2D2D44"/>
                </a:solidFill>
              </a:defRPr>
            </a:pPr>
            <a:r>
              <a:t>Bowen, S., Chawla, N., &amp; Marlatt, G. A. (2011). Mindfulness-based relapse prevention for addictive behaviors: A clinician's guide. Guilford Press.</a:t>
            </a:r>
          </a:p>
          <a:p>
            <a:pPr>
              <a:spcBef>
                <a:spcPts val="600"/>
              </a:spcBef>
              <a:defRPr sz="1300">
                <a:solidFill>
                  <a:srgbClr val="2D2D44"/>
                </a:solidFill>
              </a:defRPr>
            </a:pPr>
            <a:r>
              <a:t>Bowen, S., &amp; Marlatt, G. A. (2009). Surfing the urge: Brief mindfulness-based intervention for college student smokers. Psychology of Addictive Behaviors, 23(4), 666-671.</a:t>
            </a:r>
          </a:p>
          <a:p>
            <a:pPr>
              <a:spcBef>
                <a:spcPts val="600"/>
              </a:spcBef>
              <a:defRPr sz="1300">
                <a:solidFill>
                  <a:srgbClr val="2D2D44"/>
                </a:solidFill>
              </a:defRPr>
            </a:pPr>
            <a:r>
              <a:t>Bowen, S., Witkiewitz, K., Clifasefi, S. L., et al. (2014). Relative efficacy of MBRP, standard RP, and TAU for substance use disorders. JAMA Psychiatry, 71(5), 547-556.</a:t>
            </a:r>
          </a:p>
          <a:p>
            <a:pPr>
              <a:spcBef>
                <a:spcPts val="600"/>
              </a:spcBef>
              <a:defRPr sz="1300">
                <a:solidFill>
                  <a:srgbClr val="2D2D44"/>
                </a:solidFill>
              </a:defRPr>
            </a:pPr>
            <a:r>
              <a:t>Brewer, J. A., Mallik, S., Babuscio, T. A., et al. (2011). Mindfulness training for smoking cessation. Drug and Alcohol Dependence, 119(1-2), 72-80.</a:t>
            </a:r>
          </a:p>
          <a:p>
            <a:pPr>
              <a:spcBef>
                <a:spcPts val="600"/>
              </a:spcBef>
              <a:defRPr sz="1300">
                <a:solidFill>
                  <a:srgbClr val="2D2D44"/>
                </a:solidFill>
              </a:defRPr>
            </a:pPr>
            <a:r>
              <a:t>Chiesa, A., &amp; Serretti, A. (2014). Are MBIs effective for substance use disorders? Substance Use &amp; Misuse, 49(5), 492-512.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References (2/4)</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Garland, E. L., Froeliger, B., &amp; Howard, M. O. (2014). Mindfulness training targets neurocognitive mechanisms of addiction. Frontiers in Psychiatry, 4, 173.</a:t>
            </a:r>
          </a:p>
          <a:p>
            <a:pPr>
              <a:spcBef>
                <a:spcPts val="600"/>
              </a:spcBef>
              <a:defRPr sz="1300">
                <a:solidFill>
                  <a:srgbClr val="2D2D44"/>
                </a:solidFill>
              </a:defRPr>
            </a:pPr>
            <a:r>
              <a:t>Garland, E. L., Manusov, E. G., Froeliger, B., et al. (2014). MORE for chronic pain and opioid misuse. J. Consulting and Clinical Psychology, 82(3), 448-459.</a:t>
            </a:r>
          </a:p>
          <a:p>
            <a:pPr>
              <a:spcBef>
                <a:spcPts val="600"/>
              </a:spcBef>
              <a:defRPr sz="1300">
                <a:solidFill>
                  <a:srgbClr val="2D2D44"/>
                </a:solidFill>
              </a:defRPr>
            </a:pPr>
            <a:r>
              <a:t>Garland, E. L., Roberts-Lewis, A., Tronnier, C. D., et al. (2016). MORE vs. CBT for co-occurring substance dependence. J. Consulting and Clinical Psychology, 84(4), 281-293.</a:t>
            </a:r>
          </a:p>
          <a:p>
            <a:pPr>
              <a:spcBef>
                <a:spcPts val="600"/>
              </a:spcBef>
              <a:defRPr sz="1300">
                <a:solidFill>
                  <a:srgbClr val="2D2D44"/>
                </a:solidFill>
              </a:defRPr>
            </a:pPr>
            <a:r>
              <a:t>Ghosh, A., Basu, D., &amp; Avasthi, A. (2018). Relapse in opioid dependence: Indian perspective. Indian Journal of Psychiatry, 60(Suppl 4), S469-S476.</a:t>
            </a:r>
          </a:p>
          <a:p>
            <a:pPr>
              <a:spcBef>
                <a:spcPts val="600"/>
              </a:spcBef>
              <a:defRPr sz="1300">
                <a:solidFill>
                  <a:srgbClr val="2D2D44"/>
                </a:solidFill>
              </a:defRPr>
            </a:pPr>
            <a:r>
              <a:t>Glasner-Edwards, S., Mooney, L. J., et al. (2017). MBRP for stimulant dependent adults: Pilot RCT. Mindfulness, 8(1), 126-135.</a:t>
            </a:r>
          </a:p>
          <a:p>
            <a:pPr>
              <a:spcBef>
                <a:spcPts val="600"/>
              </a:spcBef>
              <a:defRPr sz="1300">
                <a:solidFill>
                  <a:srgbClr val="2D2D44"/>
                </a:solidFill>
              </a:defRPr>
            </a:pPr>
            <a:r>
              <a:t>Grant, S., Colaiaco, B., et al. (2017). MBRP for SUDs: Systematic review and meta-analysis. J. Addiction Medicine, 11(5), 386-396.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References (3/4)</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Humeniuk, R., Ali, R., Babor, T. F., et al. (2008). Validation of ASSIST. Addiction, 103(6), 1039-1047.</a:t>
            </a:r>
          </a:p>
          <a:p>
            <a:pPr>
              <a:spcBef>
                <a:spcPts val="600"/>
              </a:spcBef>
              <a:defRPr sz="1300">
                <a:solidFill>
                  <a:srgbClr val="2D2D44"/>
                </a:solidFill>
              </a:defRPr>
            </a:pPr>
            <a:r>
              <a:t>Kabat-Zinn, J. (1990). Full catastrophe living. Delacorte Press.</a:t>
            </a:r>
          </a:p>
          <a:p>
            <a:pPr>
              <a:spcBef>
                <a:spcPts val="600"/>
              </a:spcBef>
              <a:defRPr sz="1300">
                <a:solidFill>
                  <a:srgbClr val="2D2D44"/>
                </a:solidFill>
              </a:defRPr>
            </a:pPr>
            <a:r>
              <a:t>Karyadi, K. A., VanderVeen, J. D., &amp; Cyders, M. A. (2014). Meta-analysis: trait mindfulness and substance use. Drug and Alcohol Dependence, 143, 1-10.</a:t>
            </a:r>
          </a:p>
          <a:p>
            <a:pPr>
              <a:spcBef>
                <a:spcPts val="600"/>
              </a:spcBef>
              <a:defRPr sz="1300">
                <a:solidFill>
                  <a:srgbClr val="2D2D44"/>
                </a:solidFill>
              </a:defRPr>
            </a:pPr>
            <a:r>
              <a:t>Li, W., Howard, M. O., Garland, E. L., et al. (2017). Mindfulness treatment for substance misuse: Meta-analysis. J. Substance Abuse Treatment, 75, 62-96.</a:t>
            </a:r>
          </a:p>
          <a:p>
            <a:pPr>
              <a:spcBef>
                <a:spcPts val="600"/>
              </a:spcBef>
              <a:defRPr sz="1300">
                <a:solidFill>
                  <a:srgbClr val="2D2D44"/>
                </a:solidFill>
              </a:defRPr>
            </a:pPr>
            <a:r>
              <a:t>Marlatt, G. A., &amp; Gordon, J. R. (1985). Relapse prevention. Guilford Press.</a:t>
            </a:r>
          </a:p>
          <a:p>
            <a:pPr>
              <a:spcBef>
                <a:spcPts val="600"/>
              </a:spcBef>
              <a:defRPr sz="1300">
                <a:solidFill>
                  <a:srgbClr val="2D2D44"/>
                </a:solidFill>
              </a:defRPr>
            </a:pPr>
            <a:r>
              <a:t>Mattoo, S. K., Chakrabarti, S., &amp; Anjaiah, M. (2009). Psychosocial factors in relapse. Indian J. Medical Research, 130(6), 702-708.</a:t>
            </a:r>
          </a:p>
          <a:p>
            <a:pPr>
              <a:spcBef>
                <a:spcPts val="600"/>
              </a:spcBef>
              <a:defRPr sz="1300">
                <a:solidFill>
                  <a:srgbClr val="2D2D44"/>
                </a:solidFill>
              </a:defRPr>
            </a:pPr>
            <a:r>
              <a:t>Moeller, F. G., Barratt, E. S., et al. (2001). Psychiatric aspects of impulsivity. Am. J. Psychiatry, 158(11), 1783-1793.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47120" cy="822960"/>
          </a:xfrm>
          <a:prstGeom prst="rect">
            <a:avLst/>
          </a:prstGeom>
          <a:noFill/>
        </p:spPr>
        <p:txBody>
          <a:bodyPr wrap="none">
            <a:spAutoFit/>
          </a:bodyPr>
          <a:lstStyle/>
          <a:p>
            <a:pPr algn="l">
              <a:defRPr sz="2200" b="1">
                <a:solidFill>
                  <a:srgbClr val="FFFFFF"/>
                </a:solidFill>
              </a:defRPr>
            </a:pPr>
            <a:r>
              <a:t>References (4/4)</a:t>
            </a:r>
          </a:p>
        </p:txBody>
      </p:sp>
      <p:sp>
        <p:nvSpPr>
          <p:cNvPr id="4" name="TextBox 3"/>
          <p:cNvSpPr txBox="1"/>
          <p:nvPr/>
        </p:nvSpPr>
        <p:spPr>
          <a:xfrm>
            <a:off x="640080" y="1188720"/>
            <a:ext cx="10881360" cy="5394960"/>
          </a:xfrm>
          <a:prstGeom prst="rect">
            <a:avLst/>
          </a:prstGeom>
          <a:noFill/>
        </p:spPr>
        <p:txBody>
          <a:bodyPr wrap="square">
            <a:spAutoFit/>
          </a:bodyPr>
          <a:lstStyle/>
          <a:p>
            <a:pPr>
              <a:spcBef>
                <a:spcPts val="600"/>
              </a:spcBef>
              <a:defRPr sz="1300">
                <a:solidFill>
                  <a:srgbClr val="2D2D44"/>
                </a:solidFill>
              </a:defRPr>
            </a:pPr>
            <a:r>
              <a:t>Murphy, C., &amp; MacKillop, J. (2012). Impulsivity, mindfulness, and alcohol misuse. Psychopharmacology, 219(2), 527-536.</a:t>
            </a:r>
          </a:p>
          <a:p>
            <a:pPr>
              <a:spcBef>
                <a:spcPts val="600"/>
              </a:spcBef>
              <a:defRPr sz="1300">
                <a:solidFill>
                  <a:srgbClr val="2D2D44"/>
                </a:solidFill>
              </a:defRPr>
            </a:pPr>
            <a:r>
              <a:t>NIDA (2020). Drugs, brains, and behavior: The science of addiction. NIDA.</a:t>
            </a:r>
          </a:p>
          <a:p>
            <a:pPr>
              <a:spcBef>
                <a:spcPts val="600"/>
              </a:spcBef>
              <a:defRPr sz="1300">
                <a:solidFill>
                  <a:srgbClr val="2D2D44"/>
                </a:solidFill>
              </a:defRPr>
            </a:pPr>
            <a:r>
              <a:t>Patton, J. H., Stanford, M. S., &amp; Barratt, E. S. (1995). Factor structure of BIS. J. Clinical Psychology, 51(6), 768-774.</a:t>
            </a:r>
          </a:p>
          <a:p>
            <a:pPr>
              <a:spcBef>
                <a:spcPts val="600"/>
              </a:spcBef>
              <a:defRPr sz="1300">
                <a:solidFill>
                  <a:srgbClr val="2D2D44"/>
                </a:solidFill>
              </a:defRPr>
            </a:pPr>
            <a:r>
              <a:t>Robinson, T. E., &amp; Berridge, K. C. (1993). Neural basis of drug craving. Brain Research Reviews, 18(3), 247-291.</a:t>
            </a:r>
          </a:p>
          <a:p>
            <a:pPr>
              <a:spcBef>
                <a:spcPts val="600"/>
              </a:spcBef>
              <a:defRPr sz="1300">
                <a:solidFill>
                  <a:srgbClr val="2D2D44"/>
                </a:solidFill>
              </a:defRPr>
            </a:pPr>
            <a:r>
              <a:t>Sarkar, S., &amp; Balhara, Y. P. S. (2016). Indian J. Endocrinology and Metabolism, 20(4), 527-533.</a:t>
            </a:r>
          </a:p>
          <a:p>
            <a:pPr>
              <a:spcBef>
                <a:spcPts val="600"/>
              </a:spcBef>
              <a:defRPr sz="1300">
                <a:solidFill>
                  <a:srgbClr val="2D2D44"/>
                </a:solidFill>
              </a:defRPr>
            </a:pPr>
            <a:r>
              <a:t>Tiffany, S. T., et al. (2000). Development of heroin craving questionnaire. Unpublished manuscript.</a:t>
            </a:r>
          </a:p>
          <a:p>
            <a:pPr>
              <a:spcBef>
                <a:spcPts val="600"/>
              </a:spcBef>
              <a:defRPr sz="1300">
                <a:solidFill>
                  <a:srgbClr val="2D2D44"/>
                </a:solidFill>
              </a:defRPr>
            </a:pPr>
            <a:r>
              <a:t>WHO ASSIST Working Group (2002). ASSIST: Development, reliability, feasibility. Addiction, 97(9), 1183-1194.</a:t>
            </a:r>
          </a:p>
          <a:p>
            <a:pPr>
              <a:spcBef>
                <a:spcPts val="600"/>
              </a:spcBef>
              <a:defRPr sz="1300">
                <a:solidFill>
                  <a:srgbClr val="2D2D44"/>
                </a:solidFill>
              </a:defRPr>
            </a:pPr>
            <a:r>
              <a:t>Witkiewitz, K., Bowen, S., Douglas, H., &amp; Hsu, S. H. (2013). MBRP for substance craving. Addictive Behaviors, 38(2), 1563-1571.</a:t>
            </a:r>
          </a:p>
          <a:p>
            <a:pPr>
              <a:spcBef>
                <a:spcPts val="600"/>
              </a:spcBef>
              <a:defRPr sz="1300">
                <a:solidFill>
                  <a:srgbClr val="2D2D44"/>
                </a:solidFill>
              </a:defRPr>
            </a:pPr>
            <a:r>
              <a:t>Zgierska, A., et al. (2009). Mindfulness meditation for SUDs: Systematic review. Substance Abuse, 30(4), 266-294.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