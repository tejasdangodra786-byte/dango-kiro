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Pre-Test (Both Groups)</c:v>
                </c:pt>
              </c:strCache>
            </c:strRef>
          </c:tx>
          <c:cat>
            <c:strRef>
              <c:f>Sheet1!$A$2:$A$4</c:f>
              <c:strCache>
                <c:ptCount val="3"/>
                <c:pt idx="0">
                  <c:v>Craving
(OCDUS)</c:v>
                </c:pt>
                <c:pt idx="1">
                  <c:v>Impulsivity
(BIS-11)</c:v>
                </c:pt>
                <c:pt idx="2">
                  <c:v>Mindfulness
(FFMQ)</c:v>
                </c:pt>
              </c:strCache>
            </c:strRef>
          </c:cat>
          <c:val>
            <c:numRef>
              <c:f>Sheet1!$B$2:$B$4</c:f>
              <c:numCache>
                <c:formatCode>General</c:formatCode>
                <c:ptCount val="3"/>
                <c:pt idx="0">
                  <c:v>35</c:v>
                </c:pt>
                <c:pt idx="1">
                  <c:v>72</c:v>
                </c:pt>
                <c:pt idx="2">
                  <c:v>95</c:v>
                </c:pt>
              </c:numCache>
            </c:numRef>
          </c:val>
        </c:ser>
        <c:ser>
          <c:idx val="1"/>
          <c:order val="1"/>
          <c:tx>
            <c:strRef>
              <c:f>Sheet1!$C$1</c:f>
              <c:strCache>
                <c:ptCount val="1"/>
                <c:pt idx="0">
                  <c:v>Post-Test: MBRP Group</c:v>
                </c:pt>
              </c:strCache>
            </c:strRef>
          </c:tx>
          <c:cat>
            <c:strRef>
              <c:f>Sheet1!$A$2:$A$4</c:f>
              <c:strCache>
                <c:ptCount val="3"/>
                <c:pt idx="0">
                  <c:v>Craving
(OCDUS)</c:v>
                </c:pt>
                <c:pt idx="1">
                  <c:v>Impulsivity
(BIS-11)</c:v>
                </c:pt>
                <c:pt idx="2">
                  <c:v>Mindfulness
(FFMQ)</c:v>
                </c:pt>
              </c:strCache>
            </c:strRef>
          </c:cat>
          <c:val>
            <c:numRef>
              <c:f>Sheet1!$C$2:$C$4</c:f>
              <c:numCache>
                <c:formatCode>General</c:formatCode>
                <c:ptCount val="3"/>
                <c:pt idx="0">
                  <c:v>18</c:v>
                </c:pt>
                <c:pt idx="1">
                  <c:v>55</c:v>
                </c:pt>
                <c:pt idx="2">
                  <c:v>130</c:v>
                </c:pt>
              </c:numCache>
            </c:numRef>
          </c:val>
        </c:ser>
        <c:ser>
          <c:idx val="2"/>
          <c:order val="2"/>
          <c:tx>
            <c:strRef>
              <c:f>Sheet1!$D$1</c:f>
              <c:strCache>
                <c:ptCount val="1"/>
                <c:pt idx="0">
                  <c:v>Post-Test: Control Group</c:v>
                </c:pt>
              </c:strCache>
            </c:strRef>
          </c:tx>
          <c:cat>
            <c:strRef>
              <c:f>Sheet1!$A$2:$A$4</c:f>
              <c:strCache>
                <c:ptCount val="3"/>
                <c:pt idx="0">
                  <c:v>Craving
(OCDUS)</c:v>
                </c:pt>
                <c:pt idx="1">
                  <c:v>Impulsivity
(BIS-11)</c:v>
                </c:pt>
                <c:pt idx="2">
                  <c:v>Mindfulness
(FFMQ)</c:v>
                </c:pt>
              </c:strCache>
            </c:strRef>
          </c:cat>
          <c:val>
            <c:numRef>
              <c:f>Sheet1!$D$2:$D$4</c:f>
              <c:numCache>
                <c:formatCode>General</c:formatCode>
                <c:ptCount val="3"/>
                <c:pt idx="0">
                  <c:v>28</c:v>
                </c:pt>
                <c:pt idx="1">
                  <c:v>65</c:v>
                </c:pt>
                <c:pt idx="2">
                  <c:v>105</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MBRP Group - Mindfulness</c:v>
                </c:pt>
              </c:strCache>
            </c:strRef>
          </c:tx>
          <c:marker>
            <c:symbol val="none"/>
          </c:marker>
          <c:cat>
            <c:strRef>
              <c:f>Sheet1!$A$2:$A$3</c:f>
              <c:strCache>
                <c:ptCount val="2"/>
                <c:pt idx="0">
                  <c:v>Pre-Test</c:v>
                </c:pt>
                <c:pt idx="1">
                  <c:v>Post-Test</c:v>
                </c:pt>
              </c:strCache>
            </c:strRef>
          </c:cat>
          <c:val>
            <c:numRef>
              <c:f>Sheet1!$B$2:$B$3</c:f>
              <c:numCache>
                <c:formatCode>General</c:formatCode>
                <c:ptCount val="2"/>
                <c:pt idx="0">
                  <c:v>95</c:v>
                </c:pt>
                <c:pt idx="1">
                  <c:v>130</c:v>
                </c:pt>
              </c:numCache>
            </c:numRef>
          </c:val>
          <c:smooth val="0"/>
        </c:ser>
        <c:ser>
          <c:idx val="1"/>
          <c:order val="1"/>
          <c:tx>
            <c:strRef>
              <c:f>Sheet1!$C$1</c:f>
              <c:strCache>
                <c:ptCount val="1"/>
                <c:pt idx="0">
                  <c:v>Control Group - Mindfulness</c:v>
                </c:pt>
              </c:strCache>
            </c:strRef>
          </c:tx>
          <c:marker>
            <c:symbol val="none"/>
          </c:marker>
          <c:cat>
            <c:strRef>
              <c:f>Sheet1!$A$2:$A$3</c:f>
              <c:strCache>
                <c:ptCount val="2"/>
                <c:pt idx="0">
                  <c:v>Pre-Test</c:v>
                </c:pt>
                <c:pt idx="1">
                  <c:v>Post-Test</c:v>
                </c:pt>
              </c:strCache>
            </c:strRef>
          </c:cat>
          <c:val>
            <c:numRef>
              <c:f>Sheet1!$C$2:$C$3</c:f>
              <c:numCache>
                <c:formatCode>General</c:formatCode>
                <c:ptCount val="2"/>
                <c:pt idx="0">
                  <c:v>95</c:v>
                </c:pt>
                <c:pt idx="1">
                  <c:v>105</c:v>
                </c:pt>
              </c:numCache>
            </c:numRef>
          </c:val>
          <c:smooth val="0"/>
        </c:ser>
        <c:ser>
          <c:idx val="2"/>
          <c:order val="2"/>
          <c:tx>
            <c:strRef>
              <c:f>Sheet1!$D$1</c:f>
              <c:strCache>
                <c:ptCount val="1"/>
                <c:pt idx="0">
                  <c:v>MBRP Group - Craving</c:v>
                </c:pt>
              </c:strCache>
            </c:strRef>
          </c:tx>
          <c:marker>
            <c:symbol val="none"/>
          </c:marker>
          <c:cat>
            <c:strRef>
              <c:f>Sheet1!$A$2:$A$3</c:f>
              <c:strCache>
                <c:ptCount val="2"/>
                <c:pt idx="0">
                  <c:v>Pre-Test</c:v>
                </c:pt>
                <c:pt idx="1">
                  <c:v>Post-Test</c:v>
                </c:pt>
              </c:strCache>
            </c:strRef>
          </c:cat>
          <c:val>
            <c:numRef>
              <c:f>Sheet1!$D$2:$D$3</c:f>
              <c:numCache>
                <c:formatCode>General</c:formatCode>
                <c:ptCount val="2"/>
                <c:pt idx="0">
                  <c:v>35</c:v>
                </c:pt>
                <c:pt idx="1">
                  <c:v>18</c:v>
                </c:pt>
              </c:numCache>
            </c:numRef>
          </c:val>
          <c:smooth val="0"/>
        </c:ser>
        <c:ser>
          <c:idx val="3"/>
          <c:order val="3"/>
          <c:tx>
            <c:strRef>
              <c:f>Sheet1!$E$1</c:f>
              <c:strCache>
                <c:ptCount val="1"/>
                <c:pt idx="0">
                  <c:v>Control Group - Craving</c:v>
                </c:pt>
              </c:strCache>
            </c:strRef>
          </c:tx>
          <c:marker>
            <c:symbol val="none"/>
          </c:marker>
          <c:cat>
            <c:strRef>
              <c:f>Sheet1!$A$2:$A$3</c:f>
              <c:strCache>
                <c:ptCount val="2"/>
                <c:pt idx="0">
                  <c:v>Pre-Test</c:v>
                </c:pt>
                <c:pt idx="1">
                  <c:v>Post-Test</c:v>
                </c:pt>
              </c:strCache>
            </c:strRef>
          </c:cat>
          <c:val>
            <c:numRef>
              <c:f>Sheet1!$E$2:$E$3</c:f>
              <c:numCache>
                <c:formatCode>General</c:formatCode>
                <c:ptCount val="2"/>
                <c:pt idx="0">
                  <c:v>35</c:v>
                </c:pt>
                <c:pt idx="1">
                  <c:v>28</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01200" y="457200"/>
            <a:ext cx="2286000" cy="2286000"/>
          </a:xfrm>
          <a:prstGeom prst="ellipse">
            <a:avLst/>
          </a:prstGeom>
          <a:solidFill>
            <a:srgbClr val="1B2A4A"/>
          </a:solidFill>
          <a:ln w="25400">
            <a:solidFill>
              <a:srgbClr val="007B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371600"/>
            <a:ext cx="8686800" cy="2560320"/>
          </a:xfrm>
          <a:prstGeom prst="rect">
            <a:avLst/>
          </a:prstGeom>
          <a:noFill/>
        </p:spPr>
        <p:txBody>
          <a:bodyPr wrap="square">
            <a:spAutoFit/>
          </a:bodyPr>
          <a:lstStyle/>
          <a:p>
            <a:pPr>
              <a:defRPr sz="2800" b="1">
                <a:solidFill>
                  <a:srgbClr val="FFFFFF"/>
                </a:solidFill>
              </a:defRPr>
            </a:pPr>
            <a:r>
              <a:t>Efficacy of Brief Mindfulness-Based</a:t>
            </a:r>
          </a:p>
          <a:p>
            <a:pPr>
              <a:defRPr sz="2800" b="1">
                <a:solidFill>
                  <a:srgbClr val="FFFFFF"/>
                </a:solidFill>
              </a:defRPr>
            </a:pPr>
            <a:r>
              <a:t>Relapse Prevention (MBRP) Intervention</a:t>
            </a:r>
          </a:p>
          <a:p>
            <a:pPr>
              <a:spcBef>
                <a:spcPts val="800"/>
              </a:spcBef>
              <a:defRPr sz="2400">
                <a:solidFill>
                  <a:srgbClr val="00A8A8"/>
                </a:solidFill>
              </a:defRPr>
            </a:pPr>
            <a:r>
              <a:t>on Craving, Impulsivity, and Mindfulness</a:t>
            </a:r>
          </a:p>
          <a:p>
            <a:pPr>
              <a:defRPr sz="2400">
                <a:solidFill>
                  <a:srgbClr val="00A8A8"/>
                </a:solidFill>
              </a:defRPr>
            </a:pPr>
            <a:r>
              <a:t>in Substance Dependent Patients</a:t>
            </a:r>
          </a:p>
        </p:txBody>
      </p:sp>
      <p:sp>
        <p:nvSpPr>
          <p:cNvPr id="5" name="Rounded Rectangle 4"/>
          <p:cNvSpPr/>
          <p:nvPr/>
        </p:nvSpPr>
        <p:spPr>
          <a:xfrm>
            <a:off x="1097280" y="4206240"/>
            <a:ext cx="5029200" cy="502920"/>
          </a:xfrm>
          <a:prstGeom prst="round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  MPhil Clinical Psychology Research Synopsis</a:t>
            </a:r>
          </a:p>
        </p:txBody>
      </p:sp>
      <p:sp>
        <p:nvSpPr>
          <p:cNvPr id="6" name="TextBox 5"/>
          <p:cNvSpPr txBox="1"/>
          <p:nvPr/>
        </p:nvSpPr>
        <p:spPr>
          <a:xfrm>
            <a:off x="1097280" y="5029200"/>
            <a:ext cx="7315200" cy="1645920"/>
          </a:xfrm>
          <a:prstGeom prst="rect">
            <a:avLst/>
          </a:prstGeom>
          <a:noFill/>
        </p:spPr>
        <p:txBody>
          <a:bodyPr wrap="none">
            <a:spAutoFit/>
          </a:bodyPr>
          <a:lstStyle/>
          <a:p>
            <a:pPr>
              <a:defRPr sz="1200">
                <a:solidFill>
                  <a:srgbClr val="90A4AE"/>
                </a:solidFill>
              </a:defRPr>
            </a:pPr>
            <a:r>
              <a:t>Researcher: [Name]  |  Guide: [Supervisor Name]</a:t>
            </a:r>
          </a:p>
          <a:p>
            <a:pPr>
              <a:defRPr sz="1200">
                <a:solidFill>
                  <a:srgbClr val="90A4AE"/>
                </a:solidFill>
              </a:defRPr>
            </a:pPr>
            <a:r>
              <a:t>Department of Clinical Psychology</a:t>
            </a:r>
          </a:p>
          <a:p>
            <a:pPr>
              <a:defRPr sz="1200">
                <a:solidFill>
                  <a:srgbClr val="E8B84A"/>
                </a:solidFill>
              </a:defRPr>
            </a:pPr>
            <a:r>
              <a:t>Man Nasha Mukti Kendra  |  [University Name]  |  2026</a:t>
            </a:r>
          </a:p>
        </p:txBody>
      </p:sp>
      <p:sp>
        <p:nvSpPr>
          <p:cNvPr id="7" name="Rectangle 6"/>
          <p:cNvSpPr/>
          <p:nvPr/>
        </p:nvSpPr>
        <p:spPr>
          <a:xfrm>
            <a:off x="0" y="672084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Introduction &amp; Background (1/3)</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2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34440"/>
            <a:ext cx="10515600" cy="411480"/>
          </a:xfrm>
          <a:prstGeom prst="rect">
            <a:avLst/>
          </a:prstGeom>
          <a:noFill/>
        </p:spPr>
        <p:txBody>
          <a:bodyPr wrap="none">
            <a:spAutoFit/>
          </a:bodyPr>
          <a:lstStyle/>
          <a:p>
            <a:pPr>
              <a:defRPr sz="1300" b="1">
                <a:solidFill>
                  <a:srgbClr val="007B83"/>
                </a:solidFill>
              </a:defRPr>
            </a:pPr>
            <a:r>
              <a:t>Substance Dependence: Indian Context</a:t>
            </a:r>
          </a:p>
        </p:txBody>
      </p:sp>
      <p:sp>
        <p:nvSpPr>
          <p:cNvPr id="9" name="TextBox 8"/>
          <p:cNvSpPr txBox="1"/>
          <p:nvPr/>
        </p:nvSpPr>
        <p:spPr>
          <a:xfrm>
            <a:off x="731520" y="1691640"/>
            <a:ext cx="10789920" cy="4526279"/>
          </a:xfrm>
          <a:prstGeom prst="rect">
            <a:avLst/>
          </a:prstGeom>
          <a:noFill/>
        </p:spPr>
        <p:txBody>
          <a:bodyPr wrap="square">
            <a:spAutoFit/>
          </a:bodyPr>
          <a:lstStyle/>
          <a:p>
            <a:pPr>
              <a:spcBef>
                <a:spcPts val="500"/>
              </a:spcBef>
              <a:defRPr sz="1300">
                <a:solidFill>
                  <a:srgbClr val="2C3E50"/>
                </a:solidFill>
              </a:defRPr>
            </a:pPr>
            <a:r>
              <a:t>India faces a significant substance use crisis; MAGNITUDE study (2019) estimated ~3.1 crore individuals affected by substance use disorders</a:t>
            </a:r>
          </a:p>
          <a:p>
            <a:pPr>
              <a:spcBef>
                <a:spcPts val="500"/>
              </a:spcBef>
              <a:defRPr sz="1300">
                <a:solidFill>
                  <a:srgbClr val="2C3E50"/>
                </a:solidFill>
              </a:defRPr>
            </a:pPr>
            <a:r>
              <a:t>Opioid dependence constitutes a major public health burden, particularly in Punjab, Rajasthan, Northeast India, and metropolitan areas</a:t>
            </a:r>
          </a:p>
          <a:p>
            <a:pPr>
              <a:spcBef>
                <a:spcPts val="500"/>
              </a:spcBef>
              <a:defRPr sz="1300">
                <a:solidFill>
                  <a:srgbClr val="2C3E50"/>
                </a:solidFill>
              </a:defRPr>
            </a:pPr>
            <a:r>
              <a:t>WHO estimates India accounts for ~25% of global opioid-related deaths in South-East Asia</a:t>
            </a:r>
          </a:p>
          <a:p>
            <a:pPr>
              <a:spcBef>
                <a:spcPts val="500"/>
              </a:spcBef>
              <a:defRPr sz="1300">
                <a:solidFill>
                  <a:srgbClr val="2C3E50"/>
                </a:solidFill>
              </a:defRPr>
            </a:pPr>
            <a:r>
              <a:t>Indian de-addiction centers, including Man Nasha Mukti Kendra, primarily offer pharmacotherapy (OST, naltrexone) with limited structured psychotherapy</a:t>
            </a:r>
          </a:p>
          <a:p>
            <a:pPr>
              <a:spcBef>
                <a:spcPts val="500"/>
              </a:spcBef>
              <a:defRPr sz="1300">
                <a:solidFill>
                  <a:srgbClr val="2C3E50"/>
                </a:solidFill>
              </a:defRPr>
            </a:pPr>
            <a:r>
              <a:t>Psychosocial interventions remain under-utilized despite evidence of superior combined treatment outcomes</a:t>
            </a:r>
          </a:p>
        </p:txBody>
      </p:sp>
      <p:sp>
        <p:nvSpPr>
          <p:cNvPr id="10" name="Rounded Rectangle 9"/>
          <p:cNvSpPr/>
          <p:nvPr/>
        </p:nvSpPr>
        <p:spPr>
          <a:xfrm>
            <a:off x="731520" y="5029200"/>
            <a:ext cx="10972800" cy="1280160"/>
          </a:xfrm>
          <a:prstGeom prst="roundRect">
            <a:avLst/>
          </a:prstGeom>
          <a:solidFill>
            <a:srgbClr val="D6EAF8"/>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000">
                <a:solidFill>
                  <a:srgbClr val="1B2A4A"/>
                </a:solidFill>
              </a:defRPr>
            </a:pPr>
            <a:r>
              <a:t>KEY ABBREVIATIONS: MBRP = Mindfulness-Based Relapse Prevention | TAU = Treatment As Usual | OCDUS = Obsessive Compulsive Drug Use Scale</a:t>
            </a:r>
          </a:p>
          <a:p>
            <a:pPr>
              <a:defRPr sz="1000">
                <a:solidFill>
                  <a:srgbClr val="1B2A4A"/>
                </a:solidFill>
              </a:defRPr>
            </a:pPr>
            <a:r>
              <a:t>BIS-11 = Barratt Impulsiveness Scale | FFMQ = Five Facet Mindfulness Questionnaire | ASSIST = WHO Substance Screening Test</a:t>
            </a:r>
          </a:p>
          <a:p>
            <a:pPr>
              <a:defRPr sz="1000">
                <a:solidFill>
                  <a:srgbClr val="1B2A4A"/>
                </a:solidFill>
              </a:defRPr>
            </a:pPr>
            <a:r>
              <a:t>OST = Opioid Substitution Therapy | PFC = Prefrontal Cortex | ANCOVA = Analysis of Covariance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Introduction &amp; Background (2/3)</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3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34440"/>
            <a:ext cx="10515600" cy="411480"/>
          </a:xfrm>
          <a:prstGeom prst="rect">
            <a:avLst/>
          </a:prstGeom>
          <a:noFill/>
        </p:spPr>
        <p:txBody>
          <a:bodyPr wrap="none">
            <a:spAutoFit/>
          </a:bodyPr>
          <a:lstStyle/>
          <a:p>
            <a:pPr>
              <a:defRPr sz="1300" b="1">
                <a:solidFill>
                  <a:srgbClr val="007B83"/>
                </a:solidFill>
              </a:defRPr>
            </a:pPr>
            <a:r>
              <a:t>The Relapse Problem in De-Addiction</a:t>
            </a:r>
          </a:p>
        </p:txBody>
      </p:sp>
      <p:sp>
        <p:nvSpPr>
          <p:cNvPr id="9" name="TextBox 8"/>
          <p:cNvSpPr txBox="1"/>
          <p:nvPr/>
        </p:nvSpPr>
        <p:spPr>
          <a:xfrm>
            <a:off x="731520" y="1691640"/>
            <a:ext cx="10789920" cy="4526279"/>
          </a:xfrm>
          <a:prstGeom prst="rect">
            <a:avLst/>
          </a:prstGeom>
          <a:noFill/>
        </p:spPr>
        <p:txBody>
          <a:bodyPr wrap="square">
            <a:spAutoFit/>
          </a:bodyPr>
          <a:lstStyle/>
          <a:p>
            <a:pPr>
              <a:spcBef>
                <a:spcPts val="500"/>
              </a:spcBef>
              <a:defRPr sz="1300">
                <a:solidFill>
                  <a:srgbClr val="2C3E50"/>
                </a:solidFill>
              </a:defRPr>
            </a:pPr>
            <a:r>
              <a:t>Relapse rates in substance dependence range from 40-60% within first year post-treatment (NIDA, 2020)</a:t>
            </a:r>
          </a:p>
          <a:p>
            <a:pPr>
              <a:spcBef>
                <a:spcPts val="500"/>
              </a:spcBef>
              <a:defRPr sz="1300">
                <a:solidFill>
                  <a:srgbClr val="2C3E50"/>
                </a:solidFill>
              </a:defRPr>
            </a:pPr>
            <a:r>
              <a:t>Indian studies report even higher relapse rates (~70-80%) in opioid dependence (Mattoo et al., 2009)</a:t>
            </a:r>
          </a:p>
          <a:p>
            <a:pPr>
              <a:spcBef>
                <a:spcPts val="500"/>
              </a:spcBef>
              <a:defRPr sz="1300">
                <a:solidFill>
                  <a:srgbClr val="2C3E50"/>
                </a:solidFill>
              </a:defRPr>
            </a:pPr>
            <a:r>
              <a:t>Triggers for relapse: craving, negative affect, interpersonal conflict, environmental cues</a:t>
            </a:r>
          </a:p>
          <a:p>
            <a:pPr>
              <a:spcBef>
                <a:spcPts val="500"/>
              </a:spcBef>
              <a:defRPr sz="1300">
                <a:solidFill>
                  <a:srgbClr val="2C3E50"/>
                </a:solidFill>
              </a:defRPr>
            </a:pPr>
            <a:r>
              <a:t>Traditional Relapse Prevention (Marlatt &amp; Gordon, 1985) has moderate efficacy but limited mindfulness integration</a:t>
            </a:r>
          </a:p>
          <a:p>
            <a:pPr>
              <a:spcBef>
                <a:spcPts val="500"/>
              </a:spcBef>
              <a:defRPr sz="1300">
                <a:solidFill>
                  <a:srgbClr val="2C3E50"/>
                </a:solidFill>
              </a:defRPr>
            </a:pPr>
            <a:r>
              <a:t>Automatic cognitive-behavioral patterns perpetuate relapse cycles</a:t>
            </a:r>
          </a:p>
          <a:p>
            <a:pPr>
              <a:spcBef>
                <a:spcPts val="500"/>
              </a:spcBef>
              <a:defRPr sz="1300">
                <a:solidFill>
                  <a:srgbClr val="2C3E50"/>
                </a:solidFill>
              </a:defRPr>
            </a:pPr>
            <a:r>
              <a:t>Brief interventions essential for Indian rehab settings (Man Nasha Mukti Kendra) with limited resources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Introduction &amp; Background (3/3)</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4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34440"/>
            <a:ext cx="10515600" cy="411480"/>
          </a:xfrm>
          <a:prstGeom prst="rect">
            <a:avLst/>
          </a:prstGeom>
          <a:noFill/>
        </p:spPr>
        <p:txBody>
          <a:bodyPr wrap="none">
            <a:spAutoFit/>
          </a:bodyPr>
          <a:lstStyle/>
          <a:p>
            <a:pPr>
              <a:defRPr sz="1300" b="1">
                <a:solidFill>
                  <a:srgbClr val="007B83"/>
                </a:solidFill>
              </a:defRPr>
            </a:pPr>
            <a:r>
              <a:t>Mindfulness in Addiction Treatment</a:t>
            </a:r>
          </a:p>
        </p:txBody>
      </p:sp>
      <p:sp>
        <p:nvSpPr>
          <p:cNvPr id="9" name="TextBox 8"/>
          <p:cNvSpPr txBox="1"/>
          <p:nvPr/>
        </p:nvSpPr>
        <p:spPr>
          <a:xfrm>
            <a:off x="731520" y="1691640"/>
            <a:ext cx="10789920" cy="4526279"/>
          </a:xfrm>
          <a:prstGeom prst="rect">
            <a:avLst/>
          </a:prstGeom>
          <a:noFill/>
        </p:spPr>
        <p:txBody>
          <a:bodyPr wrap="square">
            <a:spAutoFit/>
          </a:bodyPr>
          <a:lstStyle/>
          <a:p>
            <a:pPr>
              <a:spcBef>
                <a:spcPts val="500"/>
              </a:spcBef>
              <a:defRPr sz="1300">
                <a:solidFill>
                  <a:srgbClr val="2C3E50"/>
                </a:solidFill>
              </a:defRPr>
            </a:pPr>
            <a:r>
              <a:t>Mindfulness: intentional, non-judgmental, present-moment awareness (Kabat-Zinn, 1990)</a:t>
            </a:r>
          </a:p>
          <a:p>
            <a:pPr>
              <a:spcBef>
                <a:spcPts val="500"/>
              </a:spcBef>
              <a:defRPr sz="1300">
                <a:solidFill>
                  <a:srgbClr val="2C3E50"/>
                </a:solidFill>
              </a:defRPr>
            </a:pPr>
            <a:r>
              <a:t>MBRP developed by Bowen, Chawla, and Marlatt (2011): integrates MBSR + Cognitive-Behavioral RP</a:t>
            </a:r>
          </a:p>
          <a:p>
            <a:pPr>
              <a:spcBef>
                <a:spcPts val="500"/>
              </a:spcBef>
              <a:defRPr sz="1300">
                <a:solidFill>
                  <a:srgbClr val="2C3E50"/>
                </a:solidFill>
              </a:defRPr>
            </a:pPr>
            <a:r>
              <a:t>Core mechanisms: decentering from craving, disrupting automatic reactivity, increasing distress tolerance</a:t>
            </a:r>
          </a:p>
          <a:p>
            <a:pPr>
              <a:spcBef>
                <a:spcPts val="500"/>
              </a:spcBef>
              <a:defRPr sz="1300">
                <a:solidFill>
                  <a:srgbClr val="2C3E50"/>
                </a:solidFill>
              </a:defRPr>
            </a:pPr>
            <a:r>
              <a:t>MBRP targets 'craving -&gt; use' automaticity by cultivating awareness of triggers</a:t>
            </a:r>
          </a:p>
          <a:p>
            <a:pPr>
              <a:spcBef>
                <a:spcPts val="500"/>
              </a:spcBef>
              <a:defRPr sz="1300">
                <a:solidFill>
                  <a:srgbClr val="2C3E50"/>
                </a:solidFill>
              </a:defRPr>
            </a:pPr>
            <a:r>
              <a:t>Brief adaptations (6 sessions / 3 weeks) show promise for resource-limited rehabilitation settings</a:t>
            </a:r>
          </a:p>
          <a:p>
            <a:pPr>
              <a:spcBef>
                <a:spcPts val="500"/>
              </a:spcBef>
              <a:defRPr sz="1300">
                <a:solidFill>
                  <a:srgbClr val="2C3E50"/>
                </a:solidFill>
              </a:defRPr>
            </a:pPr>
            <a:r>
              <a:t>Growing global evidence supports MBRP; Indian validation remains critically scarce</a:t>
            </a:r>
          </a:p>
          <a:p>
            <a:pPr>
              <a:spcBef>
                <a:spcPts val="500"/>
              </a:spcBef>
              <a:defRPr sz="1300">
                <a:solidFill>
                  <a:srgbClr val="2C3E50"/>
                </a:solidFill>
              </a:defRPr>
            </a:pPr>
            <a:r>
              <a:t>Rationale: Brief MBRP can be feasibly implemented at Man Nasha Mukti Kendra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Variable 1: Craving</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5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280160"/>
            <a:ext cx="5486400" cy="1371600"/>
          </a:xfrm>
          <a:prstGeom prst="roundRect">
            <a:avLst/>
          </a:prstGeom>
          <a:solidFill>
            <a:srgbClr val="FDEDEC"/>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DEFINITION</a:t>
            </a:r>
          </a:p>
          <a:p>
            <a:pPr>
              <a:defRPr sz="1100">
                <a:solidFill>
                  <a:srgbClr val="1A232F"/>
                </a:solidFill>
              </a:defRPr>
            </a:pPr>
            <a:r>
              <a:t>Clinical: Intense subjective urge to use a substance triggered by cues</a:t>
            </a:r>
          </a:p>
          <a:p>
            <a:pPr>
              <a:defRPr sz="1100">
                <a:solidFill>
                  <a:srgbClr val="1A232F"/>
                </a:solidFill>
              </a:defRPr>
            </a:pPr>
            <a:r>
              <a:t>Theoretical: Motivational state from incentive-sensitization</a:t>
            </a:r>
          </a:p>
          <a:p>
            <a:pPr>
              <a:defRPr sz="1100">
                <a:solidFill>
                  <a:srgbClr val="1A232F"/>
                </a:solidFill>
              </a:defRPr>
            </a:pPr>
            <a:r>
              <a:t>(Robinson &amp; Berridge, 1993)</a:t>
            </a:r>
          </a:p>
        </p:txBody>
      </p:sp>
      <p:sp>
        <p:nvSpPr>
          <p:cNvPr id="9" name="Rounded Rectangle 8"/>
          <p:cNvSpPr/>
          <p:nvPr/>
        </p:nvSpPr>
        <p:spPr>
          <a:xfrm>
            <a:off x="6217920" y="1280160"/>
            <a:ext cx="5486400" cy="1371600"/>
          </a:xfrm>
          <a:prstGeom prst="roundRect">
            <a:avLst/>
          </a:prstGeom>
          <a:solidFill>
            <a:srgbClr val="FDEDEC"/>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RELEVANCE IN SUBSTANCE DEPENDENCE</a:t>
            </a:r>
          </a:p>
          <a:p>
            <a:pPr>
              <a:defRPr sz="1100">
                <a:solidFill>
                  <a:srgbClr val="1A232F"/>
                </a:solidFill>
              </a:defRPr>
            </a:pPr>
            <a:r>
              <a:t>Primary predictor of relapse in opioid dependence</a:t>
            </a:r>
          </a:p>
          <a:p>
            <a:pPr>
              <a:defRPr sz="1100">
                <a:solidFill>
                  <a:srgbClr val="1A232F"/>
                </a:solidFill>
              </a:defRPr>
            </a:pPr>
            <a:r>
              <a:t>Mediates cue exposure -&gt; substance use behavior</a:t>
            </a:r>
          </a:p>
          <a:p>
            <a:pPr>
              <a:defRPr sz="1100">
                <a:solidFill>
                  <a:srgbClr val="1A232F"/>
                </a:solidFill>
              </a:defRPr>
            </a:pPr>
            <a:r>
              <a:t>Correlates with severity and treatment dropout</a:t>
            </a:r>
          </a:p>
        </p:txBody>
      </p:sp>
      <p:sp>
        <p:nvSpPr>
          <p:cNvPr id="10" name="Rounded Rectangle 9"/>
          <p:cNvSpPr/>
          <p:nvPr/>
        </p:nvSpPr>
        <p:spPr>
          <a:xfrm>
            <a:off x="548640" y="2834640"/>
            <a:ext cx="5486400" cy="1371600"/>
          </a:xfrm>
          <a:prstGeom prst="roundRect">
            <a:avLst/>
          </a:prstGeom>
          <a:solidFill>
            <a:srgbClr val="FAF0DB"/>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NEUROPSYCHOLOGICAL BASIS</a:t>
            </a:r>
          </a:p>
          <a:p>
            <a:pPr>
              <a:defRPr sz="1100">
                <a:solidFill>
                  <a:srgbClr val="1A232F"/>
                </a:solidFill>
              </a:defRPr>
            </a:pPr>
            <a:r>
              <a:t>Mesolimbic dopamine: VTA -&gt; Nucleus Accumbens</a:t>
            </a:r>
          </a:p>
          <a:p>
            <a:pPr>
              <a:defRPr sz="1100">
                <a:solidFill>
                  <a:srgbClr val="1A232F"/>
                </a:solidFill>
              </a:defRPr>
            </a:pPr>
            <a:r>
              <a:t>PFC hypoactivation during craving episodes</a:t>
            </a:r>
          </a:p>
          <a:p>
            <a:pPr>
              <a:defRPr sz="1100">
                <a:solidFill>
                  <a:srgbClr val="1A232F"/>
                </a:solidFill>
              </a:defRPr>
            </a:pPr>
            <a:r>
              <a:t>Conditioned cue-reward associations</a:t>
            </a:r>
          </a:p>
        </p:txBody>
      </p:sp>
      <p:sp>
        <p:nvSpPr>
          <p:cNvPr id="11" name="Rounded Rectangle 10"/>
          <p:cNvSpPr/>
          <p:nvPr/>
        </p:nvSpPr>
        <p:spPr>
          <a:xfrm>
            <a:off x="6217920" y="2834640"/>
            <a:ext cx="5486400" cy="201168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MBRP TECHNIQUES TARGETING CRAVING</a:t>
            </a:r>
          </a:p>
          <a:p>
            <a:pPr>
              <a:defRPr sz="1100">
                <a:solidFill>
                  <a:srgbClr val="1A232F"/>
                </a:solidFill>
              </a:defRPr>
            </a:pPr>
            <a:r>
              <a:t>- Urge Surfing: Observe craving as transient wave</a:t>
            </a:r>
          </a:p>
          <a:p>
            <a:pPr>
              <a:defRPr sz="1100">
                <a:solidFill>
                  <a:srgbClr val="1A232F"/>
                </a:solidFill>
              </a:defRPr>
            </a:pPr>
            <a:r>
              <a:t>- Mindfulness Exposure: Non-reactive awareness</a:t>
            </a:r>
          </a:p>
          <a:p>
            <a:pPr>
              <a:defRPr sz="1100">
                <a:solidFill>
                  <a:srgbClr val="1A232F"/>
                </a:solidFill>
              </a:defRPr>
            </a:pPr>
            <a:r>
              <a:t>- SOBER Space: Stop-Observe-Breathe-Expand-Respond</a:t>
            </a:r>
          </a:p>
          <a:p>
            <a:pPr>
              <a:defRPr sz="1100">
                <a:solidFill>
                  <a:srgbClr val="1A232F"/>
                </a:solidFill>
              </a:defRPr>
            </a:pPr>
            <a:r>
              <a:t>- Cognitive Decentering: 'I am having a craving'</a:t>
            </a:r>
          </a:p>
        </p:txBody>
      </p:sp>
      <p:sp>
        <p:nvSpPr>
          <p:cNvPr id="12" name="Wave 11"/>
          <p:cNvSpPr/>
          <p:nvPr/>
        </p:nvSpPr>
        <p:spPr>
          <a:xfrm>
            <a:off x="548640" y="4572000"/>
            <a:ext cx="2286000" cy="1097280"/>
          </a:xfrm>
          <a:prstGeom prst="wave">
            <a:avLst/>
          </a:prstGeom>
          <a:solidFill>
            <a:srgbClr val="00A8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URGE</a:t>
            </a:r>
            <a:br/>
            <a:r>
              <a:t>SURFING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Variable 2: Impulsivity</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6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280160"/>
            <a:ext cx="5486400" cy="1371600"/>
          </a:xfrm>
          <a:prstGeom prst="roundRect">
            <a:avLst/>
          </a:prstGeom>
          <a:solidFill>
            <a:srgbClr val="FEF9E7"/>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DEFINITION</a:t>
            </a:r>
          </a:p>
          <a:p>
            <a:pPr>
              <a:defRPr sz="1100">
                <a:solidFill>
                  <a:srgbClr val="1A232F"/>
                </a:solidFill>
              </a:defRPr>
            </a:pPr>
            <a:r>
              <a:t>Clinical: Rapid, unplanned actions without considering</a:t>
            </a:r>
          </a:p>
          <a:p>
            <a:pPr>
              <a:defRPr sz="1100">
                <a:solidFill>
                  <a:srgbClr val="1A232F"/>
                </a:solidFill>
              </a:defRPr>
            </a:pPr>
            <a:r>
              <a:t>consequences (Moeller et al., 2001)</a:t>
            </a:r>
          </a:p>
          <a:p>
            <a:pPr>
              <a:defRPr sz="1100">
                <a:solidFill>
                  <a:srgbClr val="1A232F"/>
                </a:solidFill>
              </a:defRPr>
            </a:pPr>
            <a:r>
              <a:t>Theoretical: Motor + Attentional + Non-Planning (Patton et al., 1995)</a:t>
            </a:r>
          </a:p>
        </p:txBody>
      </p:sp>
      <p:sp>
        <p:nvSpPr>
          <p:cNvPr id="9" name="Rounded Rectangle 8"/>
          <p:cNvSpPr/>
          <p:nvPr/>
        </p:nvSpPr>
        <p:spPr>
          <a:xfrm>
            <a:off x="6217920" y="1280160"/>
            <a:ext cx="5486400" cy="1371600"/>
          </a:xfrm>
          <a:prstGeom prst="roundRect">
            <a:avLst/>
          </a:prstGeom>
          <a:solidFill>
            <a:srgbClr val="FEF9E7"/>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RELEVANCE IN SUBSTANCE DEPENDENCE</a:t>
            </a:r>
          </a:p>
          <a:p>
            <a:pPr>
              <a:defRPr sz="1100">
                <a:solidFill>
                  <a:srgbClr val="1A232F"/>
                </a:solidFill>
              </a:defRPr>
            </a:pPr>
            <a:r>
              <a:t>Higher trait impulsivity predicts relapse</a:t>
            </a:r>
          </a:p>
          <a:p>
            <a:pPr>
              <a:defRPr sz="1100">
                <a:solidFill>
                  <a:srgbClr val="1A232F"/>
                </a:solidFill>
              </a:defRPr>
            </a:pPr>
            <a:r>
              <a:t>Mediates craving-to-use behavior</a:t>
            </a:r>
          </a:p>
          <a:p>
            <a:pPr>
              <a:defRPr sz="1100">
                <a:solidFill>
                  <a:srgbClr val="1A232F"/>
                </a:solidFill>
              </a:defRPr>
            </a:pPr>
            <a:r>
              <a:t>Associated with treatment non-adherence &amp; dropout</a:t>
            </a:r>
          </a:p>
        </p:txBody>
      </p:sp>
      <p:sp>
        <p:nvSpPr>
          <p:cNvPr id="10" name="Rounded Rectangle 9"/>
          <p:cNvSpPr/>
          <p:nvPr/>
        </p:nvSpPr>
        <p:spPr>
          <a:xfrm>
            <a:off x="548640" y="2834640"/>
            <a:ext cx="5486400" cy="1371600"/>
          </a:xfrm>
          <a:prstGeom prst="roundRect">
            <a:avLst/>
          </a:prstGeom>
          <a:solidFill>
            <a:srgbClr val="FDEDEC"/>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NEUROPSYCHOLOGICAL BASIS</a:t>
            </a:r>
          </a:p>
          <a:p>
            <a:pPr>
              <a:defRPr sz="1100">
                <a:solidFill>
                  <a:srgbClr val="1A232F"/>
                </a:solidFill>
              </a:defRPr>
            </a:pPr>
            <a:r>
              <a:t>PFC dysfunction -&gt; impaired executive control</a:t>
            </a:r>
          </a:p>
          <a:p>
            <a:pPr>
              <a:defRPr sz="1100">
                <a:solidFill>
                  <a:srgbClr val="1A232F"/>
                </a:solidFill>
              </a:defRPr>
            </a:pPr>
            <a:r>
              <a:t>Reduced inhibitory control (Go/No-Go paradigms)</a:t>
            </a:r>
          </a:p>
          <a:p>
            <a:pPr>
              <a:defRPr sz="1100">
                <a:solidFill>
                  <a:srgbClr val="1A232F"/>
                </a:solidFill>
              </a:defRPr>
            </a:pPr>
            <a:r>
              <a:t>Impaired delay discounting; DLPFC hypoactivation</a:t>
            </a:r>
          </a:p>
        </p:txBody>
      </p:sp>
      <p:sp>
        <p:nvSpPr>
          <p:cNvPr id="11" name="Rounded Rectangle 10"/>
          <p:cNvSpPr/>
          <p:nvPr/>
        </p:nvSpPr>
        <p:spPr>
          <a:xfrm>
            <a:off x="6217920" y="2834640"/>
            <a:ext cx="5486400" cy="201168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MBRP TECHNIQUES TARGETING IMPULSIVITY</a:t>
            </a:r>
          </a:p>
          <a:p>
            <a:pPr>
              <a:defRPr sz="1100">
                <a:solidFill>
                  <a:srgbClr val="1A232F"/>
                </a:solidFill>
              </a:defRPr>
            </a:pPr>
            <a:r>
              <a:t>- Response Inhibition: Mindful pause before action</a:t>
            </a:r>
          </a:p>
          <a:p>
            <a:pPr>
              <a:defRPr sz="1100">
                <a:solidFill>
                  <a:srgbClr val="1A232F"/>
                </a:solidFill>
              </a:defRPr>
            </a:pPr>
            <a:r>
              <a:t>- Awareness Training: Notice impulse-action sequences</a:t>
            </a:r>
          </a:p>
          <a:p>
            <a:pPr>
              <a:defRPr sz="1100">
                <a:solidFill>
                  <a:srgbClr val="1A232F"/>
                </a:solidFill>
              </a:defRPr>
            </a:pPr>
            <a:r>
              <a:t>- Mindful Decision-Making: Space between stimulus &amp; response</a:t>
            </a:r>
          </a:p>
          <a:p>
            <a:pPr>
              <a:defRPr sz="1100">
                <a:solidFill>
                  <a:srgbClr val="1A232F"/>
                </a:solidFill>
              </a:defRPr>
            </a:pPr>
            <a:r>
              <a:t>- STOP: Stop-Take a breath-Observe-Proceed</a:t>
            </a:r>
          </a:p>
        </p:txBody>
      </p:sp>
      <p:sp>
        <p:nvSpPr>
          <p:cNvPr id="12" name="Octagon 11"/>
          <p:cNvSpPr/>
          <p:nvPr/>
        </p:nvSpPr>
        <p:spPr>
          <a:xfrm>
            <a:off x="731520" y="4572000"/>
            <a:ext cx="1645920" cy="1645920"/>
          </a:xfrm>
          <a:prstGeom prst="octagon">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STOP</a:t>
            </a:r>
            <a:br/>
            <a:r>
              <a:t>Technique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Variable 3: Mindfulness</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7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280160"/>
            <a:ext cx="5486400" cy="13716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DEFINITION</a:t>
            </a:r>
          </a:p>
          <a:p>
            <a:pPr>
              <a:defRPr sz="1100">
                <a:solidFill>
                  <a:srgbClr val="1A232F"/>
                </a:solidFill>
              </a:defRPr>
            </a:pPr>
            <a:r>
              <a:t>Clinical: Present-moment awareness with openness &amp; non-judgment</a:t>
            </a:r>
          </a:p>
          <a:p>
            <a:pPr>
              <a:defRPr sz="1100">
                <a:solidFill>
                  <a:srgbClr val="1A232F"/>
                </a:solidFill>
              </a:defRPr>
            </a:pPr>
            <a:r>
              <a:t>Theoretical: 5 facets - Observing, Describing, Acting with</a:t>
            </a:r>
          </a:p>
          <a:p>
            <a:pPr>
              <a:defRPr sz="1100">
                <a:solidFill>
                  <a:srgbClr val="1A232F"/>
                </a:solidFill>
              </a:defRPr>
            </a:pPr>
            <a:r>
              <a:t>Awareness, Non-Judging, Non-Reactivity (Baer et al., 2006)</a:t>
            </a:r>
          </a:p>
        </p:txBody>
      </p:sp>
      <p:sp>
        <p:nvSpPr>
          <p:cNvPr id="9" name="Rounded Rectangle 8"/>
          <p:cNvSpPr/>
          <p:nvPr/>
        </p:nvSpPr>
        <p:spPr>
          <a:xfrm>
            <a:off x="6217920" y="1280160"/>
            <a:ext cx="5486400" cy="13716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RELEVANCE IN SUBSTANCE DEPENDENCE</a:t>
            </a:r>
          </a:p>
          <a:p>
            <a:pPr>
              <a:defRPr sz="1100">
                <a:solidFill>
                  <a:srgbClr val="1A232F"/>
                </a:solidFill>
              </a:defRPr>
            </a:pPr>
            <a:r>
              <a:t>Substance users show significantly lower mindfulness</a:t>
            </a:r>
          </a:p>
          <a:p>
            <a:pPr>
              <a:defRPr sz="1100">
                <a:solidFill>
                  <a:srgbClr val="1A232F"/>
                </a:solidFill>
              </a:defRPr>
            </a:pPr>
            <a:r>
              <a:t>Acts as protective factor against relapse triggers</a:t>
            </a:r>
          </a:p>
          <a:p>
            <a:pPr>
              <a:defRPr sz="1100">
                <a:solidFill>
                  <a:srgbClr val="1A232F"/>
                </a:solidFill>
              </a:defRPr>
            </a:pPr>
            <a:r>
              <a:t>Improvements mediate MBRP treatment outcomes</a:t>
            </a:r>
          </a:p>
        </p:txBody>
      </p:sp>
      <p:sp>
        <p:nvSpPr>
          <p:cNvPr id="10" name="Rounded Rectangle 9"/>
          <p:cNvSpPr/>
          <p:nvPr/>
        </p:nvSpPr>
        <p:spPr>
          <a:xfrm>
            <a:off x="548640" y="2834640"/>
            <a:ext cx="5486400" cy="1371600"/>
          </a:xfrm>
          <a:prstGeom prst="roundRect">
            <a:avLst/>
          </a:prstGeom>
          <a:solidFill>
            <a:srgbClr val="D6EAF8"/>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NEUROPSYCHOLOGICAL BASIS</a:t>
            </a:r>
          </a:p>
          <a:p>
            <a:pPr>
              <a:defRPr sz="1100">
                <a:solidFill>
                  <a:srgbClr val="1A232F"/>
                </a:solidFill>
              </a:defRPr>
            </a:pPr>
            <a:r>
              <a:t>ACC activation -&gt; enhanced self-regulation</a:t>
            </a:r>
          </a:p>
          <a:p>
            <a:pPr>
              <a:defRPr sz="1100">
                <a:solidFill>
                  <a:srgbClr val="1A232F"/>
                </a:solidFill>
              </a:defRPr>
            </a:pPr>
            <a:r>
              <a:t>Insula -&gt; interoceptive awareness</a:t>
            </a:r>
          </a:p>
          <a:p>
            <a:pPr>
              <a:defRPr sz="1100">
                <a:solidFill>
                  <a:srgbClr val="1A232F"/>
                </a:solidFill>
              </a:defRPr>
            </a:pPr>
            <a:r>
              <a:t>PFC-amygdala connectivity -&gt; emotional regulation</a:t>
            </a:r>
          </a:p>
          <a:p>
            <a:pPr>
              <a:defRPr sz="1100">
                <a:solidFill>
                  <a:srgbClr val="1A232F"/>
                </a:solidFill>
              </a:defRPr>
            </a:pPr>
            <a:r>
              <a:t>DMN regulation -&gt; reduced rumination</a:t>
            </a:r>
          </a:p>
        </p:txBody>
      </p:sp>
      <p:sp>
        <p:nvSpPr>
          <p:cNvPr id="11" name="Rounded Rectangle 10"/>
          <p:cNvSpPr/>
          <p:nvPr/>
        </p:nvSpPr>
        <p:spPr>
          <a:xfrm>
            <a:off x="6217920" y="2834640"/>
            <a:ext cx="5486400" cy="2011680"/>
          </a:xfrm>
          <a:prstGeom prst="roundRect">
            <a:avLst/>
          </a:prstGeom>
          <a:solidFill>
            <a:srgbClr val="FAF0DB"/>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MBRP TECHNIQUES FOR MINDFULNESS</a:t>
            </a:r>
          </a:p>
          <a:p>
            <a:pPr>
              <a:defRPr sz="1100">
                <a:solidFill>
                  <a:srgbClr val="1A232F"/>
                </a:solidFill>
              </a:defRPr>
            </a:pPr>
            <a:r>
              <a:t>- Sitting Meditation: Focused attention on breath</a:t>
            </a:r>
          </a:p>
          <a:p>
            <a:pPr>
              <a:defRPr sz="1100">
                <a:solidFill>
                  <a:srgbClr val="1A232F"/>
                </a:solidFill>
              </a:defRPr>
            </a:pPr>
            <a:r>
              <a:t>- Body Scan: Non-judgmental bodily awareness</a:t>
            </a:r>
          </a:p>
          <a:p>
            <a:pPr>
              <a:defRPr sz="1100">
                <a:solidFill>
                  <a:srgbClr val="1A232F"/>
                </a:solidFill>
              </a:defRPr>
            </a:pPr>
            <a:r>
              <a:t>- Mindful Movement: Present-moment yoga/walking</a:t>
            </a:r>
          </a:p>
          <a:p>
            <a:pPr>
              <a:defRPr sz="1100">
                <a:solidFill>
                  <a:srgbClr val="1A232F"/>
                </a:solidFill>
              </a:defRPr>
            </a:pPr>
            <a:r>
              <a:t>- Non-Judgmental Awareness: Labeling without evaluation</a:t>
            </a:r>
          </a:p>
        </p:txBody>
      </p:sp>
      <p:sp>
        <p:nvSpPr>
          <p:cNvPr id="12" name="Oval 11"/>
          <p:cNvSpPr/>
          <p:nvPr/>
        </p:nvSpPr>
        <p:spPr>
          <a:xfrm>
            <a:off x="914400" y="4754880"/>
            <a:ext cx="1828800" cy="13716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MINDFUL</a:t>
            </a:r>
            <a:br/>
            <a:r>
              <a:t>AWARENESS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Review of Literature (1/5) - MBRP &amp; Relapse Prevention</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8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34440"/>
            <a:ext cx="10972800" cy="5212080"/>
          </a:xfrm>
          <a:prstGeom prst="rect">
            <a:avLst/>
          </a:prstGeom>
          <a:noFill/>
        </p:spPr>
        <p:txBody>
          <a:bodyPr wrap="square">
            <a:spAutoFit/>
          </a:bodyPr>
          <a:lstStyle/>
          <a:p>
            <a:pPr>
              <a:spcBef>
                <a:spcPts val="800"/>
              </a:spcBef>
              <a:spcAft>
                <a:spcPts val="300"/>
              </a:spcAft>
              <a:defRPr sz="1100">
                <a:solidFill>
                  <a:srgbClr val="2C3E50"/>
                </a:solidFill>
              </a:defRPr>
            </a:pPr>
            <a:r>
              <a:t>Bowen et al. (2014) investigate the relative efficacy of Mindfulness-Based Relapse Prevention compared to standard Relapse Prevention and Treatment As Usual for substance use disorders in JAMA Psychiatry. The randomized clinical trial involved 286 participants who had completed initial treatment for substance use disorders. The study demonstrates that at 12-month follow-up, MBRP participants reported significantly fewer days of substance use and heavy drinking compared to both standard RP and TAU groups. The researchers highlight that while all three groups showed initial improvements, MBRP participants maintained superior long-term outcomes, suggesting that the cultivation of mindfulness skills provides a durable protective mechanism against relapse. The study establishes that MBRP's integration of present-moment awareness with traditional cognitive-behavioral relapse prevention strategies creates a synergistic therapeutic effect that addresses both the automatic reactivity underlying craving and the cognitive distortions that precipitate relapse.</a:t>
            </a:r>
          </a:p>
          <a:p>
            <a:pPr>
              <a:spcBef>
                <a:spcPts val="800"/>
              </a:spcBef>
              <a:spcAft>
                <a:spcPts val="300"/>
              </a:spcAft>
              <a:defRPr sz="1100">
                <a:solidFill>
                  <a:srgbClr val="2C3E50"/>
                </a:solidFill>
              </a:defRPr>
            </a:pPr>
          </a:p>
          <a:p>
            <a:pPr>
              <a:spcBef>
                <a:spcPts val="800"/>
              </a:spcBef>
              <a:spcAft>
                <a:spcPts val="300"/>
              </a:spcAft>
              <a:defRPr sz="1100">
                <a:solidFill>
                  <a:srgbClr val="2C3E50"/>
                </a:solidFill>
              </a:defRPr>
            </a:pPr>
            <a:r>
              <a:t>Bowen and Marlatt (2009) examine the effects of brief mindfulness-based intervention on craving among substance users in Psychology of Addictive Behaviors. The study recruited incarcerated individuals with substance use histories and administered a brief urge surfing meditation intervention. Results demonstrated significant reductions in craving intensity and frequency in the mindfulness condition compared to controls. The authors propose that even brief exposure to mindfulness techniques can disrupt the automaticity of craving responses by introducing a meta-cognitive awareness layer between trigger and behavioral response. This study is particularly relevant to the present research as it validates the premise that abbreviated mindfulness interventions can produce meaningful clinical effects on craving, supporting the feasibility of brief MBRP protocols (6 sessions over 3 weeks) in settings like Man Nasha Mukti Kendra where extended programs are impractical.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Review of Literature (2/5) - Craving &amp; Mindfulness Mechanisms</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9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34440"/>
            <a:ext cx="10972800" cy="5212080"/>
          </a:xfrm>
          <a:prstGeom prst="rect">
            <a:avLst/>
          </a:prstGeom>
          <a:noFill/>
        </p:spPr>
        <p:txBody>
          <a:bodyPr wrap="square">
            <a:spAutoFit/>
          </a:bodyPr>
          <a:lstStyle/>
          <a:p>
            <a:pPr>
              <a:spcBef>
                <a:spcPts val="800"/>
              </a:spcBef>
              <a:spcAft>
                <a:spcPts val="300"/>
              </a:spcAft>
              <a:defRPr sz="1100">
                <a:solidFill>
                  <a:srgbClr val="2C3E50"/>
                </a:solidFill>
              </a:defRPr>
            </a:pPr>
            <a:r>
              <a:t>Garland et al. (2014) explore how mindfulness training targets neurocognitive mechanisms of addiction at the attention-appraisal-emotion interface in Frontiers in Psychiatry. The study presents a theoretical and empirical framework demonstrating that Mindfulness-Oriented Recovery Enhancement (MORE) reduces opioid craving through three interconnected mechanisms: attentional reorientation away from drug-related cues, positive reappraisal of previously neutral stimuli to generate natural reward, and enhanced savoring of healthy pleasures. The researchers provide neuroimaging evidence showing that mindfulness practice modulates activity in prefrontal and limbic circuits associated with craving and emotional regulation. The study is significant because it elucidates the precise cognitive-neural pathways through which mindfulness reduces craving in opioid users, providing a mechanistic rationale for MBRP techniques such as urge surfing and mindful awareness of craving sensations.</a:t>
            </a:r>
          </a:p>
          <a:p>
            <a:pPr>
              <a:spcBef>
                <a:spcPts val="800"/>
              </a:spcBef>
              <a:spcAft>
                <a:spcPts val="300"/>
              </a:spcAft>
              <a:defRPr sz="1100">
                <a:solidFill>
                  <a:srgbClr val="2C3E50"/>
                </a:solidFill>
              </a:defRPr>
            </a:pPr>
          </a:p>
          <a:p>
            <a:pPr>
              <a:spcBef>
                <a:spcPts val="800"/>
              </a:spcBef>
              <a:spcAft>
                <a:spcPts val="300"/>
              </a:spcAft>
              <a:defRPr sz="1100">
                <a:solidFill>
                  <a:srgbClr val="2C3E50"/>
                </a:solidFill>
              </a:defRPr>
            </a:pPr>
            <a:r>
              <a:t>Witkiewitz et al. (2013) investigate mindfulness-based relapse prevention effects on substance craving in Addictive Behaviors. The study conducted secondary analyses from a randomized controlled trial comparing MBRP to TAU among individuals in aftercare. Over a 4-month follow-up, MBRP participants demonstrated significantly lower craving levels, and importantly, the relationship between negative affect and subsequent craving was significantly attenuated in the MBRP group. The authors conclude that mindfulness practice weakens the affect-craving pathway by cultivating non-reactive awareness of emotional states, thereby preventing negative emotions from automatically triggering craving responses. This decoupling of affect and craving represents a critical therapeutic mechanism that distinguishes MBRP from traditional relapse prevention approaches.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Review of Literature (3/5) - Impulsivity &amp; Mindfulness</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10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34440"/>
            <a:ext cx="10972800" cy="5212080"/>
          </a:xfrm>
          <a:prstGeom prst="rect">
            <a:avLst/>
          </a:prstGeom>
          <a:noFill/>
        </p:spPr>
        <p:txBody>
          <a:bodyPr wrap="square">
            <a:spAutoFit/>
          </a:bodyPr>
          <a:lstStyle/>
          <a:p>
            <a:pPr>
              <a:spcBef>
                <a:spcPts val="800"/>
              </a:spcBef>
              <a:spcAft>
                <a:spcPts val="300"/>
              </a:spcAft>
              <a:defRPr sz="1100">
                <a:solidFill>
                  <a:srgbClr val="2C3E50"/>
                </a:solidFill>
              </a:defRPr>
            </a:pPr>
            <a:r>
              <a:t>Garland et al. (2016) examine the efficacy of Mindfulness-Oriented Recovery Enhancement versus CBT for co-occurring substance dependence, traumatic stress, and psychiatric disorders in the Journal of Consulting and Clinical Psychology. The study employed a randomized controlled design with substance-dependent adults exhibiting elevated impulsivity. Results demonstrated that the mindfulness-based intervention produced significant reductions in impulsivity scores as measured by the Barratt Impulsiveness Scale (BIS-11), particularly in the motor and attentional impulsivity subscales. The authors theorize that mindfulness meditation strengthens prefrontal cortical inhibitory mechanisms by repeatedly engaging participants in exercises requiring sustained attention, response monitoring, and deliberate non-reactivity. This enhanced top-down cognitive control translates into improved ability to inhibit prepotent impulsive responses, particularly in high-risk situations where automatic substance-seeking behavior would otherwise occur.</a:t>
            </a:r>
          </a:p>
          <a:p>
            <a:pPr>
              <a:spcBef>
                <a:spcPts val="800"/>
              </a:spcBef>
              <a:spcAft>
                <a:spcPts val="300"/>
              </a:spcAft>
              <a:defRPr sz="1100">
                <a:solidFill>
                  <a:srgbClr val="2C3E50"/>
                </a:solidFill>
              </a:defRPr>
            </a:pPr>
          </a:p>
          <a:p>
            <a:pPr>
              <a:spcBef>
                <a:spcPts val="800"/>
              </a:spcBef>
              <a:spcAft>
                <a:spcPts val="300"/>
              </a:spcAft>
              <a:defRPr sz="1100">
                <a:solidFill>
                  <a:srgbClr val="2C3E50"/>
                </a:solidFill>
              </a:defRPr>
            </a:pPr>
            <a:r>
              <a:t>Murphy and MacKillop (2012) explore the interrelationships between impulsivity, mindfulness, and alcohol misuse in Psychopharmacology. Using a cross-sectional design with 340 participants, the researchers found that trait mindfulness was inversely associated with impulsive decision-making as measured by delay discounting tasks. Critically, mindfulness moderated the relationship between impulsivity and substance use problems, such that individuals with higher mindfulness showed weaker associations between impulsivity and alcohol-related consequences. The authors propose that mindfulness functions as a cognitive resource enabling impulsive individuals to override automatic behavioral tendencies through enhanced metacognitive awareness and response flexibility.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Review of Literature (4/5) - Meta-Analyses &amp; Brief Models</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11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34440"/>
            <a:ext cx="10972800" cy="5212080"/>
          </a:xfrm>
          <a:prstGeom prst="rect">
            <a:avLst/>
          </a:prstGeom>
          <a:noFill/>
        </p:spPr>
        <p:txBody>
          <a:bodyPr wrap="square">
            <a:spAutoFit/>
          </a:bodyPr>
          <a:lstStyle/>
          <a:p>
            <a:pPr>
              <a:spcBef>
                <a:spcPts val="800"/>
              </a:spcBef>
              <a:spcAft>
                <a:spcPts val="300"/>
              </a:spcAft>
              <a:defRPr sz="1100">
                <a:solidFill>
                  <a:srgbClr val="2C3E50"/>
                </a:solidFill>
              </a:defRPr>
            </a:pPr>
            <a:r>
              <a:t>Li et al. (2017) conduct a systematic review and meta-analysis of mindfulness treatment for substance misuse in the Journal of Substance Abuse Treatment, encompassing 42 randomized controlled trials. The meta-analytic findings reveal that mindfulness-based interventions produce significant effect sizes for reducing substance misuse (d = 0.33), craving (d = 0.68), and stress (d = 0.44) across diverse populations. The authors highlight that effect sizes for craving reduction are particularly robust, supporting the theoretical premise that mindfulness directly targets craving mechanisms through enhanced interoceptive awareness. Furthermore, the review identifies that interventions of shorter duration (4-8 sessions) demonstrated comparable efficacy to longer protocols when appropriately structured, providing empirical justification for the present study's brief 6-session MBRP adaptation.</a:t>
            </a:r>
          </a:p>
          <a:p>
            <a:pPr>
              <a:spcBef>
                <a:spcPts val="800"/>
              </a:spcBef>
              <a:spcAft>
                <a:spcPts val="300"/>
              </a:spcAft>
              <a:defRPr sz="1100">
                <a:solidFill>
                  <a:srgbClr val="2C3E50"/>
                </a:solidFill>
              </a:defRPr>
            </a:pPr>
          </a:p>
          <a:p>
            <a:pPr>
              <a:spcBef>
                <a:spcPts val="800"/>
              </a:spcBef>
              <a:spcAft>
                <a:spcPts val="300"/>
              </a:spcAft>
              <a:defRPr sz="1100">
                <a:solidFill>
                  <a:srgbClr val="2C3E50"/>
                </a:solidFill>
              </a:defRPr>
            </a:pPr>
            <a:r>
              <a:t>Glasner-Edwards et al. (2017) examine a pilot randomized clinical trial of mindfulness-based relapse prevention for stimulant-dependent adults using an abbreviated 6-session protocol in the journal Mindfulness. The study demonstrates that a condensed mindfulness intervention is both feasible and effective in outpatient settings. Participants showed significant reductions in substance use frequency and craving intensity compared to the health education control. This study directly validates the brief intervention model proposed in the present research, demonstrating that 6-session MBRP protocols can be successfully implemented without substantial loss of efficacy, making them particularly appropriate for Indian rehabilitation settings like Man Nasha Mukti Kendra with typical admission durations of 4-6 weeks.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Review of Literature (5/5) - Indian Context &amp; Research Gap</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12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34440"/>
            <a:ext cx="10972800" cy="5212080"/>
          </a:xfrm>
          <a:prstGeom prst="rect">
            <a:avLst/>
          </a:prstGeom>
          <a:noFill/>
        </p:spPr>
        <p:txBody>
          <a:bodyPr wrap="square">
            <a:spAutoFit/>
          </a:bodyPr>
          <a:lstStyle/>
          <a:p>
            <a:pPr>
              <a:spcBef>
                <a:spcPts val="800"/>
              </a:spcBef>
              <a:spcAft>
                <a:spcPts val="300"/>
              </a:spcAft>
              <a:defRPr sz="1100">
                <a:solidFill>
                  <a:srgbClr val="2C3E50"/>
                </a:solidFill>
              </a:defRPr>
            </a:pPr>
            <a:r>
              <a:t>Ghosh et al. (2018) conduct a comprehensive review of relapse in opioid dependence from an Indian perspective in the Indian Journal of Psychiatry. The study reports alarmingly high relapse rates exceeding 70% among opioid-dependent patients treated in North Indian de-addiction centers, with the majority occurring within three months post-discharge. The authors identify craving, peer influence, negative emotional states, and lack of structured psychological aftercare as primary relapse determinants. Significantly, the review highlights that Indian treatment facilities predominantly rely on pharmacological approaches with minimal integration of evidence-based psychological interventions. The authors advocate for development and validation of structured psychosocial protocols tailored to Indian treatment infrastructure and resource constraints. This directly establishes the clinical need for the present research.</a:t>
            </a:r>
          </a:p>
          <a:p>
            <a:pPr>
              <a:spcBef>
                <a:spcPts val="800"/>
              </a:spcBef>
              <a:spcAft>
                <a:spcPts val="300"/>
              </a:spcAft>
              <a:defRPr sz="1100">
                <a:solidFill>
                  <a:srgbClr val="2C3E50"/>
                </a:solidFill>
              </a:defRPr>
            </a:pPr>
          </a:p>
          <a:p>
            <a:pPr>
              <a:spcBef>
                <a:spcPts val="800"/>
              </a:spcBef>
              <a:spcAft>
                <a:spcPts val="300"/>
              </a:spcAft>
              <a:defRPr sz="1100">
                <a:solidFill>
                  <a:srgbClr val="2C3E50"/>
                </a:solidFill>
              </a:defRPr>
            </a:pPr>
            <a:r>
              <a:t>Sarkar and Balhara (2016) highlight the underutilization of structured psychological interventions in Indian de-addiction settings, identifying barriers including limited trained personnel, absence of culturally validated protocols, and institutional emphasis on pharmacological management. Jain et al. (2013) provide preliminary evidence from a mindfulness-based intervention study with alcohol-dependent patients in India showing initial craving reductions. CRITICAL GAP: No published Indian RCT has tested Brief MBRP specifically in opioid-dependent populations, simultaneously assessing craving, impulsivity, and mindfulness as treatment outcomes. The present study addresses this gap as the first brief MBRP trial designed for Indian de-addiction center infrastructure like Man Nasha Mukti Kendra.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Research Gap</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13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371600"/>
            <a:ext cx="109728" cy="54864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371600"/>
            <a:ext cx="10515600" cy="640080"/>
          </a:xfrm>
          <a:prstGeom prst="rect">
            <a:avLst/>
          </a:prstGeom>
          <a:noFill/>
        </p:spPr>
        <p:txBody>
          <a:bodyPr wrap="square">
            <a:spAutoFit/>
          </a:bodyPr>
          <a:lstStyle/>
          <a:p>
            <a:pPr>
              <a:defRPr sz="1300">
                <a:solidFill>
                  <a:srgbClr val="2C3E50"/>
                </a:solidFill>
              </a:defRPr>
            </a:pPr>
            <a:r>
              <a:t>No Indian RCT has tested MBRP (standard or brief) in opioid-dependent populations</a:t>
            </a:r>
          </a:p>
        </p:txBody>
      </p:sp>
      <p:sp>
        <p:nvSpPr>
          <p:cNvPr id="10" name="Rectangle 9"/>
          <p:cNvSpPr/>
          <p:nvPr/>
        </p:nvSpPr>
        <p:spPr>
          <a:xfrm>
            <a:off x="640080" y="2148840"/>
            <a:ext cx="109728" cy="54864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148840"/>
            <a:ext cx="10515600" cy="640080"/>
          </a:xfrm>
          <a:prstGeom prst="rect">
            <a:avLst/>
          </a:prstGeom>
          <a:noFill/>
        </p:spPr>
        <p:txBody>
          <a:bodyPr wrap="square">
            <a:spAutoFit/>
          </a:bodyPr>
          <a:lstStyle/>
          <a:p>
            <a:pPr>
              <a:defRPr sz="1300">
                <a:solidFill>
                  <a:srgbClr val="2C3E50"/>
                </a:solidFill>
              </a:defRPr>
            </a:pPr>
            <a:r>
              <a:t>Most studies examine craving OR mindfulness alone; few assess all three variables simultaneously</a:t>
            </a:r>
          </a:p>
        </p:txBody>
      </p:sp>
      <p:sp>
        <p:nvSpPr>
          <p:cNvPr id="12" name="Rectangle 11"/>
          <p:cNvSpPr/>
          <p:nvPr/>
        </p:nvSpPr>
        <p:spPr>
          <a:xfrm>
            <a:off x="640080" y="2926080"/>
            <a:ext cx="109728" cy="54864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926080"/>
            <a:ext cx="10515600" cy="640080"/>
          </a:xfrm>
          <a:prstGeom prst="rect">
            <a:avLst/>
          </a:prstGeom>
          <a:noFill/>
        </p:spPr>
        <p:txBody>
          <a:bodyPr wrap="square">
            <a:spAutoFit/>
          </a:bodyPr>
          <a:lstStyle/>
          <a:p>
            <a:pPr>
              <a:defRPr sz="1300">
                <a:solidFill>
                  <a:srgbClr val="2C3E50"/>
                </a:solidFill>
              </a:defRPr>
            </a:pPr>
            <a:r>
              <a:t>No brief MBRP (6 sessions) validated for Indian rehab settings like Man Nasha Mukti Kendra</a:t>
            </a:r>
          </a:p>
        </p:txBody>
      </p:sp>
      <p:sp>
        <p:nvSpPr>
          <p:cNvPr id="14" name="Rectangle 13"/>
          <p:cNvSpPr/>
          <p:nvPr/>
        </p:nvSpPr>
        <p:spPr>
          <a:xfrm>
            <a:off x="640080" y="3703320"/>
            <a:ext cx="109728" cy="548640"/>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703320"/>
            <a:ext cx="10515600" cy="640080"/>
          </a:xfrm>
          <a:prstGeom prst="rect">
            <a:avLst/>
          </a:prstGeom>
          <a:noFill/>
        </p:spPr>
        <p:txBody>
          <a:bodyPr wrap="square">
            <a:spAutoFit/>
          </a:bodyPr>
          <a:lstStyle/>
          <a:p>
            <a:pPr>
              <a:defRPr sz="1300">
                <a:solidFill>
                  <a:srgbClr val="2C3E50"/>
                </a:solidFill>
              </a:defRPr>
            </a:pPr>
            <a:r>
              <a:t>Indian treatment lacks integration of evidence-based psychological interventions alongside OST</a:t>
            </a:r>
          </a:p>
        </p:txBody>
      </p:sp>
      <p:sp>
        <p:nvSpPr>
          <p:cNvPr id="16" name="Rectangle 15"/>
          <p:cNvSpPr/>
          <p:nvPr/>
        </p:nvSpPr>
        <p:spPr>
          <a:xfrm>
            <a:off x="640080" y="4480560"/>
            <a:ext cx="109728" cy="548640"/>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480560"/>
            <a:ext cx="10515600" cy="640080"/>
          </a:xfrm>
          <a:prstGeom prst="rect">
            <a:avLst/>
          </a:prstGeom>
          <a:noFill/>
        </p:spPr>
        <p:txBody>
          <a:bodyPr wrap="square">
            <a:spAutoFit/>
          </a:bodyPr>
          <a:lstStyle/>
          <a:p>
            <a:pPr>
              <a:defRPr sz="1300">
                <a:solidFill>
                  <a:srgbClr val="2C3E50"/>
                </a:solidFill>
              </a:defRPr>
            </a:pPr>
            <a:r>
              <a:t>Global MBRP studies focus on alcohol/polysubstance; opioid-specific evidence is limited</a:t>
            </a:r>
          </a:p>
        </p:txBody>
      </p:sp>
      <p:sp>
        <p:nvSpPr>
          <p:cNvPr id="18" name="Rounded Rectangle 17"/>
          <p:cNvSpPr/>
          <p:nvPr/>
        </p:nvSpPr>
        <p:spPr>
          <a:xfrm>
            <a:off x="640080" y="5303520"/>
            <a:ext cx="10972800" cy="9144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007B83"/>
                </a:solidFill>
              </a:defRPr>
            </a:pPr>
            <a:r>
              <a:t>PRESENT STUDY ADDRESSES: First brief MBRP trial (6 sessions/3 weeks) in Indian opioid-dependent sample at Man Nasha Mukti Kendra</a:t>
            </a:r>
          </a:p>
          <a:p>
            <a:pPr>
              <a:defRPr sz="1200">
                <a:solidFill>
                  <a:srgbClr val="007B83"/>
                </a:solidFill>
              </a:defRPr>
            </a:pPr>
            <a:r>
              <a:t>assessing craving, impulsivity, and mindfulness simultaneously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Aim of the Study</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14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2286000"/>
            <a:ext cx="9418320" cy="22860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500" b="1">
                <a:solidFill>
                  <a:srgbClr val="1B2A4A"/>
                </a:solidFill>
              </a:defRPr>
            </a:pPr>
            <a:r>
              <a:t>To evaluate the efficacy of a Brief Mindfulness-Based Relapse Prevention</a:t>
            </a:r>
          </a:p>
          <a:p>
            <a:pPr>
              <a:defRPr sz="1400">
                <a:solidFill>
                  <a:srgbClr val="1B2A4A"/>
                </a:solidFill>
              </a:defRPr>
            </a:pPr>
            <a:r>
              <a:t>(MBRP) intervention (6 sessions over 3 weeks) in reducing craving and</a:t>
            </a:r>
          </a:p>
          <a:p>
            <a:pPr>
              <a:defRPr sz="1400">
                <a:solidFill>
                  <a:srgbClr val="1B2A4A"/>
                </a:solidFill>
              </a:defRPr>
            </a:pPr>
            <a:r>
              <a:t>impulsivity, and enhancing mindfulness, among male substance-dependent</a:t>
            </a:r>
          </a:p>
          <a:p>
            <a:pPr>
              <a:defRPr sz="1400">
                <a:solidFill>
                  <a:srgbClr val="1B2A4A"/>
                </a:solidFill>
              </a:defRPr>
            </a:pPr>
            <a:r>
              <a:t>patients at Man Nasha Mukti Kendra</a:t>
            </a:r>
          </a:p>
          <a:p>
            <a:pPr>
              <a:defRPr sz="1400">
                <a:solidFill>
                  <a:srgbClr val="1B2A4A"/>
                </a:solidFill>
              </a:defRPr>
            </a:pPr>
          </a:p>
          <a:p>
            <a:pPr>
              <a:defRPr sz="1400">
                <a:solidFill>
                  <a:srgbClr val="1B2A4A"/>
                </a:solidFill>
              </a:defRPr>
            </a:pPr>
            <a:r>
              <a:t>Comparing: Brief MBRP + TAU (Experimental) vs. Psychoeducation + TAU (Control)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Objectives</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15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1. To assess and compare craving levels (pre vs. post) in Experimental (Brief MBRP + TAU) and Control (Psychoeducation + TAU) groups</a:t>
            </a:r>
          </a:p>
          <a:p>
            <a:pPr>
              <a:spcBef>
                <a:spcPts val="500"/>
              </a:spcBef>
              <a:defRPr sz="1300">
                <a:solidFill>
                  <a:srgbClr val="2C3E50"/>
                </a:solidFill>
              </a:defRPr>
            </a:pPr>
            <a:r>
              <a:t>2. To assess and compare impulsivity levels (pre vs. post) in both groups</a:t>
            </a:r>
          </a:p>
          <a:p>
            <a:pPr>
              <a:spcBef>
                <a:spcPts val="500"/>
              </a:spcBef>
              <a:defRPr sz="1300">
                <a:solidFill>
                  <a:srgbClr val="2C3E50"/>
                </a:solidFill>
              </a:defRPr>
            </a:pPr>
            <a:r>
              <a:t>3. To assess and compare mindfulness levels (pre vs. post) in both groups</a:t>
            </a:r>
          </a:p>
          <a:p>
            <a:pPr>
              <a:spcBef>
                <a:spcPts val="500"/>
              </a:spcBef>
              <a:defRPr sz="1300">
                <a:solidFill>
                  <a:srgbClr val="2C3E50"/>
                </a:solidFill>
              </a:defRPr>
            </a:pPr>
            <a:r>
              <a:t>4. To determine whether Brief MBRP + TAU is significantly more effective than Psychoeducation + TAU in reducing craving</a:t>
            </a:r>
          </a:p>
          <a:p>
            <a:pPr>
              <a:spcBef>
                <a:spcPts val="500"/>
              </a:spcBef>
              <a:defRPr sz="1300">
                <a:solidFill>
                  <a:srgbClr val="2C3E50"/>
                </a:solidFill>
              </a:defRPr>
            </a:pPr>
            <a:r>
              <a:t>5. To determine whether Brief MBRP + TAU is significantly more effective than Psychoeducation + TAU in reducing impulsivity</a:t>
            </a:r>
          </a:p>
          <a:p>
            <a:pPr>
              <a:spcBef>
                <a:spcPts val="500"/>
              </a:spcBef>
              <a:defRPr sz="1300">
                <a:solidFill>
                  <a:srgbClr val="2C3E50"/>
                </a:solidFill>
              </a:defRPr>
            </a:pPr>
            <a:r>
              <a:t>6. To determine whether Brief MBRP + TAU is significantly more effective than Psychoeducation + TAU in enhancing mindfulness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Hypotheses (Research &amp; Null)</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16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280160"/>
            <a:ext cx="11064240" cy="22860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1B2A4A"/>
                </a:solidFill>
              </a:defRPr>
            </a:pPr>
            <a:r>
              <a:t>RESEARCH HYPOTHESES (Directional)</a:t>
            </a:r>
          </a:p>
          <a:p>
            <a:pPr>
              <a:defRPr sz="1200">
                <a:solidFill>
                  <a:srgbClr val="1B2A4A"/>
                </a:solidFill>
              </a:defRPr>
            </a:pPr>
            <a:r>
              <a:t>H1: Brief MBRP + TAU will show significantly GREATER REDUCTION in craving (OCDUS) than Psychoeducation + TAU</a:t>
            </a:r>
          </a:p>
          <a:p>
            <a:pPr>
              <a:defRPr sz="1200">
                <a:solidFill>
                  <a:srgbClr val="1B2A4A"/>
                </a:solidFill>
              </a:defRPr>
            </a:pPr>
            <a:r>
              <a:t>H2: Brief MBRP + TAU will show significantly GREATER REDUCTION in impulsivity (BIS-11) than Psychoeducation + TAU</a:t>
            </a:r>
          </a:p>
          <a:p>
            <a:pPr>
              <a:defRPr sz="1200">
                <a:solidFill>
                  <a:srgbClr val="1B2A4A"/>
                </a:solidFill>
              </a:defRPr>
            </a:pPr>
            <a:r>
              <a:t>H3: Brief MBRP + TAU will show significantly GREATER INCREASE in mindfulness (FFMQ) than Psychoeducation + TAU</a:t>
            </a:r>
          </a:p>
        </p:txBody>
      </p:sp>
      <p:sp>
        <p:nvSpPr>
          <p:cNvPr id="9" name="Rounded Rectangle 8"/>
          <p:cNvSpPr/>
          <p:nvPr/>
        </p:nvSpPr>
        <p:spPr>
          <a:xfrm>
            <a:off x="548640" y="3840480"/>
            <a:ext cx="11064240" cy="2286000"/>
          </a:xfrm>
          <a:prstGeom prst="roundRect">
            <a:avLst/>
          </a:prstGeom>
          <a:solidFill>
            <a:srgbClr val="FDEDEC"/>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1A232F"/>
                </a:solidFill>
              </a:defRPr>
            </a:pPr>
            <a:r>
              <a:t>NULL HYPOTHESES</a:t>
            </a:r>
          </a:p>
          <a:p>
            <a:pPr>
              <a:defRPr sz="1200">
                <a:solidFill>
                  <a:srgbClr val="1A232F"/>
                </a:solidFill>
              </a:defRPr>
            </a:pPr>
            <a:r>
              <a:t>H01: No significant difference in craving (OCDUS) between Experimental and Control groups pre-to-post</a:t>
            </a:r>
          </a:p>
          <a:p>
            <a:pPr>
              <a:defRPr sz="1200">
                <a:solidFill>
                  <a:srgbClr val="1A232F"/>
                </a:solidFill>
              </a:defRPr>
            </a:pPr>
            <a:r>
              <a:t>H02: No significant difference in impulsivity (BIS-11) between Experimental and Control groups pre-to-post</a:t>
            </a:r>
          </a:p>
          <a:p>
            <a:pPr>
              <a:defRPr sz="1200">
                <a:solidFill>
                  <a:srgbClr val="1A232F"/>
                </a:solidFill>
              </a:defRPr>
            </a:pPr>
            <a:r>
              <a:t>H03: No significant difference in mindfulness (FFMQ) between Experimental and Control groups pre-to-post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Research Design: Pre-test Post-test Control Group</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17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1828800"/>
            <a:ext cx="1828800" cy="914400"/>
          </a:xfrm>
          <a:prstGeom prst="roundRect">
            <a:avLst/>
          </a:prstGeom>
          <a:solidFill>
            <a:srgbClr val="C98A1A"/>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1A232F"/>
                </a:solidFill>
              </a:defRPr>
            </a:pPr>
            <a:r>
              <a:t>RANDOMIZATION</a:t>
            </a:r>
          </a:p>
          <a:p>
            <a:pPr>
              <a:defRPr sz="1200">
                <a:solidFill>
                  <a:srgbClr val="1A232F"/>
                </a:solidFill>
              </a:defRPr>
            </a:pPr>
            <a:r>
              <a:t>(N = 60)</a:t>
            </a:r>
          </a:p>
        </p:txBody>
      </p:sp>
      <p:sp>
        <p:nvSpPr>
          <p:cNvPr id="9" name="Right Arrow 8"/>
          <p:cNvSpPr/>
          <p:nvPr/>
        </p:nvSpPr>
        <p:spPr>
          <a:xfrm>
            <a:off x="2377440" y="2011680"/>
            <a:ext cx="731520" cy="274320"/>
          </a:xfrm>
          <a:prstGeom prst="rightArrow">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200400" y="1554480"/>
            <a:ext cx="2011680" cy="1371600"/>
          </a:xfrm>
          <a:prstGeom prst="roundRect">
            <a:avLst/>
          </a:prstGeom>
          <a:solidFill>
            <a:srgbClr val="D6EAF8"/>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100" b="1">
                <a:solidFill>
                  <a:srgbClr val="1B2A4A"/>
                </a:solidFill>
              </a:defRPr>
            </a:pPr>
            <a:r>
              <a:t>PRE-TEST (O1)</a:t>
            </a:r>
          </a:p>
          <a:p>
            <a:pPr>
              <a:defRPr sz="1000">
                <a:solidFill>
                  <a:srgbClr val="1B2A4A"/>
                </a:solidFill>
              </a:defRPr>
            </a:pPr>
            <a:r>
              <a:t>OCDUS</a:t>
            </a:r>
          </a:p>
          <a:p>
            <a:pPr>
              <a:defRPr sz="1000">
                <a:solidFill>
                  <a:srgbClr val="1B2A4A"/>
                </a:solidFill>
              </a:defRPr>
            </a:pPr>
            <a:r>
              <a:t>BIS-11</a:t>
            </a:r>
          </a:p>
          <a:p>
            <a:pPr>
              <a:defRPr sz="1000">
                <a:solidFill>
                  <a:srgbClr val="1B2A4A"/>
                </a:solidFill>
              </a:defRPr>
            </a:pPr>
            <a:r>
              <a:t>FFMQ</a:t>
            </a:r>
          </a:p>
          <a:p>
            <a:pPr>
              <a:defRPr sz="1000">
                <a:solidFill>
                  <a:srgbClr val="1B2A4A"/>
                </a:solidFill>
              </a:defRPr>
            </a:pPr>
            <a:r>
              <a:t>ASSIST</a:t>
            </a:r>
          </a:p>
        </p:txBody>
      </p:sp>
      <p:sp>
        <p:nvSpPr>
          <p:cNvPr id="11" name="Right Arrow 10"/>
          <p:cNvSpPr/>
          <p:nvPr/>
        </p:nvSpPr>
        <p:spPr>
          <a:xfrm>
            <a:off x="5303520" y="2011680"/>
            <a:ext cx="731520" cy="274320"/>
          </a:xfrm>
          <a:prstGeom prst="rightArrow">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0" y="1371600"/>
            <a:ext cx="2743200" cy="9144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100" b="1">
                <a:solidFill>
                  <a:srgbClr val="007B83"/>
                </a:solidFill>
              </a:defRPr>
            </a:pPr>
            <a:r>
              <a:t>X1: Brief MBRP + TAU</a:t>
            </a:r>
          </a:p>
          <a:p>
            <a:pPr>
              <a:defRPr sz="1000">
                <a:solidFill>
                  <a:srgbClr val="007B83"/>
                </a:solidFill>
              </a:defRPr>
            </a:pPr>
            <a:r>
              <a:t>6 sessions / 3 weeks</a:t>
            </a:r>
          </a:p>
        </p:txBody>
      </p:sp>
      <p:sp>
        <p:nvSpPr>
          <p:cNvPr id="13" name="Rounded Rectangle 12"/>
          <p:cNvSpPr/>
          <p:nvPr/>
        </p:nvSpPr>
        <p:spPr>
          <a:xfrm>
            <a:off x="6126480" y="2468880"/>
            <a:ext cx="2743200" cy="914400"/>
          </a:xfrm>
          <a:prstGeom prst="roundRect">
            <a:avLst/>
          </a:prstGeom>
          <a:solidFill>
            <a:srgbClr val="FEF9E7"/>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100" b="1">
                <a:solidFill>
                  <a:srgbClr val="F39C12"/>
                </a:solidFill>
              </a:defRPr>
            </a:pPr>
            <a:r>
              <a:t>X2: Psychoeducation + TAU</a:t>
            </a:r>
          </a:p>
          <a:p>
            <a:pPr>
              <a:defRPr sz="1000">
                <a:solidFill>
                  <a:srgbClr val="F39C12"/>
                </a:solidFill>
              </a:defRPr>
            </a:pPr>
            <a:r>
              <a:t>6 sessions / 3 weeks</a:t>
            </a:r>
          </a:p>
        </p:txBody>
      </p:sp>
      <p:sp>
        <p:nvSpPr>
          <p:cNvPr id="14" name="Right Arrow 13"/>
          <p:cNvSpPr/>
          <p:nvPr/>
        </p:nvSpPr>
        <p:spPr>
          <a:xfrm>
            <a:off x="8961120" y="2011680"/>
            <a:ext cx="731520" cy="274320"/>
          </a:xfrm>
          <a:prstGeom prst="rightArrow">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784080" y="1554480"/>
            <a:ext cx="2011680" cy="1371600"/>
          </a:xfrm>
          <a:prstGeom prst="roundRect">
            <a:avLst/>
          </a:prstGeom>
          <a:solidFill>
            <a:srgbClr val="D6EAF8"/>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100" b="1">
                <a:solidFill>
                  <a:srgbClr val="1B2A4A"/>
                </a:solidFill>
              </a:defRPr>
            </a:pPr>
            <a:r>
              <a:t>POST-TEST (O2)</a:t>
            </a:r>
          </a:p>
          <a:p>
            <a:pPr>
              <a:defRPr sz="1000">
                <a:solidFill>
                  <a:srgbClr val="1B2A4A"/>
                </a:solidFill>
              </a:defRPr>
            </a:pPr>
            <a:r>
              <a:t>OCDUS</a:t>
            </a:r>
          </a:p>
          <a:p>
            <a:pPr>
              <a:defRPr sz="1000">
                <a:solidFill>
                  <a:srgbClr val="1B2A4A"/>
                </a:solidFill>
              </a:defRPr>
            </a:pPr>
            <a:r>
              <a:t>BIS-11</a:t>
            </a:r>
          </a:p>
          <a:p>
            <a:pPr>
              <a:defRPr sz="1000">
                <a:solidFill>
                  <a:srgbClr val="1B2A4A"/>
                </a:solidFill>
              </a:defRPr>
            </a:pPr>
            <a:r>
              <a:t>FFMQ</a:t>
            </a:r>
          </a:p>
        </p:txBody>
      </p:sp>
      <p:sp>
        <p:nvSpPr>
          <p:cNvPr id="16" name="TextBox 15"/>
          <p:cNvSpPr txBox="1"/>
          <p:nvPr/>
        </p:nvSpPr>
        <p:spPr>
          <a:xfrm>
            <a:off x="548640" y="4114800"/>
            <a:ext cx="10972800" cy="1828800"/>
          </a:xfrm>
          <a:prstGeom prst="rect">
            <a:avLst/>
          </a:prstGeom>
          <a:noFill/>
        </p:spPr>
        <p:txBody>
          <a:bodyPr wrap="square">
            <a:spAutoFit/>
          </a:bodyPr>
          <a:lstStyle/>
          <a:p>
            <a:pPr>
              <a:defRPr sz="1300" b="1">
                <a:solidFill>
                  <a:srgbClr val="007B83"/>
                </a:solidFill>
              </a:defRPr>
            </a:pPr>
            <a:r>
              <a:t>R   O1   X1   O2   --&gt;  Experimental Group (Brief MBRP + TAU)</a:t>
            </a:r>
          </a:p>
          <a:p>
            <a:pPr>
              <a:defRPr sz="1300" b="1">
                <a:solidFill>
                  <a:srgbClr val="F39C12"/>
                </a:solidFill>
              </a:defRPr>
            </a:pPr>
            <a:r>
              <a:t>R   O1   X2   O2   --&gt;  Control Group (Psychoeducation + TAU)</a:t>
            </a:r>
          </a:p>
          <a:p/>
          <a:p>
            <a:pPr>
              <a:defRPr sz="1100">
                <a:solidFill>
                  <a:srgbClr val="90A4AE"/>
                </a:solidFill>
              </a:defRPr>
            </a:pPr>
            <a:r>
              <a:t>Features: True experimental design | Active control (attention-matched) | TAU continued for all | Setting: Man Nasha Mukti Kendra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Sample &amp; Sampling Strategy</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18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280160"/>
            <a:ext cx="5029200" cy="1645920"/>
          </a:xfrm>
          <a:prstGeom prst="roundRect">
            <a:avLst/>
          </a:prstGeom>
          <a:solidFill>
            <a:srgbClr val="D6EAF8"/>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B2A4A"/>
                </a:solidFill>
              </a:defRPr>
            </a:pPr>
            <a:r>
              <a:t>STAGE 1: PURPOSIVE SELECTION</a:t>
            </a:r>
          </a:p>
          <a:p>
            <a:pPr>
              <a:defRPr sz="1100">
                <a:solidFill>
                  <a:srgbClr val="1B2A4A"/>
                </a:solidFill>
              </a:defRPr>
            </a:pPr>
            <a:r>
              <a:t>Eligible participants identified based on</a:t>
            </a:r>
          </a:p>
          <a:p>
            <a:pPr>
              <a:defRPr sz="1100">
                <a:solidFill>
                  <a:srgbClr val="1B2A4A"/>
                </a:solidFill>
              </a:defRPr>
            </a:pPr>
            <a:r>
              <a:t>inclusion/exclusion criteria from patients</a:t>
            </a:r>
          </a:p>
          <a:p>
            <a:pPr>
              <a:defRPr sz="1100">
                <a:solidFill>
                  <a:srgbClr val="1B2A4A"/>
                </a:solidFill>
              </a:defRPr>
            </a:pPr>
            <a:r>
              <a:t>admitted to Man Nasha Mukti Kendra</a:t>
            </a:r>
          </a:p>
        </p:txBody>
      </p:sp>
      <p:sp>
        <p:nvSpPr>
          <p:cNvPr id="9" name="Right Arrow 8"/>
          <p:cNvSpPr/>
          <p:nvPr/>
        </p:nvSpPr>
        <p:spPr>
          <a:xfrm>
            <a:off x="5669280" y="1828800"/>
            <a:ext cx="731520" cy="274320"/>
          </a:xfrm>
          <a:prstGeom prst="rightArrow">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92240" y="1280160"/>
            <a:ext cx="5029200" cy="164592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007B83"/>
                </a:solidFill>
              </a:defRPr>
            </a:pPr>
            <a:r>
              <a:t>STAGE 2: RANDOM ASSIGNMENT</a:t>
            </a:r>
          </a:p>
          <a:p>
            <a:pPr>
              <a:defRPr sz="1100">
                <a:solidFill>
                  <a:srgbClr val="007B83"/>
                </a:solidFill>
              </a:defRPr>
            </a:pPr>
            <a:r>
              <a:t>Computer-generated randomization</a:t>
            </a:r>
          </a:p>
          <a:p>
            <a:pPr>
              <a:defRPr sz="1100">
                <a:solidFill>
                  <a:srgbClr val="007B83"/>
                </a:solidFill>
              </a:defRPr>
            </a:pPr>
            <a:r>
              <a:t>allocating eligible participants to</a:t>
            </a:r>
          </a:p>
          <a:p>
            <a:pPr>
              <a:defRPr sz="1100">
                <a:solidFill>
                  <a:srgbClr val="007B83"/>
                </a:solidFill>
              </a:defRPr>
            </a:pPr>
            <a:r>
              <a:t>Experimental (n=30) or Control (n=30)</a:t>
            </a:r>
          </a:p>
        </p:txBody>
      </p:sp>
      <p:sp>
        <p:nvSpPr>
          <p:cNvPr id="11" name="Rounded Rectangle 10"/>
          <p:cNvSpPr/>
          <p:nvPr/>
        </p:nvSpPr>
        <p:spPr>
          <a:xfrm>
            <a:off x="548640" y="3291840"/>
            <a:ext cx="5486400" cy="1097280"/>
          </a:xfrm>
          <a:prstGeom prst="roundRect">
            <a:avLst/>
          </a:prstGeom>
          <a:solidFill>
            <a:srgbClr val="ECEFF1"/>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N = 60 (30 per group) | Recruit 70 (35/group) for attrition</a:t>
            </a:r>
          </a:p>
          <a:p>
            <a:pPr>
              <a:defRPr sz="1100">
                <a:solidFill>
                  <a:srgbClr val="1A232F"/>
                </a:solidFill>
              </a:defRPr>
            </a:pPr>
            <a:r>
              <a:t>Male | Age 18-50 | Opioid-dependent | Detoxified</a:t>
            </a:r>
          </a:p>
        </p:txBody>
      </p:sp>
      <p:sp>
        <p:nvSpPr>
          <p:cNvPr id="12" name="Rounded Rectangle 11"/>
          <p:cNvSpPr/>
          <p:nvPr/>
        </p:nvSpPr>
        <p:spPr>
          <a:xfrm>
            <a:off x="548640" y="4572000"/>
            <a:ext cx="11064240" cy="1645920"/>
          </a:xfrm>
          <a:prstGeom prst="roundRect">
            <a:avLst/>
          </a:prstGeom>
          <a:solidFill>
            <a:srgbClr val="FEF9E7"/>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JUSTIFICATION FOR MALE-ONLY SAMPLE</a:t>
            </a:r>
          </a:p>
          <a:p>
            <a:pPr>
              <a:defRPr sz="1100">
                <a:solidFill>
                  <a:srgbClr val="1A232F"/>
                </a:solidFill>
              </a:defRPr>
            </a:pPr>
            <a:r>
              <a:t>- Indian de-addiction centers (including Man Nasha Mukti Kendra) admit ~90-95% male patients</a:t>
            </a:r>
          </a:p>
          <a:p>
            <a:pPr>
              <a:defRPr sz="1100">
                <a:solidFill>
                  <a:srgbClr val="1A232F"/>
                </a:solidFill>
              </a:defRPr>
            </a:pPr>
            <a:r>
              <a:t>- MAGNITUDE study reports male:female ratio ~10:1 for opioid dependence in India</a:t>
            </a:r>
          </a:p>
          <a:p>
            <a:pPr>
              <a:defRPr sz="1100">
                <a:solidFill>
                  <a:srgbClr val="1A232F"/>
                </a:solidFill>
              </a:defRPr>
            </a:pPr>
            <a:r>
              <a:t>- Gender differences in craving, impulsivity, and mindfulness may confound results if mixed sample used</a:t>
            </a:r>
          </a:p>
          <a:p>
            <a:pPr>
              <a:defRPr sz="1100">
                <a:solidFill>
                  <a:srgbClr val="1A232F"/>
                </a:solidFill>
              </a:defRPr>
            </a:pPr>
            <a:r>
              <a:t>- Homogeneous sample strengthens internal validity for this initial efficacy trial</a:t>
            </a:r>
          </a:p>
          <a:p>
            <a:pPr>
              <a:defRPr sz="1100">
                <a:solidFill>
                  <a:srgbClr val="1A232F"/>
                </a:solidFill>
              </a:defRPr>
            </a:pPr>
            <a:r>
              <a:t>- Female-specific MBRP studies recommended as future direction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Sample Size Estimation</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19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286000" y="1371600"/>
            <a:ext cx="7589520" cy="914400"/>
          </a:xfrm>
          <a:prstGeom prst="roundRect">
            <a:avLst/>
          </a:prstGeom>
          <a:solidFill>
            <a:srgbClr val="1B2A4A"/>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700" b="1">
                <a:solidFill>
                  <a:srgbClr val="FFFFFF"/>
                </a:solidFill>
              </a:defRPr>
            </a:pPr>
            <a:r>
              <a:t>n = [(Za/2 + Zb)^2  x  2  x  sigma^2] / d^2</a:t>
            </a:r>
          </a:p>
        </p:txBody>
      </p:sp>
      <p:sp>
        <p:nvSpPr>
          <p:cNvPr id="9" name="Rounded Rectangle 8"/>
          <p:cNvSpPr/>
          <p:nvPr/>
        </p:nvSpPr>
        <p:spPr>
          <a:xfrm>
            <a:off x="548640" y="2560320"/>
            <a:ext cx="5486400" cy="1371600"/>
          </a:xfrm>
          <a:prstGeom prst="roundRect">
            <a:avLst/>
          </a:prstGeom>
          <a:solidFill>
            <a:srgbClr val="D6EAF8"/>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B2A4A"/>
                </a:solidFill>
              </a:defRPr>
            </a:pPr>
            <a:r>
              <a:t>PARAMETERS</a:t>
            </a:r>
          </a:p>
          <a:p>
            <a:pPr>
              <a:defRPr sz="1100">
                <a:solidFill>
                  <a:srgbClr val="1B2A4A"/>
                </a:solidFill>
              </a:defRPr>
            </a:pPr>
            <a:r>
              <a:t>Effect size (d) = 0.50 (medium)</a:t>
            </a:r>
          </a:p>
          <a:p>
            <a:pPr>
              <a:defRPr sz="1100">
                <a:solidFill>
                  <a:srgbClr val="1B2A4A"/>
                </a:solidFill>
              </a:defRPr>
            </a:pPr>
            <a:r>
              <a:t>Power (1-beta) = 0.80 -&gt; Zb = 0.84</a:t>
            </a:r>
          </a:p>
          <a:p>
            <a:pPr>
              <a:defRPr sz="1100">
                <a:solidFill>
                  <a:srgbClr val="1B2A4A"/>
                </a:solidFill>
              </a:defRPr>
            </a:pPr>
            <a:r>
              <a:t>Alpha = 0.05 (two-tailed) -&gt; Za/2 = 1.96</a:t>
            </a:r>
          </a:p>
        </p:txBody>
      </p:sp>
      <p:sp>
        <p:nvSpPr>
          <p:cNvPr id="10" name="Rounded Rectangle 9"/>
          <p:cNvSpPr/>
          <p:nvPr/>
        </p:nvSpPr>
        <p:spPr>
          <a:xfrm>
            <a:off x="6217920" y="2560320"/>
            <a:ext cx="5486400" cy="13716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007B83"/>
                </a:solidFill>
              </a:defRPr>
            </a:pPr>
            <a:r>
              <a:t>CALCULATION</a:t>
            </a:r>
          </a:p>
          <a:p>
            <a:pPr>
              <a:defRPr sz="1100">
                <a:solidFill>
                  <a:srgbClr val="007B83"/>
                </a:solidFill>
              </a:defRPr>
            </a:pPr>
            <a:r>
              <a:t>n = [(1.96 + 0.84)^2 x 2 x 1] / (0.50)^2</a:t>
            </a:r>
          </a:p>
          <a:p>
            <a:pPr>
              <a:defRPr sz="1100">
                <a:solidFill>
                  <a:srgbClr val="007B83"/>
                </a:solidFill>
              </a:defRPr>
            </a:pPr>
            <a:r>
              <a:t>n = [7.84 x 2] / 0.25 = 62.72</a:t>
            </a:r>
          </a:p>
          <a:p>
            <a:pPr>
              <a:defRPr sz="1100">
                <a:solidFill>
                  <a:srgbClr val="007B83"/>
                </a:solidFill>
              </a:defRPr>
            </a:pPr>
            <a:r>
              <a:t>n ~ 63 total (~32 per group)</a:t>
            </a:r>
          </a:p>
        </p:txBody>
      </p:sp>
      <p:sp>
        <p:nvSpPr>
          <p:cNvPr id="11" name="Rounded Rectangle 10"/>
          <p:cNvSpPr/>
          <p:nvPr/>
        </p:nvSpPr>
        <p:spPr>
          <a:xfrm>
            <a:off x="548640" y="4206240"/>
            <a:ext cx="11064240" cy="1645920"/>
          </a:xfrm>
          <a:prstGeom prst="roundRect">
            <a:avLst/>
          </a:prstGeom>
          <a:solidFill>
            <a:srgbClr val="FEF9E7"/>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FINAL DECISION: N = 60 (30 per group)</a:t>
            </a:r>
          </a:p>
          <a:p>
            <a:pPr>
              <a:defRPr sz="1100">
                <a:solidFill>
                  <a:srgbClr val="1A232F"/>
                </a:solidFill>
              </a:defRPr>
            </a:pPr>
            <a:r>
              <a:t>Justification: ANCOVA as primary analysis reduces required n | G*Power 3.1 verification: ANCOVA with 1 covariate -&gt; ~34/group</a:t>
            </a:r>
          </a:p>
          <a:p>
            <a:pPr>
              <a:defRPr sz="1100">
                <a:solidFill>
                  <a:srgbClr val="1A232F"/>
                </a:solidFill>
              </a:defRPr>
            </a:pPr>
            <a:r>
              <a:t>Recruit 70 total (35/group) to account for ~15% attrition in substance-dependent populations</a:t>
            </a:r>
          </a:p>
          <a:p>
            <a:pPr>
              <a:defRPr sz="1100">
                <a:solidFill>
                  <a:srgbClr val="1A232F"/>
                </a:solidFill>
              </a:defRPr>
            </a:pPr>
            <a:r>
              <a:t>Consistent with: Glasner-Edwards et al. (2017), Bowen &amp; Marlatt (2009)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Inclusion Criteria</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20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1. Diagnosis of Substance Dependence as per ICD-10 (F10-F19) / ICD-11 criteria</a:t>
            </a:r>
          </a:p>
          <a:p>
            <a:pPr>
              <a:spcBef>
                <a:spcPts val="500"/>
              </a:spcBef>
              <a:defRPr sz="1300">
                <a:solidFill>
                  <a:srgbClr val="2C3E50"/>
                </a:solidFill>
              </a:defRPr>
            </a:pPr>
            <a:r>
              <a:t>2. Primary substance: Opioids (heroin, pharmaceutical opioids); polysubstance with primary opioid dependence included</a:t>
            </a:r>
          </a:p>
          <a:p>
            <a:pPr>
              <a:spcBef>
                <a:spcPts val="500"/>
              </a:spcBef>
              <a:defRPr sz="1300">
                <a:solidFill>
                  <a:srgbClr val="2C3E50"/>
                </a:solidFill>
              </a:defRPr>
            </a:pPr>
            <a:r>
              <a:t>3. Male participants aged 18-50 years</a:t>
            </a:r>
          </a:p>
          <a:p>
            <a:pPr>
              <a:spcBef>
                <a:spcPts val="500"/>
              </a:spcBef>
              <a:defRPr sz="1300">
                <a:solidFill>
                  <a:srgbClr val="2C3E50"/>
                </a:solidFill>
              </a:defRPr>
            </a:pPr>
            <a:r>
              <a:t>4. Completed detoxification phase (minimum 7 days post-withdrawal)</a:t>
            </a:r>
          </a:p>
          <a:p>
            <a:pPr>
              <a:spcBef>
                <a:spcPts val="500"/>
              </a:spcBef>
              <a:defRPr sz="1300">
                <a:solidFill>
                  <a:srgbClr val="2C3E50"/>
                </a:solidFill>
              </a:defRPr>
            </a:pPr>
            <a:r>
              <a:t>5. Currently admitted at Man Nasha Mukti Kendra</a:t>
            </a:r>
          </a:p>
          <a:p>
            <a:pPr>
              <a:spcBef>
                <a:spcPts val="500"/>
              </a:spcBef>
              <a:defRPr sz="1300">
                <a:solidFill>
                  <a:srgbClr val="2C3E50"/>
                </a:solidFill>
              </a:defRPr>
            </a:pPr>
            <a:r>
              <a:t>6. Minimum education: 5th standard (ability to comprehend psychometric tools)</a:t>
            </a:r>
          </a:p>
          <a:p>
            <a:pPr>
              <a:spcBef>
                <a:spcPts val="500"/>
              </a:spcBef>
              <a:defRPr sz="1300">
                <a:solidFill>
                  <a:srgbClr val="2C3E50"/>
                </a:solidFill>
              </a:defRPr>
            </a:pPr>
            <a:r>
              <a:t>7. Willingness to provide written informed consent</a:t>
            </a:r>
          </a:p>
          <a:p>
            <a:pPr>
              <a:spcBef>
                <a:spcPts val="500"/>
              </a:spcBef>
              <a:defRPr sz="1300">
                <a:solidFill>
                  <a:srgbClr val="2C3E50"/>
                </a:solidFill>
              </a:defRPr>
            </a:pPr>
            <a:r>
              <a:t>8. Able to attend all 6 intervention sessions during 3-week period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Exclusion Criteria</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21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1. Severe psychiatric comorbidity: Psychotic disorders, Bipolar I, severe MDE with suicidality</a:t>
            </a:r>
          </a:p>
          <a:p>
            <a:pPr>
              <a:spcBef>
                <a:spcPts val="500"/>
              </a:spcBef>
              <a:defRPr sz="1300">
                <a:solidFill>
                  <a:srgbClr val="2C3E50"/>
                </a:solidFill>
              </a:defRPr>
            </a:pPr>
            <a:r>
              <a:t>2. Significant cognitive impairment (MMSE &lt; 24) or intellectual disability</a:t>
            </a:r>
          </a:p>
          <a:p>
            <a:pPr>
              <a:spcBef>
                <a:spcPts val="500"/>
              </a:spcBef>
              <a:defRPr sz="1300">
                <a:solidFill>
                  <a:srgbClr val="2C3E50"/>
                </a:solidFill>
              </a:defRPr>
            </a:pPr>
            <a:r>
              <a:t>3. Active withdrawal symptoms (COWS score &gt; 12)</a:t>
            </a:r>
          </a:p>
          <a:p>
            <a:pPr>
              <a:spcBef>
                <a:spcPts val="500"/>
              </a:spcBef>
              <a:defRPr sz="1300">
                <a:solidFill>
                  <a:srgbClr val="2C3E50"/>
                </a:solidFill>
              </a:defRPr>
            </a:pPr>
            <a:r>
              <a:t>4. History of traumatic brain injury with LOC &gt; 30 minutes</a:t>
            </a:r>
          </a:p>
          <a:p>
            <a:pPr>
              <a:spcBef>
                <a:spcPts val="500"/>
              </a:spcBef>
              <a:defRPr sz="1300">
                <a:solidFill>
                  <a:srgbClr val="2C3E50"/>
                </a:solidFill>
              </a:defRPr>
            </a:pPr>
            <a:r>
              <a:t>5. Current participation in another structured psychological intervention study</a:t>
            </a:r>
          </a:p>
          <a:p>
            <a:pPr>
              <a:spcBef>
                <a:spcPts val="500"/>
              </a:spcBef>
              <a:defRPr sz="1300">
                <a:solidFill>
                  <a:srgbClr val="2C3E50"/>
                </a:solidFill>
              </a:defRPr>
            </a:pPr>
            <a:r>
              <a:t>6. Medical instability requiring acute/intensive care</a:t>
            </a:r>
          </a:p>
          <a:p>
            <a:pPr>
              <a:spcBef>
                <a:spcPts val="500"/>
              </a:spcBef>
              <a:defRPr sz="1300">
                <a:solidFill>
                  <a:srgbClr val="2C3E50"/>
                </a:solidFill>
              </a:defRPr>
            </a:pPr>
            <a:r>
              <a:t>7. History of prior formal mindfulness/meditation training exceeding 1 month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Variables</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22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280160"/>
            <a:ext cx="11064240" cy="118872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1B2A4A"/>
                </a:solidFill>
              </a:defRPr>
            </a:pPr>
            <a:r>
              <a:t>INDEPENDENT VARIABLE (IV): Type of Intervention</a:t>
            </a:r>
          </a:p>
          <a:p>
            <a:pPr>
              <a:defRPr sz="1200">
                <a:solidFill>
                  <a:srgbClr val="1B2A4A"/>
                </a:solidFill>
              </a:defRPr>
            </a:pPr>
            <a:r>
              <a:t>Level 1: Brief MBRP + TAU (Experimental Group)  |  Level 2: Psychoeducation + TAU (Control Group)</a:t>
            </a:r>
          </a:p>
        </p:txBody>
      </p:sp>
      <p:sp>
        <p:nvSpPr>
          <p:cNvPr id="9" name="Rounded Rectangle 8"/>
          <p:cNvSpPr/>
          <p:nvPr/>
        </p:nvSpPr>
        <p:spPr>
          <a:xfrm>
            <a:off x="548640" y="2743200"/>
            <a:ext cx="3474720" cy="1371600"/>
          </a:xfrm>
          <a:prstGeom prst="roundRect">
            <a:avLst/>
          </a:prstGeom>
          <a:solidFill>
            <a:srgbClr val="FDEDEC"/>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E74C3C"/>
                </a:solidFill>
              </a:defRPr>
            </a:pPr>
            <a:r>
              <a:t>DV 1: CRAVING</a:t>
            </a:r>
          </a:p>
          <a:p>
            <a:pPr>
              <a:defRPr sz="1100">
                <a:solidFill>
                  <a:srgbClr val="E74C3C"/>
                </a:solidFill>
              </a:defRPr>
            </a:pPr>
            <a:r>
              <a:t>Measured by OCDUS</a:t>
            </a:r>
          </a:p>
          <a:p>
            <a:pPr>
              <a:defRPr sz="1100">
                <a:solidFill>
                  <a:srgbClr val="E74C3C"/>
                </a:solidFill>
              </a:defRPr>
            </a:pPr>
            <a:r>
              <a:t>(Obsessive Compulsive</a:t>
            </a:r>
          </a:p>
          <a:p>
            <a:pPr>
              <a:defRPr sz="1100">
                <a:solidFill>
                  <a:srgbClr val="E74C3C"/>
                </a:solidFill>
              </a:defRPr>
            </a:pPr>
            <a:r>
              <a:t>Drug Use Scale)</a:t>
            </a:r>
          </a:p>
        </p:txBody>
      </p:sp>
      <p:sp>
        <p:nvSpPr>
          <p:cNvPr id="10" name="Rounded Rectangle 9"/>
          <p:cNvSpPr/>
          <p:nvPr/>
        </p:nvSpPr>
        <p:spPr>
          <a:xfrm>
            <a:off x="4297680" y="2743200"/>
            <a:ext cx="3474720" cy="1371600"/>
          </a:xfrm>
          <a:prstGeom prst="roundRect">
            <a:avLst/>
          </a:prstGeom>
          <a:solidFill>
            <a:srgbClr val="FEF9E7"/>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F39C12"/>
                </a:solidFill>
              </a:defRPr>
            </a:pPr>
            <a:r>
              <a:t>DV 2: IMPULSIVITY</a:t>
            </a:r>
          </a:p>
          <a:p>
            <a:pPr>
              <a:defRPr sz="1100">
                <a:solidFill>
                  <a:srgbClr val="F39C12"/>
                </a:solidFill>
              </a:defRPr>
            </a:pPr>
            <a:r>
              <a:t>Measured by BIS-11</a:t>
            </a:r>
          </a:p>
          <a:p>
            <a:pPr>
              <a:defRPr sz="1100">
                <a:solidFill>
                  <a:srgbClr val="F39C12"/>
                </a:solidFill>
              </a:defRPr>
            </a:pPr>
            <a:r>
              <a:t>(Barratt Impulsiveness</a:t>
            </a:r>
          </a:p>
          <a:p>
            <a:pPr>
              <a:defRPr sz="1100">
                <a:solidFill>
                  <a:srgbClr val="F39C12"/>
                </a:solidFill>
              </a:defRPr>
            </a:pPr>
            <a:r>
              <a:t>Scale)</a:t>
            </a:r>
          </a:p>
        </p:txBody>
      </p:sp>
      <p:sp>
        <p:nvSpPr>
          <p:cNvPr id="11" name="Rounded Rectangle 10"/>
          <p:cNvSpPr/>
          <p:nvPr/>
        </p:nvSpPr>
        <p:spPr>
          <a:xfrm>
            <a:off x="8046720" y="2743200"/>
            <a:ext cx="3474720" cy="13716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27AE60"/>
                </a:solidFill>
              </a:defRPr>
            </a:pPr>
            <a:r>
              <a:t>DV 3: MINDFULNESS</a:t>
            </a:r>
          </a:p>
          <a:p>
            <a:pPr>
              <a:defRPr sz="1100">
                <a:solidFill>
                  <a:srgbClr val="27AE60"/>
                </a:solidFill>
              </a:defRPr>
            </a:pPr>
            <a:r>
              <a:t>Measured by FFMQ</a:t>
            </a:r>
          </a:p>
          <a:p>
            <a:pPr>
              <a:defRPr sz="1100">
                <a:solidFill>
                  <a:srgbClr val="27AE60"/>
                </a:solidFill>
              </a:defRPr>
            </a:pPr>
            <a:r>
              <a:t>(Five Facet Mindfulness</a:t>
            </a:r>
          </a:p>
          <a:p>
            <a:pPr>
              <a:defRPr sz="1100">
                <a:solidFill>
                  <a:srgbClr val="27AE60"/>
                </a:solidFill>
              </a:defRPr>
            </a:pPr>
            <a:r>
              <a:t>Questionnaire)</a:t>
            </a:r>
          </a:p>
        </p:txBody>
      </p:sp>
      <p:sp>
        <p:nvSpPr>
          <p:cNvPr id="12" name="Rounded Rectangle 11"/>
          <p:cNvSpPr/>
          <p:nvPr/>
        </p:nvSpPr>
        <p:spPr>
          <a:xfrm>
            <a:off x="548640" y="4389120"/>
            <a:ext cx="11064240" cy="914400"/>
          </a:xfrm>
          <a:prstGeom prst="roundRect">
            <a:avLst/>
          </a:prstGeom>
          <a:solidFill>
            <a:srgbClr val="ECEFF1"/>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2C3E50"/>
                </a:solidFill>
              </a:defRPr>
            </a:pPr>
            <a:r>
              <a:t>CONTROLLED VARIABLES: Age, education, duration of use, severity (ASSIST baseline), TAU components constant, session duration equalized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Tools: Mindfulness &amp; Impulsivity Measures</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23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1. FIVE FACET MINDFULNESS QUESTIONNAIRE (FFMQ) - Baer et al. (2006)</a:t>
            </a:r>
          </a:p>
          <a:p>
            <a:pPr>
              <a:spcBef>
                <a:spcPts val="500"/>
              </a:spcBef>
              <a:defRPr sz="1300">
                <a:solidFill>
                  <a:srgbClr val="2C3E50"/>
                </a:solidFill>
              </a:defRPr>
            </a:pPr>
            <a:r>
              <a:t>   39 items | 5 facets: Observing, Describing, Acting with Awareness, Non-Judging, Non-Reactivity</a:t>
            </a:r>
          </a:p>
          <a:p>
            <a:pPr>
              <a:spcBef>
                <a:spcPts val="500"/>
              </a:spcBef>
              <a:defRPr sz="1300">
                <a:solidFill>
                  <a:srgbClr val="2C3E50"/>
                </a:solidFill>
              </a:defRPr>
            </a:pPr>
            <a:r>
              <a:t>   5-point Likert (1-5) | Higher = greater mindfulness</a:t>
            </a:r>
          </a:p>
          <a:p>
            <a:pPr>
              <a:spcBef>
                <a:spcPts val="500"/>
              </a:spcBef>
              <a:defRPr sz="1300">
                <a:solidFill>
                  <a:srgbClr val="2C3E50"/>
                </a:solidFill>
              </a:defRPr>
            </a:pPr>
            <a:r>
              <a:t>   Reliability: alpha = 0.75-0.91 | Validity: Convergent + sensitive to intervention | Hindi adaptation available</a:t>
            </a:r>
          </a:p>
          <a:p>
            <a:pPr>
              <a:spcBef>
                <a:spcPts val="500"/>
              </a:spcBef>
              <a:defRPr sz="1300">
                <a:solidFill>
                  <a:srgbClr val="2C3E50"/>
                </a:solidFill>
              </a:defRPr>
            </a:pPr>
          </a:p>
          <a:p>
            <a:pPr>
              <a:spcBef>
                <a:spcPts val="500"/>
              </a:spcBef>
              <a:defRPr sz="1300">
                <a:solidFill>
                  <a:srgbClr val="2C3E50"/>
                </a:solidFill>
              </a:defRPr>
            </a:pPr>
            <a:r>
              <a:t>2. BARRATT IMPULSIVENESS SCALE (BIS-11) - Patton et al. (1995)</a:t>
            </a:r>
          </a:p>
          <a:p>
            <a:pPr>
              <a:spcBef>
                <a:spcPts val="500"/>
              </a:spcBef>
              <a:defRPr sz="1300">
                <a:solidFill>
                  <a:srgbClr val="2C3E50"/>
                </a:solidFill>
              </a:defRPr>
            </a:pPr>
            <a:r>
              <a:t>   30 items | 3 factors: Attentional, Motor, Non-Planning Impulsivity</a:t>
            </a:r>
          </a:p>
          <a:p>
            <a:pPr>
              <a:spcBef>
                <a:spcPts val="500"/>
              </a:spcBef>
              <a:defRPr sz="1300">
                <a:solidFill>
                  <a:srgbClr val="2C3E50"/>
                </a:solidFill>
              </a:defRPr>
            </a:pPr>
            <a:r>
              <a:t>   4-point scale (1-4) | Higher = greater impulsivity</a:t>
            </a:r>
          </a:p>
          <a:p>
            <a:pPr>
              <a:spcBef>
                <a:spcPts val="500"/>
              </a:spcBef>
              <a:defRPr sz="1300">
                <a:solidFill>
                  <a:srgbClr val="2C3E50"/>
                </a:solidFill>
              </a:defRPr>
            </a:pPr>
            <a:r>
              <a:t>   Reliability: alpha = 0.79-0.83; test-retest r = 0.83 | Discriminates SUD from controls | Hindi validated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Tools: Craving Assessment - OCDUS</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24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OBSESSIVE COMPULSIVE DRUG USE SCALE (OCDUS) - Franken et al. (2002)</a:t>
            </a:r>
          </a:p>
          <a:p>
            <a:pPr>
              <a:spcBef>
                <a:spcPts val="500"/>
              </a:spcBef>
              <a:defRPr sz="1300">
                <a:solidFill>
                  <a:srgbClr val="2C3E50"/>
                </a:solidFill>
              </a:defRPr>
            </a:pPr>
          </a:p>
          <a:p>
            <a:pPr>
              <a:spcBef>
                <a:spcPts val="500"/>
              </a:spcBef>
              <a:defRPr sz="1300">
                <a:solidFill>
                  <a:srgbClr val="2C3E50"/>
                </a:solidFill>
              </a:defRPr>
            </a:pPr>
            <a:r>
              <a:t>Description: 12-item self-report measuring obsessive thoughts about drug use and compulsive urges</a:t>
            </a:r>
          </a:p>
          <a:p>
            <a:pPr>
              <a:spcBef>
                <a:spcPts val="500"/>
              </a:spcBef>
              <a:defRPr sz="1300">
                <a:solidFill>
                  <a:srgbClr val="2C3E50"/>
                </a:solidFill>
              </a:defRPr>
            </a:pPr>
            <a:r>
              <a:t>Scoring: 5-point scale (0-4) | Total range: 0-48 | Higher = greater craving</a:t>
            </a:r>
          </a:p>
          <a:p>
            <a:pPr>
              <a:spcBef>
                <a:spcPts val="500"/>
              </a:spcBef>
              <a:defRPr sz="1300">
                <a:solidFill>
                  <a:srgbClr val="2C3E50"/>
                </a:solidFill>
              </a:defRPr>
            </a:pPr>
            <a:r>
              <a:t>Subscales: (1) Obsessive thoughts/interference, (2) Desire/control, (3) Resistance to thoughts</a:t>
            </a:r>
          </a:p>
          <a:p>
            <a:pPr>
              <a:spcBef>
                <a:spcPts val="500"/>
              </a:spcBef>
              <a:defRPr sz="1300">
                <a:solidFill>
                  <a:srgbClr val="2C3E50"/>
                </a:solidFill>
              </a:defRPr>
            </a:pPr>
            <a:r>
              <a:t>Reliability: Internal consistency alpha = 0.86-0.90; test-retest r = 0.78</a:t>
            </a:r>
          </a:p>
          <a:p>
            <a:pPr>
              <a:spcBef>
                <a:spcPts val="500"/>
              </a:spcBef>
              <a:defRPr sz="1300">
                <a:solidFill>
                  <a:srgbClr val="2C3E50"/>
                </a:solidFill>
              </a:defRPr>
            </a:pPr>
            <a:r>
              <a:t>Validity: Convergent with VAS craving (r = 0.55-0.67); predicts relapse; sensitive to treatment changes</a:t>
            </a:r>
          </a:p>
          <a:p>
            <a:pPr>
              <a:spcBef>
                <a:spcPts val="500"/>
              </a:spcBef>
              <a:defRPr sz="1300">
                <a:solidFill>
                  <a:srgbClr val="2C3E50"/>
                </a:solidFill>
              </a:defRPr>
            </a:pPr>
            <a:r>
              <a:t>Indian Usability: Applicable to Indian SUD populations; adaptable for Hindi; brief (5 min); suitable for pre-post</a:t>
            </a:r>
          </a:p>
          <a:p>
            <a:pPr>
              <a:spcBef>
                <a:spcPts val="500"/>
              </a:spcBef>
              <a:defRPr sz="1300">
                <a:solidFill>
                  <a:srgbClr val="2C3E50"/>
                </a:solidFill>
              </a:defRPr>
            </a:pPr>
            <a:r>
              <a:t>Justification: Captures both cognitive (obsessive) and behavioral (compulsive) craving dimensions; applicable across substances including opioids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Tools: Severity Assessment - ASSIST (Pre-Test Only)</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25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ALCOHOL, SMOKING AND SUBSTANCE INVOLVEMENT SCREENING TEST (ASSIST) - WHO (2002)</a:t>
            </a:r>
          </a:p>
          <a:p>
            <a:pPr>
              <a:spcBef>
                <a:spcPts val="500"/>
              </a:spcBef>
              <a:defRPr sz="1300">
                <a:solidFill>
                  <a:srgbClr val="2C3E50"/>
                </a:solidFill>
              </a:defRPr>
            </a:pPr>
          </a:p>
          <a:p>
            <a:pPr>
              <a:spcBef>
                <a:spcPts val="500"/>
              </a:spcBef>
              <a:defRPr sz="1300">
                <a:solidFill>
                  <a:srgbClr val="2C3E50"/>
                </a:solidFill>
              </a:defRPr>
            </a:pPr>
            <a:r>
              <a:t>Description: 8-item screening for risk level across 10 substance categories</a:t>
            </a:r>
          </a:p>
          <a:p>
            <a:pPr>
              <a:spcBef>
                <a:spcPts val="500"/>
              </a:spcBef>
              <a:defRPr sz="1300">
                <a:solidFill>
                  <a:srgbClr val="2C3E50"/>
                </a:solidFill>
              </a:defRPr>
            </a:pPr>
            <a:r>
              <a:t>Scoring: Substance-specific risk -&gt; Low (0-3), Moderate (4-26), High (27+)</a:t>
            </a:r>
          </a:p>
          <a:p>
            <a:pPr>
              <a:spcBef>
                <a:spcPts val="500"/>
              </a:spcBef>
              <a:defRPr sz="1300">
                <a:solidFill>
                  <a:srgbClr val="2C3E50"/>
                </a:solidFill>
              </a:defRPr>
            </a:pPr>
            <a:r>
              <a:t>Reliability: Test-retest r = 0.58-0.90; alpha = 0.77-0.94</a:t>
            </a:r>
          </a:p>
          <a:p>
            <a:pPr>
              <a:spcBef>
                <a:spcPts val="500"/>
              </a:spcBef>
              <a:defRPr sz="1300">
                <a:solidFill>
                  <a:srgbClr val="2C3E50"/>
                </a:solidFill>
              </a:defRPr>
            </a:pPr>
            <a:r>
              <a:t>Validity: Sensitivity = 0.80, Specificity = 0.71 for substance dependence</a:t>
            </a:r>
          </a:p>
          <a:p>
            <a:pPr>
              <a:spcBef>
                <a:spcPts val="500"/>
              </a:spcBef>
              <a:defRPr sz="1300">
                <a:solidFill>
                  <a:srgbClr val="2C3E50"/>
                </a:solidFill>
              </a:defRPr>
            </a:pPr>
            <a:r>
              <a:t>Indian: WHO-validated; Hindi version available; used in NDDTC studies; 5-10 min</a:t>
            </a:r>
          </a:p>
          <a:p>
            <a:pPr>
              <a:spcBef>
                <a:spcPts val="500"/>
              </a:spcBef>
              <a:defRPr sz="1300">
                <a:solidFill>
                  <a:srgbClr val="2C3E50"/>
                </a:solidFill>
              </a:defRPr>
            </a:pPr>
            <a:r>
              <a:t>PURPOSE: Used at PRE-TEST ONLY to establish baseline severity and ensure group equivalence</a:t>
            </a:r>
          </a:p>
          <a:p>
            <a:pPr>
              <a:spcBef>
                <a:spcPts val="500"/>
              </a:spcBef>
              <a:defRPr sz="1300">
                <a:solidFill>
                  <a:srgbClr val="2C3E50"/>
                </a:solidFill>
              </a:defRPr>
            </a:pPr>
            <a:r>
              <a:t>NOT used as an outcome measure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Procedure: Research Flow at Man Nasha Mukti Kendra</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26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4320" y="1371600"/>
            <a:ext cx="1554480" cy="2011680"/>
          </a:xfrm>
          <a:prstGeom prst="roundRect">
            <a:avLst/>
          </a:prstGeom>
          <a:solidFill>
            <a:srgbClr val="D6EAF8"/>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000" b="1">
                <a:solidFill>
                  <a:srgbClr val="1A232F"/>
                </a:solidFill>
              </a:defRPr>
            </a:pPr>
            <a:r>
              <a:t>STEP 1: SCREENING</a:t>
            </a:r>
          </a:p>
          <a:p>
            <a:pPr>
              <a:defRPr sz="900">
                <a:solidFill>
                  <a:srgbClr val="1A232F"/>
                </a:solidFill>
              </a:defRPr>
            </a:pPr>
            <a:r>
              <a:t>Identify eligible male patients</a:t>
            </a:r>
          </a:p>
          <a:p>
            <a:pPr>
              <a:defRPr sz="900">
                <a:solidFill>
                  <a:srgbClr val="1A232F"/>
                </a:solidFill>
              </a:defRPr>
            </a:pPr>
            <a:r>
              <a:t>(ICD-10, detoxified, criteria met)</a:t>
            </a:r>
          </a:p>
        </p:txBody>
      </p:sp>
      <p:sp>
        <p:nvSpPr>
          <p:cNvPr id="9" name="Right Arrow 8"/>
          <p:cNvSpPr/>
          <p:nvPr/>
        </p:nvSpPr>
        <p:spPr>
          <a:xfrm>
            <a:off x="1874520" y="2194560"/>
            <a:ext cx="274320" cy="228600"/>
          </a:xfrm>
          <a:prstGeom prst="rightArrow">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20240" y="1371600"/>
            <a:ext cx="1554480" cy="2011680"/>
          </a:xfrm>
          <a:prstGeom prst="roundRect">
            <a:avLst/>
          </a:prstGeom>
          <a:solidFill>
            <a:srgbClr val="D6EAF8"/>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000" b="1">
                <a:solidFill>
                  <a:srgbClr val="1A232F"/>
                </a:solidFill>
              </a:defRPr>
            </a:pPr>
            <a:r>
              <a:t>STEP 2: CONSENT</a:t>
            </a:r>
          </a:p>
          <a:p>
            <a:pPr>
              <a:defRPr sz="900">
                <a:solidFill>
                  <a:srgbClr val="1A232F"/>
                </a:solidFill>
              </a:defRPr>
            </a:pPr>
            <a:r>
              <a:t>Informed consent in Hindi</a:t>
            </a:r>
          </a:p>
          <a:p>
            <a:pPr>
              <a:defRPr sz="900">
                <a:solidFill>
                  <a:srgbClr val="1A232F"/>
                </a:solidFill>
              </a:defRPr>
            </a:pPr>
            <a:r>
              <a:t>(purpose, procedures, rights)</a:t>
            </a:r>
          </a:p>
        </p:txBody>
      </p:sp>
      <p:sp>
        <p:nvSpPr>
          <p:cNvPr id="11" name="Right Arrow 10"/>
          <p:cNvSpPr/>
          <p:nvPr/>
        </p:nvSpPr>
        <p:spPr>
          <a:xfrm>
            <a:off x="3520440" y="2194560"/>
            <a:ext cx="274320" cy="228600"/>
          </a:xfrm>
          <a:prstGeom prst="rightArrow">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66160" y="1371600"/>
            <a:ext cx="1554480" cy="201168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000" b="1">
                <a:solidFill>
                  <a:srgbClr val="1A232F"/>
                </a:solidFill>
              </a:defRPr>
            </a:pPr>
            <a:r>
              <a:t>STEP 3: PRE-TEST</a:t>
            </a:r>
          </a:p>
          <a:p>
            <a:pPr>
              <a:defRPr sz="900">
                <a:solidFill>
                  <a:srgbClr val="1A232F"/>
                </a:solidFill>
              </a:defRPr>
            </a:pPr>
            <a:r>
              <a:t>Administer: ASSIST + OCDUS</a:t>
            </a:r>
          </a:p>
          <a:p>
            <a:pPr>
              <a:defRPr sz="900">
                <a:solidFill>
                  <a:srgbClr val="1A232F"/>
                </a:solidFill>
              </a:defRPr>
            </a:pPr>
            <a:r>
              <a:t>+ BIS-11 + FFMQ</a:t>
            </a:r>
          </a:p>
        </p:txBody>
      </p:sp>
      <p:sp>
        <p:nvSpPr>
          <p:cNvPr id="13" name="Right Arrow 12"/>
          <p:cNvSpPr/>
          <p:nvPr/>
        </p:nvSpPr>
        <p:spPr>
          <a:xfrm>
            <a:off x="5166360" y="2194560"/>
            <a:ext cx="274320" cy="228600"/>
          </a:xfrm>
          <a:prstGeom prst="rightArrow">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12080" y="1371600"/>
            <a:ext cx="1554480" cy="2011680"/>
          </a:xfrm>
          <a:prstGeom prst="roundRect">
            <a:avLst/>
          </a:prstGeom>
          <a:solidFill>
            <a:srgbClr val="FEF9E7"/>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000" b="1">
                <a:solidFill>
                  <a:srgbClr val="1A232F"/>
                </a:solidFill>
              </a:defRPr>
            </a:pPr>
            <a:r>
              <a:t>STEP 4: RANDOMIZE</a:t>
            </a:r>
          </a:p>
          <a:p>
            <a:pPr>
              <a:defRPr sz="900">
                <a:solidFill>
                  <a:srgbClr val="1A232F"/>
                </a:solidFill>
              </a:defRPr>
            </a:pPr>
            <a:r>
              <a:t>Computer-generated allocation</a:t>
            </a:r>
          </a:p>
          <a:p>
            <a:pPr>
              <a:defRPr sz="900">
                <a:solidFill>
                  <a:srgbClr val="1A232F"/>
                </a:solidFill>
              </a:defRPr>
            </a:pPr>
            <a:r>
              <a:t>-&gt; Experimental vs. Control</a:t>
            </a:r>
          </a:p>
        </p:txBody>
      </p:sp>
      <p:sp>
        <p:nvSpPr>
          <p:cNvPr id="15" name="Right Arrow 14"/>
          <p:cNvSpPr/>
          <p:nvPr/>
        </p:nvSpPr>
        <p:spPr>
          <a:xfrm>
            <a:off x="6812280" y="2194560"/>
            <a:ext cx="274320" cy="228600"/>
          </a:xfrm>
          <a:prstGeom prst="rightArrow">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858000" y="1371600"/>
            <a:ext cx="1554480" cy="201168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000" b="1">
                <a:solidFill>
                  <a:srgbClr val="1A232F"/>
                </a:solidFill>
              </a:defRPr>
            </a:pPr>
            <a:r>
              <a:t>STEP 5: INTERVENTION</a:t>
            </a:r>
          </a:p>
          <a:p>
            <a:pPr>
              <a:defRPr sz="900">
                <a:solidFill>
                  <a:srgbClr val="1A232F"/>
                </a:solidFill>
              </a:defRPr>
            </a:pPr>
            <a:r>
              <a:t>MBRP (6x60min, 3wks) OR</a:t>
            </a:r>
          </a:p>
          <a:p>
            <a:pPr>
              <a:defRPr sz="900">
                <a:solidFill>
                  <a:srgbClr val="1A232F"/>
                </a:solidFill>
              </a:defRPr>
            </a:pPr>
            <a:r>
              <a:t>Psychoeducation (6x60min, 3wks)</a:t>
            </a:r>
          </a:p>
        </p:txBody>
      </p:sp>
      <p:sp>
        <p:nvSpPr>
          <p:cNvPr id="17" name="Right Arrow 16"/>
          <p:cNvSpPr/>
          <p:nvPr/>
        </p:nvSpPr>
        <p:spPr>
          <a:xfrm>
            <a:off x="8458200" y="2194560"/>
            <a:ext cx="274320" cy="228600"/>
          </a:xfrm>
          <a:prstGeom prst="rightArrow">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03920" y="1371600"/>
            <a:ext cx="1554480" cy="2011680"/>
          </a:xfrm>
          <a:prstGeom prst="roundRect">
            <a:avLst/>
          </a:prstGeom>
          <a:solidFill>
            <a:srgbClr val="D6EAF8"/>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000" b="1">
                <a:solidFill>
                  <a:srgbClr val="1A232F"/>
                </a:solidFill>
              </a:defRPr>
            </a:pPr>
            <a:r>
              <a:t>STEP 6: POST-TEST</a:t>
            </a:r>
          </a:p>
          <a:p>
            <a:pPr>
              <a:defRPr sz="900">
                <a:solidFill>
                  <a:srgbClr val="1A232F"/>
                </a:solidFill>
              </a:defRPr>
            </a:pPr>
            <a:r>
              <a:t>Administer: OCDUS + BIS-11</a:t>
            </a:r>
          </a:p>
          <a:p>
            <a:pPr>
              <a:defRPr sz="900">
                <a:solidFill>
                  <a:srgbClr val="1A232F"/>
                </a:solidFill>
              </a:defRPr>
            </a:pPr>
            <a:r>
              <a:t>+ FFMQ (within 1 week)</a:t>
            </a:r>
          </a:p>
        </p:txBody>
      </p:sp>
      <p:sp>
        <p:nvSpPr>
          <p:cNvPr id="19" name="Right Arrow 18"/>
          <p:cNvSpPr/>
          <p:nvPr/>
        </p:nvSpPr>
        <p:spPr>
          <a:xfrm>
            <a:off x="10104120" y="2194560"/>
            <a:ext cx="274320" cy="228600"/>
          </a:xfrm>
          <a:prstGeom prst="rightArrow">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49840" y="1371600"/>
            <a:ext cx="1554480" cy="2011680"/>
          </a:xfrm>
          <a:prstGeom prst="roundRect">
            <a:avLst/>
          </a:prstGeom>
          <a:solidFill>
            <a:srgbClr val="ECEFF1"/>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000" b="1">
                <a:solidFill>
                  <a:srgbClr val="1A232F"/>
                </a:solidFill>
              </a:defRPr>
            </a:pPr>
            <a:r>
              <a:t>STEP 7: ANALYSIS</a:t>
            </a:r>
          </a:p>
          <a:p>
            <a:pPr>
              <a:defRPr sz="900">
                <a:solidFill>
                  <a:srgbClr val="1A232F"/>
                </a:solidFill>
              </a:defRPr>
            </a:pPr>
            <a:r>
              <a:t>Data compilation &amp;</a:t>
            </a:r>
          </a:p>
          <a:p>
            <a:pPr>
              <a:defRPr sz="900">
                <a:solidFill>
                  <a:srgbClr val="1A232F"/>
                </a:solidFill>
              </a:defRPr>
            </a:pPr>
            <a:r>
              <a:t>statistical analysis</a:t>
            </a:r>
          </a:p>
        </p:txBody>
      </p:sp>
      <p:sp>
        <p:nvSpPr>
          <p:cNvPr id="21" name="TextBox 20"/>
          <p:cNvSpPr txBox="1"/>
          <p:nvPr/>
        </p:nvSpPr>
        <p:spPr>
          <a:xfrm>
            <a:off x="548640" y="3657600"/>
            <a:ext cx="10972800" cy="731520"/>
          </a:xfrm>
          <a:prstGeom prst="rect">
            <a:avLst/>
          </a:prstGeom>
          <a:noFill/>
        </p:spPr>
        <p:txBody>
          <a:bodyPr wrap="square">
            <a:spAutoFit/>
          </a:bodyPr>
          <a:lstStyle/>
          <a:p>
            <a:pPr>
              <a:defRPr sz="1100">
                <a:solidFill>
                  <a:srgbClr val="90A4AE"/>
                </a:solidFill>
              </a:defRPr>
            </a:pPr>
            <a:r>
              <a:t>Both groups receive TAU (pharmacotherapy, routine counseling) throughout | Assessments by blinded RA | Intervention by MPhil Clinical Psychologist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Intervention: Brief MBRP (6 Sessions / 3 Weeks) + TAU</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27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1280160"/>
            <a:ext cx="3657600" cy="18288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S1: Introduction &amp; Autopilot</a:t>
            </a:r>
          </a:p>
          <a:p>
            <a:pPr>
              <a:defRPr sz="1100">
                <a:solidFill>
                  <a:srgbClr val="1A232F"/>
                </a:solidFill>
              </a:defRPr>
            </a:pPr>
          </a:p>
          <a:p>
            <a:pPr>
              <a:defRPr sz="1100">
                <a:solidFill>
                  <a:srgbClr val="1A232F"/>
                </a:solidFill>
              </a:defRPr>
            </a:pPr>
            <a:r>
              <a:t>Raisin exercise; automatic patterns</a:t>
            </a:r>
          </a:p>
        </p:txBody>
      </p:sp>
      <p:sp>
        <p:nvSpPr>
          <p:cNvPr id="9" name="Rounded Rectangle 8"/>
          <p:cNvSpPr/>
          <p:nvPr/>
        </p:nvSpPr>
        <p:spPr>
          <a:xfrm>
            <a:off x="4297680" y="1280160"/>
            <a:ext cx="3657600" cy="18288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S2: Triggers &amp; Body Scan</a:t>
            </a:r>
          </a:p>
          <a:p>
            <a:pPr>
              <a:defRPr sz="1100">
                <a:solidFill>
                  <a:srgbClr val="1A232F"/>
                </a:solidFill>
              </a:defRPr>
            </a:pPr>
          </a:p>
          <a:p>
            <a:pPr>
              <a:defRPr sz="1100">
                <a:solidFill>
                  <a:srgbClr val="1A232F"/>
                </a:solidFill>
              </a:defRPr>
            </a:pPr>
            <a:r>
              <a:t>Body scan; personal trigger mapping</a:t>
            </a:r>
          </a:p>
        </p:txBody>
      </p:sp>
      <p:sp>
        <p:nvSpPr>
          <p:cNvPr id="10" name="Rounded Rectangle 9"/>
          <p:cNvSpPr/>
          <p:nvPr/>
        </p:nvSpPr>
        <p:spPr>
          <a:xfrm>
            <a:off x="8138160" y="1280160"/>
            <a:ext cx="3657600" cy="18288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S3: Daily Mindfulness &amp; SOBER</a:t>
            </a:r>
          </a:p>
          <a:p>
            <a:pPr>
              <a:defRPr sz="1100">
                <a:solidFill>
                  <a:srgbClr val="1A232F"/>
                </a:solidFill>
              </a:defRPr>
            </a:pPr>
          </a:p>
          <a:p>
            <a:pPr>
              <a:defRPr sz="1100">
                <a:solidFill>
                  <a:srgbClr val="1A232F"/>
                </a:solidFill>
              </a:defRPr>
            </a:pPr>
            <a:r>
              <a:t>Breath meditation; SOBER space</a:t>
            </a:r>
          </a:p>
        </p:txBody>
      </p:sp>
      <p:sp>
        <p:nvSpPr>
          <p:cNvPr id="11" name="Rounded Rectangle 10"/>
          <p:cNvSpPr/>
          <p:nvPr/>
        </p:nvSpPr>
        <p:spPr>
          <a:xfrm>
            <a:off x="457200" y="3566160"/>
            <a:ext cx="3657600" cy="18288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S4: Urge Surfing &amp; High-Risk</a:t>
            </a:r>
          </a:p>
          <a:p>
            <a:pPr>
              <a:defRPr sz="1100">
                <a:solidFill>
                  <a:srgbClr val="1A232F"/>
                </a:solidFill>
              </a:defRPr>
            </a:pPr>
          </a:p>
          <a:p>
            <a:pPr>
              <a:defRPr sz="1100">
                <a:solidFill>
                  <a:srgbClr val="1A232F"/>
                </a:solidFill>
              </a:defRPr>
            </a:pPr>
            <a:r>
              <a:t>Urge surfing; decentering</a:t>
            </a:r>
          </a:p>
        </p:txBody>
      </p:sp>
      <p:sp>
        <p:nvSpPr>
          <p:cNvPr id="12" name="Rounded Rectangle 11"/>
          <p:cNvSpPr/>
          <p:nvPr/>
        </p:nvSpPr>
        <p:spPr>
          <a:xfrm>
            <a:off x="4297680" y="3566160"/>
            <a:ext cx="3657600" cy="18288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S5: Acceptance &amp; Non-Judgment</a:t>
            </a:r>
          </a:p>
          <a:p>
            <a:pPr>
              <a:defRPr sz="1100">
                <a:solidFill>
                  <a:srgbClr val="1A232F"/>
                </a:solidFill>
              </a:defRPr>
            </a:pPr>
          </a:p>
          <a:p>
            <a:pPr>
              <a:defRPr sz="1100">
                <a:solidFill>
                  <a:srgbClr val="1A232F"/>
                </a:solidFill>
              </a:defRPr>
            </a:pPr>
            <a:r>
              <a:t>Non-reactive awareness; skillful action</a:t>
            </a:r>
          </a:p>
        </p:txBody>
      </p:sp>
      <p:sp>
        <p:nvSpPr>
          <p:cNvPr id="13" name="Rounded Rectangle 12"/>
          <p:cNvSpPr/>
          <p:nvPr/>
        </p:nvSpPr>
        <p:spPr>
          <a:xfrm>
            <a:off x="8138160" y="3566160"/>
            <a:ext cx="3657600" cy="18288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S6: Integration &amp; Maintenance</a:t>
            </a:r>
          </a:p>
          <a:p>
            <a:pPr>
              <a:defRPr sz="1100">
                <a:solidFill>
                  <a:srgbClr val="1A232F"/>
                </a:solidFill>
              </a:defRPr>
            </a:pPr>
          </a:p>
          <a:p>
            <a:pPr>
              <a:defRPr sz="1100">
                <a:solidFill>
                  <a:srgbClr val="1A232F"/>
                </a:solidFill>
              </a:defRPr>
            </a:pPr>
            <a:r>
              <a:t>Loving-kindness; relapse prevention plan</a:t>
            </a:r>
          </a:p>
        </p:txBody>
      </p:sp>
      <p:sp>
        <p:nvSpPr>
          <p:cNvPr id="14" name="TextBox 13"/>
          <p:cNvSpPr txBox="1"/>
          <p:nvPr/>
        </p:nvSpPr>
        <p:spPr>
          <a:xfrm>
            <a:off x="548640" y="6035040"/>
            <a:ext cx="10972800" cy="457200"/>
          </a:xfrm>
          <a:prstGeom prst="rect">
            <a:avLst/>
          </a:prstGeom>
          <a:noFill/>
        </p:spPr>
        <p:txBody>
          <a:bodyPr wrap="none">
            <a:spAutoFit/>
          </a:bodyPr>
          <a:lstStyle/>
          <a:p>
            <a:pPr>
              <a:defRPr sz="1100">
                <a:solidFill>
                  <a:srgbClr val="90A4AE"/>
                </a:solidFill>
              </a:defRPr>
            </a:pPr>
            <a:r>
              <a:t>Delivery: Twice weekly | 60 min/session | Group (6-8 participants) | Hindi audio meditations | Practice logs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Intervention: Psychoeducation (6 Sessions / 3 Weeks) + TAU</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28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1280160"/>
            <a:ext cx="3657600" cy="1828800"/>
          </a:xfrm>
          <a:prstGeom prst="roundRect">
            <a:avLst/>
          </a:prstGeom>
          <a:solidFill>
            <a:srgbClr val="FEF9E7"/>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S1: Understanding Addiction</a:t>
            </a:r>
          </a:p>
          <a:p>
            <a:pPr>
              <a:defRPr sz="1100">
                <a:solidFill>
                  <a:srgbClr val="1A232F"/>
                </a:solidFill>
              </a:defRPr>
            </a:pPr>
          </a:p>
          <a:p>
            <a:pPr>
              <a:defRPr sz="1100">
                <a:solidFill>
                  <a:srgbClr val="1A232F"/>
                </a:solidFill>
              </a:defRPr>
            </a:pPr>
            <a:r>
              <a:t>Disease model; brain changes</a:t>
            </a:r>
          </a:p>
        </p:txBody>
      </p:sp>
      <p:sp>
        <p:nvSpPr>
          <p:cNvPr id="9" name="Rounded Rectangle 8"/>
          <p:cNvSpPr/>
          <p:nvPr/>
        </p:nvSpPr>
        <p:spPr>
          <a:xfrm>
            <a:off x="4297680" y="1280160"/>
            <a:ext cx="3657600" cy="1828800"/>
          </a:xfrm>
          <a:prstGeom prst="roundRect">
            <a:avLst/>
          </a:prstGeom>
          <a:solidFill>
            <a:srgbClr val="FAF0DB"/>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S2: Effects of Opioids</a:t>
            </a:r>
          </a:p>
          <a:p>
            <a:pPr>
              <a:defRPr sz="1100">
                <a:solidFill>
                  <a:srgbClr val="1A232F"/>
                </a:solidFill>
              </a:defRPr>
            </a:pPr>
          </a:p>
          <a:p>
            <a:pPr>
              <a:defRPr sz="1100">
                <a:solidFill>
                  <a:srgbClr val="1A232F"/>
                </a:solidFill>
              </a:defRPr>
            </a:pPr>
            <a:r>
              <a:t>Physical &amp; psychological consequences</a:t>
            </a:r>
          </a:p>
        </p:txBody>
      </p:sp>
      <p:sp>
        <p:nvSpPr>
          <p:cNvPr id="10" name="Rounded Rectangle 9"/>
          <p:cNvSpPr/>
          <p:nvPr/>
        </p:nvSpPr>
        <p:spPr>
          <a:xfrm>
            <a:off x="8138160" y="1280160"/>
            <a:ext cx="3657600" cy="1828800"/>
          </a:xfrm>
          <a:prstGeom prst="roundRect">
            <a:avLst/>
          </a:prstGeom>
          <a:solidFill>
            <a:srgbClr val="FEF9E7"/>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S3: Understanding Relapse</a:t>
            </a:r>
          </a:p>
          <a:p>
            <a:pPr>
              <a:defRPr sz="1100">
                <a:solidFill>
                  <a:srgbClr val="1A232F"/>
                </a:solidFill>
              </a:defRPr>
            </a:pPr>
          </a:p>
          <a:p>
            <a:pPr>
              <a:defRPr sz="1100">
                <a:solidFill>
                  <a:srgbClr val="1A232F"/>
                </a:solidFill>
              </a:defRPr>
            </a:pPr>
            <a:r>
              <a:t>Warning signs; high-risk situations</a:t>
            </a:r>
          </a:p>
        </p:txBody>
      </p:sp>
      <p:sp>
        <p:nvSpPr>
          <p:cNvPr id="11" name="Rounded Rectangle 10"/>
          <p:cNvSpPr/>
          <p:nvPr/>
        </p:nvSpPr>
        <p:spPr>
          <a:xfrm>
            <a:off x="457200" y="3566160"/>
            <a:ext cx="3657600" cy="1828800"/>
          </a:xfrm>
          <a:prstGeom prst="roundRect">
            <a:avLst/>
          </a:prstGeom>
          <a:solidFill>
            <a:srgbClr val="FAF0DB"/>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S4: Health &amp; Nutrition</a:t>
            </a:r>
          </a:p>
          <a:p>
            <a:pPr>
              <a:defRPr sz="1100">
                <a:solidFill>
                  <a:srgbClr val="1A232F"/>
                </a:solidFill>
              </a:defRPr>
            </a:pPr>
          </a:p>
          <a:p>
            <a:pPr>
              <a:defRPr sz="1100">
                <a:solidFill>
                  <a:srgbClr val="1A232F"/>
                </a:solidFill>
              </a:defRPr>
            </a:pPr>
            <a:r>
              <a:t>Physical recovery; sleep hygiene</a:t>
            </a:r>
          </a:p>
        </p:txBody>
      </p:sp>
      <p:sp>
        <p:nvSpPr>
          <p:cNvPr id="12" name="Rounded Rectangle 11"/>
          <p:cNvSpPr/>
          <p:nvPr/>
        </p:nvSpPr>
        <p:spPr>
          <a:xfrm>
            <a:off x="4297680" y="3566160"/>
            <a:ext cx="3657600" cy="1828800"/>
          </a:xfrm>
          <a:prstGeom prst="roundRect">
            <a:avLst/>
          </a:prstGeom>
          <a:solidFill>
            <a:srgbClr val="FEF9E7"/>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S5: Social Consequences</a:t>
            </a:r>
          </a:p>
          <a:p>
            <a:pPr>
              <a:defRPr sz="1100">
                <a:solidFill>
                  <a:srgbClr val="1A232F"/>
                </a:solidFill>
              </a:defRPr>
            </a:pPr>
          </a:p>
          <a:p>
            <a:pPr>
              <a:defRPr sz="1100">
                <a:solidFill>
                  <a:srgbClr val="1A232F"/>
                </a:solidFill>
              </a:defRPr>
            </a:pPr>
            <a:r>
              <a:t>Family; legal; stigma; rehabilitation</a:t>
            </a:r>
          </a:p>
        </p:txBody>
      </p:sp>
      <p:sp>
        <p:nvSpPr>
          <p:cNvPr id="13" name="Rounded Rectangle 12"/>
          <p:cNvSpPr/>
          <p:nvPr/>
        </p:nvSpPr>
        <p:spPr>
          <a:xfrm>
            <a:off x="8138160" y="3566160"/>
            <a:ext cx="3657600" cy="1828800"/>
          </a:xfrm>
          <a:prstGeom prst="roundRect">
            <a:avLst/>
          </a:prstGeom>
          <a:solidFill>
            <a:srgbClr val="FAF0DB"/>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S6: Motivation &amp; Goals</a:t>
            </a:r>
          </a:p>
          <a:p>
            <a:pPr>
              <a:defRPr sz="1100">
                <a:solidFill>
                  <a:srgbClr val="1A232F"/>
                </a:solidFill>
              </a:defRPr>
            </a:pPr>
          </a:p>
          <a:p>
            <a:pPr>
              <a:defRPr sz="1100">
                <a:solidFill>
                  <a:srgbClr val="1A232F"/>
                </a:solidFill>
              </a:defRPr>
            </a:pPr>
            <a:r>
              <a:t>Stages of change; recovery planning</a:t>
            </a:r>
          </a:p>
        </p:txBody>
      </p:sp>
      <p:sp>
        <p:nvSpPr>
          <p:cNvPr id="14" name="TextBox 13"/>
          <p:cNvSpPr txBox="1"/>
          <p:nvPr/>
        </p:nvSpPr>
        <p:spPr>
          <a:xfrm>
            <a:off x="548640" y="6035040"/>
            <a:ext cx="10972800" cy="457200"/>
          </a:xfrm>
          <a:prstGeom prst="rect">
            <a:avLst/>
          </a:prstGeom>
          <a:noFill/>
        </p:spPr>
        <p:txBody>
          <a:bodyPr wrap="none">
            <a:spAutoFit/>
          </a:bodyPr>
          <a:lstStyle/>
          <a:p>
            <a:pPr>
              <a:defRPr sz="1100">
                <a:solidFill>
                  <a:srgbClr val="90A4AE"/>
                </a:solidFill>
              </a:defRPr>
            </a:pPr>
            <a:r>
              <a:t>Active control: Matched for time, format, attention | NO mindfulness component | Handouts + visual aids + discussion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Data Analysis</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29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280160"/>
            <a:ext cx="5303520" cy="1828800"/>
          </a:xfrm>
          <a:prstGeom prst="roundRect">
            <a:avLst/>
          </a:prstGeom>
          <a:solidFill>
            <a:srgbClr val="D6EAF8"/>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B2A4A"/>
                </a:solidFill>
              </a:defRPr>
            </a:pPr>
            <a:r>
              <a:t>STATISTICAL TESTS</a:t>
            </a:r>
          </a:p>
          <a:p>
            <a:pPr>
              <a:defRPr sz="1100">
                <a:solidFill>
                  <a:srgbClr val="1B2A4A"/>
                </a:solidFill>
              </a:defRPr>
            </a:pPr>
            <a:r>
              <a:t>Descriptive: Mean, SD, frequencies</a:t>
            </a:r>
          </a:p>
          <a:p>
            <a:pPr>
              <a:defRPr sz="1100">
                <a:solidFill>
                  <a:srgbClr val="1B2A4A"/>
                </a:solidFill>
              </a:defRPr>
            </a:pPr>
            <a:r>
              <a:t>Normality: Shapiro-Wilk test</a:t>
            </a:r>
          </a:p>
          <a:p>
            <a:pPr>
              <a:defRPr sz="1100">
                <a:solidFill>
                  <a:srgbClr val="1B2A4A"/>
                </a:solidFill>
              </a:defRPr>
            </a:pPr>
            <a:r>
              <a:t>Within-group: Paired t-test / Wilcoxon</a:t>
            </a:r>
          </a:p>
          <a:p>
            <a:pPr>
              <a:defRPr sz="1100">
                <a:solidFill>
                  <a:srgbClr val="1B2A4A"/>
                </a:solidFill>
              </a:defRPr>
            </a:pPr>
            <a:r>
              <a:t>Between-group: Independent t-test / Mann-Whitney</a:t>
            </a:r>
          </a:p>
          <a:p>
            <a:pPr>
              <a:defRPr sz="1100">
                <a:solidFill>
                  <a:srgbClr val="1B2A4A"/>
                </a:solidFill>
              </a:defRPr>
            </a:pPr>
            <a:r>
              <a:t>Primary: ANCOVA | Effect size: Partial eta^2, Cohen's d</a:t>
            </a:r>
          </a:p>
          <a:p>
            <a:pPr>
              <a:defRPr sz="1100">
                <a:solidFill>
                  <a:srgbClr val="1B2A4A"/>
                </a:solidFill>
              </a:defRPr>
            </a:pPr>
            <a:r>
              <a:t>Alpha = 0.05 (two-tailed) | Software: SPSS 26.0</a:t>
            </a:r>
          </a:p>
        </p:txBody>
      </p:sp>
      <p:sp>
        <p:nvSpPr>
          <p:cNvPr id="9" name="Rounded Rectangle 8"/>
          <p:cNvSpPr/>
          <p:nvPr/>
        </p:nvSpPr>
        <p:spPr>
          <a:xfrm>
            <a:off x="6035040" y="1280160"/>
            <a:ext cx="5577840" cy="3200400"/>
          </a:xfrm>
          <a:prstGeom prst="roundRect">
            <a:avLst/>
          </a:prstGeom>
          <a:solidFill>
            <a:srgbClr val="E8F8F5"/>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DETAILED ANCOVA JUSTIFICATION</a:t>
            </a:r>
          </a:p>
          <a:p>
            <a:pPr>
              <a:defRPr sz="1100">
                <a:solidFill>
                  <a:srgbClr val="1A232F"/>
                </a:solidFill>
              </a:defRPr>
            </a:pPr>
          </a:p>
          <a:p>
            <a:pPr>
              <a:defRPr sz="1100">
                <a:solidFill>
                  <a:srgbClr val="1A232F"/>
                </a:solidFill>
              </a:defRPr>
            </a:pPr>
            <a:r>
              <a:t>(a) Controls for pre-existing baseline differences</a:t>
            </a:r>
          </a:p>
          <a:p>
            <a:pPr>
              <a:defRPr sz="1100">
                <a:solidFill>
                  <a:srgbClr val="1A232F"/>
                </a:solidFill>
              </a:defRPr>
            </a:pPr>
            <a:r>
              <a:t>     between groups even after randomization</a:t>
            </a:r>
          </a:p>
          <a:p>
            <a:pPr>
              <a:defRPr sz="1100">
                <a:solidFill>
                  <a:srgbClr val="1A232F"/>
                </a:solidFill>
              </a:defRPr>
            </a:pPr>
            <a:r>
              <a:t>(b) Increases statistical power by reducing</a:t>
            </a:r>
          </a:p>
          <a:p>
            <a:pPr>
              <a:defRPr sz="1100">
                <a:solidFill>
                  <a:srgbClr val="1A232F"/>
                </a:solidFill>
              </a:defRPr>
            </a:pPr>
            <a:r>
              <a:t>     within-group error variance</a:t>
            </a:r>
          </a:p>
          <a:p>
            <a:pPr>
              <a:defRPr sz="1100">
                <a:solidFill>
                  <a:srgbClr val="1A232F"/>
                </a:solidFill>
              </a:defRPr>
            </a:pPr>
            <a:r>
              <a:t>(c) Provides more precise treatment effect estimate</a:t>
            </a:r>
          </a:p>
          <a:p>
            <a:pPr>
              <a:defRPr sz="1100">
                <a:solidFill>
                  <a:srgbClr val="1A232F"/>
                </a:solidFill>
              </a:defRPr>
            </a:pPr>
            <a:r>
              <a:t>     by adjusting post-test means for baseline</a:t>
            </a:r>
          </a:p>
          <a:p>
            <a:pPr>
              <a:defRPr sz="1100">
                <a:solidFill>
                  <a:srgbClr val="1A232F"/>
                </a:solidFill>
              </a:defRPr>
            </a:pPr>
            <a:r>
              <a:t>(d) Reduces required sample size compared to</a:t>
            </a:r>
          </a:p>
          <a:p>
            <a:pPr>
              <a:defRPr sz="1100">
                <a:solidFill>
                  <a:srgbClr val="1A232F"/>
                </a:solidFill>
              </a:defRPr>
            </a:pPr>
            <a:r>
              <a:t>     independent t-test (critical for clinical populations)</a:t>
            </a:r>
          </a:p>
          <a:p>
            <a:pPr>
              <a:defRPr sz="1100">
                <a:solidFill>
                  <a:srgbClr val="1A232F"/>
                </a:solidFill>
              </a:defRPr>
            </a:pPr>
            <a:r>
              <a:t>(e) Recommended for pre-post designs by</a:t>
            </a:r>
          </a:p>
          <a:p>
            <a:pPr>
              <a:defRPr sz="1100">
                <a:solidFill>
                  <a:srgbClr val="1A232F"/>
                </a:solidFill>
              </a:defRPr>
            </a:pPr>
            <a:r>
              <a:t>     Tabachnick &amp; Fidell (2013) and Field (2018)</a:t>
            </a:r>
          </a:p>
        </p:txBody>
      </p:sp>
      <p:sp>
        <p:nvSpPr>
          <p:cNvPr id="10" name="Rounded Rectangle 9"/>
          <p:cNvSpPr/>
          <p:nvPr/>
        </p:nvSpPr>
        <p:spPr>
          <a:xfrm>
            <a:off x="548640" y="3383280"/>
            <a:ext cx="5303520" cy="1371600"/>
          </a:xfrm>
          <a:prstGeom prst="roundRect">
            <a:avLst/>
          </a:prstGeom>
          <a:solidFill>
            <a:srgbClr val="FEF9E7"/>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200" b="1">
                <a:solidFill>
                  <a:srgbClr val="1A232F"/>
                </a:solidFill>
              </a:defRPr>
            </a:pPr>
            <a:r>
              <a:t>ANCOVA MODEL</a:t>
            </a:r>
          </a:p>
          <a:p>
            <a:pPr>
              <a:defRPr sz="1100">
                <a:solidFill>
                  <a:srgbClr val="1A232F"/>
                </a:solidFill>
              </a:defRPr>
            </a:pPr>
            <a:r>
              <a:t>DV: Post-test scores (OCDUS / BIS-11 / FFMQ)</a:t>
            </a:r>
          </a:p>
          <a:p>
            <a:pPr>
              <a:defRPr sz="1100">
                <a:solidFill>
                  <a:srgbClr val="1A232F"/>
                </a:solidFill>
              </a:defRPr>
            </a:pPr>
            <a:r>
              <a:t>IV: Group (Experimental vs. Control)</a:t>
            </a:r>
          </a:p>
          <a:p>
            <a:pPr>
              <a:defRPr sz="1100">
                <a:solidFill>
                  <a:srgbClr val="1A232F"/>
                </a:solidFill>
              </a:defRPr>
            </a:pPr>
            <a:r>
              <a:t>Covariate: Pre-test scores (same measure)</a:t>
            </a:r>
          </a:p>
          <a:p>
            <a:pPr>
              <a:defRPr sz="1100">
                <a:solidFill>
                  <a:srgbClr val="1A232F"/>
                </a:solidFill>
              </a:defRPr>
            </a:pPr>
            <a:r>
              <a:t>ITT: Last Observation Carried Forward (LOCF)</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Ethical Considerations</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30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Informed Consent: Written consent in Hindi; participants fully informed of purpose, procedures, duration, risks, benefits</a:t>
            </a:r>
          </a:p>
          <a:p>
            <a:pPr>
              <a:spcBef>
                <a:spcPts val="500"/>
              </a:spcBef>
              <a:defRPr sz="1300">
                <a:solidFill>
                  <a:srgbClr val="2C3E50"/>
                </a:solidFill>
              </a:defRPr>
            </a:pPr>
            <a:r>
              <a:t>Voluntary Participation: Right to withdraw anytime without penalty or impact on treatment at Man Nasha Mukti Kendra</a:t>
            </a:r>
          </a:p>
          <a:p>
            <a:pPr>
              <a:spcBef>
                <a:spcPts val="500"/>
              </a:spcBef>
              <a:defRPr sz="1300">
                <a:solidFill>
                  <a:srgbClr val="2C3E50"/>
                </a:solidFill>
              </a:defRPr>
            </a:pPr>
            <a:r>
              <a:t>Confidentiality: Data coded with participant IDs; no identifying information in publications; secure storage</a:t>
            </a:r>
          </a:p>
          <a:p>
            <a:pPr>
              <a:spcBef>
                <a:spcPts val="500"/>
              </a:spcBef>
              <a:defRPr sz="1300">
                <a:solidFill>
                  <a:srgbClr val="2C3E50"/>
                </a:solidFill>
              </a:defRPr>
            </a:pPr>
            <a:r>
              <a:t>Non-Maleficence: Control receives active psychoeducation (not waitlist); TAU continued for all</a:t>
            </a:r>
          </a:p>
          <a:p>
            <a:pPr>
              <a:spcBef>
                <a:spcPts val="500"/>
              </a:spcBef>
              <a:defRPr sz="1300">
                <a:solidFill>
                  <a:srgbClr val="2C3E50"/>
                </a:solidFill>
              </a:defRPr>
            </a:pPr>
            <a:r>
              <a:t>Institutional Approval: Ethical clearance from IEC prior to data collection</a:t>
            </a:r>
          </a:p>
          <a:p>
            <a:pPr>
              <a:spcBef>
                <a:spcPts val="500"/>
              </a:spcBef>
              <a:defRPr sz="1300">
                <a:solidFill>
                  <a:srgbClr val="2C3E50"/>
                </a:solidFill>
              </a:defRPr>
            </a:pPr>
            <a:r>
              <a:t>Debriefing: Control group offered brief MBRP orientation post-study</a:t>
            </a:r>
          </a:p>
          <a:p>
            <a:pPr>
              <a:spcBef>
                <a:spcPts val="500"/>
              </a:spcBef>
              <a:defRPr sz="1300">
                <a:solidFill>
                  <a:srgbClr val="2C3E50"/>
                </a:solidFill>
              </a:defRPr>
            </a:pPr>
            <a:r>
              <a:t>Compliance: ICMR (2017) National Ethical Guidelines for Biomedical and Health Research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Expected Results (1/2)</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31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548640" y="1280160"/>
          <a:ext cx="6400800" cy="5029200"/>
        </p:xfrm>
        <a:graphic>
          <a:graphicData uri="http://schemas.openxmlformats.org/drawingml/2006/chart">
            <c:chart xmlns:c="http://schemas.openxmlformats.org/drawingml/2006/chart" r:id="rId2"/>
          </a:graphicData>
        </a:graphic>
      </p:graphicFrame>
      <p:sp>
        <p:nvSpPr>
          <p:cNvPr id="9" name="TextBox 8"/>
          <p:cNvSpPr txBox="1"/>
          <p:nvPr/>
        </p:nvSpPr>
        <p:spPr>
          <a:xfrm>
            <a:off x="7132320" y="1371600"/>
            <a:ext cx="4572000" cy="5029200"/>
          </a:xfrm>
          <a:prstGeom prst="rect">
            <a:avLst/>
          </a:prstGeom>
          <a:noFill/>
        </p:spPr>
        <p:txBody>
          <a:bodyPr wrap="square">
            <a:spAutoFit/>
          </a:bodyPr>
          <a:lstStyle/>
          <a:p>
            <a:pPr>
              <a:defRPr sz="1100" b="1">
                <a:solidFill>
                  <a:srgbClr val="007B83"/>
                </a:solidFill>
              </a:defRPr>
            </a:pPr>
            <a:r>
              <a:t>CRAVING (OCDUS):</a:t>
            </a:r>
          </a:p>
          <a:p>
            <a:pPr>
              <a:defRPr sz="1100">
                <a:solidFill>
                  <a:srgbClr val="2C3E50"/>
                </a:solidFill>
              </a:defRPr>
            </a:pPr>
            <a:r>
              <a:t>Significant REDUCTION expected in</a:t>
            </a:r>
          </a:p>
          <a:p>
            <a:pPr>
              <a:defRPr sz="1100">
                <a:solidFill>
                  <a:srgbClr val="2C3E50"/>
                </a:solidFill>
              </a:defRPr>
            </a:pPr>
            <a:r>
              <a:t>MBRP group vs. Control</a:t>
            </a:r>
          </a:p>
          <a:p>
            <a:pPr>
              <a:defRPr sz="1100">
                <a:solidFill>
                  <a:srgbClr val="2C3E50"/>
                </a:solidFill>
              </a:defRPr>
            </a:pPr>
            <a:r>
              <a:t>Effect: d = 0.50-0.80</a:t>
            </a:r>
          </a:p>
          <a:p>
            <a:pPr>
              <a:defRPr sz="1100">
                <a:solidFill>
                  <a:srgbClr val="2C3E50"/>
                </a:solidFill>
              </a:defRPr>
            </a:pPr>
            <a:r>
              <a:t>Mechanism: Urge surfing disrupts</a:t>
            </a:r>
          </a:p>
          <a:p>
            <a:pPr>
              <a:defRPr sz="1100">
                <a:solidFill>
                  <a:srgbClr val="2C3E50"/>
                </a:solidFill>
              </a:defRPr>
            </a:pPr>
            <a:r>
              <a:t>automatic craving-use cycle</a:t>
            </a:r>
          </a:p>
          <a:p>
            <a:pPr>
              <a:defRPr sz="1100">
                <a:solidFill>
                  <a:srgbClr val="2C3E50"/>
                </a:solidFill>
              </a:defRPr>
            </a:pPr>
          </a:p>
          <a:p>
            <a:pPr>
              <a:defRPr sz="1100" b="1">
                <a:solidFill>
                  <a:srgbClr val="007B83"/>
                </a:solidFill>
              </a:defRPr>
            </a:pPr>
            <a:r>
              <a:t>IMPULSIVITY (BIS-11):</a:t>
            </a:r>
          </a:p>
          <a:p>
            <a:pPr>
              <a:defRPr sz="1100">
                <a:solidFill>
                  <a:srgbClr val="2C3E50"/>
                </a:solidFill>
              </a:defRPr>
            </a:pPr>
            <a:r>
              <a:t>Significant REDUCTION expected</a:t>
            </a:r>
          </a:p>
          <a:p>
            <a:pPr>
              <a:defRPr sz="1100">
                <a:solidFill>
                  <a:srgbClr val="2C3E50"/>
                </a:solidFill>
              </a:defRPr>
            </a:pPr>
            <a:r>
              <a:t>(Motor + Attentional subscales)</a:t>
            </a:r>
          </a:p>
          <a:p>
            <a:pPr>
              <a:defRPr sz="1100">
                <a:solidFill>
                  <a:srgbClr val="2C3E50"/>
                </a:solidFill>
              </a:defRPr>
            </a:pPr>
            <a:r>
              <a:t>Effect: d = 0.40-0.60</a:t>
            </a:r>
          </a:p>
          <a:p>
            <a:pPr>
              <a:defRPr sz="1100">
                <a:solidFill>
                  <a:srgbClr val="2C3E50"/>
                </a:solidFill>
              </a:defRPr>
            </a:pPr>
            <a:r>
              <a:t>Mechanism: Mindfulness strengthens</a:t>
            </a:r>
          </a:p>
          <a:p>
            <a:pPr>
              <a:defRPr sz="1100">
                <a:solidFill>
                  <a:srgbClr val="2C3E50"/>
                </a:solidFill>
              </a:defRPr>
            </a:pPr>
            <a:r>
              <a:t>prefrontal inhibitory control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Expected Results (2/2)</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32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548640" y="1280160"/>
          <a:ext cx="5943600" cy="4114800"/>
        </p:xfrm>
        <a:graphic>
          <a:graphicData uri="http://schemas.openxmlformats.org/drawingml/2006/chart">
            <c:chart xmlns:c="http://schemas.openxmlformats.org/drawingml/2006/chart" r:id="rId2"/>
          </a:graphicData>
        </a:graphic>
      </p:graphicFrame>
      <p:sp>
        <p:nvSpPr>
          <p:cNvPr id="9" name="TextBox 8"/>
          <p:cNvSpPr txBox="1"/>
          <p:nvPr/>
        </p:nvSpPr>
        <p:spPr>
          <a:xfrm>
            <a:off x="6766560" y="1371600"/>
            <a:ext cx="5029200" cy="5029200"/>
          </a:xfrm>
          <a:prstGeom prst="rect">
            <a:avLst/>
          </a:prstGeom>
          <a:noFill/>
        </p:spPr>
        <p:txBody>
          <a:bodyPr wrap="square">
            <a:spAutoFit/>
          </a:bodyPr>
          <a:lstStyle/>
          <a:p>
            <a:pPr>
              <a:defRPr sz="1100" b="1">
                <a:solidFill>
                  <a:srgbClr val="007B83"/>
                </a:solidFill>
              </a:defRPr>
            </a:pPr>
            <a:r>
              <a:t>MINDFULNESS (FFMQ):</a:t>
            </a:r>
          </a:p>
          <a:p>
            <a:pPr>
              <a:defRPr sz="1100">
                <a:solidFill>
                  <a:srgbClr val="2C3E50"/>
                </a:solidFill>
              </a:defRPr>
            </a:pPr>
            <a:r>
              <a:t>Significant INCREASE expected in</a:t>
            </a:r>
          </a:p>
          <a:p>
            <a:pPr>
              <a:defRPr sz="1100">
                <a:solidFill>
                  <a:srgbClr val="2C3E50"/>
                </a:solidFill>
              </a:defRPr>
            </a:pPr>
            <a:r>
              <a:t>MBRP group (Acting with Awareness</a:t>
            </a:r>
          </a:p>
          <a:p>
            <a:pPr>
              <a:defRPr sz="1100">
                <a:solidFill>
                  <a:srgbClr val="2C3E50"/>
                </a:solidFill>
              </a:defRPr>
            </a:pPr>
            <a:r>
              <a:t>&amp; Non-Reactivity facets)</a:t>
            </a:r>
          </a:p>
          <a:p>
            <a:pPr>
              <a:defRPr sz="1100">
                <a:solidFill>
                  <a:srgbClr val="2C3E50"/>
                </a:solidFill>
              </a:defRPr>
            </a:pPr>
            <a:r>
              <a:t>Effect: d = 0.50-0.70</a:t>
            </a:r>
          </a:p>
          <a:p>
            <a:pPr>
              <a:defRPr sz="1100">
                <a:solidFill>
                  <a:srgbClr val="2C3E50"/>
                </a:solidFill>
              </a:defRPr>
            </a:pPr>
            <a:r>
              <a:t>Mechanism: Structured meditation</a:t>
            </a:r>
          </a:p>
          <a:p>
            <a:pPr>
              <a:defRPr sz="1100">
                <a:solidFill>
                  <a:srgbClr val="2C3E50"/>
                </a:solidFill>
              </a:defRPr>
            </a:pPr>
            <a:r>
              <a:t>cultivates dispositional mindfulness</a:t>
            </a:r>
          </a:p>
          <a:p>
            <a:pPr>
              <a:defRPr sz="1100">
                <a:solidFill>
                  <a:srgbClr val="2C3E50"/>
                </a:solidFill>
              </a:defRPr>
            </a:pPr>
          </a:p>
          <a:p>
            <a:pPr>
              <a:defRPr sz="1100" b="1">
                <a:solidFill>
                  <a:srgbClr val="007B83"/>
                </a:solidFill>
              </a:defRPr>
            </a:pPr>
            <a:r>
              <a:t>OVERALL PATTERN:</a:t>
            </a:r>
          </a:p>
          <a:p>
            <a:pPr>
              <a:defRPr sz="1100">
                <a:solidFill>
                  <a:srgbClr val="2C3E50"/>
                </a:solidFill>
              </a:defRPr>
            </a:pPr>
            <a:r>
              <a:t>Brief MBRP + TAU demonstrates</a:t>
            </a:r>
          </a:p>
          <a:p>
            <a:pPr>
              <a:defRPr sz="1100">
                <a:solidFill>
                  <a:srgbClr val="2C3E50"/>
                </a:solidFill>
              </a:defRPr>
            </a:pPr>
            <a:r>
              <a:t>superiority across all 3 DVs</a:t>
            </a:r>
          </a:p>
          <a:p>
            <a:pPr>
              <a:defRPr sz="1100">
                <a:solidFill>
                  <a:srgbClr val="2C3E50"/>
                </a:solidFill>
              </a:defRPr>
            </a:pPr>
            <a:r>
              <a:t>Null hypotheses (H01, H02, H03)</a:t>
            </a:r>
          </a:p>
          <a:p>
            <a:pPr>
              <a:defRPr sz="1100">
                <a:solidFill>
                  <a:srgbClr val="2C3E50"/>
                </a:solidFill>
              </a:defRPr>
            </a:pPr>
            <a:r>
              <a:t>expected to be REJECTED</a:t>
            </a:r>
          </a:p>
          <a:p>
            <a:pPr>
              <a:defRPr sz="1100">
                <a:solidFill>
                  <a:srgbClr val="2C3E50"/>
                </a:solidFill>
              </a:defRPr>
            </a:pPr>
          </a:p>
          <a:p>
            <a:pPr>
              <a:defRPr sz="1100">
                <a:solidFill>
                  <a:srgbClr val="2C3E50"/>
                </a:solidFill>
              </a:defRPr>
            </a:pPr>
            <a:r>
              <a:t>Supports feasibility of 6-session</a:t>
            </a:r>
          </a:p>
          <a:p>
            <a:pPr>
              <a:defRPr sz="1100">
                <a:solidFill>
                  <a:srgbClr val="2C3E50"/>
                </a:solidFill>
              </a:defRPr>
            </a:pPr>
            <a:r>
              <a:t>MBRP at Man Nasha Mukti Kendra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Clinical Implications</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33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Validates a brief MBRP model (6 sessions/3 weeks) feasible for Indian de-addiction settings</a:t>
            </a:r>
          </a:p>
          <a:p>
            <a:pPr>
              <a:spcBef>
                <a:spcPts val="500"/>
              </a:spcBef>
              <a:defRPr sz="1300">
                <a:solidFill>
                  <a:srgbClr val="2C3E50"/>
                </a:solidFill>
              </a:defRPr>
            </a:pPr>
            <a:r>
              <a:t>Provides evidence-based psychological intervention to complement pharmacotherapy (OST, naltrexone)</a:t>
            </a:r>
          </a:p>
          <a:p>
            <a:pPr>
              <a:spcBef>
                <a:spcPts val="500"/>
              </a:spcBef>
              <a:defRPr sz="1300">
                <a:solidFill>
                  <a:srgbClr val="2C3E50"/>
                </a:solidFill>
              </a:defRPr>
            </a:pPr>
            <a:r>
              <a:t>Demonstrates mindfulness-based approaches are culturally compatible with Indian populations</a:t>
            </a:r>
          </a:p>
          <a:p>
            <a:pPr>
              <a:spcBef>
                <a:spcPts val="500"/>
              </a:spcBef>
              <a:defRPr sz="1300">
                <a:solidFill>
                  <a:srgbClr val="2C3E50"/>
                </a:solidFill>
              </a:defRPr>
            </a:pPr>
            <a:r>
              <a:t>Addresses multiple relapse risk factors simultaneously through single integrated protocol</a:t>
            </a:r>
          </a:p>
          <a:p>
            <a:pPr>
              <a:spcBef>
                <a:spcPts val="500"/>
              </a:spcBef>
              <a:defRPr sz="1300">
                <a:solidFill>
                  <a:srgbClr val="2C3E50"/>
                </a:solidFill>
              </a:defRPr>
            </a:pPr>
            <a:r>
              <a:t>Supports task-shifting: Brief MBRP deliverable by MPhil-trained Clinical Psychologists</a:t>
            </a:r>
          </a:p>
          <a:p>
            <a:pPr>
              <a:spcBef>
                <a:spcPts val="500"/>
              </a:spcBef>
              <a:defRPr sz="1300">
                <a:solidFill>
                  <a:srgbClr val="2C3E50"/>
                </a:solidFill>
              </a:defRPr>
            </a:pPr>
            <a:r>
              <a:t>Informs national treatment policy (NIMHANS, NDDTC, State Mental Health Authorities)</a:t>
            </a:r>
          </a:p>
          <a:p>
            <a:pPr>
              <a:spcBef>
                <a:spcPts val="500"/>
              </a:spcBef>
              <a:defRPr sz="1300">
                <a:solidFill>
                  <a:srgbClr val="2C3E50"/>
                </a:solidFill>
              </a:defRPr>
            </a:pPr>
            <a:r>
              <a:t>Contributes to RCI-recognized intervention repertoire for clinical psychology practice in India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Limitations</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34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Male-only sample from single center (Man Nasha Mukti Kendra) limits generalizability</a:t>
            </a:r>
          </a:p>
          <a:p>
            <a:pPr>
              <a:spcBef>
                <a:spcPts val="500"/>
              </a:spcBef>
              <a:defRPr sz="1300">
                <a:solidFill>
                  <a:srgbClr val="2C3E50"/>
                </a:solidFill>
              </a:defRPr>
            </a:pPr>
            <a:r>
              <a:t>Short-term assessment: Post-test immediately after 3-week intervention; no follow-up</a:t>
            </a:r>
          </a:p>
          <a:p>
            <a:pPr>
              <a:spcBef>
                <a:spcPts val="500"/>
              </a:spcBef>
              <a:defRPr sz="1300">
                <a:solidFill>
                  <a:srgbClr val="2C3E50"/>
                </a:solidFill>
              </a:defRPr>
            </a:pPr>
            <a:r>
              <a:t>Self-report measures (OCDUS, BIS-11, FFMQ) susceptible to social desirability bias</a:t>
            </a:r>
          </a:p>
          <a:p>
            <a:pPr>
              <a:spcBef>
                <a:spcPts val="500"/>
              </a:spcBef>
              <a:defRPr sz="1300">
                <a:solidFill>
                  <a:srgbClr val="2C3E50"/>
                </a:solidFill>
              </a:defRPr>
            </a:pPr>
            <a:r>
              <a:t>No biological markers: Craving measured subjectively without physiological corroboration</a:t>
            </a:r>
          </a:p>
          <a:p>
            <a:pPr>
              <a:spcBef>
                <a:spcPts val="500"/>
              </a:spcBef>
              <a:defRPr sz="1300">
                <a:solidFill>
                  <a:srgbClr val="2C3E50"/>
                </a:solidFill>
              </a:defRPr>
            </a:pPr>
            <a:r>
              <a:t>Therapist effects: Single therapist delivery may introduce confounds</a:t>
            </a:r>
          </a:p>
          <a:p>
            <a:pPr>
              <a:spcBef>
                <a:spcPts val="500"/>
              </a:spcBef>
              <a:defRPr sz="1300">
                <a:solidFill>
                  <a:srgbClr val="2C3E50"/>
                </a:solidFill>
              </a:defRPr>
            </a:pPr>
            <a:r>
              <a:t>Attention-matched control does not fully account for specific mindfulness mechanisms</a:t>
            </a:r>
          </a:p>
          <a:p>
            <a:pPr>
              <a:spcBef>
                <a:spcPts val="500"/>
              </a:spcBef>
              <a:defRPr sz="1300">
                <a:solidFill>
                  <a:srgbClr val="2C3E50"/>
                </a:solidFill>
              </a:defRPr>
            </a:pPr>
            <a:r>
              <a:t>Potential attrition despite over-recruitment planning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Future Directions</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35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3-month and 6-month follow-up assessments for sustained MBRP effects</a:t>
            </a:r>
          </a:p>
          <a:p>
            <a:pPr>
              <a:spcBef>
                <a:spcPts val="500"/>
              </a:spcBef>
              <a:defRPr sz="1300">
                <a:solidFill>
                  <a:srgbClr val="2C3E50"/>
                </a:solidFill>
              </a:defRPr>
            </a:pPr>
            <a:r>
              <a:t>Multi-site RCTs across multiple Indian de-addiction centers</a:t>
            </a:r>
          </a:p>
          <a:p>
            <a:pPr>
              <a:spcBef>
                <a:spcPts val="500"/>
              </a:spcBef>
              <a:defRPr sz="1300">
                <a:solidFill>
                  <a:srgbClr val="2C3E50"/>
                </a:solidFill>
              </a:defRPr>
            </a:pPr>
            <a:r>
              <a:t>Include female participants to examine gender-specific effects</a:t>
            </a:r>
          </a:p>
          <a:p>
            <a:pPr>
              <a:spcBef>
                <a:spcPts val="500"/>
              </a:spcBef>
              <a:defRPr sz="1300">
                <a:solidFill>
                  <a:srgbClr val="2C3E50"/>
                </a:solidFill>
              </a:defRPr>
            </a:pPr>
            <a:r>
              <a:t>Neuroimaging (fMRI/EEG) to examine neural mechanisms of MBRP</a:t>
            </a:r>
          </a:p>
          <a:p>
            <a:pPr>
              <a:spcBef>
                <a:spcPts val="500"/>
              </a:spcBef>
              <a:defRPr sz="1300">
                <a:solidFill>
                  <a:srgbClr val="2C3E50"/>
                </a:solidFill>
              </a:defRPr>
            </a:pPr>
            <a:r>
              <a:t>Dose-response analysis: Compare 4 vs. 6 vs. 8 sessions for optimal dosage</a:t>
            </a:r>
          </a:p>
          <a:p>
            <a:pPr>
              <a:spcBef>
                <a:spcPts val="500"/>
              </a:spcBef>
              <a:defRPr sz="1300">
                <a:solidFill>
                  <a:srgbClr val="2C3E50"/>
                </a:solidFill>
              </a:defRPr>
            </a:pPr>
            <a:r>
              <a:t>Mediator analysis: Test whether mindfulness mediates craving/impulsivity reduction</a:t>
            </a:r>
          </a:p>
          <a:p>
            <a:pPr>
              <a:spcBef>
                <a:spcPts val="500"/>
              </a:spcBef>
              <a:defRPr sz="1300">
                <a:solidFill>
                  <a:srgbClr val="2C3E50"/>
                </a:solidFill>
              </a:defRPr>
            </a:pPr>
            <a:r>
              <a:t>Technology-assisted: App-based/digital MBRP for post-discharge and rural access</a:t>
            </a:r>
          </a:p>
          <a:p>
            <a:pPr>
              <a:spcBef>
                <a:spcPts val="500"/>
              </a:spcBef>
              <a:defRPr sz="1300">
                <a:solidFill>
                  <a:srgbClr val="2C3E50"/>
                </a:solidFill>
              </a:defRPr>
            </a:pPr>
            <a:r>
              <a:t>Comparative effectiveness: MBRP vs. CBT vs. ACT in Indian samples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Summary</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36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280160"/>
            <a:ext cx="11064240" cy="5029200"/>
          </a:xfrm>
          <a:prstGeom prst="roundRect">
            <a:avLst/>
          </a:prstGeom>
          <a:solidFill>
            <a:srgbClr val="D6EAF8"/>
          </a:solidFill>
          <a:ln w="6350">
            <a:solidFill>
              <a:srgbClr val="BDC3C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1B2A4A"/>
                </a:solidFill>
              </a:defRPr>
            </a:pPr>
            <a:r>
              <a:t>STUDY SUMMARY</a:t>
            </a:r>
          </a:p>
          <a:p>
            <a:pPr>
              <a:defRPr sz="1200">
                <a:solidFill>
                  <a:srgbClr val="1B2A4A"/>
                </a:solidFill>
              </a:defRPr>
            </a:pPr>
          </a:p>
          <a:p>
            <a:pPr>
              <a:defRPr sz="1200">
                <a:solidFill>
                  <a:srgbClr val="1B2A4A"/>
                </a:solidFill>
              </a:defRPr>
            </a:pPr>
            <a:r>
              <a:t>Design: Pre-test Post-test Control Group Experimental Design</a:t>
            </a:r>
          </a:p>
          <a:p>
            <a:pPr>
              <a:defRPr sz="1200">
                <a:solidFill>
                  <a:srgbClr val="1B2A4A"/>
                </a:solidFill>
              </a:defRPr>
            </a:pPr>
            <a:r>
              <a:t>Setting: Man Nasha Mukti Kendra | Population: Male opioid-dependent patients (N=60)</a:t>
            </a:r>
          </a:p>
          <a:p>
            <a:pPr>
              <a:defRPr sz="1200">
                <a:solidFill>
                  <a:srgbClr val="1B2A4A"/>
                </a:solidFill>
              </a:defRPr>
            </a:pPr>
            <a:r>
              <a:t>Experimental: Brief MBRP (6 sessions / 3 weeks) + TAU | Control: Psychoeducation + TAU</a:t>
            </a:r>
          </a:p>
          <a:p>
            <a:pPr>
              <a:defRPr sz="1200">
                <a:solidFill>
                  <a:srgbClr val="1B2A4A"/>
                </a:solidFill>
              </a:defRPr>
            </a:pPr>
            <a:r>
              <a:t>DVs: Craving (OCDUS) + Impulsivity (BIS-11) + Mindfulness (FFMQ)</a:t>
            </a:r>
          </a:p>
          <a:p>
            <a:pPr>
              <a:defRPr sz="1200">
                <a:solidFill>
                  <a:srgbClr val="1B2A4A"/>
                </a:solidFill>
              </a:defRPr>
            </a:pPr>
            <a:r>
              <a:t>Sampling: Two-stage (Purposive selection -&gt; Computer-generated random assignment)</a:t>
            </a:r>
          </a:p>
          <a:p>
            <a:pPr>
              <a:defRPr sz="1200">
                <a:solidFill>
                  <a:srgbClr val="1B2A4A"/>
                </a:solidFill>
              </a:defRPr>
            </a:pPr>
            <a:r>
              <a:t>Primary Analysis: ANCOVA controlling for pre-test scores as covariates</a:t>
            </a:r>
          </a:p>
          <a:p>
            <a:pPr>
              <a:defRPr sz="1200">
                <a:solidFill>
                  <a:srgbClr val="1B2A4A"/>
                </a:solidFill>
              </a:defRPr>
            </a:pPr>
            <a:r>
              <a:t>Hypothesis: Brief MBRP expected to show significantly greater reduction in craving/impulsivity</a:t>
            </a:r>
          </a:p>
          <a:p>
            <a:pPr>
              <a:defRPr sz="1200">
                <a:solidFill>
                  <a:srgbClr val="1B2A4A"/>
                </a:solidFill>
              </a:defRPr>
            </a:pPr>
            <a:r>
              <a:t>and greater enhancement of mindfulness compared to psychoeducation</a:t>
            </a:r>
          </a:p>
          <a:p>
            <a:pPr>
              <a:defRPr sz="1200">
                <a:solidFill>
                  <a:srgbClr val="1B2A4A"/>
                </a:solidFill>
              </a:defRPr>
            </a:pPr>
          </a:p>
          <a:p>
            <a:pPr>
              <a:defRPr sz="1200">
                <a:solidFill>
                  <a:srgbClr val="1B2A4A"/>
                </a:solidFill>
              </a:defRPr>
            </a:pPr>
            <a:r>
              <a:t>SIGNIFICANCE: First brief MBRP trial in Indian opioid-dependent sample addressing</a:t>
            </a:r>
          </a:p>
          <a:p>
            <a:pPr>
              <a:defRPr sz="1200">
                <a:solidFill>
                  <a:srgbClr val="1B2A4A"/>
                </a:solidFill>
              </a:defRPr>
            </a:pPr>
            <a:r>
              <a:t>critical research gap in evidence-based psychological interventions for de-addiction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Conclusion</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37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Substance dependence (particularly opioid) represents a significant public health crisis in India with relapse rates &gt;70%</a:t>
            </a:r>
          </a:p>
          <a:p>
            <a:pPr>
              <a:spcBef>
                <a:spcPts val="500"/>
              </a:spcBef>
              <a:defRPr sz="1300">
                <a:solidFill>
                  <a:srgbClr val="2C3E50"/>
                </a:solidFill>
              </a:defRPr>
            </a:pPr>
            <a:r>
              <a:t>Current treatment at Indian de-addiction centers relies heavily on pharmacotherapy with limited evidence-based psychological interventions</a:t>
            </a:r>
          </a:p>
          <a:p>
            <a:pPr>
              <a:spcBef>
                <a:spcPts val="500"/>
              </a:spcBef>
              <a:defRPr sz="1300">
                <a:solidFill>
                  <a:srgbClr val="2C3E50"/>
                </a:solidFill>
              </a:defRPr>
            </a:pPr>
            <a:r>
              <a:t>MBRP offers a theoretically grounded approach targeting craving (urge surfing), impulsivity (mindful pause), and mindfulness enhancement simultaneously</a:t>
            </a:r>
          </a:p>
          <a:p>
            <a:pPr>
              <a:spcBef>
                <a:spcPts val="500"/>
              </a:spcBef>
              <a:defRPr sz="1300">
                <a:solidFill>
                  <a:srgbClr val="2C3E50"/>
                </a:solidFill>
              </a:defRPr>
            </a:pPr>
            <a:r>
              <a:t>A brief 6-session MBRP protocol is clinically practical, culturally appropriate, and feasible at Man Nasha Mukti Kendra</a:t>
            </a:r>
          </a:p>
          <a:p>
            <a:pPr>
              <a:spcBef>
                <a:spcPts val="500"/>
              </a:spcBef>
              <a:defRPr sz="1300">
                <a:solidFill>
                  <a:srgbClr val="2C3E50"/>
                </a:solidFill>
              </a:defRPr>
            </a:pPr>
            <a:r>
              <a:t>If supported, Brief MBRP can be integrated into standard de-addiction care as a cost-effective, replicable intervention</a:t>
            </a:r>
          </a:p>
          <a:p>
            <a:pPr>
              <a:spcBef>
                <a:spcPts val="500"/>
              </a:spcBef>
              <a:defRPr sz="1300">
                <a:solidFill>
                  <a:srgbClr val="2C3E50"/>
                </a:solidFill>
              </a:defRPr>
            </a:pPr>
            <a:r>
              <a:t>This study contributes to evidence for mindfulness-based interventions in addiction while addressing Indian clinical psychology practice needs</a:t>
            </a:r>
          </a:p>
          <a:p>
            <a:pPr>
              <a:spcBef>
                <a:spcPts val="500"/>
              </a:spcBef>
              <a:defRPr sz="1300">
                <a:solidFill>
                  <a:srgbClr val="2C3E50"/>
                </a:solidFill>
              </a:defRPr>
            </a:pPr>
            <a:r>
              <a:t>Results will inform RCI-recognized training, national treatment policy, and relapse burden reduction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References (1/4)</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38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Baer, R. A., Smith, G. T., Hopkins, J., Krietemeyer, J., &amp; Toney, L. (2006). Using self-report assessment methods to explore facets of mindfulness. Assessment, 13(1), 27-45.</a:t>
            </a:r>
          </a:p>
          <a:p>
            <a:pPr>
              <a:spcBef>
                <a:spcPts val="500"/>
              </a:spcBef>
              <a:defRPr sz="1300">
                <a:solidFill>
                  <a:srgbClr val="2C3E50"/>
                </a:solidFill>
              </a:defRPr>
            </a:pPr>
            <a:r>
              <a:t>Bowen, S., Chawla, N., &amp; Marlatt, G. A. (2011). Mindfulness-based relapse prevention for addictive behaviors: A clinician's guide. Guilford Press.</a:t>
            </a:r>
          </a:p>
          <a:p>
            <a:pPr>
              <a:spcBef>
                <a:spcPts val="500"/>
              </a:spcBef>
              <a:defRPr sz="1300">
                <a:solidFill>
                  <a:srgbClr val="2C3E50"/>
                </a:solidFill>
              </a:defRPr>
            </a:pPr>
            <a:r>
              <a:t>Bowen, S., &amp; Marlatt, G. A. (2009). Surfing the urge: Brief mindfulness-based intervention. Psychology of Addictive Behaviors, 23(4), 666-671.</a:t>
            </a:r>
          </a:p>
          <a:p>
            <a:pPr>
              <a:spcBef>
                <a:spcPts val="500"/>
              </a:spcBef>
              <a:defRPr sz="1300">
                <a:solidFill>
                  <a:srgbClr val="2C3E50"/>
                </a:solidFill>
              </a:defRPr>
            </a:pPr>
            <a:r>
              <a:t>Bowen, S., Witkiewitz, K., Clifasefi, S. L., et al. (2014). Relative efficacy of MBRP, standard RP, and TAU. JAMA Psychiatry, 71(5), 547-556.</a:t>
            </a:r>
          </a:p>
          <a:p>
            <a:pPr>
              <a:spcBef>
                <a:spcPts val="500"/>
              </a:spcBef>
              <a:defRPr sz="1300">
                <a:solidFill>
                  <a:srgbClr val="2C3E50"/>
                </a:solidFill>
              </a:defRPr>
            </a:pPr>
            <a:r>
              <a:t>Brewer, J. A., Mallik, S., Babuscio, T. A., et al. (2011). Mindfulness training for smoking cessation. Drug and Alcohol Dependence, 119(1-2), 72-80.</a:t>
            </a:r>
          </a:p>
          <a:p>
            <a:pPr>
              <a:spcBef>
                <a:spcPts val="500"/>
              </a:spcBef>
              <a:defRPr sz="1300">
                <a:solidFill>
                  <a:srgbClr val="2C3E50"/>
                </a:solidFill>
              </a:defRPr>
            </a:pPr>
            <a:r>
              <a:t>Chiesa, A., &amp; Serretti, A. (2014). Are MBIs effective for substance use disorders? Substance Use &amp; Misuse, 49(5), 492-512.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References (2/4)</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39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Franken, I. H. A., Hendriks, V. M., &amp; van den Brink, W. (2002). New instruments to measure impulsivity and compulsivity. Psychiatrie en Neurobiologie, 1, 10-14.</a:t>
            </a:r>
          </a:p>
          <a:p>
            <a:pPr>
              <a:spcBef>
                <a:spcPts val="500"/>
              </a:spcBef>
              <a:defRPr sz="1300">
                <a:solidFill>
                  <a:srgbClr val="2C3E50"/>
                </a:solidFill>
              </a:defRPr>
            </a:pPr>
            <a:r>
              <a:t>Garland, E. L., Froeliger, B., &amp; Howard, M. O. (2014). Mindfulness targets neurocognitive mechanisms of addiction. Frontiers in Psychiatry, 4, 173.</a:t>
            </a:r>
          </a:p>
          <a:p>
            <a:pPr>
              <a:spcBef>
                <a:spcPts val="500"/>
              </a:spcBef>
              <a:defRPr sz="1300">
                <a:solidFill>
                  <a:srgbClr val="2C3E50"/>
                </a:solidFill>
              </a:defRPr>
            </a:pPr>
            <a:r>
              <a:t>Garland, E. L., Manusov, E. G., Froeliger, B., et al. (2014). MORE for chronic pain and opioid misuse. J. Consulting and Clinical Psychology, 82(3), 448-459.</a:t>
            </a:r>
          </a:p>
          <a:p>
            <a:pPr>
              <a:spcBef>
                <a:spcPts val="500"/>
              </a:spcBef>
              <a:defRPr sz="1300">
                <a:solidFill>
                  <a:srgbClr val="2C3E50"/>
                </a:solidFill>
              </a:defRPr>
            </a:pPr>
            <a:r>
              <a:t>Garland, E. L., Roberts-Lewis, A., Tronnier, C. D., et al. (2016). MORE vs. CBT for co-occurring SUDs. J. Consulting and Clinical Psychology, 84(4), 281-293.</a:t>
            </a:r>
          </a:p>
          <a:p>
            <a:pPr>
              <a:spcBef>
                <a:spcPts val="500"/>
              </a:spcBef>
              <a:defRPr sz="1300">
                <a:solidFill>
                  <a:srgbClr val="2C3E50"/>
                </a:solidFill>
              </a:defRPr>
            </a:pPr>
            <a:r>
              <a:t>Ghosh, A., Basu, D., &amp; Avasthi, A. (2018). Relapse in opioid dependence: Indian perspective. Indian Journal of Psychiatry, 60(Suppl 4), S469-S476.</a:t>
            </a:r>
          </a:p>
          <a:p>
            <a:pPr>
              <a:spcBef>
                <a:spcPts val="500"/>
              </a:spcBef>
              <a:defRPr sz="1300">
                <a:solidFill>
                  <a:srgbClr val="2C3E50"/>
                </a:solidFill>
              </a:defRPr>
            </a:pPr>
            <a:r>
              <a:t>Glasner-Edwards, S., Mooney, L. J., Ang, A., et al. (2017). MBRP for stimulant dependent adults: Pilot RCT. Mindfulness, 8(1), 126-135.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References (3/4)</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40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Grant, S., Colaiaco, B., Motala, A., et al. (2017). MBRP for SUDs: Meta-analysis. J. Addiction Medicine, 11(5), 386-396.</a:t>
            </a:r>
          </a:p>
          <a:p>
            <a:pPr>
              <a:spcBef>
                <a:spcPts val="500"/>
              </a:spcBef>
              <a:defRPr sz="1300">
                <a:solidFill>
                  <a:srgbClr val="2C3E50"/>
                </a:solidFill>
              </a:defRPr>
            </a:pPr>
            <a:r>
              <a:t>Humeniuk, R., Ali, R., Babor, T. F., et al. (2008). Validation of ASSIST. Addiction, 103(6), 1039-1047.</a:t>
            </a:r>
          </a:p>
          <a:p>
            <a:pPr>
              <a:spcBef>
                <a:spcPts val="500"/>
              </a:spcBef>
              <a:defRPr sz="1300">
                <a:solidFill>
                  <a:srgbClr val="2C3E50"/>
                </a:solidFill>
              </a:defRPr>
            </a:pPr>
            <a:r>
              <a:t>Jain, R., Majumder, P., &amp; Gupta, T. (2013). Indian Journal of Psychiatry, 55(Suppl 1), S86-S92.</a:t>
            </a:r>
          </a:p>
          <a:p>
            <a:pPr>
              <a:spcBef>
                <a:spcPts val="500"/>
              </a:spcBef>
              <a:defRPr sz="1300">
                <a:solidFill>
                  <a:srgbClr val="2C3E50"/>
                </a:solidFill>
              </a:defRPr>
            </a:pPr>
            <a:r>
              <a:t>Kabat-Zinn, J. (1990). Full catastrophe living. Delacorte Press.</a:t>
            </a:r>
          </a:p>
          <a:p>
            <a:pPr>
              <a:spcBef>
                <a:spcPts val="500"/>
              </a:spcBef>
              <a:defRPr sz="1300">
                <a:solidFill>
                  <a:srgbClr val="2C3E50"/>
                </a:solidFill>
              </a:defRPr>
            </a:pPr>
            <a:r>
              <a:t>Karyadi, K. A., VanderVeen, J. D., &amp; Cyders, M. A. (2014). Trait mindfulness and substance use: Meta-analysis. Drug and Alcohol Dependence, 143, 1-10.</a:t>
            </a:r>
          </a:p>
          <a:p>
            <a:pPr>
              <a:spcBef>
                <a:spcPts val="500"/>
              </a:spcBef>
              <a:defRPr sz="1300">
                <a:solidFill>
                  <a:srgbClr val="2C3E50"/>
                </a:solidFill>
              </a:defRPr>
            </a:pPr>
            <a:r>
              <a:t>Li, W., Howard, M. O., Garland, E. L., et al. (2017). Mindfulness for substance misuse: Meta-analysis. J. Substance Abuse Treatment, 75, 62-96.</a:t>
            </a:r>
          </a:p>
          <a:p>
            <a:pPr>
              <a:spcBef>
                <a:spcPts val="500"/>
              </a:spcBef>
              <a:defRPr sz="1300">
                <a:solidFill>
                  <a:srgbClr val="2C3E50"/>
                </a:solidFill>
              </a:defRPr>
            </a:pPr>
            <a:r>
              <a:t>Marlatt, G. A., &amp; Gordon, J. R. (1985). Relapse prevention. Guilford Press.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7B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4864"/>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
            <a:ext cx="10972800" cy="777240"/>
          </a:xfrm>
          <a:prstGeom prst="rect">
            <a:avLst/>
          </a:prstGeom>
          <a:noFill/>
        </p:spPr>
        <p:txBody>
          <a:bodyPr wrap="none">
            <a:spAutoFit/>
          </a:bodyPr>
          <a:lstStyle/>
          <a:p>
            <a:pPr algn="l">
              <a:defRPr sz="2200" b="1">
                <a:solidFill>
                  <a:srgbClr val="FFFFFF"/>
                </a:solidFill>
              </a:defRPr>
            </a:pPr>
            <a:r>
              <a:t>References (4/4)</a:t>
            </a:r>
          </a:p>
        </p:txBody>
      </p:sp>
      <p:sp>
        <p:nvSpPr>
          <p:cNvPr id="6" name="TextBox 5"/>
          <p:cNvSpPr txBox="1"/>
          <p:nvPr/>
        </p:nvSpPr>
        <p:spPr>
          <a:xfrm>
            <a:off x="10789920" y="6492240"/>
            <a:ext cx="1188720" cy="320040"/>
          </a:xfrm>
          <a:prstGeom prst="rect">
            <a:avLst/>
          </a:prstGeom>
          <a:noFill/>
        </p:spPr>
        <p:txBody>
          <a:bodyPr wrap="none">
            <a:spAutoFit/>
          </a:bodyPr>
          <a:lstStyle/>
          <a:p>
            <a:pPr algn="r">
              <a:defRPr sz="900">
                <a:solidFill>
                  <a:srgbClr val="90A4AE"/>
                </a:solidFill>
              </a:defRPr>
            </a:pPr>
            <a:r>
              <a:t>41 / 42</a:t>
            </a:r>
          </a:p>
        </p:txBody>
      </p:sp>
      <p:sp>
        <p:nvSpPr>
          <p:cNvPr id="7" name="Rectangle 6"/>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80160"/>
            <a:ext cx="10789920" cy="4937760"/>
          </a:xfrm>
          <a:prstGeom prst="rect">
            <a:avLst/>
          </a:prstGeom>
          <a:noFill/>
        </p:spPr>
        <p:txBody>
          <a:bodyPr wrap="square">
            <a:spAutoFit/>
          </a:bodyPr>
          <a:lstStyle/>
          <a:p>
            <a:pPr>
              <a:spcBef>
                <a:spcPts val="500"/>
              </a:spcBef>
              <a:defRPr sz="1300">
                <a:solidFill>
                  <a:srgbClr val="2C3E50"/>
                </a:solidFill>
              </a:defRPr>
            </a:pPr>
            <a:r>
              <a:t>Mattoo, S. K., Chakrabarti, S., &amp; Anjaiah, M. (2009). Psychosocial factors in relapse. Indian J. Medical Research, 130(6), 702-708.</a:t>
            </a:r>
          </a:p>
          <a:p>
            <a:pPr>
              <a:spcBef>
                <a:spcPts val="500"/>
              </a:spcBef>
              <a:defRPr sz="1300">
                <a:solidFill>
                  <a:srgbClr val="2C3E50"/>
                </a:solidFill>
              </a:defRPr>
            </a:pPr>
            <a:r>
              <a:t>Ministry of Social Justice &amp; Empowerment. (2019). Magnitude of substance use in India. Government of India.</a:t>
            </a:r>
          </a:p>
          <a:p>
            <a:pPr>
              <a:spcBef>
                <a:spcPts val="500"/>
              </a:spcBef>
              <a:defRPr sz="1300">
                <a:solidFill>
                  <a:srgbClr val="2C3E50"/>
                </a:solidFill>
              </a:defRPr>
            </a:pPr>
            <a:r>
              <a:t>Moeller, F. G., Barratt, E. S., Dougherty, D. M., et al. (2001). Psychiatric aspects of impulsivity. Am. J. Psychiatry, 158(11), 1783-1793.</a:t>
            </a:r>
          </a:p>
          <a:p>
            <a:pPr>
              <a:spcBef>
                <a:spcPts val="500"/>
              </a:spcBef>
              <a:defRPr sz="1300">
                <a:solidFill>
                  <a:srgbClr val="2C3E50"/>
                </a:solidFill>
              </a:defRPr>
            </a:pPr>
            <a:r>
              <a:t>Murphy, C., &amp; MacKillop, J. (2012). Impulsivity, mindfulness, and alcohol misuse. Psychopharmacology, 219(2), 527-536.</a:t>
            </a:r>
          </a:p>
          <a:p>
            <a:pPr>
              <a:spcBef>
                <a:spcPts val="500"/>
              </a:spcBef>
              <a:defRPr sz="1300">
                <a:solidFill>
                  <a:srgbClr val="2C3E50"/>
                </a:solidFill>
              </a:defRPr>
            </a:pPr>
            <a:r>
              <a:t>NIDA. (2020). Drugs, brains, and behavior: The science of addiction.</a:t>
            </a:r>
          </a:p>
          <a:p>
            <a:pPr>
              <a:spcBef>
                <a:spcPts val="500"/>
              </a:spcBef>
              <a:defRPr sz="1300">
                <a:solidFill>
                  <a:srgbClr val="2C3E50"/>
                </a:solidFill>
              </a:defRPr>
            </a:pPr>
            <a:r>
              <a:t>Patton, J. H., Stanford, M. S., &amp; Barratt, E. S. (1995). Factor structure of BIS. J. Clinical Psychology, 51(6), 768-774.</a:t>
            </a:r>
          </a:p>
          <a:p>
            <a:pPr>
              <a:spcBef>
                <a:spcPts val="500"/>
              </a:spcBef>
              <a:defRPr sz="1300">
                <a:solidFill>
                  <a:srgbClr val="2C3E50"/>
                </a:solidFill>
              </a:defRPr>
            </a:pPr>
            <a:r>
              <a:t>Robinson, T. E., &amp; Berridge, K. C. (1993). Neural basis of drug craving. Brain Research Reviews, 18(3), 247-291.</a:t>
            </a:r>
          </a:p>
          <a:p>
            <a:pPr>
              <a:spcBef>
                <a:spcPts val="500"/>
              </a:spcBef>
              <a:defRPr sz="1300">
                <a:solidFill>
                  <a:srgbClr val="2C3E50"/>
                </a:solidFill>
              </a:defRPr>
            </a:pPr>
            <a:r>
              <a:t>Sarkar, S., &amp; Balhara, Y. P. S. (2016). Indian Journal of Psychiatry, 58(3), 290-295.</a:t>
            </a:r>
          </a:p>
          <a:p>
            <a:pPr>
              <a:spcBef>
                <a:spcPts val="500"/>
              </a:spcBef>
              <a:defRPr sz="1300">
                <a:solidFill>
                  <a:srgbClr val="2C3E50"/>
                </a:solidFill>
              </a:defRPr>
            </a:pPr>
            <a:r>
              <a:t>Tabachnick, B. G., &amp; Fidell, L. S. (2013). Using multivariate statistics (6th ed.). Pearson.</a:t>
            </a:r>
          </a:p>
          <a:p>
            <a:pPr>
              <a:spcBef>
                <a:spcPts val="500"/>
              </a:spcBef>
              <a:defRPr sz="1300">
                <a:solidFill>
                  <a:srgbClr val="2C3E50"/>
                </a:solidFill>
              </a:defRPr>
            </a:pPr>
            <a:r>
              <a:t>WHO ASSIST Working Group. (2002). ASSIST development. Addiction, 97(9), 1183-1194.</a:t>
            </a:r>
          </a:p>
          <a:p>
            <a:pPr>
              <a:spcBef>
                <a:spcPts val="500"/>
              </a:spcBef>
              <a:defRPr sz="1300">
                <a:solidFill>
                  <a:srgbClr val="2C3E50"/>
                </a:solidFill>
              </a:defRPr>
            </a:pPr>
            <a:r>
              <a:t>Witkiewitz, K., Bowen, S., Douglas, H., &amp; Hsu, S. H. (2013). MBRP for craving. Addictive Behaviors, 38(2), 1563-1571.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Oval 1"/>
          <p:cNvSpPr/>
          <p:nvPr/>
        </p:nvSpPr>
        <p:spPr>
          <a:xfrm>
            <a:off x="8686800" y="4114800"/>
            <a:ext cx="3200400" cy="3200400"/>
          </a:xfrm>
          <a:prstGeom prst="ellipse">
            <a:avLst/>
          </a:prstGeom>
          <a:solidFill>
            <a:srgbClr val="1B2A4A"/>
          </a:solidFill>
          <a:ln w="25400">
            <a:solidFill>
              <a:srgbClr val="007B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457200" y="-457200"/>
            <a:ext cx="2286000" cy="2286000"/>
          </a:xfrm>
          <a:prstGeom prst="ellipse">
            <a:avLst/>
          </a:prstGeom>
          <a:solidFill>
            <a:srgbClr val="1B2A4A"/>
          </a:solidFill>
          <a:ln w="19050">
            <a:solidFill>
              <a:srgbClr val="C98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0"/>
            <a:ext cx="8229600" cy="2743200"/>
          </a:xfrm>
          <a:prstGeom prst="rect">
            <a:avLst/>
          </a:prstGeom>
          <a:noFill/>
        </p:spPr>
        <p:txBody>
          <a:bodyPr wrap="none">
            <a:spAutoFit/>
          </a:bodyPr>
          <a:lstStyle/>
          <a:p>
            <a:pPr algn="ctr">
              <a:defRPr sz="4400" b="1">
                <a:solidFill>
                  <a:srgbClr val="FFFFFF"/>
                </a:solidFill>
              </a:defRPr>
            </a:pPr>
            <a:r>
              <a:t>Thank You</a:t>
            </a:r>
          </a:p>
          <a:p>
            <a:pPr algn="ctr">
              <a:spcBef>
                <a:spcPts val="2000"/>
              </a:spcBef>
              <a:defRPr sz="1800">
                <a:solidFill>
                  <a:srgbClr val="00A8A8"/>
                </a:solidFill>
              </a:defRPr>
            </a:pPr>
            <a:r>
              <a:t>Questions &amp; Discussion</a:t>
            </a:r>
          </a:p>
          <a:p/>
          <a:p>
            <a:pPr algn="ctr">
              <a:defRPr sz="1300">
                <a:solidFill>
                  <a:srgbClr val="90A4AE"/>
                </a:solidFill>
              </a:defRPr>
            </a:pPr>
            <a:r>
              <a:t>Man Nasha Mukti Kendra  |  [University Name]</a:t>
            </a:r>
          </a:p>
        </p:txBody>
      </p:sp>
      <p:sp>
        <p:nvSpPr>
          <p:cNvPr id="5" name="Rectangle 4"/>
          <p:cNvSpPr/>
          <p:nvPr/>
        </p:nvSpPr>
        <p:spPr>
          <a:xfrm>
            <a:off x="0" y="6583680"/>
            <a:ext cx="12191695" cy="73152"/>
          </a:xfrm>
          <a:prstGeom prst="rect">
            <a:avLst/>
          </a:prstGeom>
          <a:solidFill>
            <a:srgbClr val="C98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