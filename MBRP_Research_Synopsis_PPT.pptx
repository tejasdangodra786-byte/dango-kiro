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914400" y="914400"/>
            <a:ext cx="10332720" cy="2560320"/>
          </a:xfrm>
          <a:prstGeom prst="rect">
            <a:avLst/>
          </a:prstGeom>
          <a:noFill/>
        </p:spPr>
        <p:txBody>
          <a:bodyPr wrap="square">
            <a:spAutoFit/>
          </a:bodyPr>
          <a:lstStyle/>
          <a:p>
            <a:pPr algn="ctr">
              <a:defRPr sz="2400" b="1">
                <a:solidFill>
                  <a:srgbClr val="FFFFFF"/>
                </a:solidFill>
              </a:defRPr>
            </a:pPr>
            <a:r>
              <a:t>Efficacy of Brief Mindfulness-Based Relapse Prevention (MBRP)</a:t>
            </a:r>
            <a:br/>
            <a:r>
              <a:t>Intervention on Craving, Impulsivity, and Mindfulness</a:t>
            </a:r>
            <a:br/>
            <a:r>
              <a:t>in Substance Dependent Patients</a:t>
            </a:r>
          </a:p>
          <a:p>
            <a:pPr algn="ctr">
              <a:spcBef>
                <a:spcPts val="1800"/>
              </a:spcBef>
              <a:defRPr sz="1500">
                <a:solidFill>
                  <a:srgbClr val="D4A537"/>
                </a:solidFill>
              </a:defRPr>
            </a:pPr>
            <a:r>
              <a:t>MPhil Clinical Psychology Research Synopsis</a:t>
            </a:r>
          </a:p>
          <a:p>
            <a:br/>
            <a:pPr algn="ctr">
              <a:spcBef>
                <a:spcPts val="2400"/>
              </a:spcBef>
              <a:defRPr sz="1300">
                <a:solidFill>
                  <a:srgbClr val="FFFFFF"/>
                </a:solidFill>
              </a:defRPr>
            </a:pPr>
            <a:r>
              <a:t>Researcher: [Researcher Name]</a:t>
            </a:r>
            <a:br/>
            <a:r>
              <a:t>Guide: [Supervisor Name]</a:t>
            </a:r>
            <a:br/>
            <a:r>
              <a:t>Department: Clinical Psychology</a:t>
            </a:r>
            <a:br/>
            <a:r>
              <a:t>Institution: Man Nasha Mukti Kendra / [University Name]</a:t>
            </a:r>
            <a:br/>
            <a:r>
              <a:t>Year: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Introduction &amp; Background (1/3)</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Substance Dependence: Indian Context &amp; Key Abbreviations</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ABBREVIATIONS USED: MBRP = Mindfulness-Based Relapse Prevention; TAU = Treatment As Usual; OCDUS = Obsessive Compulsive Drug Use Scale; BIS-11 = Barratt Impulsiveness Scale; FFMQ = Five Facet Mindfulness Questionnaire; ASSIST = Alcohol, Smoking and Substance Involvement Screening Test; OST = Opioid Substitution Therapy; PFC = Prefrontal Cortex; ANCOVA = Analysis of Covariance</a:t>
            </a:r>
          </a:p>
          <a:p>
            <a:pPr>
              <a:spcBef>
                <a:spcPts val="500"/>
              </a:spcBef>
              <a:defRPr sz="1300">
                <a:solidFill>
                  <a:srgbClr val="2D2D44"/>
                </a:solidFill>
              </a:defRPr>
            </a:pPr>
          </a:p>
          <a:p>
            <a:pPr>
              <a:spcBef>
                <a:spcPts val="500"/>
              </a:spcBef>
              <a:defRPr sz="1300">
                <a:solidFill>
                  <a:srgbClr val="2D2D44"/>
                </a:solidFill>
              </a:defRPr>
            </a:pPr>
            <a:r>
              <a:t>India faces a significant substance use crisis; the MAGNITUDE study (Ministry of Social Justice &amp; Empowerment, 2019) estimated approximately 3.1 crore individuals affected by substance use disorders</a:t>
            </a:r>
          </a:p>
          <a:p>
            <a:pPr>
              <a:spcBef>
                <a:spcPts val="500"/>
              </a:spcBef>
              <a:defRPr sz="1300">
                <a:solidFill>
                  <a:srgbClr val="2D2D44"/>
                </a:solidFill>
              </a:defRPr>
            </a:pPr>
            <a:r>
              <a:t>Opioid dependence constitutes a major public health burden, particularly in Punjab, Rajasthan, Northeast India, and metropolitan areas</a:t>
            </a:r>
          </a:p>
          <a:p>
            <a:pPr>
              <a:spcBef>
                <a:spcPts val="500"/>
              </a:spcBef>
              <a:defRPr sz="1300">
                <a:solidFill>
                  <a:srgbClr val="2D2D44"/>
                </a:solidFill>
              </a:defRPr>
            </a:pPr>
            <a:r>
              <a:t>WHO estimates India accounts for ~25% of global opioid-related deaths in South-East Asia</a:t>
            </a:r>
          </a:p>
          <a:p>
            <a:pPr>
              <a:spcBef>
                <a:spcPts val="500"/>
              </a:spcBef>
              <a:defRPr sz="1300">
                <a:solidFill>
                  <a:srgbClr val="2D2D44"/>
                </a:solidFill>
              </a:defRPr>
            </a:pPr>
            <a:r>
              <a:t>National Drug Dependence Treatment Centre (NDDTC) reports increasing treatment-seeking among opioid users</a:t>
            </a:r>
          </a:p>
          <a:p>
            <a:pPr>
              <a:spcBef>
                <a:spcPts val="500"/>
              </a:spcBef>
              <a:defRPr sz="1300">
                <a:solidFill>
                  <a:srgbClr val="2D2D44"/>
                </a:solidFill>
              </a:defRPr>
            </a:pPr>
            <a:r>
              <a:t>Indian de-addiction centers, including Man Nasha Mukti Kendra, primarily offer pharmacotherapy (OST, naltrexone) with limited structured psychotherapy</a:t>
            </a:r>
          </a:p>
          <a:p>
            <a:pPr>
              <a:spcBef>
                <a:spcPts val="500"/>
              </a:spcBef>
              <a:defRPr sz="1300">
                <a:solidFill>
                  <a:srgbClr val="2D2D44"/>
                </a:solidFill>
              </a:defRPr>
            </a:pPr>
            <a:r>
              <a:t>Psychosocial interventions remain under-utilized despite evidence of superior combined treatment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Introduction &amp; Background (2/3)</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The Relapse Problem in De-Addiction</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Relapse rates in substance dependence range from 40-60% within the first year post-treatment (NIDA, 2020)</a:t>
            </a:r>
          </a:p>
          <a:p>
            <a:pPr>
              <a:spcBef>
                <a:spcPts val="500"/>
              </a:spcBef>
              <a:defRPr sz="1300">
                <a:solidFill>
                  <a:srgbClr val="2D2D44"/>
                </a:solidFill>
              </a:defRPr>
            </a:pPr>
            <a:r>
              <a:t>Indian studies report even higher relapse rates (~70-80%) in opioid dependence (Mattoo et al., 2009)</a:t>
            </a:r>
          </a:p>
          <a:p>
            <a:pPr>
              <a:spcBef>
                <a:spcPts val="500"/>
              </a:spcBef>
              <a:defRPr sz="1300">
                <a:solidFill>
                  <a:srgbClr val="2D2D44"/>
                </a:solidFill>
              </a:defRPr>
            </a:pPr>
            <a:r>
              <a:t>Triggers for relapse: craving, negative affect, interpersonal conflict, environmental cues</a:t>
            </a:r>
          </a:p>
          <a:p>
            <a:pPr>
              <a:spcBef>
                <a:spcPts val="500"/>
              </a:spcBef>
              <a:defRPr sz="1300">
                <a:solidFill>
                  <a:srgbClr val="2D2D44"/>
                </a:solidFill>
              </a:defRPr>
            </a:pPr>
            <a:r>
              <a:t>Traditional Relapse Prevention (Marlatt &amp; Gordon, 1985) has moderate efficacy but limited mindfulness integration</a:t>
            </a:r>
          </a:p>
          <a:p>
            <a:pPr>
              <a:spcBef>
                <a:spcPts val="500"/>
              </a:spcBef>
              <a:defRPr sz="1300">
                <a:solidFill>
                  <a:srgbClr val="2D2D44"/>
                </a:solidFill>
              </a:defRPr>
            </a:pPr>
            <a:r>
              <a:t>Automatic cognitive-behavioral patterns (e.g., apparently irrelevant decisions) perpetuate relapse cycles</a:t>
            </a:r>
          </a:p>
          <a:p>
            <a:pPr>
              <a:spcBef>
                <a:spcPts val="500"/>
              </a:spcBef>
              <a:defRPr sz="1300">
                <a:solidFill>
                  <a:srgbClr val="2D2D44"/>
                </a:solidFill>
              </a:defRPr>
            </a:pPr>
            <a:r>
              <a:t>Need for interventions addressing both cognitive automaticity and emotional dysregulation simultaneously</a:t>
            </a:r>
          </a:p>
          <a:p>
            <a:pPr>
              <a:spcBef>
                <a:spcPts val="500"/>
              </a:spcBef>
              <a:defRPr sz="1300">
                <a:solidFill>
                  <a:srgbClr val="2D2D44"/>
                </a:solidFill>
              </a:defRPr>
            </a:pPr>
            <a:r>
              <a:t>Brief interventions are essential for Indian rehab settings (e.g., Man Nasha Mukti Kendra) with limited resources and high patient turnover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Introduction &amp; Background (3/3)</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Mindfulness in Addiction Treatment</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Mindfulness: intentional, non-judgmental, present-moment awareness (Kabat-Zinn, 1990)</a:t>
            </a:r>
          </a:p>
          <a:p>
            <a:pPr>
              <a:spcBef>
                <a:spcPts val="500"/>
              </a:spcBef>
              <a:defRPr sz="1300">
                <a:solidFill>
                  <a:srgbClr val="2D2D44"/>
                </a:solidFill>
              </a:defRPr>
            </a:pPr>
            <a:r>
              <a:t>MBRP developed by Bowen, Chawla, and Marlatt (2011) integrating MBSR + Cognitive-Behavioral Relapse Prevention</a:t>
            </a:r>
          </a:p>
          <a:p>
            <a:pPr>
              <a:spcBef>
                <a:spcPts val="500"/>
              </a:spcBef>
              <a:defRPr sz="1300">
                <a:solidFill>
                  <a:srgbClr val="2D2D44"/>
                </a:solidFill>
              </a:defRPr>
            </a:pPr>
            <a:r>
              <a:t>Core mechanisms: decentering from craving, disrupting automatic reactivity, increasing distress tolerance</a:t>
            </a:r>
          </a:p>
          <a:p>
            <a:pPr>
              <a:spcBef>
                <a:spcPts val="500"/>
              </a:spcBef>
              <a:defRPr sz="1300">
                <a:solidFill>
                  <a:srgbClr val="2D2D44"/>
                </a:solidFill>
              </a:defRPr>
            </a:pPr>
            <a:r>
              <a:t>MBRP targets the 'craving -&gt; use' automaticity by cultivating awareness of triggers and non-reactive responding</a:t>
            </a:r>
          </a:p>
          <a:p>
            <a:pPr>
              <a:spcBef>
                <a:spcPts val="500"/>
              </a:spcBef>
              <a:defRPr sz="1300">
                <a:solidFill>
                  <a:srgbClr val="2D2D44"/>
                </a:solidFill>
              </a:defRPr>
            </a:pPr>
            <a:r>
              <a:t>Brief adaptations (6 sessions over 3 weeks) show promise for resource-limited rehabilitation settings</a:t>
            </a:r>
          </a:p>
          <a:p>
            <a:pPr>
              <a:spcBef>
                <a:spcPts val="500"/>
              </a:spcBef>
              <a:defRPr sz="1300">
                <a:solidFill>
                  <a:srgbClr val="2D2D44"/>
                </a:solidFill>
              </a:defRPr>
            </a:pPr>
            <a:r>
              <a:t>Growing global evidence supports MBRP; however, Indian validation remains critically scarce</a:t>
            </a:r>
          </a:p>
          <a:p>
            <a:pPr>
              <a:spcBef>
                <a:spcPts val="500"/>
              </a:spcBef>
              <a:defRPr sz="1300">
                <a:solidFill>
                  <a:srgbClr val="2D2D44"/>
                </a:solidFill>
              </a:defRPr>
            </a:pPr>
            <a:r>
              <a:t>Rationale: A brief MBRP model (6 sessions) can be feasibly implemented in Indian de-addiction centers like Man Nasha Mukti Kendra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Variable 1: Craving</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DEFINITION (Clinical): An intense, subjective urge or desire to use a substance, often triggered by internal/external cues</a:t>
            </a:r>
          </a:p>
          <a:p>
            <a:pPr>
              <a:spcBef>
                <a:spcPts val="500"/>
              </a:spcBef>
              <a:defRPr sz="1300">
                <a:solidFill>
                  <a:srgbClr val="2D2D44"/>
                </a:solidFill>
              </a:defRPr>
            </a:pPr>
            <a:r>
              <a:t>DEFINITION (Theoretical): A motivational state arising from incentive-sensitization (Robinson &amp; Berridge, 1993) and conditioned reinforcement learning</a:t>
            </a:r>
          </a:p>
          <a:p>
            <a:pPr>
              <a:spcBef>
                <a:spcPts val="500"/>
              </a:spcBef>
              <a:defRPr sz="1300">
                <a:solidFill>
                  <a:srgbClr val="2D2D44"/>
                </a:solidFill>
              </a:defRPr>
            </a:pPr>
            <a:r>
              <a:t>RELEVANCE: Primary predictor of relapse in opioid dependence; mediates relationship between cue exposure and substance use behavior; intensity correlates with severity and treatment dropout</a:t>
            </a:r>
          </a:p>
          <a:p>
            <a:pPr>
              <a:spcBef>
                <a:spcPts val="500"/>
              </a:spcBef>
              <a:defRPr sz="1300">
                <a:solidFill>
                  <a:srgbClr val="2D2D44"/>
                </a:solidFill>
              </a:defRPr>
            </a:pPr>
            <a:r>
              <a:t>NEUROPSYCHOLOGICAL BASIS: Mesolimbic dopamine pathway activation (VTA -&gt; Nucleus Accumbens); PFC hypoactivation during craving episodes; conditioned cue-reward associations; dysregulated stress-reward interaction in chronic opioid users</a:t>
            </a:r>
          </a:p>
          <a:p>
            <a:pPr>
              <a:spcBef>
                <a:spcPts val="500"/>
              </a:spcBef>
              <a:defRPr sz="1300">
                <a:solidFill>
                  <a:srgbClr val="2D2D44"/>
                </a:solidFill>
              </a:defRPr>
            </a:pPr>
            <a:r>
              <a:t>TECHNIQUE - Urge Surfing: Observing craving as a transient wave without acting on it</a:t>
            </a:r>
          </a:p>
          <a:p>
            <a:pPr>
              <a:spcBef>
                <a:spcPts val="500"/>
              </a:spcBef>
              <a:defRPr sz="1300">
                <a:solidFill>
                  <a:srgbClr val="2D2D44"/>
                </a:solidFill>
              </a:defRPr>
            </a:pPr>
            <a:r>
              <a:t>TECHNIQUE - Mindfulness Exposure: Non-reactive awareness of craving sensations in the body</a:t>
            </a:r>
          </a:p>
          <a:p>
            <a:pPr>
              <a:spcBef>
                <a:spcPts val="500"/>
              </a:spcBef>
              <a:defRPr sz="1300">
                <a:solidFill>
                  <a:srgbClr val="2D2D44"/>
                </a:solidFill>
              </a:defRPr>
            </a:pPr>
            <a:r>
              <a:t>TECHNIQUE - SOBER Breathing Space: Stop-Observe-Breathe-Expand-Respond during craving triggers</a:t>
            </a:r>
          </a:p>
          <a:p>
            <a:pPr>
              <a:spcBef>
                <a:spcPts val="500"/>
              </a:spcBef>
              <a:defRPr sz="1300">
                <a:solidFill>
                  <a:srgbClr val="2D2D44"/>
                </a:solidFill>
              </a:defRPr>
            </a:pPr>
            <a:r>
              <a:t>TECHNIQUE - Cognitive Decentering: Reframing 'I need the drug' to 'I am having a craving'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Variable 2: Impulsivity</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DEFINITION (Clinical): A tendency toward rapid, unplanned actions without adequate consideration of consequences (Moeller et al., 2001)</a:t>
            </a:r>
          </a:p>
          <a:p>
            <a:pPr>
              <a:spcBef>
                <a:spcPts val="500"/>
              </a:spcBef>
              <a:defRPr sz="1300">
                <a:solidFill>
                  <a:srgbClr val="2D2D44"/>
                </a:solidFill>
              </a:defRPr>
            </a:pPr>
            <a:r>
              <a:t>DEFINITION (Theoretical): Multi-dimensional construct comprising motor impulsivity, attentional impulsivity, and non-planning impulsivity (Patton et al., 1995)</a:t>
            </a:r>
          </a:p>
          <a:p>
            <a:pPr>
              <a:spcBef>
                <a:spcPts val="500"/>
              </a:spcBef>
              <a:defRPr sz="1300">
                <a:solidFill>
                  <a:srgbClr val="2D2D44"/>
                </a:solidFill>
              </a:defRPr>
            </a:pPr>
            <a:r>
              <a:t>RELEVANCE: Higher trait impulsivity predicts initiation, escalation, and relapse in substance use; mediates craving-to-use behavior; associated with treatment non-adherence and premature dropout</a:t>
            </a:r>
          </a:p>
          <a:p>
            <a:pPr>
              <a:spcBef>
                <a:spcPts val="500"/>
              </a:spcBef>
              <a:defRPr sz="1300">
                <a:solidFill>
                  <a:srgbClr val="2D2D44"/>
                </a:solidFill>
              </a:defRPr>
            </a:pPr>
            <a:r>
              <a:t>NEUROPSYCHOLOGICAL BASIS: PFC dysfunction -&gt; impaired executive control; reduced inhibitory control (Go/No-Go, Stop-Signal paradigms); impaired delay discounting; DLPFC hypoactivation linked to poor decision-making</a:t>
            </a:r>
          </a:p>
          <a:p>
            <a:pPr>
              <a:spcBef>
                <a:spcPts val="500"/>
              </a:spcBef>
              <a:defRPr sz="1300">
                <a:solidFill>
                  <a:srgbClr val="2D2D44"/>
                </a:solidFill>
              </a:defRPr>
            </a:pPr>
            <a:r>
              <a:t>TECHNIQUE - Response Inhibition Training: Mindful pause before automatic behavioral responses</a:t>
            </a:r>
          </a:p>
          <a:p>
            <a:pPr>
              <a:spcBef>
                <a:spcPts val="500"/>
              </a:spcBef>
              <a:defRPr sz="1300">
                <a:solidFill>
                  <a:srgbClr val="2D2D44"/>
                </a:solidFill>
              </a:defRPr>
            </a:pPr>
            <a:r>
              <a:t>TECHNIQUE - Awareness Training: Noticing impulse-action sequences without engagement</a:t>
            </a:r>
          </a:p>
          <a:p>
            <a:pPr>
              <a:spcBef>
                <a:spcPts val="500"/>
              </a:spcBef>
              <a:defRPr sz="1300">
                <a:solidFill>
                  <a:srgbClr val="2D2D44"/>
                </a:solidFill>
              </a:defRPr>
            </a:pPr>
            <a:r>
              <a:t>TECHNIQUE - Mindful Decision-Making: Creating space between stimulus and response</a:t>
            </a:r>
          </a:p>
          <a:p>
            <a:pPr>
              <a:spcBef>
                <a:spcPts val="500"/>
              </a:spcBef>
              <a:defRPr sz="1300">
                <a:solidFill>
                  <a:srgbClr val="2D2D44"/>
                </a:solidFill>
              </a:defRPr>
            </a:pPr>
            <a:r>
              <a:t>TECHNIQUE - STOP: Stop-Take a breath-Observe-Proceed mindfully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Variable 3: Mindfulness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DEFINITION (Clinical): The capacity to attend to present-moment experience with openness, curiosity, and non-judgment</a:t>
            </a:r>
          </a:p>
          <a:p>
            <a:pPr>
              <a:spcBef>
                <a:spcPts val="500"/>
              </a:spcBef>
              <a:defRPr sz="1300">
                <a:solidFill>
                  <a:srgbClr val="2D2D44"/>
                </a:solidFill>
              </a:defRPr>
            </a:pPr>
            <a:r>
              <a:t>DEFINITION (Theoretical): Multi-faceted construct: Observing, Describing, Acting with Awareness, Non-Judging, Non-Reactivity (Baer et al., 2006)</a:t>
            </a:r>
          </a:p>
          <a:p>
            <a:pPr>
              <a:spcBef>
                <a:spcPts val="500"/>
              </a:spcBef>
              <a:defRPr sz="1300">
                <a:solidFill>
                  <a:srgbClr val="2D2D44"/>
                </a:solidFill>
              </a:defRPr>
            </a:pPr>
            <a:r>
              <a:t>RELEVANCE: Substance-dependent individuals show significantly lower dispositional mindfulness; mindfulness acts as protective factor against relapse triggers; improvements in mindfulness mediate treatment outcomes in MBRP studies</a:t>
            </a:r>
          </a:p>
          <a:p>
            <a:pPr>
              <a:spcBef>
                <a:spcPts val="500"/>
              </a:spcBef>
              <a:defRPr sz="1300">
                <a:solidFill>
                  <a:srgbClr val="2D2D44"/>
                </a:solidFill>
              </a:defRPr>
            </a:pPr>
            <a:r>
              <a:t>NEUROPSYCHOLOGICAL BASIS: Anterior Cingulate Cortex (ACC) -&gt; enhanced self-regulation; Insula -&gt; improved interoceptive awareness; PFC-amygdala connectivity -&gt; better emotional regulation; DMN regulation -&gt; reduced rumination</a:t>
            </a:r>
          </a:p>
          <a:p>
            <a:pPr>
              <a:spcBef>
                <a:spcPts val="500"/>
              </a:spcBef>
              <a:defRPr sz="1300">
                <a:solidFill>
                  <a:srgbClr val="2D2D44"/>
                </a:solidFill>
              </a:defRPr>
            </a:pPr>
            <a:r>
              <a:t>TECHNIQUE - Sitting Meditation: Focused attention on breath, body sensations, thoughts</a:t>
            </a:r>
          </a:p>
          <a:p>
            <a:pPr>
              <a:spcBef>
                <a:spcPts val="500"/>
              </a:spcBef>
              <a:defRPr sz="1300">
                <a:solidFill>
                  <a:srgbClr val="2D2D44"/>
                </a:solidFill>
              </a:defRPr>
            </a:pPr>
            <a:r>
              <a:t>TECHNIQUE - Body Scan: Systematic non-judgmental awareness of bodily states</a:t>
            </a:r>
          </a:p>
          <a:p>
            <a:pPr>
              <a:spcBef>
                <a:spcPts val="500"/>
              </a:spcBef>
              <a:defRPr sz="1300">
                <a:solidFill>
                  <a:srgbClr val="2D2D44"/>
                </a:solidFill>
              </a:defRPr>
            </a:pPr>
            <a:r>
              <a:t>TECHNIQUE - Mindful Movement: Gentle yoga/walking with present-moment focus</a:t>
            </a:r>
          </a:p>
          <a:p>
            <a:pPr>
              <a:spcBef>
                <a:spcPts val="500"/>
              </a:spcBef>
              <a:defRPr sz="1300">
                <a:solidFill>
                  <a:srgbClr val="2D2D44"/>
                </a:solidFill>
              </a:defRPr>
            </a:pPr>
            <a:r>
              <a:t>TECHNIQUE - Non-Judgmental Awareness: Labeling experiences without evaluation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000" b="1">
                <a:solidFill>
                  <a:srgbClr val="FFFFFF"/>
                </a:solidFill>
              </a:defRPr>
            </a:pPr>
            <a:r>
              <a:t>Review of Literature (1/5) - MBRP &amp; Relapse Prevention</a:t>
            </a:r>
          </a:p>
        </p:txBody>
      </p:sp>
      <p:sp>
        <p:nvSpPr>
          <p:cNvPr id="4" name="TextBox 3"/>
          <p:cNvSpPr txBox="1"/>
          <p:nvPr/>
        </p:nvSpPr>
        <p:spPr>
          <a:xfrm>
            <a:off x="457200" y="1051560"/>
            <a:ext cx="11247120" cy="5577840"/>
          </a:xfrm>
          <a:prstGeom prst="rect">
            <a:avLst/>
          </a:prstGeom>
          <a:noFill/>
        </p:spPr>
        <p:txBody>
          <a:bodyPr wrap="square">
            <a:spAutoFit/>
          </a:bodyPr>
          <a:lstStyle/>
          <a:p>
            <a:pPr>
              <a:spcBef>
                <a:spcPts val="1000"/>
              </a:spcBef>
              <a:spcAft>
                <a:spcPts val="400"/>
              </a:spcAft>
              <a:defRPr sz="1100">
                <a:solidFill>
                  <a:srgbClr val="2D2D44"/>
                </a:solidFill>
              </a:defRPr>
            </a:pPr>
            <a:r>
              <a:t>Bowen et al. (2014) investigate the relative efficacy of Mindfulness-Based Relapse Prevention compared to standard Relapse Prevention and Treatment As Usual for substance use disorders in JAMA Psychiatry. The randomized clinical trial involved 286 participants who had completed initial treatment for substance use disorders. The study demonstrates that at 12-month follow-up, MBRP participants reported significantly fewer days of substance use and heavy drinking compared to both standard RP and TAU groups. The researchers highlight that while all three groups showed initial improvements, MBRP participants maintained superior long-term outcomes, suggesting that the cultivation of mindfulness skills provides a durable protective mechanism against relapse. The study establishes that MBRP's integration of present-moment awareness with traditional cognitive-behavioral relapse prevention strategies creates a synergistic therapeutic effect that addresses both the automatic reactivity underlying craving and the cognitive distortions that precipitate relapse. These findings provide foundational evidence for MBRP as a gold-standard psychosocial intervention in substance use disorder aftercare.</a:t>
            </a:r>
          </a:p>
          <a:p>
            <a:pPr>
              <a:spcBef>
                <a:spcPts val="1000"/>
              </a:spcBef>
              <a:spcAft>
                <a:spcPts val="400"/>
              </a:spcAft>
              <a:defRPr sz="1100">
                <a:solidFill>
                  <a:srgbClr val="2D2D44"/>
                </a:solidFill>
              </a:defRPr>
            </a:pPr>
          </a:p>
          <a:p>
            <a:pPr>
              <a:spcBef>
                <a:spcPts val="1000"/>
              </a:spcBef>
              <a:spcAft>
                <a:spcPts val="400"/>
              </a:spcAft>
              <a:defRPr sz="1100">
                <a:solidFill>
                  <a:srgbClr val="2D2D44"/>
                </a:solidFill>
              </a:defRPr>
            </a:pPr>
            <a:r>
              <a:t>Bowen and Marlatt (2009) examine the effects of brief mindfulness-based intervention on craving among substance users in Psychology of Addictive Behaviors. The study recruited incarcerated individuals with substance use histories and administered a brief urge surfing meditation intervention. Results demonstrated significant reductions in craving intensity and frequency in the mindfulness condition compared to controls. The authors propose that even brief exposure to mindfulness techniques can disrupt the automaticity of craving responses by introducing a meta-cognitive awareness layer between trigger and behavioral response. This study is particularly relevant to the present research as it validates the premise that abbreviated mindfulness interventions can produce meaningful clinical effects on craving, supporting the feasibility of brief MBRP protocols (6 sessions over 3 weeks) in settings like Man Nasha Mukti Kendra where extended treatment programs are impractical.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000" b="1">
                <a:solidFill>
                  <a:srgbClr val="FFFFFF"/>
                </a:solidFill>
              </a:defRPr>
            </a:pPr>
            <a:r>
              <a:t>Review of Literature (2/5) - Craving &amp; Mindfulness Mechanisms</a:t>
            </a:r>
          </a:p>
        </p:txBody>
      </p:sp>
      <p:sp>
        <p:nvSpPr>
          <p:cNvPr id="4" name="TextBox 3"/>
          <p:cNvSpPr txBox="1"/>
          <p:nvPr/>
        </p:nvSpPr>
        <p:spPr>
          <a:xfrm>
            <a:off x="457200" y="1051560"/>
            <a:ext cx="11247120" cy="5577840"/>
          </a:xfrm>
          <a:prstGeom prst="rect">
            <a:avLst/>
          </a:prstGeom>
          <a:noFill/>
        </p:spPr>
        <p:txBody>
          <a:bodyPr wrap="square">
            <a:spAutoFit/>
          </a:bodyPr>
          <a:lstStyle/>
          <a:p>
            <a:pPr>
              <a:spcBef>
                <a:spcPts val="1000"/>
              </a:spcBef>
              <a:spcAft>
                <a:spcPts val="400"/>
              </a:spcAft>
              <a:defRPr sz="1100">
                <a:solidFill>
                  <a:srgbClr val="2D2D44"/>
                </a:solidFill>
              </a:defRPr>
            </a:pPr>
            <a:r>
              <a:t>Garland et al. (2014a) explore how mindfulness training targets neurocognitive mechanisms of addiction at the attention-appraisal-emotion interface in Frontiers in Psychiatry. The study presents a theoretical and empirical framework demonstrating that Mindfulness-Oriented Recovery Enhancement (MORE) reduces opioid craving through three interconnected mechanisms: attentional reorientation away from drug-related cues, positive reappraisal of previously neutral stimuli to generate natural reward, and enhanced savoring of healthy pleasures. The researchers provide neuroimaging evidence showing that mindfulness practice modulates activity in prefrontal and limbic circuits associated with craving and emotional regulation. The study is significant because it elucidates the precise cognitive-neural pathways through which mindfulness reduces craving in opioid users specifically, providing a mechanistic rationale for why MBRP techniques such as urge surfing and mindful awareness of craving sensations can reduce the subjective intensity and behavioral impact of craving episodes in substance-dependent patients.</a:t>
            </a:r>
          </a:p>
          <a:p>
            <a:pPr>
              <a:spcBef>
                <a:spcPts val="1000"/>
              </a:spcBef>
              <a:spcAft>
                <a:spcPts val="400"/>
              </a:spcAft>
              <a:defRPr sz="1100">
                <a:solidFill>
                  <a:srgbClr val="2D2D44"/>
                </a:solidFill>
              </a:defRPr>
            </a:pPr>
          </a:p>
          <a:p>
            <a:pPr>
              <a:spcBef>
                <a:spcPts val="1000"/>
              </a:spcBef>
              <a:spcAft>
                <a:spcPts val="400"/>
              </a:spcAft>
              <a:defRPr sz="1100">
                <a:solidFill>
                  <a:srgbClr val="2D2D44"/>
                </a:solidFill>
              </a:defRPr>
            </a:pPr>
            <a:r>
              <a:t>Witkiewitz et al. (2013) investigate mindfulness-based relapse prevention effects on substance craving in Addictive Behaviors. The study conducted secondary analyses of data from a randomized controlled trial comparing MBRP to TAU among individuals in aftercare following substance use disorder treatment. Over a 4-month follow-up period, MBRP participants demonstrated significantly lower craving levels compared to TAU participants, and importantly, the relationship between negative affect and subsequent craving was significantly attenuated in the MBRP group. The authors conclude that mindfulness practice weakens the affect-craving pathway by cultivating non-reactive awareness of emotional states, thereby preventing negative emotions from automatically triggering craving responses. This decoupling of affect and craving represents a critical therapeutic mechanism that distinguishes MBRP from traditional relapse prevention approaches that primarily rely on cognitive restructuring and behavioral avoidance strategies.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000" b="1">
                <a:solidFill>
                  <a:srgbClr val="FFFFFF"/>
                </a:solidFill>
              </a:defRPr>
            </a:pPr>
            <a:r>
              <a:t>Review of Literature (3/5) - Impulsivity &amp; Mindfulness</a:t>
            </a:r>
          </a:p>
        </p:txBody>
      </p:sp>
      <p:sp>
        <p:nvSpPr>
          <p:cNvPr id="4" name="TextBox 3"/>
          <p:cNvSpPr txBox="1"/>
          <p:nvPr/>
        </p:nvSpPr>
        <p:spPr>
          <a:xfrm>
            <a:off x="457200" y="1051560"/>
            <a:ext cx="11247120" cy="5577840"/>
          </a:xfrm>
          <a:prstGeom prst="rect">
            <a:avLst/>
          </a:prstGeom>
          <a:noFill/>
        </p:spPr>
        <p:txBody>
          <a:bodyPr wrap="square">
            <a:spAutoFit/>
          </a:bodyPr>
          <a:lstStyle/>
          <a:p>
            <a:pPr>
              <a:spcBef>
                <a:spcPts val="1000"/>
              </a:spcBef>
              <a:spcAft>
                <a:spcPts val="400"/>
              </a:spcAft>
              <a:defRPr sz="1100">
                <a:solidFill>
                  <a:srgbClr val="2D2D44"/>
                </a:solidFill>
              </a:defRPr>
            </a:pPr>
            <a:r>
              <a:t>Garland et al. (2016) examine the efficacy of Mindfulness-Oriented Recovery Enhancement versus CBT for co-occurring substance dependence, traumatic stress, and psychiatric disorders in the Journal of Consulting and Clinical Psychology. The study employed a randomized controlled design with substance-dependent adults exhibiting elevated impulsivity. Results demonstrated that the mindfulness-based intervention produced significant reductions in impulsivity scores as measured by the Barratt Impulsiveness Scale (BIS-11), particularly in the motor and attentional impulsivity subscales. The authors theorize that mindfulness meditation strengthens prefrontal cortical inhibitory mechanisms by repeatedly engaging participants in exercises requiring sustained attention, response monitoring, and deliberate non-reactivity. This enhanced top-down cognitive control translates into improved ability to inhibit prepotent impulsive responses in daily life, particularly in high-risk situations where automatic substance-seeking behavior would otherwise occur. The clinical implication is that MBRP can address impulsivity as a transdiagnostic risk factor for relapse, not merely as a stable trait but as a modifiable behavioral pattern amenable to mindfulness-based intervention.</a:t>
            </a:r>
          </a:p>
          <a:p>
            <a:pPr>
              <a:spcBef>
                <a:spcPts val="1000"/>
              </a:spcBef>
              <a:spcAft>
                <a:spcPts val="400"/>
              </a:spcAft>
              <a:defRPr sz="1100">
                <a:solidFill>
                  <a:srgbClr val="2D2D44"/>
                </a:solidFill>
              </a:defRPr>
            </a:pPr>
          </a:p>
          <a:p>
            <a:pPr>
              <a:spcBef>
                <a:spcPts val="1000"/>
              </a:spcBef>
              <a:spcAft>
                <a:spcPts val="400"/>
              </a:spcAft>
              <a:defRPr sz="1100">
                <a:solidFill>
                  <a:srgbClr val="2D2D44"/>
                </a:solidFill>
              </a:defRPr>
            </a:pPr>
            <a:r>
              <a:t>Murphy and MacKillop (2012) explore the interrelationships between impulsivity, mindfulness, and alcohol misuse in Psychopharmacology. The study investigates whether dispositional mindfulness buffers against the effects of trait impulsivity on problematic substance use. Using a cross-sectional design with 340 participants, the researchers found that trait mindfulness was inversely associated with impulsive decision-making as measured by delay discounting tasks. Critically, mindfulness moderated the relationship between impulsivity and substance use problems, such that individuals with higher mindfulness showed weaker associations between impulsivity and alcohol-related consequences. The authors propose that mindfulness functions as a cognitive resource that enables impulsive individuals to override automatic behavioral tendencies through enhanced metacognitive awareness and response flexibility. These findings support the inclusion of impulsivity as a dependent variable in MBRP research and suggest that mindfulness enhancement may serve as a mechanism through which impulsive responding is attenuated in substance-dependent populations.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000" b="1">
                <a:solidFill>
                  <a:srgbClr val="FFFFFF"/>
                </a:solidFill>
              </a:defRPr>
            </a:pPr>
            <a:r>
              <a:t>Review of Literature (4/5) - Meta-Analyses &amp; Brief Models</a:t>
            </a:r>
          </a:p>
        </p:txBody>
      </p:sp>
      <p:sp>
        <p:nvSpPr>
          <p:cNvPr id="4" name="TextBox 3"/>
          <p:cNvSpPr txBox="1"/>
          <p:nvPr/>
        </p:nvSpPr>
        <p:spPr>
          <a:xfrm>
            <a:off x="457200" y="1051560"/>
            <a:ext cx="11247120" cy="5577840"/>
          </a:xfrm>
          <a:prstGeom prst="rect">
            <a:avLst/>
          </a:prstGeom>
          <a:noFill/>
        </p:spPr>
        <p:txBody>
          <a:bodyPr wrap="square">
            <a:spAutoFit/>
          </a:bodyPr>
          <a:lstStyle/>
          <a:p>
            <a:pPr>
              <a:spcBef>
                <a:spcPts val="1000"/>
              </a:spcBef>
              <a:spcAft>
                <a:spcPts val="400"/>
              </a:spcAft>
              <a:defRPr sz="1100">
                <a:solidFill>
                  <a:srgbClr val="2D2D44"/>
                </a:solidFill>
              </a:defRPr>
            </a:pPr>
            <a:r>
              <a:t>Li et al. (2017) conduct a systematic review and meta-analysis of mindfulness treatment for substance misuse in the Journal of Substance Abuse Treatment, encompassing 42 randomized controlled trials. The meta-analytic findings reveal that mindfulness-based interventions produce significant effect sizes for reducing substance misuse (d = 0.33), craving (d = 0.68), and stress (d = 0.44) across diverse substance use populations and treatment contexts. The authors highlight that effect sizes for craving reduction are particularly robust, supporting the theoretical premise that mindfulness directly targets craving mechanisms through enhanced interoceptive awareness and non-reactive observation of urge states. Furthermore, the review identifies that interventions of shorter duration (4-8 sessions) demonstrated comparable efficacy to longer protocols when appropriately structured, providing empirical justification for the present study's brief 6-session MBRP adaptation. The review concludes that mindfulness-based interventions represent a viable evidence-based treatment approach with medium-to-large effects on the primary mechanisms of relapse.</a:t>
            </a:r>
          </a:p>
          <a:p>
            <a:pPr>
              <a:spcBef>
                <a:spcPts val="1000"/>
              </a:spcBef>
              <a:spcAft>
                <a:spcPts val="400"/>
              </a:spcAft>
              <a:defRPr sz="1100">
                <a:solidFill>
                  <a:srgbClr val="2D2D44"/>
                </a:solidFill>
              </a:defRPr>
            </a:pPr>
          </a:p>
          <a:p>
            <a:pPr>
              <a:spcBef>
                <a:spcPts val="1000"/>
              </a:spcBef>
              <a:spcAft>
                <a:spcPts val="400"/>
              </a:spcAft>
              <a:defRPr sz="1100">
                <a:solidFill>
                  <a:srgbClr val="2D2D44"/>
                </a:solidFill>
              </a:defRPr>
            </a:pPr>
            <a:r>
              <a:t>Glasner-Edwards et al. (2017) examine a pilot randomized clinical trial of mindfulness-based relapse prevention for stimulant-dependent adults using an abbreviated 6-session protocol in the journal Mindfulness. The study demonstrates that a condensed mindfulness intervention is both feasible and effective in outpatient substance use treatment settings. Participants in the brief MBRP condition showed significant reductions in substance use frequency and craving intensity compared to the health education control group. The authors emphasize that the abbreviated format maintained the core therapeutic elements of standard MBRP (body scan, sitting meditation, urge surfing, mindful movement) while condensing psychoeducational components. This study directly validates the brief intervention model proposed in the present research, demonstrating that 6-session MBRP protocols can be successfully implemented without substantial loss of therapeutic efficacy, making them particularly appropriate for Indian rehabilitation settings like Man Nasha Mukti Kendra with typical admission durations of 4-6 weeks.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000" b="1">
                <a:solidFill>
                  <a:srgbClr val="FFFFFF"/>
                </a:solidFill>
              </a:defRPr>
            </a:pPr>
            <a:r>
              <a:t>Review of Literature (5/5) - Indian Context &amp; Research Gap</a:t>
            </a:r>
          </a:p>
        </p:txBody>
      </p:sp>
      <p:sp>
        <p:nvSpPr>
          <p:cNvPr id="4" name="TextBox 3"/>
          <p:cNvSpPr txBox="1"/>
          <p:nvPr/>
        </p:nvSpPr>
        <p:spPr>
          <a:xfrm>
            <a:off x="457200" y="1051560"/>
            <a:ext cx="11247120" cy="5577840"/>
          </a:xfrm>
          <a:prstGeom prst="rect">
            <a:avLst/>
          </a:prstGeom>
          <a:noFill/>
        </p:spPr>
        <p:txBody>
          <a:bodyPr wrap="square">
            <a:spAutoFit/>
          </a:bodyPr>
          <a:lstStyle/>
          <a:p>
            <a:pPr>
              <a:spcBef>
                <a:spcPts val="1000"/>
              </a:spcBef>
              <a:spcAft>
                <a:spcPts val="400"/>
              </a:spcAft>
              <a:defRPr sz="1100">
                <a:solidFill>
                  <a:srgbClr val="2D2D44"/>
                </a:solidFill>
              </a:defRPr>
            </a:pPr>
            <a:r>
              <a:t>Ghosh et al. (2018) conduct a comprehensive review of relapse in opioid dependence from an Indian perspective in the Indian Journal of Psychiatry. The study reports alarmingly high relapse rates exceeding 70% among opioid-dependent patients treated in North Indian de-addiction centers, with the majority of relapses occurring within the first three months post-discharge. The authors identify craving, peer influence, negative emotional states, and lack of structured psychological aftercare as primary relapse determinants in the Indian context. Significantly, the review highlights that Indian treatment facilities predominantly rely on pharmacological approaches (opioid substitution therapy, naltrexone maintenance) with minimal integration of evidence-based psychological interventions. The authors advocate strongly for the development and validation of structured psychosocial intervention protocols tailored to Indian treatment infrastructure, patient characteristics, and resource constraints. This study directly establishes the clinical need for the present research by documenting both the high relapse burden and the psychosocial treatment gap in Indian de-addiction settings such as Man Nasha Mukti Kendra.</a:t>
            </a:r>
          </a:p>
          <a:p>
            <a:pPr>
              <a:spcBef>
                <a:spcPts val="1000"/>
              </a:spcBef>
              <a:spcAft>
                <a:spcPts val="400"/>
              </a:spcAft>
              <a:defRPr sz="1100">
                <a:solidFill>
                  <a:srgbClr val="2D2D44"/>
                </a:solidFill>
              </a:defRPr>
            </a:pPr>
          </a:p>
          <a:p>
            <a:pPr>
              <a:spcBef>
                <a:spcPts val="1000"/>
              </a:spcBef>
              <a:spcAft>
                <a:spcPts val="400"/>
              </a:spcAft>
              <a:defRPr sz="1100">
                <a:solidFill>
                  <a:srgbClr val="2D2D44"/>
                </a:solidFill>
              </a:defRPr>
            </a:pPr>
            <a:r>
              <a:t>Sarkar and Balhara (2016) highlight the underutilization of structured psychological interventions in Indian de-addiction settings, identifying barriers including limited trained personnel, absence of culturally validated intervention protocols, short admission durations, and institutional emphasis on pharmacological management. Murthy (2016) similarly notes that Indian de-addiction centers operate with minimal structured psychological programming despite international evidence supporting integrated psychosocial treatment. Jain et al. (2013) provide preliminary evidence from a mindfulness-based intervention study with alcohol-dependent patients in India showing initial craving reductions, but no systematic MBRP trial has been conducted with Indian opioid-dependent populations. CRITICAL GAP: No published Indian RCT has tested Brief MBRP specifically in opioid-dependent populations, simultaneously assessing craving, impulsivity, and mindfulness as treatment outcomes. The present study addresses this critical gap as the first brief MBRP trial designed for Indian de-addiction center infrastructure.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Research Gap</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No published RCT has tested MBRP (standard or brief) specifically in Indian opioid-dependent populations</a:t>
            </a:r>
          </a:p>
          <a:p>
            <a:pPr>
              <a:spcBef>
                <a:spcPts val="500"/>
              </a:spcBef>
              <a:defRPr sz="1300">
                <a:solidFill>
                  <a:srgbClr val="2D2D44"/>
                </a:solidFill>
              </a:defRPr>
            </a:pPr>
            <a:r>
              <a:t>Most studies examine craving OR mindfulness in isolation; few simultaneously assess craving + impulsivity + mindfulness</a:t>
            </a:r>
          </a:p>
          <a:p>
            <a:pPr>
              <a:spcBef>
                <a:spcPts val="500"/>
              </a:spcBef>
              <a:defRPr sz="1300">
                <a:solidFill>
                  <a:srgbClr val="2D2D44"/>
                </a:solidFill>
              </a:defRPr>
            </a:pPr>
            <a:r>
              <a:t>Indian rehab settings require condensed interventions (6 sessions / 3 weeks) but no brief MBRP has been validated here</a:t>
            </a:r>
          </a:p>
          <a:p>
            <a:pPr>
              <a:spcBef>
                <a:spcPts val="500"/>
              </a:spcBef>
              <a:defRPr sz="1300">
                <a:solidFill>
                  <a:srgbClr val="2D2D44"/>
                </a:solidFill>
              </a:defRPr>
            </a:pPr>
            <a:r>
              <a:t>Indian treatment landscape lacks integration of structured evidence-based psychological interventions alongside OST/pharmacotherapy</a:t>
            </a:r>
          </a:p>
          <a:p>
            <a:pPr>
              <a:spcBef>
                <a:spcPts val="500"/>
              </a:spcBef>
              <a:defRPr sz="1300">
                <a:solidFill>
                  <a:srgbClr val="2D2D44"/>
                </a:solidFill>
              </a:defRPr>
            </a:pPr>
            <a:r>
              <a:t>Global MBRP studies focus primarily on alcohol/polysubstance users; opioid-specific MBRP evidence remains limited</a:t>
            </a:r>
          </a:p>
          <a:p>
            <a:pPr>
              <a:spcBef>
                <a:spcPts val="500"/>
              </a:spcBef>
              <a:defRPr sz="1300">
                <a:solidFill>
                  <a:srgbClr val="2D2D44"/>
                </a:solidFill>
              </a:defRPr>
            </a:pPr>
            <a:r>
              <a:t>Mindfulness practices require culturally congruent adaptation for Indian populations</a:t>
            </a:r>
          </a:p>
          <a:p>
            <a:pPr>
              <a:spcBef>
                <a:spcPts val="500"/>
              </a:spcBef>
              <a:defRPr sz="1300">
                <a:solidFill>
                  <a:srgbClr val="2D2D44"/>
                </a:solidFill>
              </a:defRPr>
            </a:pPr>
            <a:r>
              <a:t>PRESENT STUDY: First brief MBRP trial (6 sessions/3 weeks) in Indian opioid-dependent sample at Man Nasha Mukti Kendra assessing craving, impulsivity, and mindfulness simultaneously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Aim of the Study</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To evaluate the efficacy of a Brief Mindfulness-Based Relapse Prevention (MBRP) intervention (6 sessions over 3 weeks) in reducing craving and impulsivity, and enhancing mindfulness, among substance-dependent patients at Man Nasha Mukti Kendra</a:t>
            </a:r>
          </a:p>
          <a:p>
            <a:pPr>
              <a:spcBef>
                <a:spcPts val="500"/>
              </a:spcBef>
              <a:defRPr sz="1300">
                <a:solidFill>
                  <a:srgbClr val="2D2D44"/>
                </a:solidFill>
              </a:defRPr>
            </a:pPr>
          </a:p>
          <a:p>
            <a:pPr>
              <a:spcBef>
                <a:spcPts val="500"/>
              </a:spcBef>
              <a:defRPr sz="1300">
                <a:solidFill>
                  <a:srgbClr val="2D2D44"/>
                </a:solidFill>
              </a:defRPr>
            </a:pPr>
            <a:r>
              <a:t>Specifically: To compare outcomes between Brief MBRP + TAU (Experimental Group) and Psychoeducation + TAU (Control Group) on three dependent variables (craving, impulsivity, mindfulness) measured pre- and post-intervention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Objectives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1. To assess and compare craving levels (pre-test vs. post-test) in the Experimental group (Brief MBRP + TAU) and Control group (Psychoeducation + TAU)</a:t>
            </a:r>
          </a:p>
          <a:p>
            <a:pPr>
              <a:spcBef>
                <a:spcPts val="500"/>
              </a:spcBef>
              <a:defRPr sz="1300">
                <a:solidFill>
                  <a:srgbClr val="2D2D44"/>
                </a:solidFill>
              </a:defRPr>
            </a:pPr>
            <a:r>
              <a:t>2. To assess and compare impulsivity levels (pre-test vs. post-test) in both groups</a:t>
            </a:r>
          </a:p>
          <a:p>
            <a:pPr>
              <a:spcBef>
                <a:spcPts val="500"/>
              </a:spcBef>
              <a:defRPr sz="1300">
                <a:solidFill>
                  <a:srgbClr val="2D2D44"/>
                </a:solidFill>
              </a:defRPr>
            </a:pPr>
            <a:r>
              <a:t>3. To assess and compare mindfulness levels (pre-test vs. post-test) in both groups</a:t>
            </a:r>
          </a:p>
          <a:p>
            <a:pPr>
              <a:spcBef>
                <a:spcPts val="500"/>
              </a:spcBef>
              <a:defRPr sz="1300">
                <a:solidFill>
                  <a:srgbClr val="2D2D44"/>
                </a:solidFill>
              </a:defRPr>
            </a:pPr>
            <a:r>
              <a:t>4. To determine whether Brief MBRP + TAU is significantly more effective than Psychoeducation + TAU in reducing craving</a:t>
            </a:r>
          </a:p>
          <a:p>
            <a:pPr>
              <a:spcBef>
                <a:spcPts val="500"/>
              </a:spcBef>
              <a:defRPr sz="1300">
                <a:solidFill>
                  <a:srgbClr val="2D2D44"/>
                </a:solidFill>
              </a:defRPr>
            </a:pPr>
            <a:r>
              <a:t>5. To determine whether Brief MBRP + TAU is significantly more effective than Psychoeducation + TAU in reducing impulsivity</a:t>
            </a:r>
          </a:p>
          <a:p>
            <a:pPr>
              <a:spcBef>
                <a:spcPts val="500"/>
              </a:spcBef>
              <a:defRPr sz="1300">
                <a:solidFill>
                  <a:srgbClr val="2D2D44"/>
                </a:solidFill>
              </a:defRPr>
            </a:pPr>
            <a:r>
              <a:t>6. To determine whether Brief MBRP + TAU is significantly more effective than Psychoeducation + TAU in enhancing mindfulness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Hypotheses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RESEARCH HYPOTHESES (Directional):</a:t>
            </a:r>
          </a:p>
          <a:p>
            <a:pPr>
              <a:spcBef>
                <a:spcPts val="500"/>
              </a:spcBef>
              <a:defRPr sz="1300">
                <a:solidFill>
                  <a:srgbClr val="2D2D44"/>
                </a:solidFill>
              </a:defRPr>
            </a:pPr>
            <a:r>
              <a:t>H1: Participants receiving Brief MBRP + TAU will show significantly greater reduction in craving (OCDUS scores) compared to Psychoeducation + TAU, from pre-test to post-test</a:t>
            </a:r>
          </a:p>
          <a:p>
            <a:pPr>
              <a:spcBef>
                <a:spcPts val="500"/>
              </a:spcBef>
              <a:defRPr sz="1300">
                <a:solidFill>
                  <a:srgbClr val="2D2D44"/>
                </a:solidFill>
              </a:defRPr>
            </a:pPr>
            <a:r>
              <a:t>H2: Participants receiving Brief MBRP + TAU will show significantly greater reduction in impulsivity (BIS-11 scores) compared to Psychoeducation + TAU, from pre-test to post-test</a:t>
            </a:r>
          </a:p>
          <a:p>
            <a:pPr>
              <a:spcBef>
                <a:spcPts val="500"/>
              </a:spcBef>
              <a:defRPr sz="1300">
                <a:solidFill>
                  <a:srgbClr val="2D2D44"/>
                </a:solidFill>
              </a:defRPr>
            </a:pPr>
            <a:r>
              <a:t>H3: Participants receiving Brief MBRP + TAU will show significantly greater increase in mindfulness (FFMQ scores) compared to Psychoeducation + TAU, from pre-test to post-test</a:t>
            </a:r>
          </a:p>
          <a:p>
            <a:pPr>
              <a:spcBef>
                <a:spcPts val="500"/>
              </a:spcBef>
              <a:defRPr sz="1300">
                <a:solidFill>
                  <a:srgbClr val="2D2D44"/>
                </a:solidFill>
              </a:defRPr>
            </a:pPr>
          </a:p>
          <a:p>
            <a:pPr>
              <a:spcBef>
                <a:spcPts val="500"/>
              </a:spcBef>
              <a:defRPr sz="1300">
                <a:solidFill>
                  <a:srgbClr val="2D2D44"/>
                </a:solidFill>
              </a:defRPr>
            </a:pPr>
            <a:r>
              <a:t>NULL HYPOTHESES:</a:t>
            </a:r>
          </a:p>
          <a:p>
            <a:pPr>
              <a:spcBef>
                <a:spcPts val="500"/>
              </a:spcBef>
              <a:defRPr sz="1300">
                <a:solidFill>
                  <a:srgbClr val="2D2D44"/>
                </a:solidFill>
              </a:defRPr>
            </a:pPr>
            <a:r>
              <a:t>H01: There will be no significant difference in craving (OCDUS scores) between the Experimental and Control groups from pre-test to post-test</a:t>
            </a:r>
          </a:p>
          <a:p>
            <a:pPr>
              <a:spcBef>
                <a:spcPts val="500"/>
              </a:spcBef>
              <a:defRPr sz="1300">
                <a:solidFill>
                  <a:srgbClr val="2D2D44"/>
                </a:solidFill>
              </a:defRPr>
            </a:pPr>
            <a:r>
              <a:t>H02: There will be no significant difference in impulsivity (BIS-11 scores) between the Experimental and Control groups from pre-test to post-test</a:t>
            </a:r>
          </a:p>
          <a:p>
            <a:pPr>
              <a:spcBef>
                <a:spcPts val="500"/>
              </a:spcBef>
              <a:defRPr sz="1300">
                <a:solidFill>
                  <a:srgbClr val="2D2D44"/>
                </a:solidFill>
              </a:defRPr>
            </a:pPr>
            <a:r>
              <a:t>H03: There will be no significant difference in mindfulness (FFMQ scores) between the Experimental and Control groups from pre-test to post-test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Research Design</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Pre-test Post-test Control Group Design</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Design: Pre-test Post-test Control Group Experimental Design</a:t>
            </a:r>
          </a:p>
          <a:p>
            <a:pPr>
              <a:spcBef>
                <a:spcPts val="500"/>
              </a:spcBef>
              <a:defRPr sz="1300">
                <a:solidFill>
                  <a:srgbClr val="2D2D44"/>
                </a:solidFill>
              </a:defRPr>
            </a:pPr>
          </a:p>
          <a:p>
            <a:pPr>
              <a:spcBef>
                <a:spcPts val="500"/>
              </a:spcBef>
              <a:defRPr sz="1300">
                <a:solidFill>
                  <a:srgbClr val="2D2D44"/>
                </a:solidFill>
              </a:defRPr>
            </a:pPr>
            <a:r>
              <a:t>R   O1   X1   O2   --&gt;  Experimental Group (Brief MBRP + TAU)</a:t>
            </a:r>
          </a:p>
          <a:p>
            <a:pPr>
              <a:spcBef>
                <a:spcPts val="500"/>
              </a:spcBef>
              <a:defRPr sz="1300">
                <a:solidFill>
                  <a:srgbClr val="2D2D44"/>
                </a:solidFill>
              </a:defRPr>
            </a:pPr>
            <a:r>
              <a:t>R   O1   X2   O2   --&gt;  Control Group (Psychoeducation + TAU)</a:t>
            </a:r>
          </a:p>
          <a:p>
            <a:pPr>
              <a:spcBef>
                <a:spcPts val="500"/>
              </a:spcBef>
              <a:defRPr sz="1300">
                <a:solidFill>
                  <a:srgbClr val="2D2D44"/>
                </a:solidFill>
              </a:defRPr>
            </a:pPr>
          </a:p>
          <a:p>
            <a:pPr>
              <a:spcBef>
                <a:spcPts val="500"/>
              </a:spcBef>
              <a:defRPr sz="1300">
                <a:solidFill>
                  <a:srgbClr val="2D2D44"/>
                </a:solidFill>
              </a:defRPr>
            </a:pPr>
            <a:r>
              <a:t>Where: R = Random assignment to groups</a:t>
            </a:r>
          </a:p>
          <a:p>
            <a:pPr>
              <a:spcBef>
                <a:spcPts val="500"/>
              </a:spcBef>
              <a:defRPr sz="1300">
                <a:solidFill>
                  <a:srgbClr val="2D2D44"/>
                </a:solidFill>
              </a:defRPr>
            </a:pPr>
            <a:r>
              <a:t>O1 = Pre-test assessment (OCDUS + BIS-11 + FFMQ + ASSIST)</a:t>
            </a:r>
          </a:p>
          <a:p>
            <a:pPr>
              <a:spcBef>
                <a:spcPts val="500"/>
              </a:spcBef>
              <a:defRPr sz="1300">
                <a:solidFill>
                  <a:srgbClr val="2D2D44"/>
                </a:solidFill>
              </a:defRPr>
            </a:pPr>
            <a:r>
              <a:t>X1 = Brief MBRP intervention (6 sessions over 3 weeks) + Treatment As Usual</a:t>
            </a:r>
          </a:p>
          <a:p>
            <a:pPr>
              <a:spcBef>
                <a:spcPts val="500"/>
              </a:spcBef>
              <a:defRPr sz="1300">
                <a:solidFill>
                  <a:srgbClr val="2D2D44"/>
                </a:solidFill>
              </a:defRPr>
            </a:pPr>
            <a:r>
              <a:t>X2 = Psychoeducation (6 sessions over 3 weeks) + Treatment As Usual</a:t>
            </a:r>
          </a:p>
          <a:p>
            <a:pPr>
              <a:spcBef>
                <a:spcPts val="500"/>
              </a:spcBef>
              <a:defRPr sz="1300">
                <a:solidFill>
                  <a:srgbClr val="2D2D44"/>
                </a:solidFill>
              </a:defRPr>
            </a:pPr>
            <a:r>
              <a:t>O2 = Post-test assessment (OCDUS + BIS-11 + FFMQ)</a:t>
            </a:r>
          </a:p>
          <a:p>
            <a:pPr>
              <a:spcBef>
                <a:spcPts val="500"/>
              </a:spcBef>
              <a:defRPr sz="1300">
                <a:solidFill>
                  <a:srgbClr val="2D2D44"/>
                </a:solidFill>
              </a:defRPr>
            </a:pPr>
          </a:p>
          <a:p>
            <a:pPr>
              <a:spcBef>
                <a:spcPts val="500"/>
              </a:spcBef>
              <a:defRPr sz="1300">
                <a:solidFill>
                  <a:srgbClr val="2D2D44"/>
                </a:solidFill>
              </a:defRPr>
            </a:pPr>
            <a:r>
              <a:t>Features: True experimental design; Active control (Psychoeducation); TAU continued for 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Sample</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Population: Male substance-dependent patients (primarily opioid users) admitted to Man Nasha Mukti Kendra</a:t>
            </a:r>
          </a:p>
          <a:p>
            <a:pPr>
              <a:spcBef>
                <a:spcPts val="500"/>
              </a:spcBef>
              <a:defRPr sz="1300">
                <a:solidFill>
                  <a:srgbClr val="2D2D44"/>
                </a:solidFill>
              </a:defRPr>
            </a:pPr>
            <a:r>
              <a:t>Sample Size: N = 60 (30 per group); Recruit N = 70 (35/group) to account for ~15% attrition</a:t>
            </a:r>
          </a:p>
          <a:p>
            <a:pPr>
              <a:spcBef>
                <a:spcPts val="500"/>
              </a:spcBef>
              <a:defRPr sz="1300">
                <a:solidFill>
                  <a:srgbClr val="2D2D44"/>
                </a:solidFill>
              </a:defRPr>
            </a:pPr>
          </a:p>
          <a:p>
            <a:pPr>
              <a:spcBef>
                <a:spcPts val="500"/>
              </a:spcBef>
              <a:defRPr sz="1300">
                <a:solidFill>
                  <a:srgbClr val="2D2D44"/>
                </a:solidFill>
              </a:defRPr>
            </a:pPr>
            <a:r>
              <a:t>TWO-STAGE SAMPLING PROCESS:</a:t>
            </a:r>
          </a:p>
          <a:p>
            <a:pPr>
              <a:spcBef>
                <a:spcPts val="500"/>
              </a:spcBef>
              <a:defRPr sz="1300">
                <a:solidFill>
                  <a:srgbClr val="2D2D44"/>
                </a:solidFill>
              </a:defRPr>
            </a:pPr>
            <a:r>
              <a:t>Stage 1 - PURPOSIVE SELECTION: Eligible participants identified based on inclusion and exclusion criteria from among patients admitted to Man Nasha Mukti Kendra</a:t>
            </a:r>
          </a:p>
          <a:p>
            <a:pPr>
              <a:spcBef>
                <a:spcPts val="500"/>
              </a:spcBef>
              <a:defRPr sz="1300">
                <a:solidFill>
                  <a:srgbClr val="2D2D44"/>
                </a:solidFill>
              </a:defRPr>
            </a:pPr>
            <a:r>
              <a:t>Stage 2 - RANDOM ASSIGNMENT: Selected eligible participants randomly allocated to Experimental or Control group using computer-generated randomization sequence</a:t>
            </a:r>
          </a:p>
          <a:p>
            <a:pPr>
              <a:spcBef>
                <a:spcPts val="500"/>
              </a:spcBef>
              <a:defRPr sz="1300">
                <a:solidFill>
                  <a:srgbClr val="2D2D44"/>
                </a:solidFill>
              </a:defRPr>
            </a:pPr>
          </a:p>
          <a:p>
            <a:pPr>
              <a:spcBef>
                <a:spcPts val="500"/>
              </a:spcBef>
              <a:defRPr sz="1300">
                <a:solidFill>
                  <a:srgbClr val="2D2D44"/>
                </a:solidFill>
              </a:defRPr>
            </a:pPr>
            <a:r>
              <a:t>JUSTIFICATION FOR MALE-ONLY SAMPLE:</a:t>
            </a:r>
          </a:p>
          <a:p>
            <a:pPr>
              <a:spcBef>
                <a:spcPts val="500"/>
              </a:spcBef>
              <a:defRPr sz="1300">
                <a:solidFill>
                  <a:srgbClr val="2D2D44"/>
                </a:solidFill>
              </a:defRPr>
            </a:pPr>
            <a:r>
              <a:t>- Indian de-addiction centers (including Man Nasha Mukti Kendra) admit predominantly male patients (~90-95%)</a:t>
            </a:r>
          </a:p>
          <a:p>
            <a:pPr>
              <a:spcBef>
                <a:spcPts val="500"/>
              </a:spcBef>
              <a:defRPr sz="1300">
                <a:solidFill>
                  <a:srgbClr val="2D2D44"/>
                </a:solidFill>
              </a:defRPr>
            </a:pPr>
            <a:r>
              <a:t>- Opioid dependence in India disproportionately affects males (MAGNITUDE study: male-to-female ratio ~10:1)</a:t>
            </a:r>
          </a:p>
          <a:p>
            <a:pPr>
              <a:spcBef>
                <a:spcPts val="500"/>
              </a:spcBef>
              <a:defRPr sz="1300">
                <a:solidFill>
                  <a:srgbClr val="2D2D44"/>
                </a:solidFill>
              </a:defRPr>
            </a:pPr>
            <a:r>
              <a:t>- Gender differences in craving, impulsivity, and mindfulness may confound results if mixed sample used</a:t>
            </a:r>
          </a:p>
          <a:p>
            <a:pPr>
              <a:spcBef>
                <a:spcPts val="500"/>
              </a:spcBef>
              <a:defRPr sz="1300">
                <a:solidFill>
                  <a:srgbClr val="2D2D44"/>
                </a:solidFill>
              </a:defRPr>
            </a:pPr>
            <a:r>
              <a:t>- Ensuring homogeneity of sample strengthens internal validity for this initial efficacy trial</a:t>
            </a:r>
          </a:p>
          <a:p>
            <a:pPr>
              <a:spcBef>
                <a:spcPts val="500"/>
              </a:spcBef>
              <a:defRPr sz="1300">
                <a:solidFill>
                  <a:srgbClr val="2D2D44"/>
                </a:solidFill>
              </a:defRPr>
            </a:pPr>
            <a:r>
              <a:t>- Female-specific studies recommended as future direction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Sample Size Estimation</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Formula: n = [(Za/2 + Zb)^2 x 2 x sigma^2] / d^2</a:t>
            </a:r>
          </a:p>
          <a:p>
            <a:pPr>
              <a:spcBef>
                <a:spcPts val="500"/>
              </a:spcBef>
              <a:defRPr sz="1300">
                <a:solidFill>
                  <a:srgbClr val="2D2D44"/>
                </a:solidFill>
              </a:defRPr>
            </a:pPr>
          </a:p>
          <a:p>
            <a:pPr>
              <a:spcBef>
                <a:spcPts val="500"/>
              </a:spcBef>
              <a:defRPr sz="1300">
                <a:solidFill>
                  <a:srgbClr val="2D2D44"/>
                </a:solidFill>
              </a:defRPr>
            </a:pPr>
            <a:r>
              <a:t>Parameters: Effect size (d) = 0.50 (medium; based on Li et al., 2017 meta-analysis: d = 0.33-0.68)</a:t>
            </a:r>
          </a:p>
          <a:p>
            <a:pPr>
              <a:spcBef>
                <a:spcPts val="500"/>
              </a:spcBef>
              <a:defRPr sz="1300">
                <a:solidFill>
                  <a:srgbClr val="2D2D44"/>
                </a:solidFill>
              </a:defRPr>
            </a:pPr>
            <a:r>
              <a:t>Power (1 - beta) = 0.80 -&gt; Zb = 0.84</a:t>
            </a:r>
          </a:p>
          <a:p>
            <a:pPr>
              <a:spcBef>
                <a:spcPts val="500"/>
              </a:spcBef>
              <a:defRPr sz="1300">
                <a:solidFill>
                  <a:srgbClr val="2D2D44"/>
                </a:solidFill>
              </a:defRPr>
            </a:pPr>
            <a:r>
              <a:t>Significance level (alpha) = 0.05 (two-tailed) -&gt; Za/2 = 1.96</a:t>
            </a:r>
          </a:p>
          <a:p>
            <a:pPr>
              <a:spcBef>
                <a:spcPts val="500"/>
              </a:spcBef>
              <a:defRPr sz="1300">
                <a:solidFill>
                  <a:srgbClr val="2D2D44"/>
                </a:solidFill>
              </a:defRPr>
            </a:pPr>
          </a:p>
          <a:p>
            <a:pPr>
              <a:spcBef>
                <a:spcPts val="500"/>
              </a:spcBef>
              <a:defRPr sz="1300">
                <a:solidFill>
                  <a:srgbClr val="2D2D44"/>
                </a:solidFill>
              </a:defRPr>
            </a:pPr>
            <a:r>
              <a:t>Calculation: n = [(1.96 + 0.84)^2 x 2 x 1] / (0.50)^2 = [(2.80)^2 x 2] / 0.25 = [7.84 x 2] / 0.25 = 15.68 / 0.25 = 62.72 ~ 63 total (~32 per group)</a:t>
            </a:r>
          </a:p>
          <a:p>
            <a:pPr>
              <a:spcBef>
                <a:spcPts val="500"/>
              </a:spcBef>
              <a:defRPr sz="1300">
                <a:solidFill>
                  <a:srgbClr val="2D2D44"/>
                </a:solidFill>
              </a:defRPr>
            </a:pPr>
          </a:p>
          <a:p>
            <a:pPr>
              <a:spcBef>
                <a:spcPts val="500"/>
              </a:spcBef>
              <a:defRPr sz="1300">
                <a:solidFill>
                  <a:srgbClr val="2D2D44"/>
                </a:solidFill>
              </a:defRPr>
            </a:pPr>
            <a:r>
              <a:t>G*Power 3.1 verification: For ANCOVA (1 covariate, 2 groups): f = 0.25, alpha = 0.05, power = 0.80 -&gt; n = 128 (t-test) or n ~ 34/group (ANCOVA)</a:t>
            </a:r>
          </a:p>
          <a:p>
            <a:pPr>
              <a:spcBef>
                <a:spcPts val="500"/>
              </a:spcBef>
              <a:defRPr sz="1300">
                <a:solidFill>
                  <a:srgbClr val="2D2D44"/>
                </a:solidFill>
              </a:defRPr>
            </a:pPr>
            <a:r>
              <a:t>FINAL DECISION: N = 60 (30 per group) justified by ANCOVA as primary analysis + consistent with Glasner-Edwards et al. (2017)</a:t>
            </a:r>
          </a:p>
          <a:p>
            <a:pPr>
              <a:spcBef>
                <a:spcPts val="500"/>
              </a:spcBef>
              <a:defRPr sz="1300">
                <a:solidFill>
                  <a:srgbClr val="2D2D44"/>
                </a:solidFill>
              </a:defRPr>
            </a:pPr>
            <a:r>
              <a:t>Recruit 70 total (35/group) to account for expected 15% attrition in substance-dependent populations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Inclusion Criteria</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1. Diagnosis of Substance Dependence as per ICD-10 (F10-F19) / ICD-11 criteria</a:t>
            </a:r>
          </a:p>
          <a:p>
            <a:pPr>
              <a:spcBef>
                <a:spcPts val="500"/>
              </a:spcBef>
              <a:defRPr sz="1300">
                <a:solidFill>
                  <a:srgbClr val="2D2D44"/>
                </a:solidFill>
              </a:defRPr>
            </a:pPr>
            <a:r>
              <a:t>2. Primary substance: Opioids (heroin, pharmaceutical opioids); polysubstance users with primary opioid dependence included</a:t>
            </a:r>
          </a:p>
          <a:p>
            <a:pPr>
              <a:spcBef>
                <a:spcPts val="500"/>
              </a:spcBef>
              <a:defRPr sz="1300">
                <a:solidFill>
                  <a:srgbClr val="2D2D44"/>
                </a:solidFill>
              </a:defRPr>
            </a:pPr>
            <a:r>
              <a:t>3. Male participants aged 18-50 years</a:t>
            </a:r>
          </a:p>
          <a:p>
            <a:pPr>
              <a:spcBef>
                <a:spcPts val="500"/>
              </a:spcBef>
              <a:defRPr sz="1300">
                <a:solidFill>
                  <a:srgbClr val="2D2D44"/>
                </a:solidFill>
              </a:defRPr>
            </a:pPr>
            <a:r>
              <a:t>4. Completed detoxification phase (minimum 7 days post-withdrawal)</a:t>
            </a:r>
          </a:p>
          <a:p>
            <a:pPr>
              <a:spcBef>
                <a:spcPts val="500"/>
              </a:spcBef>
              <a:defRPr sz="1300">
                <a:solidFill>
                  <a:srgbClr val="2D2D44"/>
                </a:solidFill>
              </a:defRPr>
            </a:pPr>
            <a:r>
              <a:t>5. Currently admitted at Man Nasha Mukti Kendra</a:t>
            </a:r>
          </a:p>
          <a:p>
            <a:pPr>
              <a:spcBef>
                <a:spcPts val="500"/>
              </a:spcBef>
              <a:defRPr sz="1300">
                <a:solidFill>
                  <a:srgbClr val="2D2D44"/>
                </a:solidFill>
              </a:defRPr>
            </a:pPr>
            <a:r>
              <a:t>6. Minimum education: 5th standard (ability to comprehend psychometric tools and intervention content)</a:t>
            </a:r>
          </a:p>
          <a:p>
            <a:pPr>
              <a:spcBef>
                <a:spcPts val="500"/>
              </a:spcBef>
              <a:defRPr sz="1300">
                <a:solidFill>
                  <a:srgbClr val="2D2D44"/>
                </a:solidFill>
              </a:defRPr>
            </a:pPr>
            <a:r>
              <a:t>7. Willingness to provide written informed consent for participation</a:t>
            </a:r>
          </a:p>
          <a:p>
            <a:pPr>
              <a:spcBef>
                <a:spcPts val="500"/>
              </a:spcBef>
              <a:defRPr sz="1300">
                <a:solidFill>
                  <a:srgbClr val="2D2D44"/>
                </a:solidFill>
              </a:defRPr>
            </a:pPr>
            <a:r>
              <a:t>8. Able to attend all 6 intervention sessions during the 3-week intervention period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Exclusion Criteria</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1. Severe psychiatric comorbidity: Psychotic disorders (Schizophrenia), Bipolar I with psychotic features, severe Major Depressive Episode with active suicidality</a:t>
            </a:r>
          </a:p>
          <a:p>
            <a:pPr>
              <a:spcBef>
                <a:spcPts val="500"/>
              </a:spcBef>
              <a:defRPr sz="1300">
                <a:solidFill>
                  <a:srgbClr val="2D2D44"/>
                </a:solidFill>
              </a:defRPr>
            </a:pPr>
            <a:r>
              <a:t>2. Significant cognitive impairment (MMSE &lt; 24) or intellectual disability</a:t>
            </a:r>
          </a:p>
          <a:p>
            <a:pPr>
              <a:spcBef>
                <a:spcPts val="500"/>
              </a:spcBef>
              <a:defRPr sz="1300">
                <a:solidFill>
                  <a:srgbClr val="2D2D44"/>
                </a:solidFill>
              </a:defRPr>
            </a:pPr>
            <a:r>
              <a:t>3. Active withdrawal symptoms (Clinical Opiate Withdrawal Scale / COWS score &gt; 12)</a:t>
            </a:r>
          </a:p>
          <a:p>
            <a:pPr>
              <a:spcBef>
                <a:spcPts val="500"/>
              </a:spcBef>
              <a:defRPr sz="1300">
                <a:solidFill>
                  <a:srgbClr val="2D2D44"/>
                </a:solidFill>
              </a:defRPr>
            </a:pPr>
            <a:r>
              <a:t>4. History of traumatic brain injury with loss of consciousness &gt; 30 minutes</a:t>
            </a:r>
          </a:p>
          <a:p>
            <a:pPr>
              <a:spcBef>
                <a:spcPts val="500"/>
              </a:spcBef>
              <a:defRPr sz="1300">
                <a:solidFill>
                  <a:srgbClr val="2D2D44"/>
                </a:solidFill>
              </a:defRPr>
            </a:pPr>
            <a:r>
              <a:t>5. Current participation in another structured psychological intervention research study</a:t>
            </a:r>
          </a:p>
          <a:p>
            <a:pPr>
              <a:spcBef>
                <a:spcPts val="500"/>
              </a:spcBef>
              <a:defRPr sz="1300">
                <a:solidFill>
                  <a:srgbClr val="2D2D44"/>
                </a:solidFill>
              </a:defRPr>
            </a:pPr>
            <a:r>
              <a:t>6. Medical instability requiring acute or intensive care</a:t>
            </a:r>
          </a:p>
          <a:p>
            <a:pPr>
              <a:spcBef>
                <a:spcPts val="500"/>
              </a:spcBef>
              <a:defRPr sz="1300">
                <a:solidFill>
                  <a:srgbClr val="2D2D44"/>
                </a:solidFill>
              </a:defRPr>
            </a:pPr>
            <a:r>
              <a:t>7. History of prior formal mindfulness or meditation training exceeding 1 month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Variables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INDEPENDENT VARIABLE (IV):</a:t>
            </a:r>
          </a:p>
          <a:p>
            <a:pPr>
              <a:spcBef>
                <a:spcPts val="500"/>
              </a:spcBef>
              <a:defRPr sz="1300">
                <a:solidFill>
                  <a:srgbClr val="2D2D44"/>
                </a:solidFill>
              </a:defRPr>
            </a:pPr>
            <a:r>
              <a:t>  Type of Intervention (2 levels): Level 1 = Brief MBRP + TAU (Experimental) | Level 2 = Psychoeducation + TAU (Control)</a:t>
            </a:r>
          </a:p>
          <a:p>
            <a:pPr>
              <a:spcBef>
                <a:spcPts val="500"/>
              </a:spcBef>
              <a:defRPr sz="1300">
                <a:solidFill>
                  <a:srgbClr val="2D2D44"/>
                </a:solidFill>
              </a:defRPr>
            </a:pPr>
          </a:p>
          <a:p>
            <a:pPr>
              <a:spcBef>
                <a:spcPts val="500"/>
              </a:spcBef>
              <a:defRPr sz="1300">
                <a:solidFill>
                  <a:srgbClr val="2D2D44"/>
                </a:solidFill>
              </a:defRPr>
            </a:pPr>
            <a:r>
              <a:t>DEPENDENT VARIABLES (DVs):</a:t>
            </a:r>
          </a:p>
          <a:p>
            <a:pPr>
              <a:spcBef>
                <a:spcPts val="500"/>
              </a:spcBef>
              <a:defRPr sz="1300">
                <a:solidFill>
                  <a:srgbClr val="2D2D44"/>
                </a:solidFill>
              </a:defRPr>
            </a:pPr>
            <a:r>
              <a:t>  1. Craving - measured by Obsessive Compulsive Drug Use Scale (OCDUS)</a:t>
            </a:r>
          </a:p>
          <a:p>
            <a:pPr>
              <a:spcBef>
                <a:spcPts val="500"/>
              </a:spcBef>
              <a:defRPr sz="1300">
                <a:solidFill>
                  <a:srgbClr val="2D2D44"/>
                </a:solidFill>
              </a:defRPr>
            </a:pPr>
            <a:r>
              <a:t>  2. Impulsivity - measured by Barratt Impulsiveness Scale (BIS-11)</a:t>
            </a:r>
          </a:p>
          <a:p>
            <a:pPr>
              <a:spcBef>
                <a:spcPts val="500"/>
              </a:spcBef>
              <a:defRPr sz="1300">
                <a:solidFill>
                  <a:srgbClr val="2D2D44"/>
                </a:solidFill>
              </a:defRPr>
            </a:pPr>
            <a:r>
              <a:t>  3. Mindfulness - measured by Five Facet Mindfulness Questionnaire (FFMQ)</a:t>
            </a:r>
          </a:p>
          <a:p>
            <a:pPr>
              <a:spcBef>
                <a:spcPts val="500"/>
              </a:spcBef>
              <a:defRPr sz="1300">
                <a:solidFill>
                  <a:srgbClr val="2D2D44"/>
                </a:solidFill>
              </a:defRPr>
            </a:pPr>
          </a:p>
          <a:p>
            <a:pPr>
              <a:spcBef>
                <a:spcPts val="500"/>
              </a:spcBef>
              <a:defRPr sz="1300">
                <a:solidFill>
                  <a:srgbClr val="2D2D44"/>
                </a:solidFill>
              </a:defRPr>
            </a:pPr>
            <a:r>
              <a:t>CONTROLLED / CONFOUNDING VARIABLES:</a:t>
            </a:r>
          </a:p>
          <a:p>
            <a:pPr>
              <a:spcBef>
                <a:spcPts val="500"/>
              </a:spcBef>
              <a:defRPr sz="1300">
                <a:solidFill>
                  <a:srgbClr val="2D2D44"/>
                </a:solidFill>
              </a:defRPr>
            </a:pPr>
            <a:r>
              <a:t>  Age, education, duration of substance use, severity of dependence (ASSIST baseline score), TAU components kept constant across groups, session duration and frequency equalized between groups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Tools: Mindfulness &amp; Impulsivity Measures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1. FIVE FACET MINDFULNESS QUESTIONNAIRE (FFMQ) - Baer et al. (2006)</a:t>
            </a:r>
          </a:p>
          <a:p>
            <a:pPr>
              <a:spcBef>
                <a:spcPts val="500"/>
              </a:spcBef>
              <a:defRPr sz="1300">
                <a:solidFill>
                  <a:srgbClr val="2D2D44"/>
                </a:solidFill>
              </a:defRPr>
            </a:pPr>
            <a:r>
              <a:t>   Description: 39-item self-report measure; 5 facets: Observing, Describing, Acting with Awareness, Non-Judging, Non-Reactivity</a:t>
            </a:r>
          </a:p>
          <a:p>
            <a:pPr>
              <a:spcBef>
                <a:spcPts val="500"/>
              </a:spcBef>
              <a:defRPr sz="1300">
                <a:solidFill>
                  <a:srgbClr val="2D2D44"/>
                </a:solidFill>
              </a:defRPr>
            </a:pPr>
            <a:r>
              <a:t>   Scoring: 5-point Likert scale (1 = never true to 5 = always true); higher scores = greater mindfulness</a:t>
            </a:r>
          </a:p>
          <a:p>
            <a:pPr>
              <a:spcBef>
                <a:spcPts val="500"/>
              </a:spcBef>
              <a:defRPr sz="1300">
                <a:solidFill>
                  <a:srgbClr val="2D2D44"/>
                </a:solidFill>
              </a:defRPr>
            </a:pPr>
            <a:r>
              <a:t>   Reliability: Internal consistency alpha = 0.75-0.91 across facets; adequate test-retest reliability</a:t>
            </a:r>
          </a:p>
          <a:p>
            <a:pPr>
              <a:spcBef>
                <a:spcPts val="500"/>
              </a:spcBef>
              <a:defRPr sz="1300">
                <a:solidFill>
                  <a:srgbClr val="2D2D44"/>
                </a:solidFill>
              </a:defRPr>
            </a:pPr>
            <a:r>
              <a:t>   Validity: Convergent validity with other mindfulness measures; sensitive to mindfulness intervention effects</a:t>
            </a:r>
          </a:p>
          <a:p>
            <a:pPr>
              <a:spcBef>
                <a:spcPts val="500"/>
              </a:spcBef>
              <a:defRPr sz="1300">
                <a:solidFill>
                  <a:srgbClr val="2D2D44"/>
                </a:solidFill>
              </a:defRPr>
            </a:pPr>
            <a:r>
              <a:t>   Indian Usability: Hindi adaptation available; used in Indian clinical samples</a:t>
            </a:r>
          </a:p>
          <a:p>
            <a:pPr>
              <a:spcBef>
                <a:spcPts val="500"/>
              </a:spcBef>
              <a:defRPr sz="1300">
                <a:solidFill>
                  <a:srgbClr val="2D2D44"/>
                </a:solidFill>
              </a:defRPr>
            </a:pPr>
          </a:p>
          <a:p>
            <a:pPr>
              <a:spcBef>
                <a:spcPts val="500"/>
              </a:spcBef>
              <a:defRPr sz="1300">
                <a:solidFill>
                  <a:srgbClr val="2D2D44"/>
                </a:solidFill>
              </a:defRPr>
            </a:pPr>
            <a:r>
              <a:t>2. BARRATT IMPULSIVENESS SCALE (BIS-11) - Patton et al. (1995)</a:t>
            </a:r>
          </a:p>
          <a:p>
            <a:pPr>
              <a:spcBef>
                <a:spcPts val="500"/>
              </a:spcBef>
              <a:defRPr sz="1300">
                <a:solidFill>
                  <a:srgbClr val="2D2D44"/>
                </a:solidFill>
              </a:defRPr>
            </a:pPr>
            <a:r>
              <a:t>   Description: 30-item self-report scale; 3 factors: Attentional, Motor, Non-Planning Impulsivity</a:t>
            </a:r>
          </a:p>
          <a:p>
            <a:pPr>
              <a:spcBef>
                <a:spcPts val="500"/>
              </a:spcBef>
              <a:defRPr sz="1300">
                <a:solidFill>
                  <a:srgbClr val="2D2D44"/>
                </a:solidFill>
              </a:defRPr>
            </a:pPr>
            <a:r>
              <a:t>   Scoring: 4-point scale (1 = rarely/never to 4 = almost always); higher scores = greater impulsivity</a:t>
            </a:r>
          </a:p>
          <a:p>
            <a:pPr>
              <a:spcBef>
                <a:spcPts val="500"/>
              </a:spcBef>
              <a:defRPr sz="1300">
                <a:solidFill>
                  <a:srgbClr val="2D2D44"/>
                </a:solidFill>
              </a:defRPr>
            </a:pPr>
            <a:r>
              <a:t>   Reliability: Internal consistency alpha = 0.79-0.83; test-retest r = 0.83</a:t>
            </a:r>
          </a:p>
          <a:p>
            <a:pPr>
              <a:spcBef>
                <a:spcPts val="500"/>
              </a:spcBef>
              <a:defRPr sz="1300">
                <a:solidFill>
                  <a:srgbClr val="2D2D44"/>
                </a:solidFill>
              </a:defRPr>
            </a:pPr>
            <a:r>
              <a:t>   Validity: Discriminates substance users from healthy controls; widely validated in SUD populations</a:t>
            </a:r>
          </a:p>
          <a:p>
            <a:pPr>
              <a:spcBef>
                <a:spcPts val="500"/>
              </a:spcBef>
              <a:defRPr sz="1300">
                <a:solidFill>
                  <a:srgbClr val="2D2D44"/>
                </a:solidFill>
              </a:defRPr>
            </a:pPr>
            <a:r>
              <a:t>   Indian Usability: Hindi version validated; extensively used in Indian psychiatric research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Tools: Craving Assessment - OCDUS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OBSESSIVE COMPULSIVE DRUG USE SCALE (OCDUS)</a:t>
            </a:r>
          </a:p>
          <a:p>
            <a:pPr>
              <a:spcBef>
                <a:spcPts val="500"/>
              </a:spcBef>
              <a:defRPr sz="1300">
                <a:solidFill>
                  <a:srgbClr val="2D2D44"/>
                </a:solidFill>
              </a:defRPr>
            </a:pPr>
          </a:p>
          <a:p>
            <a:pPr>
              <a:spcBef>
                <a:spcPts val="500"/>
              </a:spcBef>
              <a:defRPr sz="1300">
                <a:solidFill>
                  <a:srgbClr val="2D2D44"/>
                </a:solidFill>
              </a:defRPr>
            </a:pPr>
            <a:r>
              <a:t>Authors: Franken et al. (2002); adapted from Obsessive Compulsive Drinking Scale (Anton et al., 1995)</a:t>
            </a:r>
          </a:p>
          <a:p>
            <a:pPr>
              <a:spcBef>
                <a:spcPts val="500"/>
              </a:spcBef>
              <a:defRPr sz="1300">
                <a:solidFill>
                  <a:srgbClr val="2D2D44"/>
                </a:solidFill>
              </a:defRPr>
            </a:pPr>
            <a:r>
              <a:t>Description: 12-item self-report scale measuring obsessive thoughts about drug use and compulsive urges to use; captures cognitive preoccupation with substance and perceived loss of control over use behavior</a:t>
            </a:r>
          </a:p>
          <a:p>
            <a:pPr>
              <a:spcBef>
                <a:spcPts val="500"/>
              </a:spcBef>
              <a:defRPr sz="1300">
                <a:solidFill>
                  <a:srgbClr val="2D2D44"/>
                </a:solidFill>
              </a:defRPr>
            </a:pPr>
            <a:r>
              <a:t>Scoring: Items rated on 5-point scale (0-4); Total score range 0-48; Higher scores indicate greater craving intensity</a:t>
            </a:r>
          </a:p>
          <a:p>
            <a:pPr>
              <a:spcBef>
                <a:spcPts val="500"/>
              </a:spcBef>
              <a:defRPr sz="1300">
                <a:solidFill>
                  <a:srgbClr val="2D2D44"/>
                </a:solidFill>
              </a:defRPr>
            </a:pPr>
            <a:r>
              <a:t>Subscales: (1) Obsessive thoughts/interference, (2) Desire/control, (3) Resistance to thoughts</a:t>
            </a:r>
          </a:p>
          <a:p>
            <a:pPr>
              <a:spcBef>
                <a:spcPts val="500"/>
              </a:spcBef>
              <a:defRPr sz="1300">
                <a:solidFill>
                  <a:srgbClr val="2D2D44"/>
                </a:solidFill>
              </a:defRPr>
            </a:pPr>
            <a:r>
              <a:t>Reliability: Internal consistency alpha = 0.86-0.90; test-retest reliability r = 0.78</a:t>
            </a:r>
          </a:p>
          <a:p>
            <a:pPr>
              <a:spcBef>
                <a:spcPts val="500"/>
              </a:spcBef>
              <a:defRPr sz="1300">
                <a:solidFill>
                  <a:srgbClr val="2D2D44"/>
                </a:solidFill>
              </a:defRPr>
            </a:pPr>
            <a:r>
              <a:t>Validity: Convergent validity with VAS craving (r = 0.55-0.67); discriminant validity established; sensitive to treatment-related changes; predicts relapse</a:t>
            </a:r>
          </a:p>
          <a:p>
            <a:pPr>
              <a:spcBef>
                <a:spcPts val="500"/>
              </a:spcBef>
              <a:defRPr sz="1300">
                <a:solidFill>
                  <a:srgbClr val="2D2D44"/>
                </a:solidFill>
              </a:defRPr>
            </a:pPr>
            <a:r>
              <a:t>Indian Usability: Applicable to Indian substance-dependent populations; adaptable for Hindi administration; brief and clinically practical (5 minutes); suitable for repeated measurements in pre-post designs</a:t>
            </a:r>
          </a:p>
          <a:p>
            <a:pPr>
              <a:spcBef>
                <a:spcPts val="500"/>
              </a:spcBef>
              <a:defRPr sz="1300">
                <a:solidFill>
                  <a:srgbClr val="2D2D44"/>
                </a:solidFill>
              </a:defRPr>
            </a:pPr>
            <a:r>
              <a:t>Justification: Captures both cognitive (obsessive) and behavioral (compulsive) dimensions of craving; applicable across substance types including opioids; psychometrically superior to single-item VAS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Tools: Severity Assessment - ASSIST (Pre-Test Only)</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ALCOHOL, SMOKING AND SUBSTANCE INVOLVEMENT SCREENING TEST (ASSIST) - WHO</a:t>
            </a:r>
          </a:p>
          <a:p>
            <a:pPr>
              <a:spcBef>
                <a:spcPts val="500"/>
              </a:spcBef>
              <a:defRPr sz="1300">
                <a:solidFill>
                  <a:srgbClr val="2D2D44"/>
                </a:solidFill>
              </a:defRPr>
            </a:pPr>
          </a:p>
          <a:p>
            <a:pPr>
              <a:spcBef>
                <a:spcPts val="500"/>
              </a:spcBef>
              <a:defRPr sz="1300">
                <a:solidFill>
                  <a:srgbClr val="2D2D44"/>
                </a:solidFill>
              </a:defRPr>
            </a:pPr>
            <a:r>
              <a:t>Authors: WHO ASSIST Working Group (2002); Humeniuk et al. (2008)</a:t>
            </a:r>
          </a:p>
          <a:p>
            <a:pPr>
              <a:spcBef>
                <a:spcPts val="500"/>
              </a:spcBef>
              <a:defRPr sz="1300">
                <a:solidFill>
                  <a:srgbClr val="2D2D44"/>
                </a:solidFill>
              </a:defRPr>
            </a:pPr>
            <a:r>
              <a:t>Description: 8-item clinician/self-administered screening tool; assesses risk level for 10 substance categories (tobacco, alcohol, cannabis, opioids, stimulants, sedatives, hallucinogens, inhalants, others)</a:t>
            </a:r>
          </a:p>
          <a:p>
            <a:pPr>
              <a:spcBef>
                <a:spcPts val="500"/>
              </a:spcBef>
              <a:defRPr sz="1300">
                <a:solidFill>
                  <a:srgbClr val="2D2D44"/>
                </a:solidFill>
              </a:defRPr>
            </a:pPr>
            <a:r>
              <a:t>Scoring: Substance-specific risk scores -&gt; Low (0-3), Moderate (4-26), High (27+) for drugs</a:t>
            </a:r>
          </a:p>
          <a:p>
            <a:pPr>
              <a:spcBef>
                <a:spcPts val="500"/>
              </a:spcBef>
              <a:defRPr sz="1300">
                <a:solidFill>
                  <a:srgbClr val="2D2D44"/>
                </a:solidFill>
              </a:defRPr>
            </a:pPr>
            <a:r>
              <a:t>Reliability: Test-retest r = 0.58-0.90 across substances; internal consistency alpha = 0.77-0.94</a:t>
            </a:r>
          </a:p>
          <a:p>
            <a:pPr>
              <a:spcBef>
                <a:spcPts val="500"/>
              </a:spcBef>
              <a:defRPr sz="1300">
                <a:solidFill>
                  <a:srgbClr val="2D2D44"/>
                </a:solidFill>
              </a:defRPr>
            </a:pPr>
            <a:r>
              <a:t>Validity: Concurrent validity with ASI, DAST, AUDIT; sensitivity = 0.80, specificity = 0.71</a:t>
            </a:r>
          </a:p>
          <a:p>
            <a:pPr>
              <a:spcBef>
                <a:spcPts val="500"/>
              </a:spcBef>
              <a:defRPr sz="1300">
                <a:solidFill>
                  <a:srgbClr val="2D2D44"/>
                </a:solidFill>
              </a:defRPr>
            </a:pPr>
            <a:r>
              <a:t>Indian Usability: WHO-validated; Hindi version available; extensively used in Indian NDDTC studies; culturally appropriate; brief (5-10 min)</a:t>
            </a:r>
          </a:p>
          <a:p>
            <a:pPr>
              <a:spcBef>
                <a:spcPts val="500"/>
              </a:spcBef>
              <a:defRPr sz="1300">
                <a:solidFill>
                  <a:srgbClr val="2D2D44"/>
                </a:solidFill>
              </a:defRPr>
            </a:pPr>
            <a:r>
              <a:t>PURPOSE: Used at PRE-TEST ONLY to establish baseline severity and ensure group equivalence; NOT an outcome measure</a:t>
            </a:r>
          </a:p>
          <a:p>
            <a:pPr>
              <a:spcBef>
                <a:spcPts val="500"/>
              </a:spcBef>
              <a:defRPr sz="1300">
                <a:solidFill>
                  <a:srgbClr val="2D2D44"/>
                </a:solidFill>
              </a:defRPr>
            </a:pPr>
            <a:r>
              <a:t>Justification: Multi-substance coverage captures polysubstance patterns common in Indian opioid users; WHO endorsement; free to use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Procedure</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Stepwise Research Flow at Man Nasha Mukti Kendra</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Step 1: SCREENING - Identify eligible male patients at Man Nasha Mukti Kendra (ICD-10 diagnosis, detoxified, meet inclusion/exclusion criteria)</a:t>
            </a:r>
          </a:p>
          <a:p>
            <a:pPr>
              <a:spcBef>
                <a:spcPts val="500"/>
              </a:spcBef>
              <a:defRPr sz="1300">
                <a:solidFill>
                  <a:srgbClr val="2D2D44"/>
                </a:solidFill>
              </a:defRPr>
            </a:pPr>
            <a:r>
              <a:t>Step 2: INFORMED CONSENT - Explain study purpose, procedures, confidentiality, voluntary participation, and right to withdraw</a:t>
            </a:r>
          </a:p>
          <a:p>
            <a:pPr>
              <a:spcBef>
                <a:spcPts val="500"/>
              </a:spcBef>
              <a:defRPr sz="1300">
                <a:solidFill>
                  <a:srgbClr val="2D2D44"/>
                </a:solidFill>
              </a:defRPr>
            </a:pPr>
            <a:r>
              <a:t>Step 3: PRE-TEST ASSESSMENT - Administer ASSIST + OCDUS + BIS-11 + FFMQ</a:t>
            </a:r>
          </a:p>
          <a:p>
            <a:pPr>
              <a:spcBef>
                <a:spcPts val="500"/>
              </a:spcBef>
              <a:defRPr sz="1300">
                <a:solidFill>
                  <a:srgbClr val="2D2D44"/>
                </a:solidFill>
              </a:defRPr>
            </a:pPr>
            <a:r>
              <a:t>Step 4: RANDOM ASSIGNMENT - Computer-generated randomization allocating eligible participants to Experimental or Control group</a:t>
            </a:r>
          </a:p>
          <a:p>
            <a:pPr>
              <a:spcBef>
                <a:spcPts val="500"/>
              </a:spcBef>
              <a:defRPr sz="1300">
                <a:solidFill>
                  <a:srgbClr val="2D2D44"/>
                </a:solidFill>
              </a:defRPr>
            </a:pPr>
            <a:r>
              <a:t>Step 5: INTERVENTION DELIVERY:</a:t>
            </a:r>
          </a:p>
          <a:p>
            <a:pPr>
              <a:spcBef>
                <a:spcPts val="500"/>
              </a:spcBef>
              <a:defRPr sz="1300">
                <a:solidFill>
                  <a:srgbClr val="2D2D44"/>
                </a:solidFill>
              </a:defRPr>
            </a:pPr>
            <a:r>
              <a:t>   Experimental Group: Brief MBRP (6 sessions x 60 min, twice weekly over 3 weeks) + TAU</a:t>
            </a:r>
          </a:p>
          <a:p>
            <a:pPr>
              <a:spcBef>
                <a:spcPts val="500"/>
              </a:spcBef>
              <a:defRPr sz="1300">
                <a:solidFill>
                  <a:srgbClr val="2D2D44"/>
                </a:solidFill>
              </a:defRPr>
            </a:pPr>
            <a:r>
              <a:t>   Control Group: Psychoeducation (6 sessions x 60 min, twice weekly over 3 weeks) + TAU</a:t>
            </a:r>
          </a:p>
          <a:p>
            <a:pPr>
              <a:spcBef>
                <a:spcPts val="500"/>
              </a:spcBef>
              <a:defRPr sz="1300">
                <a:solidFill>
                  <a:srgbClr val="2D2D44"/>
                </a:solidFill>
              </a:defRPr>
            </a:pPr>
            <a:r>
              <a:t>Step 6: POST-TEST ASSESSMENT - Administer OCDUS + BIS-11 + FFMQ (within 1 week of intervention completion)</a:t>
            </a:r>
          </a:p>
          <a:p>
            <a:pPr>
              <a:spcBef>
                <a:spcPts val="500"/>
              </a:spcBef>
              <a:defRPr sz="1300">
                <a:solidFill>
                  <a:srgbClr val="2D2D44"/>
                </a:solidFill>
              </a:defRPr>
            </a:pPr>
            <a:r>
              <a:t>Step 7: DATA COMPILATION &amp; STATISTICAL ANALYSIS</a:t>
            </a:r>
          </a:p>
          <a:p>
            <a:pPr>
              <a:spcBef>
                <a:spcPts val="500"/>
              </a:spcBef>
              <a:defRPr sz="1300">
                <a:solidFill>
                  <a:srgbClr val="2D2D44"/>
                </a:solidFill>
              </a:defRPr>
            </a:pPr>
            <a:r>
              <a:t>NOTE: Both groups receive TAU (pharmacotherapy, routine counseling) throughout | Assessments by blinded RA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Intervention: Experimental Group - Brief MBRP (6 Sessions / 3 Weeks)</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Brief MBRP + TAU at Man Nasha Mukti Kendra</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BRIEF MBRP PROTOCOL: 6 Sessions x 60 min x 3 Weeks (Twice weekly) | Group format (6-8 participants)</a:t>
            </a:r>
          </a:p>
          <a:p>
            <a:pPr>
              <a:spcBef>
                <a:spcPts val="500"/>
              </a:spcBef>
              <a:defRPr sz="1300">
                <a:solidFill>
                  <a:srgbClr val="2D2D44"/>
                </a:solidFill>
              </a:defRPr>
            </a:pPr>
          </a:p>
          <a:p>
            <a:pPr>
              <a:spcBef>
                <a:spcPts val="500"/>
              </a:spcBef>
              <a:defRPr sz="1300">
                <a:solidFill>
                  <a:srgbClr val="2D2D44"/>
                </a:solidFill>
              </a:defRPr>
            </a:pPr>
            <a:r>
              <a:t>Session 1: Introduction to MBRP &amp; Autopilot - Psychoeducation on MBRP; raisin exercise; identifying automatic patterns of reactivity in addiction</a:t>
            </a:r>
          </a:p>
          <a:p>
            <a:pPr>
              <a:spcBef>
                <a:spcPts val="500"/>
              </a:spcBef>
              <a:defRPr sz="1300">
                <a:solidFill>
                  <a:srgbClr val="2D2D44"/>
                </a:solidFill>
              </a:defRPr>
            </a:pPr>
            <a:r>
              <a:t>Session 2: Awareness of Triggers &amp; Body Scan - Body scan meditation; mapping personal relapse triggers; understanding trigger-reaction-use chain</a:t>
            </a:r>
          </a:p>
          <a:p>
            <a:pPr>
              <a:spcBef>
                <a:spcPts val="500"/>
              </a:spcBef>
              <a:defRPr sz="1300">
                <a:solidFill>
                  <a:srgbClr val="2D2D44"/>
                </a:solidFill>
              </a:defRPr>
            </a:pPr>
            <a:r>
              <a:t>Session 3: Mindfulness in Daily Life &amp; SOBER Space - Sitting meditation (breath focus); SOBER breathing space technique; integrating mindfulness into routine</a:t>
            </a:r>
          </a:p>
          <a:p>
            <a:pPr>
              <a:spcBef>
                <a:spcPts val="500"/>
              </a:spcBef>
              <a:defRPr sz="1300">
                <a:solidFill>
                  <a:srgbClr val="2D2D44"/>
                </a:solidFill>
              </a:defRPr>
            </a:pPr>
            <a:r>
              <a:t>Session 4: Urge Surfing &amp; High-Risk Situations - Urge surfing practice; role-play high-risk scenarios; cognitive decentering from craving</a:t>
            </a:r>
          </a:p>
          <a:p>
            <a:pPr>
              <a:spcBef>
                <a:spcPts val="500"/>
              </a:spcBef>
              <a:defRPr sz="1300">
                <a:solidFill>
                  <a:srgbClr val="2D2D44"/>
                </a:solidFill>
              </a:defRPr>
            </a:pPr>
            <a:r>
              <a:t>Session 5: Acceptance, Non-Judgment &amp; Skillful Action - Non-judgmental awareness; acceptance vs. avoidance; mindful decision-making; seeing thoughts as thoughts</a:t>
            </a:r>
          </a:p>
          <a:p>
            <a:pPr>
              <a:spcBef>
                <a:spcPts val="500"/>
              </a:spcBef>
              <a:defRPr sz="1300">
                <a:solidFill>
                  <a:srgbClr val="2D2D44"/>
                </a:solidFill>
              </a:defRPr>
            </a:pPr>
            <a:r>
              <a:t>Session 6: Integration, Self-Care &amp; Maintenance Plan - Loving-kindness meditation; relapse warning signs; personal relapse prevention plan; ongoing practice commitment</a:t>
            </a:r>
          </a:p>
          <a:p>
            <a:pPr>
              <a:spcBef>
                <a:spcPts val="500"/>
              </a:spcBef>
              <a:defRPr sz="1300">
                <a:solidFill>
                  <a:srgbClr val="2D2D44"/>
                </a:solidFill>
              </a:defRPr>
            </a:pPr>
          </a:p>
          <a:p>
            <a:pPr>
              <a:spcBef>
                <a:spcPts val="500"/>
              </a:spcBef>
              <a:defRPr sz="1300">
                <a:solidFill>
                  <a:srgbClr val="2D2D44"/>
                </a:solidFill>
              </a:defRPr>
            </a:pPr>
            <a:r>
              <a:t>Delivery: By trained MPhil Clinical Psychologist | Materials: Hindi audio-guided meditations, session handouts, daily practice logs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Intervention: Control Group - Psychoeducation (6 Sessions / 3 Weeks)</a:t>
            </a:r>
          </a:p>
        </p:txBody>
      </p:sp>
      <p:sp>
        <p:nvSpPr>
          <p:cNvPr id="4" name="TextBox 3"/>
          <p:cNvSpPr txBox="1"/>
          <p:nvPr/>
        </p:nvSpPr>
        <p:spPr>
          <a:xfrm>
            <a:off x="548640" y="1051560"/>
            <a:ext cx="10972800" cy="411480"/>
          </a:xfrm>
          <a:prstGeom prst="rect">
            <a:avLst/>
          </a:prstGeom>
          <a:noFill/>
        </p:spPr>
        <p:txBody>
          <a:bodyPr wrap="none">
            <a:spAutoFit/>
          </a:bodyPr>
          <a:lstStyle/>
          <a:p>
            <a:pPr>
              <a:defRPr sz="1300" b="1">
                <a:solidFill>
                  <a:srgbClr val="2C5F8A"/>
                </a:solidFill>
              </a:defRPr>
            </a:pPr>
            <a:r>
              <a:t>Psychoeducation + TAU (Active Control)</a:t>
            </a:r>
          </a:p>
        </p:txBody>
      </p:sp>
      <p:sp>
        <p:nvSpPr>
          <p:cNvPr id="5" name="TextBox 4"/>
          <p:cNvSpPr txBox="1"/>
          <p:nvPr/>
        </p:nvSpPr>
        <p:spPr>
          <a:xfrm>
            <a:off x="548640" y="1463040"/>
            <a:ext cx="11064240" cy="5212080"/>
          </a:xfrm>
          <a:prstGeom prst="rect">
            <a:avLst/>
          </a:prstGeom>
          <a:noFill/>
        </p:spPr>
        <p:txBody>
          <a:bodyPr wrap="square">
            <a:spAutoFit/>
          </a:bodyPr>
          <a:lstStyle/>
          <a:p>
            <a:pPr>
              <a:spcBef>
                <a:spcPts val="500"/>
              </a:spcBef>
              <a:defRPr sz="1300">
                <a:solidFill>
                  <a:srgbClr val="2D2D44"/>
                </a:solidFill>
              </a:defRPr>
            </a:pPr>
            <a:r>
              <a:t>PSYCHOEDUCATION PROTOCOL: 6 Sessions x 60 min x 3 Weeks (Twice weekly) | Group format (6-8 participants)</a:t>
            </a:r>
          </a:p>
          <a:p>
            <a:pPr>
              <a:spcBef>
                <a:spcPts val="500"/>
              </a:spcBef>
              <a:defRPr sz="1300">
                <a:solidFill>
                  <a:srgbClr val="2D2D44"/>
                </a:solidFill>
              </a:defRPr>
            </a:pPr>
          </a:p>
          <a:p>
            <a:pPr>
              <a:spcBef>
                <a:spcPts val="500"/>
              </a:spcBef>
              <a:defRPr sz="1300">
                <a:solidFill>
                  <a:srgbClr val="2D2D44"/>
                </a:solidFill>
              </a:defRPr>
            </a:pPr>
            <a:r>
              <a:t>Session 1: Understanding Addiction - Nature of substance dependence; brain changes; disease model of addiction</a:t>
            </a:r>
          </a:p>
          <a:p>
            <a:pPr>
              <a:spcBef>
                <a:spcPts val="500"/>
              </a:spcBef>
              <a:defRPr sz="1300">
                <a:solidFill>
                  <a:srgbClr val="2D2D44"/>
                </a:solidFill>
              </a:defRPr>
            </a:pPr>
            <a:r>
              <a:t>Session 2: Effects of Opioids - Short-term and long-term physical, psychological, and social consequences of opioid use</a:t>
            </a:r>
          </a:p>
          <a:p>
            <a:pPr>
              <a:spcBef>
                <a:spcPts val="500"/>
              </a:spcBef>
              <a:defRPr sz="1300">
                <a:solidFill>
                  <a:srgbClr val="2D2D44"/>
                </a:solidFill>
              </a:defRPr>
            </a:pPr>
            <a:r>
              <a:t>Session 3: Understanding Relapse - Relapse process; warning signs; high-risk situations; general coping strategies</a:t>
            </a:r>
          </a:p>
          <a:p>
            <a:pPr>
              <a:spcBef>
                <a:spcPts val="500"/>
              </a:spcBef>
              <a:defRPr sz="1300">
                <a:solidFill>
                  <a:srgbClr val="2D2D44"/>
                </a:solidFill>
              </a:defRPr>
            </a:pPr>
            <a:r>
              <a:t>Session 4: Health, Nutrition &amp; Sleep - Physical health recovery; importance of nutrition; sleep hygiene in recovery</a:t>
            </a:r>
          </a:p>
          <a:p>
            <a:pPr>
              <a:spcBef>
                <a:spcPts val="500"/>
              </a:spcBef>
              <a:defRPr sz="1300">
                <a:solidFill>
                  <a:srgbClr val="2D2D44"/>
                </a:solidFill>
              </a:defRPr>
            </a:pPr>
            <a:r>
              <a:t>Session 5: Social Consequences &amp; Family Impact - Legal issues; stigma; family dynamics; social rehabilitation</a:t>
            </a:r>
          </a:p>
          <a:p>
            <a:pPr>
              <a:spcBef>
                <a:spcPts val="500"/>
              </a:spcBef>
              <a:defRPr sz="1300">
                <a:solidFill>
                  <a:srgbClr val="2D2D44"/>
                </a:solidFill>
              </a:defRPr>
            </a:pPr>
            <a:r>
              <a:t>Session 6: Motivation, Goal Setting &amp; Lifestyle Changes - Stages of change; personal goals; long-term recovery planning; support systems</a:t>
            </a:r>
          </a:p>
          <a:p>
            <a:pPr>
              <a:spcBef>
                <a:spcPts val="500"/>
              </a:spcBef>
              <a:defRPr sz="1300">
                <a:solidFill>
                  <a:srgbClr val="2D2D44"/>
                </a:solidFill>
              </a:defRPr>
            </a:pPr>
          </a:p>
          <a:p>
            <a:pPr>
              <a:spcBef>
                <a:spcPts val="500"/>
              </a:spcBef>
              <a:defRPr sz="1300">
                <a:solidFill>
                  <a:srgbClr val="2D2D44"/>
                </a:solidFill>
              </a:defRPr>
            </a:pPr>
            <a:r>
              <a:t>Delivery: By trained Clinical Psychologist | Materials: Information handouts, visual aids, group discussion</a:t>
            </a:r>
          </a:p>
          <a:p>
            <a:pPr>
              <a:spcBef>
                <a:spcPts val="500"/>
              </a:spcBef>
              <a:defRPr sz="1300">
                <a:solidFill>
                  <a:srgbClr val="2D2D44"/>
                </a:solidFill>
              </a:defRPr>
            </a:pPr>
            <a:r>
              <a:t>NOTE: Matched for contact time, group format, and therapist attention to control non-specific therapeutic factors. NO mindfulness component included.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Data Analysis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Descriptive Statistics: Mean, SD, frequency, percentages for sociodemographic and clinical variables</a:t>
            </a:r>
          </a:p>
          <a:p>
            <a:pPr>
              <a:spcBef>
                <a:spcPts val="500"/>
              </a:spcBef>
              <a:defRPr sz="1300">
                <a:solidFill>
                  <a:srgbClr val="2D2D44"/>
                </a:solidFill>
              </a:defRPr>
            </a:pPr>
            <a:r>
              <a:t>Normality Testing: Shapiro-Wilk test to determine distribution of outcome variables</a:t>
            </a:r>
          </a:p>
          <a:p>
            <a:pPr>
              <a:spcBef>
                <a:spcPts val="500"/>
              </a:spcBef>
              <a:defRPr sz="1300">
                <a:solidFill>
                  <a:srgbClr val="2D2D44"/>
                </a:solidFill>
              </a:defRPr>
            </a:pPr>
            <a:r>
              <a:t>Within-Group Comparison: Paired samples t-test (pre vs. post within each group); Wilcoxon Signed-Rank for non-normal data</a:t>
            </a:r>
          </a:p>
          <a:p>
            <a:pPr>
              <a:spcBef>
                <a:spcPts val="500"/>
              </a:spcBef>
              <a:defRPr sz="1300">
                <a:solidFill>
                  <a:srgbClr val="2D2D44"/>
                </a:solidFill>
              </a:defRPr>
            </a:pPr>
            <a:r>
              <a:t>Between-Group Comparison: Independent samples t-test (post-test comparison); Mann-Whitney U for non-normal data</a:t>
            </a:r>
          </a:p>
          <a:p>
            <a:pPr>
              <a:spcBef>
                <a:spcPts val="500"/>
              </a:spcBef>
              <a:defRPr sz="1300">
                <a:solidFill>
                  <a:srgbClr val="2D2D44"/>
                </a:solidFill>
              </a:defRPr>
            </a:pPr>
          </a:p>
          <a:p>
            <a:pPr>
              <a:spcBef>
                <a:spcPts val="500"/>
              </a:spcBef>
              <a:defRPr sz="1300">
                <a:solidFill>
                  <a:srgbClr val="2D2D44"/>
                </a:solidFill>
              </a:defRPr>
            </a:pPr>
            <a:r>
              <a:t>PRIMARY ANALYSIS - ANCOVA (Analysis of Covariance):</a:t>
            </a:r>
          </a:p>
          <a:p>
            <a:pPr>
              <a:spcBef>
                <a:spcPts val="500"/>
              </a:spcBef>
              <a:defRPr sz="1300">
                <a:solidFill>
                  <a:srgbClr val="2D2D44"/>
                </a:solidFill>
              </a:defRPr>
            </a:pPr>
            <a:r>
              <a:t>  DV: Post-test scores (OCDUS / BIS-11 / FFMQ) | IV: Group (Experimental vs. Control) | Covariate: Pre-test scores</a:t>
            </a:r>
          </a:p>
          <a:p>
            <a:pPr>
              <a:spcBef>
                <a:spcPts val="500"/>
              </a:spcBef>
              <a:defRPr sz="1300">
                <a:solidFill>
                  <a:srgbClr val="2D2D44"/>
                </a:solidFill>
              </a:defRPr>
            </a:pPr>
          </a:p>
          <a:p>
            <a:pPr>
              <a:spcBef>
                <a:spcPts val="500"/>
              </a:spcBef>
              <a:defRPr sz="1300">
                <a:solidFill>
                  <a:srgbClr val="2D2D44"/>
                </a:solidFill>
              </a:defRPr>
            </a:pPr>
            <a:r>
              <a:t>DETAILED ANCOVA JUSTIFICATION:</a:t>
            </a:r>
          </a:p>
          <a:p>
            <a:pPr>
              <a:spcBef>
                <a:spcPts val="500"/>
              </a:spcBef>
              <a:defRPr sz="1300">
                <a:solidFill>
                  <a:srgbClr val="2D2D44"/>
                </a:solidFill>
              </a:defRPr>
            </a:pPr>
            <a:r>
              <a:t>  (a) Controls for pre-existing baseline differences between groups, even after randomization</a:t>
            </a:r>
          </a:p>
          <a:p>
            <a:pPr>
              <a:spcBef>
                <a:spcPts val="500"/>
              </a:spcBef>
              <a:defRPr sz="1300">
                <a:solidFill>
                  <a:srgbClr val="2D2D44"/>
                </a:solidFill>
              </a:defRPr>
            </a:pPr>
            <a:r>
              <a:t>  (b) Increases statistical power by reducing within-group error variance (partials out pre-test variability)</a:t>
            </a:r>
          </a:p>
          <a:p>
            <a:pPr>
              <a:spcBef>
                <a:spcPts val="500"/>
              </a:spcBef>
              <a:defRPr sz="1300">
                <a:solidFill>
                  <a:srgbClr val="2D2D44"/>
                </a:solidFill>
              </a:defRPr>
            </a:pPr>
            <a:r>
              <a:t>  (c) Provides a more precise estimate of treatment effect by adjusting post-test means for baseline</a:t>
            </a:r>
          </a:p>
          <a:p>
            <a:pPr>
              <a:spcBef>
                <a:spcPts val="500"/>
              </a:spcBef>
              <a:defRPr sz="1300">
                <a:solidFill>
                  <a:srgbClr val="2D2D44"/>
                </a:solidFill>
              </a:defRPr>
            </a:pPr>
            <a:r>
              <a:t>  (d) Reduces required sample size compared to independent t-test (critical for clinical populations with high attrition)</a:t>
            </a:r>
          </a:p>
          <a:p>
            <a:pPr>
              <a:spcBef>
                <a:spcPts val="500"/>
              </a:spcBef>
              <a:defRPr sz="1300">
                <a:solidFill>
                  <a:srgbClr val="2D2D44"/>
                </a:solidFill>
              </a:defRPr>
            </a:pPr>
            <a:r>
              <a:t>  (e) Recommended for pre-post experimental designs by Tabachnick and Fidell (2013) and Field (2018)</a:t>
            </a:r>
          </a:p>
          <a:p>
            <a:pPr>
              <a:spcBef>
                <a:spcPts val="500"/>
              </a:spcBef>
              <a:defRPr sz="1300">
                <a:solidFill>
                  <a:srgbClr val="2D2D44"/>
                </a:solidFill>
              </a:defRPr>
            </a:pPr>
          </a:p>
          <a:p>
            <a:pPr>
              <a:spcBef>
                <a:spcPts val="500"/>
              </a:spcBef>
              <a:defRPr sz="1300">
                <a:solidFill>
                  <a:srgbClr val="2D2D44"/>
                </a:solidFill>
              </a:defRPr>
            </a:pPr>
            <a:r>
              <a:t>Effect Size: Partial eta-squared (np2) for ANCOVA; Cohen's d for pairwise | Significance: alpha = 0.05 (two-tailed) | Software: SPSS 26.0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Ethical Considerations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Informed Consent: Written informed consent obtained in Hindi/regional language; participants fully informed of study purpose, procedures, duration, risks, and benefits</a:t>
            </a:r>
          </a:p>
          <a:p>
            <a:pPr>
              <a:spcBef>
                <a:spcPts val="500"/>
              </a:spcBef>
              <a:defRPr sz="1300">
                <a:solidFill>
                  <a:srgbClr val="2D2D44"/>
                </a:solidFill>
              </a:defRPr>
            </a:pPr>
            <a:r>
              <a:t>Voluntary Participation: Right to withdraw at any time without penalty or impact on ongoing treatment at Man Nasha Mukti Kendra</a:t>
            </a:r>
          </a:p>
          <a:p>
            <a:pPr>
              <a:spcBef>
                <a:spcPts val="500"/>
              </a:spcBef>
              <a:defRPr sz="1300">
                <a:solidFill>
                  <a:srgbClr val="2D2D44"/>
                </a:solidFill>
              </a:defRPr>
            </a:pPr>
            <a:r>
              <a:t>Confidentiality: All data coded with participant IDs; no identifying information in publications; data stored in locked cabinets and password-protected electronic files</a:t>
            </a:r>
          </a:p>
          <a:p>
            <a:pPr>
              <a:spcBef>
                <a:spcPts val="500"/>
              </a:spcBef>
              <a:defRPr sz="1300">
                <a:solidFill>
                  <a:srgbClr val="2D2D44"/>
                </a:solidFill>
              </a:defRPr>
            </a:pPr>
            <a:r>
              <a:t>Non-Maleficence: No harmful procedures involved; Control group receives active psychoeducation (not waitlist/no-treatment); TAU continued for all participants</a:t>
            </a:r>
          </a:p>
          <a:p>
            <a:pPr>
              <a:spcBef>
                <a:spcPts val="500"/>
              </a:spcBef>
              <a:defRPr sz="1300">
                <a:solidFill>
                  <a:srgbClr val="2D2D44"/>
                </a:solidFill>
              </a:defRPr>
            </a:pPr>
            <a:r>
              <a:t>Institutional Approval: Ethical clearance obtained from Institutional Ethics Committee (IEC) prior to commencement of data collection</a:t>
            </a:r>
          </a:p>
          <a:p>
            <a:pPr>
              <a:spcBef>
                <a:spcPts val="500"/>
              </a:spcBef>
              <a:defRPr sz="1300">
                <a:solidFill>
                  <a:srgbClr val="2D2D44"/>
                </a:solidFill>
              </a:defRPr>
            </a:pPr>
            <a:r>
              <a:t>Debriefing: Control group participants offered brief MBRP orientation session post-study completion if desired</a:t>
            </a:r>
          </a:p>
          <a:p>
            <a:pPr>
              <a:spcBef>
                <a:spcPts val="500"/>
              </a:spcBef>
              <a:defRPr sz="1300">
                <a:solidFill>
                  <a:srgbClr val="2D2D44"/>
                </a:solidFill>
              </a:defRPr>
            </a:pPr>
            <a:r>
              <a:t>Compliance: Study conducted in accordance with ICMR (2017) National Ethical Guidelines for Biomedical and Health Research Involving Human Participants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Expected Results (1/2)</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CRAVING (OCDUS):</a:t>
            </a:r>
          </a:p>
          <a:p>
            <a:pPr>
              <a:spcBef>
                <a:spcPts val="500"/>
              </a:spcBef>
              <a:defRPr sz="1300">
                <a:solidFill>
                  <a:srgbClr val="2D2D44"/>
                </a:solidFill>
              </a:defRPr>
            </a:pPr>
            <a:r>
              <a:t>  - The Experimental group (Brief MBRP + TAU) is expected to demonstrate a statistically significant reduction in OCDUS scores from pre-test to post-test compared to the Control group (Psychoeducation + TAU)</a:t>
            </a:r>
          </a:p>
          <a:p>
            <a:pPr>
              <a:spcBef>
                <a:spcPts val="500"/>
              </a:spcBef>
              <a:defRPr sz="1300">
                <a:solidFill>
                  <a:srgbClr val="2D2D44"/>
                </a:solidFill>
              </a:defRPr>
            </a:pPr>
            <a:r>
              <a:t>  - Both obsessive thoughts about drug use and compulsive urges are anticipated to decrease as participants learn to observe craving non-reactively through urge surfing and SOBER breathing techniques</a:t>
            </a:r>
          </a:p>
          <a:p>
            <a:pPr>
              <a:spcBef>
                <a:spcPts val="500"/>
              </a:spcBef>
              <a:defRPr sz="1300">
                <a:solidFill>
                  <a:srgbClr val="2D2D44"/>
                </a:solidFill>
              </a:defRPr>
            </a:pPr>
            <a:r>
              <a:t>  - Expected effect size: medium to large (d = 0.50-0.80) based on Witkiewitz et al. (2013) and Li et al. (2017) meta-analytic findings (d = 0.68 for craving)</a:t>
            </a:r>
          </a:p>
          <a:p>
            <a:pPr>
              <a:spcBef>
                <a:spcPts val="500"/>
              </a:spcBef>
              <a:defRPr sz="1300">
                <a:solidFill>
                  <a:srgbClr val="2D2D44"/>
                </a:solidFill>
              </a:defRPr>
            </a:pPr>
            <a:r>
              <a:t>  - Mechanism: Urge surfing disrupts the automatic craving-use cycle by training participants to observe craving as a transient sensory experience rather than an imperative demand requiring substance use</a:t>
            </a:r>
          </a:p>
          <a:p>
            <a:pPr>
              <a:spcBef>
                <a:spcPts val="500"/>
              </a:spcBef>
              <a:defRPr sz="1300">
                <a:solidFill>
                  <a:srgbClr val="2D2D44"/>
                </a:solidFill>
              </a:defRPr>
            </a:pPr>
          </a:p>
          <a:p>
            <a:pPr>
              <a:spcBef>
                <a:spcPts val="500"/>
              </a:spcBef>
              <a:defRPr sz="1300">
                <a:solidFill>
                  <a:srgbClr val="2D2D44"/>
                </a:solidFill>
              </a:defRPr>
            </a:pPr>
            <a:r>
              <a:t>IMPULSIVITY (BIS-11):</a:t>
            </a:r>
          </a:p>
          <a:p>
            <a:pPr>
              <a:spcBef>
                <a:spcPts val="500"/>
              </a:spcBef>
              <a:defRPr sz="1300">
                <a:solidFill>
                  <a:srgbClr val="2D2D44"/>
                </a:solidFill>
              </a:defRPr>
            </a:pPr>
            <a:r>
              <a:t>  - The Experimental group is expected to show a significantly greater reduction in total BIS-11 scores, particularly on Attentional Impulsivity and Motor Impulsivity subscales</a:t>
            </a:r>
          </a:p>
          <a:p>
            <a:pPr>
              <a:spcBef>
                <a:spcPts val="500"/>
              </a:spcBef>
              <a:defRPr sz="1300">
                <a:solidFill>
                  <a:srgbClr val="2D2D44"/>
                </a:solidFill>
              </a:defRPr>
            </a:pPr>
            <a:r>
              <a:t>  - Expected effect: medium (d = 0.40-0.60) based on Garland et al. (2016) findings</a:t>
            </a:r>
          </a:p>
          <a:p>
            <a:pPr>
              <a:spcBef>
                <a:spcPts val="500"/>
              </a:spcBef>
              <a:defRPr sz="1300">
                <a:solidFill>
                  <a:srgbClr val="2D2D44"/>
                </a:solidFill>
              </a:defRPr>
            </a:pPr>
            <a:r>
              <a:t>  - Mechanism: Repeated mindfulness practice strengthens prefrontal inhibitory control, enabling participants to insert a deliberate pause (mindful gap) between impulse and action, thereby reducing reflexive substance-seeking behavior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Expected Results (2/2)</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MINDFULNESS (FFMQ):</a:t>
            </a:r>
          </a:p>
          <a:p>
            <a:pPr>
              <a:spcBef>
                <a:spcPts val="500"/>
              </a:spcBef>
              <a:defRPr sz="1300">
                <a:solidFill>
                  <a:srgbClr val="2D2D44"/>
                </a:solidFill>
              </a:defRPr>
            </a:pPr>
            <a:r>
              <a:t>  - The Experimental group is expected to demonstrate a statistically significant increase in FFMQ total and facet scores compared to the Control group</a:t>
            </a:r>
          </a:p>
          <a:p>
            <a:pPr>
              <a:spcBef>
                <a:spcPts val="500"/>
              </a:spcBef>
              <a:defRPr sz="1300">
                <a:solidFill>
                  <a:srgbClr val="2D2D44"/>
                </a:solidFill>
              </a:defRPr>
            </a:pPr>
            <a:r>
              <a:t>  - Particularly robust improvements expected on Acting with Awareness and Non-Reactivity facets, as these are most directly trained in MBRP exercises</a:t>
            </a:r>
          </a:p>
          <a:p>
            <a:pPr>
              <a:spcBef>
                <a:spcPts val="500"/>
              </a:spcBef>
              <a:defRPr sz="1300">
                <a:solidFill>
                  <a:srgbClr val="2D2D44"/>
                </a:solidFill>
              </a:defRPr>
            </a:pPr>
            <a:r>
              <a:t>  - Expected effect: medium to large (d = 0.50-0.70) based on Bowen et al. (2014) and Karyadi et al. (2014)</a:t>
            </a:r>
          </a:p>
          <a:p>
            <a:pPr>
              <a:spcBef>
                <a:spcPts val="500"/>
              </a:spcBef>
              <a:defRPr sz="1300">
                <a:solidFill>
                  <a:srgbClr val="2D2D44"/>
                </a:solidFill>
              </a:defRPr>
            </a:pPr>
            <a:r>
              <a:t>  - Mechanism: Structured daily meditation practice, body scan, and non-judgmental awareness exercises directly cultivate dispositional mindfulness, which becomes a stable trait-like resource for managing relapse triggers</a:t>
            </a:r>
          </a:p>
          <a:p>
            <a:pPr>
              <a:spcBef>
                <a:spcPts val="500"/>
              </a:spcBef>
              <a:defRPr sz="1300">
                <a:solidFill>
                  <a:srgbClr val="2D2D44"/>
                </a:solidFill>
              </a:defRPr>
            </a:pPr>
          </a:p>
          <a:p>
            <a:pPr>
              <a:spcBef>
                <a:spcPts val="500"/>
              </a:spcBef>
              <a:defRPr sz="1300">
                <a:solidFill>
                  <a:srgbClr val="2D2D44"/>
                </a:solidFill>
              </a:defRPr>
            </a:pPr>
            <a:r>
              <a:t>OVERALL PATTERN:</a:t>
            </a:r>
          </a:p>
          <a:p>
            <a:pPr>
              <a:spcBef>
                <a:spcPts val="500"/>
              </a:spcBef>
              <a:defRPr sz="1300">
                <a:solidFill>
                  <a:srgbClr val="2D2D44"/>
                </a:solidFill>
              </a:defRPr>
            </a:pPr>
            <a:r>
              <a:t>  - Brief MBRP + TAU will demonstrate statistically significant superiority over Psychoeducation + TAU across all three DVs</a:t>
            </a:r>
          </a:p>
          <a:p>
            <a:pPr>
              <a:spcBef>
                <a:spcPts val="500"/>
              </a:spcBef>
              <a:defRPr sz="1300">
                <a:solidFill>
                  <a:srgbClr val="2D2D44"/>
                </a:solidFill>
              </a:defRPr>
            </a:pPr>
            <a:r>
              <a:t>  - The Control group may also show some improvement (attention effects + psychoeducation content) but to a significantly lesser degree</a:t>
            </a:r>
          </a:p>
          <a:p>
            <a:pPr>
              <a:spcBef>
                <a:spcPts val="500"/>
              </a:spcBef>
              <a:defRPr sz="1300">
                <a:solidFill>
                  <a:srgbClr val="2D2D44"/>
                </a:solidFill>
              </a:defRPr>
            </a:pPr>
            <a:r>
              <a:t>  - Null hypotheses (H01, H02, H03) are expected to be rejected</a:t>
            </a:r>
          </a:p>
          <a:p>
            <a:pPr>
              <a:spcBef>
                <a:spcPts val="500"/>
              </a:spcBef>
              <a:defRPr sz="1300">
                <a:solidFill>
                  <a:srgbClr val="2D2D44"/>
                </a:solidFill>
              </a:defRPr>
            </a:pPr>
            <a:r>
              <a:t>  - The findings will support feasibility and efficacy of a brief 6-session MBRP protocol in Indian de-addiction centers like Man Nasha Mukti Kendra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Clinical Implications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Validates a brief, structured MBRP model (6 sessions/3 weeks) feasible for Indian de-addiction settings with time-limited admissions</a:t>
            </a:r>
          </a:p>
          <a:p>
            <a:pPr>
              <a:spcBef>
                <a:spcPts val="500"/>
              </a:spcBef>
              <a:defRPr sz="1300">
                <a:solidFill>
                  <a:srgbClr val="2D2D44"/>
                </a:solidFill>
              </a:defRPr>
            </a:pPr>
            <a:r>
              <a:t>Provides evidence-based psychological intervention to complement existing pharmacotherapy (OST, naltrexone) at centers like Man Nasha Mukti Kendra</a:t>
            </a:r>
          </a:p>
          <a:p>
            <a:pPr>
              <a:spcBef>
                <a:spcPts val="500"/>
              </a:spcBef>
              <a:defRPr sz="1300">
                <a:solidFill>
                  <a:srgbClr val="2D2D44"/>
                </a:solidFill>
              </a:defRPr>
            </a:pPr>
            <a:r>
              <a:t>Demonstrates that mindfulness-based approaches are culturally compatible with Indian populations given India's meditative traditions</a:t>
            </a:r>
          </a:p>
          <a:p>
            <a:pPr>
              <a:spcBef>
                <a:spcPts val="500"/>
              </a:spcBef>
              <a:defRPr sz="1300">
                <a:solidFill>
                  <a:srgbClr val="2D2D44"/>
                </a:solidFill>
              </a:defRPr>
            </a:pPr>
            <a:r>
              <a:t>Addresses multiple relapse risk factors simultaneously (craving + impulsivity + mindfulness) through a single integrated brief protocol</a:t>
            </a:r>
          </a:p>
          <a:p>
            <a:pPr>
              <a:spcBef>
                <a:spcPts val="500"/>
              </a:spcBef>
              <a:defRPr sz="1300">
                <a:solidFill>
                  <a:srgbClr val="2D2D44"/>
                </a:solidFill>
              </a:defRPr>
            </a:pPr>
            <a:r>
              <a:t>Supports task-shifting: Brief MBRP deliverable by MPhil-trained Clinical Psychologists in resource-limited settings</a:t>
            </a:r>
          </a:p>
          <a:p>
            <a:pPr>
              <a:spcBef>
                <a:spcPts val="500"/>
              </a:spcBef>
              <a:defRPr sz="1300">
                <a:solidFill>
                  <a:srgbClr val="2D2D44"/>
                </a:solidFill>
              </a:defRPr>
            </a:pPr>
            <a:r>
              <a:t>Informs national treatment policy (NIMHANS, NDDTC, State Mental Health Authorities) for integrating MBRP into standard de-addiction care</a:t>
            </a:r>
          </a:p>
          <a:p>
            <a:pPr>
              <a:spcBef>
                <a:spcPts val="500"/>
              </a:spcBef>
              <a:defRPr sz="1300">
                <a:solidFill>
                  <a:srgbClr val="2D2D44"/>
                </a:solidFill>
              </a:defRPr>
            </a:pPr>
            <a:r>
              <a:t>Contributes to RCI-recognized intervention repertoire for clinical psychology training and practice in India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Limitations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Male-only sample from a single center (Man Nasha Mukti Kendra) limits generalizability to females, other substances, and diverse settings</a:t>
            </a:r>
          </a:p>
          <a:p>
            <a:pPr>
              <a:spcBef>
                <a:spcPts val="500"/>
              </a:spcBef>
              <a:defRPr sz="1300">
                <a:solidFill>
                  <a:srgbClr val="2D2D44"/>
                </a:solidFill>
              </a:defRPr>
            </a:pPr>
            <a:r>
              <a:t>Short-term assessment: Post-test immediately after 3-week intervention; no long-term follow-up to assess maintenance of therapeutic gains</a:t>
            </a:r>
          </a:p>
          <a:p>
            <a:pPr>
              <a:spcBef>
                <a:spcPts val="500"/>
              </a:spcBef>
              <a:defRPr sz="1300">
                <a:solidFill>
                  <a:srgbClr val="2D2D44"/>
                </a:solidFill>
              </a:defRPr>
            </a:pPr>
            <a:r>
              <a:t>Self-report measures (OCDUS, BIS-11, FFMQ) susceptible to social desirability bias and limited introspective insight</a:t>
            </a:r>
          </a:p>
          <a:p>
            <a:pPr>
              <a:spcBef>
                <a:spcPts val="500"/>
              </a:spcBef>
              <a:defRPr sz="1300">
                <a:solidFill>
                  <a:srgbClr val="2D2D44"/>
                </a:solidFill>
              </a:defRPr>
            </a:pPr>
            <a:r>
              <a:t>No biological or physiological markers: Craving measured subjectively without neuroimaging or biomarker corroboration</a:t>
            </a:r>
          </a:p>
          <a:p>
            <a:pPr>
              <a:spcBef>
                <a:spcPts val="500"/>
              </a:spcBef>
              <a:defRPr sz="1300">
                <a:solidFill>
                  <a:srgbClr val="2D2D44"/>
                </a:solidFill>
              </a:defRPr>
            </a:pPr>
            <a:r>
              <a:t>Therapist effects: Single therapist delivering intervention may introduce therapist-specific confounds not generalizable to other clinicians</a:t>
            </a:r>
          </a:p>
          <a:p>
            <a:pPr>
              <a:spcBef>
                <a:spcPts val="500"/>
              </a:spcBef>
              <a:defRPr sz="1300">
                <a:solidFill>
                  <a:srgbClr val="2D2D44"/>
                </a:solidFill>
              </a:defRPr>
            </a:pPr>
            <a:r>
              <a:t>Attention-matched control (Psychoeducation) controls for contact but does not fully account for specific mindfulness mechanisms (active placebo limitation)</a:t>
            </a:r>
          </a:p>
          <a:p>
            <a:pPr>
              <a:spcBef>
                <a:spcPts val="500"/>
              </a:spcBef>
              <a:defRPr sz="1300">
                <a:solidFill>
                  <a:srgbClr val="2D2D44"/>
                </a:solidFill>
              </a:defRPr>
            </a:pPr>
            <a:r>
              <a:t>Potential attrition: Substance-dependent population may show higher dropout rates despite over-recruitment planning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Future Directions</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Follow-up studies: 3-month and 6-month post-intervention assessments to evaluate sustained effects of Brief MBRP</a:t>
            </a:r>
          </a:p>
          <a:p>
            <a:pPr>
              <a:spcBef>
                <a:spcPts val="500"/>
              </a:spcBef>
              <a:defRPr sz="1300">
                <a:solidFill>
                  <a:srgbClr val="2D2D44"/>
                </a:solidFill>
              </a:defRPr>
            </a:pPr>
            <a:r>
              <a:t>Multi-site RCTs: Replicate across multiple Indian de-addiction centers for enhanced external validity</a:t>
            </a:r>
          </a:p>
          <a:p>
            <a:pPr>
              <a:spcBef>
                <a:spcPts val="500"/>
              </a:spcBef>
              <a:defRPr sz="1300">
                <a:solidFill>
                  <a:srgbClr val="2D2D44"/>
                </a:solidFill>
              </a:defRPr>
            </a:pPr>
            <a:r>
              <a:t>Female participants: Include female substance-dependent patients to examine gender-specific MBRP effects</a:t>
            </a:r>
          </a:p>
          <a:p>
            <a:pPr>
              <a:spcBef>
                <a:spcPts val="500"/>
              </a:spcBef>
              <a:defRPr sz="1300">
                <a:solidFill>
                  <a:srgbClr val="2D2D44"/>
                </a:solidFill>
              </a:defRPr>
            </a:pPr>
            <a:r>
              <a:t>Neuroimaging integration: fMRI/EEG studies to examine neural mechanisms of MBRP effects on craving and inhibitory control circuits</a:t>
            </a:r>
          </a:p>
          <a:p>
            <a:pPr>
              <a:spcBef>
                <a:spcPts val="500"/>
              </a:spcBef>
              <a:defRPr sz="1300">
                <a:solidFill>
                  <a:srgbClr val="2D2D44"/>
                </a:solidFill>
              </a:defRPr>
            </a:pPr>
            <a:r>
              <a:t>Dose-response analysis: Compare 4-session vs. 6-session vs. full 8-session MBRP for optimal dosage determination</a:t>
            </a:r>
          </a:p>
          <a:p>
            <a:pPr>
              <a:spcBef>
                <a:spcPts val="500"/>
              </a:spcBef>
              <a:defRPr sz="1300">
                <a:solidFill>
                  <a:srgbClr val="2D2D44"/>
                </a:solidFill>
              </a:defRPr>
            </a:pPr>
            <a:r>
              <a:t>Mediator/moderator analysis: Test whether mindfulness improvement mediates craving and impulsivity reduction; examine moderators (severity, duration of use)</a:t>
            </a:r>
          </a:p>
          <a:p>
            <a:pPr>
              <a:spcBef>
                <a:spcPts val="500"/>
              </a:spcBef>
              <a:defRPr sz="1300">
                <a:solidFill>
                  <a:srgbClr val="2D2D44"/>
                </a:solidFill>
              </a:defRPr>
            </a:pPr>
            <a:r>
              <a:t>Technology-assisted delivery: App-based/digital MBRP for post-discharge maintenance and access in rural areas</a:t>
            </a:r>
          </a:p>
          <a:p>
            <a:pPr>
              <a:spcBef>
                <a:spcPts val="500"/>
              </a:spcBef>
              <a:defRPr sz="1300">
                <a:solidFill>
                  <a:srgbClr val="2D2D44"/>
                </a:solidFill>
              </a:defRPr>
            </a:pPr>
            <a:r>
              <a:t>Comparative effectiveness: MBRP vs. CBT vs. ACT vs. Contingency Management in Indian samples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Summary</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The present study proposes a Pre-test Post-test Control Group Experimental Design to evaluate Brief MBRP (6 sessions over 3 weeks) in male opioid-dependent patients at Man Nasha Mukti Kendra</a:t>
            </a:r>
          </a:p>
          <a:p>
            <a:pPr>
              <a:spcBef>
                <a:spcPts val="500"/>
              </a:spcBef>
              <a:defRPr sz="1300">
                <a:solidFill>
                  <a:srgbClr val="2D2D44"/>
                </a:solidFill>
              </a:defRPr>
            </a:pPr>
            <a:r>
              <a:t>Experimental Group receives Brief MBRP + TAU; Control Group receives Psychoeducation + TAU</a:t>
            </a:r>
          </a:p>
          <a:p>
            <a:pPr>
              <a:spcBef>
                <a:spcPts val="500"/>
              </a:spcBef>
              <a:defRPr sz="1300">
                <a:solidFill>
                  <a:srgbClr val="2D2D44"/>
                </a:solidFill>
              </a:defRPr>
            </a:pPr>
            <a:r>
              <a:t>Three dependent variables assessed: Craving (OCDUS), Impulsivity (BIS-11), and Mindfulness (FFMQ)</a:t>
            </a:r>
          </a:p>
          <a:p>
            <a:pPr>
              <a:spcBef>
                <a:spcPts val="500"/>
              </a:spcBef>
              <a:defRPr sz="1300">
                <a:solidFill>
                  <a:srgbClr val="2D2D44"/>
                </a:solidFill>
              </a:defRPr>
            </a:pPr>
            <a:r>
              <a:t>Two-stage sampling: Purposive selection of eligible patients followed by computer-generated random assignment to groups</a:t>
            </a:r>
          </a:p>
          <a:p>
            <a:pPr>
              <a:spcBef>
                <a:spcPts val="500"/>
              </a:spcBef>
              <a:defRPr sz="1300">
                <a:solidFill>
                  <a:srgbClr val="2D2D44"/>
                </a:solidFill>
              </a:defRPr>
            </a:pPr>
            <a:r>
              <a:t>Total sample: N = 60 (30 per group), justified by power analysis assuming medium effect size (d = 0.50), power = 0.80, alpha = 0.05</a:t>
            </a:r>
          </a:p>
          <a:p>
            <a:pPr>
              <a:spcBef>
                <a:spcPts val="500"/>
              </a:spcBef>
              <a:defRPr sz="1300">
                <a:solidFill>
                  <a:srgbClr val="2D2D44"/>
                </a:solidFill>
              </a:defRPr>
            </a:pPr>
            <a:r>
              <a:t>Primary analysis: ANCOVA controlling for pre-test scores as covariates to increase precision and control baseline differences</a:t>
            </a:r>
          </a:p>
          <a:p>
            <a:pPr>
              <a:spcBef>
                <a:spcPts val="500"/>
              </a:spcBef>
              <a:defRPr sz="1300">
                <a:solidFill>
                  <a:srgbClr val="2D2D44"/>
                </a:solidFill>
              </a:defRPr>
            </a:pPr>
            <a:r>
              <a:t>Brief MBRP is hypothesized to produce significantly greater reductions in craving and impulsivity, and greater enhancement of mindfulness, compared to psychoeducation</a:t>
            </a:r>
          </a:p>
          <a:p>
            <a:pPr>
              <a:spcBef>
                <a:spcPts val="500"/>
              </a:spcBef>
              <a:defRPr sz="1300">
                <a:solidFill>
                  <a:srgbClr val="2D2D44"/>
                </a:solidFill>
              </a:defRPr>
            </a:pPr>
            <a:r>
              <a:t>The study addresses a critical research gap: No prior Indian RCT has tested brief MBRP in opioid-dependent populations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Conclusion</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Substance dependence, particularly opioid dependence, represents a significant public health crisis in India with relapse rates exceeding 70%</a:t>
            </a:r>
          </a:p>
          <a:p>
            <a:pPr>
              <a:spcBef>
                <a:spcPts val="500"/>
              </a:spcBef>
              <a:defRPr sz="1300">
                <a:solidFill>
                  <a:srgbClr val="2D2D44"/>
                </a:solidFill>
              </a:defRPr>
            </a:pPr>
            <a:r>
              <a:t>Current treatment at Indian de-addiction centers relies heavily on pharmacotherapy with limited evidence-based psychological interventions</a:t>
            </a:r>
          </a:p>
          <a:p>
            <a:pPr>
              <a:spcBef>
                <a:spcPts val="500"/>
              </a:spcBef>
              <a:defRPr sz="1300">
                <a:solidFill>
                  <a:srgbClr val="2D2D44"/>
                </a:solidFill>
              </a:defRPr>
            </a:pPr>
            <a:r>
              <a:t>MBRP offers a theoretically grounded, evidence-based approach that simultaneously targets craving (urge surfing), impulsivity (mindful pause), and enhances mindfulness (meditation practice)</a:t>
            </a:r>
          </a:p>
          <a:p>
            <a:pPr>
              <a:spcBef>
                <a:spcPts val="500"/>
              </a:spcBef>
              <a:defRPr sz="1300">
                <a:solidFill>
                  <a:srgbClr val="2D2D44"/>
                </a:solidFill>
              </a:defRPr>
            </a:pPr>
            <a:r>
              <a:t>A brief 6-session MBRP protocol is clinically practical, culturally appropriate, and feasible within the constraints of Indian rehabilitation settings like Man Nasha Mukti Kendra</a:t>
            </a:r>
          </a:p>
          <a:p>
            <a:pPr>
              <a:spcBef>
                <a:spcPts val="500"/>
              </a:spcBef>
              <a:defRPr sz="1300">
                <a:solidFill>
                  <a:srgbClr val="2D2D44"/>
                </a:solidFill>
              </a:defRPr>
            </a:pPr>
            <a:r>
              <a:t>If supported by the findings, Brief MBRP can be integrated into standard de-addiction care as a cost-effective, replicable psychological intervention deliverable by trained MPhil Clinical Psychologists</a:t>
            </a:r>
          </a:p>
          <a:p>
            <a:pPr>
              <a:spcBef>
                <a:spcPts val="500"/>
              </a:spcBef>
              <a:defRPr sz="1300">
                <a:solidFill>
                  <a:srgbClr val="2D2D44"/>
                </a:solidFill>
              </a:defRPr>
            </a:pPr>
            <a:r>
              <a:t>This study contributes to the growing evidence base for mindfulness-based interventions in addiction treatment while addressing the specific needs and gaps in Indian clinical psychology practice</a:t>
            </a:r>
          </a:p>
          <a:p>
            <a:pPr>
              <a:spcBef>
                <a:spcPts val="500"/>
              </a:spcBef>
              <a:defRPr sz="1300">
                <a:solidFill>
                  <a:srgbClr val="2D2D44"/>
                </a:solidFill>
              </a:defRPr>
            </a:pPr>
            <a:r>
              <a:t>The results will have direct implications for RCI-recognized training, national treatment policy, and the broader goal of reducing relapse burden in Indian substance-dependent populations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References (1/4)</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Baer, R. A., Smith, G. T., Hopkins, J., Krietemeyer, J., &amp; Toney, L. (2006). Using self-report assessment methods to explore facets of mindfulness. Assessment, 13(1), 27-45.</a:t>
            </a:r>
          </a:p>
          <a:p>
            <a:pPr>
              <a:spcBef>
                <a:spcPts val="500"/>
              </a:spcBef>
              <a:defRPr sz="1300">
                <a:solidFill>
                  <a:srgbClr val="2D2D44"/>
                </a:solidFill>
              </a:defRPr>
            </a:pPr>
            <a:r>
              <a:t>Bowen, S., Chawla, N., &amp; Marlatt, G. A. (2011). Mindfulness-based relapse prevention for addictive behaviors: A clinician's guide. Guilford Press.</a:t>
            </a:r>
          </a:p>
          <a:p>
            <a:pPr>
              <a:spcBef>
                <a:spcPts val="500"/>
              </a:spcBef>
              <a:defRPr sz="1300">
                <a:solidFill>
                  <a:srgbClr val="2D2D44"/>
                </a:solidFill>
              </a:defRPr>
            </a:pPr>
            <a:r>
              <a:t>Bowen, S., &amp; Marlatt, G. A. (2009). Surfing the urge: Brief mindfulness-based intervention for college student smokers. Psychology of Addictive Behaviors, 23(4), 666-671.</a:t>
            </a:r>
          </a:p>
          <a:p>
            <a:pPr>
              <a:spcBef>
                <a:spcPts val="500"/>
              </a:spcBef>
              <a:defRPr sz="1300">
                <a:solidFill>
                  <a:srgbClr val="2D2D44"/>
                </a:solidFill>
              </a:defRPr>
            </a:pPr>
            <a:r>
              <a:t>Bowen, S., Witkiewitz, K., Clifasefi, S. L., Grow, J., Chawla, N., Hsu, S. H., Carroll, H. A., Harrop, E., Collins, S. E., Lustyk, M. K., &amp; Larimer, M. E. (2014). Relative efficacy of mindfulness-based relapse prevention, standard relapse prevention, and treatment as usual for substance use disorders: A randomized clinical trial. JAMA Psychiatry, 71(5), 547-556.</a:t>
            </a:r>
          </a:p>
          <a:p>
            <a:pPr>
              <a:spcBef>
                <a:spcPts val="500"/>
              </a:spcBef>
              <a:defRPr sz="1300">
                <a:solidFill>
                  <a:srgbClr val="2D2D44"/>
                </a:solidFill>
              </a:defRPr>
            </a:pPr>
            <a:r>
              <a:t>Brewer, J. A., Mallik, S., Babuscio, T. A., Nich, C., Johnson, H. E., Deleone, C. M., Minnix-Cotton, C. A., Byrne, S. A., Kober, H., Weinstein, A. J., Carroll, K. M., &amp; Rounsaville, B. J. (2011). Mindfulness training for smoking cessation: Results from a randomized controlled trial. Drug and Alcohol Dependence, 119(1-2), 72-80.</a:t>
            </a:r>
          </a:p>
          <a:p>
            <a:pPr>
              <a:spcBef>
                <a:spcPts val="500"/>
              </a:spcBef>
              <a:defRPr sz="1300">
                <a:solidFill>
                  <a:srgbClr val="2D2D44"/>
                </a:solidFill>
              </a:defRPr>
            </a:pPr>
            <a:r>
              <a:t>Chiesa, A., &amp; Serretti, A. (2014). Are mindfulness-based interventions effective for substance use disorders? A systematic review of the evidence. Substance Use &amp; Misuse, 49(5), 492-512.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References (2/4)</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Franken, I. H. A., Hendriks, V. M., &amp; van den Brink, W. (2002). New neuropsychological instruments to measure impulsivity and compulsivity in alcohol and drug use disorders. Psychiatrie en Neurobiologie, 1, 10-14.</a:t>
            </a:r>
          </a:p>
          <a:p>
            <a:pPr>
              <a:spcBef>
                <a:spcPts val="500"/>
              </a:spcBef>
              <a:defRPr sz="1300">
                <a:solidFill>
                  <a:srgbClr val="2D2D44"/>
                </a:solidFill>
              </a:defRPr>
            </a:pPr>
            <a:r>
              <a:t>Garland, E. L., Froeliger, B., &amp; Howard, M. O. (2014). Mindfulness training targets neurocognitive mechanisms of addiction at the attention-appraisal-emotion interface. Frontiers in Psychiatry, 4, 173.</a:t>
            </a:r>
          </a:p>
          <a:p>
            <a:pPr>
              <a:spcBef>
                <a:spcPts val="500"/>
              </a:spcBef>
              <a:defRPr sz="1300">
                <a:solidFill>
                  <a:srgbClr val="2D2D44"/>
                </a:solidFill>
              </a:defRPr>
            </a:pPr>
            <a:r>
              <a:t>Garland, E. L., Manusov, E. G., Froeliger, B., Kelly, A., Williams, J. M., &amp; Howard, M. O. (2014). Mindfulness-oriented recovery enhancement for chronic pain and prescription opioid misuse: Results from an early-stage randomized controlled trial. Journal of Consulting and Clinical Psychology, 82(3), 448-459.</a:t>
            </a:r>
          </a:p>
          <a:p>
            <a:pPr>
              <a:spcBef>
                <a:spcPts val="500"/>
              </a:spcBef>
              <a:defRPr sz="1300">
                <a:solidFill>
                  <a:srgbClr val="2D2D44"/>
                </a:solidFill>
              </a:defRPr>
            </a:pPr>
            <a:r>
              <a:t>Garland, E. L., Roberts-Lewis, A., Tronnier, C. D., Graves, R., &amp; Kelley, K. (2016). Mindfulness-oriented recovery enhancement versus CBT for co-occurring substance dependence, traumatic stress, and psychiatric disorders. Journal of Consulting and Clinical Psychology, 84(4), 281-293.</a:t>
            </a:r>
          </a:p>
          <a:p>
            <a:pPr>
              <a:spcBef>
                <a:spcPts val="500"/>
              </a:spcBef>
              <a:defRPr sz="1300">
                <a:solidFill>
                  <a:srgbClr val="2D2D44"/>
                </a:solidFill>
              </a:defRPr>
            </a:pPr>
            <a:r>
              <a:t>Ghosh, A., Basu, D., &amp; Avasthi, A. (2018). Relapse in opioid dependence: A comprehensive review from an Indian perspective. Indian Journal of Psychiatry, 60(Suppl 4), S469-S476.</a:t>
            </a:r>
          </a:p>
          <a:p>
            <a:pPr>
              <a:spcBef>
                <a:spcPts val="500"/>
              </a:spcBef>
              <a:defRPr sz="1300">
                <a:solidFill>
                  <a:srgbClr val="2D2D44"/>
                </a:solidFill>
              </a:defRPr>
            </a:pPr>
            <a:r>
              <a:t>Glasner-Edwards, S., Mooney, L. J., Ang, A., Garneau, H. C., Hartwell, E., Brecht, M. L., &amp; Rawson, R. A. (2017). Mindfulness-based relapse prevention for stimulant dependent adults: A pilot randomized clinical trial. Mindfulness, 8(1), 126-135.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References (3/4)</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Grant, S., Colaiaco, B., Motala, A., Shanman, R., Booth, M., Sorbero, M., &amp; Hempel, S. (2017). Mindfulness-based relapse prevention for substance use disorders: A systematic review and meta-analysis. Journal of Addiction Medicine, 11(5), 386-396.</a:t>
            </a:r>
          </a:p>
          <a:p>
            <a:pPr>
              <a:spcBef>
                <a:spcPts val="500"/>
              </a:spcBef>
              <a:defRPr sz="1300">
                <a:solidFill>
                  <a:srgbClr val="2D2D44"/>
                </a:solidFill>
              </a:defRPr>
            </a:pPr>
            <a:r>
              <a:t>Humeniuk, R., Ali, R., Babor, T. F., Farrell, M., Formigoni, M. L., Jittiwutikarn, J., de Lacerda, R. B., Ling, W., Marsden, J., Monteiro, M., Nhiwatiwa, S., Pal, H., Poznyak, V., &amp; Simon, S. (2008). Validation of the Alcohol, Smoking and Substance Involvement Screening Test (ASSIST). Addiction, 103(6), 1039-1047.</a:t>
            </a:r>
          </a:p>
          <a:p>
            <a:pPr>
              <a:spcBef>
                <a:spcPts val="500"/>
              </a:spcBef>
              <a:defRPr sz="1300">
                <a:solidFill>
                  <a:srgbClr val="2D2D44"/>
                </a:solidFill>
              </a:defRPr>
            </a:pPr>
            <a:r>
              <a:t>Jain, R., Majumder, P., &amp; Gupta, T. (2013). Pharmacological intervention of nicotine dependence. Indian Journal of Psychiatry, 55(Suppl 1), S86-S92.</a:t>
            </a:r>
          </a:p>
          <a:p>
            <a:pPr>
              <a:spcBef>
                <a:spcPts val="500"/>
              </a:spcBef>
              <a:defRPr sz="1300">
                <a:solidFill>
                  <a:srgbClr val="2D2D44"/>
                </a:solidFill>
              </a:defRPr>
            </a:pPr>
            <a:r>
              <a:t>Kabat-Zinn, J. (1990). Full catastrophe living: Using the wisdom of your body and mind to face stress, pain, and illness. Delacorte Press.</a:t>
            </a:r>
          </a:p>
          <a:p>
            <a:pPr>
              <a:spcBef>
                <a:spcPts val="500"/>
              </a:spcBef>
              <a:defRPr sz="1300">
                <a:solidFill>
                  <a:srgbClr val="2D2D44"/>
                </a:solidFill>
              </a:defRPr>
            </a:pPr>
            <a:r>
              <a:t>Karyadi, K. A., VanderVeen, J. D., &amp; Cyders, M. A. (2014). A meta-analysis of the relationship between trait mindfulness and substance use behaviors. Drug and Alcohol Dependence, 143, 1-10.</a:t>
            </a:r>
          </a:p>
          <a:p>
            <a:pPr>
              <a:spcBef>
                <a:spcPts val="500"/>
              </a:spcBef>
              <a:defRPr sz="1300">
                <a:solidFill>
                  <a:srgbClr val="2D2D44"/>
                </a:solidFill>
              </a:defRPr>
            </a:pPr>
            <a:r>
              <a:t>Li, W., Howard, M. O., Garland, E. L., McGovern, P., &amp; Lazar, M. (2017). Mindfulness treatment for substance misuse: A systematic review and meta-analysis. Journal of Substance Abuse Treatment, 75, 62-96.</a:t>
            </a:r>
          </a:p>
          <a:p>
            <a:pPr>
              <a:spcBef>
                <a:spcPts val="500"/>
              </a:spcBef>
              <a:defRPr sz="1300">
                <a:solidFill>
                  <a:srgbClr val="2D2D44"/>
                </a:solidFill>
              </a:defRPr>
            </a:pPr>
            <a:r>
              <a:t>Marlatt, G. A., &amp; Gordon, J. R. (1985). Relapse prevention: Maintenance strategies in the treatment of addictive behaviors. Guilford Press.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777240"/>
          </a:xfrm>
          <a:prstGeom prst="rect">
            <a:avLst/>
          </a:prstGeom>
          <a:noFill/>
        </p:spPr>
        <p:txBody>
          <a:bodyPr wrap="none">
            <a:spAutoFit/>
          </a:bodyPr>
          <a:lstStyle/>
          <a:p>
            <a:pPr>
              <a:defRPr sz="2100" b="1">
                <a:solidFill>
                  <a:srgbClr val="FFFFFF"/>
                </a:solidFill>
              </a:defRPr>
            </a:pPr>
            <a:r>
              <a:t>References (4/4)</a:t>
            </a:r>
          </a:p>
        </p:txBody>
      </p:sp>
      <p:sp>
        <p:nvSpPr>
          <p:cNvPr id="4" name="TextBox 3"/>
          <p:cNvSpPr txBox="1"/>
          <p:nvPr/>
        </p:nvSpPr>
        <p:spPr>
          <a:xfrm>
            <a:off x="548640" y="1097280"/>
            <a:ext cx="11064240" cy="5577840"/>
          </a:xfrm>
          <a:prstGeom prst="rect">
            <a:avLst/>
          </a:prstGeom>
          <a:noFill/>
        </p:spPr>
        <p:txBody>
          <a:bodyPr wrap="square">
            <a:spAutoFit/>
          </a:bodyPr>
          <a:lstStyle/>
          <a:p>
            <a:pPr>
              <a:spcBef>
                <a:spcPts val="500"/>
              </a:spcBef>
              <a:defRPr sz="1300">
                <a:solidFill>
                  <a:srgbClr val="2D2D44"/>
                </a:solidFill>
              </a:defRPr>
            </a:pPr>
            <a:r>
              <a:t>Mattoo, S. K., Chakrabarti, S., &amp; Anjaiah, M. (2009). Psychosocial factors associated with relapse in men with alcohol or opioid dependence. Indian Journal of Medical Research, 130(6), 702-708.</a:t>
            </a:r>
          </a:p>
          <a:p>
            <a:pPr>
              <a:spcBef>
                <a:spcPts val="500"/>
              </a:spcBef>
              <a:defRPr sz="1300">
                <a:solidFill>
                  <a:srgbClr val="2D2D44"/>
                </a:solidFill>
              </a:defRPr>
            </a:pPr>
            <a:r>
              <a:t>Ministry of Social Justice and Empowerment. (2019). Magnitude of substance use in India. Government of India.</a:t>
            </a:r>
          </a:p>
          <a:p>
            <a:pPr>
              <a:spcBef>
                <a:spcPts val="500"/>
              </a:spcBef>
              <a:defRPr sz="1300">
                <a:solidFill>
                  <a:srgbClr val="2D2D44"/>
                </a:solidFill>
              </a:defRPr>
            </a:pPr>
            <a:r>
              <a:t>Moeller, F. G., Barratt, E. S., Dougherty, D. M., Schmitz, J. M., &amp; Swann, A. C. (2001). Psychiatric aspects of impulsivity. American Journal of Psychiatry, 158(11), 1783-1793.</a:t>
            </a:r>
          </a:p>
          <a:p>
            <a:pPr>
              <a:spcBef>
                <a:spcPts val="500"/>
              </a:spcBef>
              <a:defRPr sz="1300">
                <a:solidFill>
                  <a:srgbClr val="2D2D44"/>
                </a:solidFill>
              </a:defRPr>
            </a:pPr>
            <a:r>
              <a:t>Murphy, C., &amp; MacKillop, J. (2012). Living in the here and now: Interrelationships between impulsivity, mindfulness, and alcohol misuse. Psychopharmacology, 219(2), 527-536.</a:t>
            </a:r>
          </a:p>
          <a:p>
            <a:pPr>
              <a:spcBef>
                <a:spcPts val="500"/>
              </a:spcBef>
              <a:defRPr sz="1300">
                <a:solidFill>
                  <a:srgbClr val="2D2D44"/>
                </a:solidFill>
              </a:defRPr>
            </a:pPr>
            <a:r>
              <a:t>National Institute on Drug Abuse. (2020). Drugs, brains, and behavior: The science of addiction. NIDA.</a:t>
            </a:r>
          </a:p>
          <a:p>
            <a:pPr>
              <a:spcBef>
                <a:spcPts val="500"/>
              </a:spcBef>
              <a:defRPr sz="1300">
                <a:solidFill>
                  <a:srgbClr val="2D2D44"/>
                </a:solidFill>
              </a:defRPr>
            </a:pPr>
            <a:r>
              <a:t>Patton, J. H., Stanford, M. S., &amp; Barratt, E. S. (1995). Factor structure of the Barratt Impulsiveness Scale. Journal of Clinical Psychology, 51(6), 768-774.</a:t>
            </a:r>
          </a:p>
          <a:p>
            <a:pPr>
              <a:spcBef>
                <a:spcPts val="500"/>
              </a:spcBef>
              <a:defRPr sz="1300">
                <a:solidFill>
                  <a:srgbClr val="2D2D44"/>
                </a:solidFill>
              </a:defRPr>
            </a:pPr>
            <a:r>
              <a:t>Robinson, T. E., &amp; Berridge, K. C. (1993). The neural basis of drug craving: An incentive-sensitization theory of addiction. Brain Research Reviews, 18(3), 247-291.</a:t>
            </a:r>
          </a:p>
          <a:p>
            <a:pPr>
              <a:spcBef>
                <a:spcPts val="500"/>
              </a:spcBef>
              <a:defRPr sz="1300">
                <a:solidFill>
                  <a:srgbClr val="2D2D44"/>
                </a:solidFill>
              </a:defRPr>
            </a:pPr>
            <a:r>
              <a:t>Sarkar, S., &amp; Balhara, Y. P. S. (2016). Structured psychological interventions in Indian de-addiction settings. Indian Journal of Psychiatry, 58(3), 290-295.</a:t>
            </a:r>
          </a:p>
          <a:p>
            <a:pPr>
              <a:spcBef>
                <a:spcPts val="500"/>
              </a:spcBef>
              <a:defRPr sz="1300">
                <a:solidFill>
                  <a:srgbClr val="2D2D44"/>
                </a:solidFill>
              </a:defRPr>
            </a:pPr>
            <a:r>
              <a:t>Tabachnick, B. G., &amp; Fidell, L. S. (2013). Using multivariate statistics (6th ed.). Pearson.</a:t>
            </a:r>
          </a:p>
          <a:p>
            <a:pPr>
              <a:spcBef>
                <a:spcPts val="500"/>
              </a:spcBef>
              <a:defRPr sz="1300">
                <a:solidFill>
                  <a:srgbClr val="2D2D44"/>
                </a:solidFill>
              </a:defRPr>
            </a:pPr>
            <a:r>
              <a:t>WHO ASSIST Working Group. (2002). The Alcohol, Smoking and Substance Involvement Screening Test (ASSIST): Development, reliability and feasibility. Addiction, 97(9), 1183-1194.</a:t>
            </a:r>
          </a:p>
          <a:p>
            <a:pPr>
              <a:spcBef>
                <a:spcPts val="500"/>
              </a:spcBef>
              <a:defRPr sz="1300">
                <a:solidFill>
                  <a:srgbClr val="2D2D44"/>
                </a:solidFill>
              </a:defRPr>
            </a:pPr>
            <a:r>
              <a:t>Witkiewitz, K., Bowen, S., Douglas, H., &amp; Hsu, S. H. (2013). Mindfulness-based relapse prevention for substance craving. Addictive Behaviors, 38(2), 1563-1571.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914400" y="914400"/>
            <a:ext cx="10332720" cy="2560320"/>
          </a:xfrm>
          <a:prstGeom prst="rect">
            <a:avLst/>
          </a:prstGeom>
          <a:noFill/>
        </p:spPr>
        <p:txBody>
          <a:bodyPr wrap="square">
            <a:spAutoFit/>
          </a:bodyPr>
          <a:lstStyle/>
          <a:p>
            <a:pPr algn="ctr">
              <a:defRPr sz="2400" b="1">
                <a:solidFill>
                  <a:srgbClr val="FFFFFF"/>
                </a:solidFill>
              </a:defRPr>
            </a:pPr>
            <a:r>
              <a:t>Thank You</a:t>
            </a:r>
          </a:p>
          <a:p>
            <a:pPr algn="ctr">
              <a:spcBef>
                <a:spcPts val="1800"/>
              </a:spcBef>
              <a:defRPr sz="1500">
                <a:solidFill>
                  <a:srgbClr val="D4A537"/>
                </a:solidFill>
              </a:defRPr>
            </a:pPr>
            <a:r>
              <a:t>Questions &amp; Discussion</a:t>
            </a:r>
          </a:p>
          <a:p>
            <a:br/>
            <a:pPr algn="ctr">
              <a:spcBef>
                <a:spcPts val="2400"/>
              </a:spcBef>
              <a:defRPr sz="1300">
                <a:solidFill>
                  <a:srgbClr val="FFFFFF"/>
                </a:solidFill>
              </a:defRPr>
            </a:pPr>
            <a:r>
              <a:t>Researcher: [Researcher Name]</a:t>
            </a:r>
            <a:br/>
            <a:r>
              <a:t>Guide: [Supervisor Name]</a:t>
            </a:r>
            <a:br/>
            <a:r>
              <a:t>Department: Clinical Psychology</a:t>
            </a:r>
            <a:br/>
            <a:r>
              <a:t>Institution: Man Nasha Mukti Kendra / [University Name]</a:t>
            </a:r>
            <a:br/>
            <a:r>
              <a:t>Year: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